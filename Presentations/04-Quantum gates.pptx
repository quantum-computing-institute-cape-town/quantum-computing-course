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tiff" ContentType="image/tiff"/>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diagrams/data3.xml" ContentType="application/vnd.openxmlformats-officedocument.drawingml.diagramData+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48"/>
  </p:notesMasterIdLst>
  <p:sldIdLst>
    <p:sldId id="710" r:id="rId2"/>
    <p:sldId id="523" r:id="rId3"/>
    <p:sldId id="592" r:id="rId4"/>
    <p:sldId id="593" r:id="rId5"/>
    <p:sldId id="752" r:id="rId6"/>
    <p:sldId id="524" r:id="rId7"/>
    <p:sldId id="506" r:id="rId8"/>
    <p:sldId id="754" r:id="rId9"/>
    <p:sldId id="695" r:id="rId10"/>
    <p:sldId id="623" r:id="rId11"/>
    <p:sldId id="653" r:id="rId12"/>
    <p:sldId id="704" r:id="rId13"/>
    <p:sldId id="705" r:id="rId14"/>
    <p:sldId id="706" r:id="rId15"/>
    <p:sldId id="743" r:id="rId16"/>
    <p:sldId id="624" r:id="rId17"/>
    <p:sldId id="625" r:id="rId18"/>
    <p:sldId id="626" r:id="rId19"/>
    <p:sldId id="640" r:id="rId20"/>
    <p:sldId id="698" r:id="rId21"/>
    <p:sldId id="717" r:id="rId22"/>
    <p:sldId id="699" r:id="rId23"/>
    <p:sldId id="570" r:id="rId24"/>
    <p:sldId id="519" r:id="rId25"/>
    <p:sldId id="572" r:id="rId26"/>
    <p:sldId id="636" r:id="rId27"/>
    <p:sldId id="700" r:id="rId28"/>
    <p:sldId id="701" r:id="rId29"/>
    <p:sldId id="746" r:id="rId30"/>
    <p:sldId id="702" r:id="rId31"/>
    <p:sldId id="696" r:id="rId32"/>
    <p:sldId id="727" r:id="rId33"/>
    <p:sldId id="748" r:id="rId34"/>
    <p:sldId id="749" r:id="rId35"/>
    <p:sldId id="652" r:id="rId36"/>
    <p:sldId id="730" r:id="rId37"/>
    <p:sldId id="731" r:id="rId38"/>
    <p:sldId id="732" r:id="rId39"/>
    <p:sldId id="733" r:id="rId40"/>
    <p:sldId id="734" r:id="rId41"/>
    <p:sldId id="735" r:id="rId42"/>
    <p:sldId id="736" r:id="rId43"/>
    <p:sldId id="738" r:id="rId44"/>
    <p:sldId id="737" r:id="rId45"/>
    <p:sldId id="751" r:id="rId46"/>
    <p:sldId id="687" r:id="rId4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B1FE"/>
    <a:srgbClr val="0000FF"/>
    <a:srgbClr val="C15BFF"/>
    <a:srgbClr val="9B0000"/>
    <a:srgbClr val="BC1605"/>
    <a:srgbClr val="3136EB"/>
    <a:srgbClr val="FFFDD0"/>
    <a:srgbClr val="FBFCFC"/>
    <a:srgbClr val="FFFFE3"/>
    <a:srgbClr val="F8F9F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134"/>
    <p:restoredTop sz="62536"/>
  </p:normalViewPr>
  <p:slideViewPr>
    <p:cSldViewPr snapToGrid="0" snapToObjects="1">
      <p:cViewPr>
        <p:scale>
          <a:sx n="57" d="100"/>
          <a:sy n="57" d="100"/>
        </p:scale>
        <p:origin x="2808" y="512"/>
      </p:cViewPr>
      <p:guideLst/>
    </p:cSldViewPr>
  </p:slideViewPr>
  <p:outlineViewPr>
    <p:cViewPr>
      <p:scale>
        <a:sx n="33" d="100"/>
        <a:sy n="33" d="100"/>
      </p:scale>
      <p:origin x="0" y="-3752"/>
    </p:cViewPr>
  </p:outlineViewPr>
  <p:notesTextViewPr>
    <p:cViewPr>
      <p:scale>
        <a:sx n="170" d="100"/>
        <a:sy n="17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iagrams/_rels/data3.xml.rels><?xml version="1.0" encoding="UTF-8" standalone="yes"?>
<Relationships xmlns="http://schemas.openxmlformats.org/package/2006/relationships"><Relationship Id="rId3" Type="http://schemas.openxmlformats.org/officeDocument/2006/relationships/image" Target="../media/image1210.png"/><Relationship Id="rId2" Type="http://schemas.openxmlformats.org/officeDocument/2006/relationships/image" Target="../media/image110.png"/><Relationship Id="rId1" Type="http://schemas.openxmlformats.org/officeDocument/2006/relationships/image" Target="../media/image90.png"/><Relationship Id="rId4" Type="http://schemas.openxmlformats.org/officeDocument/2006/relationships/image" Target="../media/image130.png"/></Relationships>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FBD6411-6FA3-7845-886B-09F983AE3D66}" type="doc">
      <dgm:prSet loTypeId="urn:microsoft.com/office/officeart/2005/8/layout/lProcess3" loCatId="process" qsTypeId="urn:microsoft.com/office/officeart/2005/8/quickstyle/simple1" qsCatId="simple" csTypeId="urn:microsoft.com/office/officeart/2005/8/colors/colorful3" csCatId="colorful" phldr="1"/>
      <dgm:spPr/>
      <dgm:t>
        <a:bodyPr/>
        <a:lstStyle/>
        <a:p>
          <a:endParaRPr lang="en-US"/>
        </a:p>
      </dgm:t>
    </dgm:pt>
    <dgm:pt modelId="{F5A57D5B-D38F-3344-9AEB-B26746D85129}">
      <dgm:prSet/>
      <dgm:spPr/>
      <dgm:t>
        <a:bodyPr/>
        <a:lstStyle/>
        <a:p>
          <a:r>
            <a:rPr lang="en-US" dirty="0" err="1"/>
            <a:t>matehematical</a:t>
          </a:r>
          <a:r>
            <a:rPr lang="en-US" dirty="0"/>
            <a:t> unit of processing</a:t>
          </a:r>
        </a:p>
      </dgm:t>
    </dgm:pt>
    <dgm:pt modelId="{07368294-972C-4241-BB1A-981FD51E5C02}" type="parTrans" cxnId="{1F1936DF-471C-B34B-9111-49680F006100}">
      <dgm:prSet/>
      <dgm:spPr/>
      <dgm:t>
        <a:bodyPr/>
        <a:lstStyle/>
        <a:p>
          <a:endParaRPr lang="en-US"/>
        </a:p>
      </dgm:t>
    </dgm:pt>
    <dgm:pt modelId="{D16CFCC2-2E29-8A40-B322-749D3D4C2D7D}" type="sibTrans" cxnId="{1F1936DF-471C-B34B-9111-49680F006100}">
      <dgm:prSet/>
      <dgm:spPr/>
      <dgm:t>
        <a:bodyPr/>
        <a:lstStyle/>
        <a:p>
          <a:endParaRPr lang="en-US"/>
        </a:p>
      </dgm:t>
    </dgm:pt>
    <dgm:pt modelId="{8F012C2E-FBD7-7342-809E-61D66F0ADA8F}">
      <dgm:prSet/>
      <dgm:spPr/>
      <dgm:t>
        <a:bodyPr/>
        <a:lstStyle/>
        <a:p>
          <a:r>
            <a:rPr lang="en-US" dirty="0"/>
            <a:t>matrix-vector multiplication</a:t>
          </a:r>
        </a:p>
      </dgm:t>
    </dgm:pt>
    <dgm:pt modelId="{4529DC3B-0617-7B49-B605-5CC2241113F4}" type="parTrans" cxnId="{E8A570B6-2121-A344-BD73-C19385FA3F35}">
      <dgm:prSet/>
      <dgm:spPr/>
      <dgm:t>
        <a:bodyPr/>
        <a:lstStyle/>
        <a:p>
          <a:endParaRPr lang="en-US"/>
        </a:p>
      </dgm:t>
    </dgm:pt>
    <dgm:pt modelId="{1FBA673C-467B-6444-9645-5262536AAE78}" type="sibTrans" cxnId="{E8A570B6-2121-A344-BD73-C19385FA3F35}">
      <dgm:prSet/>
      <dgm:spPr/>
      <dgm:t>
        <a:bodyPr/>
        <a:lstStyle/>
        <a:p>
          <a:endParaRPr lang="en-US"/>
        </a:p>
      </dgm:t>
    </dgm:pt>
    <dgm:pt modelId="{160A1DCA-DDD1-3C40-BD61-4BAC6D770983}">
      <dgm:prSet/>
      <dgm:spPr/>
      <dgm:t>
        <a:bodyPr/>
        <a:lstStyle/>
        <a:p>
          <a:r>
            <a:rPr lang="en-US" dirty="0"/>
            <a:t>unit of data</a:t>
          </a:r>
        </a:p>
      </dgm:t>
    </dgm:pt>
    <dgm:pt modelId="{A54A716F-39B9-F247-AC3B-35E09EDD05C8}" type="parTrans" cxnId="{3B4C0282-845C-7F42-B349-BBECBB3D4531}">
      <dgm:prSet/>
      <dgm:spPr/>
      <dgm:t>
        <a:bodyPr/>
        <a:lstStyle/>
        <a:p>
          <a:endParaRPr lang="en-US"/>
        </a:p>
      </dgm:t>
    </dgm:pt>
    <dgm:pt modelId="{F4D4CD18-37F6-0844-84B6-409FD528DCD2}" type="sibTrans" cxnId="{3B4C0282-845C-7F42-B349-BBECBB3D4531}">
      <dgm:prSet/>
      <dgm:spPr/>
      <dgm:t>
        <a:bodyPr/>
        <a:lstStyle/>
        <a:p>
          <a:endParaRPr lang="en-US"/>
        </a:p>
      </dgm:t>
    </dgm:pt>
    <dgm:pt modelId="{E7275480-C98A-4E4A-AB69-88AAFD0E0267}">
      <dgm:prSet/>
      <dgm:spPr/>
      <dgm:t>
        <a:bodyPr/>
        <a:lstStyle/>
        <a:p>
          <a:r>
            <a:rPr lang="en-US" dirty="0"/>
            <a:t>qubit/vector</a:t>
          </a:r>
        </a:p>
      </dgm:t>
    </dgm:pt>
    <dgm:pt modelId="{77D60A77-FF27-A24C-8601-02131AC42963}" type="parTrans" cxnId="{637C5D95-DE4C-154B-8595-B3D2D5C1599A}">
      <dgm:prSet/>
      <dgm:spPr/>
      <dgm:t>
        <a:bodyPr/>
        <a:lstStyle/>
        <a:p>
          <a:endParaRPr lang="en-US"/>
        </a:p>
      </dgm:t>
    </dgm:pt>
    <dgm:pt modelId="{32321B6E-009C-D04F-81E8-4E7E1208D595}" type="sibTrans" cxnId="{637C5D95-DE4C-154B-8595-B3D2D5C1599A}">
      <dgm:prSet/>
      <dgm:spPr/>
      <dgm:t>
        <a:bodyPr/>
        <a:lstStyle/>
        <a:p>
          <a:endParaRPr lang="en-US"/>
        </a:p>
      </dgm:t>
    </dgm:pt>
    <dgm:pt modelId="{75558DDB-B135-8F4A-8257-A165A0389A4C}">
      <dgm:prSet/>
      <dgm:spPr/>
      <dgm:t>
        <a:bodyPr/>
        <a:lstStyle/>
        <a:p>
          <a:r>
            <a:rPr lang="en-US" dirty="0"/>
            <a:t>unit of processing</a:t>
          </a:r>
        </a:p>
      </dgm:t>
    </dgm:pt>
    <dgm:pt modelId="{E8B56C1E-FA75-5940-A8C4-30A551B1DA75}" type="parTrans" cxnId="{C6057E35-D143-2146-8F5F-D3A3BCA52EBE}">
      <dgm:prSet/>
      <dgm:spPr/>
      <dgm:t>
        <a:bodyPr/>
        <a:lstStyle/>
        <a:p>
          <a:endParaRPr lang="en-US"/>
        </a:p>
      </dgm:t>
    </dgm:pt>
    <dgm:pt modelId="{628207E4-5F9E-954B-BEDC-C47C2A82E45E}" type="sibTrans" cxnId="{C6057E35-D143-2146-8F5F-D3A3BCA52EBE}">
      <dgm:prSet/>
      <dgm:spPr/>
      <dgm:t>
        <a:bodyPr/>
        <a:lstStyle/>
        <a:p>
          <a:endParaRPr lang="en-US"/>
        </a:p>
      </dgm:t>
    </dgm:pt>
    <dgm:pt modelId="{CF3486DF-6C01-104F-AECF-A0D54829799B}">
      <dgm:prSet/>
      <dgm:spPr/>
      <dgm:t>
        <a:bodyPr/>
        <a:lstStyle/>
        <a:p>
          <a:r>
            <a:rPr lang="en-US" dirty="0"/>
            <a:t>quantum gate/matrix</a:t>
          </a:r>
        </a:p>
      </dgm:t>
    </dgm:pt>
    <dgm:pt modelId="{6F52E02A-2CB2-584C-B929-E1AEEBA4FB49}" type="parTrans" cxnId="{E070675B-445C-AD43-9C5D-BF74254A28A2}">
      <dgm:prSet/>
      <dgm:spPr/>
      <dgm:t>
        <a:bodyPr/>
        <a:lstStyle/>
        <a:p>
          <a:endParaRPr lang="en-US"/>
        </a:p>
      </dgm:t>
    </dgm:pt>
    <dgm:pt modelId="{8B4D8B82-B6CD-7F47-B70D-35D3914F6AD2}" type="sibTrans" cxnId="{E070675B-445C-AD43-9C5D-BF74254A28A2}">
      <dgm:prSet/>
      <dgm:spPr/>
      <dgm:t>
        <a:bodyPr/>
        <a:lstStyle/>
        <a:p>
          <a:endParaRPr lang="en-US"/>
        </a:p>
      </dgm:t>
    </dgm:pt>
    <dgm:pt modelId="{C476B5AD-DCC3-FC4A-A3DD-AC3C01611B18}">
      <dgm:prSet/>
      <dgm:spPr/>
      <dgm:t>
        <a:bodyPr/>
        <a:lstStyle/>
        <a:p>
          <a:r>
            <a:rPr lang="en-US" dirty="0"/>
            <a:t>algorithm</a:t>
          </a:r>
        </a:p>
      </dgm:t>
    </dgm:pt>
    <dgm:pt modelId="{F12B458E-FA9D-834A-ADE7-97C5B25E7650}" type="parTrans" cxnId="{47A42DD2-C002-D84F-A5F5-E110B421C37E}">
      <dgm:prSet/>
      <dgm:spPr/>
      <dgm:t>
        <a:bodyPr/>
        <a:lstStyle/>
        <a:p>
          <a:endParaRPr lang="en-US"/>
        </a:p>
      </dgm:t>
    </dgm:pt>
    <dgm:pt modelId="{15AEF5A1-4B03-8142-8884-21C8BC4F33B5}" type="sibTrans" cxnId="{47A42DD2-C002-D84F-A5F5-E110B421C37E}">
      <dgm:prSet/>
      <dgm:spPr/>
      <dgm:t>
        <a:bodyPr/>
        <a:lstStyle/>
        <a:p>
          <a:endParaRPr lang="en-US"/>
        </a:p>
      </dgm:t>
    </dgm:pt>
    <dgm:pt modelId="{6398241F-4CD0-7443-8E0D-FBA0EAD87C82}">
      <dgm:prSet/>
      <dgm:spPr/>
      <dgm:t>
        <a:bodyPr/>
        <a:lstStyle/>
        <a:p>
          <a:r>
            <a:rPr lang="en-US" dirty="0"/>
            <a:t>quantum circuit</a:t>
          </a:r>
        </a:p>
      </dgm:t>
    </dgm:pt>
    <dgm:pt modelId="{FBA2582D-B6F9-2644-B0EA-709AC9511843}" type="parTrans" cxnId="{3BE0D627-C422-4140-8958-E1874639BF42}">
      <dgm:prSet/>
      <dgm:spPr/>
      <dgm:t>
        <a:bodyPr/>
        <a:lstStyle/>
        <a:p>
          <a:endParaRPr lang="en-US"/>
        </a:p>
      </dgm:t>
    </dgm:pt>
    <dgm:pt modelId="{985EC99E-67DA-AE47-BB5E-868DA3CC4D51}" type="sibTrans" cxnId="{3BE0D627-C422-4140-8958-E1874639BF42}">
      <dgm:prSet/>
      <dgm:spPr/>
      <dgm:t>
        <a:bodyPr/>
        <a:lstStyle/>
        <a:p>
          <a:endParaRPr lang="en-US"/>
        </a:p>
      </dgm:t>
    </dgm:pt>
    <dgm:pt modelId="{4BDA77BC-E14B-8245-A88A-13FAE10523F5}">
      <dgm:prSet/>
      <dgm:spPr>
        <a:solidFill>
          <a:schemeClr val="accent6">
            <a:lumMod val="75000"/>
          </a:schemeClr>
        </a:solidFill>
      </dgm:spPr>
      <dgm:t>
        <a:bodyPr/>
        <a:lstStyle/>
        <a:p>
          <a:r>
            <a:rPr lang="en-US" dirty="0"/>
            <a:t>   program</a:t>
          </a:r>
        </a:p>
      </dgm:t>
    </dgm:pt>
    <dgm:pt modelId="{9669BA5D-3107-EE45-A40C-5CACCC3B2B0E}" type="parTrans" cxnId="{DDBF15B0-25AE-C543-8F4C-C5A261D9C88C}">
      <dgm:prSet/>
      <dgm:spPr/>
      <dgm:t>
        <a:bodyPr/>
        <a:lstStyle/>
        <a:p>
          <a:endParaRPr lang="en-US"/>
        </a:p>
      </dgm:t>
    </dgm:pt>
    <dgm:pt modelId="{24E25589-BCD9-6941-BB69-9752AA45F3C7}" type="sibTrans" cxnId="{DDBF15B0-25AE-C543-8F4C-C5A261D9C88C}">
      <dgm:prSet/>
      <dgm:spPr/>
      <dgm:t>
        <a:bodyPr/>
        <a:lstStyle/>
        <a:p>
          <a:endParaRPr lang="en-US"/>
        </a:p>
      </dgm:t>
    </dgm:pt>
    <dgm:pt modelId="{397B0026-6C06-A24C-AC71-DA2CB6F7829B}">
      <dgm:prSet/>
      <dgm:spPr>
        <a:solidFill>
          <a:schemeClr val="accent6">
            <a:lumMod val="40000"/>
            <a:lumOff val="60000"/>
            <a:alpha val="90000"/>
          </a:schemeClr>
        </a:solidFill>
      </dgm:spPr>
      <dgm:t>
        <a:bodyPr/>
        <a:lstStyle/>
        <a:p>
          <a:r>
            <a:rPr lang="en-US" dirty="0"/>
            <a:t>quantum circuit </a:t>
          </a:r>
          <a:r>
            <a:rPr lang="en-US" dirty="0" err="1"/>
            <a:t>desciption</a:t>
          </a:r>
          <a:endParaRPr lang="en-US" dirty="0"/>
        </a:p>
      </dgm:t>
    </dgm:pt>
    <dgm:pt modelId="{B17646FB-44FB-6D4F-A2FE-EDE762969FF8}" type="parTrans" cxnId="{20A1DB7A-245E-7B47-B0A8-D0F7FA5AE104}">
      <dgm:prSet/>
      <dgm:spPr/>
      <dgm:t>
        <a:bodyPr/>
        <a:lstStyle/>
        <a:p>
          <a:endParaRPr lang="en-US"/>
        </a:p>
      </dgm:t>
    </dgm:pt>
    <dgm:pt modelId="{45DD26EC-10C7-FA45-8984-599011A3BEC4}" type="sibTrans" cxnId="{20A1DB7A-245E-7B47-B0A8-D0F7FA5AE104}">
      <dgm:prSet/>
      <dgm:spPr/>
      <dgm:t>
        <a:bodyPr/>
        <a:lstStyle/>
        <a:p>
          <a:endParaRPr lang="en-US"/>
        </a:p>
      </dgm:t>
    </dgm:pt>
    <dgm:pt modelId="{6FEF738C-2EC1-E641-B51A-36787E6B815D}" type="pres">
      <dgm:prSet presAssocID="{4FBD6411-6FA3-7845-886B-09F983AE3D66}" presName="Name0" presStyleCnt="0">
        <dgm:presLayoutVars>
          <dgm:chPref val="3"/>
          <dgm:dir/>
          <dgm:animLvl val="lvl"/>
          <dgm:resizeHandles/>
        </dgm:presLayoutVars>
      </dgm:prSet>
      <dgm:spPr/>
    </dgm:pt>
    <dgm:pt modelId="{42F9EBDB-B792-7743-BBF3-3A57E3293F87}" type="pres">
      <dgm:prSet presAssocID="{160A1DCA-DDD1-3C40-BD61-4BAC6D770983}" presName="horFlow" presStyleCnt="0"/>
      <dgm:spPr/>
    </dgm:pt>
    <dgm:pt modelId="{BC1F68B1-384F-884E-85F2-687846E08432}" type="pres">
      <dgm:prSet presAssocID="{160A1DCA-DDD1-3C40-BD61-4BAC6D770983}" presName="bigChev" presStyleLbl="node1" presStyleIdx="0" presStyleCnt="5" custScaleX="143216"/>
      <dgm:spPr/>
    </dgm:pt>
    <dgm:pt modelId="{05ECDEE6-A71D-2845-B76F-6EFC48BA8DD6}" type="pres">
      <dgm:prSet presAssocID="{77D60A77-FF27-A24C-8601-02131AC42963}" presName="parTrans" presStyleCnt="0"/>
      <dgm:spPr/>
    </dgm:pt>
    <dgm:pt modelId="{589CEB27-68EC-8C44-AE2F-CCCE5077B7DD}" type="pres">
      <dgm:prSet presAssocID="{E7275480-C98A-4E4A-AB69-88AAFD0E0267}" presName="node" presStyleLbl="alignAccFollowNode1" presStyleIdx="0" presStyleCnt="5" custScaleX="115752">
        <dgm:presLayoutVars>
          <dgm:bulletEnabled val="1"/>
        </dgm:presLayoutVars>
      </dgm:prSet>
      <dgm:spPr/>
    </dgm:pt>
    <dgm:pt modelId="{D2C5389B-8744-0B47-B305-A6454ED4134C}" type="pres">
      <dgm:prSet presAssocID="{160A1DCA-DDD1-3C40-BD61-4BAC6D770983}" presName="vSp" presStyleCnt="0"/>
      <dgm:spPr/>
    </dgm:pt>
    <dgm:pt modelId="{74445CD6-E25E-C240-BE60-9A45B7B25C5C}" type="pres">
      <dgm:prSet presAssocID="{75558DDB-B135-8F4A-8257-A165A0389A4C}" presName="horFlow" presStyleCnt="0"/>
      <dgm:spPr/>
    </dgm:pt>
    <dgm:pt modelId="{AC12D99E-FB7E-0741-8161-C77DE0409CB8}" type="pres">
      <dgm:prSet presAssocID="{75558DDB-B135-8F4A-8257-A165A0389A4C}" presName="bigChev" presStyleLbl="node1" presStyleIdx="1" presStyleCnt="5" custScaleX="143216"/>
      <dgm:spPr/>
    </dgm:pt>
    <dgm:pt modelId="{3F7E8E6F-6509-404E-B3F2-D39A334B2DDA}" type="pres">
      <dgm:prSet presAssocID="{6F52E02A-2CB2-584C-B929-E1AEEBA4FB49}" presName="parTrans" presStyleCnt="0"/>
      <dgm:spPr/>
    </dgm:pt>
    <dgm:pt modelId="{8762CD98-6B6D-F945-9F8A-143998E383B8}" type="pres">
      <dgm:prSet presAssocID="{CF3486DF-6C01-104F-AECF-A0D54829799B}" presName="node" presStyleLbl="alignAccFollowNode1" presStyleIdx="1" presStyleCnt="5" custScaleX="115752">
        <dgm:presLayoutVars>
          <dgm:bulletEnabled val="1"/>
        </dgm:presLayoutVars>
      </dgm:prSet>
      <dgm:spPr/>
    </dgm:pt>
    <dgm:pt modelId="{038D8EA8-5999-1446-81FA-0BB39BA0BC61}" type="pres">
      <dgm:prSet presAssocID="{75558DDB-B135-8F4A-8257-A165A0389A4C}" presName="vSp" presStyleCnt="0"/>
      <dgm:spPr/>
    </dgm:pt>
    <dgm:pt modelId="{B6FA550A-E55B-F647-8837-269C5F2B45CA}" type="pres">
      <dgm:prSet presAssocID="{F5A57D5B-D38F-3344-9AEB-B26746D85129}" presName="horFlow" presStyleCnt="0"/>
      <dgm:spPr/>
    </dgm:pt>
    <dgm:pt modelId="{5640E65B-7044-844F-9EB5-48CE7C5F451B}" type="pres">
      <dgm:prSet presAssocID="{F5A57D5B-D38F-3344-9AEB-B26746D85129}" presName="bigChev" presStyleLbl="node1" presStyleIdx="2" presStyleCnt="5" custScaleX="143216"/>
      <dgm:spPr/>
    </dgm:pt>
    <dgm:pt modelId="{082B47EC-2459-F145-AB5A-00E5E8E0E6B6}" type="pres">
      <dgm:prSet presAssocID="{4529DC3B-0617-7B49-B605-5CC2241113F4}" presName="parTrans" presStyleCnt="0"/>
      <dgm:spPr/>
    </dgm:pt>
    <dgm:pt modelId="{E7AF8E55-35D4-EE43-84F0-EB1EE3C4089C}" type="pres">
      <dgm:prSet presAssocID="{8F012C2E-FBD7-7342-809E-61D66F0ADA8F}" presName="node" presStyleLbl="alignAccFollowNode1" presStyleIdx="2" presStyleCnt="5" custScaleX="115752">
        <dgm:presLayoutVars>
          <dgm:bulletEnabled val="1"/>
        </dgm:presLayoutVars>
      </dgm:prSet>
      <dgm:spPr/>
    </dgm:pt>
    <dgm:pt modelId="{5811418B-F0A5-9846-9D84-2FCF3A1E0C85}" type="pres">
      <dgm:prSet presAssocID="{F5A57D5B-D38F-3344-9AEB-B26746D85129}" presName="vSp" presStyleCnt="0"/>
      <dgm:spPr/>
    </dgm:pt>
    <dgm:pt modelId="{C6432E75-451D-C04E-B974-85A83CC24E61}" type="pres">
      <dgm:prSet presAssocID="{C476B5AD-DCC3-FC4A-A3DD-AC3C01611B18}" presName="horFlow" presStyleCnt="0"/>
      <dgm:spPr/>
    </dgm:pt>
    <dgm:pt modelId="{11900ED1-072B-FE45-8087-917F279E1854}" type="pres">
      <dgm:prSet presAssocID="{C476B5AD-DCC3-FC4A-A3DD-AC3C01611B18}" presName="bigChev" presStyleLbl="node1" presStyleIdx="3" presStyleCnt="5" custScaleX="143216"/>
      <dgm:spPr/>
    </dgm:pt>
    <dgm:pt modelId="{1CD7A641-D2C6-6D44-9821-969E062E8052}" type="pres">
      <dgm:prSet presAssocID="{FBA2582D-B6F9-2644-B0EA-709AC9511843}" presName="parTrans" presStyleCnt="0"/>
      <dgm:spPr/>
    </dgm:pt>
    <dgm:pt modelId="{8BCC3C3D-DEEA-0241-A450-84AB07AF83EE}" type="pres">
      <dgm:prSet presAssocID="{6398241F-4CD0-7443-8E0D-FBA0EAD87C82}" presName="node" presStyleLbl="alignAccFollowNode1" presStyleIdx="3" presStyleCnt="5" custScaleX="115752" custLinFactNeighborX="0">
        <dgm:presLayoutVars>
          <dgm:bulletEnabled val="1"/>
        </dgm:presLayoutVars>
      </dgm:prSet>
      <dgm:spPr/>
    </dgm:pt>
    <dgm:pt modelId="{1D0209CC-4DAD-BC49-8FFF-5B1A3AD7C8AC}" type="pres">
      <dgm:prSet presAssocID="{C476B5AD-DCC3-FC4A-A3DD-AC3C01611B18}" presName="vSp" presStyleCnt="0"/>
      <dgm:spPr/>
    </dgm:pt>
    <dgm:pt modelId="{E841F784-B451-0C4B-9417-AABFB4527209}" type="pres">
      <dgm:prSet presAssocID="{4BDA77BC-E14B-8245-A88A-13FAE10523F5}" presName="horFlow" presStyleCnt="0"/>
      <dgm:spPr/>
    </dgm:pt>
    <dgm:pt modelId="{96B99780-81A6-4C41-BF29-ECA058D08E7B}" type="pres">
      <dgm:prSet presAssocID="{4BDA77BC-E14B-8245-A88A-13FAE10523F5}" presName="bigChev" presStyleLbl="node1" presStyleIdx="4" presStyleCnt="5" custScaleX="139012" custLinFactNeighborX="11076"/>
      <dgm:spPr/>
    </dgm:pt>
    <dgm:pt modelId="{EB80123E-E06B-0344-8B98-C77BE803B9A0}" type="pres">
      <dgm:prSet presAssocID="{B17646FB-44FB-6D4F-A2FE-EDE762969FF8}" presName="parTrans" presStyleCnt="0"/>
      <dgm:spPr/>
    </dgm:pt>
    <dgm:pt modelId="{C442239F-A10C-D54C-B093-8FD13A00035F}" type="pres">
      <dgm:prSet presAssocID="{397B0026-6C06-A24C-AC71-DA2CB6F7829B}" presName="node" presStyleLbl="alignAccFollowNode1" presStyleIdx="4" presStyleCnt="5" custScaleX="123130">
        <dgm:presLayoutVars>
          <dgm:bulletEnabled val="1"/>
        </dgm:presLayoutVars>
      </dgm:prSet>
      <dgm:spPr/>
    </dgm:pt>
  </dgm:ptLst>
  <dgm:cxnLst>
    <dgm:cxn modelId="{6373D519-2788-B541-B311-6B6C3DE6DC52}" type="presOf" srcId="{4BDA77BC-E14B-8245-A88A-13FAE10523F5}" destId="{96B99780-81A6-4C41-BF29-ECA058D08E7B}" srcOrd="0" destOrd="0" presId="urn:microsoft.com/office/officeart/2005/8/layout/lProcess3"/>
    <dgm:cxn modelId="{3BE0D627-C422-4140-8958-E1874639BF42}" srcId="{C476B5AD-DCC3-FC4A-A3DD-AC3C01611B18}" destId="{6398241F-4CD0-7443-8E0D-FBA0EAD87C82}" srcOrd="0" destOrd="0" parTransId="{FBA2582D-B6F9-2644-B0EA-709AC9511843}" sibTransId="{985EC99E-67DA-AE47-BB5E-868DA3CC4D51}"/>
    <dgm:cxn modelId="{C6057E35-D143-2146-8F5F-D3A3BCA52EBE}" srcId="{4FBD6411-6FA3-7845-886B-09F983AE3D66}" destId="{75558DDB-B135-8F4A-8257-A165A0389A4C}" srcOrd="1" destOrd="0" parTransId="{E8B56C1E-FA75-5940-A8C4-30A551B1DA75}" sibTransId="{628207E4-5F9E-954B-BEDC-C47C2A82E45E}"/>
    <dgm:cxn modelId="{306C9C4B-78DD-C54F-AA0E-2DF3FD3890CE}" type="presOf" srcId="{8F012C2E-FBD7-7342-809E-61D66F0ADA8F}" destId="{E7AF8E55-35D4-EE43-84F0-EB1EE3C4089C}" srcOrd="0" destOrd="0" presId="urn:microsoft.com/office/officeart/2005/8/layout/lProcess3"/>
    <dgm:cxn modelId="{86E87358-B747-E645-B031-3AE9E79B9B20}" type="presOf" srcId="{4FBD6411-6FA3-7845-886B-09F983AE3D66}" destId="{6FEF738C-2EC1-E641-B51A-36787E6B815D}" srcOrd="0" destOrd="0" presId="urn:microsoft.com/office/officeart/2005/8/layout/lProcess3"/>
    <dgm:cxn modelId="{E070675B-445C-AD43-9C5D-BF74254A28A2}" srcId="{75558DDB-B135-8F4A-8257-A165A0389A4C}" destId="{CF3486DF-6C01-104F-AECF-A0D54829799B}" srcOrd="0" destOrd="0" parTransId="{6F52E02A-2CB2-584C-B929-E1AEEBA4FB49}" sibTransId="{8B4D8B82-B6CD-7F47-B70D-35D3914F6AD2}"/>
    <dgm:cxn modelId="{C817F579-3D7F-AE41-9C77-80D70786EC6F}" type="presOf" srcId="{F5A57D5B-D38F-3344-9AEB-B26746D85129}" destId="{5640E65B-7044-844F-9EB5-48CE7C5F451B}" srcOrd="0" destOrd="0" presId="urn:microsoft.com/office/officeart/2005/8/layout/lProcess3"/>
    <dgm:cxn modelId="{20A1DB7A-245E-7B47-B0A8-D0F7FA5AE104}" srcId="{4BDA77BC-E14B-8245-A88A-13FAE10523F5}" destId="{397B0026-6C06-A24C-AC71-DA2CB6F7829B}" srcOrd="0" destOrd="0" parTransId="{B17646FB-44FB-6D4F-A2FE-EDE762969FF8}" sibTransId="{45DD26EC-10C7-FA45-8984-599011A3BEC4}"/>
    <dgm:cxn modelId="{3B4C0282-845C-7F42-B349-BBECBB3D4531}" srcId="{4FBD6411-6FA3-7845-886B-09F983AE3D66}" destId="{160A1DCA-DDD1-3C40-BD61-4BAC6D770983}" srcOrd="0" destOrd="0" parTransId="{A54A716F-39B9-F247-AC3B-35E09EDD05C8}" sibTransId="{F4D4CD18-37F6-0844-84B6-409FD528DCD2}"/>
    <dgm:cxn modelId="{637C5D95-DE4C-154B-8595-B3D2D5C1599A}" srcId="{160A1DCA-DDD1-3C40-BD61-4BAC6D770983}" destId="{E7275480-C98A-4E4A-AB69-88AAFD0E0267}" srcOrd="0" destOrd="0" parTransId="{77D60A77-FF27-A24C-8601-02131AC42963}" sibTransId="{32321B6E-009C-D04F-81E8-4E7E1208D595}"/>
    <dgm:cxn modelId="{41EDF0A6-AA9A-4045-A58A-D3898DE91BD6}" type="presOf" srcId="{C476B5AD-DCC3-FC4A-A3DD-AC3C01611B18}" destId="{11900ED1-072B-FE45-8087-917F279E1854}" srcOrd="0" destOrd="0" presId="urn:microsoft.com/office/officeart/2005/8/layout/lProcess3"/>
    <dgm:cxn modelId="{7C9F59AB-6AEF-9A4A-8F5D-CC91706C4CAB}" type="presOf" srcId="{75558DDB-B135-8F4A-8257-A165A0389A4C}" destId="{AC12D99E-FB7E-0741-8161-C77DE0409CB8}" srcOrd="0" destOrd="0" presId="urn:microsoft.com/office/officeart/2005/8/layout/lProcess3"/>
    <dgm:cxn modelId="{DDBF15B0-25AE-C543-8F4C-C5A261D9C88C}" srcId="{4FBD6411-6FA3-7845-886B-09F983AE3D66}" destId="{4BDA77BC-E14B-8245-A88A-13FAE10523F5}" srcOrd="4" destOrd="0" parTransId="{9669BA5D-3107-EE45-A40C-5CACCC3B2B0E}" sibTransId="{24E25589-BCD9-6941-BB69-9752AA45F3C7}"/>
    <dgm:cxn modelId="{1364E0B2-AD7F-7748-A952-1E3575C09943}" type="presOf" srcId="{6398241F-4CD0-7443-8E0D-FBA0EAD87C82}" destId="{8BCC3C3D-DEEA-0241-A450-84AB07AF83EE}" srcOrd="0" destOrd="0" presId="urn:microsoft.com/office/officeart/2005/8/layout/lProcess3"/>
    <dgm:cxn modelId="{F1381DB4-ABE6-3A4C-904B-E1B35688F50E}" type="presOf" srcId="{E7275480-C98A-4E4A-AB69-88AAFD0E0267}" destId="{589CEB27-68EC-8C44-AE2F-CCCE5077B7DD}" srcOrd="0" destOrd="0" presId="urn:microsoft.com/office/officeart/2005/8/layout/lProcess3"/>
    <dgm:cxn modelId="{E8A570B6-2121-A344-BD73-C19385FA3F35}" srcId="{F5A57D5B-D38F-3344-9AEB-B26746D85129}" destId="{8F012C2E-FBD7-7342-809E-61D66F0ADA8F}" srcOrd="0" destOrd="0" parTransId="{4529DC3B-0617-7B49-B605-5CC2241113F4}" sibTransId="{1FBA673C-467B-6444-9645-5262536AAE78}"/>
    <dgm:cxn modelId="{3BD20EBB-DDF6-5447-AB63-01659E9DEE8D}" type="presOf" srcId="{160A1DCA-DDD1-3C40-BD61-4BAC6D770983}" destId="{BC1F68B1-384F-884E-85F2-687846E08432}" srcOrd="0" destOrd="0" presId="urn:microsoft.com/office/officeart/2005/8/layout/lProcess3"/>
    <dgm:cxn modelId="{47A42DD2-C002-D84F-A5F5-E110B421C37E}" srcId="{4FBD6411-6FA3-7845-886B-09F983AE3D66}" destId="{C476B5AD-DCC3-FC4A-A3DD-AC3C01611B18}" srcOrd="3" destOrd="0" parTransId="{F12B458E-FA9D-834A-ADE7-97C5B25E7650}" sibTransId="{15AEF5A1-4B03-8142-8884-21C8BC4F33B5}"/>
    <dgm:cxn modelId="{1F1936DF-471C-B34B-9111-49680F006100}" srcId="{4FBD6411-6FA3-7845-886B-09F983AE3D66}" destId="{F5A57D5B-D38F-3344-9AEB-B26746D85129}" srcOrd="2" destOrd="0" parTransId="{07368294-972C-4241-BB1A-981FD51E5C02}" sibTransId="{D16CFCC2-2E29-8A40-B322-749D3D4C2D7D}"/>
    <dgm:cxn modelId="{0703D0EE-B38F-0143-A7A6-1C4CB4DCF536}" type="presOf" srcId="{CF3486DF-6C01-104F-AECF-A0D54829799B}" destId="{8762CD98-6B6D-F945-9F8A-143998E383B8}" srcOrd="0" destOrd="0" presId="urn:microsoft.com/office/officeart/2005/8/layout/lProcess3"/>
    <dgm:cxn modelId="{2E6BCEFD-716E-C94B-A552-B3407B2B54AA}" type="presOf" srcId="{397B0026-6C06-A24C-AC71-DA2CB6F7829B}" destId="{C442239F-A10C-D54C-B093-8FD13A00035F}" srcOrd="0" destOrd="0" presId="urn:microsoft.com/office/officeart/2005/8/layout/lProcess3"/>
    <dgm:cxn modelId="{30375657-BD54-A641-9EBC-F44F91EF81CB}" type="presParOf" srcId="{6FEF738C-2EC1-E641-B51A-36787E6B815D}" destId="{42F9EBDB-B792-7743-BBF3-3A57E3293F87}" srcOrd="0" destOrd="0" presId="urn:microsoft.com/office/officeart/2005/8/layout/lProcess3"/>
    <dgm:cxn modelId="{3DE5F85C-EC6D-604B-AC33-D456E0E01822}" type="presParOf" srcId="{42F9EBDB-B792-7743-BBF3-3A57E3293F87}" destId="{BC1F68B1-384F-884E-85F2-687846E08432}" srcOrd="0" destOrd="0" presId="urn:microsoft.com/office/officeart/2005/8/layout/lProcess3"/>
    <dgm:cxn modelId="{2F93A8DF-8BDE-3440-906A-9D2550AA98A4}" type="presParOf" srcId="{42F9EBDB-B792-7743-BBF3-3A57E3293F87}" destId="{05ECDEE6-A71D-2845-B76F-6EFC48BA8DD6}" srcOrd="1" destOrd="0" presId="urn:microsoft.com/office/officeart/2005/8/layout/lProcess3"/>
    <dgm:cxn modelId="{6B6C5CED-71FD-1741-BAAD-26FF0A8DEF5A}" type="presParOf" srcId="{42F9EBDB-B792-7743-BBF3-3A57E3293F87}" destId="{589CEB27-68EC-8C44-AE2F-CCCE5077B7DD}" srcOrd="2" destOrd="0" presId="urn:microsoft.com/office/officeart/2005/8/layout/lProcess3"/>
    <dgm:cxn modelId="{147FF670-C82C-C445-858C-9273D8308622}" type="presParOf" srcId="{6FEF738C-2EC1-E641-B51A-36787E6B815D}" destId="{D2C5389B-8744-0B47-B305-A6454ED4134C}" srcOrd="1" destOrd="0" presId="urn:microsoft.com/office/officeart/2005/8/layout/lProcess3"/>
    <dgm:cxn modelId="{6A68D92C-2470-B84A-A55B-37D0DCE90244}" type="presParOf" srcId="{6FEF738C-2EC1-E641-B51A-36787E6B815D}" destId="{74445CD6-E25E-C240-BE60-9A45B7B25C5C}" srcOrd="2" destOrd="0" presId="urn:microsoft.com/office/officeart/2005/8/layout/lProcess3"/>
    <dgm:cxn modelId="{2E98D35D-7E03-2B4A-8823-2397AA1F179F}" type="presParOf" srcId="{74445CD6-E25E-C240-BE60-9A45B7B25C5C}" destId="{AC12D99E-FB7E-0741-8161-C77DE0409CB8}" srcOrd="0" destOrd="0" presId="urn:microsoft.com/office/officeart/2005/8/layout/lProcess3"/>
    <dgm:cxn modelId="{1CE88BCE-45A9-BE45-A988-27E5AC57CFF5}" type="presParOf" srcId="{74445CD6-E25E-C240-BE60-9A45B7B25C5C}" destId="{3F7E8E6F-6509-404E-B3F2-D39A334B2DDA}" srcOrd="1" destOrd="0" presId="urn:microsoft.com/office/officeart/2005/8/layout/lProcess3"/>
    <dgm:cxn modelId="{BCD2ED9E-6138-E745-AD0D-39F86A0062E8}" type="presParOf" srcId="{74445CD6-E25E-C240-BE60-9A45B7B25C5C}" destId="{8762CD98-6B6D-F945-9F8A-143998E383B8}" srcOrd="2" destOrd="0" presId="urn:microsoft.com/office/officeart/2005/8/layout/lProcess3"/>
    <dgm:cxn modelId="{9BE32A7F-BA15-0042-B0F7-8710335FB83B}" type="presParOf" srcId="{6FEF738C-2EC1-E641-B51A-36787E6B815D}" destId="{038D8EA8-5999-1446-81FA-0BB39BA0BC61}" srcOrd="3" destOrd="0" presId="urn:microsoft.com/office/officeart/2005/8/layout/lProcess3"/>
    <dgm:cxn modelId="{9F7B9657-5086-F446-AADA-9D822EE9DE4E}" type="presParOf" srcId="{6FEF738C-2EC1-E641-B51A-36787E6B815D}" destId="{B6FA550A-E55B-F647-8837-269C5F2B45CA}" srcOrd="4" destOrd="0" presId="urn:microsoft.com/office/officeart/2005/8/layout/lProcess3"/>
    <dgm:cxn modelId="{1170CBEF-9640-1C47-BF8B-9C911C77090C}" type="presParOf" srcId="{B6FA550A-E55B-F647-8837-269C5F2B45CA}" destId="{5640E65B-7044-844F-9EB5-48CE7C5F451B}" srcOrd="0" destOrd="0" presId="urn:microsoft.com/office/officeart/2005/8/layout/lProcess3"/>
    <dgm:cxn modelId="{7B2F8D94-151A-8445-9531-6018A4123B4E}" type="presParOf" srcId="{B6FA550A-E55B-F647-8837-269C5F2B45CA}" destId="{082B47EC-2459-F145-AB5A-00E5E8E0E6B6}" srcOrd="1" destOrd="0" presId="urn:microsoft.com/office/officeart/2005/8/layout/lProcess3"/>
    <dgm:cxn modelId="{218D6C5A-A347-5644-8591-845BCB81BA1E}" type="presParOf" srcId="{B6FA550A-E55B-F647-8837-269C5F2B45CA}" destId="{E7AF8E55-35D4-EE43-84F0-EB1EE3C4089C}" srcOrd="2" destOrd="0" presId="urn:microsoft.com/office/officeart/2005/8/layout/lProcess3"/>
    <dgm:cxn modelId="{23DFD0DC-703E-C742-9D0C-FBEEED8D1933}" type="presParOf" srcId="{6FEF738C-2EC1-E641-B51A-36787E6B815D}" destId="{5811418B-F0A5-9846-9D84-2FCF3A1E0C85}" srcOrd="5" destOrd="0" presId="urn:microsoft.com/office/officeart/2005/8/layout/lProcess3"/>
    <dgm:cxn modelId="{99059B04-79E0-6047-A9BB-5B25B3B0A5B9}" type="presParOf" srcId="{6FEF738C-2EC1-E641-B51A-36787E6B815D}" destId="{C6432E75-451D-C04E-B974-85A83CC24E61}" srcOrd="6" destOrd="0" presId="urn:microsoft.com/office/officeart/2005/8/layout/lProcess3"/>
    <dgm:cxn modelId="{DC23A82E-FAC5-2649-8C47-C9C4C2BACD0D}" type="presParOf" srcId="{C6432E75-451D-C04E-B974-85A83CC24E61}" destId="{11900ED1-072B-FE45-8087-917F279E1854}" srcOrd="0" destOrd="0" presId="urn:microsoft.com/office/officeart/2005/8/layout/lProcess3"/>
    <dgm:cxn modelId="{F55577DB-4E22-8F47-AD7C-6D58D79D6343}" type="presParOf" srcId="{C6432E75-451D-C04E-B974-85A83CC24E61}" destId="{1CD7A641-D2C6-6D44-9821-969E062E8052}" srcOrd="1" destOrd="0" presId="urn:microsoft.com/office/officeart/2005/8/layout/lProcess3"/>
    <dgm:cxn modelId="{0CEF3DE8-3FB4-1A47-A939-300F527B68A0}" type="presParOf" srcId="{C6432E75-451D-C04E-B974-85A83CC24E61}" destId="{8BCC3C3D-DEEA-0241-A450-84AB07AF83EE}" srcOrd="2" destOrd="0" presId="urn:microsoft.com/office/officeart/2005/8/layout/lProcess3"/>
    <dgm:cxn modelId="{C5155326-BA3E-5F43-9035-1CA3CD79C485}" type="presParOf" srcId="{6FEF738C-2EC1-E641-B51A-36787E6B815D}" destId="{1D0209CC-4DAD-BC49-8FFF-5B1A3AD7C8AC}" srcOrd="7" destOrd="0" presId="urn:microsoft.com/office/officeart/2005/8/layout/lProcess3"/>
    <dgm:cxn modelId="{0E854899-2904-874C-A4E9-8BFF30310A95}" type="presParOf" srcId="{6FEF738C-2EC1-E641-B51A-36787E6B815D}" destId="{E841F784-B451-0C4B-9417-AABFB4527209}" srcOrd="8" destOrd="0" presId="urn:microsoft.com/office/officeart/2005/8/layout/lProcess3"/>
    <dgm:cxn modelId="{91457D9A-F676-E84B-B6AA-DC7649C6D3ED}" type="presParOf" srcId="{E841F784-B451-0C4B-9417-AABFB4527209}" destId="{96B99780-81A6-4C41-BF29-ECA058D08E7B}" srcOrd="0" destOrd="0" presId="urn:microsoft.com/office/officeart/2005/8/layout/lProcess3"/>
    <dgm:cxn modelId="{A86BDCF0-CF40-A947-951D-CC7B1B178493}" type="presParOf" srcId="{E841F784-B451-0C4B-9417-AABFB4527209}" destId="{EB80123E-E06B-0344-8B98-C77BE803B9A0}" srcOrd="1" destOrd="0" presId="urn:microsoft.com/office/officeart/2005/8/layout/lProcess3"/>
    <dgm:cxn modelId="{725B842F-6840-E945-9298-66AF4CD0563C}" type="presParOf" srcId="{E841F784-B451-0C4B-9417-AABFB4527209}" destId="{C442239F-A10C-D54C-B093-8FD13A00035F}" srcOrd="2" destOrd="0" presId="urn:microsoft.com/office/officeart/2005/8/layout/lProcess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A2AF5BC-60E3-8541-8864-4F28C9F2BF59}" type="doc">
      <dgm:prSet loTypeId="urn:microsoft.com/office/officeart/2005/8/layout/default" loCatId="" qsTypeId="urn:microsoft.com/office/officeart/2005/8/quickstyle/simple1" qsCatId="simple" csTypeId="urn:microsoft.com/office/officeart/2005/8/colors/colorful1" csCatId="colorful" phldr="1"/>
      <dgm:spPr/>
      <dgm:t>
        <a:bodyPr/>
        <a:lstStyle/>
        <a:p>
          <a:endParaRPr lang="en-US"/>
        </a:p>
      </dgm:t>
    </dgm:pt>
    <dgm:pt modelId="{F46E0186-56FE-A745-93AB-3EFFD3428EBE}">
      <dgm:prSet phldrT="[Text]"/>
      <dgm:spPr>
        <a:solidFill>
          <a:srgbClr val="FFFDD0"/>
        </a:solidFill>
      </dgm:spPr>
      <dgm:t>
        <a:bodyPr/>
        <a:lstStyle/>
        <a:p>
          <a:pPr algn="l">
            <a:buNone/>
          </a:pPr>
          <a:r>
            <a:rPr lang="en-ZA" sz="2800" b="0" dirty="0">
              <a:solidFill>
                <a:schemeClr val="tx1"/>
              </a:solidFill>
            </a:rPr>
            <a:t>Identity Matrix</a:t>
          </a:r>
          <a:endParaRPr lang="en-US" sz="2800" dirty="0">
            <a:solidFill>
              <a:schemeClr val="tx1"/>
            </a:solidFill>
          </a:endParaRPr>
        </a:p>
      </dgm:t>
    </dgm:pt>
    <dgm:pt modelId="{B93B2ED3-1F66-F544-BA8F-AEAA75BFE5F8}" type="parTrans" cxnId="{72E66FB4-6E45-AD42-B54A-B9B0BB9CF612}">
      <dgm:prSet/>
      <dgm:spPr/>
      <dgm:t>
        <a:bodyPr/>
        <a:lstStyle/>
        <a:p>
          <a:endParaRPr lang="en-US"/>
        </a:p>
      </dgm:t>
    </dgm:pt>
    <dgm:pt modelId="{06CD5965-698E-B746-AD8C-3D42D05ADDBD}" type="sibTrans" cxnId="{72E66FB4-6E45-AD42-B54A-B9B0BB9CF612}">
      <dgm:prSet/>
      <dgm:spPr/>
      <dgm:t>
        <a:bodyPr/>
        <a:lstStyle/>
        <a:p>
          <a:endParaRPr lang="en-US"/>
        </a:p>
      </dgm:t>
    </dgm:pt>
    <mc:AlternateContent xmlns:mc="http://schemas.openxmlformats.org/markup-compatibility/2006" xmlns:a14="http://schemas.microsoft.com/office/drawing/2010/main">
      <mc:Choice Requires="a14">
        <dgm:pt modelId="{1E464050-1747-3244-9B57-3FD157FF1855}">
          <dgm:prSet phldrT="[Text]" custT="1"/>
          <dgm:spPr>
            <a:solidFill>
              <a:srgbClr val="FFFDD0"/>
            </a:solidFill>
          </dgm:spPr>
          <dgm:t>
            <a:bodyPr/>
            <a:lstStyle/>
            <a:p>
              <a:pPr algn="l">
                <a:buNone/>
              </a:pPr>
              <a14:m>
                <m:oMathPara xmlns:m="http://schemas.openxmlformats.org/officeDocument/2006/math">
                  <m:oMathParaPr>
                    <m:jc m:val="centerGroup"/>
                  </m:oMathParaPr>
                  <m:oMath xmlns:m="http://schemas.openxmlformats.org/officeDocument/2006/math">
                    <m:r>
                      <a:rPr lang="en-US" sz="2400" b="0" i="1" smtClean="0">
                        <a:solidFill>
                          <a:schemeClr val="tx1"/>
                        </a:solidFill>
                        <a:latin typeface="Cambria Math" panose="02040503050406030204" pitchFamily="18" charset="0"/>
                      </a:rPr>
                      <m:t>𝐼</m:t>
                    </m:r>
                    <m:r>
                      <a:rPr lang="en-US" sz="2400" b="0" i="1" smtClean="0">
                        <a:solidFill>
                          <a:schemeClr val="tx1"/>
                        </a:solidFill>
                        <a:latin typeface="Cambria Math" panose="02040503050406030204" pitchFamily="18" charset="0"/>
                      </a:rPr>
                      <m:t>=</m:t>
                    </m:r>
                    <m:d>
                      <m:dPr>
                        <m:ctrlPr>
                          <a:rPr lang="en-US" sz="2400" i="1" smtClean="0">
                            <a:solidFill>
                              <a:schemeClr val="tx1"/>
                            </a:solidFill>
                            <a:latin typeface="Cambria Math" panose="02040503050406030204" pitchFamily="18" charset="0"/>
                          </a:rPr>
                        </m:ctrlPr>
                      </m:dPr>
                      <m:e>
                        <m:m>
                          <m:mPr>
                            <m:plcHide m:val="on"/>
                            <m:mcs>
                              <m:mc>
                                <m:mcPr>
                                  <m:count m:val="2"/>
                                  <m:mcJc m:val="center"/>
                                </m:mcPr>
                              </m:mc>
                            </m:mcs>
                            <m:ctrlPr>
                              <a:rPr lang="en-US" sz="2400" i="1">
                                <a:solidFill>
                                  <a:schemeClr val="tx1"/>
                                </a:solidFill>
                                <a:latin typeface="Cambria Math" panose="02040503050406030204" pitchFamily="18" charset="0"/>
                              </a:rPr>
                            </m:ctrlPr>
                          </m:mPr>
                          <m:mr>
                            <m:e>
                              <m:r>
                                <a:rPr lang="en-US" sz="2400">
                                  <a:solidFill>
                                    <a:schemeClr val="tx1"/>
                                  </a:solidFill>
                                  <a:latin typeface="Cambria Math" panose="02040503050406030204" pitchFamily="18" charset="0"/>
                                </a:rPr>
                                <m:t>1</m:t>
                              </m:r>
                            </m:e>
                            <m:e>
                              <m:r>
                                <a:rPr lang="en-US" sz="2400">
                                  <a:solidFill>
                                    <a:schemeClr val="tx1"/>
                                  </a:solidFill>
                                  <a:latin typeface="Cambria Math" panose="02040503050406030204" pitchFamily="18" charset="0"/>
                                </a:rPr>
                                <m:t>0</m:t>
                              </m:r>
                            </m:e>
                          </m:mr>
                          <m:mr>
                            <m:e>
                              <m:r>
                                <a:rPr lang="en-US" sz="2400">
                                  <a:solidFill>
                                    <a:schemeClr val="tx1"/>
                                  </a:solidFill>
                                  <a:latin typeface="Cambria Math" panose="02040503050406030204" pitchFamily="18" charset="0"/>
                                </a:rPr>
                                <m:t>0</m:t>
                              </m:r>
                            </m:e>
                            <m:e>
                              <m:r>
                                <a:rPr lang="en-US" sz="2400">
                                  <a:solidFill>
                                    <a:schemeClr val="tx1"/>
                                  </a:solidFill>
                                  <a:latin typeface="Cambria Math" panose="02040503050406030204" pitchFamily="18" charset="0"/>
                                </a:rPr>
                                <m:t>1</m:t>
                              </m:r>
                            </m:e>
                          </m:mr>
                        </m:m>
                      </m:e>
                    </m:d>
                  </m:oMath>
                </m:oMathPara>
              </a14:m>
              <a:endParaRPr lang="en-US" sz="2400" dirty="0">
                <a:solidFill>
                  <a:schemeClr val="tx1"/>
                </a:solidFill>
              </a:endParaRPr>
            </a:p>
          </dgm:t>
        </dgm:pt>
      </mc:Choice>
      <mc:Fallback xmlns="">
        <dgm:pt modelId="{1E464050-1747-3244-9B57-3FD157FF1855}">
          <dgm:prSet phldrT="[Text]" custT="1"/>
          <dgm:spPr>
            <a:solidFill>
              <a:srgbClr val="FFFDD0"/>
            </a:solidFill>
          </dgm:spPr>
          <dgm:t>
            <a:bodyPr/>
            <a:lstStyle/>
            <a:p>
              <a:pPr algn="l">
                <a:buNone/>
              </a:pPr>
              <a:r>
                <a:rPr lang="en-US" sz="2400" b="0" i="0">
                  <a:solidFill>
                    <a:schemeClr val="tx1"/>
                  </a:solidFill>
                  <a:latin typeface="Cambria Math" panose="02040503050406030204" pitchFamily="18" charset="0"/>
                </a:rPr>
                <a:t>𝐼=</a:t>
              </a:r>
              <a:r>
                <a:rPr lang="en-US" sz="2400" i="0">
                  <a:solidFill>
                    <a:schemeClr val="tx1"/>
                  </a:solidFill>
                  <a:latin typeface="Cambria Math" panose="02040503050406030204" pitchFamily="18" charset="0"/>
                </a:rPr>
                <a:t>(■(1&amp;0@0&amp;1))</a:t>
              </a:r>
              <a:endParaRPr lang="en-US" sz="2400" dirty="0">
                <a:solidFill>
                  <a:schemeClr val="tx1"/>
                </a:solidFill>
              </a:endParaRPr>
            </a:p>
          </dgm:t>
        </dgm:pt>
      </mc:Fallback>
    </mc:AlternateContent>
    <dgm:pt modelId="{27F4F252-E5AA-1D42-81EF-5290F30C73A4}" type="parTrans" cxnId="{E02B955D-9502-D542-AF77-847CA31EE064}">
      <dgm:prSet/>
      <dgm:spPr/>
      <dgm:t>
        <a:bodyPr/>
        <a:lstStyle/>
        <a:p>
          <a:endParaRPr lang="en-US"/>
        </a:p>
      </dgm:t>
    </dgm:pt>
    <dgm:pt modelId="{9723EB83-B998-A641-B0C7-8211F476F11B}" type="sibTrans" cxnId="{E02B955D-9502-D542-AF77-847CA31EE064}">
      <dgm:prSet/>
      <dgm:spPr/>
      <dgm:t>
        <a:bodyPr/>
        <a:lstStyle/>
        <a:p>
          <a:endParaRPr lang="en-US"/>
        </a:p>
      </dgm:t>
    </dgm:pt>
    <dgm:pt modelId="{AA07CF5C-2921-C842-A860-32B00E23B509}">
      <dgm:prSet phldrT="[Text]"/>
      <dgm:spPr>
        <a:solidFill>
          <a:schemeClr val="bg1">
            <a:lumMod val="95000"/>
          </a:schemeClr>
        </a:solidFill>
      </dgm:spPr>
      <dgm:t>
        <a:bodyPr/>
        <a:lstStyle/>
        <a:p>
          <a:pPr algn="l">
            <a:buNone/>
          </a:pPr>
          <a:r>
            <a:rPr lang="en-ZA" sz="3000" b="0" dirty="0">
              <a:solidFill>
                <a:schemeClr val="tx1"/>
              </a:solidFill>
            </a:rPr>
            <a:t>Orthogonal Matrix</a:t>
          </a:r>
          <a:endParaRPr lang="en-US" sz="3000" dirty="0">
            <a:solidFill>
              <a:schemeClr val="tx1"/>
            </a:solidFill>
          </a:endParaRPr>
        </a:p>
      </dgm:t>
    </dgm:pt>
    <dgm:pt modelId="{9257E34B-3492-B245-9D4D-BD32D97CC5BB}" type="parTrans" cxnId="{5C0E0FAE-FA5B-7A4E-86C1-AE92143A4E00}">
      <dgm:prSet/>
      <dgm:spPr/>
      <dgm:t>
        <a:bodyPr/>
        <a:lstStyle/>
        <a:p>
          <a:endParaRPr lang="en-US"/>
        </a:p>
      </dgm:t>
    </dgm:pt>
    <dgm:pt modelId="{895DE975-4270-B944-9686-401F709396A6}" type="sibTrans" cxnId="{5C0E0FAE-FA5B-7A4E-86C1-AE92143A4E00}">
      <dgm:prSet/>
      <dgm:spPr/>
      <dgm:t>
        <a:bodyPr/>
        <a:lstStyle/>
        <a:p>
          <a:endParaRPr lang="en-US"/>
        </a:p>
      </dgm:t>
    </dgm:pt>
    <dgm:pt modelId="{41B166D0-7162-1D4E-8FDA-821931D3AB3D}">
      <dgm:prSet phldrT="[Text]" custT="1"/>
      <dgm:spPr>
        <a:solidFill>
          <a:schemeClr val="bg1">
            <a:lumMod val="95000"/>
          </a:schemeClr>
        </a:solidFill>
      </dgm:spPr>
      <dgm:t>
        <a:bodyPr/>
        <a:lstStyle/>
        <a:p>
          <a:pPr algn="just"/>
          <a:r>
            <a:rPr lang="en-US" sz="2300" dirty="0">
              <a:solidFill>
                <a:schemeClr val="tx1"/>
              </a:solidFill>
            </a:rPr>
            <a:t>A real square matrix which, when multiplied by its transpose, results in the identity matrix.</a:t>
          </a:r>
        </a:p>
      </dgm:t>
    </dgm:pt>
    <dgm:pt modelId="{B7634088-3C7A-A94E-AA8D-D5F714B23870}" type="parTrans" cxnId="{C957F60B-B1A0-504D-AC5D-77375C857A8B}">
      <dgm:prSet/>
      <dgm:spPr/>
      <dgm:t>
        <a:bodyPr/>
        <a:lstStyle/>
        <a:p>
          <a:endParaRPr lang="en-US"/>
        </a:p>
      </dgm:t>
    </dgm:pt>
    <dgm:pt modelId="{8E861D9F-3DD5-B049-95E0-A16725E5E16D}" type="sibTrans" cxnId="{C957F60B-B1A0-504D-AC5D-77375C857A8B}">
      <dgm:prSet/>
      <dgm:spPr/>
      <dgm:t>
        <a:bodyPr/>
        <a:lstStyle/>
        <a:p>
          <a:endParaRPr lang="en-US"/>
        </a:p>
      </dgm:t>
    </dgm:pt>
    <dgm:pt modelId="{9C26BD6F-4A74-6B4A-8FA9-3EC23DFE0336}">
      <dgm:prSet phldrT="[Text]" custT="1"/>
      <dgm:spPr>
        <a:solidFill>
          <a:srgbClr val="FFFDD0"/>
        </a:solidFill>
      </dgm:spPr>
      <dgm:t>
        <a:bodyPr/>
        <a:lstStyle/>
        <a:p>
          <a:pPr algn="just">
            <a:buFont typeface="Arial" panose="020B0604020202020204" pitchFamily="34" charset="0"/>
            <a:buChar char="•"/>
          </a:pPr>
          <a:r>
            <a:rPr lang="en-US" sz="2300" dirty="0">
              <a:solidFill>
                <a:schemeClr val="tx1"/>
              </a:solidFill>
            </a:rPr>
            <a:t>A square matrix with ones on the main diagonal and zeros elsewhere</a:t>
          </a:r>
          <a:r>
            <a:rPr lang="en-ZA" sz="2300" dirty="0">
              <a:solidFill>
                <a:schemeClr val="tx1"/>
              </a:solidFill>
            </a:rPr>
            <a:t>. </a:t>
          </a:r>
          <a:endParaRPr lang="en-US" sz="2200" dirty="0">
            <a:solidFill>
              <a:schemeClr val="tx1"/>
            </a:solidFill>
          </a:endParaRPr>
        </a:p>
      </dgm:t>
    </dgm:pt>
    <dgm:pt modelId="{32416553-E9D9-9E4C-B37A-C5D949DD5DD9}" type="parTrans" cxnId="{C69C83C7-A2A8-2744-8253-9D3248B65A7B}">
      <dgm:prSet/>
      <dgm:spPr/>
      <dgm:t>
        <a:bodyPr/>
        <a:lstStyle/>
        <a:p>
          <a:endParaRPr lang="en-US"/>
        </a:p>
      </dgm:t>
    </dgm:pt>
    <dgm:pt modelId="{A63F58B7-7B49-4F4B-ACC1-300B210F0929}" type="sibTrans" cxnId="{C69C83C7-A2A8-2744-8253-9D3248B65A7B}">
      <dgm:prSet/>
      <dgm:spPr/>
      <dgm:t>
        <a:bodyPr/>
        <a:lstStyle/>
        <a:p>
          <a:endParaRPr lang="en-US"/>
        </a:p>
      </dgm:t>
    </dgm:pt>
    <mc:AlternateContent xmlns:mc="http://schemas.openxmlformats.org/markup-compatibility/2006" xmlns:a14="http://schemas.microsoft.com/office/drawing/2010/main">
      <mc:Choice Requires="a14">
        <dgm:pt modelId="{A7F12DDC-AFF2-504D-A40A-16CC592BCD4A}">
          <dgm:prSet phldrT="[Text]" custT="1"/>
          <dgm:spPr>
            <a:solidFill>
              <a:schemeClr val="bg1">
                <a:lumMod val="95000"/>
              </a:schemeClr>
            </a:solidFill>
          </dgm:spPr>
          <dgm:t>
            <a:bodyPr/>
            <a:lstStyle/>
            <a:p>
              <a:pPr algn="l">
                <a:buNone/>
              </a:pPr>
              <a14:m>
                <m:oMathPara xmlns:m="http://schemas.openxmlformats.org/officeDocument/2006/math">
                  <m:oMathParaPr>
                    <m:jc m:val="centerGroup"/>
                  </m:oMathParaPr>
                  <m:oMath xmlns:m="http://schemas.openxmlformats.org/officeDocument/2006/math">
                    <m:sSup>
                      <m:sSupPr>
                        <m:ctrlPr>
                          <a:rPr lang="en-US" sz="2400" i="1" smtClean="0">
                            <a:solidFill>
                              <a:schemeClr val="tx1"/>
                            </a:solidFill>
                            <a:latin typeface="Cambria Math" panose="02040503050406030204" pitchFamily="18" charset="0"/>
                          </a:rPr>
                        </m:ctrlPr>
                      </m:sSupPr>
                      <m:e>
                        <m:r>
                          <a:rPr lang="en-US" sz="2400" b="0" i="1" smtClean="0">
                            <a:solidFill>
                              <a:schemeClr val="tx1"/>
                            </a:solidFill>
                            <a:latin typeface="Cambria Math" panose="02040503050406030204" pitchFamily="18" charset="0"/>
                          </a:rPr>
                          <m:t>𝐴</m:t>
                        </m:r>
                        <m:r>
                          <a:rPr lang="en-US" sz="2400" i="1">
                            <a:solidFill>
                              <a:schemeClr val="tx1"/>
                            </a:solidFill>
                            <a:latin typeface="Cambria Math" panose="02040503050406030204" pitchFamily="18" charset="0"/>
                          </a:rPr>
                          <m:t>𝐴</m:t>
                        </m:r>
                      </m:e>
                      <m:sup>
                        <m:r>
                          <a:rPr lang="en-US" sz="2400" b="0" i="1" smtClean="0">
                            <a:solidFill>
                              <a:schemeClr val="tx1"/>
                            </a:solidFill>
                            <a:latin typeface="Cambria Math" panose="02040503050406030204" pitchFamily="18" charset="0"/>
                          </a:rPr>
                          <m:t>𝑇</m:t>
                        </m:r>
                      </m:sup>
                    </m:sSup>
                    <m:r>
                      <a:rPr lang="en-US" sz="2400" b="0" i="1" smtClean="0">
                        <a:solidFill>
                          <a:schemeClr val="tx1"/>
                        </a:solidFill>
                        <a:latin typeface="Cambria Math" panose="02040503050406030204" pitchFamily="18" charset="0"/>
                      </a:rPr>
                      <m:t>=</m:t>
                    </m:r>
                    <m:sSup>
                      <m:sSupPr>
                        <m:ctrlPr>
                          <a:rPr lang="en-US" sz="2400" i="1" smtClean="0">
                            <a:solidFill>
                              <a:schemeClr val="tx1"/>
                            </a:solidFill>
                            <a:latin typeface="Cambria Math" panose="02040503050406030204" pitchFamily="18" charset="0"/>
                          </a:rPr>
                        </m:ctrlPr>
                      </m:sSupPr>
                      <m:e>
                        <m:r>
                          <a:rPr lang="en-US" sz="2400" i="1">
                            <a:solidFill>
                              <a:schemeClr val="tx1"/>
                            </a:solidFill>
                            <a:latin typeface="Cambria Math" panose="02040503050406030204" pitchFamily="18" charset="0"/>
                          </a:rPr>
                          <m:t>𝐴</m:t>
                        </m:r>
                      </m:e>
                      <m:sup>
                        <m:r>
                          <a:rPr lang="en-US" sz="2400" b="0" i="1" smtClean="0">
                            <a:solidFill>
                              <a:schemeClr val="tx1"/>
                            </a:solidFill>
                            <a:latin typeface="Cambria Math" panose="02040503050406030204" pitchFamily="18" charset="0"/>
                          </a:rPr>
                          <m:t>𝑇</m:t>
                        </m:r>
                      </m:sup>
                    </m:sSup>
                    <m:r>
                      <a:rPr lang="en-US" sz="2400" b="0" i="1" smtClean="0">
                        <a:solidFill>
                          <a:schemeClr val="tx1"/>
                        </a:solidFill>
                        <a:latin typeface="Cambria Math" panose="02040503050406030204" pitchFamily="18" charset="0"/>
                      </a:rPr>
                      <m:t>𝐴</m:t>
                    </m:r>
                    <m:r>
                      <a:rPr lang="en-US" sz="2400" b="0" i="1" smtClean="0">
                        <a:solidFill>
                          <a:schemeClr val="tx1"/>
                        </a:solidFill>
                        <a:latin typeface="Cambria Math" panose="02040503050406030204" pitchFamily="18" charset="0"/>
                      </a:rPr>
                      <m:t>=</m:t>
                    </m:r>
                    <m:r>
                      <a:rPr lang="en-US" sz="2400" b="0" i="1" smtClean="0">
                        <a:solidFill>
                          <a:schemeClr val="tx1"/>
                        </a:solidFill>
                        <a:latin typeface="Cambria Math" panose="02040503050406030204" pitchFamily="18" charset="0"/>
                      </a:rPr>
                      <m:t>𝐼</m:t>
                    </m:r>
                  </m:oMath>
                </m:oMathPara>
              </a14:m>
              <a:endParaRPr lang="en-US" sz="2400" dirty="0">
                <a:solidFill>
                  <a:schemeClr val="tx1"/>
                </a:solidFill>
              </a:endParaRPr>
            </a:p>
          </dgm:t>
        </dgm:pt>
      </mc:Choice>
      <mc:Fallback xmlns="">
        <dgm:pt modelId="{A7F12DDC-AFF2-504D-A40A-16CC592BCD4A}">
          <dgm:prSet phldrT="[Text]" custT="1"/>
          <dgm:spPr>
            <a:solidFill>
              <a:schemeClr val="bg1">
                <a:lumMod val="95000"/>
              </a:schemeClr>
            </a:solidFill>
          </dgm:spPr>
          <dgm:t>
            <a:bodyPr/>
            <a:lstStyle/>
            <a:p>
              <a:pPr algn="l">
                <a:buNone/>
              </a:pPr>
              <a:r>
                <a:rPr lang="en-US" sz="2400" i="0">
                  <a:solidFill>
                    <a:schemeClr val="tx1"/>
                  </a:solidFill>
                  <a:latin typeface="Cambria Math" panose="02040503050406030204" pitchFamily="18" charset="0"/>
                </a:rPr>
                <a:t>〖</a:t>
              </a:r>
              <a:r>
                <a:rPr lang="en-US" sz="2400" b="0" i="0">
                  <a:solidFill>
                    <a:schemeClr val="tx1"/>
                  </a:solidFill>
                  <a:latin typeface="Cambria Math" panose="02040503050406030204" pitchFamily="18" charset="0"/>
                </a:rPr>
                <a:t>𝐴</a:t>
              </a:r>
              <a:r>
                <a:rPr lang="en-US" sz="2400" i="0">
                  <a:solidFill>
                    <a:schemeClr val="tx1"/>
                  </a:solidFill>
                  <a:latin typeface="Cambria Math" panose="02040503050406030204" pitchFamily="18" charset="0"/>
                </a:rPr>
                <a:t>𝐴〗^</a:t>
              </a:r>
              <a:r>
                <a:rPr lang="en-US" sz="2400" b="0" i="0">
                  <a:solidFill>
                    <a:schemeClr val="tx1"/>
                  </a:solidFill>
                  <a:latin typeface="Cambria Math" panose="02040503050406030204" pitchFamily="18" charset="0"/>
                </a:rPr>
                <a:t>𝑇=</a:t>
              </a:r>
              <a:r>
                <a:rPr lang="en-US" sz="2400" i="0">
                  <a:solidFill>
                    <a:schemeClr val="tx1"/>
                  </a:solidFill>
                  <a:latin typeface="Cambria Math" panose="02040503050406030204" pitchFamily="18" charset="0"/>
                </a:rPr>
                <a:t>𝐴^</a:t>
              </a:r>
              <a:r>
                <a:rPr lang="en-US" sz="2400" b="0" i="0">
                  <a:solidFill>
                    <a:schemeClr val="tx1"/>
                  </a:solidFill>
                  <a:latin typeface="Cambria Math" panose="02040503050406030204" pitchFamily="18" charset="0"/>
                </a:rPr>
                <a:t>𝑇 𝐴=𝐼</a:t>
              </a:r>
              <a:endParaRPr lang="en-US" sz="2400" dirty="0">
                <a:solidFill>
                  <a:schemeClr val="tx1"/>
                </a:solidFill>
              </a:endParaRPr>
            </a:p>
          </dgm:t>
        </dgm:pt>
      </mc:Fallback>
    </mc:AlternateContent>
    <dgm:pt modelId="{270853BE-451D-C348-A41D-46BFC7664B74}" type="parTrans" cxnId="{8BAB1BE0-A60F-9240-8550-73521236C4C9}">
      <dgm:prSet/>
      <dgm:spPr/>
      <dgm:t>
        <a:bodyPr/>
        <a:lstStyle/>
        <a:p>
          <a:endParaRPr lang="en-US"/>
        </a:p>
      </dgm:t>
    </dgm:pt>
    <dgm:pt modelId="{100C07D3-35B8-8848-9998-84F96EF61ACF}" type="sibTrans" cxnId="{8BAB1BE0-A60F-9240-8550-73521236C4C9}">
      <dgm:prSet/>
      <dgm:spPr/>
      <dgm:t>
        <a:bodyPr/>
        <a:lstStyle/>
        <a:p>
          <a:endParaRPr lang="en-US"/>
        </a:p>
      </dgm:t>
    </dgm:pt>
    <dgm:pt modelId="{A51968AF-A7CB-5B4E-8656-F1815D43C2CC}">
      <dgm:prSet phldrT="[Text]"/>
      <dgm:spPr>
        <a:solidFill>
          <a:schemeClr val="accent2">
            <a:lumMod val="20000"/>
            <a:lumOff val="80000"/>
          </a:schemeClr>
        </a:solidFill>
      </dgm:spPr>
      <dgm:t>
        <a:bodyPr/>
        <a:lstStyle/>
        <a:p>
          <a:pPr algn="l">
            <a:buNone/>
          </a:pPr>
          <a:r>
            <a:rPr lang="en-ZA" sz="3000" b="0" dirty="0">
              <a:solidFill>
                <a:schemeClr val="tx1"/>
              </a:solidFill>
            </a:rPr>
            <a:t>Hermitian Matrix</a:t>
          </a:r>
          <a:endParaRPr lang="en-US" sz="3000" dirty="0">
            <a:solidFill>
              <a:schemeClr val="tx1"/>
            </a:solidFill>
          </a:endParaRPr>
        </a:p>
      </dgm:t>
    </dgm:pt>
    <dgm:pt modelId="{7E44049A-AB25-3247-B3D0-76998841B900}" type="parTrans" cxnId="{4AE0C231-0D8A-B94B-A64E-99065D00D458}">
      <dgm:prSet/>
      <dgm:spPr/>
      <dgm:t>
        <a:bodyPr/>
        <a:lstStyle/>
        <a:p>
          <a:endParaRPr lang="en-US"/>
        </a:p>
      </dgm:t>
    </dgm:pt>
    <dgm:pt modelId="{CFD8F77A-9045-7848-9F35-528A12D68876}" type="sibTrans" cxnId="{4AE0C231-0D8A-B94B-A64E-99065D00D458}">
      <dgm:prSet/>
      <dgm:spPr/>
      <dgm:t>
        <a:bodyPr/>
        <a:lstStyle/>
        <a:p>
          <a:endParaRPr lang="en-US"/>
        </a:p>
      </dgm:t>
    </dgm:pt>
    <dgm:pt modelId="{64E414A6-3B47-DA46-A25C-F513E52618F1}">
      <dgm:prSet phldrT="[Text]" custT="1"/>
      <dgm:spPr>
        <a:solidFill>
          <a:schemeClr val="accent2">
            <a:lumMod val="20000"/>
            <a:lumOff val="80000"/>
          </a:schemeClr>
        </a:solidFill>
      </dgm:spPr>
      <dgm:t>
        <a:bodyPr/>
        <a:lstStyle/>
        <a:p>
          <a:pPr algn="just"/>
          <a:r>
            <a:rPr lang="en-US" sz="2300" dirty="0">
              <a:solidFill>
                <a:schemeClr val="tx1"/>
              </a:solidFill>
            </a:rPr>
            <a:t>A square matrix that is equal to its conjugate transpose</a:t>
          </a:r>
          <a:r>
            <a:rPr lang="en-ZA" sz="2300" dirty="0">
              <a:solidFill>
                <a:schemeClr val="tx1"/>
              </a:solidFill>
            </a:rPr>
            <a:t>.</a:t>
          </a:r>
          <a:endParaRPr lang="en-US" sz="2300" dirty="0">
            <a:solidFill>
              <a:schemeClr val="tx1"/>
            </a:solidFill>
          </a:endParaRPr>
        </a:p>
      </dgm:t>
    </dgm:pt>
    <dgm:pt modelId="{194B8AC5-E6BA-5646-9AB8-556A09297BDA}" type="parTrans" cxnId="{EBEEE367-A602-3D4A-875E-215B23143C8F}">
      <dgm:prSet/>
      <dgm:spPr/>
      <dgm:t>
        <a:bodyPr/>
        <a:lstStyle/>
        <a:p>
          <a:endParaRPr lang="en-US"/>
        </a:p>
      </dgm:t>
    </dgm:pt>
    <dgm:pt modelId="{5D6CBBE3-99BE-464B-9366-3623B694561F}" type="sibTrans" cxnId="{EBEEE367-A602-3D4A-875E-215B23143C8F}">
      <dgm:prSet/>
      <dgm:spPr/>
      <dgm:t>
        <a:bodyPr/>
        <a:lstStyle/>
        <a:p>
          <a:endParaRPr lang="en-US"/>
        </a:p>
      </dgm:t>
    </dgm:pt>
    <mc:AlternateContent xmlns:mc="http://schemas.openxmlformats.org/markup-compatibility/2006" xmlns:a14="http://schemas.microsoft.com/office/drawing/2010/main">
      <mc:Choice Requires="a14">
        <dgm:pt modelId="{0CEAF519-1C3B-3C43-95FD-B4C9F87D1E60}">
          <dgm:prSet phldrT="[Text]" custT="1"/>
          <dgm:spPr>
            <a:solidFill>
              <a:schemeClr val="accent2">
                <a:lumMod val="20000"/>
                <a:lumOff val="80000"/>
              </a:schemeClr>
            </a:solidFill>
          </dgm:spPr>
          <dgm:t>
            <a:bodyPr/>
            <a:lstStyle/>
            <a:p>
              <a:pPr algn="l">
                <a:buNone/>
              </a:pPr>
              <a14:m>
                <m:oMathPara xmlns:m="http://schemas.openxmlformats.org/officeDocument/2006/math">
                  <m:oMathParaPr>
                    <m:jc m:val="centerGroup"/>
                  </m:oMathParaPr>
                  <m:oMath xmlns:m="http://schemas.openxmlformats.org/officeDocument/2006/math">
                    <m:sSup>
                      <m:sSupPr>
                        <m:ctrlPr>
                          <a:rPr lang="en-US" sz="2400" i="1" smtClean="0">
                            <a:solidFill>
                              <a:schemeClr val="tx1"/>
                            </a:solidFill>
                            <a:latin typeface="Cambria Math" panose="02040503050406030204" pitchFamily="18" charset="0"/>
                          </a:rPr>
                        </m:ctrlPr>
                      </m:sSupPr>
                      <m:e>
                        <m:r>
                          <a:rPr lang="en-US" sz="2400" b="0" i="1" smtClean="0">
                            <a:solidFill>
                              <a:schemeClr val="tx1"/>
                            </a:solidFill>
                            <a:latin typeface="Cambria Math" panose="02040503050406030204" pitchFamily="18" charset="0"/>
                          </a:rPr>
                          <m:t>𝐴</m:t>
                        </m:r>
                        <m:r>
                          <a:rPr lang="en-US" sz="2400" b="0" i="1" smtClean="0">
                            <a:solidFill>
                              <a:schemeClr val="tx1"/>
                            </a:solidFill>
                            <a:latin typeface="Cambria Math" panose="02040503050406030204" pitchFamily="18" charset="0"/>
                          </a:rPr>
                          <m:t>=</m:t>
                        </m:r>
                        <m:r>
                          <a:rPr lang="en-US" sz="2400" i="1">
                            <a:solidFill>
                              <a:schemeClr val="tx1"/>
                            </a:solidFill>
                            <a:latin typeface="Cambria Math" panose="02040503050406030204" pitchFamily="18" charset="0"/>
                          </a:rPr>
                          <m:t>𝐴</m:t>
                        </m:r>
                      </m:e>
                      <m:sup>
                        <m:r>
                          <a:rPr lang="en-US" sz="2400" i="1">
                            <a:solidFill>
                              <a:schemeClr val="tx1"/>
                            </a:solidFill>
                            <a:latin typeface="Cambria Math" panose="02040503050406030204" pitchFamily="18" charset="0"/>
                          </a:rPr>
                          <m:t>†</m:t>
                        </m:r>
                      </m:sup>
                    </m:sSup>
                  </m:oMath>
                </m:oMathPara>
              </a14:m>
              <a:endParaRPr lang="en-US" sz="2400" dirty="0">
                <a:solidFill>
                  <a:schemeClr val="tx1"/>
                </a:solidFill>
              </a:endParaRPr>
            </a:p>
          </dgm:t>
        </dgm:pt>
      </mc:Choice>
      <mc:Fallback xmlns="">
        <dgm:pt modelId="{0CEAF519-1C3B-3C43-95FD-B4C9F87D1E60}">
          <dgm:prSet phldrT="[Text]" custT="1"/>
          <dgm:spPr>
            <a:solidFill>
              <a:schemeClr val="accent2">
                <a:lumMod val="20000"/>
                <a:lumOff val="80000"/>
              </a:schemeClr>
            </a:solidFill>
          </dgm:spPr>
          <dgm:t>
            <a:bodyPr/>
            <a:lstStyle/>
            <a:p>
              <a:pPr algn="l">
                <a:buNone/>
              </a:pPr>
              <a:r>
                <a:rPr lang="en-US" sz="2400" i="0">
                  <a:solidFill>
                    <a:schemeClr val="tx1"/>
                  </a:solidFill>
                  <a:latin typeface="Cambria Math" panose="02040503050406030204" pitchFamily="18" charset="0"/>
                </a:rPr>
                <a:t>〖</a:t>
              </a:r>
              <a:r>
                <a:rPr lang="en-US" sz="2400" b="0" i="0">
                  <a:solidFill>
                    <a:schemeClr val="tx1"/>
                  </a:solidFill>
                  <a:latin typeface="Cambria Math" panose="02040503050406030204" pitchFamily="18" charset="0"/>
                </a:rPr>
                <a:t>𝐴=</a:t>
              </a:r>
              <a:r>
                <a:rPr lang="en-US" sz="2400" i="0">
                  <a:solidFill>
                    <a:schemeClr val="tx1"/>
                  </a:solidFill>
                  <a:latin typeface="Cambria Math" panose="02040503050406030204" pitchFamily="18" charset="0"/>
                </a:rPr>
                <a:t>𝐴〗^†</a:t>
              </a:r>
              <a:endParaRPr lang="en-US" sz="2400" dirty="0">
                <a:solidFill>
                  <a:schemeClr val="tx1"/>
                </a:solidFill>
              </a:endParaRPr>
            </a:p>
          </dgm:t>
        </dgm:pt>
      </mc:Fallback>
    </mc:AlternateContent>
    <dgm:pt modelId="{CC7B24E6-727E-8740-AEB1-B367388B3656}" type="parTrans" cxnId="{AC678887-1EBB-3743-8582-6F3A2B33CBD3}">
      <dgm:prSet/>
      <dgm:spPr/>
      <dgm:t>
        <a:bodyPr/>
        <a:lstStyle/>
        <a:p>
          <a:endParaRPr lang="en-US"/>
        </a:p>
      </dgm:t>
    </dgm:pt>
    <dgm:pt modelId="{427C35D3-FBEB-2E47-938B-233EF658C6EE}" type="sibTrans" cxnId="{AC678887-1EBB-3743-8582-6F3A2B33CBD3}">
      <dgm:prSet/>
      <dgm:spPr/>
      <dgm:t>
        <a:bodyPr/>
        <a:lstStyle/>
        <a:p>
          <a:endParaRPr lang="en-US"/>
        </a:p>
      </dgm:t>
    </dgm:pt>
    <dgm:pt modelId="{49FCC770-FC46-724B-8B42-999231F3883D}">
      <dgm:prSet phldrT="[Text]"/>
      <dgm:spPr>
        <a:solidFill>
          <a:schemeClr val="accent5">
            <a:lumMod val="20000"/>
            <a:lumOff val="80000"/>
          </a:schemeClr>
        </a:solidFill>
      </dgm:spPr>
      <dgm:t>
        <a:bodyPr/>
        <a:lstStyle/>
        <a:p>
          <a:pPr algn="l">
            <a:buNone/>
          </a:pPr>
          <a:r>
            <a:rPr lang="en-ZA" sz="2700" b="0" dirty="0">
              <a:solidFill>
                <a:schemeClr val="tx1"/>
              </a:solidFill>
            </a:rPr>
            <a:t>Unitary Matrix</a:t>
          </a:r>
          <a:endParaRPr lang="en-US" sz="2700" dirty="0">
            <a:solidFill>
              <a:schemeClr val="tx1"/>
            </a:solidFill>
          </a:endParaRPr>
        </a:p>
      </dgm:t>
    </dgm:pt>
    <dgm:pt modelId="{55810CB1-660B-BD42-BFCA-9B7F6D9D018E}" type="parTrans" cxnId="{13793690-3187-1D40-8108-514BEAC24C10}">
      <dgm:prSet/>
      <dgm:spPr/>
      <dgm:t>
        <a:bodyPr/>
        <a:lstStyle/>
        <a:p>
          <a:endParaRPr lang="en-US"/>
        </a:p>
      </dgm:t>
    </dgm:pt>
    <dgm:pt modelId="{70AE20F3-F2B9-8D4E-9E6F-C4FCB047460F}" type="sibTrans" cxnId="{13793690-3187-1D40-8108-514BEAC24C10}">
      <dgm:prSet/>
      <dgm:spPr/>
      <dgm:t>
        <a:bodyPr/>
        <a:lstStyle/>
        <a:p>
          <a:endParaRPr lang="en-US"/>
        </a:p>
      </dgm:t>
    </dgm:pt>
    <mc:AlternateContent xmlns:mc="http://schemas.openxmlformats.org/markup-compatibility/2006" xmlns:a14="http://schemas.microsoft.com/office/drawing/2010/main">
      <mc:Choice Requires="a14">
        <dgm:pt modelId="{81B4A25D-E7DD-D741-BE4B-998FEE9C5058}">
          <dgm:prSet custT="1"/>
          <dgm:spPr>
            <a:solidFill>
              <a:schemeClr val="accent5">
                <a:lumMod val="20000"/>
                <a:lumOff val="80000"/>
              </a:schemeClr>
            </a:solidFill>
          </dgm:spPr>
          <dgm:t>
            <a:bodyPr/>
            <a:lstStyle/>
            <a:p>
              <a:pPr algn="l">
                <a:buNone/>
              </a:pPr>
              <a14:m>
                <m:oMathPara xmlns:m="http://schemas.openxmlformats.org/officeDocument/2006/math">
                  <m:oMathParaPr>
                    <m:jc m:val="centerGroup"/>
                  </m:oMathParaPr>
                  <m:oMath xmlns:m="http://schemas.openxmlformats.org/officeDocument/2006/math">
                    <m:sSup>
                      <m:sSupPr>
                        <m:ctrlPr>
                          <a:rPr lang="en-US" sz="2400" i="1" smtClean="0">
                            <a:solidFill>
                              <a:schemeClr val="tx1"/>
                            </a:solidFill>
                            <a:latin typeface="Cambria Math" panose="02040503050406030204" pitchFamily="18" charset="0"/>
                          </a:rPr>
                        </m:ctrlPr>
                      </m:sSupPr>
                      <m:e>
                        <m:r>
                          <a:rPr lang="en-US" sz="2400" b="0" i="1" smtClean="0">
                            <a:solidFill>
                              <a:schemeClr val="tx1"/>
                            </a:solidFill>
                            <a:latin typeface="Cambria Math" panose="02040503050406030204" pitchFamily="18" charset="0"/>
                          </a:rPr>
                          <m:t>𝐴</m:t>
                        </m:r>
                        <m:r>
                          <a:rPr lang="en-US" sz="2400" i="1">
                            <a:solidFill>
                              <a:schemeClr val="tx1"/>
                            </a:solidFill>
                            <a:latin typeface="Cambria Math" panose="02040503050406030204" pitchFamily="18" charset="0"/>
                          </a:rPr>
                          <m:t>𝐴</m:t>
                        </m:r>
                      </m:e>
                      <m:sup>
                        <m:r>
                          <a:rPr lang="en-US" sz="2400" i="1">
                            <a:solidFill>
                              <a:schemeClr val="tx1"/>
                            </a:solidFill>
                            <a:latin typeface="Cambria Math" panose="02040503050406030204" pitchFamily="18" charset="0"/>
                          </a:rPr>
                          <m:t>†</m:t>
                        </m:r>
                      </m:sup>
                    </m:sSup>
                    <m:r>
                      <a:rPr lang="en-US" sz="2400" b="0" i="1" smtClean="0">
                        <a:solidFill>
                          <a:schemeClr val="tx1"/>
                        </a:solidFill>
                        <a:latin typeface="Cambria Math" panose="02040503050406030204" pitchFamily="18" charset="0"/>
                      </a:rPr>
                      <m:t>=</m:t>
                    </m:r>
                    <m:sSup>
                      <m:sSupPr>
                        <m:ctrlPr>
                          <a:rPr lang="en-US" sz="2400" i="1" smtClean="0">
                            <a:solidFill>
                              <a:schemeClr val="tx1"/>
                            </a:solidFill>
                            <a:latin typeface="Cambria Math" panose="02040503050406030204" pitchFamily="18" charset="0"/>
                          </a:rPr>
                        </m:ctrlPr>
                      </m:sSupPr>
                      <m:e>
                        <m:r>
                          <a:rPr lang="en-US" sz="2400" b="0" i="1" smtClean="0">
                            <a:solidFill>
                              <a:schemeClr val="tx1"/>
                            </a:solidFill>
                            <a:latin typeface="Cambria Math" panose="02040503050406030204" pitchFamily="18" charset="0"/>
                          </a:rPr>
                          <m:t>𝐴</m:t>
                        </m:r>
                      </m:e>
                      <m:sup>
                        <m:r>
                          <a:rPr lang="en-US" sz="2400" i="1">
                            <a:solidFill>
                              <a:schemeClr val="tx1"/>
                            </a:solidFill>
                            <a:latin typeface="Cambria Math" panose="02040503050406030204" pitchFamily="18" charset="0"/>
                          </a:rPr>
                          <m:t>†</m:t>
                        </m:r>
                      </m:sup>
                    </m:sSup>
                    <m:r>
                      <a:rPr lang="en-US" sz="2400" b="0" i="1" smtClean="0">
                        <a:solidFill>
                          <a:schemeClr val="tx1"/>
                        </a:solidFill>
                        <a:latin typeface="Cambria Math" panose="02040503050406030204" pitchFamily="18" charset="0"/>
                      </a:rPr>
                      <m:t>𝐴</m:t>
                    </m:r>
                    <m:r>
                      <a:rPr lang="en-US" sz="2400" b="0" i="1" smtClean="0">
                        <a:solidFill>
                          <a:schemeClr val="tx1"/>
                        </a:solidFill>
                        <a:latin typeface="Cambria Math" panose="02040503050406030204" pitchFamily="18" charset="0"/>
                      </a:rPr>
                      <m:t>=</m:t>
                    </m:r>
                    <m:r>
                      <a:rPr lang="en-US" sz="2400" b="0" i="1" smtClean="0">
                        <a:solidFill>
                          <a:schemeClr val="tx1"/>
                        </a:solidFill>
                        <a:latin typeface="Cambria Math" panose="02040503050406030204" pitchFamily="18" charset="0"/>
                      </a:rPr>
                      <m:t>𝐼</m:t>
                    </m:r>
                  </m:oMath>
                </m:oMathPara>
              </a14:m>
              <a:endParaRPr lang="en-US" sz="2400" dirty="0">
                <a:solidFill>
                  <a:schemeClr val="tx1"/>
                </a:solidFill>
              </a:endParaRPr>
            </a:p>
          </dgm:t>
        </dgm:pt>
      </mc:Choice>
      <mc:Fallback xmlns="">
        <dgm:pt modelId="{81B4A25D-E7DD-D741-BE4B-998FEE9C5058}">
          <dgm:prSet custT="1"/>
          <dgm:spPr>
            <a:solidFill>
              <a:schemeClr val="accent5">
                <a:lumMod val="20000"/>
                <a:lumOff val="80000"/>
              </a:schemeClr>
            </a:solidFill>
          </dgm:spPr>
          <dgm:t>
            <a:bodyPr/>
            <a:lstStyle/>
            <a:p>
              <a:pPr algn="l">
                <a:buNone/>
              </a:pPr>
              <a:r>
                <a:rPr lang="en-US" sz="2400" i="0">
                  <a:solidFill>
                    <a:schemeClr val="tx1"/>
                  </a:solidFill>
                  <a:latin typeface="Cambria Math" panose="02040503050406030204" pitchFamily="18" charset="0"/>
                </a:rPr>
                <a:t>〖</a:t>
              </a:r>
              <a:r>
                <a:rPr lang="en-US" sz="2400" b="0" i="0">
                  <a:solidFill>
                    <a:schemeClr val="tx1"/>
                  </a:solidFill>
                  <a:latin typeface="Cambria Math" panose="02040503050406030204" pitchFamily="18" charset="0"/>
                </a:rPr>
                <a:t>𝐴</a:t>
              </a:r>
              <a:r>
                <a:rPr lang="en-US" sz="2400" i="0">
                  <a:solidFill>
                    <a:schemeClr val="tx1"/>
                  </a:solidFill>
                  <a:latin typeface="Cambria Math" panose="02040503050406030204" pitchFamily="18" charset="0"/>
                </a:rPr>
                <a:t>𝐴〗^†</a:t>
              </a:r>
              <a:r>
                <a:rPr lang="en-US" sz="2400" b="0" i="0">
                  <a:solidFill>
                    <a:schemeClr val="tx1"/>
                  </a:solidFill>
                  <a:latin typeface="Cambria Math" panose="02040503050406030204" pitchFamily="18" charset="0"/>
                </a:rPr>
                <a:t>=𝐴^</a:t>
              </a:r>
              <a:r>
                <a:rPr lang="en-US" sz="2400" i="0">
                  <a:solidFill>
                    <a:schemeClr val="tx1"/>
                  </a:solidFill>
                  <a:latin typeface="Cambria Math" panose="02040503050406030204" pitchFamily="18" charset="0"/>
                </a:rPr>
                <a:t>†</a:t>
              </a:r>
              <a:r>
                <a:rPr lang="en-US" sz="2400" b="0" i="0">
                  <a:solidFill>
                    <a:schemeClr val="tx1"/>
                  </a:solidFill>
                  <a:latin typeface="Cambria Math" panose="02040503050406030204" pitchFamily="18" charset="0"/>
                </a:rPr>
                <a:t> 𝐴=𝐼</a:t>
              </a:r>
              <a:endParaRPr lang="en-US" sz="2400" dirty="0">
                <a:solidFill>
                  <a:schemeClr val="tx1"/>
                </a:solidFill>
              </a:endParaRPr>
            </a:p>
          </dgm:t>
        </dgm:pt>
      </mc:Fallback>
    </mc:AlternateContent>
    <dgm:pt modelId="{676968CC-6B2D-E84B-96D1-10E2C2D0CCA3}" type="parTrans" cxnId="{B91D2C49-0B3C-A74F-8FDB-234CF97DB8A0}">
      <dgm:prSet/>
      <dgm:spPr/>
      <dgm:t>
        <a:bodyPr/>
        <a:lstStyle/>
        <a:p>
          <a:endParaRPr lang="en-US"/>
        </a:p>
      </dgm:t>
    </dgm:pt>
    <dgm:pt modelId="{AFB83FB0-6767-A944-9B4D-2F2576FCF907}" type="sibTrans" cxnId="{B91D2C49-0B3C-A74F-8FDB-234CF97DB8A0}">
      <dgm:prSet/>
      <dgm:spPr/>
      <dgm:t>
        <a:bodyPr/>
        <a:lstStyle/>
        <a:p>
          <a:endParaRPr lang="en-US"/>
        </a:p>
      </dgm:t>
    </dgm:pt>
    <dgm:pt modelId="{87AE0D3B-B448-7248-B367-399B311A8E0E}">
      <dgm:prSet custT="1"/>
      <dgm:spPr>
        <a:solidFill>
          <a:schemeClr val="accent5">
            <a:lumMod val="20000"/>
            <a:lumOff val="80000"/>
          </a:schemeClr>
        </a:solidFill>
      </dgm:spPr>
      <dgm:t>
        <a:bodyPr/>
        <a:lstStyle/>
        <a:p>
          <a:pPr algn="just"/>
          <a:r>
            <a:rPr lang="en-US" sz="2300" dirty="0">
              <a:solidFill>
                <a:schemeClr val="tx1"/>
              </a:solidFill>
            </a:rPr>
            <a:t>A square matrix which, when multiplied by its conjugate transpose, results in the identity matrix.</a:t>
          </a:r>
          <a:endParaRPr lang="en-US" sz="1000" dirty="0">
            <a:solidFill>
              <a:schemeClr val="tx1"/>
            </a:solidFill>
          </a:endParaRPr>
        </a:p>
      </dgm:t>
    </dgm:pt>
    <dgm:pt modelId="{9DC4FAA6-49B4-A94E-BB21-B2007FD1C6EE}" type="parTrans" cxnId="{76C00E61-E278-904B-A299-2B18487532A3}">
      <dgm:prSet/>
      <dgm:spPr/>
      <dgm:t>
        <a:bodyPr/>
        <a:lstStyle/>
        <a:p>
          <a:endParaRPr lang="en-US"/>
        </a:p>
      </dgm:t>
    </dgm:pt>
    <dgm:pt modelId="{3ACCDBAF-31B0-9041-8EB7-052FB1EAA56B}" type="sibTrans" cxnId="{76C00E61-E278-904B-A299-2B18487532A3}">
      <dgm:prSet/>
      <dgm:spPr/>
      <dgm:t>
        <a:bodyPr/>
        <a:lstStyle/>
        <a:p>
          <a:endParaRPr lang="en-US"/>
        </a:p>
      </dgm:t>
    </dgm:pt>
    <dgm:pt modelId="{C4AA0D6C-EACD-6042-ADE1-8700E6D2A5DE}">
      <dgm:prSet phldrT="[Text]" custT="1"/>
      <dgm:spPr>
        <a:solidFill>
          <a:srgbClr val="FFFDD0"/>
        </a:solidFill>
      </dgm:spPr>
      <dgm:t>
        <a:bodyPr/>
        <a:lstStyle/>
        <a:p>
          <a:pPr algn="just">
            <a:buFont typeface="Arial" panose="020B0604020202020204" pitchFamily="34" charset="0"/>
            <a:buChar char="•"/>
          </a:pPr>
          <a:endParaRPr lang="en-US" sz="1000" dirty="0">
            <a:solidFill>
              <a:schemeClr val="tx1"/>
            </a:solidFill>
          </a:endParaRPr>
        </a:p>
      </dgm:t>
    </dgm:pt>
    <dgm:pt modelId="{49B5CC91-C0BB-6443-86A0-0F77C4BA9558}" type="parTrans" cxnId="{1903B39A-B1AE-C841-A4AB-E495762BC503}">
      <dgm:prSet/>
      <dgm:spPr/>
      <dgm:t>
        <a:bodyPr/>
        <a:lstStyle/>
        <a:p>
          <a:endParaRPr lang="en-US"/>
        </a:p>
      </dgm:t>
    </dgm:pt>
    <dgm:pt modelId="{E74C5394-01B1-8D46-A6FF-84027DE6EB94}" type="sibTrans" cxnId="{1903B39A-B1AE-C841-A4AB-E495762BC503}">
      <dgm:prSet/>
      <dgm:spPr/>
      <dgm:t>
        <a:bodyPr/>
        <a:lstStyle/>
        <a:p>
          <a:endParaRPr lang="en-US"/>
        </a:p>
      </dgm:t>
    </dgm:pt>
    <dgm:pt modelId="{2528F6AB-236A-1040-9B8A-9396E24164BC}">
      <dgm:prSet custT="1"/>
      <dgm:spPr>
        <a:solidFill>
          <a:schemeClr val="accent5">
            <a:lumMod val="20000"/>
            <a:lumOff val="80000"/>
          </a:schemeClr>
        </a:solidFill>
      </dgm:spPr>
      <dgm:t>
        <a:bodyPr/>
        <a:lstStyle/>
        <a:p>
          <a:pPr algn="just"/>
          <a:endParaRPr lang="en-US" sz="1000" dirty="0">
            <a:solidFill>
              <a:schemeClr val="tx1"/>
            </a:solidFill>
          </a:endParaRPr>
        </a:p>
      </dgm:t>
    </dgm:pt>
    <dgm:pt modelId="{628564C8-1D01-FD45-8422-0CE960EE4C75}" type="parTrans" cxnId="{5F06FE3A-13E2-1A43-AC4D-A43C94BBDE66}">
      <dgm:prSet/>
      <dgm:spPr/>
      <dgm:t>
        <a:bodyPr/>
        <a:lstStyle/>
        <a:p>
          <a:endParaRPr lang="en-US"/>
        </a:p>
      </dgm:t>
    </dgm:pt>
    <dgm:pt modelId="{78E235B9-0FB0-434E-BEF7-FF43049A8EEA}" type="sibTrans" cxnId="{5F06FE3A-13E2-1A43-AC4D-A43C94BBDE66}">
      <dgm:prSet/>
      <dgm:spPr/>
      <dgm:t>
        <a:bodyPr/>
        <a:lstStyle/>
        <a:p>
          <a:endParaRPr lang="en-US"/>
        </a:p>
      </dgm:t>
    </dgm:pt>
    <dgm:pt modelId="{1C4F7063-50B7-FC48-B220-958147F8AB79}">
      <dgm:prSet phldrT="[Text]" custT="1"/>
      <dgm:spPr>
        <a:solidFill>
          <a:schemeClr val="bg1">
            <a:lumMod val="95000"/>
          </a:schemeClr>
        </a:solidFill>
      </dgm:spPr>
      <dgm:t>
        <a:bodyPr/>
        <a:lstStyle/>
        <a:p>
          <a:pPr algn="just">
            <a:buNone/>
          </a:pPr>
          <a:endParaRPr lang="en-US" sz="1000" dirty="0">
            <a:solidFill>
              <a:schemeClr val="tx1"/>
            </a:solidFill>
          </a:endParaRPr>
        </a:p>
      </dgm:t>
    </dgm:pt>
    <dgm:pt modelId="{9B24AB54-A5E9-624E-BFB0-2C122C63B708}" type="parTrans" cxnId="{B108C3DE-0FE4-E84D-A080-96E053E0BC95}">
      <dgm:prSet/>
      <dgm:spPr/>
      <dgm:t>
        <a:bodyPr/>
        <a:lstStyle/>
        <a:p>
          <a:endParaRPr lang="en-US"/>
        </a:p>
      </dgm:t>
    </dgm:pt>
    <dgm:pt modelId="{517C64F2-7BFF-564C-8C59-A852537375BC}" type="sibTrans" cxnId="{B108C3DE-0FE4-E84D-A080-96E053E0BC95}">
      <dgm:prSet/>
      <dgm:spPr/>
      <dgm:t>
        <a:bodyPr/>
        <a:lstStyle/>
        <a:p>
          <a:endParaRPr lang="en-US"/>
        </a:p>
      </dgm:t>
    </dgm:pt>
    <dgm:pt modelId="{0F749E6E-90AA-744D-B040-AA8A471C8E63}">
      <dgm:prSet phldrT="[Text]" custT="1"/>
      <dgm:spPr>
        <a:solidFill>
          <a:schemeClr val="accent2">
            <a:lumMod val="20000"/>
            <a:lumOff val="80000"/>
          </a:schemeClr>
        </a:solidFill>
      </dgm:spPr>
      <dgm:t>
        <a:bodyPr/>
        <a:lstStyle/>
        <a:p>
          <a:pPr algn="just">
            <a:buNone/>
          </a:pPr>
          <a:endParaRPr lang="en-US" sz="1800" dirty="0">
            <a:solidFill>
              <a:schemeClr val="tx1"/>
            </a:solidFill>
          </a:endParaRPr>
        </a:p>
      </dgm:t>
    </dgm:pt>
    <dgm:pt modelId="{05887BC7-A79F-0246-8D6C-3AD328BEFAE9}" type="parTrans" cxnId="{43CD5992-10AB-474D-BC44-728145CE7AA9}">
      <dgm:prSet/>
      <dgm:spPr/>
      <dgm:t>
        <a:bodyPr/>
        <a:lstStyle/>
        <a:p>
          <a:endParaRPr lang="en-US"/>
        </a:p>
      </dgm:t>
    </dgm:pt>
    <dgm:pt modelId="{915835C5-FC1F-7C49-9E4D-834936ABDB1D}" type="sibTrans" cxnId="{43CD5992-10AB-474D-BC44-728145CE7AA9}">
      <dgm:prSet/>
      <dgm:spPr/>
      <dgm:t>
        <a:bodyPr/>
        <a:lstStyle/>
        <a:p>
          <a:endParaRPr lang="en-US"/>
        </a:p>
      </dgm:t>
    </dgm:pt>
    <dgm:pt modelId="{2267F006-4D86-5840-BD86-522F1C4FE36B}" type="pres">
      <dgm:prSet presAssocID="{BA2AF5BC-60E3-8541-8864-4F28C9F2BF59}" presName="diagram" presStyleCnt="0">
        <dgm:presLayoutVars>
          <dgm:dir/>
          <dgm:resizeHandles val="exact"/>
        </dgm:presLayoutVars>
      </dgm:prSet>
      <dgm:spPr/>
    </dgm:pt>
    <dgm:pt modelId="{79B831A5-711D-4D4A-B56F-A4F6D63D6C13}" type="pres">
      <dgm:prSet presAssocID="{F46E0186-56FE-A745-93AB-3EFFD3428EBE}" presName="node" presStyleLbl="node1" presStyleIdx="0" presStyleCnt="4">
        <dgm:presLayoutVars>
          <dgm:bulletEnabled val="1"/>
        </dgm:presLayoutVars>
      </dgm:prSet>
      <dgm:spPr/>
    </dgm:pt>
    <dgm:pt modelId="{36A67D89-B940-7748-B77E-D9A479FAAB71}" type="pres">
      <dgm:prSet presAssocID="{06CD5965-698E-B746-AD8C-3D42D05ADDBD}" presName="sibTrans" presStyleCnt="0"/>
      <dgm:spPr/>
    </dgm:pt>
    <dgm:pt modelId="{230E0ECE-F143-B24C-9E4D-62F109CAC925}" type="pres">
      <dgm:prSet presAssocID="{AA07CF5C-2921-C842-A860-32B00E23B509}" presName="node" presStyleLbl="node1" presStyleIdx="1" presStyleCnt="4">
        <dgm:presLayoutVars>
          <dgm:bulletEnabled val="1"/>
        </dgm:presLayoutVars>
      </dgm:prSet>
      <dgm:spPr/>
    </dgm:pt>
    <dgm:pt modelId="{0CE66574-747F-184D-A847-34A35A797744}" type="pres">
      <dgm:prSet presAssocID="{895DE975-4270-B944-9686-401F709396A6}" presName="sibTrans" presStyleCnt="0"/>
      <dgm:spPr/>
    </dgm:pt>
    <dgm:pt modelId="{C9378457-7A05-FD4D-B796-355BBEAF5417}" type="pres">
      <dgm:prSet presAssocID="{A51968AF-A7CB-5B4E-8656-F1815D43C2CC}" presName="node" presStyleLbl="node1" presStyleIdx="2" presStyleCnt="4">
        <dgm:presLayoutVars>
          <dgm:bulletEnabled val="1"/>
        </dgm:presLayoutVars>
      </dgm:prSet>
      <dgm:spPr/>
    </dgm:pt>
    <dgm:pt modelId="{F3D38369-3EEC-FE49-A767-E82E95149770}" type="pres">
      <dgm:prSet presAssocID="{CFD8F77A-9045-7848-9F35-528A12D68876}" presName="sibTrans" presStyleCnt="0"/>
      <dgm:spPr/>
    </dgm:pt>
    <dgm:pt modelId="{F2A1F630-CF8F-124E-B501-DC33C45612C6}" type="pres">
      <dgm:prSet presAssocID="{49FCC770-FC46-724B-8B42-999231F3883D}" presName="node" presStyleLbl="node1" presStyleIdx="3" presStyleCnt="4">
        <dgm:presLayoutVars>
          <dgm:bulletEnabled val="1"/>
        </dgm:presLayoutVars>
      </dgm:prSet>
      <dgm:spPr/>
    </dgm:pt>
  </dgm:ptLst>
  <dgm:cxnLst>
    <dgm:cxn modelId="{C957F60B-B1A0-504D-AC5D-77375C857A8B}" srcId="{AA07CF5C-2921-C842-A860-32B00E23B509}" destId="{41B166D0-7162-1D4E-8FDA-821931D3AB3D}" srcOrd="0" destOrd="0" parTransId="{B7634088-3C7A-A94E-AA8D-D5F714B23870}" sibTransId="{8E861D9F-3DD5-B049-95E0-A16725E5E16D}"/>
    <dgm:cxn modelId="{6631D611-3F55-9246-BF1A-4793B6BAF2F5}" type="presOf" srcId="{87AE0D3B-B448-7248-B367-399B311A8E0E}" destId="{F2A1F630-CF8F-124E-B501-DC33C45612C6}" srcOrd="0" destOrd="1" presId="urn:microsoft.com/office/officeart/2005/8/layout/default"/>
    <dgm:cxn modelId="{F42F101B-E5E2-6541-99E1-D1C759050580}" type="presOf" srcId="{F46E0186-56FE-A745-93AB-3EFFD3428EBE}" destId="{79B831A5-711D-4D4A-B56F-A4F6D63D6C13}" srcOrd="0" destOrd="0" presId="urn:microsoft.com/office/officeart/2005/8/layout/default"/>
    <dgm:cxn modelId="{4AE0C231-0D8A-B94B-A64E-99065D00D458}" srcId="{BA2AF5BC-60E3-8541-8864-4F28C9F2BF59}" destId="{A51968AF-A7CB-5B4E-8656-F1815D43C2CC}" srcOrd="2" destOrd="0" parTransId="{7E44049A-AB25-3247-B3D0-76998841B900}" sibTransId="{CFD8F77A-9045-7848-9F35-528A12D68876}"/>
    <dgm:cxn modelId="{42E87332-3E90-6D41-9344-40D39B098014}" type="presOf" srcId="{81B4A25D-E7DD-D741-BE4B-998FEE9C5058}" destId="{F2A1F630-CF8F-124E-B501-DC33C45612C6}" srcOrd="0" destOrd="3" presId="urn:microsoft.com/office/officeart/2005/8/layout/default"/>
    <dgm:cxn modelId="{F794D132-2944-9340-A023-DE1B035D5624}" type="presOf" srcId="{1C4F7063-50B7-FC48-B220-958147F8AB79}" destId="{230E0ECE-F143-B24C-9E4D-62F109CAC925}" srcOrd="0" destOrd="2" presId="urn:microsoft.com/office/officeart/2005/8/layout/default"/>
    <dgm:cxn modelId="{240D4839-DC34-D54D-B286-989413EF4332}" type="presOf" srcId="{2528F6AB-236A-1040-9B8A-9396E24164BC}" destId="{F2A1F630-CF8F-124E-B501-DC33C45612C6}" srcOrd="0" destOrd="2" presId="urn:microsoft.com/office/officeart/2005/8/layout/default"/>
    <dgm:cxn modelId="{5F06FE3A-13E2-1A43-AC4D-A43C94BBDE66}" srcId="{49FCC770-FC46-724B-8B42-999231F3883D}" destId="{2528F6AB-236A-1040-9B8A-9396E24164BC}" srcOrd="1" destOrd="0" parTransId="{628564C8-1D01-FD45-8422-0CE960EE4C75}" sibTransId="{78E235B9-0FB0-434E-BEF7-FF43049A8EEA}"/>
    <dgm:cxn modelId="{B91D2C49-0B3C-A74F-8FDB-234CF97DB8A0}" srcId="{49FCC770-FC46-724B-8B42-999231F3883D}" destId="{81B4A25D-E7DD-D741-BE4B-998FEE9C5058}" srcOrd="2" destOrd="0" parTransId="{676968CC-6B2D-E84B-96D1-10E2C2D0CCA3}" sibTransId="{AFB83FB0-6767-A944-9B4D-2F2576FCF907}"/>
    <dgm:cxn modelId="{AC86CF4A-80C7-5548-A4A9-C6E9CAA70526}" type="presOf" srcId="{C4AA0D6C-EACD-6042-ADE1-8700E6D2A5DE}" destId="{79B831A5-711D-4D4A-B56F-A4F6D63D6C13}" srcOrd="0" destOrd="2" presId="urn:microsoft.com/office/officeart/2005/8/layout/default"/>
    <dgm:cxn modelId="{C82A2B58-6D32-A847-A183-11FA84FED798}" type="presOf" srcId="{0F749E6E-90AA-744D-B040-AA8A471C8E63}" destId="{C9378457-7A05-FD4D-B796-355BBEAF5417}" srcOrd="0" destOrd="2" presId="urn:microsoft.com/office/officeart/2005/8/layout/default"/>
    <dgm:cxn modelId="{E02B955D-9502-D542-AF77-847CA31EE064}" srcId="{F46E0186-56FE-A745-93AB-3EFFD3428EBE}" destId="{1E464050-1747-3244-9B57-3FD157FF1855}" srcOrd="2" destOrd="0" parTransId="{27F4F252-E5AA-1D42-81EF-5290F30C73A4}" sibTransId="{9723EB83-B998-A641-B0C7-8211F476F11B}"/>
    <dgm:cxn modelId="{76C00E61-E278-904B-A299-2B18487532A3}" srcId="{49FCC770-FC46-724B-8B42-999231F3883D}" destId="{87AE0D3B-B448-7248-B367-399B311A8E0E}" srcOrd="0" destOrd="0" parTransId="{9DC4FAA6-49B4-A94E-BB21-B2007FD1C6EE}" sibTransId="{3ACCDBAF-31B0-9041-8EB7-052FB1EAA56B}"/>
    <dgm:cxn modelId="{EBEEE367-A602-3D4A-875E-215B23143C8F}" srcId="{A51968AF-A7CB-5B4E-8656-F1815D43C2CC}" destId="{64E414A6-3B47-DA46-A25C-F513E52618F1}" srcOrd="0" destOrd="0" parTransId="{194B8AC5-E6BA-5646-9AB8-556A09297BDA}" sibTransId="{5D6CBBE3-99BE-464B-9366-3623B694561F}"/>
    <dgm:cxn modelId="{AC678887-1EBB-3743-8582-6F3A2B33CBD3}" srcId="{A51968AF-A7CB-5B4E-8656-F1815D43C2CC}" destId="{0CEAF519-1C3B-3C43-95FD-B4C9F87D1E60}" srcOrd="2" destOrd="0" parTransId="{CC7B24E6-727E-8740-AEB1-B367388B3656}" sibTransId="{427C35D3-FBEB-2E47-938B-233EF658C6EE}"/>
    <dgm:cxn modelId="{13793690-3187-1D40-8108-514BEAC24C10}" srcId="{BA2AF5BC-60E3-8541-8864-4F28C9F2BF59}" destId="{49FCC770-FC46-724B-8B42-999231F3883D}" srcOrd="3" destOrd="0" parTransId="{55810CB1-660B-BD42-BFCA-9B7F6D9D018E}" sibTransId="{70AE20F3-F2B9-8D4E-9E6F-C4FCB047460F}"/>
    <dgm:cxn modelId="{F0886790-ED2F-9B43-BD02-C62987C4CC94}" type="presOf" srcId="{9C26BD6F-4A74-6B4A-8FA9-3EC23DFE0336}" destId="{79B831A5-711D-4D4A-B56F-A4F6D63D6C13}" srcOrd="0" destOrd="1" presId="urn:microsoft.com/office/officeart/2005/8/layout/default"/>
    <dgm:cxn modelId="{43CD5992-10AB-474D-BC44-728145CE7AA9}" srcId="{A51968AF-A7CB-5B4E-8656-F1815D43C2CC}" destId="{0F749E6E-90AA-744D-B040-AA8A471C8E63}" srcOrd="1" destOrd="0" parTransId="{05887BC7-A79F-0246-8D6C-3AD328BEFAE9}" sibTransId="{915835C5-FC1F-7C49-9E4D-834936ABDB1D}"/>
    <dgm:cxn modelId="{17AF3C98-CC08-2E42-9217-DA6ADF50F6BA}" type="presOf" srcId="{1E464050-1747-3244-9B57-3FD157FF1855}" destId="{79B831A5-711D-4D4A-B56F-A4F6D63D6C13}" srcOrd="0" destOrd="3" presId="urn:microsoft.com/office/officeart/2005/8/layout/default"/>
    <dgm:cxn modelId="{1903B39A-B1AE-C841-A4AB-E495762BC503}" srcId="{F46E0186-56FE-A745-93AB-3EFFD3428EBE}" destId="{C4AA0D6C-EACD-6042-ADE1-8700E6D2A5DE}" srcOrd="1" destOrd="0" parTransId="{49B5CC91-C0BB-6443-86A0-0F77C4BA9558}" sibTransId="{E74C5394-01B1-8D46-A6FF-84027DE6EB94}"/>
    <dgm:cxn modelId="{0888BE9D-973A-6844-BA7D-205A09FDCAE8}" type="presOf" srcId="{0CEAF519-1C3B-3C43-95FD-B4C9F87D1E60}" destId="{C9378457-7A05-FD4D-B796-355BBEAF5417}" srcOrd="0" destOrd="3" presId="urn:microsoft.com/office/officeart/2005/8/layout/default"/>
    <dgm:cxn modelId="{7026CD9F-070F-0A48-8307-608B7650D57C}" type="presOf" srcId="{49FCC770-FC46-724B-8B42-999231F3883D}" destId="{F2A1F630-CF8F-124E-B501-DC33C45612C6}" srcOrd="0" destOrd="0" presId="urn:microsoft.com/office/officeart/2005/8/layout/default"/>
    <dgm:cxn modelId="{5C0E0FAE-FA5B-7A4E-86C1-AE92143A4E00}" srcId="{BA2AF5BC-60E3-8541-8864-4F28C9F2BF59}" destId="{AA07CF5C-2921-C842-A860-32B00E23B509}" srcOrd="1" destOrd="0" parTransId="{9257E34B-3492-B245-9D4D-BD32D97CC5BB}" sibTransId="{895DE975-4270-B944-9686-401F709396A6}"/>
    <dgm:cxn modelId="{45E483AE-013A-BA4D-85E3-28FF34C98B34}" type="presOf" srcId="{AA07CF5C-2921-C842-A860-32B00E23B509}" destId="{230E0ECE-F143-B24C-9E4D-62F109CAC925}" srcOrd="0" destOrd="0" presId="urn:microsoft.com/office/officeart/2005/8/layout/default"/>
    <dgm:cxn modelId="{72E66FB4-6E45-AD42-B54A-B9B0BB9CF612}" srcId="{BA2AF5BC-60E3-8541-8864-4F28C9F2BF59}" destId="{F46E0186-56FE-A745-93AB-3EFFD3428EBE}" srcOrd="0" destOrd="0" parTransId="{B93B2ED3-1F66-F544-BA8F-AEAA75BFE5F8}" sibTransId="{06CD5965-698E-B746-AD8C-3D42D05ADDBD}"/>
    <dgm:cxn modelId="{BBB758C1-E375-7B4A-B681-FA9C21A9F99E}" type="presOf" srcId="{A7F12DDC-AFF2-504D-A40A-16CC592BCD4A}" destId="{230E0ECE-F143-B24C-9E4D-62F109CAC925}" srcOrd="0" destOrd="3" presId="urn:microsoft.com/office/officeart/2005/8/layout/default"/>
    <dgm:cxn modelId="{C69C83C7-A2A8-2744-8253-9D3248B65A7B}" srcId="{F46E0186-56FE-A745-93AB-3EFFD3428EBE}" destId="{9C26BD6F-4A74-6B4A-8FA9-3EC23DFE0336}" srcOrd="0" destOrd="0" parTransId="{32416553-E9D9-9E4C-B37A-C5D949DD5DD9}" sibTransId="{A63F58B7-7B49-4F4B-ACC1-300B210F0929}"/>
    <dgm:cxn modelId="{35B10BCD-BE2C-A94C-9F74-F329856AA635}" type="presOf" srcId="{BA2AF5BC-60E3-8541-8864-4F28C9F2BF59}" destId="{2267F006-4D86-5840-BD86-522F1C4FE36B}" srcOrd="0" destOrd="0" presId="urn:microsoft.com/office/officeart/2005/8/layout/default"/>
    <dgm:cxn modelId="{B108C3DE-0FE4-E84D-A080-96E053E0BC95}" srcId="{AA07CF5C-2921-C842-A860-32B00E23B509}" destId="{1C4F7063-50B7-FC48-B220-958147F8AB79}" srcOrd="1" destOrd="0" parTransId="{9B24AB54-A5E9-624E-BFB0-2C122C63B708}" sibTransId="{517C64F2-7BFF-564C-8C59-A852537375BC}"/>
    <dgm:cxn modelId="{E8F078DF-8034-2047-9143-3ECC704E924E}" type="presOf" srcId="{41B166D0-7162-1D4E-8FDA-821931D3AB3D}" destId="{230E0ECE-F143-B24C-9E4D-62F109CAC925}" srcOrd="0" destOrd="1" presId="urn:microsoft.com/office/officeart/2005/8/layout/default"/>
    <dgm:cxn modelId="{8BAB1BE0-A60F-9240-8550-73521236C4C9}" srcId="{AA07CF5C-2921-C842-A860-32B00E23B509}" destId="{A7F12DDC-AFF2-504D-A40A-16CC592BCD4A}" srcOrd="2" destOrd="0" parTransId="{270853BE-451D-C348-A41D-46BFC7664B74}" sibTransId="{100C07D3-35B8-8848-9998-84F96EF61ACF}"/>
    <dgm:cxn modelId="{112DABEA-58E2-7441-AF35-47FE5424FA4F}" type="presOf" srcId="{A51968AF-A7CB-5B4E-8656-F1815D43C2CC}" destId="{C9378457-7A05-FD4D-B796-355BBEAF5417}" srcOrd="0" destOrd="0" presId="urn:microsoft.com/office/officeart/2005/8/layout/default"/>
    <dgm:cxn modelId="{92C64AF8-096B-414F-8BC4-62B8016803B2}" type="presOf" srcId="{64E414A6-3B47-DA46-A25C-F513E52618F1}" destId="{C9378457-7A05-FD4D-B796-355BBEAF5417}" srcOrd="0" destOrd="1" presId="urn:microsoft.com/office/officeart/2005/8/layout/default"/>
    <dgm:cxn modelId="{86CED733-78A4-DC43-B2A3-227C67494F12}" type="presParOf" srcId="{2267F006-4D86-5840-BD86-522F1C4FE36B}" destId="{79B831A5-711D-4D4A-B56F-A4F6D63D6C13}" srcOrd="0" destOrd="0" presId="urn:microsoft.com/office/officeart/2005/8/layout/default"/>
    <dgm:cxn modelId="{33F66D39-8D42-9648-9497-6B5F3FF917F9}" type="presParOf" srcId="{2267F006-4D86-5840-BD86-522F1C4FE36B}" destId="{36A67D89-B940-7748-B77E-D9A479FAAB71}" srcOrd="1" destOrd="0" presId="urn:microsoft.com/office/officeart/2005/8/layout/default"/>
    <dgm:cxn modelId="{E05F348E-551A-FB41-9286-8CC8D18D1764}" type="presParOf" srcId="{2267F006-4D86-5840-BD86-522F1C4FE36B}" destId="{230E0ECE-F143-B24C-9E4D-62F109CAC925}" srcOrd="2" destOrd="0" presId="urn:microsoft.com/office/officeart/2005/8/layout/default"/>
    <dgm:cxn modelId="{3F62EE63-3AAA-AF42-9C6F-481530773FCE}" type="presParOf" srcId="{2267F006-4D86-5840-BD86-522F1C4FE36B}" destId="{0CE66574-747F-184D-A847-34A35A797744}" srcOrd="3" destOrd="0" presId="urn:microsoft.com/office/officeart/2005/8/layout/default"/>
    <dgm:cxn modelId="{E06346F6-F86E-E54B-99E1-9F8E94848C62}" type="presParOf" srcId="{2267F006-4D86-5840-BD86-522F1C4FE36B}" destId="{C9378457-7A05-FD4D-B796-355BBEAF5417}" srcOrd="4" destOrd="0" presId="urn:microsoft.com/office/officeart/2005/8/layout/default"/>
    <dgm:cxn modelId="{B7E833B6-B3D6-8347-9319-8E74DDAD3590}" type="presParOf" srcId="{2267F006-4D86-5840-BD86-522F1C4FE36B}" destId="{F3D38369-3EEC-FE49-A767-E82E95149770}" srcOrd="5" destOrd="0" presId="urn:microsoft.com/office/officeart/2005/8/layout/default"/>
    <dgm:cxn modelId="{630839A4-DF99-EC4A-860A-35A16A865C18}" type="presParOf" srcId="{2267F006-4D86-5840-BD86-522F1C4FE36B}" destId="{F2A1F630-CF8F-124E-B501-DC33C45612C6}" srcOrd="6"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A2AF5BC-60E3-8541-8864-4F28C9F2BF59}" type="doc">
      <dgm:prSet loTypeId="urn:microsoft.com/office/officeart/2005/8/layout/default" loCatId="" qsTypeId="urn:microsoft.com/office/officeart/2005/8/quickstyle/simple1" qsCatId="simple" csTypeId="urn:microsoft.com/office/officeart/2005/8/colors/colorful1" csCatId="colorful" phldr="1"/>
      <dgm:spPr/>
      <dgm:t>
        <a:bodyPr/>
        <a:lstStyle/>
        <a:p>
          <a:endParaRPr lang="en-US"/>
        </a:p>
      </dgm:t>
    </dgm:pt>
    <dgm:pt modelId="{F46E0186-56FE-A745-93AB-3EFFD3428EBE}">
      <dgm:prSet phldrT="[Text]"/>
      <dgm:spPr>
        <a:blipFill>
          <a:blip xmlns:r="http://schemas.openxmlformats.org/officeDocument/2006/relationships" r:embed="rId1"/>
          <a:stretch>
            <a:fillRect l="-2890" t="-2885" r="-1734"/>
          </a:stretch>
        </a:blipFill>
      </dgm:spPr>
      <dgm:t>
        <a:bodyPr/>
        <a:lstStyle/>
        <a:p>
          <a:r>
            <a:rPr lang="en-US">
              <a:noFill/>
            </a:rPr>
            <a:t> </a:t>
          </a:r>
        </a:p>
      </dgm:t>
    </dgm:pt>
    <dgm:pt modelId="{B93B2ED3-1F66-F544-BA8F-AEAA75BFE5F8}" type="parTrans" cxnId="{72E66FB4-6E45-AD42-B54A-B9B0BB9CF612}">
      <dgm:prSet/>
      <dgm:spPr/>
      <dgm:t>
        <a:bodyPr/>
        <a:lstStyle/>
        <a:p>
          <a:endParaRPr lang="en-US"/>
        </a:p>
      </dgm:t>
    </dgm:pt>
    <dgm:pt modelId="{06CD5965-698E-B746-AD8C-3D42D05ADDBD}" type="sibTrans" cxnId="{72E66FB4-6E45-AD42-B54A-B9B0BB9CF612}">
      <dgm:prSet/>
      <dgm:spPr/>
      <dgm:t>
        <a:bodyPr/>
        <a:lstStyle/>
        <a:p>
          <a:endParaRPr lang="en-US"/>
        </a:p>
      </dgm:t>
    </dgm:pt>
    <dgm:pt modelId="{1E464050-1747-3244-9B57-3FD157FF1855}">
      <dgm:prSet phldrT="[Text]" custT="1"/>
      <dgm:spPr>
        <a:solidFill>
          <a:srgbClr val="FFFDD0"/>
        </a:solidFill>
      </dgm:spPr>
      <dgm:t>
        <a:bodyPr/>
        <a:lstStyle/>
        <a:p>
          <a:r>
            <a:rPr lang="en-US">
              <a:noFill/>
            </a:rPr>
            <a:t> </a:t>
          </a:r>
        </a:p>
      </dgm:t>
    </dgm:pt>
    <dgm:pt modelId="{27F4F252-E5AA-1D42-81EF-5290F30C73A4}" type="parTrans" cxnId="{E02B955D-9502-D542-AF77-847CA31EE064}">
      <dgm:prSet/>
      <dgm:spPr/>
      <dgm:t>
        <a:bodyPr/>
        <a:lstStyle/>
        <a:p>
          <a:endParaRPr lang="en-US"/>
        </a:p>
      </dgm:t>
    </dgm:pt>
    <dgm:pt modelId="{9723EB83-B998-A641-B0C7-8211F476F11B}" type="sibTrans" cxnId="{E02B955D-9502-D542-AF77-847CA31EE064}">
      <dgm:prSet/>
      <dgm:spPr/>
      <dgm:t>
        <a:bodyPr/>
        <a:lstStyle/>
        <a:p>
          <a:endParaRPr lang="en-US"/>
        </a:p>
      </dgm:t>
    </dgm:pt>
    <dgm:pt modelId="{AA07CF5C-2921-C842-A860-32B00E23B509}">
      <dgm:prSet phldrT="[Text]"/>
      <dgm:spPr>
        <a:blipFill>
          <a:blip xmlns:r="http://schemas.openxmlformats.org/officeDocument/2006/relationships" r:embed="rId2"/>
          <a:stretch>
            <a:fillRect l="-3179" t="-2885" r="-1734"/>
          </a:stretch>
        </a:blipFill>
      </dgm:spPr>
      <dgm:t>
        <a:bodyPr/>
        <a:lstStyle/>
        <a:p>
          <a:r>
            <a:rPr lang="en-US">
              <a:noFill/>
            </a:rPr>
            <a:t> </a:t>
          </a:r>
        </a:p>
      </dgm:t>
    </dgm:pt>
    <dgm:pt modelId="{9257E34B-3492-B245-9D4D-BD32D97CC5BB}" type="parTrans" cxnId="{5C0E0FAE-FA5B-7A4E-86C1-AE92143A4E00}">
      <dgm:prSet/>
      <dgm:spPr/>
      <dgm:t>
        <a:bodyPr/>
        <a:lstStyle/>
        <a:p>
          <a:endParaRPr lang="en-US"/>
        </a:p>
      </dgm:t>
    </dgm:pt>
    <dgm:pt modelId="{895DE975-4270-B944-9686-401F709396A6}" type="sibTrans" cxnId="{5C0E0FAE-FA5B-7A4E-86C1-AE92143A4E00}">
      <dgm:prSet/>
      <dgm:spPr/>
      <dgm:t>
        <a:bodyPr/>
        <a:lstStyle/>
        <a:p>
          <a:endParaRPr lang="en-US"/>
        </a:p>
      </dgm:t>
    </dgm:pt>
    <dgm:pt modelId="{41B166D0-7162-1D4E-8FDA-821931D3AB3D}">
      <dgm:prSet phldrT="[Text]" custT="1"/>
      <dgm:spPr>
        <a:solidFill>
          <a:schemeClr val="bg1">
            <a:lumMod val="95000"/>
          </a:schemeClr>
        </a:solidFill>
      </dgm:spPr>
      <dgm:t>
        <a:bodyPr/>
        <a:lstStyle/>
        <a:p>
          <a:r>
            <a:rPr lang="en-US">
              <a:noFill/>
            </a:rPr>
            <a:t> </a:t>
          </a:r>
        </a:p>
      </dgm:t>
    </dgm:pt>
    <dgm:pt modelId="{B7634088-3C7A-A94E-AA8D-D5F714B23870}" type="parTrans" cxnId="{C957F60B-B1A0-504D-AC5D-77375C857A8B}">
      <dgm:prSet/>
      <dgm:spPr/>
      <dgm:t>
        <a:bodyPr/>
        <a:lstStyle/>
        <a:p>
          <a:endParaRPr lang="en-US"/>
        </a:p>
      </dgm:t>
    </dgm:pt>
    <dgm:pt modelId="{8E861D9F-3DD5-B049-95E0-A16725E5E16D}" type="sibTrans" cxnId="{C957F60B-B1A0-504D-AC5D-77375C857A8B}">
      <dgm:prSet/>
      <dgm:spPr/>
      <dgm:t>
        <a:bodyPr/>
        <a:lstStyle/>
        <a:p>
          <a:endParaRPr lang="en-US"/>
        </a:p>
      </dgm:t>
    </dgm:pt>
    <dgm:pt modelId="{9C26BD6F-4A74-6B4A-8FA9-3EC23DFE0336}">
      <dgm:prSet phldrT="[Text]" custT="1"/>
      <dgm:spPr>
        <a:solidFill>
          <a:srgbClr val="FFFDD0"/>
        </a:solidFill>
      </dgm:spPr>
      <dgm:t>
        <a:bodyPr/>
        <a:lstStyle/>
        <a:p>
          <a:r>
            <a:rPr lang="en-US">
              <a:noFill/>
            </a:rPr>
            <a:t> </a:t>
          </a:r>
        </a:p>
      </dgm:t>
    </dgm:pt>
    <dgm:pt modelId="{32416553-E9D9-9E4C-B37A-C5D949DD5DD9}" type="parTrans" cxnId="{C69C83C7-A2A8-2744-8253-9D3248B65A7B}">
      <dgm:prSet/>
      <dgm:spPr/>
      <dgm:t>
        <a:bodyPr/>
        <a:lstStyle/>
        <a:p>
          <a:endParaRPr lang="en-US"/>
        </a:p>
      </dgm:t>
    </dgm:pt>
    <dgm:pt modelId="{A63F58B7-7B49-4F4B-ACC1-300B210F0929}" type="sibTrans" cxnId="{C69C83C7-A2A8-2744-8253-9D3248B65A7B}">
      <dgm:prSet/>
      <dgm:spPr/>
      <dgm:t>
        <a:bodyPr/>
        <a:lstStyle/>
        <a:p>
          <a:endParaRPr lang="en-US"/>
        </a:p>
      </dgm:t>
    </dgm:pt>
    <dgm:pt modelId="{A7F12DDC-AFF2-504D-A40A-16CC592BCD4A}">
      <dgm:prSet phldrT="[Text]" custT="1"/>
      <dgm:spPr>
        <a:solidFill>
          <a:schemeClr val="bg1">
            <a:lumMod val="95000"/>
          </a:schemeClr>
        </a:solidFill>
      </dgm:spPr>
      <dgm:t>
        <a:bodyPr/>
        <a:lstStyle/>
        <a:p>
          <a:r>
            <a:rPr lang="en-US">
              <a:noFill/>
            </a:rPr>
            <a:t> </a:t>
          </a:r>
        </a:p>
      </dgm:t>
    </dgm:pt>
    <dgm:pt modelId="{270853BE-451D-C348-A41D-46BFC7664B74}" type="parTrans" cxnId="{8BAB1BE0-A60F-9240-8550-73521236C4C9}">
      <dgm:prSet/>
      <dgm:spPr/>
      <dgm:t>
        <a:bodyPr/>
        <a:lstStyle/>
        <a:p>
          <a:endParaRPr lang="en-US"/>
        </a:p>
      </dgm:t>
    </dgm:pt>
    <dgm:pt modelId="{100C07D3-35B8-8848-9998-84F96EF61ACF}" type="sibTrans" cxnId="{8BAB1BE0-A60F-9240-8550-73521236C4C9}">
      <dgm:prSet/>
      <dgm:spPr/>
      <dgm:t>
        <a:bodyPr/>
        <a:lstStyle/>
        <a:p>
          <a:endParaRPr lang="en-US"/>
        </a:p>
      </dgm:t>
    </dgm:pt>
    <dgm:pt modelId="{A51968AF-A7CB-5B4E-8656-F1815D43C2CC}">
      <dgm:prSet phldrT="[Text]"/>
      <dgm:spPr>
        <a:blipFill>
          <a:blip xmlns:r="http://schemas.openxmlformats.org/officeDocument/2006/relationships" r:embed="rId3"/>
          <a:stretch>
            <a:fillRect l="-3179" t="-3365" r="-1734"/>
          </a:stretch>
        </a:blipFill>
      </dgm:spPr>
      <dgm:t>
        <a:bodyPr/>
        <a:lstStyle/>
        <a:p>
          <a:r>
            <a:rPr lang="en-US">
              <a:noFill/>
            </a:rPr>
            <a:t> </a:t>
          </a:r>
        </a:p>
      </dgm:t>
    </dgm:pt>
    <dgm:pt modelId="{7E44049A-AB25-3247-B3D0-76998841B900}" type="parTrans" cxnId="{4AE0C231-0D8A-B94B-A64E-99065D00D458}">
      <dgm:prSet/>
      <dgm:spPr/>
      <dgm:t>
        <a:bodyPr/>
        <a:lstStyle/>
        <a:p>
          <a:endParaRPr lang="en-US"/>
        </a:p>
      </dgm:t>
    </dgm:pt>
    <dgm:pt modelId="{CFD8F77A-9045-7848-9F35-528A12D68876}" type="sibTrans" cxnId="{4AE0C231-0D8A-B94B-A64E-99065D00D458}">
      <dgm:prSet/>
      <dgm:spPr/>
      <dgm:t>
        <a:bodyPr/>
        <a:lstStyle/>
        <a:p>
          <a:endParaRPr lang="en-US"/>
        </a:p>
      </dgm:t>
    </dgm:pt>
    <dgm:pt modelId="{64E414A6-3B47-DA46-A25C-F513E52618F1}">
      <dgm:prSet phldrT="[Text]" custT="1"/>
      <dgm:spPr>
        <a:solidFill>
          <a:schemeClr val="accent2">
            <a:lumMod val="20000"/>
            <a:lumOff val="80000"/>
          </a:schemeClr>
        </a:solidFill>
      </dgm:spPr>
      <dgm:t>
        <a:bodyPr/>
        <a:lstStyle/>
        <a:p>
          <a:r>
            <a:rPr lang="en-US">
              <a:noFill/>
            </a:rPr>
            <a:t> </a:t>
          </a:r>
        </a:p>
      </dgm:t>
    </dgm:pt>
    <dgm:pt modelId="{194B8AC5-E6BA-5646-9AB8-556A09297BDA}" type="parTrans" cxnId="{EBEEE367-A602-3D4A-875E-215B23143C8F}">
      <dgm:prSet/>
      <dgm:spPr/>
      <dgm:t>
        <a:bodyPr/>
        <a:lstStyle/>
        <a:p>
          <a:endParaRPr lang="en-US"/>
        </a:p>
      </dgm:t>
    </dgm:pt>
    <dgm:pt modelId="{5D6CBBE3-99BE-464B-9366-3623B694561F}" type="sibTrans" cxnId="{EBEEE367-A602-3D4A-875E-215B23143C8F}">
      <dgm:prSet/>
      <dgm:spPr/>
      <dgm:t>
        <a:bodyPr/>
        <a:lstStyle/>
        <a:p>
          <a:endParaRPr lang="en-US"/>
        </a:p>
      </dgm:t>
    </dgm:pt>
    <dgm:pt modelId="{0CEAF519-1C3B-3C43-95FD-B4C9F87D1E60}">
      <dgm:prSet phldrT="[Text]" custT="1"/>
      <dgm:spPr>
        <a:solidFill>
          <a:schemeClr val="accent2">
            <a:lumMod val="20000"/>
            <a:lumOff val="80000"/>
          </a:schemeClr>
        </a:solidFill>
      </dgm:spPr>
      <dgm:t>
        <a:bodyPr/>
        <a:lstStyle/>
        <a:p>
          <a:r>
            <a:rPr lang="en-US">
              <a:noFill/>
            </a:rPr>
            <a:t> </a:t>
          </a:r>
        </a:p>
      </dgm:t>
    </dgm:pt>
    <dgm:pt modelId="{CC7B24E6-727E-8740-AEB1-B367388B3656}" type="parTrans" cxnId="{AC678887-1EBB-3743-8582-6F3A2B33CBD3}">
      <dgm:prSet/>
      <dgm:spPr/>
      <dgm:t>
        <a:bodyPr/>
        <a:lstStyle/>
        <a:p>
          <a:endParaRPr lang="en-US"/>
        </a:p>
      </dgm:t>
    </dgm:pt>
    <dgm:pt modelId="{427C35D3-FBEB-2E47-938B-233EF658C6EE}" type="sibTrans" cxnId="{AC678887-1EBB-3743-8582-6F3A2B33CBD3}">
      <dgm:prSet/>
      <dgm:spPr/>
      <dgm:t>
        <a:bodyPr/>
        <a:lstStyle/>
        <a:p>
          <a:endParaRPr lang="en-US"/>
        </a:p>
      </dgm:t>
    </dgm:pt>
    <dgm:pt modelId="{49FCC770-FC46-724B-8B42-999231F3883D}">
      <dgm:prSet phldrT="[Text]"/>
      <dgm:spPr>
        <a:blipFill>
          <a:blip xmlns:r="http://schemas.openxmlformats.org/officeDocument/2006/relationships" r:embed="rId4"/>
          <a:stretch>
            <a:fillRect l="-2601" t="-2885" r="-1734"/>
          </a:stretch>
        </a:blipFill>
      </dgm:spPr>
      <dgm:t>
        <a:bodyPr/>
        <a:lstStyle/>
        <a:p>
          <a:r>
            <a:rPr lang="en-US">
              <a:noFill/>
            </a:rPr>
            <a:t> </a:t>
          </a:r>
        </a:p>
      </dgm:t>
    </dgm:pt>
    <dgm:pt modelId="{55810CB1-660B-BD42-BFCA-9B7F6D9D018E}" type="parTrans" cxnId="{13793690-3187-1D40-8108-514BEAC24C10}">
      <dgm:prSet/>
      <dgm:spPr/>
      <dgm:t>
        <a:bodyPr/>
        <a:lstStyle/>
        <a:p>
          <a:endParaRPr lang="en-US"/>
        </a:p>
      </dgm:t>
    </dgm:pt>
    <dgm:pt modelId="{70AE20F3-F2B9-8D4E-9E6F-C4FCB047460F}" type="sibTrans" cxnId="{13793690-3187-1D40-8108-514BEAC24C10}">
      <dgm:prSet/>
      <dgm:spPr/>
      <dgm:t>
        <a:bodyPr/>
        <a:lstStyle/>
        <a:p>
          <a:endParaRPr lang="en-US"/>
        </a:p>
      </dgm:t>
    </dgm:pt>
    <dgm:pt modelId="{81B4A25D-E7DD-D741-BE4B-998FEE9C5058}">
      <dgm:prSet custT="1"/>
      <dgm:spPr>
        <a:solidFill>
          <a:schemeClr val="accent5">
            <a:lumMod val="20000"/>
            <a:lumOff val="80000"/>
          </a:schemeClr>
        </a:solidFill>
      </dgm:spPr>
      <dgm:t>
        <a:bodyPr/>
        <a:lstStyle/>
        <a:p>
          <a:r>
            <a:rPr lang="en-US">
              <a:noFill/>
            </a:rPr>
            <a:t> </a:t>
          </a:r>
        </a:p>
      </dgm:t>
    </dgm:pt>
    <dgm:pt modelId="{676968CC-6B2D-E84B-96D1-10E2C2D0CCA3}" type="parTrans" cxnId="{B91D2C49-0B3C-A74F-8FDB-234CF97DB8A0}">
      <dgm:prSet/>
      <dgm:spPr/>
      <dgm:t>
        <a:bodyPr/>
        <a:lstStyle/>
        <a:p>
          <a:endParaRPr lang="en-US"/>
        </a:p>
      </dgm:t>
    </dgm:pt>
    <dgm:pt modelId="{AFB83FB0-6767-A944-9B4D-2F2576FCF907}" type="sibTrans" cxnId="{B91D2C49-0B3C-A74F-8FDB-234CF97DB8A0}">
      <dgm:prSet/>
      <dgm:spPr/>
      <dgm:t>
        <a:bodyPr/>
        <a:lstStyle/>
        <a:p>
          <a:endParaRPr lang="en-US"/>
        </a:p>
      </dgm:t>
    </dgm:pt>
    <dgm:pt modelId="{87AE0D3B-B448-7248-B367-399B311A8E0E}">
      <dgm:prSet custT="1"/>
      <dgm:spPr>
        <a:solidFill>
          <a:schemeClr val="accent5">
            <a:lumMod val="20000"/>
            <a:lumOff val="80000"/>
          </a:schemeClr>
        </a:solidFill>
      </dgm:spPr>
      <dgm:t>
        <a:bodyPr/>
        <a:lstStyle/>
        <a:p>
          <a:r>
            <a:rPr lang="en-US">
              <a:noFill/>
            </a:rPr>
            <a:t> </a:t>
          </a:r>
        </a:p>
      </dgm:t>
    </dgm:pt>
    <dgm:pt modelId="{9DC4FAA6-49B4-A94E-BB21-B2007FD1C6EE}" type="parTrans" cxnId="{76C00E61-E278-904B-A299-2B18487532A3}">
      <dgm:prSet/>
      <dgm:spPr/>
      <dgm:t>
        <a:bodyPr/>
        <a:lstStyle/>
        <a:p>
          <a:endParaRPr lang="en-US"/>
        </a:p>
      </dgm:t>
    </dgm:pt>
    <dgm:pt modelId="{3ACCDBAF-31B0-9041-8EB7-052FB1EAA56B}" type="sibTrans" cxnId="{76C00E61-E278-904B-A299-2B18487532A3}">
      <dgm:prSet/>
      <dgm:spPr/>
      <dgm:t>
        <a:bodyPr/>
        <a:lstStyle/>
        <a:p>
          <a:endParaRPr lang="en-US"/>
        </a:p>
      </dgm:t>
    </dgm:pt>
    <dgm:pt modelId="{C4AA0D6C-EACD-6042-ADE1-8700E6D2A5DE}">
      <dgm:prSet phldrT="[Text]" custT="1"/>
      <dgm:spPr>
        <a:solidFill>
          <a:srgbClr val="FFFDD0"/>
        </a:solidFill>
      </dgm:spPr>
      <dgm:t>
        <a:bodyPr/>
        <a:lstStyle/>
        <a:p>
          <a:r>
            <a:rPr lang="en-US">
              <a:noFill/>
            </a:rPr>
            <a:t> </a:t>
          </a:r>
        </a:p>
      </dgm:t>
    </dgm:pt>
    <dgm:pt modelId="{49B5CC91-C0BB-6443-86A0-0F77C4BA9558}" type="parTrans" cxnId="{1903B39A-B1AE-C841-A4AB-E495762BC503}">
      <dgm:prSet/>
      <dgm:spPr/>
      <dgm:t>
        <a:bodyPr/>
        <a:lstStyle/>
        <a:p>
          <a:endParaRPr lang="en-US"/>
        </a:p>
      </dgm:t>
    </dgm:pt>
    <dgm:pt modelId="{E74C5394-01B1-8D46-A6FF-84027DE6EB94}" type="sibTrans" cxnId="{1903B39A-B1AE-C841-A4AB-E495762BC503}">
      <dgm:prSet/>
      <dgm:spPr/>
      <dgm:t>
        <a:bodyPr/>
        <a:lstStyle/>
        <a:p>
          <a:endParaRPr lang="en-US"/>
        </a:p>
      </dgm:t>
    </dgm:pt>
    <dgm:pt modelId="{2528F6AB-236A-1040-9B8A-9396E24164BC}">
      <dgm:prSet custT="1"/>
      <dgm:spPr>
        <a:solidFill>
          <a:schemeClr val="accent5">
            <a:lumMod val="20000"/>
            <a:lumOff val="80000"/>
          </a:schemeClr>
        </a:solidFill>
      </dgm:spPr>
      <dgm:t>
        <a:bodyPr/>
        <a:lstStyle/>
        <a:p>
          <a:r>
            <a:rPr lang="en-US">
              <a:noFill/>
            </a:rPr>
            <a:t> </a:t>
          </a:r>
        </a:p>
      </dgm:t>
    </dgm:pt>
    <dgm:pt modelId="{628564C8-1D01-FD45-8422-0CE960EE4C75}" type="parTrans" cxnId="{5F06FE3A-13E2-1A43-AC4D-A43C94BBDE66}">
      <dgm:prSet/>
      <dgm:spPr/>
      <dgm:t>
        <a:bodyPr/>
        <a:lstStyle/>
        <a:p>
          <a:endParaRPr lang="en-US"/>
        </a:p>
      </dgm:t>
    </dgm:pt>
    <dgm:pt modelId="{78E235B9-0FB0-434E-BEF7-FF43049A8EEA}" type="sibTrans" cxnId="{5F06FE3A-13E2-1A43-AC4D-A43C94BBDE66}">
      <dgm:prSet/>
      <dgm:spPr/>
      <dgm:t>
        <a:bodyPr/>
        <a:lstStyle/>
        <a:p>
          <a:endParaRPr lang="en-US"/>
        </a:p>
      </dgm:t>
    </dgm:pt>
    <dgm:pt modelId="{1C4F7063-50B7-FC48-B220-958147F8AB79}">
      <dgm:prSet phldrT="[Text]" custT="1"/>
      <dgm:spPr>
        <a:solidFill>
          <a:schemeClr val="bg1">
            <a:lumMod val="95000"/>
          </a:schemeClr>
        </a:solidFill>
      </dgm:spPr>
      <dgm:t>
        <a:bodyPr/>
        <a:lstStyle/>
        <a:p>
          <a:r>
            <a:rPr lang="en-US">
              <a:noFill/>
            </a:rPr>
            <a:t> </a:t>
          </a:r>
        </a:p>
      </dgm:t>
    </dgm:pt>
    <dgm:pt modelId="{9B24AB54-A5E9-624E-BFB0-2C122C63B708}" type="parTrans" cxnId="{B108C3DE-0FE4-E84D-A080-96E053E0BC95}">
      <dgm:prSet/>
      <dgm:spPr/>
      <dgm:t>
        <a:bodyPr/>
        <a:lstStyle/>
        <a:p>
          <a:endParaRPr lang="en-US"/>
        </a:p>
      </dgm:t>
    </dgm:pt>
    <dgm:pt modelId="{517C64F2-7BFF-564C-8C59-A852537375BC}" type="sibTrans" cxnId="{B108C3DE-0FE4-E84D-A080-96E053E0BC95}">
      <dgm:prSet/>
      <dgm:spPr/>
      <dgm:t>
        <a:bodyPr/>
        <a:lstStyle/>
        <a:p>
          <a:endParaRPr lang="en-US"/>
        </a:p>
      </dgm:t>
    </dgm:pt>
    <dgm:pt modelId="{0F749E6E-90AA-744D-B040-AA8A471C8E63}">
      <dgm:prSet phldrT="[Text]" custT="1"/>
      <dgm:spPr>
        <a:solidFill>
          <a:schemeClr val="accent2">
            <a:lumMod val="20000"/>
            <a:lumOff val="80000"/>
          </a:schemeClr>
        </a:solidFill>
      </dgm:spPr>
      <dgm:t>
        <a:bodyPr/>
        <a:lstStyle/>
        <a:p>
          <a:r>
            <a:rPr lang="en-US">
              <a:noFill/>
            </a:rPr>
            <a:t> </a:t>
          </a:r>
        </a:p>
      </dgm:t>
    </dgm:pt>
    <dgm:pt modelId="{05887BC7-A79F-0246-8D6C-3AD328BEFAE9}" type="parTrans" cxnId="{43CD5992-10AB-474D-BC44-728145CE7AA9}">
      <dgm:prSet/>
      <dgm:spPr/>
      <dgm:t>
        <a:bodyPr/>
        <a:lstStyle/>
        <a:p>
          <a:endParaRPr lang="en-US"/>
        </a:p>
      </dgm:t>
    </dgm:pt>
    <dgm:pt modelId="{915835C5-FC1F-7C49-9E4D-834936ABDB1D}" type="sibTrans" cxnId="{43CD5992-10AB-474D-BC44-728145CE7AA9}">
      <dgm:prSet/>
      <dgm:spPr/>
      <dgm:t>
        <a:bodyPr/>
        <a:lstStyle/>
        <a:p>
          <a:endParaRPr lang="en-US"/>
        </a:p>
      </dgm:t>
    </dgm:pt>
    <dgm:pt modelId="{2267F006-4D86-5840-BD86-522F1C4FE36B}" type="pres">
      <dgm:prSet presAssocID="{BA2AF5BC-60E3-8541-8864-4F28C9F2BF59}" presName="diagram" presStyleCnt="0">
        <dgm:presLayoutVars>
          <dgm:dir/>
          <dgm:resizeHandles val="exact"/>
        </dgm:presLayoutVars>
      </dgm:prSet>
      <dgm:spPr/>
    </dgm:pt>
    <dgm:pt modelId="{79B831A5-711D-4D4A-B56F-A4F6D63D6C13}" type="pres">
      <dgm:prSet presAssocID="{F46E0186-56FE-A745-93AB-3EFFD3428EBE}" presName="node" presStyleLbl="node1" presStyleIdx="0" presStyleCnt="4">
        <dgm:presLayoutVars>
          <dgm:bulletEnabled val="1"/>
        </dgm:presLayoutVars>
      </dgm:prSet>
      <dgm:spPr/>
    </dgm:pt>
    <dgm:pt modelId="{36A67D89-B940-7748-B77E-D9A479FAAB71}" type="pres">
      <dgm:prSet presAssocID="{06CD5965-698E-B746-AD8C-3D42D05ADDBD}" presName="sibTrans" presStyleCnt="0"/>
      <dgm:spPr/>
    </dgm:pt>
    <dgm:pt modelId="{230E0ECE-F143-B24C-9E4D-62F109CAC925}" type="pres">
      <dgm:prSet presAssocID="{AA07CF5C-2921-C842-A860-32B00E23B509}" presName="node" presStyleLbl="node1" presStyleIdx="1" presStyleCnt="4">
        <dgm:presLayoutVars>
          <dgm:bulletEnabled val="1"/>
        </dgm:presLayoutVars>
      </dgm:prSet>
      <dgm:spPr/>
    </dgm:pt>
    <dgm:pt modelId="{0CE66574-747F-184D-A847-34A35A797744}" type="pres">
      <dgm:prSet presAssocID="{895DE975-4270-B944-9686-401F709396A6}" presName="sibTrans" presStyleCnt="0"/>
      <dgm:spPr/>
    </dgm:pt>
    <dgm:pt modelId="{C9378457-7A05-FD4D-B796-355BBEAF5417}" type="pres">
      <dgm:prSet presAssocID="{A51968AF-A7CB-5B4E-8656-F1815D43C2CC}" presName="node" presStyleLbl="node1" presStyleIdx="2" presStyleCnt="4">
        <dgm:presLayoutVars>
          <dgm:bulletEnabled val="1"/>
        </dgm:presLayoutVars>
      </dgm:prSet>
      <dgm:spPr/>
    </dgm:pt>
    <dgm:pt modelId="{F3D38369-3EEC-FE49-A767-E82E95149770}" type="pres">
      <dgm:prSet presAssocID="{CFD8F77A-9045-7848-9F35-528A12D68876}" presName="sibTrans" presStyleCnt="0"/>
      <dgm:spPr/>
    </dgm:pt>
    <dgm:pt modelId="{F2A1F630-CF8F-124E-B501-DC33C45612C6}" type="pres">
      <dgm:prSet presAssocID="{49FCC770-FC46-724B-8B42-999231F3883D}" presName="node" presStyleLbl="node1" presStyleIdx="3" presStyleCnt="4">
        <dgm:presLayoutVars>
          <dgm:bulletEnabled val="1"/>
        </dgm:presLayoutVars>
      </dgm:prSet>
      <dgm:spPr/>
    </dgm:pt>
  </dgm:ptLst>
  <dgm:cxnLst>
    <dgm:cxn modelId="{C957F60B-B1A0-504D-AC5D-77375C857A8B}" srcId="{AA07CF5C-2921-C842-A860-32B00E23B509}" destId="{41B166D0-7162-1D4E-8FDA-821931D3AB3D}" srcOrd="0" destOrd="0" parTransId="{B7634088-3C7A-A94E-AA8D-D5F714B23870}" sibTransId="{8E861D9F-3DD5-B049-95E0-A16725E5E16D}"/>
    <dgm:cxn modelId="{6631D611-3F55-9246-BF1A-4793B6BAF2F5}" type="presOf" srcId="{87AE0D3B-B448-7248-B367-399B311A8E0E}" destId="{F2A1F630-CF8F-124E-B501-DC33C45612C6}" srcOrd="0" destOrd="1" presId="urn:microsoft.com/office/officeart/2005/8/layout/default"/>
    <dgm:cxn modelId="{F42F101B-E5E2-6541-99E1-D1C759050580}" type="presOf" srcId="{F46E0186-56FE-A745-93AB-3EFFD3428EBE}" destId="{79B831A5-711D-4D4A-B56F-A4F6D63D6C13}" srcOrd="0" destOrd="0" presId="urn:microsoft.com/office/officeart/2005/8/layout/default"/>
    <dgm:cxn modelId="{4AE0C231-0D8A-B94B-A64E-99065D00D458}" srcId="{BA2AF5BC-60E3-8541-8864-4F28C9F2BF59}" destId="{A51968AF-A7CB-5B4E-8656-F1815D43C2CC}" srcOrd="2" destOrd="0" parTransId="{7E44049A-AB25-3247-B3D0-76998841B900}" sibTransId="{CFD8F77A-9045-7848-9F35-528A12D68876}"/>
    <dgm:cxn modelId="{42E87332-3E90-6D41-9344-40D39B098014}" type="presOf" srcId="{81B4A25D-E7DD-D741-BE4B-998FEE9C5058}" destId="{F2A1F630-CF8F-124E-B501-DC33C45612C6}" srcOrd="0" destOrd="3" presId="urn:microsoft.com/office/officeart/2005/8/layout/default"/>
    <dgm:cxn modelId="{F794D132-2944-9340-A023-DE1B035D5624}" type="presOf" srcId="{1C4F7063-50B7-FC48-B220-958147F8AB79}" destId="{230E0ECE-F143-B24C-9E4D-62F109CAC925}" srcOrd="0" destOrd="2" presId="urn:microsoft.com/office/officeart/2005/8/layout/default"/>
    <dgm:cxn modelId="{240D4839-DC34-D54D-B286-989413EF4332}" type="presOf" srcId="{2528F6AB-236A-1040-9B8A-9396E24164BC}" destId="{F2A1F630-CF8F-124E-B501-DC33C45612C6}" srcOrd="0" destOrd="2" presId="urn:microsoft.com/office/officeart/2005/8/layout/default"/>
    <dgm:cxn modelId="{5F06FE3A-13E2-1A43-AC4D-A43C94BBDE66}" srcId="{49FCC770-FC46-724B-8B42-999231F3883D}" destId="{2528F6AB-236A-1040-9B8A-9396E24164BC}" srcOrd="1" destOrd="0" parTransId="{628564C8-1D01-FD45-8422-0CE960EE4C75}" sibTransId="{78E235B9-0FB0-434E-BEF7-FF43049A8EEA}"/>
    <dgm:cxn modelId="{B91D2C49-0B3C-A74F-8FDB-234CF97DB8A0}" srcId="{49FCC770-FC46-724B-8B42-999231F3883D}" destId="{81B4A25D-E7DD-D741-BE4B-998FEE9C5058}" srcOrd="2" destOrd="0" parTransId="{676968CC-6B2D-E84B-96D1-10E2C2D0CCA3}" sibTransId="{AFB83FB0-6767-A944-9B4D-2F2576FCF907}"/>
    <dgm:cxn modelId="{AC86CF4A-80C7-5548-A4A9-C6E9CAA70526}" type="presOf" srcId="{C4AA0D6C-EACD-6042-ADE1-8700E6D2A5DE}" destId="{79B831A5-711D-4D4A-B56F-A4F6D63D6C13}" srcOrd="0" destOrd="2" presId="urn:microsoft.com/office/officeart/2005/8/layout/default"/>
    <dgm:cxn modelId="{C82A2B58-6D32-A847-A183-11FA84FED798}" type="presOf" srcId="{0F749E6E-90AA-744D-B040-AA8A471C8E63}" destId="{C9378457-7A05-FD4D-B796-355BBEAF5417}" srcOrd="0" destOrd="2" presId="urn:microsoft.com/office/officeart/2005/8/layout/default"/>
    <dgm:cxn modelId="{E02B955D-9502-D542-AF77-847CA31EE064}" srcId="{F46E0186-56FE-A745-93AB-3EFFD3428EBE}" destId="{1E464050-1747-3244-9B57-3FD157FF1855}" srcOrd="2" destOrd="0" parTransId="{27F4F252-E5AA-1D42-81EF-5290F30C73A4}" sibTransId="{9723EB83-B998-A641-B0C7-8211F476F11B}"/>
    <dgm:cxn modelId="{76C00E61-E278-904B-A299-2B18487532A3}" srcId="{49FCC770-FC46-724B-8B42-999231F3883D}" destId="{87AE0D3B-B448-7248-B367-399B311A8E0E}" srcOrd="0" destOrd="0" parTransId="{9DC4FAA6-49B4-A94E-BB21-B2007FD1C6EE}" sibTransId="{3ACCDBAF-31B0-9041-8EB7-052FB1EAA56B}"/>
    <dgm:cxn modelId="{EBEEE367-A602-3D4A-875E-215B23143C8F}" srcId="{A51968AF-A7CB-5B4E-8656-F1815D43C2CC}" destId="{64E414A6-3B47-DA46-A25C-F513E52618F1}" srcOrd="0" destOrd="0" parTransId="{194B8AC5-E6BA-5646-9AB8-556A09297BDA}" sibTransId="{5D6CBBE3-99BE-464B-9366-3623B694561F}"/>
    <dgm:cxn modelId="{AC678887-1EBB-3743-8582-6F3A2B33CBD3}" srcId="{A51968AF-A7CB-5B4E-8656-F1815D43C2CC}" destId="{0CEAF519-1C3B-3C43-95FD-B4C9F87D1E60}" srcOrd="2" destOrd="0" parTransId="{CC7B24E6-727E-8740-AEB1-B367388B3656}" sibTransId="{427C35D3-FBEB-2E47-938B-233EF658C6EE}"/>
    <dgm:cxn modelId="{13793690-3187-1D40-8108-514BEAC24C10}" srcId="{BA2AF5BC-60E3-8541-8864-4F28C9F2BF59}" destId="{49FCC770-FC46-724B-8B42-999231F3883D}" srcOrd="3" destOrd="0" parTransId="{55810CB1-660B-BD42-BFCA-9B7F6D9D018E}" sibTransId="{70AE20F3-F2B9-8D4E-9E6F-C4FCB047460F}"/>
    <dgm:cxn modelId="{F0886790-ED2F-9B43-BD02-C62987C4CC94}" type="presOf" srcId="{9C26BD6F-4A74-6B4A-8FA9-3EC23DFE0336}" destId="{79B831A5-711D-4D4A-B56F-A4F6D63D6C13}" srcOrd="0" destOrd="1" presId="urn:microsoft.com/office/officeart/2005/8/layout/default"/>
    <dgm:cxn modelId="{43CD5992-10AB-474D-BC44-728145CE7AA9}" srcId="{A51968AF-A7CB-5B4E-8656-F1815D43C2CC}" destId="{0F749E6E-90AA-744D-B040-AA8A471C8E63}" srcOrd="1" destOrd="0" parTransId="{05887BC7-A79F-0246-8D6C-3AD328BEFAE9}" sibTransId="{915835C5-FC1F-7C49-9E4D-834936ABDB1D}"/>
    <dgm:cxn modelId="{17AF3C98-CC08-2E42-9217-DA6ADF50F6BA}" type="presOf" srcId="{1E464050-1747-3244-9B57-3FD157FF1855}" destId="{79B831A5-711D-4D4A-B56F-A4F6D63D6C13}" srcOrd="0" destOrd="3" presId="urn:microsoft.com/office/officeart/2005/8/layout/default"/>
    <dgm:cxn modelId="{1903B39A-B1AE-C841-A4AB-E495762BC503}" srcId="{F46E0186-56FE-A745-93AB-3EFFD3428EBE}" destId="{C4AA0D6C-EACD-6042-ADE1-8700E6D2A5DE}" srcOrd="1" destOrd="0" parTransId="{49B5CC91-C0BB-6443-86A0-0F77C4BA9558}" sibTransId="{E74C5394-01B1-8D46-A6FF-84027DE6EB94}"/>
    <dgm:cxn modelId="{0888BE9D-973A-6844-BA7D-205A09FDCAE8}" type="presOf" srcId="{0CEAF519-1C3B-3C43-95FD-B4C9F87D1E60}" destId="{C9378457-7A05-FD4D-B796-355BBEAF5417}" srcOrd="0" destOrd="3" presId="urn:microsoft.com/office/officeart/2005/8/layout/default"/>
    <dgm:cxn modelId="{7026CD9F-070F-0A48-8307-608B7650D57C}" type="presOf" srcId="{49FCC770-FC46-724B-8B42-999231F3883D}" destId="{F2A1F630-CF8F-124E-B501-DC33C45612C6}" srcOrd="0" destOrd="0" presId="urn:microsoft.com/office/officeart/2005/8/layout/default"/>
    <dgm:cxn modelId="{5C0E0FAE-FA5B-7A4E-86C1-AE92143A4E00}" srcId="{BA2AF5BC-60E3-8541-8864-4F28C9F2BF59}" destId="{AA07CF5C-2921-C842-A860-32B00E23B509}" srcOrd="1" destOrd="0" parTransId="{9257E34B-3492-B245-9D4D-BD32D97CC5BB}" sibTransId="{895DE975-4270-B944-9686-401F709396A6}"/>
    <dgm:cxn modelId="{45E483AE-013A-BA4D-85E3-28FF34C98B34}" type="presOf" srcId="{AA07CF5C-2921-C842-A860-32B00E23B509}" destId="{230E0ECE-F143-B24C-9E4D-62F109CAC925}" srcOrd="0" destOrd="0" presId="urn:microsoft.com/office/officeart/2005/8/layout/default"/>
    <dgm:cxn modelId="{72E66FB4-6E45-AD42-B54A-B9B0BB9CF612}" srcId="{BA2AF5BC-60E3-8541-8864-4F28C9F2BF59}" destId="{F46E0186-56FE-A745-93AB-3EFFD3428EBE}" srcOrd="0" destOrd="0" parTransId="{B93B2ED3-1F66-F544-BA8F-AEAA75BFE5F8}" sibTransId="{06CD5965-698E-B746-AD8C-3D42D05ADDBD}"/>
    <dgm:cxn modelId="{BBB758C1-E375-7B4A-B681-FA9C21A9F99E}" type="presOf" srcId="{A7F12DDC-AFF2-504D-A40A-16CC592BCD4A}" destId="{230E0ECE-F143-B24C-9E4D-62F109CAC925}" srcOrd="0" destOrd="3" presId="urn:microsoft.com/office/officeart/2005/8/layout/default"/>
    <dgm:cxn modelId="{C69C83C7-A2A8-2744-8253-9D3248B65A7B}" srcId="{F46E0186-56FE-A745-93AB-3EFFD3428EBE}" destId="{9C26BD6F-4A74-6B4A-8FA9-3EC23DFE0336}" srcOrd="0" destOrd="0" parTransId="{32416553-E9D9-9E4C-B37A-C5D949DD5DD9}" sibTransId="{A63F58B7-7B49-4F4B-ACC1-300B210F0929}"/>
    <dgm:cxn modelId="{35B10BCD-BE2C-A94C-9F74-F329856AA635}" type="presOf" srcId="{BA2AF5BC-60E3-8541-8864-4F28C9F2BF59}" destId="{2267F006-4D86-5840-BD86-522F1C4FE36B}" srcOrd="0" destOrd="0" presId="urn:microsoft.com/office/officeart/2005/8/layout/default"/>
    <dgm:cxn modelId="{B108C3DE-0FE4-E84D-A080-96E053E0BC95}" srcId="{AA07CF5C-2921-C842-A860-32B00E23B509}" destId="{1C4F7063-50B7-FC48-B220-958147F8AB79}" srcOrd="1" destOrd="0" parTransId="{9B24AB54-A5E9-624E-BFB0-2C122C63B708}" sibTransId="{517C64F2-7BFF-564C-8C59-A852537375BC}"/>
    <dgm:cxn modelId="{E8F078DF-8034-2047-9143-3ECC704E924E}" type="presOf" srcId="{41B166D0-7162-1D4E-8FDA-821931D3AB3D}" destId="{230E0ECE-F143-B24C-9E4D-62F109CAC925}" srcOrd="0" destOrd="1" presId="urn:microsoft.com/office/officeart/2005/8/layout/default"/>
    <dgm:cxn modelId="{8BAB1BE0-A60F-9240-8550-73521236C4C9}" srcId="{AA07CF5C-2921-C842-A860-32B00E23B509}" destId="{A7F12DDC-AFF2-504D-A40A-16CC592BCD4A}" srcOrd="2" destOrd="0" parTransId="{270853BE-451D-C348-A41D-46BFC7664B74}" sibTransId="{100C07D3-35B8-8848-9998-84F96EF61ACF}"/>
    <dgm:cxn modelId="{112DABEA-58E2-7441-AF35-47FE5424FA4F}" type="presOf" srcId="{A51968AF-A7CB-5B4E-8656-F1815D43C2CC}" destId="{C9378457-7A05-FD4D-B796-355BBEAF5417}" srcOrd="0" destOrd="0" presId="urn:microsoft.com/office/officeart/2005/8/layout/default"/>
    <dgm:cxn modelId="{92C64AF8-096B-414F-8BC4-62B8016803B2}" type="presOf" srcId="{64E414A6-3B47-DA46-A25C-F513E52618F1}" destId="{C9378457-7A05-FD4D-B796-355BBEAF5417}" srcOrd="0" destOrd="1" presId="urn:microsoft.com/office/officeart/2005/8/layout/default"/>
    <dgm:cxn modelId="{86CED733-78A4-DC43-B2A3-227C67494F12}" type="presParOf" srcId="{2267F006-4D86-5840-BD86-522F1C4FE36B}" destId="{79B831A5-711D-4D4A-B56F-A4F6D63D6C13}" srcOrd="0" destOrd="0" presId="urn:microsoft.com/office/officeart/2005/8/layout/default"/>
    <dgm:cxn modelId="{33F66D39-8D42-9648-9497-6B5F3FF917F9}" type="presParOf" srcId="{2267F006-4D86-5840-BD86-522F1C4FE36B}" destId="{36A67D89-B940-7748-B77E-D9A479FAAB71}" srcOrd="1" destOrd="0" presId="urn:microsoft.com/office/officeart/2005/8/layout/default"/>
    <dgm:cxn modelId="{E05F348E-551A-FB41-9286-8CC8D18D1764}" type="presParOf" srcId="{2267F006-4D86-5840-BD86-522F1C4FE36B}" destId="{230E0ECE-F143-B24C-9E4D-62F109CAC925}" srcOrd="2" destOrd="0" presId="urn:microsoft.com/office/officeart/2005/8/layout/default"/>
    <dgm:cxn modelId="{3F62EE63-3AAA-AF42-9C6F-481530773FCE}" type="presParOf" srcId="{2267F006-4D86-5840-BD86-522F1C4FE36B}" destId="{0CE66574-747F-184D-A847-34A35A797744}" srcOrd="3" destOrd="0" presId="urn:microsoft.com/office/officeart/2005/8/layout/default"/>
    <dgm:cxn modelId="{E06346F6-F86E-E54B-99E1-9F8E94848C62}" type="presParOf" srcId="{2267F006-4D86-5840-BD86-522F1C4FE36B}" destId="{C9378457-7A05-FD4D-B796-355BBEAF5417}" srcOrd="4" destOrd="0" presId="urn:microsoft.com/office/officeart/2005/8/layout/default"/>
    <dgm:cxn modelId="{B7E833B6-B3D6-8347-9319-8E74DDAD3590}" type="presParOf" srcId="{2267F006-4D86-5840-BD86-522F1C4FE36B}" destId="{F3D38369-3EEC-FE49-A767-E82E95149770}" srcOrd="5" destOrd="0" presId="urn:microsoft.com/office/officeart/2005/8/layout/default"/>
    <dgm:cxn modelId="{630839A4-DF99-EC4A-860A-35A16A865C18}" type="presParOf" srcId="{2267F006-4D86-5840-BD86-522F1C4FE36B}" destId="{F2A1F630-CF8F-124E-B501-DC33C45612C6}" srcOrd="6"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1F68B1-384F-884E-85F2-687846E08432}">
      <dsp:nvSpPr>
        <dsp:cNvPr id="0" name=""/>
        <dsp:cNvSpPr/>
      </dsp:nvSpPr>
      <dsp:spPr>
        <a:xfrm>
          <a:off x="397115" y="1956"/>
          <a:ext cx="3410877" cy="952652"/>
        </a:xfrm>
        <a:prstGeom prst="chevron">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16510" rIns="0" bIns="16510" numCol="1" spcCol="1270" anchor="ctr" anchorCtr="0">
          <a:noAutofit/>
        </a:bodyPr>
        <a:lstStyle/>
        <a:p>
          <a:pPr marL="0" lvl="0" indent="0" algn="ctr" defTabSz="1155700">
            <a:lnSpc>
              <a:spcPct val="90000"/>
            </a:lnSpc>
            <a:spcBef>
              <a:spcPct val="0"/>
            </a:spcBef>
            <a:spcAft>
              <a:spcPct val="35000"/>
            </a:spcAft>
            <a:buNone/>
          </a:pPr>
          <a:r>
            <a:rPr lang="en-US" sz="2600" kern="1200" dirty="0"/>
            <a:t>unit of data</a:t>
          </a:r>
        </a:p>
      </dsp:txBody>
      <dsp:txXfrm>
        <a:off x="873441" y="1956"/>
        <a:ext cx="2458225" cy="952652"/>
      </dsp:txXfrm>
    </dsp:sp>
    <dsp:sp modelId="{589CEB27-68EC-8C44-AE2F-CCCE5077B7DD}">
      <dsp:nvSpPr>
        <dsp:cNvPr id="0" name=""/>
        <dsp:cNvSpPr/>
      </dsp:nvSpPr>
      <dsp:spPr>
        <a:xfrm>
          <a:off x="3498380" y="82932"/>
          <a:ext cx="2288132" cy="790701"/>
        </a:xfrm>
        <a:prstGeom prst="chevron">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130" tIns="12065" rIns="0" bIns="12065" numCol="1" spcCol="1270" anchor="ctr" anchorCtr="0">
          <a:noAutofit/>
        </a:bodyPr>
        <a:lstStyle/>
        <a:p>
          <a:pPr marL="0" lvl="0" indent="0" algn="ctr" defTabSz="844550">
            <a:lnSpc>
              <a:spcPct val="90000"/>
            </a:lnSpc>
            <a:spcBef>
              <a:spcPct val="0"/>
            </a:spcBef>
            <a:spcAft>
              <a:spcPct val="35000"/>
            </a:spcAft>
            <a:buNone/>
          </a:pPr>
          <a:r>
            <a:rPr lang="en-US" sz="1900" kern="1200" dirty="0"/>
            <a:t>qubit/vector</a:t>
          </a:r>
        </a:p>
      </dsp:txBody>
      <dsp:txXfrm>
        <a:off x="3893731" y="82932"/>
        <a:ext cx="1497431" cy="790701"/>
      </dsp:txXfrm>
    </dsp:sp>
    <dsp:sp modelId="{AC12D99E-FB7E-0741-8161-C77DE0409CB8}">
      <dsp:nvSpPr>
        <dsp:cNvPr id="0" name=""/>
        <dsp:cNvSpPr/>
      </dsp:nvSpPr>
      <dsp:spPr>
        <a:xfrm>
          <a:off x="397115" y="1087980"/>
          <a:ext cx="3410877" cy="952652"/>
        </a:xfrm>
        <a:prstGeom prst="chevron">
          <a:avLst/>
        </a:prstGeom>
        <a:solidFill>
          <a:schemeClr val="accent3">
            <a:hueOff val="677650"/>
            <a:satOff val="25000"/>
            <a:lumOff val="-367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16510" rIns="0" bIns="16510" numCol="1" spcCol="1270" anchor="ctr" anchorCtr="0">
          <a:noAutofit/>
        </a:bodyPr>
        <a:lstStyle/>
        <a:p>
          <a:pPr marL="0" lvl="0" indent="0" algn="ctr" defTabSz="1155700">
            <a:lnSpc>
              <a:spcPct val="90000"/>
            </a:lnSpc>
            <a:spcBef>
              <a:spcPct val="0"/>
            </a:spcBef>
            <a:spcAft>
              <a:spcPct val="35000"/>
            </a:spcAft>
            <a:buNone/>
          </a:pPr>
          <a:r>
            <a:rPr lang="en-US" sz="2600" kern="1200" dirty="0"/>
            <a:t>unit of processing</a:t>
          </a:r>
        </a:p>
      </dsp:txBody>
      <dsp:txXfrm>
        <a:off x="873441" y="1087980"/>
        <a:ext cx="2458225" cy="952652"/>
      </dsp:txXfrm>
    </dsp:sp>
    <dsp:sp modelId="{8762CD98-6B6D-F945-9F8A-143998E383B8}">
      <dsp:nvSpPr>
        <dsp:cNvPr id="0" name=""/>
        <dsp:cNvSpPr/>
      </dsp:nvSpPr>
      <dsp:spPr>
        <a:xfrm>
          <a:off x="3498380" y="1168956"/>
          <a:ext cx="2288132" cy="790701"/>
        </a:xfrm>
        <a:prstGeom prst="chevron">
          <a:avLst/>
        </a:prstGeom>
        <a:solidFill>
          <a:schemeClr val="accent3">
            <a:tint val="40000"/>
            <a:alpha val="90000"/>
            <a:hueOff val="507285"/>
            <a:satOff val="25000"/>
            <a:lumOff val="445"/>
            <a:alphaOff val="0"/>
          </a:schemeClr>
        </a:solidFill>
        <a:ln w="12700" cap="flat" cmpd="sng" algn="ctr">
          <a:solidFill>
            <a:schemeClr val="accent3">
              <a:tint val="40000"/>
              <a:alpha val="90000"/>
              <a:hueOff val="507285"/>
              <a:satOff val="25000"/>
              <a:lumOff val="44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130" tIns="12065" rIns="0" bIns="12065" numCol="1" spcCol="1270" anchor="ctr" anchorCtr="0">
          <a:noAutofit/>
        </a:bodyPr>
        <a:lstStyle/>
        <a:p>
          <a:pPr marL="0" lvl="0" indent="0" algn="ctr" defTabSz="844550">
            <a:lnSpc>
              <a:spcPct val="90000"/>
            </a:lnSpc>
            <a:spcBef>
              <a:spcPct val="0"/>
            </a:spcBef>
            <a:spcAft>
              <a:spcPct val="35000"/>
            </a:spcAft>
            <a:buNone/>
          </a:pPr>
          <a:r>
            <a:rPr lang="en-US" sz="1900" kern="1200" dirty="0"/>
            <a:t>quantum gate/matrix</a:t>
          </a:r>
        </a:p>
      </dsp:txBody>
      <dsp:txXfrm>
        <a:off x="3893731" y="1168956"/>
        <a:ext cx="1497431" cy="790701"/>
      </dsp:txXfrm>
    </dsp:sp>
    <dsp:sp modelId="{5640E65B-7044-844F-9EB5-48CE7C5F451B}">
      <dsp:nvSpPr>
        <dsp:cNvPr id="0" name=""/>
        <dsp:cNvSpPr/>
      </dsp:nvSpPr>
      <dsp:spPr>
        <a:xfrm>
          <a:off x="397115" y="2174004"/>
          <a:ext cx="3410877" cy="952652"/>
        </a:xfrm>
        <a:prstGeom prst="chevron">
          <a:avLst/>
        </a:prstGeom>
        <a:solidFill>
          <a:schemeClr val="accent3">
            <a:hueOff val="1355300"/>
            <a:satOff val="50000"/>
            <a:lumOff val="-735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16510" rIns="0" bIns="16510" numCol="1" spcCol="1270" anchor="ctr" anchorCtr="0">
          <a:noAutofit/>
        </a:bodyPr>
        <a:lstStyle/>
        <a:p>
          <a:pPr marL="0" lvl="0" indent="0" algn="ctr" defTabSz="1155700">
            <a:lnSpc>
              <a:spcPct val="90000"/>
            </a:lnSpc>
            <a:spcBef>
              <a:spcPct val="0"/>
            </a:spcBef>
            <a:spcAft>
              <a:spcPct val="35000"/>
            </a:spcAft>
            <a:buNone/>
          </a:pPr>
          <a:r>
            <a:rPr lang="en-US" sz="2600" kern="1200" dirty="0" err="1"/>
            <a:t>matehematical</a:t>
          </a:r>
          <a:r>
            <a:rPr lang="en-US" sz="2600" kern="1200" dirty="0"/>
            <a:t> unit of processing</a:t>
          </a:r>
        </a:p>
      </dsp:txBody>
      <dsp:txXfrm>
        <a:off x="873441" y="2174004"/>
        <a:ext cx="2458225" cy="952652"/>
      </dsp:txXfrm>
    </dsp:sp>
    <dsp:sp modelId="{E7AF8E55-35D4-EE43-84F0-EB1EE3C4089C}">
      <dsp:nvSpPr>
        <dsp:cNvPr id="0" name=""/>
        <dsp:cNvSpPr/>
      </dsp:nvSpPr>
      <dsp:spPr>
        <a:xfrm>
          <a:off x="3498380" y="2254980"/>
          <a:ext cx="2288132" cy="790701"/>
        </a:xfrm>
        <a:prstGeom prst="chevron">
          <a:avLst/>
        </a:prstGeom>
        <a:solidFill>
          <a:schemeClr val="accent3">
            <a:tint val="40000"/>
            <a:alpha val="90000"/>
            <a:hueOff val="1014570"/>
            <a:satOff val="50000"/>
            <a:lumOff val="890"/>
            <a:alphaOff val="0"/>
          </a:schemeClr>
        </a:solidFill>
        <a:ln w="12700" cap="flat" cmpd="sng" algn="ctr">
          <a:solidFill>
            <a:schemeClr val="accent3">
              <a:tint val="40000"/>
              <a:alpha val="90000"/>
              <a:hueOff val="1014570"/>
              <a:satOff val="50000"/>
              <a:lumOff val="89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130" tIns="12065" rIns="0" bIns="12065" numCol="1" spcCol="1270" anchor="ctr" anchorCtr="0">
          <a:noAutofit/>
        </a:bodyPr>
        <a:lstStyle/>
        <a:p>
          <a:pPr marL="0" lvl="0" indent="0" algn="ctr" defTabSz="844550">
            <a:lnSpc>
              <a:spcPct val="90000"/>
            </a:lnSpc>
            <a:spcBef>
              <a:spcPct val="0"/>
            </a:spcBef>
            <a:spcAft>
              <a:spcPct val="35000"/>
            </a:spcAft>
            <a:buNone/>
          </a:pPr>
          <a:r>
            <a:rPr lang="en-US" sz="1900" kern="1200" dirty="0"/>
            <a:t>matrix-vector multiplication</a:t>
          </a:r>
        </a:p>
      </dsp:txBody>
      <dsp:txXfrm>
        <a:off x="3893731" y="2254980"/>
        <a:ext cx="1497431" cy="790701"/>
      </dsp:txXfrm>
    </dsp:sp>
    <dsp:sp modelId="{11900ED1-072B-FE45-8087-917F279E1854}">
      <dsp:nvSpPr>
        <dsp:cNvPr id="0" name=""/>
        <dsp:cNvSpPr/>
      </dsp:nvSpPr>
      <dsp:spPr>
        <a:xfrm>
          <a:off x="397115" y="3260028"/>
          <a:ext cx="3410877" cy="952652"/>
        </a:xfrm>
        <a:prstGeom prst="chevron">
          <a:avLst/>
        </a:prstGeom>
        <a:solidFill>
          <a:schemeClr val="accent3">
            <a:hueOff val="2032949"/>
            <a:satOff val="75000"/>
            <a:lumOff val="-1102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16510" rIns="0" bIns="16510" numCol="1" spcCol="1270" anchor="ctr" anchorCtr="0">
          <a:noAutofit/>
        </a:bodyPr>
        <a:lstStyle/>
        <a:p>
          <a:pPr marL="0" lvl="0" indent="0" algn="ctr" defTabSz="1155700">
            <a:lnSpc>
              <a:spcPct val="90000"/>
            </a:lnSpc>
            <a:spcBef>
              <a:spcPct val="0"/>
            </a:spcBef>
            <a:spcAft>
              <a:spcPct val="35000"/>
            </a:spcAft>
            <a:buNone/>
          </a:pPr>
          <a:r>
            <a:rPr lang="en-US" sz="2600" kern="1200" dirty="0"/>
            <a:t>algorithm</a:t>
          </a:r>
        </a:p>
      </dsp:txBody>
      <dsp:txXfrm>
        <a:off x="873441" y="3260028"/>
        <a:ext cx="2458225" cy="952652"/>
      </dsp:txXfrm>
    </dsp:sp>
    <dsp:sp modelId="{8BCC3C3D-DEEA-0241-A450-84AB07AF83EE}">
      <dsp:nvSpPr>
        <dsp:cNvPr id="0" name=""/>
        <dsp:cNvSpPr/>
      </dsp:nvSpPr>
      <dsp:spPr>
        <a:xfrm>
          <a:off x="3498380" y="3341004"/>
          <a:ext cx="2288132" cy="790701"/>
        </a:xfrm>
        <a:prstGeom prst="chevron">
          <a:avLst/>
        </a:prstGeom>
        <a:solidFill>
          <a:schemeClr val="accent3">
            <a:tint val="40000"/>
            <a:alpha val="90000"/>
            <a:hueOff val="1521856"/>
            <a:satOff val="75000"/>
            <a:lumOff val="1334"/>
            <a:alphaOff val="0"/>
          </a:schemeClr>
        </a:solidFill>
        <a:ln w="12700" cap="flat" cmpd="sng" algn="ctr">
          <a:solidFill>
            <a:schemeClr val="accent3">
              <a:tint val="40000"/>
              <a:alpha val="90000"/>
              <a:hueOff val="1521856"/>
              <a:satOff val="75000"/>
              <a:lumOff val="1334"/>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130" tIns="12065" rIns="0" bIns="12065" numCol="1" spcCol="1270" anchor="ctr" anchorCtr="0">
          <a:noAutofit/>
        </a:bodyPr>
        <a:lstStyle/>
        <a:p>
          <a:pPr marL="0" lvl="0" indent="0" algn="ctr" defTabSz="844550">
            <a:lnSpc>
              <a:spcPct val="90000"/>
            </a:lnSpc>
            <a:spcBef>
              <a:spcPct val="0"/>
            </a:spcBef>
            <a:spcAft>
              <a:spcPct val="35000"/>
            </a:spcAft>
            <a:buNone/>
          </a:pPr>
          <a:r>
            <a:rPr lang="en-US" sz="1900" kern="1200" dirty="0"/>
            <a:t>quantum circuit</a:t>
          </a:r>
        </a:p>
      </dsp:txBody>
      <dsp:txXfrm>
        <a:off x="3893731" y="3341004"/>
        <a:ext cx="1497431" cy="790701"/>
      </dsp:txXfrm>
    </dsp:sp>
    <dsp:sp modelId="{96B99780-81A6-4C41-BF29-ECA058D08E7B}">
      <dsp:nvSpPr>
        <dsp:cNvPr id="0" name=""/>
        <dsp:cNvSpPr/>
      </dsp:nvSpPr>
      <dsp:spPr>
        <a:xfrm>
          <a:off x="431408" y="4346052"/>
          <a:ext cx="3310753" cy="952652"/>
        </a:xfrm>
        <a:prstGeom prst="chevron">
          <a:avLst/>
        </a:prstGeom>
        <a:solidFill>
          <a:schemeClr val="accent6">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16510" rIns="0" bIns="16510" numCol="1" spcCol="1270" anchor="ctr" anchorCtr="0">
          <a:noAutofit/>
        </a:bodyPr>
        <a:lstStyle/>
        <a:p>
          <a:pPr marL="0" lvl="0" indent="0" algn="ctr" defTabSz="1155700">
            <a:lnSpc>
              <a:spcPct val="90000"/>
            </a:lnSpc>
            <a:spcBef>
              <a:spcPct val="0"/>
            </a:spcBef>
            <a:spcAft>
              <a:spcPct val="35000"/>
            </a:spcAft>
            <a:buNone/>
          </a:pPr>
          <a:r>
            <a:rPr lang="en-US" sz="2600" kern="1200" dirty="0"/>
            <a:t>   program</a:t>
          </a:r>
        </a:p>
      </dsp:txBody>
      <dsp:txXfrm>
        <a:off x="907734" y="4346052"/>
        <a:ext cx="2358101" cy="952652"/>
      </dsp:txXfrm>
    </dsp:sp>
    <dsp:sp modelId="{C442239F-A10C-D54C-B093-8FD13A00035F}">
      <dsp:nvSpPr>
        <dsp:cNvPr id="0" name=""/>
        <dsp:cNvSpPr/>
      </dsp:nvSpPr>
      <dsp:spPr>
        <a:xfrm>
          <a:off x="3398257" y="4427028"/>
          <a:ext cx="2433977" cy="790701"/>
        </a:xfrm>
        <a:prstGeom prst="chevron">
          <a:avLst/>
        </a:prstGeom>
        <a:solidFill>
          <a:schemeClr val="accent6">
            <a:lumMod val="40000"/>
            <a:lumOff val="60000"/>
            <a:alpha val="90000"/>
          </a:schemeClr>
        </a:solidFill>
        <a:ln w="12700" cap="flat" cmpd="sng" algn="ctr">
          <a:solidFill>
            <a:schemeClr val="accent3">
              <a:tint val="40000"/>
              <a:alpha val="90000"/>
              <a:hueOff val="2029141"/>
              <a:satOff val="100000"/>
              <a:lumOff val="177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130" tIns="12065" rIns="0" bIns="12065" numCol="1" spcCol="1270" anchor="ctr" anchorCtr="0">
          <a:noAutofit/>
        </a:bodyPr>
        <a:lstStyle/>
        <a:p>
          <a:pPr marL="0" lvl="0" indent="0" algn="ctr" defTabSz="844550">
            <a:lnSpc>
              <a:spcPct val="90000"/>
            </a:lnSpc>
            <a:spcBef>
              <a:spcPct val="0"/>
            </a:spcBef>
            <a:spcAft>
              <a:spcPct val="35000"/>
            </a:spcAft>
            <a:buNone/>
          </a:pPr>
          <a:r>
            <a:rPr lang="en-US" sz="1900" kern="1200" dirty="0"/>
            <a:t>quantum circuit </a:t>
          </a:r>
          <a:r>
            <a:rPr lang="en-US" sz="1900" kern="1200" dirty="0" err="1"/>
            <a:t>desciption</a:t>
          </a:r>
          <a:endParaRPr lang="en-US" sz="1900" kern="1200" dirty="0"/>
        </a:p>
      </dsp:txBody>
      <dsp:txXfrm>
        <a:off x="3793608" y="4427028"/>
        <a:ext cx="1643276" cy="79070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9B831A5-711D-4D4A-B56F-A4F6D63D6C13}">
      <dsp:nvSpPr>
        <dsp:cNvPr id="0" name=""/>
        <dsp:cNvSpPr/>
      </dsp:nvSpPr>
      <dsp:spPr>
        <a:xfrm>
          <a:off x="1457337" y="1187"/>
          <a:ext cx="4366112" cy="2619667"/>
        </a:xfrm>
        <a:prstGeom prst="rect">
          <a:avLst/>
        </a:prstGeom>
        <a:solidFill>
          <a:srgbClr val="FFFDD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t" anchorCtr="0">
          <a:noAutofit/>
        </a:bodyPr>
        <a:lstStyle/>
        <a:p>
          <a:pPr marL="0" lvl="0" indent="0" algn="l" defTabSz="1244600">
            <a:lnSpc>
              <a:spcPct val="90000"/>
            </a:lnSpc>
            <a:spcBef>
              <a:spcPct val="0"/>
            </a:spcBef>
            <a:spcAft>
              <a:spcPct val="35000"/>
            </a:spcAft>
            <a:buNone/>
          </a:pPr>
          <a:r>
            <a:rPr lang="en-ZA" sz="2800" b="0" kern="1200" dirty="0">
              <a:solidFill>
                <a:schemeClr val="tx1"/>
              </a:solidFill>
            </a:rPr>
            <a:t>Identity Matrix</a:t>
          </a:r>
          <a:endParaRPr lang="en-US" sz="2800" kern="1200" dirty="0">
            <a:solidFill>
              <a:schemeClr val="tx1"/>
            </a:solidFill>
          </a:endParaRPr>
        </a:p>
        <a:p>
          <a:pPr marL="228600" lvl="1" indent="-228600" algn="just" defTabSz="1022350">
            <a:lnSpc>
              <a:spcPct val="90000"/>
            </a:lnSpc>
            <a:spcBef>
              <a:spcPct val="0"/>
            </a:spcBef>
            <a:spcAft>
              <a:spcPct val="15000"/>
            </a:spcAft>
            <a:buFont typeface="Arial" panose="020B0604020202020204" pitchFamily="34" charset="0"/>
            <a:buChar char="•"/>
          </a:pPr>
          <a:r>
            <a:rPr lang="en-US" sz="2300" kern="1200" dirty="0">
              <a:solidFill>
                <a:schemeClr val="tx1"/>
              </a:solidFill>
            </a:rPr>
            <a:t>A square matrix with ones on the main diagonal and zeros elsewhere</a:t>
          </a:r>
          <a:r>
            <a:rPr lang="en-ZA" sz="2300" kern="1200" dirty="0">
              <a:solidFill>
                <a:schemeClr val="tx1"/>
              </a:solidFill>
            </a:rPr>
            <a:t>. </a:t>
          </a:r>
          <a:endParaRPr lang="en-US" sz="2200" kern="1200" dirty="0">
            <a:solidFill>
              <a:schemeClr val="tx1"/>
            </a:solidFill>
          </a:endParaRPr>
        </a:p>
        <a:p>
          <a:pPr marL="57150" lvl="1" indent="-57150" algn="just" defTabSz="444500">
            <a:lnSpc>
              <a:spcPct val="90000"/>
            </a:lnSpc>
            <a:spcBef>
              <a:spcPct val="0"/>
            </a:spcBef>
            <a:spcAft>
              <a:spcPct val="15000"/>
            </a:spcAft>
            <a:buFont typeface="Arial" panose="020B0604020202020204" pitchFamily="34" charset="0"/>
            <a:buChar char="•"/>
          </a:pPr>
          <a:endParaRPr lang="en-US" sz="1000" kern="1200" dirty="0">
            <a:solidFill>
              <a:schemeClr val="tx1"/>
            </a:solidFill>
          </a:endParaRPr>
        </a:p>
        <a:p>
          <a:pPr marL="228600" lvl="1" indent="-228600" algn="l" defTabSz="1066800">
            <a:lnSpc>
              <a:spcPct val="90000"/>
            </a:lnSpc>
            <a:spcBef>
              <a:spcPct val="0"/>
            </a:spcBef>
            <a:spcAft>
              <a:spcPct val="15000"/>
            </a:spcAft>
            <a:buNone/>
          </a:pPr>
          <a14:m xmlns:a14="http://schemas.microsoft.com/office/drawing/2010/main">
            <m:oMathPara xmlns:m="http://schemas.openxmlformats.org/officeDocument/2006/math">
              <m:oMathParaPr>
                <m:jc m:val="centerGroup"/>
              </m:oMathParaPr>
              <m:oMath xmlns:m="http://schemas.openxmlformats.org/officeDocument/2006/math">
                <m:r>
                  <a:rPr lang="en-US" sz="2400" b="0" i="1" kern="1200" smtClean="0">
                    <a:solidFill>
                      <a:schemeClr val="tx1"/>
                    </a:solidFill>
                    <a:latin typeface="Cambria Math" panose="02040503050406030204" pitchFamily="18" charset="0"/>
                  </a:rPr>
                  <m:t>𝐼</m:t>
                </m:r>
                <m:r>
                  <a:rPr lang="en-US" sz="2400" b="0" i="1" kern="1200" smtClean="0">
                    <a:solidFill>
                      <a:schemeClr val="tx1"/>
                    </a:solidFill>
                    <a:latin typeface="Cambria Math" panose="02040503050406030204" pitchFamily="18" charset="0"/>
                  </a:rPr>
                  <m:t>=</m:t>
                </m:r>
                <m:d>
                  <m:dPr>
                    <m:ctrlPr>
                      <a:rPr lang="en-US" sz="2400" i="1" kern="1200" smtClean="0">
                        <a:solidFill>
                          <a:schemeClr val="tx1"/>
                        </a:solidFill>
                        <a:latin typeface="Cambria Math" panose="02040503050406030204" pitchFamily="18" charset="0"/>
                      </a:rPr>
                    </m:ctrlPr>
                  </m:dPr>
                  <m:e>
                    <m:m>
                      <m:mPr>
                        <m:plcHide m:val="on"/>
                        <m:mcs>
                          <m:mc>
                            <m:mcPr>
                              <m:count m:val="2"/>
                              <m:mcJc m:val="center"/>
                            </m:mcPr>
                          </m:mc>
                        </m:mcs>
                        <m:ctrlPr>
                          <a:rPr lang="en-US" sz="2400" i="1" kern="1200">
                            <a:solidFill>
                              <a:schemeClr val="tx1"/>
                            </a:solidFill>
                            <a:latin typeface="Cambria Math" panose="02040503050406030204" pitchFamily="18" charset="0"/>
                          </a:rPr>
                        </m:ctrlPr>
                      </m:mPr>
                      <m:mr>
                        <m:e>
                          <m:r>
                            <a:rPr lang="en-US" sz="2400" kern="1200">
                              <a:solidFill>
                                <a:schemeClr val="tx1"/>
                              </a:solidFill>
                              <a:latin typeface="Cambria Math" panose="02040503050406030204" pitchFamily="18" charset="0"/>
                            </a:rPr>
                            <m:t>1</m:t>
                          </m:r>
                        </m:e>
                        <m:e>
                          <m:r>
                            <a:rPr lang="en-US" sz="2400" kern="1200">
                              <a:solidFill>
                                <a:schemeClr val="tx1"/>
                              </a:solidFill>
                              <a:latin typeface="Cambria Math" panose="02040503050406030204" pitchFamily="18" charset="0"/>
                            </a:rPr>
                            <m:t>0</m:t>
                          </m:r>
                        </m:e>
                      </m:mr>
                      <m:mr>
                        <m:e>
                          <m:r>
                            <a:rPr lang="en-US" sz="2400" kern="1200">
                              <a:solidFill>
                                <a:schemeClr val="tx1"/>
                              </a:solidFill>
                              <a:latin typeface="Cambria Math" panose="02040503050406030204" pitchFamily="18" charset="0"/>
                            </a:rPr>
                            <m:t>0</m:t>
                          </m:r>
                        </m:e>
                        <m:e>
                          <m:r>
                            <a:rPr lang="en-US" sz="2400" kern="1200">
                              <a:solidFill>
                                <a:schemeClr val="tx1"/>
                              </a:solidFill>
                              <a:latin typeface="Cambria Math" panose="02040503050406030204" pitchFamily="18" charset="0"/>
                            </a:rPr>
                            <m:t>1</m:t>
                          </m:r>
                        </m:e>
                      </m:mr>
                    </m:m>
                  </m:e>
                </m:d>
              </m:oMath>
            </m:oMathPara>
          </a14:m>
          <a:endParaRPr lang="en-US" sz="2400" kern="1200" dirty="0">
            <a:solidFill>
              <a:schemeClr val="tx1"/>
            </a:solidFill>
          </a:endParaRPr>
        </a:p>
      </dsp:txBody>
      <dsp:txXfrm>
        <a:off x="1457337" y="1187"/>
        <a:ext cx="4366112" cy="2619667"/>
      </dsp:txXfrm>
    </dsp:sp>
    <dsp:sp modelId="{230E0ECE-F143-B24C-9E4D-62F109CAC925}">
      <dsp:nvSpPr>
        <dsp:cNvPr id="0" name=""/>
        <dsp:cNvSpPr/>
      </dsp:nvSpPr>
      <dsp:spPr>
        <a:xfrm>
          <a:off x="6260061" y="1187"/>
          <a:ext cx="4366112" cy="2619667"/>
        </a:xfrm>
        <a:prstGeom prst="rect">
          <a:avLst/>
        </a:prstGeom>
        <a:solidFill>
          <a:schemeClr val="bg1">
            <a:lumMod val="9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t" anchorCtr="0">
          <a:noAutofit/>
        </a:bodyPr>
        <a:lstStyle/>
        <a:p>
          <a:pPr marL="0" lvl="0" indent="0" algn="l" defTabSz="1333500">
            <a:lnSpc>
              <a:spcPct val="90000"/>
            </a:lnSpc>
            <a:spcBef>
              <a:spcPct val="0"/>
            </a:spcBef>
            <a:spcAft>
              <a:spcPct val="35000"/>
            </a:spcAft>
            <a:buNone/>
          </a:pPr>
          <a:r>
            <a:rPr lang="en-ZA" sz="3000" b="0" kern="1200" dirty="0">
              <a:solidFill>
                <a:schemeClr val="tx1"/>
              </a:solidFill>
            </a:rPr>
            <a:t>Orthogonal Matrix</a:t>
          </a:r>
          <a:endParaRPr lang="en-US" sz="3000" kern="1200" dirty="0">
            <a:solidFill>
              <a:schemeClr val="tx1"/>
            </a:solidFill>
          </a:endParaRPr>
        </a:p>
        <a:p>
          <a:pPr marL="228600" lvl="1" indent="-228600" algn="just" defTabSz="1022350">
            <a:lnSpc>
              <a:spcPct val="90000"/>
            </a:lnSpc>
            <a:spcBef>
              <a:spcPct val="0"/>
            </a:spcBef>
            <a:spcAft>
              <a:spcPct val="15000"/>
            </a:spcAft>
            <a:buChar char="•"/>
          </a:pPr>
          <a:r>
            <a:rPr lang="en-US" sz="2300" kern="1200" dirty="0">
              <a:solidFill>
                <a:schemeClr val="tx1"/>
              </a:solidFill>
            </a:rPr>
            <a:t>A real square matrix which, when multiplied by its transpose, results in the identity matrix.</a:t>
          </a:r>
        </a:p>
        <a:p>
          <a:pPr marL="57150" lvl="1" indent="-57150" algn="just" defTabSz="444500">
            <a:lnSpc>
              <a:spcPct val="90000"/>
            </a:lnSpc>
            <a:spcBef>
              <a:spcPct val="0"/>
            </a:spcBef>
            <a:spcAft>
              <a:spcPct val="15000"/>
            </a:spcAft>
            <a:buNone/>
          </a:pPr>
          <a:endParaRPr lang="en-US" sz="1000" kern="1200" dirty="0">
            <a:solidFill>
              <a:schemeClr val="tx1"/>
            </a:solidFill>
          </a:endParaRPr>
        </a:p>
        <a:p>
          <a:pPr marL="228600" lvl="1" indent="-228600" algn="l" defTabSz="1066800">
            <a:lnSpc>
              <a:spcPct val="90000"/>
            </a:lnSpc>
            <a:spcBef>
              <a:spcPct val="0"/>
            </a:spcBef>
            <a:spcAft>
              <a:spcPct val="15000"/>
            </a:spcAft>
            <a:buNone/>
          </a:pPr>
          <a14:m xmlns:a14="http://schemas.microsoft.com/office/drawing/2010/main">
            <m:oMathPara xmlns:m="http://schemas.openxmlformats.org/officeDocument/2006/math">
              <m:oMathParaPr>
                <m:jc m:val="centerGroup"/>
              </m:oMathParaPr>
              <m:oMath xmlns:m="http://schemas.openxmlformats.org/officeDocument/2006/math">
                <m:sSup>
                  <m:sSupPr>
                    <m:ctrlPr>
                      <a:rPr lang="en-US" sz="2400" i="1" kern="1200" smtClean="0">
                        <a:solidFill>
                          <a:schemeClr val="tx1"/>
                        </a:solidFill>
                        <a:latin typeface="Cambria Math" panose="02040503050406030204" pitchFamily="18" charset="0"/>
                      </a:rPr>
                    </m:ctrlPr>
                  </m:sSupPr>
                  <m:e>
                    <m:r>
                      <a:rPr lang="en-US" sz="2400" b="0" i="1" kern="1200" smtClean="0">
                        <a:solidFill>
                          <a:schemeClr val="tx1"/>
                        </a:solidFill>
                        <a:latin typeface="Cambria Math" panose="02040503050406030204" pitchFamily="18" charset="0"/>
                      </a:rPr>
                      <m:t>𝐴</m:t>
                    </m:r>
                    <m:r>
                      <a:rPr lang="en-US" sz="2400" i="1" kern="1200">
                        <a:solidFill>
                          <a:schemeClr val="tx1"/>
                        </a:solidFill>
                        <a:latin typeface="Cambria Math" panose="02040503050406030204" pitchFamily="18" charset="0"/>
                      </a:rPr>
                      <m:t>𝐴</m:t>
                    </m:r>
                  </m:e>
                  <m:sup>
                    <m:r>
                      <a:rPr lang="en-US" sz="2400" b="0" i="1" kern="1200" smtClean="0">
                        <a:solidFill>
                          <a:schemeClr val="tx1"/>
                        </a:solidFill>
                        <a:latin typeface="Cambria Math" panose="02040503050406030204" pitchFamily="18" charset="0"/>
                      </a:rPr>
                      <m:t>𝑇</m:t>
                    </m:r>
                  </m:sup>
                </m:sSup>
                <m:r>
                  <a:rPr lang="en-US" sz="2400" b="0" i="1" kern="1200" smtClean="0">
                    <a:solidFill>
                      <a:schemeClr val="tx1"/>
                    </a:solidFill>
                    <a:latin typeface="Cambria Math" panose="02040503050406030204" pitchFamily="18" charset="0"/>
                  </a:rPr>
                  <m:t>=</m:t>
                </m:r>
                <m:sSup>
                  <m:sSupPr>
                    <m:ctrlPr>
                      <a:rPr lang="en-US" sz="2400" i="1" kern="1200" smtClean="0">
                        <a:solidFill>
                          <a:schemeClr val="tx1"/>
                        </a:solidFill>
                        <a:latin typeface="Cambria Math" panose="02040503050406030204" pitchFamily="18" charset="0"/>
                      </a:rPr>
                    </m:ctrlPr>
                  </m:sSupPr>
                  <m:e>
                    <m:r>
                      <a:rPr lang="en-US" sz="2400" i="1" kern="1200">
                        <a:solidFill>
                          <a:schemeClr val="tx1"/>
                        </a:solidFill>
                        <a:latin typeface="Cambria Math" panose="02040503050406030204" pitchFamily="18" charset="0"/>
                      </a:rPr>
                      <m:t>𝐴</m:t>
                    </m:r>
                  </m:e>
                  <m:sup>
                    <m:r>
                      <a:rPr lang="en-US" sz="2400" b="0" i="1" kern="1200" smtClean="0">
                        <a:solidFill>
                          <a:schemeClr val="tx1"/>
                        </a:solidFill>
                        <a:latin typeface="Cambria Math" panose="02040503050406030204" pitchFamily="18" charset="0"/>
                      </a:rPr>
                      <m:t>𝑇</m:t>
                    </m:r>
                  </m:sup>
                </m:sSup>
                <m:r>
                  <a:rPr lang="en-US" sz="2400" b="0" i="1" kern="1200" smtClean="0">
                    <a:solidFill>
                      <a:schemeClr val="tx1"/>
                    </a:solidFill>
                    <a:latin typeface="Cambria Math" panose="02040503050406030204" pitchFamily="18" charset="0"/>
                  </a:rPr>
                  <m:t>𝐴</m:t>
                </m:r>
                <m:r>
                  <a:rPr lang="en-US" sz="2400" b="0" i="1" kern="1200" smtClean="0">
                    <a:solidFill>
                      <a:schemeClr val="tx1"/>
                    </a:solidFill>
                    <a:latin typeface="Cambria Math" panose="02040503050406030204" pitchFamily="18" charset="0"/>
                  </a:rPr>
                  <m:t>=</m:t>
                </m:r>
                <m:r>
                  <a:rPr lang="en-US" sz="2400" b="0" i="1" kern="1200" smtClean="0">
                    <a:solidFill>
                      <a:schemeClr val="tx1"/>
                    </a:solidFill>
                    <a:latin typeface="Cambria Math" panose="02040503050406030204" pitchFamily="18" charset="0"/>
                  </a:rPr>
                  <m:t>𝐼</m:t>
                </m:r>
              </m:oMath>
            </m:oMathPara>
          </a14:m>
          <a:endParaRPr lang="en-US" sz="2400" kern="1200" dirty="0">
            <a:solidFill>
              <a:schemeClr val="tx1"/>
            </a:solidFill>
          </a:endParaRPr>
        </a:p>
      </dsp:txBody>
      <dsp:txXfrm>
        <a:off x="6260061" y="1187"/>
        <a:ext cx="4366112" cy="2619667"/>
      </dsp:txXfrm>
    </dsp:sp>
    <dsp:sp modelId="{C9378457-7A05-FD4D-B796-355BBEAF5417}">
      <dsp:nvSpPr>
        <dsp:cNvPr id="0" name=""/>
        <dsp:cNvSpPr/>
      </dsp:nvSpPr>
      <dsp:spPr>
        <a:xfrm>
          <a:off x="1457337" y="3057466"/>
          <a:ext cx="4366112" cy="2619667"/>
        </a:xfrm>
        <a:prstGeom prst="rect">
          <a:avLst/>
        </a:prstGeom>
        <a:solidFill>
          <a:schemeClr val="accent2">
            <a:lumMod val="20000"/>
            <a:lumOff val="8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t" anchorCtr="0">
          <a:noAutofit/>
        </a:bodyPr>
        <a:lstStyle/>
        <a:p>
          <a:pPr marL="0" lvl="0" indent="0" algn="l" defTabSz="1333500">
            <a:lnSpc>
              <a:spcPct val="90000"/>
            </a:lnSpc>
            <a:spcBef>
              <a:spcPct val="0"/>
            </a:spcBef>
            <a:spcAft>
              <a:spcPct val="35000"/>
            </a:spcAft>
            <a:buNone/>
          </a:pPr>
          <a:r>
            <a:rPr lang="en-ZA" sz="3000" b="0" kern="1200" dirty="0">
              <a:solidFill>
                <a:schemeClr val="tx1"/>
              </a:solidFill>
            </a:rPr>
            <a:t>Hermitian Matrix</a:t>
          </a:r>
          <a:endParaRPr lang="en-US" sz="3000" kern="1200" dirty="0">
            <a:solidFill>
              <a:schemeClr val="tx1"/>
            </a:solidFill>
          </a:endParaRPr>
        </a:p>
        <a:p>
          <a:pPr marL="228600" lvl="1" indent="-228600" algn="just" defTabSz="1022350">
            <a:lnSpc>
              <a:spcPct val="90000"/>
            </a:lnSpc>
            <a:spcBef>
              <a:spcPct val="0"/>
            </a:spcBef>
            <a:spcAft>
              <a:spcPct val="15000"/>
            </a:spcAft>
            <a:buChar char="•"/>
          </a:pPr>
          <a:r>
            <a:rPr lang="en-US" sz="2300" kern="1200" dirty="0">
              <a:solidFill>
                <a:schemeClr val="tx1"/>
              </a:solidFill>
            </a:rPr>
            <a:t>A square matrix that is equal to its conjugate transpose</a:t>
          </a:r>
          <a:r>
            <a:rPr lang="en-ZA" sz="2300" kern="1200" dirty="0">
              <a:solidFill>
                <a:schemeClr val="tx1"/>
              </a:solidFill>
            </a:rPr>
            <a:t>.</a:t>
          </a:r>
          <a:endParaRPr lang="en-US" sz="2300" kern="1200" dirty="0">
            <a:solidFill>
              <a:schemeClr val="tx1"/>
            </a:solidFill>
          </a:endParaRPr>
        </a:p>
        <a:p>
          <a:pPr marL="171450" lvl="1" indent="-171450" algn="just" defTabSz="800100">
            <a:lnSpc>
              <a:spcPct val="90000"/>
            </a:lnSpc>
            <a:spcBef>
              <a:spcPct val="0"/>
            </a:spcBef>
            <a:spcAft>
              <a:spcPct val="15000"/>
            </a:spcAft>
            <a:buNone/>
          </a:pPr>
          <a:endParaRPr lang="en-US" sz="1800" kern="1200" dirty="0">
            <a:solidFill>
              <a:schemeClr val="tx1"/>
            </a:solidFill>
          </a:endParaRPr>
        </a:p>
        <a:p>
          <a:pPr marL="228600" lvl="1" indent="-228600" algn="l" defTabSz="1066800">
            <a:lnSpc>
              <a:spcPct val="90000"/>
            </a:lnSpc>
            <a:spcBef>
              <a:spcPct val="0"/>
            </a:spcBef>
            <a:spcAft>
              <a:spcPct val="15000"/>
            </a:spcAft>
            <a:buNone/>
          </a:pPr>
          <a14:m xmlns:a14="http://schemas.microsoft.com/office/drawing/2010/main">
            <m:oMathPara xmlns:m="http://schemas.openxmlformats.org/officeDocument/2006/math">
              <m:oMathParaPr>
                <m:jc m:val="centerGroup"/>
              </m:oMathParaPr>
              <m:oMath xmlns:m="http://schemas.openxmlformats.org/officeDocument/2006/math">
                <m:sSup>
                  <m:sSupPr>
                    <m:ctrlPr>
                      <a:rPr lang="en-US" sz="2400" i="1" kern="1200" smtClean="0">
                        <a:solidFill>
                          <a:schemeClr val="tx1"/>
                        </a:solidFill>
                        <a:latin typeface="Cambria Math" panose="02040503050406030204" pitchFamily="18" charset="0"/>
                      </a:rPr>
                    </m:ctrlPr>
                  </m:sSupPr>
                  <m:e>
                    <m:r>
                      <a:rPr lang="en-US" sz="2400" b="0" i="1" kern="1200" smtClean="0">
                        <a:solidFill>
                          <a:schemeClr val="tx1"/>
                        </a:solidFill>
                        <a:latin typeface="Cambria Math" panose="02040503050406030204" pitchFamily="18" charset="0"/>
                      </a:rPr>
                      <m:t>𝐴</m:t>
                    </m:r>
                    <m:r>
                      <a:rPr lang="en-US" sz="2400" b="0" i="1" kern="1200" smtClean="0">
                        <a:solidFill>
                          <a:schemeClr val="tx1"/>
                        </a:solidFill>
                        <a:latin typeface="Cambria Math" panose="02040503050406030204" pitchFamily="18" charset="0"/>
                      </a:rPr>
                      <m:t>=</m:t>
                    </m:r>
                    <m:r>
                      <a:rPr lang="en-US" sz="2400" i="1" kern="1200">
                        <a:solidFill>
                          <a:schemeClr val="tx1"/>
                        </a:solidFill>
                        <a:latin typeface="Cambria Math" panose="02040503050406030204" pitchFamily="18" charset="0"/>
                      </a:rPr>
                      <m:t>𝐴</m:t>
                    </m:r>
                  </m:e>
                  <m:sup>
                    <m:r>
                      <a:rPr lang="en-US" sz="2400" i="1" kern="1200">
                        <a:solidFill>
                          <a:schemeClr val="tx1"/>
                        </a:solidFill>
                        <a:latin typeface="Cambria Math" panose="02040503050406030204" pitchFamily="18" charset="0"/>
                      </a:rPr>
                      <m:t>†</m:t>
                    </m:r>
                  </m:sup>
                </m:sSup>
              </m:oMath>
            </m:oMathPara>
          </a14:m>
          <a:endParaRPr lang="en-US" sz="2400" kern="1200" dirty="0">
            <a:solidFill>
              <a:schemeClr val="tx1"/>
            </a:solidFill>
          </a:endParaRPr>
        </a:p>
      </dsp:txBody>
      <dsp:txXfrm>
        <a:off x="1457337" y="3057466"/>
        <a:ext cx="4366112" cy="2619667"/>
      </dsp:txXfrm>
    </dsp:sp>
    <dsp:sp modelId="{F2A1F630-CF8F-124E-B501-DC33C45612C6}">
      <dsp:nvSpPr>
        <dsp:cNvPr id="0" name=""/>
        <dsp:cNvSpPr/>
      </dsp:nvSpPr>
      <dsp:spPr>
        <a:xfrm>
          <a:off x="6260061" y="3057466"/>
          <a:ext cx="4366112" cy="2619667"/>
        </a:xfrm>
        <a:prstGeom prst="rect">
          <a:avLst/>
        </a:prstGeom>
        <a:solidFill>
          <a:schemeClr val="accent5">
            <a:lumMod val="20000"/>
            <a:lumOff val="8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t" anchorCtr="0">
          <a:noAutofit/>
        </a:bodyPr>
        <a:lstStyle/>
        <a:p>
          <a:pPr marL="0" lvl="0" indent="0" algn="l" defTabSz="1200150">
            <a:lnSpc>
              <a:spcPct val="90000"/>
            </a:lnSpc>
            <a:spcBef>
              <a:spcPct val="0"/>
            </a:spcBef>
            <a:spcAft>
              <a:spcPct val="35000"/>
            </a:spcAft>
            <a:buNone/>
          </a:pPr>
          <a:r>
            <a:rPr lang="en-ZA" sz="2700" b="0" kern="1200" dirty="0">
              <a:solidFill>
                <a:schemeClr val="tx1"/>
              </a:solidFill>
            </a:rPr>
            <a:t>Unitary Matrix</a:t>
          </a:r>
          <a:endParaRPr lang="en-US" sz="2700" kern="1200" dirty="0">
            <a:solidFill>
              <a:schemeClr val="tx1"/>
            </a:solidFill>
          </a:endParaRPr>
        </a:p>
        <a:p>
          <a:pPr marL="228600" lvl="1" indent="-228600" algn="just" defTabSz="1022350">
            <a:lnSpc>
              <a:spcPct val="90000"/>
            </a:lnSpc>
            <a:spcBef>
              <a:spcPct val="0"/>
            </a:spcBef>
            <a:spcAft>
              <a:spcPct val="15000"/>
            </a:spcAft>
            <a:buChar char="•"/>
          </a:pPr>
          <a:r>
            <a:rPr lang="en-US" sz="2300" kern="1200" dirty="0">
              <a:solidFill>
                <a:schemeClr val="tx1"/>
              </a:solidFill>
            </a:rPr>
            <a:t>A square matrix which, when multiplied by its conjugate transpose, results in the identity matrix.</a:t>
          </a:r>
          <a:endParaRPr lang="en-US" sz="1000" kern="1200" dirty="0">
            <a:solidFill>
              <a:schemeClr val="tx1"/>
            </a:solidFill>
          </a:endParaRPr>
        </a:p>
        <a:p>
          <a:pPr marL="57150" lvl="1" indent="-57150" algn="just" defTabSz="444500">
            <a:lnSpc>
              <a:spcPct val="90000"/>
            </a:lnSpc>
            <a:spcBef>
              <a:spcPct val="0"/>
            </a:spcBef>
            <a:spcAft>
              <a:spcPct val="15000"/>
            </a:spcAft>
            <a:buChar char="•"/>
          </a:pPr>
          <a:endParaRPr lang="en-US" sz="1000" kern="1200" dirty="0">
            <a:solidFill>
              <a:schemeClr val="tx1"/>
            </a:solidFill>
          </a:endParaRPr>
        </a:p>
        <a:p>
          <a:pPr marL="228600" lvl="1" indent="-228600" algn="l" defTabSz="1066800">
            <a:lnSpc>
              <a:spcPct val="90000"/>
            </a:lnSpc>
            <a:spcBef>
              <a:spcPct val="0"/>
            </a:spcBef>
            <a:spcAft>
              <a:spcPct val="15000"/>
            </a:spcAft>
            <a:buNone/>
          </a:pPr>
          <a14:m xmlns:a14="http://schemas.microsoft.com/office/drawing/2010/main">
            <m:oMathPara xmlns:m="http://schemas.openxmlformats.org/officeDocument/2006/math">
              <m:oMathParaPr>
                <m:jc m:val="centerGroup"/>
              </m:oMathParaPr>
              <m:oMath xmlns:m="http://schemas.openxmlformats.org/officeDocument/2006/math">
                <m:sSup>
                  <m:sSupPr>
                    <m:ctrlPr>
                      <a:rPr lang="en-US" sz="2400" i="1" kern="1200" smtClean="0">
                        <a:solidFill>
                          <a:schemeClr val="tx1"/>
                        </a:solidFill>
                        <a:latin typeface="Cambria Math" panose="02040503050406030204" pitchFamily="18" charset="0"/>
                      </a:rPr>
                    </m:ctrlPr>
                  </m:sSupPr>
                  <m:e>
                    <m:r>
                      <a:rPr lang="en-US" sz="2400" b="0" i="1" kern="1200" smtClean="0">
                        <a:solidFill>
                          <a:schemeClr val="tx1"/>
                        </a:solidFill>
                        <a:latin typeface="Cambria Math" panose="02040503050406030204" pitchFamily="18" charset="0"/>
                      </a:rPr>
                      <m:t>𝐴</m:t>
                    </m:r>
                    <m:r>
                      <a:rPr lang="en-US" sz="2400" i="1" kern="1200">
                        <a:solidFill>
                          <a:schemeClr val="tx1"/>
                        </a:solidFill>
                        <a:latin typeface="Cambria Math" panose="02040503050406030204" pitchFamily="18" charset="0"/>
                      </a:rPr>
                      <m:t>𝐴</m:t>
                    </m:r>
                  </m:e>
                  <m:sup>
                    <m:r>
                      <a:rPr lang="en-US" sz="2400" i="1" kern="1200">
                        <a:solidFill>
                          <a:schemeClr val="tx1"/>
                        </a:solidFill>
                        <a:latin typeface="Cambria Math" panose="02040503050406030204" pitchFamily="18" charset="0"/>
                      </a:rPr>
                      <m:t>†</m:t>
                    </m:r>
                  </m:sup>
                </m:sSup>
                <m:r>
                  <a:rPr lang="en-US" sz="2400" b="0" i="1" kern="1200" smtClean="0">
                    <a:solidFill>
                      <a:schemeClr val="tx1"/>
                    </a:solidFill>
                    <a:latin typeface="Cambria Math" panose="02040503050406030204" pitchFamily="18" charset="0"/>
                  </a:rPr>
                  <m:t>=</m:t>
                </m:r>
                <m:sSup>
                  <m:sSupPr>
                    <m:ctrlPr>
                      <a:rPr lang="en-US" sz="2400" i="1" kern="1200" smtClean="0">
                        <a:solidFill>
                          <a:schemeClr val="tx1"/>
                        </a:solidFill>
                        <a:latin typeface="Cambria Math" panose="02040503050406030204" pitchFamily="18" charset="0"/>
                      </a:rPr>
                    </m:ctrlPr>
                  </m:sSupPr>
                  <m:e>
                    <m:r>
                      <a:rPr lang="en-US" sz="2400" b="0" i="1" kern="1200" smtClean="0">
                        <a:solidFill>
                          <a:schemeClr val="tx1"/>
                        </a:solidFill>
                        <a:latin typeface="Cambria Math" panose="02040503050406030204" pitchFamily="18" charset="0"/>
                      </a:rPr>
                      <m:t>𝐴</m:t>
                    </m:r>
                  </m:e>
                  <m:sup>
                    <m:r>
                      <a:rPr lang="en-US" sz="2400" i="1" kern="1200">
                        <a:solidFill>
                          <a:schemeClr val="tx1"/>
                        </a:solidFill>
                        <a:latin typeface="Cambria Math" panose="02040503050406030204" pitchFamily="18" charset="0"/>
                      </a:rPr>
                      <m:t>†</m:t>
                    </m:r>
                  </m:sup>
                </m:sSup>
                <m:r>
                  <a:rPr lang="en-US" sz="2400" b="0" i="1" kern="1200" smtClean="0">
                    <a:solidFill>
                      <a:schemeClr val="tx1"/>
                    </a:solidFill>
                    <a:latin typeface="Cambria Math" panose="02040503050406030204" pitchFamily="18" charset="0"/>
                  </a:rPr>
                  <m:t>𝐴</m:t>
                </m:r>
                <m:r>
                  <a:rPr lang="en-US" sz="2400" b="0" i="1" kern="1200" smtClean="0">
                    <a:solidFill>
                      <a:schemeClr val="tx1"/>
                    </a:solidFill>
                    <a:latin typeface="Cambria Math" panose="02040503050406030204" pitchFamily="18" charset="0"/>
                  </a:rPr>
                  <m:t>=</m:t>
                </m:r>
                <m:r>
                  <a:rPr lang="en-US" sz="2400" b="0" i="1" kern="1200" smtClean="0">
                    <a:solidFill>
                      <a:schemeClr val="tx1"/>
                    </a:solidFill>
                    <a:latin typeface="Cambria Math" panose="02040503050406030204" pitchFamily="18" charset="0"/>
                  </a:rPr>
                  <m:t>𝐼</m:t>
                </m:r>
              </m:oMath>
            </m:oMathPara>
          </a14:m>
          <a:endParaRPr lang="en-US" sz="2400" kern="1200" dirty="0">
            <a:solidFill>
              <a:schemeClr val="tx1"/>
            </a:solidFill>
          </a:endParaRPr>
        </a:p>
      </dsp:txBody>
      <dsp:txXfrm>
        <a:off x="6260061" y="3057466"/>
        <a:ext cx="4366112" cy="2619667"/>
      </dsp:txXfrm>
    </dsp:sp>
  </dsp:spTree>
</dsp:drawing>
</file>

<file path=ppt/diagrams/layout1.xml><?xml version="1.0" encoding="utf-8"?>
<dgm:layoutDef xmlns:dgm="http://schemas.openxmlformats.org/drawingml/2006/diagram" xmlns:a="http://schemas.openxmlformats.org/drawingml/2006/main" uniqueId="urn:microsoft.com/office/officeart/2005/8/layout/lProcess3">
  <dgm:title val=""/>
  <dgm:desc val=""/>
  <dgm:catLst>
    <dgm:cat type="process" pri="11000"/>
    <dgm:cat type="convert"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2"/>
      </dgm:ptLst>
      <dgm:cxnLst>
        <dgm:cxn modelId="4" srcId="0" destId="1" srcOrd="0" destOrd="0"/>
        <dgm:cxn modelId="5" srcId="1" destId="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chPref val="3"/>
      <dgm:dir/>
      <dgm:animLvl val="lvl"/>
      <dgm:resizeHandles/>
    </dgm:varLst>
    <dgm:choose name="Name1">
      <dgm:if name="Name2" func="var" arg="dir" op="equ" val="norm">
        <dgm:alg type="lin">
          <dgm:param type="linDir" val="fromT"/>
          <dgm:param type="vertAlign" val="mid"/>
          <dgm:param type="nodeHorzAlign" val="l"/>
          <dgm:param type="nodeVertAlign" val="t"/>
          <dgm:param type="fallback" val="2D"/>
        </dgm:alg>
      </dgm:if>
      <dgm:else name="Name3">
        <dgm:alg type="lin">
          <dgm:param type="linDir" val="fromT"/>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w" for="des" forName="bigChev" refType="w"/>
      <dgm:constr type="h" for="des" forName="bigChev" refType="w" refFor="des" refForName="bigChev" op="equ" fact="0.4"/>
      <dgm:constr type="w" for="des" forName="node" refType="w" refFor="des" refForName="bigChev" fact="0.83"/>
      <dgm:constr type="h" for="des" forName="node" refType="w" refFor="des" refForName="node" op="equ" fact="0.4"/>
      <dgm:constr type="w" for="des" forName="parTrans" refType="w" refFor="des" refForName="bigChev" op="equ" fact="-0.13"/>
      <dgm:constr type="w" for="des" forName="sibTrans" refType="w" refFor="des" refForName="node" op="equ" fact="-0.14"/>
      <dgm:constr type="h" for="ch" forName="vSp" refType="h" refFor="des" refForName="bigChev" op="equ" fact="0.14"/>
      <dgm:constr type="primFontSz" for="des" forName="node" op="equ"/>
      <dgm:constr type="primFontSz" for="des" forName="bigChev" op="equ"/>
    </dgm:constrLst>
    <dgm:ruleLst/>
    <dgm:forEach name="Name4" axis="ch" ptType="node">
      <dgm:layoutNode name="horFlow">
        <dgm:choose name="Name5">
          <dgm:if name="Name6" func="var" arg="dir" op="equ" val="norm">
            <dgm:alg type="lin">
              <dgm:param type="linDir" val="fromL"/>
              <dgm:param type="nodeHorzAlign" val="l"/>
              <dgm:param type="nodeVertAlign" val="mid"/>
              <dgm:param type="fallback" val="2D"/>
            </dgm:alg>
          </dgm:if>
          <dgm:else name="Name7">
            <dgm:alg type="lin">
              <dgm:param type="linDir" val="fromR"/>
              <dgm:param type="nodeHorzAlign" val="r"/>
              <dgm:param type="nodeVertAlign" val="mid"/>
              <dgm:param type="fallback" val="2D"/>
            </dgm:alg>
          </dgm:else>
        </dgm:choose>
        <dgm:shape xmlns:r="http://schemas.openxmlformats.org/officeDocument/2006/relationships" r:blip="">
          <dgm:adjLst/>
        </dgm:shape>
        <dgm:presOf/>
        <dgm:constrLst/>
        <dgm:ruleLst/>
        <dgm:layoutNode name="bigChev" styleLbl="node1">
          <dgm:alg type="tx"/>
          <dgm:choose name="Name8">
            <dgm:if name="Name9" func="var" arg="dir" op="equ" val="norm">
              <dgm:shape xmlns:r="http://schemas.openxmlformats.org/officeDocument/2006/relationships" type="chevron" r:blip="">
                <dgm:adjLst/>
              </dgm:shape>
              <dgm:presOf axis="self"/>
              <dgm:constrLst>
                <dgm:constr type="primFontSz" val="65"/>
                <dgm:constr type="rMarg"/>
                <dgm:constr type="lMarg" refType="primFontSz" fact="0.1"/>
                <dgm:constr type="tMarg" refType="primFontSz" fact="0.05"/>
                <dgm:constr type="bMarg" refType="primFontSz" fact="0.05"/>
              </dgm:constrLst>
            </dgm:if>
            <dgm:else name="Name10">
              <dgm:shape xmlns:r="http://schemas.openxmlformats.org/officeDocument/2006/relationships" rot="180" type="chevron" r:blip="">
                <dgm:adjLst/>
              </dgm:shape>
              <dgm:presOf axis="self"/>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parTransForEach" axis="ch" ptType="parTrans" cnt="1">
          <dgm:layoutNode name="parTrans">
            <dgm:alg type="sp"/>
            <dgm:shape xmlns:r="http://schemas.openxmlformats.org/officeDocument/2006/relationships" r:blip="">
              <dgm:adjLst/>
            </dgm:shape>
            <dgm:presOf/>
            <dgm:constrLst/>
            <dgm:ruleLst/>
          </dgm:layoutNode>
        </dgm:forEach>
        <dgm:forEach name="Name11" axis="ch" ptType="node">
          <dgm:layoutNode name="node" styleLbl="alignAccFollowNode1">
            <dgm:varLst>
              <dgm:bulletEnabled val="1"/>
            </dgm:varLst>
            <dgm:alg type="tx"/>
            <dgm:choose name="Name12">
              <dgm:if name="Name13" func="var" arg="dir" op="equ" val="norm">
                <dgm:shape xmlns:r="http://schemas.openxmlformats.org/officeDocument/2006/relationships" type="chevron" r:blip="">
                  <dgm:adjLst/>
                </dgm:shape>
                <dgm:presOf axis="desOrSelf" ptType="node"/>
                <dgm:constrLst>
                  <dgm:constr type="primFontSz" val="65"/>
                  <dgm:constr type="rMarg"/>
                  <dgm:constr type="lMarg" refType="primFontSz" fact="0.1"/>
                  <dgm:constr type="tMarg" refType="primFontSz" fact="0.05"/>
                  <dgm:constr type="bMarg" refType="primFontSz" fact="0.05"/>
                </dgm:constrLst>
              </dgm:if>
              <dgm:else name="Name14">
                <dgm:shape xmlns:r="http://schemas.openxmlformats.org/officeDocument/2006/relationships" rot="180" type="chevron" r:blip="">
                  <dgm:adjLst/>
                </dgm:shape>
                <dgm:presOf axis="desOrSelf" ptType="node"/>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choose name="Name15">
        <dgm:if name="Name16" axis="self" ptType="node" func="revPos" op="gte" val="2">
          <dgm:layoutNode name="vSp">
            <dgm:alg type="sp"/>
            <dgm:shape xmlns:r="http://schemas.openxmlformats.org/officeDocument/2006/relationships" r:blip="">
              <dgm:adjLst/>
            </dgm:shape>
            <dgm:presOf/>
            <dgm:constrLst/>
            <dgm:ruleLst/>
          </dgm:layoutNode>
        </dgm:if>
        <dgm:else name="Name17"/>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69BEB82-778D-AD40-9C78-E0B63E5D4744}" type="datetimeFigureOut">
              <a:rPr lang="en-US" smtClean="0"/>
              <a:t>10/24/26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B2CE5E3-B8BD-D040-AC87-D640191DD8F1}" type="slidenum">
              <a:rPr lang="en-US" smtClean="0"/>
              <a:t>‹#›</a:t>
            </a:fld>
            <a:endParaRPr lang="en-US"/>
          </a:p>
        </p:txBody>
      </p:sp>
    </p:spTree>
    <p:extLst>
      <p:ext uri="{BB962C8B-B14F-4D97-AF65-F5344CB8AC3E}">
        <p14:creationId xmlns:p14="http://schemas.microsoft.com/office/powerpoint/2010/main" val="8119097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i="0" dirty="0"/>
          </a:p>
        </p:txBody>
      </p:sp>
      <p:sp>
        <p:nvSpPr>
          <p:cNvPr id="4" name="Slide Number Placeholder 3"/>
          <p:cNvSpPr>
            <a:spLocks noGrp="1"/>
          </p:cNvSpPr>
          <p:nvPr>
            <p:ph type="sldNum" sz="quarter" idx="5"/>
          </p:nvPr>
        </p:nvSpPr>
        <p:spPr/>
        <p:txBody>
          <a:bodyPr/>
          <a:lstStyle/>
          <a:p>
            <a:fld id="{1B2CE5E3-B8BD-D040-AC87-D640191DD8F1}" type="slidenum">
              <a:rPr lang="en-US" smtClean="0"/>
              <a:t>1</a:t>
            </a:fld>
            <a:endParaRPr lang="en-US"/>
          </a:p>
        </p:txBody>
      </p:sp>
    </p:spTree>
    <p:extLst>
      <p:ext uri="{BB962C8B-B14F-4D97-AF65-F5344CB8AC3E}">
        <p14:creationId xmlns:p14="http://schemas.microsoft.com/office/powerpoint/2010/main" val="30185609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ZA" b="0" dirty="0"/>
              <a:t>The basic unit of quantum processing is the quantum gate. Mathematically, a quantum gate is represented by a unitary matrix.</a:t>
            </a:r>
            <a:endParaRPr lang="en-ZA" dirty="0"/>
          </a:p>
          <a:p>
            <a:pPr marL="228600" indent="-228600" algn="just">
              <a:buFont typeface="Arial" panose="020B0604020202020204" pitchFamily="34" charset="0"/>
              <a:buChar char="•"/>
            </a:pPr>
            <a:endParaRPr lang="en-US" sz="1200" dirty="0">
              <a:latin typeface="+mn-lt"/>
            </a:endParaRPr>
          </a:p>
          <a:p>
            <a:pPr marL="228600" indent="-228600" algn="just">
              <a:buFont typeface="Arial" panose="020B0604020202020204" pitchFamily="34" charset="0"/>
              <a:buChar char="•"/>
            </a:pPr>
            <a:r>
              <a:rPr lang="en-ZA" dirty="0"/>
              <a:t>Quantum computation consists of successive transformations of the qubit state. Geometrically, these transformations can be visualized as rotations of the vector. Mathematically, they are represented by multiplying the qubit state vector by the matrix corresponding to a quantum gate, producing a new quantum state.</a:t>
            </a:r>
          </a:p>
          <a:p>
            <a:pPr marL="228600" indent="-228600" algn="just">
              <a:buFont typeface="+mj-lt"/>
              <a:buAutoNum type="arabicPeriod"/>
            </a:pPr>
            <a:endParaRPr lang="en-US" sz="1200" dirty="0">
              <a:latin typeface="+mn-lt"/>
            </a:endParaRPr>
          </a:p>
        </p:txBody>
      </p:sp>
      <p:sp>
        <p:nvSpPr>
          <p:cNvPr id="4" name="Slide Number Placeholder 3"/>
          <p:cNvSpPr>
            <a:spLocks noGrp="1"/>
          </p:cNvSpPr>
          <p:nvPr>
            <p:ph type="sldNum" sz="quarter" idx="5"/>
          </p:nvPr>
        </p:nvSpPr>
        <p:spPr/>
        <p:txBody>
          <a:bodyPr/>
          <a:lstStyle/>
          <a:p>
            <a:fld id="{1B2CE5E3-B8BD-D040-AC87-D640191DD8F1}" type="slidenum">
              <a:rPr lang="en-US" smtClean="0"/>
              <a:t>2</a:t>
            </a:fld>
            <a:endParaRPr lang="en-US"/>
          </a:p>
        </p:txBody>
      </p:sp>
    </p:spTree>
    <p:extLst>
      <p:ext uri="{BB962C8B-B14F-4D97-AF65-F5344CB8AC3E}">
        <p14:creationId xmlns:p14="http://schemas.microsoft.com/office/powerpoint/2010/main" val="9937573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b="0" u="none" dirty="0"/>
                  <a:t>A matrix is a </a:t>
                </a:r>
                <a:r>
                  <a:rPr lang="en-ZA" u="none" dirty="0"/>
                  <a:t>is a rectangular array or table of numbers, symbols</a:t>
                </a:r>
                <a:r>
                  <a:rPr lang="en-ZA" b="0" u="none" dirty="0"/>
                  <a:t> or expressions organized into horizontal rows and vertical columns.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ZA" b="0" u="none" dirty="0"/>
              </a:p>
              <a:p>
                <a:r>
                  <a:rPr lang="en-ZA" b="0" dirty="0"/>
                  <a:t>Each element of a matrix is denoted as </a:t>
                </a:r>
                <a14:m>
                  <m:oMath xmlns:m="http://schemas.openxmlformats.org/officeDocument/2006/math">
                    <m:sSub>
                      <m:sSubPr>
                        <m:ctrlPr>
                          <a:rPr lang="en-US" sz="1200" b="0" i="1" smtClean="0">
                            <a:latin typeface="Cambria Math" panose="02040503050406030204" pitchFamily="18" charset="0"/>
                          </a:rPr>
                        </m:ctrlPr>
                      </m:sSubPr>
                      <m:e>
                        <m:r>
                          <a:rPr lang="en-US" sz="1200" b="1" i="1">
                            <a:latin typeface="Cambria Math" panose="02040503050406030204" pitchFamily="18" charset="0"/>
                          </a:rPr>
                          <m:t>𝒂</m:t>
                        </m:r>
                      </m:e>
                      <m:sub>
                        <m:r>
                          <a:rPr lang="en-US" sz="1200" b="1" i="1">
                            <a:latin typeface="Cambria Math" panose="02040503050406030204" pitchFamily="18" charset="0"/>
                          </a:rPr>
                          <m:t>𝒊𝒋</m:t>
                        </m:r>
                      </m:sub>
                    </m:sSub>
                  </m:oMath>
                </a14:m>
                <a:r>
                  <a:rPr lang="en-ZA" b="0" dirty="0"/>
                  <a:t>​, where:</a:t>
                </a:r>
              </a:p>
              <a:p>
                <a14:m>
                  <m:oMath xmlns:m="http://schemas.openxmlformats.org/officeDocument/2006/math">
                    <m:r>
                      <a:rPr lang="en-US" sz="1200" b="1" i="1" smtClean="0">
                        <a:latin typeface="Cambria Math" panose="02040503050406030204" pitchFamily="18" charset="0"/>
                      </a:rPr>
                      <m:t>𝒊</m:t>
                    </m:r>
                  </m:oMath>
                </a14:m>
                <a:r>
                  <a:rPr lang="en-ZA" b="0" dirty="0"/>
                  <a:t> represents the row number, and</a:t>
                </a:r>
              </a:p>
              <a:p>
                <a14:m>
                  <m:oMath xmlns:m="http://schemas.openxmlformats.org/officeDocument/2006/math">
                    <m:r>
                      <a:rPr lang="en-US" sz="1200" b="1" i="1" smtClean="0">
                        <a:latin typeface="Cambria Math" panose="02040503050406030204" pitchFamily="18" charset="0"/>
                      </a:rPr>
                      <m:t>𝒋</m:t>
                    </m:r>
                  </m:oMath>
                </a14:m>
                <a:r>
                  <a:rPr lang="en-ZA" b="0" dirty="0"/>
                  <a:t> represents the column number.</a:t>
                </a:r>
              </a:p>
              <a:p>
                <a:endParaRPr lang="en-ZA" b="0" dirty="0"/>
              </a:p>
              <a:p>
                <a:r>
                  <a:rPr lang="en-ZA" dirty="0"/>
                  <a:t>In quantum computing, three matrix shapes are particularly important:</a:t>
                </a:r>
              </a:p>
              <a:p>
                <a:endParaRPr lang="en-ZA" b="0" dirty="0"/>
              </a:p>
              <a:p>
                <a:pPr marL="171450" indent="-171450">
                  <a:buFont typeface="Arial" panose="020B0604020202020204" pitchFamily="34" charset="0"/>
                  <a:buChar char="•"/>
                </a:pPr>
                <a:r>
                  <a:rPr lang="en-ZA" dirty="0"/>
                  <a:t>A </a:t>
                </a:r>
                <a:r>
                  <a:rPr lang="en-ZA" b="1" dirty="0"/>
                  <a:t>row vector</a:t>
                </a:r>
                <a:r>
                  <a:rPr lang="en-ZA" dirty="0"/>
                  <a:t> is a matrix with one row.</a:t>
                </a:r>
              </a:p>
              <a:p>
                <a:pPr marL="171450" indent="-171450">
                  <a:buFont typeface="Arial" panose="020B0604020202020204" pitchFamily="34" charset="0"/>
                  <a:buChar char="•"/>
                </a:pPr>
                <a:r>
                  <a:rPr lang="en-ZA" dirty="0"/>
                  <a:t>A </a:t>
                </a:r>
                <a:r>
                  <a:rPr lang="en-ZA" b="1" dirty="0"/>
                  <a:t>column vector</a:t>
                </a:r>
                <a:r>
                  <a:rPr lang="en-ZA" dirty="0"/>
                  <a:t> is a matrix with one column.</a:t>
                </a:r>
              </a:p>
              <a:p>
                <a:pPr marL="171450" indent="-171450">
                  <a:buFont typeface="Arial" panose="020B0604020202020204" pitchFamily="34" charset="0"/>
                  <a:buChar char="•"/>
                </a:pPr>
                <a:r>
                  <a:rPr lang="en-ZA" dirty="0"/>
                  <a:t>A </a:t>
                </a:r>
                <a:r>
                  <a:rPr lang="en-ZA" b="1" dirty="0"/>
                  <a:t>square matrix</a:t>
                </a:r>
                <a:r>
                  <a:rPr lang="en-ZA" dirty="0"/>
                  <a:t> has the same number of rows and columns.</a:t>
                </a:r>
                <a:endParaRPr lang="en-ZA" b="0" dirty="0"/>
              </a:p>
              <a:p>
                <a:endParaRPr lang="en-ZA" b="0"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A matrix (plural: matrices) is a table of numbers, matrix elements, arranged in rows and columns.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A matrix dimension is given as </a:t>
                </a:r>
                <a:r>
                  <a:rPr lang="en-US" sz="2000" i="0">
                    <a:latin typeface="Cambria Math" panose="02040503050406030204" pitchFamily="18" charset="0"/>
                  </a:rPr>
                  <a:t>𝑚× 𝑛</a:t>
                </a:r>
                <a:r>
                  <a:rPr lang="en-US" sz="2000" dirty="0"/>
                  <a:t>, where </a:t>
                </a:r>
                <a:r>
                  <a:rPr lang="en-US" sz="2000" i="0">
                    <a:latin typeface="Cambria Math" panose="02040503050406030204" pitchFamily="18" charset="0"/>
                  </a:rPr>
                  <a:t>𝑚</a:t>
                </a:r>
                <a:r>
                  <a:rPr lang="en-US" sz="2000" dirty="0"/>
                  <a:t> is the number of rows and </a:t>
                </a:r>
                <a:r>
                  <a:rPr lang="en-US" sz="2000" i="0">
                    <a:latin typeface="Cambria Math" panose="02040503050406030204" pitchFamily="18" charset="0"/>
                  </a:rPr>
                  <a:t>𝑛</a:t>
                </a:r>
                <a:r>
                  <a:rPr lang="en-US" sz="2000" dirty="0"/>
                  <a:t> is the number of columns.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The main diagonal is list of elements </a:t>
                </a:r>
                <a:r>
                  <a:rPr lang="en-US" sz="2000" b="1" i="0">
                    <a:latin typeface="Cambria Math" panose="02040503050406030204" pitchFamily="18" charset="0"/>
                  </a:rPr>
                  <a:t>𝒂_𝒊𝒋</a:t>
                </a:r>
                <a:r>
                  <a:rPr lang="en-US" sz="2000" dirty="0"/>
                  <a:t> for which </a:t>
                </a:r>
                <a:r>
                  <a:rPr lang="en-US" sz="2000" dirty="0" err="1"/>
                  <a:t>i</a:t>
                </a:r>
                <a:r>
                  <a:rPr lang="en-US" sz="2000" dirty="0"/>
                  <a:t>=j.</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dirty="0"/>
              </a:p>
              <a:p>
                <a:endParaRPr lang="en-US" sz="2000"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3</a:t>
            </a:fld>
            <a:endParaRPr lang="en-US"/>
          </a:p>
        </p:txBody>
      </p:sp>
    </p:spTree>
    <p:extLst>
      <p:ext uri="{BB962C8B-B14F-4D97-AF65-F5344CB8AC3E}">
        <p14:creationId xmlns:p14="http://schemas.microsoft.com/office/powerpoint/2010/main" val="30268696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ZA" b="0" dirty="0"/>
                  <a:t>Addition and  Subtraction:</a:t>
                </a:r>
                <a:br>
                  <a:rPr lang="en-ZA" b="0" dirty="0"/>
                </a:br>
                <a:r>
                  <a:rPr lang="en-ZA" b="0" dirty="0"/>
                  <a:t>Two matrices are added or subtracted by performing element-wise operations on corresponding indices.</a:t>
                </a:r>
              </a:p>
              <a:p>
                <a:endParaRPr lang="en-ZA" b="0" dirty="0"/>
              </a:p>
              <a:p>
                <a:pPr marL="171450" indent="-171450">
                  <a:buFont typeface="Arial" panose="020B0604020202020204" pitchFamily="34" charset="0"/>
                  <a:buChar char="•"/>
                </a:pPr>
                <a:r>
                  <a:rPr lang="en-ZA" b="0" dirty="0"/>
                  <a:t>Scalar Multiplication:</a:t>
                </a:r>
                <a:br>
                  <a:rPr lang="en-ZA" b="0" dirty="0"/>
                </a:br>
                <a:r>
                  <a:rPr lang="en-ZA" b="0" dirty="0"/>
                  <a:t>A matrix is multiplied by a scalar by multiplying each element by the scalar.</a:t>
                </a:r>
              </a:p>
              <a:p>
                <a:endParaRPr lang="en-ZA" b="0" dirty="0"/>
              </a:p>
              <a:p>
                <a:pPr marL="171450" indent="-171450">
                  <a:buFont typeface="Arial" panose="020B0604020202020204" pitchFamily="34" charset="0"/>
                  <a:buChar char="•"/>
                </a:pPr>
                <a:r>
                  <a:rPr lang="en-ZA" b="0" dirty="0"/>
                  <a:t>Transpose:</a:t>
                </a:r>
                <a:br>
                  <a:rPr lang="en-ZA" b="0" dirty="0"/>
                </a:br>
                <a:r>
                  <a:rPr lang="en-ZA" b="0" dirty="0"/>
                  <a:t>The transpose of a matrix is obtained by swapping its rows and columns.</a:t>
                </a:r>
              </a:p>
              <a:p>
                <a:endParaRPr lang="en-ZA" b="0" dirty="0"/>
              </a:p>
              <a:p>
                <a:pPr marL="171450" indent="-171450">
                  <a:buFont typeface="Arial" panose="020B0604020202020204" pitchFamily="34" charset="0"/>
                  <a:buChar char="•"/>
                </a:pPr>
                <a:r>
                  <a:rPr lang="en-ZA" b="0" dirty="0"/>
                  <a:t>Conjugate Transpose:</a:t>
                </a:r>
                <a:br>
                  <a:rPr lang="en-ZA" b="0" dirty="0"/>
                </a:br>
                <a:r>
                  <a:rPr lang="en-ZA" b="0" dirty="0"/>
                  <a:t>The conjugate transpose of a matrix is found by taking the complex conjugate of each element and then transposing the matrix. Conjugate Transpose is denoted by a superscript dagger (†).</a:t>
                </a:r>
              </a:p>
            </p:txBody>
          </p:sp>
        </mc:Choice>
        <mc:Fallback xmlns="">
          <p:sp>
            <p:nvSpPr>
              <p:cNvPr id="3" name="Notes Placeholder 2"/>
              <p:cNvSpPr>
                <a:spLocks noGrp="1"/>
              </p:cNvSpPr>
              <p:nvPr>
                <p:ph type="body" idx="1"/>
              </p:nvPr>
            </p:nvSpPr>
            <p:spPr/>
            <p:txBody>
              <a:bodyPr/>
              <a:lstStyle/>
              <a:p>
                <a:r>
                  <a:rPr lang="en-US" sz="2000" dirty="0"/>
                  <a:t>Basic operations with matrices are shown on the slide.</a:t>
                </a:r>
              </a:p>
              <a:p>
                <a:r>
                  <a:rPr lang="en-US" sz="2000" b="1" kern="1200" dirty="0">
                    <a:effectLst/>
                  </a:rPr>
                  <a:t>Addition/subtraction: </a:t>
                </a:r>
                <a:r>
                  <a:rPr lang="en-US" sz="2000" kern="1200" dirty="0">
                    <a:effectLst/>
                  </a:rPr>
                  <a:t>Add/subtract numbers across corresponding matrix positions.</a:t>
                </a:r>
              </a:p>
              <a:p>
                <a:r>
                  <a:rPr lang="en-US" sz="2000" b="1" kern="1200" dirty="0">
                    <a:solidFill>
                      <a:schemeClr val="tx1"/>
                    </a:solidFill>
                    <a:effectLst/>
                    <a:latin typeface="+mn-lt"/>
                    <a:ea typeface="+mn-ea"/>
                    <a:cs typeface="+mn-cs"/>
                  </a:rPr>
                  <a:t>Scalar multiplication: </a:t>
                </a:r>
                <a:r>
                  <a:rPr lang="en-US" sz="2000" kern="1200" dirty="0">
                    <a:solidFill>
                      <a:schemeClr val="tx1"/>
                    </a:solidFill>
                    <a:effectLst/>
                    <a:latin typeface="+mn-lt"/>
                    <a:ea typeface="+mn-ea"/>
                    <a:cs typeface="+mn-cs"/>
                  </a:rPr>
                  <a:t>Multiply each matrix element by a scalar</a:t>
                </a:r>
                <a:r>
                  <a:rPr lang="en-US" sz="2000" dirty="0">
                    <a:effectLst/>
                  </a:rPr>
                  <a:t> </a:t>
                </a:r>
                <a:endParaRPr lang="en-US" sz="2000" dirty="0"/>
              </a:p>
              <a:p>
                <a:r>
                  <a:rPr lang="en-US" sz="2000" b="1" kern="1200" dirty="0">
                    <a:solidFill>
                      <a:schemeClr val="tx1"/>
                    </a:solidFill>
                    <a:effectLst/>
                    <a:latin typeface="+mn-lt"/>
                    <a:ea typeface="+mn-ea"/>
                    <a:cs typeface="+mn-cs"/>
                  </a:rPr>
                  <a:t>Transposition</a:t>
                </a:r>
                <a:r>
                  <a:rPr lang="en-US" sz="2000" dirty="0">
                    <a:effectLst/>
                  </a:rPr>
                  <a:t> </a:t>
                </a:r>
                <a:r>
                  <a:rPr lang="en-US" sz="2000" baseline="0" dirty="0">
                    <a:effectLst/>
                  </a:rPr>
                  <a:t> </a:t>
                </a:r>
                <a:r>
                  <a:rPr lang="en-US" sz="2000" kern="1200" dirty="0">
                    <a:solidFill>
                      <a:schemeClr val="tx1"/>
                    </a:solidFill>
                    <a:effectLst/>
                    <a:latin typeface="+mn-lt"/>
                    <a:ea typeface="+mn-ea"/>
                    <a:cs typeface="+mn-cs"/>
                  </a:rPr>
                  <a:t>Transposition is denoted by the superscript </a:t>
                </a:r>
                <a:r>
                  <a:rPr lang="en-US" sz="2000" i="0" kern="1200">
                    <a:solidFill>
                      <a:schemeClr val="tx1"/>
                    </a:solidFill>
                    <a:effectLst/>
                    <a:latin typeface="Cambria Math" panose="02040503050406030204" pitchFamily="18" charset="0"/>
                    <a:ea typeface="+mn-ea"/>
                    <a:cs typeface="+mn-cs"/>
                  </a:rPr>
                  <a:t>𝑇</a:t>
                </a:r>
                <a:r>
                  <a:rPr lang="en-US" sz="2000" kern="1200" dirty="0">
                    <a:solidFill>
                      <a:schemeClr val="tx1"/>
                    </a:solidFill>
                    <a:effectLst/>
                    <a:latin typeface="+mn-lt"/>
                    <a:ea typeface="+mn-ea"/>
                    <a:cs typeface="+mn-cs"/>
                  </a:rPr>
                  <a:t> and swaps rows and columns.</a:t>
                </a:r>
                <a:r>
                  <a:rPr lang="en-US" sz="2000" dirty="0">
                    <a:effectLst/>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kern="1200" dirty="0">
                    <a:solidFill>
                      <a:schemeClr val="tx1"/>
                    </a:solidFill>
                    <a:effectLst/>
                    <a:latin typeface="+mn-lt"/>
                    <a:ea typeface="+mn-ea"/>
                    <a:cs typeface="+mn-cs"/>
                  </a:rPr>
                  <a:t>Conjugate transpose (adjoint)  </a:t>
                </a:r>
                <a:r>
                  <a:rPr lang="en-US" sz="2000" b="0" kern="1200" dirty="0">
                    <a:solidFill>
                      <a:schemeClr val="tx1"/>
                    </a:solidFill>
                    <a:effectLst/>
                    <a:latin typeface="+mn-lt"/>
                    <a:ea typeface="+mn-ea"/>
                    <a:cs typeface="+mn-cs"/>
                  </a:rPr>
                  <a:t>matrix is obtained by finding conjugate of all matrix elements and then transposing the matrix. The matrix is Hermitian matrix if it </a:t>
                </a:r>
                <a:r>
                  <a:rPr lang="en-US" sz="2000" kern="1200" dirty="0">
                    <a:solidFill>
                      <a:schemeClr val="tx1"/>
                    </a:solidFill>
                    <a:effectLst/>
                    <a:latin typeface="+mn-lt"/>
                    <a:ea typeface="+mn-ea"/>
                    <a:cs typeface="+mn-cs"/>
                  </a:rPr>
                  <a:t>is equal to its own conjugate transpose.</a:t>
                </a:r>
                <a:r>
                  <a:rPr lang="en-US" sz="2000" dirty="0">
                    <a:effectLst/>
                  </a:rPr>
                  <a:t> </a:t>
                </a:r>
                <a:endParaRPr lang="en-US" sz="2000" b="0" dirty="0"/>
              </a:p>
              <a:p>
                <a:endParaRPr lang="en-US" sz="2000"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4</a:t>
            </a:fld>
            <a:endParaRPr lang="en-US"/>
          </a:p>
        </p:txBody>
      </p:sp>
    </p:spTree>
    <p:extLst>
      <p:ext uri="{BB962C8B-B14F-4D97-AF65-F5344CB8AC3E}">
        <p14:creationId xmlns:p14="http://schemas.microsoft.com/office/powerpoint/2010/main" val="36879106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ZA" dirty="0"/>
                  <a:t>Matrices can be multiplied only if the number of columns in the left matrix equals the number of rows in the right matrix.</a:t>
                </a:r>
              </a:p>
              <a:p>
                <a:pPr marL="171450" indent="-171450">
                  <a:buFont typeface="Arial" panose="020B0604020202020204" pitchFamily="34" charset="0"/>
                  <a:buChar char="•"/>
                </a:pPr>
                <a:endParaRPr lang="en-ZA" b="0"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ZA" dirty="0"/>
                  <a:t>Matrix multiplication is performed </a:t>
                </a:r>
                <a:r>
                  <a:rPr lang="en-ZA" b="1" dirty="0"/>
                  <a:t>row by column</a:t>
                </a:r>
                <a:r>
                  <a:rPr lang="en-ZA" dirty="0"/>
                  <a:t>. </a:t>
                </a:r>
                <a:r>
                  <a:rPr lang="en-ZA" sz="1200" dirty="0"/>
                  <a:t>Each element </a:t>
                </a:r>
                <a14:m>
                  <m:oMath xmlns:m="http://schemas.openxmlformats.org/officeDocument/2006/math">
                    <m:sSub>
                      <m:sSubPr>
                        <m:ctrlPr>
                          <a:rPr lang="en-US" sz="1200" i="1">
                            <a:latin typeface="Cambria Math" panose="02040503050406030204" pitchFamily="18" charset="0"/>
                          </a:rPr>
                        </m:ctrlPr>
                      </m:sSubPr>
                      <m:e>
                        <m:r>
                          <a:rPr lang="en-US" sz="1200" i="1">
                            <a:latin typeface="Cambria Math" panose="02040503050406030204" pitchFamily="18" charset="0"/>
                          </a:rPr>
                          <m:t>𝑐</m:t>
                        </m:r>
                      </m:e>
                      <m:sub>
                        <m:r>
                          <a:rPr lang="en-US" sz="1200" i="1">
                            <a:latin typeface="Cambria Math" panose="02040503050406030204" pitchFamily="18" charset="0"/>
                          </a:rPr>
                          <m:t>𝑖𝑗</m:t>
                        </m:r>
                      </m:sub>
                    </m:sSub>
                  </m:oMath>
                </a14:m>
                <a:r>
                  <a:rPr lang="en-ZA" sz="1200" dirty="0"/>
                  <a:t> is obtained by multiplying the corresponding elements of </a:t>
                </a:r>
                <a:r>
                  <a:rPr lang="en-ZA" sz="1200" b="1" dirty="0"/>
                  <a:t>row </a:t>
                </a:r>
                <a14:m>
                  <m:oMath xmlns:m="http://schemas.openxmlformats.org/officeDocument/2006/math">
                    <m:r>
                      <a:rPr lang="en-US" sz="1200" i="1">
                        <a:latin typeface="Cambria Math" panose="02040503050406030204" pitchFamily="18" charset="0"/>
                      </a:rPr>
                      <m:t>𝑖</m:t>
                    </m:r>
                  </m:oMath>
                </a14:m>
                <a:r>
                  <a:rPr lang="en-ZA" sz="1200" dirty="0"/>
                  <a:t> of the first matrix and </a:t>
                </a:r>
                <a:r>
                  <a:rPr lang="en-ZA" sz="1200" b="1" dirty="0"/>
                  <a:t>column </a:t>
                </a:r>
                <a14:m>
                  <m:oMath xmlns:m="http://schemas.openxmlformats.org/officeDocument/2006/math">
                    <m:r>
                      <a:rPr lang="en-US" sz="1200" b="0" i="1" smtClean="0">
                        <a:latin typeface="Cambria Math" panose="02040503050406030204" pitchFamily="18" charset="0"/>
                      </a:rPr>
                      <m:t>𝑗</m:t>
                    </m:r>
                  </m:oMath>
                </a14:m>
                <a:r>
                  <a:rPr lang="en-ZA" sz="1200" dirty="0"/>
                  <a:t> of the second matrix, and then summing the products:</a:t>
                </a:r>
              </a:p>
              <a:p>
                <a:pPr marL="171450" indent="-171450">
                  <a:buFont typeface="Arial" panose="020B0604020202020204" pitchFamily="34" charset="0"/>
                  <a:buChar char="•"/>
                </a:pPr>
                <a:endParaRPr lang="en-ZA" dirty="0"/>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m>
                        <m:mPr>
                          <m:mcs>
                            <m:mc>
                              <m:mcPr>
                                <m:count m:val="1"/>
                                <m:mcJc m:val="center"/>
                              </m:mcPr>
                            </m:mc>
                          </m:mcs>
                          <m:ctrlPr>
                            <a:rPr lang="en-US" sz="1200" i="1" smtClean="0">
                              <a:latin typeface="Cambria Math" panose="02040503050406030204" pitchFamily="18" charset="0"/>
                            </a:rPr>
                          </m:ctrlPr>
                        </m:mPr>
                        <m:mr>
                          <m:e>
                            <m:sSub>
                              <m:sSubPr>
                                <m:ctrlPr>
                                  <a:rPr lang="en-US" sz="1200" i="1">
                                    <a:latin typeface="Cambria Math" panose="02040503050406030204" pitchFamily="18" charset="0"/>
                                  </a:rPr>
                                </m:ctrlPr>
                              </m:sSubPr>
                              <m:e>
                                <m:r>
                                  <a:rPr lang="en-US" sz="1200" b="0" i="1">
                                    <a:latin typeface="Cambria Math" panose="02040503050406030204" pitchFamily="18" charset="0"/>
                                  </a:rPr>
                                  <m:t>𝑐</m:t>
                                </m:r>
                              </m:e>
                              <m:sub>
                                <m:r>
                                  <a:rPr lang="en-US" sz="1200" b="0" i="1">
                                    <a:latin typeface="Cambria Math" panose="02040503050406030204" pitchFamily="18" charset="0"/>
                                  </a:rPr>
                                  <m:t>𝑖𝑗</m:t>
                                </m:r>
                              </m:sub>
                            </m:sSub>
                            <m:r>
                              <a:rPr lang="en-US" sz="1200" b="0" i="1">
                                <a:latin typeface="Cambria Math" panose="02040503050406030204" pitchFamily="18" charset="0"/>
                              </a:rPr>
                              <m:t>=</m:t>
                            </m:r>
                            <m:sSub>
                              <m:sSubPr>
                                <m:ctrlPr>
                                  <a:rPr lang="en-US" sz="1200" i="1">
                                    <a:latin typeface="Cambria Math" panose="02040503050406030204" pitchFamily="18" charset="0"/>
                                  </a:rPr>
                                </m:ctrlPr>
                              </m:sSubPr>
                              <m:e>
                                <m:r>
                                  <a:rPr lang="en-US" sz="1200" b="0" i="1">
                                    <a:latin typeface="Cambria Math" panose="02040503050406030204" pitchFamily="18" charset="0"/>
                                  </a:rPr>
                                  <m:t>𝑎</m:t>
                                </m:r>
                              </m:e>
                              <m:sub>
                                <m:r>
                                  <a:rPr lang="en-US" sz="1200" b="0" i="1">
                                    <a:latin typeface="Cambria Math" panose="02040503050406030204" pitchFamily="18" charset="0"/>
                                  </a:rPr>
                                  <m:t>𝑖</m:t>
                                </m:r>
                                <m:r>
                                  <a:rPr lang="en-US" sz="1200" b="0" i="1">
                                    <a:latin typeface="Cambria Math" panose="02040503050406030204" pitchFamily="18" charset="0"/>
                                  </a:rPr>
                                  <m:t>1</m:t>
                                </m:r>
                              </m:sub>
                            </m:sSub>
                            <m:sSub>
                              <m:sSubPr>
                                <m:ctrlPr>
                                  <a:rPr lang="en-US" sz="1200" i="1">
                                    <a:latin typeface="Cambria Math" panose="02040503050406030204" pitchFamily="18" charset="0"/>
                                  </a:rPr>
                                </m:ctrlPr>
                              </m:sSubPr>
                              <m:e>
                                <m:r>
                                  <a:rPr lang="en-US" sz="1200" b="0" i="1">
                                    <a:latin typeface="Cambria Math" panose="02040503050406030204" pitchFamily="18" charset="0"/>
                                  </a:rPr>
                                  <m:t>𝑏</m:t>
                                </m:r>
                              </m:e>
                              <m:sub>
                                <m:r>
                                  <a:rPr lang="en-US" sz="1200" b="0" i="1">
                                    <a:latin typeface="Cambria Math" panose="02040503050406030204" pitchFamily="18" charset="0"/>
                                  </a:rPr>
                                  <m:t>1</m:t>
                                </m:r>
                                <m:r>
                                  <a:rPr lang="en-US" sz="1200" b="0" i="1">
                                    <a:latin typeface="Cambria Math" panose="02040503050406030204" pitchFamily="18" charset="0"/>
                                  </a:rPr>
                                  <m:t>𝑗</m:t>
                                </m:r>
                              </m:sub>
                            </m:sSub>
                            <m:r>
                              <a:rPr lang="en-US" sz="1200" b="0" i="1">
                                <a:latin typeface="Cambria Math" panose="02040503050406030204" pitchFamily="18" charset="0"/>
                              </a:rPr>
                              <m:t>+</m:t>
                            </m:r>
                            <m:sSub>
                              <m:sSubPr>
                                <m:ctrlPr>
                                  <a:rPr lang="en-US" sz="1200" i="1">
                                    <a:latin typeface="Cambria Math" panose="02040503050406030204" pitchFamily="18" charset="0"/>
                                  </a:rPr>
                                </m:ctrlPr>
                              </m:sSubPr>
                              <m:e>
                                <m:r>
                                  <a:rPr lang="en-US" sz="1200" b="0" i="1">
                                    <a:latin typeface="Cambria Math" panose="02040503050406030204" pitchFamily="18" charset="0"/>
                                  </a:rPr>
                                  <m:t>𝑎</m:t>
                                </m:r>
                              </m:e>
                              <m:sub>
                                <m:r>
                                  <a:rPr lang="en-US" sz="1200" b="0" i="1">
                                    <a:latin typeface="Cambria Math" panose="02040503050406030204" pitchFamily="18" charset="0"/>
                                  </a:rPr>
                                  <m:t>𝑖</m:t>
                                </m:r>
                                <m:r>
                                  <a:rPr lang="en-US" sz="1200" b="0" i="1">
                                    <a:latin typeface="Cambria Math" panose="02040503050406030204" pitchFamily="18" charset="0"/>
                                  </a:rPr>
                                  <m:t>2</m:t>
                                </m:r>
                              </m:sub>
                            </m:sSub>
                            <m:sSub>
                              <m:sSubPr>
                                <m:ctrlPr>
                                  <a:rPr lang="en-US" sz="1200" i="1">
                                    <a:latin typeface="Cambria Math" panose="02040503050406030204" pitchFamily="18" charset="0"/>
                                  </a:rPr>
                                </m:ctrlPr>
                              </m:sSubPr>
                              <m:e>
                                <m:r>
                                  <a:rPr lang="en-US" sz="1200" b="0" i="1">
                                    <a:latin typeface="Cambria Math" panose="02040503050406030204" pitchFamily="18" charset="0"/>
                                  </a:rPr>
                                  <m:t>𝑏</m:t>
                                </m:r>
                              </m:e>
                              <m:sub>
                                <m:r>
                                  <a:rPr lang="en-US" sz="1200" b="0" i="1">
                                    <a:latin typeface="Cambria Math" panose="02040503050406030204" pitchFamily="18" charset="0"/>
                                  </a:rPr>
                                  <m:t>2</m:t>
                                </m:r>
                                <m:r>
                                  <a:rPr lang="en-US" sz="1200" b="0" i="1">
                                    <a:latin typeface="Cambria Math" panose="02040503050406030204" pitchFamily="18" charset="0"/>
                                  </a:rPr>
                                  <m:t>𝑗</m:t>
                                </m:r>
                              </m:sub>
                            </m:sSub>
                            <m:r>
                              <a:rPr lang="en-US" sz="1200" b="0" i="1">
                                <a:latin typeface="Cambria Math" panose="02040503050406030204" pitchFamily="18" charset="0"/>
                              </a:rPr>
                              <m:t>+⋯+</m:t>
                            </m:r>
                            <m:sSub>
                              <m:sSubPr>
                                <m:ctrlPr>
                                  <a:rPr lang="en-US" sz="1200" i="1">
                                    <a:latin typeface="Cambria Math" panose="02040503050406030204" pitchFamily="18" charset="0"/>
                                  </a:rPr>
                                </m:ctrlPr>
                              </m:sSubPr>
                              <m:e>
                                <m:r>
                                  <a:rPr lang="en-US" sz="1200" b="0" i="1">
                                    <a:latin typeface="Cambria Math" panose="02040503050406030204" pitchFamily="18" charset="0"/>
                                  </a:rPr>
                                  <m:t>𝑎</m:t>
                                </m:r>
                              </m:e>
                              <m:sub>
                                <m:r>
                                  <a:rPr lang="en-US" sz="1200" b="0" i="1">
                                    <a:latin typeface="Cambria Math" panose="02040503050406030204" pitchFamily="18" charset="0"/>
                                  </a:rPr>
                                  <m:t>𝑖𝑛</m:t>
                                </m:r>
                              </m:sub>
                            </m:sSub>
                            <m:sSub>
                              <m:sSubPr>
                                <m:ctrlPr>
                                  <a:rPr lang="en-US" sz="1200" i="1">
                                    <a:latin typeface="Cambria Math" panose="02040503050406030204" pitchFamily="18" charset="0"/>
                                  </a:rPr>
                                </m:ctrlPr>
                              </m:sSubPr>
                              <m:e>
                                <m:r>
                                  <a:rPr lang="en-US" sz="1200" b="0" i="1">
                                    <a:latin typeface="Cambria Math" panose="02040503050406030204" pitchFamily="18" charset="0"/>
                                  </a:rPr>
                                  <m:t>𝑏</m:t>
                                </m:r>
                              </m:e>
                              <m:sub>
                                <m:r>
                                  <a:rPr lang="en-US" sz="1200" b="0" i="1">
                                    <a:latin typeface="Cambria Math" panose="02040503050406030204" pitchFamily="18" charset="0"/>
                                  </a:rPr>
                                  <m:t>𝑛𝑗</m:t>
                                </m:r>
                              </m:sub>
                            </m:sSub>
                            <m:r>
                              <a:rPr lang="en-US" sz="1200" b="0" i="1">
                                <a:latin typeface="Cambria Math" panose="02040503050406030204" pitchFamily="18" charset="0"/>
                              </a:rPr>
                              <m:t>=</m:t>
                            </m:r>
                            <m:nary>
                              <m:naryPr>
                                <m:chr m:val="∑"/>
                                <m:limLoc m:val="undOvr"/>
                                <m:ctrlPr>
                                  <a:rPr lang="en-US" sz="1200" i="1">
                                    <a:latin typeface="Cambria Math" panose="02040503050406030204" pitchFamily="18" charset="0"/>
                                  </a:rPr>
                                </m:ctrlPr>
                              </m:naryPr>
                              <m:sub>
                                <m:r>
                                  <a:rPr lang="en-US" sz="1200" b="0" i="1">
                                    <a:latin typeface="Cambria Math" panose="02040503050406030204" pitchFamily="18" charset="0"/>
                                  </a:rPr>
                                  <m:t>𝑘</m:t>
                                </m:r>
                                <m:r>
                                  <a:rPr lang="en-US" sz="1200" b="0" i="1">
                                    <a:latin typeface="Cambria Math" panose="02040503050406030204" pitchFamily="18" charset="0"/>
                                  </a:rPr>
                                  <m:t>=1</m:t>
                                </m:r>
                              </m:sub>
                              <m:sup>
                                <m:r>
                                  <a:rPr lang="en-US" sz="1200" b="0" i="1">
                                    <a:latin typeface="Cambria Math" panose="02040503050406030204" pitchFamily="18" charset="0"/>
                                  </a:rPr>
                                  <m:t>𝑛</m:t>
                                </m:r>
                              </m:sup>
                              <m:e>
                                <m:sSub>
                                  <m:sSubPr>
                                    <m:ctrlPr>
                                      <a:rPr lang="en-US" sz="1200" i="1">
                                        <a:latin typeface="Cambria Math" panose="02040503050406030204" pitchFamily="18" charset="0"/>
                                      </a:rPr>
                                    </m:ctrlPr>
                                  </m:sSubPr>
                                  <m:e>
                                    <m:r>
                                      <a:rPr lang="en-US" sz="1200" b="0" i="1">
                                        <a:latin typeface="Cambria Math" panose="02040503050406030204" pitchFamily="18" charset="0"/>
                                      </a:rPr>
                                      <m:t>𝑎</m:t>
                                    </m:r>
                                  </m:e>
                                  <m:sub>
                                    <m:r>
                                      <a:rPr lang="en-US" sz="1200" b="0" i="1">
                                        <a:latin typeface="Cambria Math" panose="02040503050406030204" pitchFamily="18" charset="0"/>
                                      </a:rPr>
                                      <m:t>𝑖𝑘</m:t>
                                    </m:r>
                                  </m:sub>
                                </m:sSub>
                                <m:sSub>
                                  <m:sSubPr>
                                    <m:ctrlPr>
                                      <a:rPr lang="en-US" sz="1200" i="1">
                                        <a:latin typeface="Cambria Math" panose="02040503050406030204" pitchFamily="18" charset="0"/>
                                      </a:rPr>
                                    </m:ctrlPr>
                                  </m:sSubPr>
                                  <m:e>
                                    <m:r>
                                      <a:rPr lang="en-US" sz="1200" b="0" i="1">
                                        <a:latin typeface="Cambria Math" panose="02040503050406030204" pitchFamily="18" charset="0"/>
                                      </a:rPr>
                                      <m:t>𝑏</m:t>
                                    </m:r>
                                  </m:e>
                                  <m:sub>
                                    <m:r>
                                      <a:rPr lang="en-US" sz="1200" b="0" i="1">
                                        <a:latin typeface="Cambria Math" panose="02040503050406030204" pitchFamily="18" charset="0"/>
                                      </a:rPr>
                                      <m:t>𝑘𝑗</m:t>
                                    </m:r>
                                  </m:sub>
                                </m:sSub>
                              </m:e>
                            </m:nary>
                          </m:e>
                        </m:mr>
                      </m:m>
                    </m:oMath>
                  </m:oMathPara>
                </a14:m>
                <a:endParaRPr lang="en-US" sz="1200" b="0" dirty="0"/>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ZA" b="0" dirty="0"/>
              </a:p>
              <a:p>
                <a:pPr marL="171450" indent="-171450">
                  <a:buFont typeface="Arial" panose="020B0604020202020204" pitchFamily="34" charset="0"/>
                  <a:buChar char="•"/>
                </a:pPr>
                <a:r>
                  <a:rPr lang="en-ZA" dirty="0"/>
                  <a:t>This process is repeated for </a:t>
                </a:r>
                <a:r>
                  <a:rPr lang="en-ZA" b="1" dirty="0"/>
                  <a:t>each row and column combination</a:t>
                </a:r>
                <a:r>
                  <a:rPr lang="en-ZA" dirty="0"/>
                  <a:t> to obtain all elements of the resulting matrix.</a:t>
                </a:r>
                <a:endParaRPr lang="en-ZA" b="0" dirty="0"/>
              </a:p>
            </p:txBody>
          </p:sp>
        </mc:Choice>
        <mc:Fallback xmlns="">
          <p:sp>
            <p:nvSpPr>
              <p:cNvPr id="3" name="Notes Placeholder 2"/>
              <p:cNvSpPr>
                <a:spLocks noGrp="1"/>
              </p:cNvSpPr>
              <p:nvPr>
                <p:ph type="body" idx="1"/>
              </p:nvPr>
            </p:nvSpPr>
            <p:spPr/>
            <p:txBody>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dirty="0"/>
                  <a:t>A matrix can be multiplied by any other matrix that has the same number of rows as the first has columns. </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dirty="0"/>
                  <a:t>Every element of the </a:t>
                </a:r>
                <a:r>
                  <a:rPr lang="en-US" sz="2000" dirty="0" err="1"/>
                  <a:t>i-th</a:t>
                </a:r>
                <a:r>
                  <a:rPr lang="en-US" sz="2000" dirty="0"/>
                  <a:t> row of matrix A is multiplied by every element of j-</a:t>
                </a:r>
                <a:r>
                  <a:rPr lang="en-US" sz="2000" dirty="0" err="1"/>
                  <a:t>th</a:t>
                </a:r>
                <a:r>
                  <a:rPr lang="en-US" sz="2000" dirty="0"/>
                  <a:t> column of matrix B and products summed up. This gives the </a:t>
                </a:r>
                <a:r>
                  <a:rPr lang="en-US" sz="2000" i="0">
                    <a:latin typeface="Cambria Math" panose="02040503050406030204" pitchFamily="18" charset="0"/>
                  </a:rPr>
                  <a:t>𝑐_𝑖𝑗</a:t>
                </a:r>
                <a:r>
                  <a:rPr lang="en-US" sz="2000" dirty="0"/>
                  <a:t>-</a:t>
                </a:r>
                <a:r>
                  <a:rPr lang="en-US" sz="2000" dirty="0" err="1"/>
                  <a:t>th</a:t>
                </a:r>
                <a:r>
                  <a:rPr lang="en-US" sz="2000" dirty="0"/>
                  <a:t>  element of the new matrix.</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dirty="0"/>
                  <a:t>To get all the elements of matrix </a:t>
                </a:r>
                <a:r>
                  <a:rPr lang="en-US" sz="2000" i="0">
                    <a:latin typeface="Cambria Math" panose="02040503050406030204" pitchFamily="18" charset="0"/>
                  </a:rPr>
                  <a:t>𝐶</a:t>
                </a:r>
                <a:r>
                  <a:rPr lang="en-US" sz="2000" b="0" i="0">
                    <a:latin typeface="Cambria Math" panose="02040503050406030204" pitchFamily="18" charset="0"/>
                  </a:rPr>
                  <a:t> this o</a:t>
                </a:r>
                <a:r>
                  <a:rPr lang="en-US" sz="2000" dirty="0"/>
                  <a:t>peration is </a:t>
                </a:r>
                <a:r>
                  <a:rPr lang="en-US" sz="2000" dirty="0" err="1"/>
                  <a:t>repeatd</a:t>
                </a:r>
                <a:r>
                  <a:rPr lang="en-US" sz="2000" dirty="0"/>
                  <a:t> for every row of matrix </a:t>
                </a:r>
                <a:r>
                  <a:rPr lang="en-US" sz="2000" i="0">
                    <a:latin typeface="Cambria Math" panose="02040503050406030204" pitchFamily="18" charset="0"/>
                  </a:rPr>
                  <a:t>𝐴</a:t>
                </a:r>
                <a:r>
                  <a:rPr lang="en-US" sz="2000" dirty="0"/>
                  <a:t> and every column of matrix </a:t>
                </a:r>
                <a:r>
                  <a:rPr lang="en-US" sz="2000" i="0">
                    <a:latin typeface="Cambria Math" panose="02040503050406030204" pitchFamily="18" charset="0"/>
                  </a:rPr>
                  <a:t>𝐵</a:t>
                </a:r>
                <a:endParaRPr lang="en-US" sz="2000" dirty="0"/>
              </a:p>
              <a:p>
                <a:pPr marL="342900" indent="-342900">
                  <a:buFont typeface="Arial" panose="020B0604020202020204" pitchFamily="34" charset="0"/>
                  <a:buChar char="•"/>
                </a:pPr>
                <a:endParaRPr lang="en-US" sz="2000"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5</a:t>
            </a:fld>
            <a:endParaRPr lang="en-US"/>
          </a:p>
        </p:txBody>
      </p:sp>
    </p:spTree>
    <p:extLst>
      <p:ext uri="{BB962C8B-B14F-4D97-AF65-F5344CB8AC3E}">
        <p14:creationId xmlns:p14="http://schemas.microsoft.com/office/powerpoint/2010/main" val="6318251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b="0" dirty="0"/>
              <a:t>The most important matrix groups used in quantum computing are identity, orthogonal, Hermitian, and unitary matrices.</a:t>
            </a:r>
          </a:p>
          <a:p>
            <a:pPr algn="just"/>
            <a:endParaRPr lang="en-ZA" b="0" dirty="0"/>
          </a:p>
          <a:p>
            <a:pPr marL="171450" indent="-171450" algn="just">
              <a:buFont typeface="Arial" panose="020B0604020202020204" pitchFamily="34" charset="0"/>
              <a:buChar char="•"/>
            </a:pPr>
            <a:r>
              <a:rPr lang="en-ZA" b="0" dirty="0"/>
              <a:t>Identity Matrix: A square matrix with ones on the main diagonal and zeros elsewhere. It acts as the equivalent of a </a:t>
            </a:r>
            <a:r>
              <a:rPr lang="en-ZA" b="0" i="1" dirty="0"/>
              <a:t>no-operation (NOP)</a:t>
            </a:r>
            <a:r>
              <a:rPr lang="en-ZA" b="0" dirty="0"/>
              <a:t> instruction in classical computing. </a:t>
            </a:r>
            <a:r>
              <a:rPr lang="en-ZA" dirty="0"/>
              <a:t>The identity matrix is useful because multiplying by it doesn’t change the result, but it can help organize and set up matrix transformations.</a:t>
            </a:r>
            <a:endParaRPr lang="en-ZA" b="0" dirty="0"/>
          </a:p>
          <a:p>
            <a:pPr marL="171450" indent="-171450" algn="just">
              <a:buFont typeface="Arial" panose="020B0604020202020204" pitchFamily="34" charset="0"/>
              <a:buChar char="•"/>
            </a:pPr>
            <a:endParaRPr lang="en-ZA" b="0" dirty="0"/>
          </a:p>
          <a:p>
            <a:pPr marL="171450" indent="-171450" algn="just">
              <a:buFont typeface="Arial" panose="020B0604020202020204" pitchFamily="34" charset="0"/>
              <a:buChar char="•"/>
            </a:pPr>
            <a:r>
              <a:rPr lang="en-ZA" b="0" dirty="0"/>
              <a:t>Orthogonal Matrix: </a:t>
            </a:r>
            <a:r>
              <a:rPr lang="en-ZA" dirty="0"/>
              <a:t>An orthogonal matrix is a real square matrix whose transpose, when multiplied by the original, gives the identity matrix. Multiplying a vector by an orthogonal matrix can change its orientation but keeps its size the same. Multiplying it afterward by the matrix’s transpose brings the vector back to its original position. This shows that such transformations are reversible, which is an important property of quantum computing operations.</a:t>
            </a:r>
            <a:endParaRPr lang="en-ZA" b="0" dirty="0"/>
          </a:p>
          <a:p>
            <a:pPr marL="171450" indent="-171450" algn="just">
              <a:buFont typeface="Arial" panose="020B0604020202020204" pitchFamily="34" charset="0"/>
              <a:buChar char="•"/>
            </a:pPr>
            <a:endParaRPr lang="en-ZA" b="0" dirty="0"/>
          </a:p>
          <a:p>
            <a:pPr marL="171450" indent="-171450" algn="just">
              <a:buFont typeface="Arial" panose="020B0604020202020204" pitchFamily="34" charset="0"/>
              <a:buChar char="•"/>
            </a:pPr>
            <a:r>
              <a:rPr lang="en-ZA" b="0" dirty="0"/>
              <a:t>Hermitian Matrix: A square matrix that is equal to its conjugate transpose. Its diagonal elements are always real numbers, while the elements above the diagonal are complex conjugates of those below. </a:t>
            </a:r>
          </a:p>
          <a:p>
            <a:pPr marL="171450" indent="-171450" algn="just">
              <a:buFont typeface="Arial" panose="020B0604020202020204" pitchFamily="34" charset="0"/>
              <a:buChar char="•"/>
            </a:pPr>
            <a:endParaRPr lang="en-ZA" b="0" dirty="0"/>
          </a:p>
          <a:p>
            <a:pPr marL="171450" indent="-171450" algn="just">
              <a:buFont typeface="Arial" panose="020B0604020202020204" pitchFamily="34" charset="0"/>
              <a:buChar char="•"/>
            </a:pPr>
            <a:r>
              <a:rPr lang="en-ZA" b="0" dirty="0"/>
              <a:t>Unitary Matrix: </a:t>
            </a:r>
            <a:r>
              <a:rPr lang="en-ZA" dirty="0"/>
              <a:t>A unitary matrix is </a:t>
            </a:r>
            <a:r>
              <a:rPr lang="en-ZA"/>
              <a:t>a complex square </a:t>
            </a:r>
            <a:r>
              <a:rPr lang="en-ZA" dirty="0"/>
              <a:t>matrix whose </a:t>
            </a:r>
            <a:r>
              <a:rPr lang="en-ZA" b="0" dirty="0"/>
              <a:t>conjugate </a:t>
            </a:r>
            <a:r>
              <a:rPr lang="en-ZA" dirty="0"/>
              <a:t>transpose, when multiplied by the original, gives the identity matrix. </a:t>
            </a:r>
            <a:r>
              <a:rPr lang="en-ZA" b="0" dirty="0"/>
              <a:t>Unitary matrices can be seen as the complex extension of orthogonal matrices. While orthogonal matrices describe transformations in real space, u</a:t>
            </a:r>
            <a:r>
              <a:rPr lang="en-ZA" dirty="0"/>
              <a:t>nitary matrices describe transformations in complex space, making them fundamental tools for qubit transformations.</a:t>
            </a:r>
            <a:endParaRPr lang="en-ZA" b="0" dirty="0"/>
          </a:p>
        </p:txBody>
      </p:sp>
      <p:sp>
        <p:nvSpPr>
          <p:cNvPr id="4" name="Slide Number Placeholder 3"/>
          <p:cNvSpPr>
            <a:spLocks noGrp="1"/>
          </p:cNvSpPr>
          <p:nvPr>
            <p:ph type="sldNum" sz="quarter" idx="5"/>
          </p:nvPr>
        </p:nvSpPr>
        <p:spPr/>
        <p:txBody>
          <a:bodyPr/>
          <a:lstStyle/>
          <a:p>
            <a:fld id="{1B2CE5E3-B8BD-D040-AC87-D640191DD8F1}" type="slidenum">
              <a:rPr lang="en-US" smtClean="0"/>
              <a:t>6</a:t>
            </a:fld>
            <a:endParaRPr lang="en-US"/>
          </a:p>
        </p:txBody>
      </p:sp>
    </p:spTree>
    <p:extLst>
      <p:ext uri="{BB962C8B-B14F-4D97-AF65-F5344CB8AC3E}">
        <p14:creationId xmlns:p14="http://schemas.microsoft.com/office/powerpoint/2010/main" val="6235419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p:cNvSpPr>
                <a:spLocks noGrp="1"/>
              </p:cNvSpPr>
              <p:nvPr>
                <p:ph type="body" idx="1"/>
              </p:nvPr>
            </p:nvSpPr>
            <p:spPr/>
            <p:txBody>
              <a:bodyPr/>
              <a:lstStyle/>
              <a:p>
                <a:pPr marL="171450" indent="-171450" algn="just">
                  <a:buFont typeface="Arial" panose="020B0604020202020204" pitchFamily="34" charset="0"/>
                  <a:buChar char="•"/>
                </a:pPr>
                <a:r>
                  <a:rPr lang="en-ZA" dirty="0"/>
                  <a:t>In quantum computing, matrices act as operators that transform qubit states. These operators are called quantum gates. A gate acts on a qubit's state vector, typically corresponding to a rotation on the Bloch sphere. </a:t>
                </a:r>
              </a:p>
              <a:p>
                <a:pPr marL="171450" indent="-171450" algn="just">
                  <a:buFont typeface="Arial" panose="020B0604020202020204" pitchFamily="34" charset="0"/>
                  <a:buChar char="•"/>
                </a:pPr>
                <a:endParaRPr lang="en-ZA" dirty="0"/>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ZA" dirty="0"/>
                  <a:t>In this example, applying gate U to </a:t>
                </a:r>
                <a14:m>
                  <m:oMath xmlns:m="http://schemas.openxmlformats.org/officeDocument/2006/math">
                    <m:d>
                      <m:dPr>
                        <m:begChr m:val="|"/>
                        <m:endChr m:val="⟩"/>
                        <m:ctrlPr>
                          <a:rPr lang="en-US" sz="1200" i="1" smtClean="0">
                            <a:latin typeface="Cambria Math" panose="02040503050406030204" pitchFamily="18" charset="0"/>
                          </a:rPr>
                        </m:ctrlPr>
                      </m:dPr>
                      <m:e>
                        <m:sSub>
                          <m:sSubPr>
                            <m:ctrlPr>
                              <a:rPr lang="en-US" sz="1200" i="1">
                                <a:latin typeface="Cambria Math" panose="02040503050406030204" pitchFamily="18" charset="0"/>
                              </a:rPr>
                            </m:ctrlPr>
                          </m:sSubPr>
                          <m:e>
                            <m:r>
                              <a:rPr lang="en-US" sz="1200" i="1">
                                <a:latin typeface="Cambria Math" panose="02040503050406030204" pitchFamily="18" charset="0"/>
                              </a:rPr>
                              <m:t>𝑆</m:t>
                            </m:r>
                          </m:e>
                          <m:sub>
                            <m:r>
                              <a:rPr lang="en-US" sz="1200" b="0" i="1" smtClean="0">
                                <a:latin typeface="Cambria Math" panose="02040503050406030204" pitchFamily="18" charset="0"/>
                              </a:rPr>
                              <m:t>1</m:t>
                            </m:r>
                          </m:sub>
                        </m:sSub>
                      </m:e>
                    </m:d>
                  </m:oMath>
                </a14:m>
                <a:r>
                  <a:rPr lang="en-ZA" dirty="0"/>
                  <a:t>⟩ moves it to a new position </a:t>
                </a:r>
                <a14:m>
                  <m:oMath xmlns:m="http://schemas.openxmlformats.org/officeDocument/2006/math">
                    <m:d>
                      <m:dPr>
                        <m:begChr m:val="|"/>
                        <m:endChr m:val="⟩"/>
                        <m:ctrlPr>
                          <a:rPr lang="en-US" sz="1200" i="1" smtClean="0">
                            <a:latin typeface="Cambria Math" panose="02040503050406030204" pitchFamily="18" charset="0"/>
                          </a:rPr>
                        </m:ctrlPr>
                      </m:dPr>
                      <m:e>
                        <m:sSub>
                          <m:sSubPr>
                            <m:ctrlPr>
                              <a:rPr lang="en-US" sz="1200" i="1">
                                <a:latin typeface="Cambria Math" panose="02040503050406030204" pitchFamily="18" charset="0"/>
                              </a:rPr>
                            </m:ctrlPr>
                          </m:sSubPr>
                          <m:e>
                            <m:r>
                              <a:rPr lang="en-US" sz="1200" i="1">
                                <a:latin typeface="Cambria Math" panose="02040503050406030204" pitchFamily="18" charset="0"/>
                              </a:rPr>
                              <m:t>𝑆</m:t>
                            </m:r>
                          </m:e>
                          <m:sub>
                            <m:r>
                              <a:rPr lang="en-US" sz="1200" b="0" i="1" smtClean="0">
                                <a:latin typeface="Cambria Math" panose="02040503050406030204" pitchFamily="18" charset="0"/>
                              </a:rPr>
                              <m:t>2</m:t>
                            </m:r>
                          </m:sub>
                        </m:sSub>
                      </m:e>
                    </m:d>
                  </m:oMath>
                </a14:m>
                <a:r>
                  <a:rPr lang="en-ZA" dirty="0"/>
                  <a:t>. </a:t>
                </a:r>
                <a:r>
                  <a:rPr lang="en-ZA" dirty="0">
                    <a:effectLst/>
                  </a:rPr>
                  <a:t>Mathematically, the gate operation is performed by multiplying the gate's unitary matrix by the state vector.</a:t>
                </a:r>
              </a:p>
            </p:txBody>
          </p:sp>
        </mc:Choice>
        <mc:Fallback>
          <p:sp>
            <p:nvSpPr>
              <p:cNvPr id="3" name="Notes Placeholder 2"/>
              <p:cNvSpPr>
                <a:spLocks noGrp="1"/>
              </p:cNvSpPr>
              <p:nvPr>
                <p:ph type="body" idx="1"/>
              </p:nvPr>
            </p:nvSpPr>
            <p:spPr/>
            <p:txBody>
              <a:bodyPr/>
              <a:lstStyle/>
              <a:p>
                <a:pPr marL="171450" indent="-171450" algn="just">
                  <a:buFont typeface="Arial" panose="020B0604020202020204" pitchFamily="34" charset="0"/>
                  <a:buChar char="•"/>
                </a:pPr>
                <a:r>
                  <a:rPr lang="en-ZA" dirty="0"/>
                  <a:t>In quantum computing, matrices act as operators that transform qubit states. These operators are called quantum gates. A gate acts on a qubit's state vector, typically corresponding to a rotation on the Bloch sphere. </a:t>
                </a:r>
              </a:p>
              <a:p>
                <a:pPr marL="171450" indent="-171450" algn="just">
                  <a:buFont typeface="Arial" panose="020B0604020202020204" pitchFamily="34" charset="0"/>
                  <a:buChar char="•"/>
                </a:pPr>
                <a:endParaRPr lang="en-ZA" dirty="0"/>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ZA" dirty="0"/>
                  <a:t>In this example, applying gate U to </a:t>
                </a:r>
                <a:r>
                  <a:rPr lang="en-US" sz="1200" i="0">
                    <a:latin typeface="Cambria Math" panose="02040503050406030204" pitchFamily="18" charset="0"/>
                  </a:rPr>
                  <a:t>|𝑆_</a:t>
                </a:r>
                <a:r>
                  <a:rPr lang="en-US" sz="1200" b="0" i="0">
                    <a:latin typeface="Cambria Math" panose="02040503050406030204" pitchFamily="18" charset="0"/>
                  </a:rPr>
                  <a:t>1 ⟩</a:t>
                </a:r>
                <a:r>
                  <a:rPr lang="en-ZA" dirty="0"/>
                  <a:t>⟩ moves it to a new position </a:t>
                </a:r>
                <a:r>
                  <a:rPr lang="en-US" sz="1200" i="0">
                    <a:latin typeface="Cambria Math" panose="02040503050406030204" pitchFamily="18" charset="0"/>
                  </a:rPr>
                  <a:t>|𝑆_</a:t>
                </a:r>
                <a:r>
                  <a:rPr lang="en-US" sz="1200" b="0" i="0">
                    <a:latin typeface="Cambria Math" panose="02040503050406030204" pitchFamily="18" charset="0"/>
                  </a:rPr>
                  <a:t>2 ⟩</a:t>
                </a:r>
                <a:r>
                  <a:rPr lang="en-ZA" dirty="0"/>
                  <a:t>. </a:t>
                </a:r>
                <a:r>
                  <a:rPr lang="en-ZA" dirty="0">
                    <a:effectLst/>
                  </a:rPr>
                  <a:t>Mathematically, the gate operation is performed by multiplying the gate's unitary matrix by the state vector.</a:t>
                </a: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7</a:t>
            </a:fld>
            <a:endParaRPr lang="en-US"/>
          </a:p>
        </p:txBody>
      </p:sp>
    </p:spTree>
    <p:extLst>
      <p:ext uri="{BB962C8B-B14F-4D97-AF65-F5344CB8AC3E}">
        <p14:creationId xmlns:p14="http://schemas.microsoft.com/office/powerpoint/2010/main" val="34218731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ZA" dirty="0"/>
                  <a:t>The evolution postulate describes how the state of a closed quantum system changes over time via a unitary transformation. In quantum computing, these unitary transformations are exactly the quantum gates. The evolution postulate says: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ZA" sz="800" dirty="0"/>
              </a:p>
              <a:p>
                <a:pPr algn="just"/>
                <a:r>
                  <a:rPr lang="en-ZA" sz="1200" dirty="0"/>
                  <a:t>The time evolution of the state of a closed quantum system is described by a unitary transformation. The state </a:t>
                </a:r>
                <a14:m>
                  <m:oMath xmlns:m="http://schemas.openxmlformats.org/officeDocument/2006/math">
                    <m:d>
                      <m:dPr>
                        <m:begChr m:val="|"/>
                        <m:endChr m:val="⟩"/>
                        <m:ctrlPr>
                          <a:rPr lang="en-US" sz="1200" i="1">
                            <a:latin typeface="Cambria Math" panose="02040503050406030204" pitchFamily="18" charset="0"/>
                          </a:rPr>
                        </m:ctrlPr>
                      </m:dPr>
                      <m:e>
                        <m:sSub>
                          <m:sSubPr>
                            <m:ctrlPr>
                              <a:rPr lang="en-US" sz="1200" i="1">
                                <a:latin typeface="Cambria Math" panose="02040503050406030204" pitchFamily="18" charset="0"/>
                              </a:rPr>
                            </m:ctrlPr>
                          </m:sSubPr>
                          <m:e>
                            <m:r>
                              <a:rPr lang="en-US" sz="1200" i="1">
                                <a:latin typeface="Cambria Math" panose="02040503050406030204" pitchFamily="18" charset="0"/>
                              </a:rPr>
                              <m:t>𝑆</m:t>
                            </m:r>
                          </m:e>
                          <m:sub>
                            <m:r>
                              <a:rPr lang="en-US" sz="1200" b="0" i="1" smtClean="0">
                                <a:latin typeface="Cambria Math" panose="02040503050406030204" pitchFamily="18" charset="0"/>
                              </a:rPr>
                              <m:t>1</m:t>
                            </m:r>
                          </m:sub>
                        </m:sSub>
                      </m:e>
                    </m:d>
                    <m:r>
                      <a:rPr lang="en-US" sz="1200" i="1">
                        <a:latin typeface="Cambria Math" panose="02040503050406030204" pitchFamily="18" charset="0"/>
                      </a:rPr>
                      <m:t> </m:t>
                    </m:r>
                  </m:oMath>
                </a14:m>
                <a:r>
                  <a:rPr lang="en-ZA" sz="1200" dirty="0"/>
                  <a:t>of the system at time</a:t>
                </a:r>
                <a:r>
                  <a:rPr lang="en-US" sz="1200" dirty="0"/>
                  <a:t> </a:t>
                </a:r>
                <a14:m>
                  <m:oMath xmlns:m="http://schemas.openxmlformats.org/officeDocument/2006/math">
                    <m:sSub>
                      <m:sSubPr>
                        <m:ctrlPr>
                          <a:rPr lang="en-US" sz="1200" i="1">
                            <a:latin typeface="Cambria Math" panose="02040503050406030204" pitchFamily="18" charset="0"/>
                          </a:rPr>
                        </m:ctrlPr>
                      </m:sSubPr>
                      <m:e>
                        <m:r>
                          <a:rPr lang="en-US" sz="1200" i="1">
                            <a:latin typeface="Cambria Math" panose="02040503050406030204" pitchFamily="18" charset="0"/>
                          </a:rPr>
                          <m:t>𝑡</m:t>
                        </m:r>
                      </m:e>
                      <m:sub>
                        <m:r>
                          <a:rPr lang="en-US" sz="1200" i="1">
                            <a:latin typeface="Cambria Math" panose="02040503050406030204" pitchFamily="18" charset="0"/>
                          </a:rPr>
                          <m:t>1</m:t>
                        </m:r>
                      </m:sub>
                    </m:sSub>
                    <m:r>
                      <a:rPr lang="en-US" sz="1200" i="1">
                        <a:latin typeface="Cambria Math" panose="02040503050406030204" pitchFamily="18" charset="0"/>
                      </a:rPr>
                      <m:t> </m:t>
                    </m:r>
                  </m:oMath>
                </a14:m>
                <a:r>
                  <a:rPr lang="en-ZA" sz="1200" dirty="0"/>
                  <a:t>​evolves to the state </a:t>
                </a:r>
                <a14:m>
                  <m:oMath xmlns:m="http://schemas.openxmlformats.org/officeDocument/2006/math">
                    <m:d>
                      <m:dPr>
                        <m:begChr m:val="|"/>
                        <m:endChr m:val="⟩"/>
                        <m:ctrlPr>
                          <a:rPr lang="en-US" sz="1200" i="1">
                            <a:latin typeface="Cambria Math" panose="02040503050406030204" pitchFamily="18" charset="0"/>
                          </a:rPr>
                        </m:ctrlPr>
                      </m:dPr>
                      <m:e>
                        <m:sSub>
                          <m:sSubPr>
                            <m:ctrlPr>
                              <a:rPr lang="en-US" sz="1200" i="1">
                                <a:latin typeface="Cambria Math" panose="02040503050406030204" pitchFamily="18" charset="0"/>
                              </a:rPr>
                            </m:ctrlPr>
                          </m:sSubPr>
                          <m:e>
                            <m:r>
                              <a:rPr lang="en-US" sz="1200" i="1">
                                <a:latin typeface="Cambria Math" panose="02040503050406030204" pitchFamily="18" charset="0"/>
                              </a:rPr>
                              <m:t>𝑆</m:t>
                            </m:r>
                          </m:e>
                          <m:sub>
                            <m:r>
                              <a:rPr lang="en-US" sz="1200" b="0" i="1" smtClean="0">
                                <a:latin typeface="Cambria Math" panose="02040503050406030204" pitchFamily="18" charset="0"/>
                              </a:rPr>
                              <m:t>2</m:t>
                            </m:r>
                          </m:sub>
                        </m:sSub>
                      </m:e>
                    </m:d>
                  </m:oMath>
                </a14:m>
                <a:r>
                  <a:rPr lang="el-GR" sz="1200" dirty="0"/>
                  <a:t> </a:t>
                </a:r>
                <a:r>
                  <a:rPr lang="en-ZA" sz="1200" dirty="0"/>
                  <a:t>at time </a:t>
                </a:r>
                <a14:m>
                  <m:oMath xmlns:m="http://schemas.openxmlformats.org/officeDocument/2006/math">
                    <m:sSub>
                      <m:sSubPr>
                        <m:ctrlPr>
                          <a:rPr lang="en-US" sz="1200" i="1">
                            <a:latin typeface="Cambria Math" panose="02040503050406030204" pitchFamily="18" charset="0"/>
                          </a:rPr>
                        </m:ctrlPr>
                      </m:sSubPr>
                      <m:e>
                        <m:r>
                          <a:rPr lang="en-US" sz="1200" i="1">
                            <a:latin typeface="Cambria Math" panose="02040503050406030204" pitchFamily="18" charset="0"/>
                          </a:rPr>
                          <m:t>𝑡</m:t>
                        </m:r>
                      </m:e>
                      <m:sub>
                        <m:r>
                          <a:rPr lang="en-US" sz="1200" b="0" i="1" smtClean="0">
                            <a:latin typeface="Cambria Math" panose="02040503050406030204" pitchFamily="18" charset="0"/>
                          </a:rPr>
                          <m:t>2</m:t>
                        </m:r>
                      </m:sub>
                    </m:sSub>
                    <m:r>
                      <a:rPr lang="en-US" sz="1200" i="1">
                        <a:latin typeface="Cambria Math" panose="02040503050406030204" pitchFamily="18" charset="0"/>
                      </a:rPr>
                      <m:t> </m:t>
                    </m:r>
                  </m:oMath>
                </a14:m>
                <a:r>
                  <a:rPr lang="en-ZA" sz="1200" dirty="0"/>
                  <a:t>​ under a unitary operator </a:t>
                </a:r>
                <a14:m>
                  <m:oMath xmlns:m="http://schemas.openxmlformats.org/officeDocument/2006/math">
                    <m:r>
                      <a:rPr lang="en-US" sz="1200" b="0" i="1" smtClean="0">
                        <a:latin typeface="Cambria Math" panose="02040503050406030204" pitchFamily="18" charset="0"/>
                      </a:rPr>
                      <m:t>𝑈</m:t>
                    </m:r>
                  </m:oMath>
                </a14:m>
                <a:r>
                  <a:rPr lang="en-ZA" sz="1200" dirty="0"/>
                  <a:t> that depends only on </a:t>
                </a:r>
                <a14:m>
                  <m:oMath xmlns:m="http://schemas.openxmlformats.org/officeDocument/2006/math">
                    <m:sSub>
                      <m:sSubPr>
                        <m:ctrlPr>
                          <a:rPr lang="en-US" sz="1200" i="1">
                            <a:latin typeface="Cambria Math" panose="02040503050406030204" pitchFamily="18" charset="0"/>
                          </a:rPr>
                        </m:ctrlPr>
                      </m:sSubPr>
                      <m:e>
                        <m:r>
                          <a:rPr lang="en-US" sz="1200" i="1">
                            <a:latin typeface="Cambria Math" panose="02040503050406030204" pitchFamily="18" charset="0"/>
                          </a:rPr>
                          <m:t>𝑡</m:t>
                        </m:r>
                      </m:e>
                      <m:sub>
                        <m:r>
                          <a:rPr lang="en-US" sz="1200" i="1">
                            <a:latin typeface="Cambria Math" panose="02040503050406030204" pitchFamily="18" charset="0"/>
                          </a:rPr>
                          <m:t>1</m:t>
                        </m:r>
                      </m:sub>
                    </m:sSub>
                    <m:r>
                      <a:rPr lang="en-US" sz="1200" i="1">
                        <a:latin typeface="Cambria Math" panose="02040503050406030204" pitchFamily="18" charset="0"/>
                      </a:rPr>
                      <m:t> </m:t>
                    </m:r>
                  </m:oMath>
                </a14:m>
                <a:r>
                  <a:rPr lang="en-ZA" sz="1200" dirty="0"/>
                  <a:t>​ and </a:t>
                </a:r>
                <a14:m>
                  <m:oMath xmlns:m="http://schemas.openxmlformats.org/officeDocument/2006/math">
                    <m:sSub>
                      <m:sSubPr>
                        <m:ctrlPr>
                          <a:rPr lang="en-US" sz="1200" i="1">
                            <a:latin typeface="Cambria Math" panose="02040503050406030204" pitchFamily="18" charset="0"/>
                          </a:rPr>
                        </m:ctrlPr>
                      </m:sSubPr>
                      <m:e>
                        <m:r>
                          <a:rPr lang="en-US" sz="1200" i="1">
                            <a:latin typeface="Cambria Math" panose="02040503050406030204" pitchFamily="18" charset="0"/>
                          </a:rPr>
                          <m:t>𝑡</m:t>
                        </m:r>
                      </m:e>
                      <m:sub>
                        <m:r>
                          <a:rPr lang="en-US" sz="1200" b="0" i="1" smtClean="0">
                            <a:latin typeface="Cambria Math" panose="02040503050406030204" pitchFamily="18" charset="0"/>
                          </a:rPr>
                          <m:t>2</m:t>
                        </m:r>
                      </m:sub>
                    </m:sSub>
                  </m:oMath>
                </a14:m>
                <a:r>
                  <a:rPr lang="en-ZA" sz="1200" dirty="0"/>
                  <a:t>:</a:t>
                </a:r>
              </a:p>
              <a:p>
                <a:pPr algn="just"/>
                <a:endParaRPr lang="en-ZA" sz="800" dirty="0"/>
              </a:p>
              <a:p>
                <a:pPr algn="just"/>
                <a14:m>
                  <m:oMathPara xmlns:m="http://schemas.openxmlformats.org/officeDocument/2006/math">
                    <m:oMathParaPr>
                      <m:jc m:val="centerGroup"/>
                    </m:oMathParaPr>
                    <m:oMath xmlns:m="http://schemas.openxmlformats.org/officeDocument/2006/math">
                      <m:d>
                        <m:dPr>
                          <m:begChr m:val="|"/>
                          <m:endChr m:val="⟩"/>
                          <m:ctrlPr>
                            <a:rPr lang="en-US" sz="1400" i="1">
                              <a:latin typeface="Cambria Math" panose="02040503050406030204" pitchFamily="18" charset="0"/>
                            </a:rPr>
                          </m:ctrlPr>
                        </m:dPr>
                        <m:e>
                          <m:sSub>
                            <m:sSubPr>
                              <m:ctrlPr>
                                <a:rPr lang="en-US" sz="1400" i="1">
                                  <a:latin typeface="Cambria Math" panose="02040503050406030204" pitchFamily="18" charset="0"/>
                                </a:rPr>
                              </m:ctrlPr>
                            </m:sSubPr>
                            <m:e>
                              <m:r>
                                <a:rPr lang="en-US" sz="1400" i="1">
                                  <a:latin typeface="Cambria Math" panose="02040503050406030204" pitchFamily="18" charset="0"/>
                                </a:rPr>
                                <m:t>𝑆</m:t>
                              </m:r>
                            </m:e>
                            <m:sub>
                              <m:r>
                                <a:rPr lang="en-US" sz="1400" i="1">
                                  <a:latin typeface="Cambria Math" panose="02040503050406030204" pitchFamily="18" charset="0"/>
                                </a:rPr>
                                <m:t>2</m:t>
                              </m:r>
                            </m:sub>
                          </m:sSub>
                        </m:e>
                      </m:d>
                      <m:r>
                        <a:rPr lang="en-US" sz="1400" b="0" i="1" smtClean="0">
                          <a:latin typeface="Cambria Math" panose="02040503050406030204" pitchFamily="18" charset="0"/>
                        </a:rPr>
                        <m:t>=</m:t>
                      </m:r>
                      <m:r>
                        <a:rPr lang="en-US" sz="1400" b="0" i="1" smtClean="0">
                          <a:latin typeface="Cambria Math" panose="02040503050406030204" pitchFamily="18" charset="0"/>
                        </a:rPr>
                        <m:t>𝑈</m:t>
                      </m:r>
                      <m:d>
                        <m:dPr>
                          <m:begChr m:val="|"/>
                          <m:endChr m:val="⟩"/>
                          <m:ctrlPr>
                            <a:rPr lang="en-US" sz="1400" i="1">
                              <a:latin typeface="Cambria Math" panose="02040503050406030204" pitchFamily="18" charset="0"/>
                            </a:rPr>
                          </m:ctrlPr>
                        </m:dPr>
                        <m:e>
                          <m:sSub>
                            <m:sSubPr>
                              <m:ctrlPr>
                                <a:rPr lang="en-US" sz="1400" i="1">
                                  <a:latin typeface="Cambria Math" panose="02040503050406030204" pitchFamily="18" charset="0"/>
                                </a:rPr>
                              </m:ctrlPr>
                            </m:sSubPr>
                            <m:e>
                              <m:r>
                                <a:rPr lang="en-US" sz="1400" i="1">
                                  <a:latin typeface="Cambria Math" panose="02040503050406030204" pitchFamily="18" charset="0"/>
                                </a:rPr>
                                <m:t>𝑆</m:t>
                              </m:r>
                            </m:e>
                            <m:sub>
                              <m:r>
                                <a:rPr lang="en-US" sz="1400" b="0" i="1" smtClean="0">
                                  <a:latin typeface="Cambria Math" panose="02040503050406030204" pitchFamily="18" charset="0"/>
                                </a:rPr>
                                <m:t>1</m:t>
                              </m:r>
                            </m:sub>
                          </m:sSub>
                        </m:e>
                      </m:d>
                    </m:oMath>
                  </m:oMathPara>
                </a14:m>
                <a:endParaRPr lang="en-ZA" sz="1400" dirty="0"/>
              </a:p>
              <a:p>
                <a:pPr algn="just"/>
                <a:endParaRPr lang="en-ZA" sz="800" dirty="0"/>
              </a:p>
              <a:p>
                <a:pPr algn="just"/>
                <a:r>
                  <a:rPr lang="en-ZA" sz="1200" dirty="0"/>
                  <a:t>In the density operator formulation, the evolution is expressed as</a:t>
                </a:r>
              </a:p>
              <a:p>
                <a:pPr algn="just"/>
                <a:endParaRPr lang="en-ZA" sz="800" dirty="0"/>
              </a:p>
              <a:p>
                <a:pPr algn="just"/>
                <a14:m>
                  <m:oMathPara xmlns:m="http://schemas.openxmlformats.org/officeDocument/2006/math">
                    <m:oMathParaPr>
                      <m:jc m:val="centerGroup"/>
                    </m:oMathParaPr>
                    <m:oMath xmlns:m="http://schemas.openxmlformats.org/officeDocument/2006/math">
                      <m:sSub>
                        <m:sSubPr>
                          <m:ctrlPr>
                            <a:rPr lang="en-US" sz="1400" i="1">
                              <a:latin typeface="Cambria Math" panose="02040503050406030204" pitchFamily="18" charset="0"/>
                            </a:rPr>
                          </m:ctrlPr>
                        </m:sSubPr>
                        <m:e>
                          <m:r>
                            <a:rPr lang="en-US" sz="1400" i="1" smtClean="0">
                              <a:latin typeface="Cambria Math" panose="02040503050406030204" pitchFamily="18" charset="0"/>
                              <a:ea typeface="Cambria Math" panose="02040503050406030204" pitchFamily="18" charset="0"/>
                            </a:rPr>
                            <m:t>𝜌</m:t>
                          </m:r>
                        </m:e>
                        <m:sub>
                          <m:r>
                            <a:rPr lang="en-US" sz="1400" i="1">
                              <a:latin typeface="Cambria Math" panose="02040503050406030204" pitchFamily="18" charset="0"/>
                            </a:rPr>
                            <m:t>2</m:t>
                          </m:r>
                        </m:sub>
                      </m:sSub>
                      <m:r>
                        <a:rPr lang="en-US" sz="1400" b="0" i="1" smtClean="0">
                          <a:latin typeface="Cambria Math" panose="02040503050406030204" pitchFamily="18" charset="0"/>
                        </a:rPr>
                        <m:t>=</m:t>
                      </m:r>
                      <m:r>
                        <a:rPr lang="en-US" sz="1400" b="0" i="1" smtClean="0">
                          <a:latin typeface="Cambria Math" panose="02040503050406030204" pitchFamily="18" charset="0"/>
                        </a:rPr>
                        <m:t>𝑈</m:t>
                      </m:r>
                      <m:sSub>
                        <m:sSubPr>
                          <m:ctrlPr>
                            <a:rPr lang="en-US" sz="1400" i="1">
                              <a:latin typeface="Cambria Math" panose="02040503050406030204" pitchFamily="18" charset="0"/>
                            </a:rPr>
                          </m:ctrlPr>
                        </m:sSubPr>
                        <m:e>
                          <m:r>
                            <a:rPr lang="en-US" sz="1400" i="1">
                              <a:latin typeface="Cambria Math" panose="02040503050406030204" pitchFamily="18" charset="0"/>
                              <a:ea typeface="Cambria Math" panose="02040503050406030204" pitchFamily="18" charset="0"/>
                            </a:rPr>
                            <m:t>𝜌</m:t>
                          </m:r>
                        </m:e>
                        <m:sub>
                          <m:r>
                            <a:rPr lang="en-US" sz="1400" b="0" i="1" smtClean="0">
                              <a:latin typeface="Cambria Math" panose="02040503050406030204" pitchFamily="18" charset="0"/>
                              <a:ea typeface="Cambria Math" panose="02040503050406030204" pitchFamily="18" charset="0"/>
                            </a:rPr>
                            <m:t>1</m:t>
                          </m:r>
                        </m:sub>
                      </m:sSub>
                      <m:sSup>
                        <m:sSupPr>
                          <m:ctrlPr>
                            <a:rPr lang="en-US" sz="1400" i="1">
                              <a:latin typeface="Cambria Math" panose="02040503050406030204" pitchFamily="18" charset="0"/>
                            </a:rPr>
                          </m:ctrlPr>
                        </m:sSupPr>
                        <m:e>
                          <m:r>
                            <a:rPr lang="en-US" sz="1400" i="1">
                              <a:latin typeface="Cambria Math" panose="02040503050406030204" pitchFamily="18" charset="0"/>
                            </a:rPr>
                            <m:t>𝑈</m:t>
                          </m:r>
                        </m:e>
                        <m:sup>
                          <m:r>
                            <a:rPr lang="en-US" sz="1400" i="1">
                              <a:latin typeface="Cambria Math" panose="02040503050406030204" pitchFamily="18" charset="0"/>
                              <a:ea typeface="Cambria Math" panose="02040503050406030204" pitchFamily="18" charset="0"/>
                            </a:rPr>
                            <m:t>†</m:t>
                          </m:r>
                        </m:sup>
                      </m:sSup>
                    </m:oMath>
                  </m:oMathPara>
                </a14:m>
                <a:endParaRPr lang="en-ZA" sz="800" dirty="0"/>
              </a:p>
              <a:p>
                <a:pPr algn="just"/>
                <a:endParaRPr lang="en-ZA" sz="800" dirty="0"/>
              </a:p>
              <a:p>
                <a:pPr algn="just"/>
                <a:r>
                  <a:rPr lang="en-ZA" sz="800" dirty="0"/>
                  <a:t>A closed system is a system that, at a given moment, does not interact with other systems. </a:t>
                </a:r>
              </a:p>
              <a:p>
                <a:pPr algn="just"/>
                <a:endParaRPr lang="en-ZA" sz="1400" dirty="0"/>
              </a:p>
            </p:txBody>
          </p:sp>
        </mc:Choice>
        <mc:Fallback xmlns="">
          <p:sp>
            <p:nvSpPr>
              <p:cNvPr id="3" name="Notes Placeholder 2"/>
              <p:cNvSpPr>
                <a:spLocks noGrp="1"/>
              </p:cNvSpPr>
              <p:nvPr>
                <p:ph type="body" idx="1"/>
              </p:nvPr>
            </p:nvSpPr>
            <p:spPr/>
            <p:txBody>
              <a:bodyPr/>
              <a:lstStyle/>
              <a:p>
                <a:pPr algn="just"/>
                <a:r>
                  <a:rPr lang="sr-Latn-RS" sz="1200" kern="1200" dirty="0">
                    <a:solidFill>
                      <a:schemeClr val="tx1"/>
                    </a:solidFill>
                    <a:effectLst/>
                    <a:latin typeface="+mn-lt"/>
                    <a:ea typeface="+mn-ea"/>
                    <a:cs typeface="+mn-cs"/>
                  </a:rPr>
                  <a:t>Postulati kvantne mehanike opisuju osnovne principe koji upravljaju ponašanjem fizičkih sistema na kvantnom nivou. Kao prvi postulat, definisaćemo postulat o stanju kvantnog sistema.  U kvantnom računarstvu to je jedan ili više kubita.</a:t>
                </a:r>
              </a:p>
              <a:p>
                <a:pPr algn="just"/>
                <a:endParaRPr lang="en-US" dirty="0"/>
              </a:p>
              <a:p>
                <a:pPr algn="just"/>
                <a:r>
                  <a:rPr lang="en-US" dirty="0" err="1"/>
                  <a:t>Postulat</a:t>
                </a:r>
                <a:r>
                  <a:rPr lang="en-US" dirty="0"/>
                  <a:t> o </a:t>
                </a:r>
                <a:r>
                  <a:rPr lang="en-US" dirty="0" err="1"/>
                  <a:t>stanju</a:t>
                </a:r>
                <a:r>
                  <a:rPr lang="en-US" dirty="0"/>
                  <a:t>. </a:t>
                </a:r>
                <a:r>
                  <a:rPr lang="en-US" dirty="0" err="1"/>
                  <a:t>Čisto</a:t>
                </a:r>
                <a:r>
                  <a:rPr lang="en-US" dirty="0"/>
                  <a:t> </a:t>
                </a:r>
                <a:r>
                  <a:rPr lang="en-US" dirty="0" err="1"/>
                  <a:t>kvantno</a:t>
                </a:r>
                <a:r>
                  <a:rPr lang="en-US" dirty="0"/>
                  <a:t> </a:t>
                </a:r>
                <a:r>
                  <a:rPr lang="en-US" dirty="0" err="1"/>
                  <a:t>stanje</a:t>
                </a:r>
                <a:r>
                  <a:rPr lang="en-US" dirty="0"/>
                  <a:t> </a:t>
                </a:r>
                <a:r>
                  <a:rPr lang="en-US" dirty="0" err="1"/>
                  <a:t>izolovanog</a:t>
                </a:r>
                <a:r>
                  <a:rPr lang="en-US" dirty="0"/>
                  <a:t> </a:t>
                </a:r>
                <a:r>
                  <a:rPr lang="en-US" dirty="0" err="1"/>
                  <a:t>kvantnog</a:t>
                </a:r>
                <a:r>
                  <a:rPr lang="en-US" dirty="0"/>
                  <a:t> </a:t>
                </a:r>
                <a:r>
                  <a:rPr lang="en-US" dirty="0" err="1"/>
                  <a:t>sistema</a:t>
                </a:r>
                <a:r>
                  <a:rPr lang="en-US" dirty="0"/>
                  <a:t> </a:t>
                </a:r>
                <a:r>
                  <a:rPr lang="en-US" dirty="0" err="1"/>
                  <a:t>predstavlja</a:t>
                </a:r>
                <a:r>
                  <a:rPr lang="en-US" dirty="0"/>
                  <a:t> se </a:t>
                </a:r>
                <a:r>
                  <a:rPr lang="en-US" dirty="0" err="1"/>
                  <a:t>jediničnim</a:t>
                </a:r>
                <a:r>
                  <a:rPr lang="en-US" dirty="0"/>
                  <a:t> ket </a:t>
                </a:r>
                <a:r>
                  <a:rPr lang="en-US" dirty="0" err="1"/>
                  <a:t>vektorom</a:t>
                </a:r>
                <a:r>
                  <a:rPr lang="en-US" dirty="0"/>
                  <a:t> u </a:t>
                </a:r>
                <a:r>
                  <a:rPr lang="en-US" dirty="0" err="1"/>
                  <a:t>kompleksnom</a:t>
                </a:r>
                <a:r>
                  <a:rPr lang="en-US" dirty="0"/>
                  <a:t> </a:t>
                </a:r>
                <a:r>
                  <a:rPr lang="en-US" dirty="0" err="1"/>
                  <a:t>Hilbertovom</a:t>
                </a:r>
                <a:r>
                  <a:rPr lang="en-US" dirty="0"/>
                  <a:t> </a:t>
                </a:r>
                <a:r>
                  <a:rPr lang="en-US" dirty="0" err="1"/>
                  <a:t>prostoru</a:t>
                </a:r>
                <a:r>
                  <a:rPr lang="en-US" dirty="0"/>
                  <a:t>. </a:t>
                </a:r>
                <a:r>
                  <a:rPr lang="en-US" dirty="0" err="1"/>
                  <a:t>Ovaj</a:t>
                </a:r>
                <a:r>
                  <a:rPr lang="en-US" dirty="0"/>
                  <a:t> se </a:t>
                </a:r>
                <a:r>
                  <a:rPr lang="en-US" dirty="0" err="1"/>
                  <a:t>prostor</a:t>
                </a:r>
                <a:r>
                  <a:rPr lang="en-US" dirty="0"/>
                  <a:t> </a:t>
                </a:r>
                <a:r>
                  <a:rPr lang="en-US" dirty="0" err="1"/>
                  <a:t>naziva</a:t>
                </a:r>
                <a:r>
                  <a:rPr lang="en-US" dirty="0"/>
                  <a:t> </a:t>
                </a:r>
                <a:r>
                  <a:rPr lang="en-US" dirty="0" err="1"/>
                  <a:t>prostor</a:t>
                </a:r>
                <a:r>
                  <a:rPr lang="en-US" dirty="0"/>
                  <a:t> </a:t>
                </a:r>
                <a:r>
                  <a:rPr lang="en-US" dirty="0" err="1"/>
                  <a:t>stanja</a:t>
                </a:r>
                <a:r>
                  <a:rPr lang="en-US" dirty="0"/>
                  <a:t> </a:t>
                </a:r>
                <a:r>
                  <a:rPr lang="en-US" dirty="0" err="1"/>
                  <a:t>sistema</a:t>
                </a:r>
                <a:r>
                  <a:rPr lang="en-US" dirty="0"/>
                  <a:t>. </a:t>
                </a:r>
              </a:p>
              <a:p>
                <a:pPr algn="just"/>
                <a:endParaRPr lang="en-US" dirty="0"/>
              </a:p>
              <a:p>
                <a:pPr algn="just"/>
                <a:r>
                  <a:rPr lang="sr-Latn-RS" sz="1200" kern="1200" dirty="0">
                    <a:solidFill>
                      <a:schemeClr val="tx1"/>
                    </a:solidFill>
                    <a:effectLst/>
                    <a:latin typeface="+mn-lt"/>
                    <a:ea typeface="+mn-ea"/>
                    <a:cs typeface="+mn-cs"/>
                  </a:rPr>
                  <a:t>Vektor stanja sistema u </a:t>
                </a:r>
                <a:r>
                  <a:rPr lang="sr-Latn-RS" sz="1200" kern="1200" dirty="0" err="1">
                    <a:solidFill>
                      <a:schemeClr val="tx1"/>
                    </a:solidFill>
                    <a:effectLst/>
                    <a:latin typeface="+mn-lt"/>
                    <a:ea typeface="+mn-ea"/>
                    <a:cs typeface="+mn-cs"/>
                  </a:rPr>
                  <a:t>n-dimenzionalnom</a:t>
                </a:r>
                <a:r>
                  <a:rPr lang="sr-Latn-RS" sz="1200" kern="1200" dirty="0">
                    <a:solidFill>
                      <a:schemeClr val="tx1"/>
                    </a:solidFill>
                    <a:effectLst/>
                    <a:latin typeface="+mn-lt"/>
                    <a:ea typeface="+mn-ea"/>
                    <a:cs typeface="+mn-cs"/>
                  </a:rPr>
                  <a:t> </a:t>
                </a:r>
                <a:r>
                  <a:rPr lang="sr-Latn-RS" sz="1200" kern="1200" dirty="0" err="1">
                    <a:solidFill>
                      <a:schemeClr val="tx1"/>
                    </a:solidFill>
                    <a:effectLst/>
                    <a:latin typeface="+mn-lt"/>
                    <a:ea typeface="+mn-ea"/>
                    <a:cs typeface="+mn-cs"/>
                  </a:rPr>
                  <a:t>Hilbertovom</a:t>
                </a:r>
                <a:r>
                  <a:rPr lang="sr-Latn-RS" sz="1200" kern="1200" dirty="0">
                    <a:solidFill>
                      <a:schemeClr val="tx1"/>
                    </a:solidFill>
                    <a:effectLst/>
                    <a:latin typeface="+mn-lt"/>
                    <a:ea typeface="+mn-ea"/>
                    <a:cs typeface="+mn-cs"/>
                  </a:rPr>
                  <a:t> prostoru predstavlja se linearnom kombinacijom</a:t>
                </a:r>
                <a:endParaRPr lang="en-US" sz="1200" i="1" dirty="0">
                  <a:latin typeface="Cambria Math" panose="02040503050406030204" pitchFamily="18" charset="0"/>
                </a:endParaRPr>
              </a:p>
              <a:p>
                <a:pPr algn="just"/>
                <a:r>
                  <a:rPr lang="en-US" sz="1200" i="0">
                    <a:latin typeface="Cambria Math" panose="02040503050406030204" pitchFamily="18" charset="0"/>
                  </a:rPr>
                  <a:t>|𝑆⟩=∑1_(𝑘=0)^(</a:t>
                </a:r>
                <a:r>
                  <a:rPr lang="en-US" sz="1200" b="0" i="0">
                    <a:latin typeface="Cambria Math" panose="02040503050406030204" pitchFamily="18" charset="0"/>
                  </a:rPr>
                  <a:t>𝑛−1)▒〖</a:t>
                </a:r>
                <a:r>
                  <a:rPr lang="en-US" sz="1200" i="0">
                    <a:latin typeface="Cambria Math" panose="02040503050406030204" pitchFamily="18" charset="0"/>
                  </a:rPr>
                  <a:t>𝑎_𝑘 |𝑘⟩ 〗</a:t>
                </a:r>
                <a:endParaRPr lang="en-US" sz="1200" dirty="0">
                  <a:latin typeface="+mn-lt"/>
                </a:endParaRPr>
              </a:p>
              <a:p>
                <a:pPr algn="just"/>
                <a:endParaRPr lang="sr-Latn-RS" sz="1200" kern="1200" dirty="0">
                  <a:solidFill>
                    <a:schemeClr val="tx1"/>
                  </a:solidFill>
                  <a:effectLst/>
                  <a:latin typeface="+mn-lt"/>
                  <a:ea typeface="+mn-ea"/>
                  <a:cs typeface="+mn-cs"/>
                </a:endParaRPr>
              </a:p>
              <a:p>
                <a:pPr algn="just"/>
                <a:r>
                  <a:rPr lang="sr-Latn-RS" sz="1200" kern="1200" dirty="0">
                    <a:solidFill>
                      <a:schemeClr val="tx1"/>
                    </a:solidFill>
                    <a:effectLst/>
                    <a:latin typeface="+mn-lt"/>
                    <a:ea typeface="+mn-ea"/>
                    <a:cs typeface="+mn-cs"/>
                  </a:rPr>
                  <a:t>gde su </a:t>
                </a:r>
                <a:r>
                  <a:rPr lang="en-ZA" sz="1200" i="0" kern="1200">
                    <a:solidFill>
                      <a:schemeClr val="tx1"/>
                    </a:solidFill>
                    <a:effectLst/>
                    <a:latin typeface="+mn-lt"/>
                    <a:ea typeface="+mn-ea"/>
                    <a:cs typeface="+mn-cs"/>
                  </a:rPr>
                  <a:t>|</a:t>
                </a:r>
                <a:r>
                  <a:rPr lang="sr-Latn-RS" sz="1200" i="0" kern="1200">
                    <a:solidFill>
                      <a:schemeClr val="tx1"/>
                    </a:solidFill>
                    <a:effectLst/>
                    <a:latin typeface="+mn-lt"/>
                    <a:ea typeface="+mn-ea"/>
                    <a:cs typeface="+mn-cs"/>
                  </a:rPr>
                  <a:t>𝑘⟩</a:t>
                </a:r>
                <a:r>
                  <a:rPr lang="sr-Latn-RS" sz="1200" kern="1200" dirty="0">
                    <a:solidFill>
                      <a:schemeClr val="tx1"/>
                    </a:solidFill>
                    <a:effectLst/>
                    <a:latin typeface="+mn-lt"/>
                    <a:ea typeface="+mn-ea"/>
                    <a:cs typeface="+mn-cs"/>
                  </a:rPr>
                  <a:t> vektori baze </a:t>
                </a:r>
                <a:r>
                  <a:rPr lang="sr-Latn-RS" sz="1200" kern="1200" dirty="0" err="1">
                    <a:solidFill>
                      <a:schemeClr val="tx1"/>
                    </a:solidFill>
                    <a:effectLst/>
                    <a:latin typeface="+mn-lt"/>
                    <a:ea typeface="+mn-ea"/>
                    <a:cs typeface="+mn-cs"/>
                  </a:rPr>
                  <a:t>Hilbertovog</a:t>
                </a:r>
                <a:r>
                  <a:rPr lang="sr-Latn-RS" sz="1200" kern="1200" dirty="0">
                    <a:solidFill>
                      <a:schemeClr val="tx1"/>
                    </a:solidFill>
                    <a:effectLst/>
                    <a:latin typeface="+mn-lt"/>
                    <a:ea typeface="+mn-ea"/>
                    <a:cs typeface="+mn-cs"/>
                  </a:rPr>
                  <a:t> prostora, a </a:t>
                </a:r>
                <a:r>
                  <a:rPr lang="sr-Latn-RS" sz="1200" i="0" kern="1200">
                    <a:solidFill>
                      <a:schemeClr val="tx1"/>
                    </a:solidFill>
                    <a:effectLst/>
                    <a:latin typeface="+mn-lt"/>
                    <a:ea typeface="+mn-ea"/>
                    <a:cs typeface="+mn-cs"/>
                  </a:rPr>
                  <a:t>𝑎</a:t>
                </a:r>
                <a:r>
                  <a:rPr lang="en-ZA" sz="1200" i="0" kern="1200">
                    <a:solidFill>
                      <a:schemeClr val="tx1"/>
                    </a:solidFill>
                    <a:effectLst/>
                    <a:latin typeface="+mn-lt"/>
                    <a:ea typeface="+mn-ea"/>
                    <a:cs typeface="+mn-cs"/>
                  </a:rPr>
                  <a:t>_</a:t>
                </a:r>
                <a:r>
                  <a:rPr lang="sr-Latn-RS" sz="1200" i="0" kern="1200">
                    <a:solidFill>
                      <a:schemeClr val="tx1"/>
                    </a:solidFill>
                    <a:effectLst/>
                    <a:latin typeface="+mn-lt"/>
                    <a:ea typeface="+mn-ea"/>
                    <a:cs typeface="+mn-cs"/>
                  </a:rPr>
                  <a:t>𝑘</a:t>
                </a:r>
                <a:r>
                  <a:rPr lang="sr-Latn-RS" sz="1200" kern="1200" dirty="0">
                    <a:solidFill>
                      <a:schemeClr val="tx1"/>
                    </a:solidFill>
                    <a:effectLst/>
                    <a:latin typeface="+mn-lt"/>
                    <a:ea typeface="+mn-ea"/>
                    <a:cs typeface="+mn-cs"/>
                  </a:rPr>
                  <a:t>kompleksne amplitude verovatnoća.</a:t>
                </a:r>
              </a:p>
              <a:p>
                <a:pPr algn="just"/>
                <a:endParaRPr lang="sr-Latn-RS" sz="1200" kern="1200" dirty="0">
                  <a:solidFill>
                    <a:schemeClr val="tx1"/>
                  </a:solidFill>
                  <a:effectLst/>
                  <a:latin typeface="+mn-lt"/>
                  <a:ea typeface="+mn-ea"/>
                  <a:cs typeface="+mn-cs"/>
                </a:endParaRPr>
              </a:p>
              <a:p>
                <a:pPr algn="just"/>
                <a:r>
                  <a:rPr lang="sr-Latn-RS" sz="1200" kern="1200" dirty="0">
                    <a:solidFill>
                      <a:schemeClr val="tx1"/>
                    </a:solidFill>
                    <a:effectLst/>
                    <a:latin typeface="+mn-lt"/>
                    <a:ea typeface="+mn-ea"/>
                    <a:cs typeface="+mn-cs"/>
                  </a:rPr>
                  <a:t>Za amplitude verovatnoća važi uslov normalizacije</a:t>
                </a:r>
                <a:r>
                  <a:rPr lang="en-ZA" sz="1200" kern="1200" baseline="0" dirty="0">
                    <a:solidFill>
                      <a:schemeClr val="tx1"/>
                    </a:solidFill>
                    <a:effectLst/>
                    <a:latin typeface="+mn-lt"/>
                    <a:ea typeface="+mn-ea"/>
                    <a:cs typeface="+mn-cs"/>
                  </a:rPr>
                  <a:t> </a:t>
                </a:r>
              </a:p>
              <a:p>
                <a:pPr algn="just"/>
                <a:r>
                  <a:rPr lang="en-ZA" sz="1200" i="0">
                    <a:latin typeface="Cambria Math" panose="02040503050406030204" pitchFamily="18" charset="0"/>
                  </a:rPr>
                  <a:t>∑1</a:t>
                </a:r>
                <a:r>
                  <a:rPr lang="sr-Latn-RS" sz="1200" i="0">
                    <a:latin typeface="Cambria Math" panose="02040503050406030204" pitchFamily="18" charset="0"/>
                  </a:rPr>
                  <a:t>_</a:t>
                </a:r>
                <a:r>
                  <a:rPr lang="en-ZA" sz="1200" i="0">
                    <a:latin typeface="Cambria Math" panose="02040503050406030204" pitchFamily="18" charset="0"/>
                  </a:rPr>
                  <a:t>(</a:t>
                </a:r>
                <a:r>
                  <a:rPr lang="sr-Latn-RS" sz="1200" i="0">
                    <a:latin typeface="Cambria Math" panose="02040503050406030204" pitchFamily="18" charset="0"/>
                  </a:rPr>
                  <a:t>𝑘=0</a:t>
                </a:r>
                <a:r>
                  <a:rPr lang="en-ZA" sz="1200" i="0">
                    <a:latin typeface="Cambria Math" panose="02040503050406030204" pitchFamily="18" charset="0"/>
                  </a:rPr>
                  <a:t>)</a:t>
                </a:r>
                <a:r>
                  <a:rPr lang="en-US" sz="1200" i="0">
                    <a:latin typeface="Cambria Math" panose="02040503050406030204" pitchFamily="18" charset="0"/>
                  </a:rPr>
                  <a:t>^(</a:t>
                </a:r>
                <a:r>
                  <a:rPr lang="en-US" sz="1200" b="0" i="0">
                    <a:latin typeface="Cambria Math" panose="02040503050406030204" pitchFamily="18" charset="0"/>
                  </a:rPr>
                  <a:t>𝑛−1)</a:t>
                </a:r>
                <a:r>
                  <a:rPr lang="sr-Latn-RS" sz="1200" b="0" i="0">
                    <a:latin typeface="Cambria Math" panose="02040503050406030204" pitchFamily="18" charset="0"/>
                  </a:rPr>
                  <a:t>▒</a:t>
                </a:r>
                <a:r>
                  <a:rPr lang="en-US" sz="1200" b="0" i="0">
                    <a:latin typeface="Cambria Math" panose="02040503050406030204" pitchFamily="18" charset="0"/>
                  </a:rPr>
                  <a:t>〖</a:t>
                </a:r>
                <a:r>
                  <a:rPr lang="en-ZA" sz="1200" b="0" i="0">
                    <a:latin typeface="Cambria Math" panose="02040503050406030204" pitchFamily="18" charset="0"/>
                  </a:rPr>
                  <a:t>|</a:t>
                </a:r>
                <a:r>
                  <a:rPr lang="sr-Latn-RS" sz="1200" i="0">
                    <a:latin typeface="Cambria Math" panose="02040503050406030204" pitchFamily="18" charset="0"/>
                  </a:rPr>
                  <a:t>𝑎</a:t>
                </a:r>
                <a:r>
                  <a:rPr lang="en-ZA" sz="1200" i="0">
                    <a:latin typeface="Cambria Math" panose="02040503050406030204" pitchFamily="18" charset="0"/>
                  </a:rPr>
                  <a:t>_</a:t>
                </a:r>
                <a:r>
                  <a:rPr lang="sr-Latn-RS" sz="1200" i="0">
                    <a:latin typeface="Cambria Math" panose="02040503050406030204" pitchFamily="18" charset="0"/>
                  </a:rPr>
                  <a:t>𝑘 |</a:t>
                </a:r>
                <a:r>
                  <a:rPr lang="en-ZA" sz="1200" i="0">
                    <a:latin typeface="Cambria Math" panose="02040503050406030204" pitchFamily="18" charset="0"/>
                  </a:rPr>
                  <a:t>^</a:t>
                </a:r>
                <a:r>
                  <a:rPr lang="sr-Latn-RS" sz="1200" i="0">
                    <a:latin typeface="Cambria Math" panose="02040503050406030204" pitchFamily="18" charset="0"/>
                  </a:rPr>
                  <a:t>2=1</a:t>
                </a:r>
                <a:r>
                  <a:rPr lang="en-US" sz="1200" i="0">
                    <a:latin typeface="Cambria Math" panose="02040503050406030204" pitchFamily="18" charset="0"/>
                  </a:rPr>
                  <a:t>〗</a:t>
                </a:r>
                <a:r>
                  <a:rPr lang="en-US" sz="1200" b="0" i="0">
                    <a:latin typeface="Cambria Math" panose="02040503050406030204" pitchFamily="18" charset="0"/>
                  </a:rPr>
                  <a:t>     ili </a:t>
                </a:r>
                <a:r>
                  <a:rPr lang="sr-Latn-RS" sz="1200" i="0" kern="1200">
                    <a:solidFill>
                      <a:schemeClr val="tx1"/>
                    </a:solidFill>
                    <a:effectLst/>
                    <a:latin typeface="+mn-lt"/>
                    <a:ea typeface="+mn-ea"/>
                    <a:cs typeface="+mn-cs"/>
                  </a:rPr>
                  <a:t>ekivalentno, </a:t>
                </a:r>
                <a:r>
                  <a:rPr lang="en-ZA" sz="1200" i="0" kern="1200">
                    <a:solidFill>
                      <a:schemeClr val="tx1"/>
                    </a:solidFill>
                    <a:effectLst/>
                    <a:latin typeface="+mn-lt"/>
                    <a:ea typeface="+mn-ea"/>
                    <a:cs typeface="+mn-cs"/>
                  </a:rPr>
                  <a:t>⟨</a:t>
                </a:r>
                <a:r>
                  <a:rPr lang="sr-Latn-RS" sz="1200" i="0" kern="1200">
                    <a:solidFill>
                      <a:schemeClr val="tx1"/>
                    </a:solidFill>
                    <a:effectLst/>
                    <a:latin typeface="+mn-lt"/>
                    <a:ea typeface="+mn-ea"/>
                    <a:cs typeface="+mn-cs"/>
                  </a:rPr>
                  <a:t>𝑆│𝑆⟩=1</a:t>
                </a:r>
                <a:r>
                  <a:rPr lang="en-US" sz="1200" b="0" i="0" kern="1200">
                    <a:solidFill>
                      <a:schemeClr val="tx1"/>
                    </a:solidFill>
                    <a:effectLst/>
                    <a:latin typeface="Cambria Math" panose="02040503050406030204" pitchFamily="18" charset="0"/>
                    <a:ea typeface="+mn-ea"/>
                    <a:cs typeface="+mn-cs"/>
                  </a:rPr>
                  <a:t>.</a:t>
                </a:r>
                <a:endParaRPr lang="en-US"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8</a:t>
            </a:fld>
            <a:endParaRPr lang="en-US"/>
          </a:p>
        </p:txBody>
      </p:sp>
    </p:spTree>
    <p:extLst>
      <p:ext uri="{BB962C8B-B14F-4D97-AF65-F5344CB8AC3E}">
        <p14:creationId xmlns:p14="http://schemas.microsoft.com/office/powerpoint/2010/main" val="31265371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dirty="0"/>
                  <a:t>An important property of quantum operations is that they are reversible. When a unitary operator is applied to a vector, it changes it position within the Bloch sphere. Applying its conjugate transpose will return the vector to its original state.</a:t>
                </a:r>
              </a:p>
              <a:p>
                <a:pPr algn="just"/>
                <a:endParaRPr lang="en-ZA" dirty="0"/>
              </a:p>
              <a:p>
                <a:pPr algn="just"/>
                <a:r>
                  <a:rPr lang="en-ZA" dirty="0"/>
                  <a:t>If the operator is Hermitian, it is equal to its conjugate transpose, meaning the same operator can perform the reverse operation.</a:t>
                </a:r>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latin typeface="+mn-lt"/>
                  </a:rPr>
                  <a:t>Operations done by quantum gates are expressed as unitary matrices. </a:t>
                </a:r>
                <a:r>
                  <a:rPr lang="en-US" sz="2000" dirty="0"/>
                  <a:t>Any unitary operation </a:t>
                </a:r>
                <a:r>
                  <a:rPr lang="en-US" sz="2000" b="0" i="0">
                    <a:latin typeface="Cambria Math" panose="02040503050406030204" pitchFamily="18" charset="0"/>
                  </a:rPr>
                  <a:t>𝑈</a:t>
                </a:r>
                <a:r>
                  <a:rPr lang="en-US" sz="2000" i="0">
                    <a:latin typeface="Cambria Math" panose="02040503050406030204" pitchFamily="18" charset="0"/>
                  </a:rPr>
                  <a:t> </a:t>
                </a:r>
                <a:r>
                  <a:rPr lang="en-US" sz="2000" dirty="0"/>
                  <a:t>can be reversed via its adjoint </a:t>
                </a:r>
                <a:r>
                  <a:rPr lang="en-US" sz="2000" i="0">
                    <a:latin typeface="Cambria Math" panose="02040503050406030204" pitchFamily="18" charset="0"/>
                  </a:rPr>
                  <a:t>𝑈^</a:t>
                </a:r>
                <a:r>
                  <a:rPr lang="en-US" sz="2000" i="0">
                    <a:latin typeface="Cambria Math" panose="02040503050406030204" pitchFamily="18" charset="0"/>
                    <a:ea typeface="Cambria Math" panose="02040503050406030204" pitchFamily="18" charset="0"/>
                  </a:rPr>
                  <a:t>†</a:t>
                </a:r>
                <a:r>
                  <a:rPr lang="en-US" sz="2000" b="0" i="0">
                    <a:latin typeface="Cambria Math" panose="02040503050406030204" pitchFamily="18" charset="0"/>
                    <a:ea typeface="Cambria Math" panose="02040503050406030204" pitchFamily="18" charset="0"/>
                  </a:rPr>
                  <a:t>.</a:t>
                </a:r>
                <a:r>
                  <a:rPr lang="en-US" sz="2000" dirty="0"/>
                  <a:t> In other words, any quantum</a:t>
                </a:r>
                <a:r>
                  <a:rPr lang="en-US" sz="2000" baseline="0" dirty="0"/>
                  <a:t> operation can be reversed by applying the adjoint matrix. </a:t>
                </a:r>
                <a:r>
                  <a:rPr lang="en-US" sz="2000" i="0" dirty="0">
                    <a:solidFill>
                      <a:schemeClr val="tx1"/>
                    </a:solidFill>
                    <a:latin typeface="+mn-lt"/>
                  </a:rPr>
                  <a:t>Unitary operations are reversible and  preserve a vector length and the normalization constraint.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i="0" dirty="0">
                  <a:solidFill>
                    <a:schemeClr val="tx1"/>
                  </a:solidFill>
                  <a:latin typeface="+mn-lt"/>
                </a:endParaRP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000" i="0" dirty="0">
                    <a:solidFill>
                      <a:schemeClr val="tx1"/>
                    </a:solidFill>
                    <a:latin typeface="+mn-lt"/>
                  </a:rPr>
                  <a:t> Unitary matrix </a:t>
                </a:r>
                <a:r>
                  <a:rPr lang="en-US" sz="2000" dirty="0">
                    <a:latin typeface="+mn-lt"/>
                  </a:rPr>
                  <a:t>is a matrix in which the product of the matrix with its conjugate transpose is an identity matrix.</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000" i="0" dirty="0">
                    <a:solidFill>
                      <a:schemeClr val="tx1"/>
                    </a:solidFill>
                    <a:latin typeface="+mn-lt"/>
                  </a:rPr>
                  <a:t>To obtain the adjoint of a unitary matrix take a complex conjugate of a matrix and take a matrix transpose.</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000" i="0" dirty="0">
                    <a:solidFill>
                      <a:schemeClr val="tx1"/>
                    </a:solidFill>
                    <a:latin typeface="+mn-lt"/>
                  </a:rPr>
                  <a:t>This is an example of obtaining adjoint of a matrix Y. To obtain a complex conjugate we simply change signs in front of the imaginary parts of complex numbers. In the second step we swap rows and columns.  For this specific matrix we see that adjoint of the matrix is equal to matrix itself. Such matrices are called self-adjoint matrices and are common in quantum computing.</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endParaRPr lang="en-US" sz="2000" i="0" dirty="0">
                  <a:solidFill>
                    <a:schemeClr val="tx1"/>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2000" baseline="0" dirty="0"/>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9</a:t>
            </a:fld>
            <a:endParaRPr lang="en-US"/>
          </a:p>
        </p:txBody>
      </p:sp>
    </p:spTree>
    <p:extLst>
      <p:ext uri="{BB962C8B-B14F-4D97-AF65-F5344CB8AC3E}">
        <p14:creationId xmlns:p14="http://schemas.microsoft.com/office/powerpoint/2010/main" val="26623847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dirty="0"/>
              <a:t>Quantum gates are classified by how many qubits they act on: single-qubit, two-qubit, or three-qubit gates.</a:t>
            </a:r>
          </a:p>
          <a:p>
            <a:pPr algn="just"/>
            <a:endParaRPr lang="en-ZA" b="0" dirty="0"/>
          </a:p>
          <a:p>
            <a:pPr marL="171450" indent="-171450" algn="just">
              <a:buFont typeface="Arial" panose="020B0604020202020204" pitchFamily="34" charset="0"/>
              <a:buChar char="•"/>
            </a:pPr>
            <a:r>
              <a:rPr lang="en-ZA" b="0" dirty="0"/>
              <a:t>Single-qubit gates are represented by a 2×2 unitary matrix. Depending on the quantum processor, there are about 20 predefined single-qubit gates.</a:t>
            </a:r>
          </a:p>
          <a:p>
            <a:pPr marL="171450" indent="-171450" algn="just">
              <a:buFont typeface="Arial" panose="020B0604020202020204" pitchFamily="34" charset="0"/>
              <a:buChar char="•"/>
            </a:pPr>
            <a:endParaRPr lang="en-ZA" b="0" dirty="0"/>
          </a:p>
          <a:p>
            <a:pPr marL="171450" indent="-171450" algn="just">
              <a:buFont typeface="Arial" panose="020B0604020202020204" pitchFamily="34" charset="0"/>
              <a:buChar char="•"/>
            </a:pPr>
            <a:r>
              <a:rPr lang="en-ZA" b="0" dirty="0"/>
              <a:t>Two-qubit gates take two qubits as input and are represented by a 4×4 unitary matrix. There are about 5 predefined two-qubit gates.</a:t>
            </a:r>
          </a:p>
          <a:p>
            <a:pPr marL="171450" indent="-171450" algn="just">
              <a:buFont typeface="Arial" panose="020B0604020202020204" pitchFamily="34" charset="0"/>
              <a:buChar char="•"/>
            </a:pPr>
            <a:endParaRPr lang="en-ZA" b="0" dirty="0"/>
          </a:p>
          <a:p>
            <a:pPr marL="171450" indent="-171450" algn="just">
              <a:buFont typeface="Arial" panose="020B0604020202020204" pitchFamily="34" charset="0"/>
              <a:buChar char="•"/>
            </a:pPr>
            <a:r>
              <a:rPr lang="en-ZA" b="0" dirty="0"/>
              <a:t>Three-qubit gates take three qubits as input and are represented by an 8×8 unitary matrix. There are 2 predefined three-qubit gates.</a:t>
            </a:r>
          </a:p>
        </p:txBody>
      </p:sp>
      <p:sp>
        <p:nvSpPr>
          <p:cNvPr id="4" name="Slide Number Placeholder 3"/>
          <p:cNvSpPr>
            <a:spLocks noGrp="1"/>
          </p:cNvSpPr>
          <p:nvPr>
            <p:ph type="sldNum" sz="quarter" idx="5"/>
          </p:nvPr>
        </p:nvSpPr>
        <p:spPr/>
        <p:txBody>
          <a:bodyPr/>
          <a:lstStyle/>
          <a:p>
            <a:fld id="{1B2CE5E3-B8BD-D040-AC87-D640191DD8F1}" type="slidenum">
              <a:rPr lang="en-US" smtClean="0"/>
              <a:t>10</a:t>
            </a:fld>
            <a:endParaRPr lang="en-US"/>
          </a:p>
        </p:txBody>
      </p:sp>
    </p:spTree>
    <p:extLst>
      <p:ext uri="{BB962C8B-B14F-4D97-AF65-F5344CB8AC3E}">
        <p14:creationId xmlns:p14="http://schemas.microsoft.com/office/powerpoint/2010/main" val="14070618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B2CE5E3-B8BD-D040-AC87-D640191DD8F1}" type="slidenum">
              <a:rPr lang="en-US" smtClean="0"/>
              <a:t>11</a:t>
            </a:fld>
            <a:endParaRPr lang="en-US"/>
          </a:p>
        </p:txBody>
      </p:sp>
    </p:spTree>
    <p:extLst>
      <p:ext uri="{BB962C8B-B14F-4D97-AF65-F5344CB8AC3E}">
        <p14:creationId xmlns:p14="http://schemas.microsoft.com/office/powerpoint/2010/main" val="33132142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dirty="0"/>
              <a:t>Quantum gates can generally be grouped into Pauli, rotation, phase, and other gates. There are also non-unitary operations, such as measurement and reset.</a:t>
            </a:r>
          </a:p>
          <a:p>
            <a:pPr algn="just"/>
            <a:endParaRPr lang="en-ZA" b="0" dirty="0"/>
          </a:p>
          <a:p>
            <a:pPr algn="just"/>
            <a:r>
              <a:rPr lang="en-ZA" dirty="0"/>
              <a:t>Each gate corresponds to an instruction in quantum assembly language. The table can therefore be viewed as a set of basic quantum instructions, where the label inside each gate symbol usually indicates the name of the gate.</a:t>
            </a:r>
          </a:p>
        </p:txBody>
      </p:sp>
      <p:sp>
        <p:nvSpPr>
          <p:cNvPr id="4" name="Slide Number Placeholder 3"/>
          <p:cNvSpPr>
            <a:spLocks noGrp="1"/>
          </p:cNvSpPr>
          <p:nvPr>
            <p:ph type="sldNum" sz="quarter" idx="5"/>
          </p:nvPr>
        </p:nvSpPr>
        <p:spPr/>
        <p:txBody>
          <a:bodyPr/>
          <a:lstStyle/>
          <a:p>
            <a:fld id="{1B2CE5E3-B8BD-D040-AC87-D640191DD8F1}" type="slidenum">
              <a:rPr lang="en-US" smtClean="0"/>
              <a:t>12</a:t>
            </a:fld>
            <a:endParaRPr lang="en-US"/>
          </a:p>
        </p:txBody>
      </p:sp>
    </p:spTree>
    <p:extLst>
      <p:ext uri="{BB962C8B-B14F-4D97-AF65-F5344CB8AC3E}">
        <p14:creationId xmlns:p14="http://schemas.microsoft.com/office/powerpoint/2010/main" val="2370630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b="0" dirty="0"/>
              <a:t>The table lists the Pauli gates, which are fundamental single-qubit operations in quantum computing. Each gate is represented by its symbol, transformation matrix, and quantum assembly instruction.</a:t>
            </a:r>
          </a:p>
          <a:p>
            <a:pPr algn="just"/>
            <a:endParaRPr lang="en-ZA" b="0" dirty="0"/>
          </a:p>
          <a:p>
            <a:pPr algn="just"/>
            <a:r>
              <a:rPr lang="en-ZA" b="0" dirty="0"/>
              <a:t>Gate names are written in uppercase letters, while the corresponding matrices are denoted by the same letters in </a:t>
            </a:r>
            <a:r>
              <a:rPr lang="en-ZA" b="0" i="1" dirty="0"/>
              <a:t>italic</a:t>
            </a:r>
            <a:r>
              <a:rPr lang="en-ZA" b="0" dirty="0"/>
              <a:t>.</a:t>
            </a:r>
          </a:p>
          <a:p>
            <a:pPr algn="just"/>
            <a:endParaRPr lang="en-ZA" b="0" dirty="0"/>
          </a:p>
          <a:p>
            <a:pPr algn="just"/>
            <a:r>
              <a:rPr lang="en-ZA" b="0" dirty="0"/>
              <a:t>The assembly instruction, shown on the right, uses the gate name in lowercase, followed by the qubit name and its index.</a:t>
            </a:r>
          </a:p>
        </p:txBody>
      </p:sp>
      <p:sp>
        <p:nvSpPr>
          <p:cNvPr id="4" name="Slide Number Placeholder 3"/>
          <p:cNvSpPr>
            <a:spLocks noGrp="1"/>
          </p:cNvSpPr>
          <p:nvPr>
            <p:ph type="sldNum" sz="quarter" idx="5"/>
          </p:nvPr>
        </p:nvSpPr>
        <p:spPr/>
        <p:txBody>
          <a:bodyPr/>
          <a:lstStyle/>
          <a:p>
            <a:fld id="{1B2CE5E3-B8BD-D040-AC87-D640191DD8F1}" type="slidenum">
              <a:rPr lang="en-US" smtClean="0"/>
              <a:t>13</a:t>
            </a:fld>
            <a:endParaRPr lang="en-US"/>
          </a:p>
        </p:txBody>
      </p:sp>
    </p:spTree>
    <p:extLst>
      <p:ext uri="{BB962C8B-B14F-4D97-AF65-F5344CB8AC3E}">
        <p14:creationId xmlns:p14="http://schemas.microsoft.com/office/powerpoint/2010/main" val="11786365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ZA" b="0" dirty="0"/>
                  <a:t>The Identity gate applies the identity transformation, leaving the qubit state unchanged. It can be compared to a NOP (no-operation) instruction in classical computing. On real quantum hardware, an Identity gate may occupy a short amount of execution time.</a:t>
                </a:r>
              </a:p>
              <a:p>
                <a:endParaRPr lang="en-ZA" b="0" dirty="0"/>
              </a:p>
              <a:p>
                <a:pPr marL="171450" indent="-171450">
                  <a:buFont typeface="Arial" panose="020B0604020202020204" pitchFamily="34" charset="0"/>
                  <a:buChar char="•"/>
                </a:pPr>
                <a:r>
                  <a:rPr lang="en-ZA" b="0" dirty="0"/>
                  <a:t>The Identity gate is represented by a square symbol with the letter </a:t>
                </a:r>
                <a:r>
                  <a:rPr lang="en-ZA" b="0" i="0" dirty="0"/>
                  <a:t>I</a:t>
                </a:r>
                <a:r>
                  <a:rPr lang="en-ZA" b="0" dirty="0"/>
                  <a:t> in the centre.</a:t>
                </a:r>
              </a:p>
              <a:p>
                <a:pPr marL="171450" indent="-171450">
                  <a:buFont typeface="Arial" panose="020B0604020202020204" pitchFamily="34" charset="0"/>
                  <a:buChar char="•"/>
                </a:pPr>
                <a:r>
                  <a:rPr lang="en-ZA" b="0" dirty="0"/>
                  <a:t>Its operator is the identity matrix, which leaves a state vector unchanged when multiplied by it.</a:t>
                </a:r>
              </a:p>
              <a:p>
                <a:pPr marL="171450" indent="-171450">
                  <a:buFont typeface="Arial" panose="020B0604020202020204" pitchFamily="34" charset="0"/>
                  <a:buChar char="•"/>
                </a:pPr>
                <a:r>
                  <a:rPr lang="en-ZA" b="0" dirty="0"/>
                  <a:t>The corresponding quantum assembly instruction is id, followed by the qubit name and its index.</a:t>
                </a:r>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sr-Latn-RS" sz="1200" dirty="0"/>
                  <a:t>Da krenemo od najjednostavnijeg, jediničnog kola. Simbol kola je kvadrat sa slovom I u sredini po engleskoj reči </a:t>
                </a:r>
                <a:r>
                  <a:rPr lang="sr-Latn-RS" sz="1200" dirty="0" err="1"/>
                  <a:t>identity</a:t>
                </a:r>
                <a:r>
                  <a:rPr lang="sr-Latn-RS" sz="1200" dirty="0"/>
                  <a:t> koju u ovom slučaju prevodimo kao jedinično. Matrica kola je jedinična matrica. Videli smo ranije da množenje vektora ili matrica jediničnom matricom ne menja taj vektor i matricu, tako da je primena ovog kola ekvivalentna </a:t>
                </a:r>
                <a:r>
                  <a:rPr lang="sr-Latn-RS" sz="1200" dirty="0" err="1"/>
                  <a:t>nop</a:t>
                </a:r>
                <a:r>
                  <a:rPr lang="sr-Latn-RS" sz="1200" dirty="0"/>
                  <a:t> ili no-</a:t>
                </a:r>
                <a:r>
                  <a:rPr lang="sr-Latn-RS" sz="1200" dirty="0" err="1"/>
                  <a:t>operation</a:t>
                </a:r>
                <a:r>
                  <a:rPr lang="sr-Latn-RS" sz="1200" dirty="0"/>
                  <a:t> instrukciju u klasičnom računarstvu. Iz ovog se razloga jedinično kolo naziva i jedinična operacija.</a:t>
                </a:r>
              </a:p>
              <a:p>
                <a:pPr marL="0" marR="0" lvl="0" indent="0" algn="l" defTabSz="914400" rtl="0" eaLnBrk="1" fontAlgn="auto" latinLnBrk="0" hangingPunct="1">
                  <a:lnSpc>
                    <a:spcPct val="100000"/>
                  </a:lnSpc>
                  <a:spcBef>
                    <a:spcPts val="0"/>
                  </a:spcBef>
                  <a:spcAft>
                    <a:spcPts val="0"/>
                  </a:spcAft>
                  <a:buClrTx/>
                  <a:buSzTx/>
                  <a:buFontTx/>
                  <a:buNone/>
                  <a:tabLst/>
                  <a:defRPr/>
                </a:pPr>
                <a:r>
                  <a:rPr lang="sr-Latn-RS" sz="1200" dirty="0"/>
                  <a:t>Ovo je na slici ilustrovano množenjem </a:t>
                </a:r>
                <a:r>
                  <a:rPr lang="en-US" sz="1200" i="0">
                    <a:latin typeface="Cambria Math" panose="02040503050406030204" pitchFamily="18" charset="0"/>
                  </a:rPr>
                  <a:t>|</a:t>
                </a:r>
                <a:r>
                  <a:rPr lang="sr-Latn-RS" sz="1200" b="0" i="0">
                    <a:latin typeface="Cambria Math" panose="02040503050406030204" pitchFamily="18" charset="0"/>
                  </a:rPr>
                  <a:t>0⟩</a:t>
                </a:r>
                <a:r>
                  <a:rPr lang="sr-Latn-RS" sz="1200" dirty="0"/>
                  <a:t> i </a:t>
                </a:r>
                <a:r>
                  <a:rPr lang="en-US" sz="1200" i="0">
                    <a:latin typeface="Cambria Math" panose="02040503050406030204" pitchFamily="18" charset="0"/>
                  </a:rPr>
                  <a:t>|</a:t>
                </a:r>
                <a:r>
                  <a:rPr lang="sr-Latn-RS" sz="1200" b="0" i="0">
                    <a:latin typeface="Cambria Math" panose="02040503050406030204" pitchFamily="18" charset="0"/>
                  </a:rPr>
                  <a:t>1⟩</a:t>
                </a:r>
                <a:r>
                  <a:rPr lang="sr-Latn-RS" sz="1200" dirty="0"/>
                  <a:t> jediničnom matricom koje daje isti taj vektor. </a:t>
                </a:r>
              </a:p>
              <a:p>
                <a:pPr marL="0" marR="0" lvl="0" indent="0" algn="l" defTabSz="914400" rtl="0" eaLnBrk="1" fontAlgn="auto" latinLnBrk="0" hangingPunct="1">
                  <a:lnSpc>
                    <a:spcPct val="100000"/>
                  </a:lnSpc>
                  <a:spcBef>
                    <a:spcPts val="0"/>
                  </a:spcBef>
                  <a:spcAft>
                    <a:spcPts val="0"/>
                  </a:spcAft>
                  <a:buClrTx/>
                  <a:buSzTx/>
                  <a:buFontTx/>
                  <a:buNone/>
                  <a:tabLst/>
                  <a:defRPr/>
                </a:pPr>
                <a:r>
                  <a:rPr lang="sr-Latn-RS" sz="1200" dirty="0"/>
                  <a:t>QASM instrukcija ovog kola je </a:t>
                </a:r>
                <a:r>
                  <a:rPr lang="en-US" sz="1200" dirty="0">
                    <a:latin typeface="AndaleMono" panose="020B0509000000000004" pitchFamily="49" charset="0"/>
                  </a:rPr>
                  <a:t>id</a:t>
                </a:r>
                <a:r>
                  <a:rPr lang="en-US" sz="1200" dirty="0">
                    <a:latin typeface="+mn-lt"/>
                  </a:rPr>
                  <a:t> </a:t>
                </a:r>
                <a:r>
                  <a:rPr lang="sr-Latn-RS" sz="1200" dirty="0">
                    <a:latin typeface="+mn-lt"/>
                  </a:rPr>
                  <a:t>iza koje sledi ime i indeks kubita na koje se kolo, odnosno operacija primenjuje.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14</a:t>
            </a:fld>
            <a:endParaRPr lang="en-US"/>
          </a:p>
        </p:txBody>
      </p:sp>
    </p:spTree>
    <p:extLst>
      <p:ext uri="{BB962C8B-B14F-4D97-AF65-F5344CB8AC3E}">
        <p14:creationId xmlns:p14="http://schemas.microsoft.com/office/powerpoint/2010/main" val="17467215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dirty="0"/>
              <a:t>The Pauli-X, Pauli-Y, and Pauli-Z gates are based on the Pauli matrices, introduced by physicist Wolfgang Pauli in 1927.</a:t>
            </a:r>
            <a:r>
              <a:rPr lang="en-ZA" b="0" dirty="0"/>
              <a:t>  These matrices are both unitary and Hermitian, meaning that applying the same gate twice returns the qubit to its original state. They are fundamental building blocks in quantum computing.</a:t>
            </a:r>
          </a:p>
          <a:p>
            <a:pPr algn="just"/>
            <a:endParaRPr lang="en-ZA" b="0" dirty="0"/>
          </a:p>
          <a:p>
            <a:pPr marL="228600" indent="-228600" algn="just">
              <a:buFont typeface="+mj-lt"/>
              <a:buAutoNum type="arabicPeriod"/>
            </a:pPr>
            <a:r>
              <a:rPr lang="en-ZA" b="0" dirty="0"/>
              <a:t>Pauli-X, or X gate, rotates a qubit by </a:t>
            </a:r>
            <a:r>
              <a:rPr lang="el-GR" b="0" dirty="0"/>
              <a:t>π </a:t>
            </a:r>
            <a:r>
              <a:rPr lang="en-ZA" b="0" dirty="0"/>
              <a:t>radians (180°) about the x-axis of the Bloch sphere, swapping the probability amplitudes of ∣0⟩ and ∣1⟩. It acts as a quantum NOT gate.</a:t>
            </a:r>
          </a:p>
          <a:p>
            <a:pPr marL="228600" indent="-228600" algn="just">
              <a:buFont typeface="+mj-lt"/>
              <a:buAutoNum type="arabicPeriod"/>
            </a:pPr>
            <a:endParaRPr lang="en-ZA" b="0" dirty="0"/>
          </a:p>
          <a:p>
            <a:pPr marL="228600" indent="-228600" algn="just">
              <a:buFont typeface="+mj-lt"/>
              <a:buAutoNum type="arabicPeriod"/>
            </a:pPr>
            <a:r>
              <a:rPr lang="en-ZA" b="0" dirty="0"/>
              <a:t>Pauli-Y or Y gate rotates a qubit by </a:t>
            </a:r>
            <a:r>
              <a:rPr lang="el-GR" b="0" dirty="0"/>
              <a:t>π </a:t>
            </a:r>
            <a:r>
              <a:rPr lang="en-ZA" b="0" dirty="0"/>
              <a:t>radians about the y-axis of the Bloch sphere, swapping the probability amplitudes of ∣0⟩ and ∣1⟩ while adding a phase shift of ±𝑖.</a:t>
            </a:r>
          </a:p>
          <a:p>
            <a:pPr marL="228600" indent="-228600" algn="just">
              <a:buFont typeface="+mj-lt"/>
              <a:buAutoNum type="arabicPeriod"/>
            </a:pPr>
            <a:endParaRPr lang="en-ZA" b="0" dirty="0"/>
          </a:p>
          <a:p>
            <a:pPr marL="228600" indent="-228600" algn="just">
              <a:buFont typeface="+mj-lt"/>
              <a:buAutoNum type="arabicPeriod"/>
            </a:pPr>
            <a:r>
              <a:rPr lang="en-ZA" b="0" dirty="0"/>
              <a:t>Pauli-Z or Z gate): Rotates a qubit by </a:t>
            </a:r>
            <a:r>
              <a:rPr lang="el-GR" b="0" dirty="0"/>
              <a:t>π </a:t>
            </a:r>
            <a:r>
              <a:rPr lang="en-ZA" b="0" dirty="0"/>
              <a:t>radians about the z-axis of the Bloch sphere, flipping the phase of the ∣1⟩ state while leaving ∣0⟩ unchanged.</a:t>
            </a:r>
          </a:p>
        </p:txBody>
      </p:sp>
      <p:sp>
        <p:nvSpPr>
          <p:cNvPr id="4" name="Slide Number Placeholder 3"/>
          <p:cNvSpPr>
            <a:spLocks noGrp="1"/>
          </p:cNvSpPr>
          <p:nvPr>
            <p:ph type="sldNum" sz="quarter" idx="5"/>
          </p:nvPr>
        </p:nvSpPr>
        <p:spPr/>
        <p:txBody>
          <a:bodyPr/>
          <a:lstStyle/>
          <a:p>
            <a:fld id="{1B2CE5E3-B8BD-D040-AC87-D640191DD8F1}" type="slidenum">
              <a:rPr lang="en-US" smtClean="0"/>
              <a:t>15</a:t>
            </a:fld>
            <a:endParaRPr lang="en-US"/>
          </a:p>
        </p:txBody>
      </p:sp>
    </p:spTree>
    <p:extLst>
      <p:ext uri="{BB962C8B-B14F-4D97-AF65-F5344CB8AC3E}">
        <p14:creationId xmlns:p14="http://schemas.microsoft.com/office/powerpoint/2010/main" val="189898303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dirty="0"/>
                  <a:t>The Pauli-X gate, also called the NOT gate, acts as a bit-flip operator, interchanging the probability amplitudes of ∣0⟩ and ∣1⟩ while preserving their magnitudes</a:t>
                </a:r>
                <a:r>
                  <a:rPr lang="en-US" dirty="0"/>
                  <a:t>.</a:t>
                </a:r>
              </a:p>
              <a:p>
                <a:pPr algn="just"/>
                <a:endParaRPr lang="en-US" dirty="0"/>
              </a:p>
              <a:p>
                <a:pPr algn="just"/>
                <a:r>
                  <a:rPr lang="en-ZA" dirty="0"/>
                  <a:t>For example, consider a quantum state ∣S⟩ defined by the angles </a:t>
                </a:r>
                <a:r>
                  <a:rPr lang="el-GR" dirty="0"/>
                  <a:t>θ = π/8 </a:t>
                </a:r>
                <a:r>
                  <a:rPr lang="en-ZA" dirty="0"/>
                  <a:t>and </a:t>
                </a:r>
                <a:r>
                  <a:rPr lang="el-GR" dirty="0"/>
                  <a:t>φ = 3π/8 </a:t>
                </a:r>
                <a:r>
                  <a:rPr lang="en-ZA" dirty="0"/>
                  <a:t>on the Bloch sphere.</a:t>
                </a:r>
              </a:p>
              <a:p>
                <a:pPr algn="just"/>
                <a:r>
                  <a:rPr lang="en-ZA" dirty="0"/>
                  <a:t>When we apply the Pauli-X gate by multiplying it with the state ∣S⟩, we observe that it swaps the probability amplitudes of ∣0⟩ and ∣1⟩, which corresponds to a </a:t>
                </a:r>
                <a:r>
                  <a:rPr lang="el-GR" dirty="0"/>
                  <a:t>π-</a:t>
                </a:r>
                <a:r>
                  <a:rPr lang="en-ZA" dirty="0"/>
                  <a:t>radian (180°) rotation about the x-axis of the Bloch sphere.</a:t>
                </a:r>
              </a:p>
              <a:p>
                <a:pPr algn="just"/>
                <a:endParaRPr lang="en-ZA" dirty="0"/>
              </a:p>
              <a:p>
                <a:pPr algn="just"/>
                <a:r>
                  <a:rPr lang="en-ZA" dirty="0"/>
                  <a:t>Mathematically, applying the Pauli-X gate transforms the state as:</a:t>
                </a:r>
              </a:p>
              <a:p>
                <a:pPr algn="just"/>
                <a:endParaRPr lang="en-US" dirty="0"/>
              </a:p>
              <a:p>
                <a:pPr algn="just"/>
                <a14:m>
                  <m:oMathPara xmlns:m="http://schemas.openxmlformats.org/officeDocument/2006/math">
                    <m:oMathParaPr>
                      <m:jc m:val="centerGroup"/>
                    </m:oMathParaPr>
                    <m:oMath xmlns:m="http://schemas.openxmlformats.org/officeDocument/2006/math">
                      <m:m>
                        <m:mPr>
                          <m:mcs>
                            <m:mc>
                              <m:mcPr>
                                <m:count m:val="3"/>
                                <m:mcJc m:val="center"/>
                              </m:mcPr>
                            </m:mc>
                          </m:mcs>
                          <m:ctrlPr>
                            <a:rPr lang="sr-Latn-RS" sz="1200" i="1" smtClean="0">
                              <a:solidFill>
                                <a:schemeClr val="tx1"/>
                              </a:solidFill>
                              <a:latin typeface="Cambria Math" panose="02040503050406030204" pitchFamily="18" charset="0"/>
                            </a:rPr>
                          </m:ctrlPr>
                        </m:mPr>
                        <m:mr>
                          <m:e>
                            <m:d>
                              <m:dPr>
                                <m:begChr m:val="|"/>
                                <m:endChr m:val="⟩"/>
                                <m:ctrlPr>
                                  <a:rPr lang="en-US" sz="1200" i="1">
                                    <a:solidFill>
                                      <a:schemeClr val="tx1"/>
                                    </a:solidFill>
                                    <a:latin typeface="Cambria Math" panose="02040503050406030204" pitchFamily="18" charset="0"/>
                                  </a:rPr>
                                </m:ctrlPr>
                              </m:dPr>
                              <m:e>
                                <m:r>
                                  <a:rPr lang="en-US" sz="1200" i="1">
                                    <a:solidFill>
                                      <a:schemeClr val="tx1"/>
                                    </a:solidFill>
                                    <a:latin typeface="Cambria Math" panose="02040503050406030204" pitchFamily="18" charset="0"/>
                                  </a:rPr>
                                  <m:t>𝑆</m:t>
                                </m:r>
                              </m:e>
                            </m:d>
                            <m:r>
                              <a:rPr lang="en-US" sz="1200">
                                <a:solidFill>
                                  <a:schemeClr val="tx1"/>
                                </a:solidFill>
                                <a:latin typeface="Cambria Math" panose="02040503050406030204" pitchFamily="18" charset="0"/>
                              </a:rPr>
                              <m:t>=</m:t>
                            </m:r>
                            <m:r>
                              <a:rPr lang="sr-Latn-RS" sz="1200" i="1">
                                <a:solidFill>
                                  <a:schemeClr val="tx1"/>
                                </a:solidFill>
                                <a:latin typeface="Cambria Math" panose="02040503050406030204" pitchFamily="18" charset="0"/>
                              </a:rPr>
                              <m:t>𝑎</m:t>
                            </m:r>
                            <m:d>
                              <m:dPr>
                                <m:begChr m:val="|"/>
                                <m:endChr m:val="⟩"/>
                                <m:ctrlPr>
                                  <a:rPr lang="en-US" sz="1200" i="1">
                                    <a:solidFill>
                                      <a:schemeClr val="tx1"/>
                                    </a:solidFill>
                                    <a:latin typeface="Cambria Math" panose="02040503050406030204" pitchFamily="18" charset="0"/>
                                  </a:rPr>
                                </m:ctrlPr>
                              </m:dPr>
                              <m:e>
                                <m:r>
                                  <a:rPr lang="en-US" sz="1200">
                                    <a:solidFill>
                                      <a:schemeClr val="tx1"/>
                                    </a:solidFill>
                                    <a:latin typeface="Cambria Math" panose="02040503050406030204" pitchFamily="18" charset="0"/>
                                  </a:rPr>
                                  <m:t>0</m:t>
                                </m:r>
                              </m:e>
                            </m:d>
                            <m:r>
                              <a:rPr lang="en-US" sz="1200">
                                <a:solidFill>
                                  <a:schemeClr val="tx1"/>
                                </a:solidFill>
                                <a:latin typeface="Cambria Math" panose="02040503050406030204" pitchFamily="18" charset="0"/>
                              </a:rPr>
                              <m:t>+</m:t>
                            </m:r>
                            <m:r>
                              <a:rPr lang="sr-Latn-RS" sz="1200" i="1">
                                <a:solidFill>
                                  <a:schemeClr val="tx1"/>
                                </a:solidFill>
                                <a:latin typeface="Cambria Math" panose="02040503050406030204" pitchFamily="18" charset="0"/>
                              </a:rPr>
                              <m:t>𝑏</m:t>
                            </m:r>
                            <m:d>
                              <m:dPr>
                                <m:begChr m:val="|"/>
                                <m:endChr m:val="⟩"/>
                                <m:ctrlPr>
                                  <a:rPr lang="en-US" sz="1200" i="1">
                                    <a:solidFill>
                                      <a:schemeClr val="tx1"/>
                                    </a:solidFill>
                                    <a:latin typeface="Cambria Math" panose="02040503050406030204" pitchFamily="18" charset="0"/>
                                  </a:rPr>
                                </m:ctrlPr>
                              </m:dPr>
                              <m:e>
                                <m:r>
                                  <a:rPr lang="en-US" sz="1200">
                                    <a:solidFill>
                                      <a:schemeClr val="tx1"/>
                                    </a:solidFill>
                                    <a:latin typeface="Cambria Math" panose="02040503050406030204" pitchFamily="18" charset="0"/>
                                  </a:rPr>
                                  <m:t>1</m:t>
                                </m:r>
                              </m:e>
                            </m:d>
                          </m:e>
                          <m:e>
                            <m:r>
                              <m:rPr>
                                <m:sty m:val="p"/>
                              </m:rPr>
                              <a:rPr lang="en-US" sz="1200" b="0" i="0" smtClean="0">
                                <a:solidFill>
                                  <a:schemeClr val="tx1"/>
                                </a:solidFill>
                                <a:latin typeface="Cambria Math" panose="02040503050406030204" pitchFamily="18" charset="0"/>
                              </a:rPr>
                              <m:t>into</m:t>
                            </m:r>
                          </m:e>
                          <m:e>
                            <m:r>
                              <a:rPr lang="sr-Latn-RS" sz="1200" i="1">
                                <a:solidFill>
                                  <a:schemeClr val="tx1"/>
                                </a:solidFill>
                                <a:latin typeface="Cambria Math" panose="02040503050406030204" pitchFamily="18" charset="0"/>
                              </a:rPr>
                              <m:t>𝑋</m:t>
                            </m:r>
                            <m:d>
                              <m:dPr>
                                <m:begChr m:val="|"/>
                                <m:endChr m:val="⟩"/>
                                <m:ctrlPr>
                                  <a:rPr lang="en-US" sz="1200" i="1">
                                    <a:solidFill>
                                      <a:schemeClr val="tx1"/>
                                    </a:solidFill>
                                    <a:latin typeface="Cambria Math" panose="02040503050406030204" pitchFamily="18" charset="0"/>
                                  </a:rPr>
                                </m:ctrlPr>
                              </m:dPr>
                              <m:e>
                                <m:r>
                                  <a:rPr lang="en-US" sz="1200" i="1">
                                    <a:solidFill>
                                      <a:schemeClr val="tx1"/>
                                    </a:solidFill>
                                    <a:latin typeface="Cambria Math" panose="02040503050406030204" pitchFamily="18" charset="0"/>
                                  </a:rPr>
                                  <m:t>𝑆</m:t>
                                </m:r>
                              </m:e>
                            </m:d>
                            <m:r>
                              <a:rPr lang="en-US" sz="1200">
                                <a:solidFill>
                                  <a:schemeClr val="tx1"/>
                                </a:solidFill>
                                <a:latin typeface="Cambria Math" panose="02040503050406030204" pitchFamily="18" charset="0"/>
                              </a:rPr>
                              <m:t>=</m:t>
                            </m:r>
                            <m:r>
                              <a:rPr lang="en-US" sz="1200" i="1">
                                <a:solidFill>
                                  <a:schemeClr val="tx1"/>
                                </a:solidFill>
                                <a:latin typeface="Cambria Math" panose="02040503050406030204" pitchFamily="18" charset="0"/>
                              </a:rPr>
                              <m:t>𝑏</m:t>
                            </m:r>
                            <m:d>
                              <m:dPr>
                                <m:begChr m:val="|"/>
                                <m:endChr m:val="⟩"/>
                                <m:ctrlPr>
                                  <a:rPr lang="en-US" sz="1200" i="1">
                                    <a:solidFill>
                                      <a:schemeClr val="tx1"/>
                                    </a:solidFill>
                                    <a:latin typeface="Cambria Math" panose="02040503050406030204" pitchFamily="18" charset="0"/>
                                  </a:rPr>
                                </m:ctrlPr>
                              </m:dPr>
                              <m:e>
                                <m:r>
                                  <a:rPr lang="en-US" sz="1200">
                                    <a:solidFill>
                                      <a:schemeClr val="tx1"/>
                                    </a:solidFill>
                                    <a:latin typeface="Cambria Math" panose="02040503050406030204" pitchFamily="18" charset="0"/>
                                  </a:rPr>
                                  <m:t>0</m:t>
                                </m:r>
                              </m:e>
                            </m:d>
                            <m:r>
                              <a:rPr lang="en-US" sz="1200">
                                <a:solidFill>
                                  <a:schemeClr val="tx1"/>
                                </a:solidFill>
                                <a:latin typeface="Cambria Math" panose="02040503050406030204" pitchFamily="18" charset="0"/>
                              </a:rPr>
                              <m:t>+</m:t>
                            </m:r>
                            <m:r>
                              <a:rPr lang="en-US" sz="1200" i="1">
                                <a:solidFill>
                                  <a:schemeClr val="tx1"/>
                                </a:solidFill>
                                <a:latin typeface="Cambria Math" panose="02040503050406030204" pitchFamily="18" charset="0"/>
                              </a:rPr>
                              <m:t>𝑎</m:t>
                            </m:r>
                            <m:d>
                              <m:dPr>
                                <m:begChr m:val="|"/>
                                <m:endChr m:val="⟩"/>
                                <m:ctrlPr>
                                  <a:rPr lang="en-US" sz="1200" i="1">
                                    <a:solidFill>
                                      <a:schemeClr val="tx1"/>
                                    </a:solidFill>
                                    <a:latin typeface="Cambria Math" panose="02040503050406030204" pitchFamily="18" charset="0"/>
                                  </a:rPr>
                                </m:ctrlPr>
                              </m:dPr>
                              <m:e>
                                <m:r>
                                  <a:rPr lang="en-US" sz="1200">
                                    <a:solidFill>
                                      <a:schemeClr val="tx1"/>
                                    </a:solidFill>
                                    <a:latin typeface="Cambria Math" panose="02040503050406030204" pitchFamily="18" charset="0"/>
                                  </a:rPr>
                                  <m:t>1</m:t>
                                </m:r>
                              </m:e>
                            </m:d>
                          </m:e>
                        </m:mr>
                      </m:m>
                    </m:oMath>
                  </m:oMathPara>
                </a14:m>
                <a:endParaRPr lang="en-US" dirty="0"/>
              </a:p>
              <a:p>
                <a:pPr algn="just"/>
                <a:endParaRPr lang="en-US" dirty="0"/>
              </a:p>
            </p:txBody>
          </p:sp>
        </mc:Choice>
        <mc:Fallback xmlns="">
          <p:sp>
            <p:nvSpPr>
              <p:cNvPr id="3" name="Notes Placeholder 2"/>
              <p:cNvSpPr>
                <a:spLocks noGrp="1"/>
              </p:cNvSpPr>
              <p:nvPr>
                <p:ph type="body" idx="1"/>
              </p:nvPr>
            </p:nvSpPr>
            <p:spPr/>
            <p:txBody>
              <a:bodyPr/>
              <a:lstStyle/>
              <a:p>
                <a:pPr algn="just"/>
                <a:r>
                  <a:rPr lang="en-ZA" dirty="0"/>
                  <a:t>The Pauli-X gate, also called the NOT gate, acts as a bit-flip operator, interchanging the probability amplitudes of ∣0⟩ and ∣1⟩ while preserving their magnitudes</a:t>
                </a:r>
                <a:r>
                  <a:rPr lang="en-US" dirty="0"/>
                  <a:t>.</a:t>
                </a:r>
              </a:p>
              <a:p>
                <a:pPr algn="just"/>
                <a:endParaRPr lang="en-US" dirty="0"/>
              </a:p>
              <a:p>
                <a:pPr algn="just"/>
                <a:r>
                  <a:rPr lang="en-ZA" dirty="0"/>
                  <a:t>For example, consider a quantum state ∣S⟩ defined by the angles </a:t>
                </a:r>
                <a:r>
                  <a:rPr lang="el-GR" dirty="0"/>
                  <a:t>θ = π/8 </a:t>
                </a:r>
                <a:r>
                  <a:rPr lang="en-ZA" dirty="0"/>
                  <a:t>and </a:t>
                </a:r>
                <a:r>
                  <a:rPr lang="el-GR" dirty="0"/>
                  <a:t>φ = 3π/8 </a:t>
                </a:r>
                <a:r>
                  <a:rPr lang="en-ZA" dirty="0"/>
                  <a:t>in the Bloch sphere.</a:t>
                </a:r>
              </a:p>
              <a:p>
                <a:pPr algn="just"/>
                <a:r>
                  <a:rPr lang="en-ZA" dirty="0"/>
                  <a:t>When we apply the Pauli-X gate by multiplying it with the state ∣S⟩, we observe that it swaps the probability amplitudes of ∣0⟩ and ∣1⟩, which corresponds to a </a:t>
                </a:r>
                <a:r>
                  <a:rPr lang="el-GR" dirty="0"/>
                  <a:t>π-</a:t>
                </a:r>
                <a:r>
                  <a:rPr lang="en-ZA" dirty="0"/>
                  <a:t>radian (180°) rotation about the x-axis of the Bloch sphere.</a:t>
                </a:r>
              </a:p>
              <a:p>
                <a:pPr algn="just"/>
                <a:endParaRPr lang="en-ZA" dirty="0"/>
              </a:p>
              <a:p>
                <a:pPr algn="just"/>
                <a:r>
                  <a:rPr lang="en-ZA" dirty="0"/>
                  <a:t>In mathematical terms, applying the Pauli-X gate transforms the state:</a:t>
                </a:r>
              </a:p>
              <a:p>
                <a:pPr algn="just"/>
                <a:endParaRPr lang="en-US" dirty="0"/>
              </a:p>
              <a:p>
                <a:pPr algn="just"/>
                <a:r>
                  <a:rPr lang="sr-Latn-RS" sz="1200" i="0">
                    <a:solidFill>
                      <a:schemeClr val="tx1"/>
                    </a:solidFill>
                    <a:latin typeface="Cambria Math" panose="02040503050406030204" pitchFamily="18" charset="0"/>
                  </a:rPr>
                  <a:t>■8(</a:t>
                </a:r>
                <a:r>
                  <a:rPr lang="en-US" sz="1200" i="0">
                    <a:solidFill>
                      <a:schemeClr val="tx1"/>
                    </a:solidFill>
                    <a:latin typeface="Cambria Math" panose="02040503050406030204" pitchFamily="18" charset="0"/>
                  </a:rPr>
                  <a:t>|𝑆⟩=</a:t>
                </a:r>
                <a:r>
                  <a:rPr lang="sr-Latn-RS" sz="1200" i="0">
                    <a:solidFill>
                      <a:schemeClr val="tx1"/>
                    </a:solidFill>
                    <a:latin typeface="Cambria Math" panose="02040503050406030204" pitchFamily="18" charset="0"/>
                  </a:rPr>
                  <a:t>𝑎</a:t>
                </a:r>
                <a:r>
                  <a:rPr lang="en-US" sz="1200" i="0">
                    <a:solidFill>
                      <a:schemeClr val="tx1"/>
                    </a:solidFill>
                    <a:latin typeface="Cambria Math" panose="02040503050406030204" pitchFamily="18" charset="0"/>
                  </a:rPr>
                  <a:t>|0⟩+</a:t>
                </a:r>
                <a:r>
                  <a:rPr lang="sr-Latn-RS" sz="1200" i="0">
                    <a:solidFill>
                      <a:schemeClr val="tx1"/>
                    </a:solidFill>
                    <a:latin typeface="Cambria Math" panose="02040503050406030204" pitchFamily="18" charset="0"/>
                  </a:rPr>
                  <a:t>𝑏</a:t>
                </a:r>
                <a:r>
                  <a:rPr lang="en-US" sz="1200" i="0">
                    <a:solidFill>
                      <a:schemeClr val="tx1"/>
                    </a:solidFill>
                    <a:latin typeface="Cambria Math" panose="02040503050406030204" pitchFamily="18" charset="0"/>
                  </a:rPr>
                  <a:t>|1⟩&amp;</a:t>
                </a:r>
                <a:r>
                  <a:rPr lang="en-US" sz="1200" b="0" i="0">
                    <a:solidFill>
                      <a:schemeClr val="tx1"/>
                    </a:solidFill>
                    <a:latin typeface="Cambria Math" panose="02040503050406030204" pitchFamily="18" charset="0"/>
                  </a:rPr>
                  <a:t>into</a:t>
                </a:r>
                <a:r>
                  <a:rPr lang="en-US" sz="1200" b="0" i="0">
                    <a:solidFill>
                      <a:schemeClr val="tx1"/>
                    </a:solidFill>
                    <a:latin typeface="Cambria Math" panose="02040503050406030204" pitchFamily="18" charset="0"/>
                    <a:ea typeface="Cambria Math" panose="02040503050406030204" pitchFamily="18" charset="0"/>
                  </a:rPr>
                  <a:t>&amp;</a:t>
                </a:r>
                <a:r>
                  <a:rPr lang="sr-Latn-RS" sz="1200" i="0">
                    <a:solidFill>
                      <a:schemeClr val="tx1"/>
                    </a:solidFill>
                    <a:latin typeface="Cambria Math" panose="02040503050406030204" pitchFamily="18" charset="0"/>
                  </a:rPr>
                  <a:t>𝑋</a:t>
                </a:r>
                <a:r>
                  <a:rPr lang="en-US" sz="1200" i="0">
                    <a:solidFill>
                      <a:schemeClr val="tx1"/>
                    </a:solidFill>
                    <a:latin typeface="Cambria Math" panose="02040503050406030204" pitchFamily="18" charset="0"/>
                  </a:rPr>
                  <a:t>|𝑆⟩=𝑏|0⟩+𝑎|1⟩ )</a:t>
                </a:r>
                <a:endParaRPr lang="en-US" dirty="0"/>
              </a:p>
              <a:p>
                <a:pPr algn="just"/>
                <a:endParaRPr lang="en-US"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16</a:t>
            </a:fld>
            <a:endParaRPr lang="en-US"/>
          </a:p>
        </p:txBody>
      </p:sp>
    </p:spTree>
    <p:extLst>
      <p:ext uri="{BB962C8B-B14F-4D97-AF65-F5344CB8AC3E}">
        <p14:creationId xmlns:p14="http://schemas.microsoft.com/office/powerpoint/2010/main" val="24037035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b="0" dirty="0"/>
                  <a:t>The Pauli-Y gate </a:t>
                </a:r>
                <a:r>
                  <a:rPr lang="en-ZA" dirty="0"/>
                  <a:t>acts as both a bit-flip and a phase-flip operator, interchanging the amplitudes of ∣0⟩ and ∣1⟩ while introducing phase factors of ±</a:t>
                </a:r>
                <a:r>
                  <a:rPr lang="en-ZA" dirty="0" err="1"/>
                  <a:t>i</a:t>
                </a:r>
                <a:r>
                  <a:rPr lang="en-ZA" dirty="0"/>
                  <a:t>.</a:t>
                </a:r>
              </a:p>
              <a:p>
                <a:pPr algn="just"/>
                <a:endParaRPr lang="en-ZA" dirty="0"/>
              </a:p>
              <a:p>
                <a:pPr marL="171450" indent="-171450" algn="just">
                  <a:buFont typeface="Arial" panose="020B0604020202020204" pitchFamily="34" charset="0"/>
                  <a:buChar char="•"/>
                </a:pPr>
                <a:r>
                  <a:rPr lang="en-ZA" dirty="0"/>
                  <a:t>Consider the same state ∣S⟩ defined by the angles </a:t>
                </a:r>
                <a:r>
                  <a:rPr lang="el-GR" dirty="0"/>
                  <a:t>θ = π/8 </a:t>
                </a:r>
                <a:r>
                  <a:rPr lang="en-ZA" dirty="0"/>
                  <a:t>and </a:t>
                </a:r>
                <a:r>
                  <a:rPr lang="el-GR" dirty="0"/>
                  <a:t>φ = 3π/8 </a:t>
                </a:r>
                <a:r>
                  <a:rPr lang="en-ZA" dirty="0"/>
                  <a:t>on the Bloch sphere.</a:t>
                </a:r>
              </a:p>
              <a:p>
                <a:pPr marL="171450" indent="-171450" algn="just">
                  <a:buFont typeface="Arial" panose="020B0604020202020204" pitchFamily="34" charset="0"/>
                  <a:buChar char="•"/>
                </a:pPr>
                <a:r>
                  <a:rPr lang="en-ZA" dirty="0"/>
                  <a:t>Applying the Pauli-Y gate swaps the amplitudes of ∣0⟩ and ∣1⟩ and introduces phase factors of ±</a:t>
                </a:r>
                <a:r>
                  <a:rPr lang="en-ZA" dirty="0" err="1"/>
                  <a:t>i</a:t>
                </a:r>
                <a:r>
                  <a:rPr lang="en-ZA" dirty="0"/>
                  <a:t>. On the Bloch sphere, this corresponds to a </a:t>
                </a:r>
                <a:r>
                  <a:rPr lang="el-GR" dirty="0"/>
                  <a:t>π-</a:t>
                </a:r>
                <a:r>
                  <a:rPr lang="en-ZA" dirty="0"/>
                  <a:t>radian (180∘) rotation about the y-axis.</a:t>
                </a:r>
              </a:p>
              <a:p>
                <a:pPr algn="just"/>
                <a:endParaRPr lang="en-ZA" dirty="0"/>
              </a:p>
              <a:p>
                <a:pPr algn="just"/>
                <a:r>
                  <a:rPr lang="en-ZA" dirty="0"/>
                  <a:t>Mathematically, applying the Pauli-Y gate transforms the state as:</a:t>
                </a:r>
              </a:p>
              <a:p>
                <a:pPr algn="just"/>
                <a:endParaRPr lang="en-ZA" dirty="0"/>
              </a:p>
              <a:p>
                <a:pPr algn="just"/>
                <a14:m>
                  <m:oMathPara xmlns:m="http://schemas.openxmlformats.org/officeDocument/2006/math">
                    <m:oMathParaPr>
                      <m:jc m:val="centerGroup"/>
                    </m:oMathParaPr>
                    <m:oMath xmlns:m="http://schemas.openxmlformats.org/officeDocument/2006/math">
                      <m:m>
                        <m:mPr>
                          <m:mcs>
                            <m:mc>
                              <m:mcPr>
                                <m:count m:val="3"/>
                                <m:mcJc m:val="center"/>
                              </m:mcPr>
                            </m:mc>
                          </m:mcs>
                          <m:ctrlPr>
                            <a:rPr lang="sr-Latn-RS" sz="1200" i="1" smtClean="0">
                              <a:solidFill>
                                <a:schemeClr val="tx1"/>
                              </a:solidFill>
                              <a:latin typeface="Cambria Math" panose="02040503050406030204" pitchFamily="18" charset="0"/>
                            </a:rPr>
                          </m:ctrlPr>
                        </m:mPr>
                        <m:mr>
                          <m:e>
                            <m:d>
                              <m:dPr>
                                <m:begChr m:val="|"/>
                                <m:endChr m:val="⟩"/>
                                <m:ctrlPr>
                                  <a:rPr lang="en-US" sz="1200" i="1">
                                    <a:solidFill>
                                      <a:schemeClr val="tx1"/>
                                    </a:solidFill>
                                    <a:latin typeface="Cambria Math" panose="02040503050406030204" pitchFamily="18" charset="0"/>
                                  </a:rPr>
                                </m:ctrlPr>
                              </m:dPr>
                              <m:e>
                                <m:r>
                                  <a:rPr lang="en-US" sz="1200" i="1">
                                    <a:solidFill>
                                      <a:schemeClr val="tx1"/>
                                    </a:solidFill>
                                    <a:latin typeface="Cambria Math" panose="02040503050406030204" pitchFamily="18" charset="0"/>
                                  </a:rPr>
                                  <m:t>𝑆</m:t>
                                </m:r>
                              </m:e>
                            </m:d>
                            <m:r>
                              <a:rPr lang="en-US" sz="1200">
                                <a:solidFill>
                                  <a:schemeClr val="tx1"/>
                                </a:solidFill>
                                <a:latin typeface="Cambria Math" panose="02040503050406030204" pitchFamily="18" charset="0"/>
                              </a:rPr>
                              <m:t>=</m:t>
                            </m:r>
                            <m:r>
                              <a:rPr lang="sr-Latn-RS" sz="1200" i="1">
                                <a:solidFill>
                                  <a:schemeClr val="tx1"/>
                                </a:solidFill>
                                <a:latin typeface="Cambria Math" panose="02040503050406030204" pitchFamily="18" charset="0"/>
                              </a:rPr>
                              <m:t>𝑎</m:t>
                            </m:r>
                            <m:d>
                              <m:dPr>
                                <m:begChr m:val="|"/>
                                <m:endChr m:val="⟩"/>
                                <m:ctrlPr>
                                  <a:rPr lang="en-US" sz="1200" i="1">
                                    <a:solidFill>
                                      <a:schemeClr val="tx1"/>
                                    </a:solidFill>
                                    <a:latin typeface="Cambria Math" panose="02040503050406030204" pitchFamily="18" charset="0"/>
                                  </a:rPr>
                                </m:ctrlPr>
                              </m:dPr>
                              <m:e>
                                <m:r>
                                  <a:rPr lang="en-US" sz="1200">
                                    <a:solidFill>
                                      <a:schemeClr val="tx1"/>
                                    </a:solidFill>
                                    <a:latin typeface="Cambria Math" panose="02040503050406030204" pitchFamily="18" charset="0"/>
                                  </a:rPr>
                                  <m:t>0</m:t>
                                </m:r>
                              </m:e>
                            </m:d>
                            <m:r>
                              <a:rPr lang="en-US" sz="1200">
                                <a:solidFill>
                                  <a:schemeClr val="tx1"/>
                                </a:solidFill>
                                <a:latin typeface="Cambria Math" panose="02040503050406030204" pitchFamily="18" charset="0"/>
                              </a:rPr>
                              <m:t>+</m:t>
                            </m:r>
                            <m:r>
                              <a:rPr lang="sr-Latn-RS" sz="1200" i="1">
                                <a:solidFill>
                                  <a:schemeClr val="tx1"/>
                                </a:solidFill>
                                <a:latin typeface="Cambria Math" panose="02040503050406030204" pitchFamily="18" charset="0"/>
                              </a:rPr>
                              <m:t>𝑏</m:t>
                            </m:r>
                            <m:d>
                              <m:dPr>
                                <m:begChr m:val="|"/>
                                <m:endChr m:val="⟩"/>
                                <m:ctrlPr>
                                  <a:rPr lang="en-US" sz="1200" i="1">
                                    <a:solidFill>
                                      <a:schemeClr val="tx1"/>
                                    </a:solidFill>
                                    <a:latin typeface="Cambria Math" panose="02040503050406030204" pitchFamily="18" charset="0"/>
                                  </a:rPr>
                                </m:ctrlPr>
                              </m:dPr>
                              <m:e>
                                <m:r>
                                  <a:rPr lang="en-US" sz="1200">
                                    <a:solidFill>
                                      <a:schemeClr val="tx1"/>
                                    </a:solidFill>
                                    <a:latin typeface="Cambria Math" panose="02040503050406030204" pitchFamily="18" charset="0"/>
                                  </a:rPr>
                                  <m:t>1</m:t>
                                </m:r>
                              </m:e>
                            </m:d>
                          </m:e>
                          <m:e>
                            <m:r>
                              <m:rPr>
                                <m:sty m:val="p"/>
                              </m:rPr>
                              <a:rPr lang="en-US" sz="1200" b="0" i="0" smtClean="0">
                                <a:solidFill>
                                  <a:schemeClr val="tx1"/>
                                </a:solidFill>
                                <a:latin typeface="Cambria Math" panose="02040503050406030204" pitchFamily="18" charset="0"/>
                              </a:rPr>
                              <m:t>into</m:t>
                            </m:r>
                          </m:e>
                          <m:e>
                            <m:r>
                              <a:rPr lang="sr-Latn-RS" sz="1200" b="0" i="1" smtClean="0">
                                <a:solidFill>
                                  <a:schemeClr val="tx1"/>
                                </a:solidFill>
                                <a:latin typeface="Cambria Math" panose="02040503050406030204" pitchFamily="18" charset="0"/>
                                <a:ea typeface="Cambria Math" panose="02040503050406030204" pitchFamily="18" charset="0"/>
                              </a:rPr>
                              <m:t>𝑌</m:t>
                            </m:r>
                            <m:d>
                              <m:dPr>
                                <m:begChr m:val="|"/>
                                <m:endChr m:val="⟩"/>
                                <m:ctrlPr>
                                  <a:rPr lang="en-US" sz="1200" i="1">
                                    <a:solidFill>
                                      <a:schemeClr val="tx1"/>
                                    </a:solidFill>
                                    <a:latin typeface="Cambria Math" panose="02040503050406030204" pitchFamily="18" charset="0"/>
                                  </a:rPr>
                                </m:ctrlPr>
                              </m:dPr>
                              <m:e>
                                <m:r>
                                  <a:rPr lang="en-US" sz="1200" i="1">
                                    <a:solidFill>
                                      <a:schemeClr val="tx1"/>
                                    </a:solidFill>
                                    <a:latin typeface="Cambria Math" panose="02040503050406030204" pitchFamily="18" charset="0"/>
                                  </a:rPr>
                                  <m:t>𝑆</m:t>
                                </m:r>
                              </m:e>
                            </m:d>
                            <m:r>
                              <a:rPr lang="en-US" sz="1200">
                                <a:solidFill>
                                  <a:schemeClr val="tx1"/>
                                </a:solidFill>
                                <a:latin typeface="Cambria Math" panose="02040503050406030204" pitchFamily="18" charset="0"/>
                              </a:rPr>
                              <m:t>=</m:t>
                            </m:r>
                            <m:r>
                              <a:rPr lang="sr-Latn-RS" sz="1200" b="0" i="1" smtClean="0">
                                <a:solidFill>
                                  <a:schemeClr val="tx1"/>
                                </a:solidFill>
                                <a:latin typeface="Cambria Math" panose="02040503050406030204" pitchFamily="18" charset="0"/>
                              </a:rPr>
                              <m:t>−</m:t>
                            </m:r>
                            <m:r>
                              <a:rPr lang="sr-Latn-RS" sz="1200" b="0" i="1" smtClean="0">
                                <a:solidFill>
                                  <a:schemeClr val="tx1"/>
                                </a:solidFill>
                                <a:latin typeface="Cambria Math" panose="02040503050406030204" pitchFamily="18" charset="0"/>
                              </a:rPr>
                              <m:t>𝑖𝑏</m:t>
                            </m:r>
                            <m:d>
                              <m:dPr>
                                <m:begChr m:val="|"/>
                                <m:endChr m:val="⟩"/>
                                <m:ctrlPr>
                                  <a:rPr lang="en-US" sz="1200" i="1">
                                    <a:solidFill>
                                      <a:schemeClr val="tx1"/>
                                    </a:solidFill>
                                    <a:latin typeface="Cambria Math" panose="02040503050406030204" pitchFamily="18" charset="0"/>
                                  </a:rPr>
                                </m:ctrlPr>
                              </m:dPr>
                              <m:e>
                                <m:r>
                                  <a:rPr lang="en-US" sz="1200">
                                    <a:solidFill>
                                      <a:schemeClr val="tx1"/>
                                    </a:solidFill>
                                    <a:latin typeface="Cambria Math" panose="02040503050406030204" pitchFamily="18" charset="0"/>
                                  </a:rPr>
                                  <m:t>0</m:t>
                                </m:r>
                              </m:e>
                            </m:d>
                            <m:r>
                              <a:rPr lang="en-US" sz="1200">
                                <a:solidFill>
                                  <a:schemeClr val="tx1"/>
                                </a:solidFill>
                                <a:latin typeface="Cambria Math" panose="02040503050406030204" pitchFamily="18" charset="0"/>
                              </a:rPr>
                              <m:t>+</m:t>
                            </m:r>
                            <m:r>
                              <a:rPr lang="sr-Latn-RS" sz="1200" b="0" i="1" smtClean="0">
                                <a:solidFill>
                                  <a:schemeClr val="tx1"/>
                                </a:solidFill>
                                <a:latin typeface="Cambria Math" panose="02040503050406030204" pitchFamily="18" charset="0"/>
                              </a:rPr>
                              <m:t>𝑖</m:t>
                            </m:r>
                            <m:r>
                              <a:rPr lang="en-US" sz="1200" i="1">
                                <a:solidFill>
                                  <a:schemeClr val="tx1"/>
                                </a:solidFill>
                                <a:latin typeface="Cambria Math" panose="02040503050406030204" pitchFamily="18" charset="0"/>
                              </a:rPr>
                              <m:t>𝑎</m:t>
                            </m:r>
                            <m:d>
                              <m:dPr>
                                <m:begChr m:val="|"/>
                                <m:endChr m:val="⟩"/>
                                <m:ctrlPr>
                                  <a:rPr lang="en-US" sz="1200" i="1">
                                    <a:solidFill>
                                      <a:schemeClr val="tx1"/>
                                    </a:solidFill>
                                    <a:latin typeface="Cambria Math" panose="02040503050406030204" pitchFamily="18" charset="0"/>
                                  </a:rPr>
                                </m:ctrlPr>
                              </m:dPr>
                              <m:e>
                                <m:r>
                                  <a:rPr lang="en-US" sz="1200">
                                    <a:solidFill>
                                      <a:schemeClr val="tx1"/>
                                    </a:solidFill>
                                    <a:latin typeface="Cambria Math" panose="02040503050406030204" pitchFamily="18" charset="0"/>
                                  </a:rPr>
                                  <m:t>1</m:t>
                                </m:r>
                              </m:e>
                            </m:d>
                          </m:e>
                        </m:mr>
                      </m:m>
                    </m:oMath>
                  </m:oMathPara>
                </a14:m>
                <a:endParaRPr lang="en-ZA"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dirty="0"/>
                  <a:t>Primena X </a:t>
                </a:r>
                <a:r>
                  <a:rPr lang="en-US" dirty="0" err="1"/>
                  <a:t>elemenatrnog</a:t>
                </a:r>
                <a:r>
                  <a:rPr lang="en-US" dirty="0"/>
                  <a:t> kola </a:t>
                </a:r>
                <a:r>
                  <a:rPr lang="en-US" dirty="0" err="1"/>
                  <a:t>na</a:t>
                </a:r>
                <a:r>
                  <a:rPr lang="en-US" dirty="0"/>
                  <a:t> </a:t>
                </a:r>
                <a:r>
                  <a:rPr lang="en-US" dirty="0" err="1"/>
                  <a:t>isti</a:t>
                </a:r>
                <a:r>
                  <a:rPr lang="en-US" dirty="0"/>
                  <a:t> vector |S⟩ </a:t>
                </a:r>
                <a:r>
                  <a:rPr lang="en-US" dirty="0" err="1"/>
                  <a:t>rotira</a:t>
                </a:r>
                <a:r>
                  <a:rPr lang="en-US" dirty="0"/>
                  <a:t> </a:t>
                </a:r>
                <a:r>
                  <a:rPr lang="en-US" dirty="0" err="1"/>
                  <a:t>ga</a:t>
                </a:r>
                <a:r>
                  <a:rPr lang="en-US" dirty="0"/>
                  <a:t> </a:t>
                </a:r>
                <a:r>
                  <a:rPr lang="en-US" dirty="0" err="1"/>
                  <a:t>oko</a:t>
                </a:r>
                <a:r>
                  <a:rPr lang="en-US" dirty="0"/>
                  <a:t> y-</a:t>
                </a:r>
                <a:r>
                  <a:rPr lang="en-US" dirty="0" err="1"/>
                  <a:t>ose</a:t>
                </a:r>
                <a:r>
                  <a:rPr lang="en-US" dirty="0"/>
                  <a:t>.  Kao </a:t>
                </a:r>
                <a:r>
                  <a:rPr lang="en-US" dirty="0" err="1"/>
                  <a:t>rezultat</a:t>
                </a:r>
                <a:r>
                  <a:rPr lang="en-US" dirty="0"/>
                  <a:t>, </a:t>
                </a:r>
                <a:r>
                  <a:rPr lang="en-US" dirty="0" err="1"/>
                  <a:t>kordinate</a:t>
                </a:r>
                <a:r>
                  <a:rPr lang="en-US" dirty="0"/>
                  <a:t> </a:t>
                </a:r>
                <a:r>
                  <a:rPr lang="en-US" dirty="0" err="1"/>
                  <a:t>vektora</a:t>
                </a:r>
                <a:r>
                  <a:rPr lang="en-US" dirty="0"/>
                  <a:t> se </a:t>
                </a:r>
                <a:r>
                  <a:rPr lang="en-US" dirty="0" err="1"/>
                  <a:t>obrću</a:t>
                </a:r>
                <a:r>
                  <a:rPr lang="en-US" dirty="0"/>
                  <a:t> I </a:t>
                </a:r>
                <a:r>
                  <a:rPr lang="en-US" dirty="0" err="1"/>
                  <a:t>dobijaju</a:t>
                </a:r>
                <a:r>
                  <a:rPr lang="en-US" dirty="0"/>
                  <a:t> </a:t>
                </a:r>
                <a:r>
                  <a:rPr lang="en-US" dirty="0" err="1"/>
                  <a:t>fazni</a:t>
                </a:r>
                <a:r>
                  <a:rPr lang="en-US" dirty="0"/>
                  <a:t> </a:t>
                </a:r>
                <a:r>
                  <a:rPr lang="en-US" dirty="0" err="1"/>
                  <a:t>pomeraj</a:t>
                </a:r>
                <a:r>
                  <a:rPr lang="en-US" dirty="0"/>
                  <a:t> od </a:t>
                </a:r>
                <a:r>
                  <a:rPr lang="sr-Latn-RS" sz="1200" i="0" kern="1200">
                    <a:solidFill>
                      <a:schemeClr val="tx1"/>
                    </a:solidFill>
                    <a:effectLst/>
                    <a:latin typeface="+mn-lt"/>
                    <a:ea typeface="+mn-ea"/>
                    <a:cs typeface="+mn-cs"/>
                  </a:rPr>
                  <a:t>∓</a:t>
                </a:r>
                <a:r>
                  <a:rPr lang="sr-Latn-RS" sz="1200" b="0" i="0" kern="1200">
                    <a:solidFill>
                      <a:schemeClr val="tx1"/>
                    </a:solidFill>
                    <a:effectLst/>
                    <a:latin typeface="Cambria Math" panose="02040503050406030204" pitchFamily="18" charset="0"/>
                    <a:ea typeface="+mn-ea"/>
                    <a:cs typeface="+mn-cs"/>
                  </a:rPr>
                  <a:t>𝑖</a:t>
                </a:r>
                <a:r>
                  <a:rPr lang="en-ZA" dirty="0">
                    <a:effectLst/>
                  </a:rPr>
                  <a:t>. </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ZA" dirty="0">
                  <a:effectLst/>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dirty="0" err="1"/>
                  <a:t>Može</a:t>
                </a:r>
                <a:r>
                  <a:rPr lang="en-US" dirty="0"/>
                  <a:t> se </a:t>
                </a:r>
                <a:r>
                  <a:rPr lang="en-US" dirty="0" err="1"/>
                  <a:t>reći</a:t>
                </a:r>
                <a:r>
                  <a:rPr lang="en-US" dirty="0"/>
                  <a:t> da </a:t>
                </a:r>
                <a:r>
                  <a:rPr lang="en-US" dirty="0" err="1"/>
                  <a:t>primena</a:t>
                </a:r>
                <a:r>
                  <a:rPr lang="en-US" dirty="0"/>
                  <a:t> </a:t>
                </a:r>
                <a:r>
                  <a:rPr lang="en-US" dirty="0" err="1"/>
                  <a:t>elementrnog</a:t>
                </a:r>
                <a:r>
                  <a:rPr lang="en-US" dirty="0"/>
                  <a:t> Y kola </a:t>
                </a:r>
                <a:r>
                  <a:rPr lang="en-US" dirty="0" err="1"/>
                  <a:t>menja</a:t>
                </a:r>
                <a:r>
                  <a:rPr lang="en-US" dirty="0"/>
                  <a:t> </a:t>
                </a:r>
                <a:r>
                  <a:rPr lang="en-US" dirty="0" err="1"/>
                  <a:t>stanje</a:t>
                </a:r>
                <a:r>
                  <a:rPr lang="en-US" dirty="0"/>
                  <a:t> </a:t>
                </a:r>
                <a:r>
                  <a:rPr lang="en-US" dirty="0" err="1"/>
                  <a:t>vektora</a:t>
                </a:r>
                <a:r>
                  <a:rPr lang="en-US" dirty="0"/>
                  <a:t> |S⟩=a|0⟩+b|1⟩  u |S⟩=-ib|0⟩+ia|1⟩ </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sr-Latn-RS" dirty="0"/>
              </a:p>
              <a:p>
                <a:pPr marL="0" indent="0">
                  <a:buFont typeface="+mj-lt"/>
                  <a:buNone/>
                </a:pPr>
                <a:endParaRPr lang="en-US"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17</a:t>
            </a:fld>
            <a:endParaRPr lang="en-US"/>
          </a:p>
        </p:txBody>
      </p:sp>
    </p:spTree>
    <p:extLst>
      <p:ext uri="{BB962C8B-B14F-4D97-AF65-F5344CB8AC3E}">
        <p14:creationId xmlns:p14="http://schemas.microsoft.com/office/powerpoint/2010/main" val="182330645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ZA" dirty="0"/>
                  <a:t>The Pauli-Z gate acts as a phase-flip operator, leaving the ∣0⟩ state unchanged while flipping the phase of the ∣1⟩ state.</a:t>
                </a:r>
              </a:p>
              <a:p>
                <a:endParaRPr lang="en-ZA" dirty="0"/>
              </a:p>
              <a:p>
                <a:pPr marL="171450" indent="-171450">
                  <a:buFont typeface="Arial" panose="020B0604020202020204" pitchFamily="34" charset="0"/>
                  <a:buChar char="•"/>
                </a:pPr>
                <a:r>
                  <a:rPr lang="en-ZA" dirty="0"/>
                  <a:t>Consider the same state ∣S⟩ defined by the angles </a:t>
                </a:r>
                <a:r>
                  <a:rPr lang="el-GR" dirty="0"/>
                  <a:t>θ = π/8 </a:t>
                </a:r>
                <a:r>
                  <a:rPr lang="en-ZA" dirty="0"/>
                  <a:t>and </a:t>
                </a:r>
                <a:r>
                  <a:rPr lang="el-GR" dirty="0"/>
                  <a:t>φ = 3π/8 </a:t>
                </a:r>
                <a:r>
                  <a:rPr lang="en-ZA" dirty="0"/>
                  <a:t>on the Bloch sphere.</a:t>
                </a:r>
              </a:p>
              <a:p>
                <a:pPr marL="171450" indent="-171450">
                  <a:buFont typeface="Arial" panose="020B0604020202020204" pitchFamily="34" charset="0"/>
                  <a:buChar char="•"/>
                </a:pPr>
                <a:r>
                  <a:rPr lang="en-ZA" dirty="0"/>
                  <a:t>When we apply the Pauli-Z gate by multiplying it with the state ∣S⟩, we observe that the amplitude of ∣0⟩ remains the same, while the amplitude of ∣1⟩ gains a phase factor of −1. This corresponds to a </a:t>
                </a:r>
                <a:r>
                  <a:rPr lang="el-GR" dirty="0"/>
                  <a:t>π-</a:t>
                </a:r>
                <a:r>
                  <a:rPr lang="en-ZA" dirty="0"/>
                  <a:t>radian (180°) rotation about the z-axis of the Bloch sphere.</a:t>
                </a:r>
              </a:p>
              <a:p>
                <a:pPr marL="171450" indent="-171450">
                  <a:buFont typeface="Arial" panose="020B0604020202020204" pitchFamily="34" charset="0"/>
                  <a:buChar char="•"/>
                </a:pPr>
                <a:endParaRPr lang="en-ZA" dirty="0"/>
              </a:p>
              <a:p>
                <a:r>
                  <a:rPr lang="en-ZA" dirty="0"/>
                  <a:t>Mathematically, applying the Pauli-Z gate transforms the state as:</a:t>
                </a:r>
              </a:p>
              <a:p>
                <a:endParaRPr lang="en-ZA" dirty="0"/>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m>
                        <m:mPr>
                          <m:mcs>
                            <m:mc>
                              <m:mcPr>
                                <m:count m:val="3"/>
                                <m:mcJc m:val="center"/>
                              </m:mcPr>
                            </m:mc>
                          </m:mcs>
                          <m:ctrlPr>
                            <a:rPr lang="sr-Latn-RS" sz="1200" i="1" smtClean="0">
                              <a:solidFill>
                                <a:schemeClr val="tx1"/>
                              </a:solidFill>
                              <a:latin typeface="Cambria Math" panose="02040503050406030204" pitchFamily="18" charset="0"/>
                            </a:rPr>
                          </m:ctrlPr>
                        </m:mPr>
                        <m:mr>
                          <m:e>
                            <m:d>
                              <m:dPr>
                                <m:begChr m:val="|"/>
                                <m:endChr m:val="⟩"/>
                                <m:ctrlPr>
                                  <a:rPr lang="en-US" sz="1200" i="1">
                                    <a:solidFill>
                                      <a:schemeClr val="tx1"/>
                                    </a:solidFill>
                                    <a:latin typeface="Cambria Math" panose="02040503050406030204" pitchFamily="18" charset="0"/>
                                  </a:rPr>
                                </m:ctrlPr>
                              </m:dPr>
                              <m:e>
                                <m:r>
                                  <a:rPr lang="en-US" sz="1200" i="1">
                                    <a:solidFill>
                                      <a:schemeClr val="tx1"/>
                                    </a:solidFill>
                                    <a:latin typeface="Cambria Math" panose="02040503050406030204" pitchFamily="18" charset="0"/>
                                  </a:rPr>
                                  <m:t>𝑆</m:t>
                                </m:r>
                              </m:e>
                            </m:d>
                            <m:r>
                              <a:rPr lang="en-US" sz="1200">
                                <a:solidFill>
                                  <a:schemeClr val="tx1"/>
                                </a:solidFill>
                                <a:latin typeface="Cambria Math" panose="02040503050406030204" pitchFamily="18" charset="0"/>
                              </a:rPr>
                              <m:t>=</m:t>
                            </m:r>
                            <m:r>
                              <a:rPr lang="sr-Latn-RS" sz="1200" i="1">
                                <a:solidFill>
                                  <a:schemeClr val="tx1"/>
                                </a:solidFill>
                                <a:latin typeface="Cambria Math" panose="02040503050406030204" pitchFamily="18" charset="0"/>
                              </a:rPr>
                              <m:t>𝑎</m:t>
                            </m:r>
                            <m:d>
                              <m:dPr>
                                <m:begChr m:val="|"/>
                                <m:endChr m:val="⟩"/>
                                <m:ctrlPr>
                                  <a:rPr lang="en-US" sz="1200" i="1">
                                    <a:solidFill>
                                      <a:schemeClr val="tx1"/>
                                    </a:solidFill>
                                    <a:latin typeface="Cambria Math" panose="02040503050406030204" pitchFamily="18" charset="0"/>
                                  </a:rPr>
                                </m:ctrlPr>
                              </m:dPr>
                              <m:e>
                                <m:r>
                                  <a:rPr lang="en-US" sz="1200">
                                    <a:solidFill>
                                      <a:schemeClr val="tx1"/>
                                    </a:solidFill>
                                    <a:latin typeface="Cambria Math" panose="02040503050406030204" pitchFamily="18" charset="0"/>
                                  </a:rPr>
                                  <m:t>0</m:t>
                                </m:r>
                              </m:e>
                            </m:d>
                            <m:r>
                              <a:rPr lang="en-US" sz="1200">
                                <a:solidFill>
                                  <a:schemeClr val="tx1"/>
                                </a:solidFill>
                                <a:latin typeface="Cambria Math" panose="02040503050406030204" pitchFamily="18" charset="0"/>
                              </a:rPr>
                              <m:t>+</m:t>
                            </m:r>
                            <m:r>
                              <a:rPr lang="sr-Latn-RS" sz="1200" i="1">
                                <a:solidFill>
                                  <a:schemeClr val="tx1"/>
                                </a:solidFill>
                                <a:latin typeface="Cambria Math" panose="02040503050406030204" pitchFamily="18" charset="0"/>
                              </a:rPr>
                              <m:t>𝑏</m:t>
                            </m:r>
                            <m:d>
                              <m:dPr>
                                <m:begChr m:val="|"/>
                                <m:endChr m:val="⟩"/>
                                <m:ctrlPr>
                                  <a:rPr lang="en-US" sz="1200" i="1">
                                    <a:solidFill>
                                      <a:schemeClr val="tx1"/>
                                    </a:solidFill>
                                    <a:latin typeface="Cambria Math" panose="02040503050406030204" pitchFamily="18" charset="0"/>
                                  </a:rPr>
                                </m:ctrlPr>
                              </m:dPr>
                              <m:e>
                                <m:r>
                                  <a:rPr lang="en-US" sz="1200">
                                    <a:solidFill>
                                      <a:schemeClr val="tx1"/>
                                    </a:solidFill>
                                    <a:latin typeface="Cambria Math" panose="02040503050406030204" pitchFamily="18" charset="0"/>
                                  </a:rPr>
                                  <m:t>1</m:t>
                                </m:r>
                              </m:e>
                            </m:d>
                          </m:e>
                          <m:e>
                            <m:r>
                              <m:rPr>
                                <m:sty m:val="p"/>
                              </m:rPr>
                              <a:rPr lang="en-US" sz="1200" b="0" i="0" smtClean="0">
                                <a:solidFill>
                                  <a:schemeClr val="tx1"/>
                                </a:solidFill>
                                <a:latin typeface="Cambria Math" panose="02040503050406030204" pitchFamily="18" charset="0"/>
                              </a:rPr>
                              <m:t>into</m:t>
                            </m:r>
                          </m:e>
                          <m:e>
                            <m:r>
                              <a:rPr lang="sr-Latn-RS" sz="1200" b="0" i="1" smtClean="0">
                                <a:solidFill>
                                  <a:schemeClr val="tx1"/>
                                </a:solidFill>
                                <a:latin typeface="Cambria Math" panose="02040503050406030204" pitchFamily="18" charset="0"/>
                              </a:rPr>
                              <m:t>𝑍</m:t>
                            </m:r>
                            <m:d>
                              <m:dPr>
                                <m:begChr m:val="|"/>
                                <m:endChr m:val="⟩"/>
                                <m:ctrlPr>
                                  <a:rPr lang="en-US" sz="1200" i="1">
                                    <a:solidFill>
                                      <a:schemeClr val="tx1"/>
                                    </a:solidFill>
                                    <a:latin typeface="Cambria Math" panose="02040503050406030204" pitchFamily="18" charset="0"/>
                                  </a:rPr>
                                </m:ctrlPr>
                              </m:dPr>
                              <m:e>
                                <m:r>
                                  <a:rPr lang="en-US" sz="1200" i="1">
                                    <a:solidFill>
                                      <a:schemeClr val="tx1"/>
                                    </a:solidFill>
                                    <a:latin typeface="Cambria Math" panose="02040503050406030204" pitchFamily="18" charset="0"/>
                                  </a:rPr>
                                  <m:t>𝑆</m:t>
                                </m:r>
                              </m:e>
                            </m:d>
                            <m:r>
                              <a:rPr lang="en-US" sz="1200">
                                <a:solidFill>
                                  <a:schemeClr val="tx1"/>
                                </a:solidFill>
                                <a:latin typeface="Cambria Math" panose="02040503050406030204" pitchFamily="18" charset="0"/>
                              </a:rPr>
                              <m:t>=</m:t>
                            </m:r>
                            <m:r>
                              <a:rPr lang="sr-Latn-RS" sz="1200" b="0" i="1" smtClean="0">
                                <a:solidFill>
                                  <a:schemeClr val="tx1"/>
                                </a:solidFill>
                                <a:latin typeface="Cambria Math" panose="02040503050406030204" pitchFamily="18" charset="0"/>
                              </a:rPr>
                              <m:t>𝑎</m:t>
                            </m:r>
                            <m:d>
                              <m:dPr>
                                <m:begChr m:val="|"/>
                                <m:endChr m:val="⟩"/>
                                <m:ctrlPr>
                                  <a:rPr lang="en-US" sz="1200" i="1">
                                    <a:solidFill>
                                      <a:schemeClr val="tx1"/>
                                    </a:solidFill>
                                    <a:latin typeface="Cambria Math" panose="02040503050406030204" pitchFamily="18" charset="0"/>
                                  </a:rPr>
                                </m:ctrlPr>
                              </m:dPr>
                              <m:e>
                                <m:r>
                                  <a:rPr lang="en-US" sz="1200">
                                    <a:solidFill>
                                      <a:schemeClr val="tx1"/>
                                    </a:solidFill>
                                    <a:latin typeface="Cambria Math" panose="02040503050406030204" pitchFamily="18" charset="0"/>
                                  </a:rPr>
                                  <m:t>0</m:t>
                                </m:r>
                              </m:e>
                            </m:d>
                            <m:r>
                              <a:rPr lang="sr-Latn-RS" sz="1200" b="0" i="0" smtClean="0">
                                <a:solidFill>
                                  <a:schemeClr val="tx1"/>
                                </a:solidFill>
                                <a:latin typeface="Cambria Math" panose="02040503050406030204" pitchFamily="18" charset="0"/>
                              </a:rPr>
                              <m:t>−</m:t>
                            </m:r>
                            <m:r>
                              <a:rPr lang="sr-Latn-RS" sz="1200" b="0" i="1" smtClean="0">
                                <a:solidFill>
                                  <a:schemeClr val="tx1"/>
                                </a:solidFill>
                                <a:latin typeface="Cambria Math" panose="02040503050406030204" pitchFamily="18" charset="0"/>
                              </a:rPr>
                              <m:t>𝑏</m:t>
                            </m:r>
                            <m:d>
                              <m:dPr>
                                <m:begChr m:val="|"/>
                                <m:endChr m:val="⟩"/>
                                <m:ctrlPr>
                                  <a:rPr lang="en-US" sz="1200" i="1">
                                    <a:solidFill>
                                      <a:schemeClr val="tx1"/>
                                    </a:solidFill>
                                    <a:latin typeface="Cambria Math" panose="02040503050406030204" pitchFamily="18" charset="0"/>
                                  </a:rPr>
                                </m:ctrlPr>
                              </m:dPr>
                              <m:e>
                                <m:r>
                                  <a:rPr lang="en-US" sz="1200">
                                    <a:solidFill>
                                      <a:schemeClr val="tx1"/>
                                    </a:solidFill>
                                    <a:latin typeface="Cambria Math" panose="02040503050406030204" pitchFamily="18" charset="0"/>
                                  </a:rPr>
                                  <m:t>1</m:t>
                                </m:r>
                              </m:e>
                            </m:d>
                          </m:e>
                        </m:mr>
                      </m:m>
                    </m:oMath>
                  </m:oMathPara>
                </a14:m>
                <a:endParaRPr lang="en-US" sz="1200" dirty="0">
                  <a:solidFill>
                    <a:schemeClr val="tx1"/>
                  </a:solidFill>
                </a:endParaRPr>
              </a:p>
              <a:p>
                <a:endParaRPr lang="en-ZA" dirty="0"/>
              </a:p>
            </p:txBody>
          </p:sp>
        </mc:Choice>
        <mc:Fallback xmlns="">
          <p:sp>
            <p:nvSpPr>
              <p:cNvPr id="3" name="Notes Placeholder 2"/>
              <p:cNvSpPr>
                <a:spLocks noGrp="1"/>
              </p:cNvSpPr>
              <p:nvPr>
                <p:ph type="body" idx="1"/>
              </p:nvPr>
            </p:nvSpPr>
            <p:spPr/>
            <p:txBody>
              <a:bodyPr/>
              <a:lstStyle/>
              <a:p>
                <a:r>
                  <a:rPr lang="en-ZA" dirty="0"/>
                  <a:t>The Pauli-Z gate acts as a phase-flip operator, leaving the ∣0⟩ state unchanged while flipping the phase of the ∣1⟩ state.</a:t>
                </a:r>
              </a:p>
              <a:p>
                <a:endParaRPr lang="en-ZA" dirty="0"/>
              </a:p>
              <a:p>
                <a:pPr marL="171450" indent="-171450">
                  <a:buFont typeface="Arial" panose="020B0604020202020204" pitchFamily="34" charset="0"/>
                  <a:buChar char="•"/>
                </a:pPr>
                <a:r>
                  <a:rPr lang="en-ZA" dirty="0"/>
                  <a:t>Consider the same state ∣S⟩ defined by the angles </a:t>
                </a:r>
                <a:r>
                  <a:rPr lang="el-GR" dirty="0"/>
                  <a:t>θ = π/8 </a:t>
                </a:r>
                <a:r>
                  <a:rPr lang="en-ZA" dirty="0"/>
                  <a:t>and </a:t>
                </a:r>
                <a:r>
                  <a:rPr lang="el-GR" dirty="0"/>
                  <a:t>φ = 3π/8 </a:t>
                </a:r>
                <a:r>
                  <a:rPr lang="en-ZA" dirty="0"/>
                  <a:t>in the Bloch sphere.</a:t>
                </a:r>
              </a:p>
              <a:p>
                <a:pPr marL="171450" indent="-171450">
                  <a:buFont typeface="Arial" panose="020B0604020202020204" pitchFamily="34" charset="0"/>
                  <a:buChar char="•"/>
                </a:pPr>
                <a:r>
                  <a:rPr lang="en-ZA" dirty="0"/>
                  <a:t>When we apply the Pauli-Z gate by multiplying it with the state ∣S⟩, we observe that the amplitude of ∣0⟩ remains the same, while the amplitude of ∣1⟩ gains a phase factor of −1. This corresponds to a </a:t>
                </a:r>
                <a:r>
                  <a:rPr lang="el-GR" dirty="0"/>
                  <a:t>π-</a:t>
                </a:r>
                <a:r>
                  <a:rPr lang="en-ZA" dirty="0"/>
                  <a:t>radian (180°) rotation about the z-axis of the Bloch sphere.</a:t>
                </a:r>
              </a:p>
              <a:p>
                <a:pPr marL="171450" indent="-171450">
                  <a:buFont typeface="Arial" panose="020B0604020202020204" pitchFamily="34" charset="0"/>
                  <a:buChar char="•"/>
                </a:pPr>
                <a:endParaRPr lang="en-ZA" dirty="0"/>
              </a:p>
              <a:p>
                <a:r>
                  <a:rPr lang="en-ZA" dirty="0"/>
                  <a:t>In mathematical terms, applying the Pauli-Z gate transforms the state:</a:t>
                </a:r>
              </a:p>
              <a:p>
                <a:endParaRPr lang="en-ZA" dirty="0"/>
              </a:p>
              <a:p>
                <a:pPr marL="0" marR="0" lvl="0" indent="0" algn="l" defTabSz="914400" rtl="0" eaLnBrk="1" fontAlgn="auto" latinLnBrk="0" hangingPunct="1">
                  <a:lnSpc>
                    <a:spcPct val="100000"/>
                  </a:lnSpc>
                  <a:spcBef>
                    <a:spcPts val="0"/>
                  </a:spcBef>
                  <a:spcAft>
                    <a:spcPts val="0"/>
                  </a:spcAft>
                  <a:buClrTx/>
                  <a:buSzTx/>
                  <a:buFontTx/>
                  <a:buNone/>
                  <a:tabLst/>
                  <a:defRPr/>
                </a:pPr>
                <a:r>
                  <a:rPr lang="sr-Latn-RS" sz="1200" i="0">
                    <a:solidFill>
                      <a:schemeClr val="tx1"/>
                    </a:solidFill>
                    <a:latin typeface="Cambria Math" panose="02040503050406030204" pitchFamily="18" charset="0"/>
                  </a:rPr>
                  <a:t>■8(</a:t>
                </a:r>
                <a:r>
                  <a:rPr lang="en-US" sz="1200" i="0">
                    <a:solidFill>
                      <a:schemeClr val="tx1"/>
                    </a:solidFill>
                    <a:latin typeface="Cambria Math" panose="02040503050406030204" pitchFamily="18" charset="0"/>
                  </a:rPr>
                  <a:t>|𝑆⟩=</a:t>
                </a:r>
                <a:r>
                  <a:rPr lang="sr-Latn-RS" sz="1200" i="0">
                    <a:solidFill>
                      <a:schemeClr val="tx1"/>
                    </a:solidFill>
                    <a:latin typeface="Cambria Math" panose="02040503050406030204" pitchFamily="18" charset="0"/>
                  </a:rPr>
                  <a:t>𝑎</a:t>
                </a:r>
                <a:r>
                  <a:rPr lang="en-US" sz="1200" i="0">
                    <a:solidFill>
                      <a:schemeClr val="tx1"/>
                    </a:solidFill>
                    <a:latin typeface="Cambria Math" panose="02040503050406030204" pitchFamily="18" charset="0"/>
                  </a:rPr>
                  <a:t>|0⟩+</a:t>
                </a:r>
                <a:r>
                  <a:rPr lang="sr-Latn-RS" sz="1200" i="0">
                    <a:solidFill>
                      <a:schemeClr val="tx1"/>
                    </a:solidFill>
                    <a:latin typeface="Cambria Math" panose="02040503050406030204" pitchFamily="18" charset="0"/>
                  </a:rPr>
                  <a:t>𝑏</a:t>
                </a:r>
                <a:r>
                  <a:rPr lang="en-US" sz="1200" i="0">
                    <a:solidFill>
                      <a:schemeClr val="tx1"/>
                    </a:solidFill>
                    <a:latin typeface="Cambria Math" panose="02040503050406030204" pitchFamily="18" charset="0"/>
                  </a:rPr>
                  <a:t>|1⟩&amp;</a:t>
                </a:r>
                <a:r>
                  <a:rPr lang="en-US" sz="1200" b="0" i="0">
                    <a:solidFill>
                      <a:schemeClr val="tx1"/>
                    </a:solidFill>
                    <a:latin typeface="Cambria Math" panose="02040503050406030204" pitchFamily="18" charset="0"/>
                  </a:rPr>
                  <a:t>into</a:t>
                </a:r>
                <a:r>
                  <a:rPr lang="en-US" sz="1200" b="0" i="0">
                    <a:solidFill>
                      <a:schemeClr val="tx1"/>
                    </a:solidFill>
                    <a:latin typeface="Cambria Math" panose="02040503050406030204" pitchFamily="18" charset="0"/>
                    <a:ea typeface="Cambria Math" panose="02040503050406030204" pitchFamily="18" charset="0"/>
                  </a:rPr>
                  <a:t>&amp;</a:t>
                </a:r>
                <a:r>
                  <a:rPr lang="sr-Latn-RS" sz="1200" b="0" i="0">
                    <a:solidFill>
                      <a:schemeClr val="tx1"/>
                    </a:solidFill>
                    <a:latin typeface="Cambria Math" panose="02040503050406030204" pitchFamily="18" charset="0"/>
                  </a:rPr>
                  <a:t>𝑍</a:t>
                </a:r>
                <a:r>
                  <a:rPr lang="en-US" sz="1200" b="0" i="0">
                    <a:solidFill>
                      <a:schemeClr val="tx1"/>
                    </a:solidFill>
                    <a:latin typeface="Cambria Math" panose="02040503050406030204" pitchFamily="18" charset="0"/>
                  </a:rPr>
                  <a:t>|</a:t>
                </a:r>
                <a:r>
                  <a:rPr lang="en-US" sz="1200" i="0">
                    <a:solidFill>
                      <a:schemeClr val="tx1"/>
                    </a:solidFill>
                    <a:latin typeface="Cambria Math" panose="02040503050406030204" pitchFamily="18" charset="0"/>
                  </a:rPr>
                  <a:t>𝑆⟩=</a:t>
                </a:r>
                <a:r>
                  <a:rPr lang="sr-Latn-RS" sz="1200" b="0" i="0">
                    <a:solidFill>
                      <a:schemeClr val="tx1"/>
                    </a:solidFill>
                    <a:latin typeface="Cambria Math" panose="02040503050406030204" pitchFamily="18" charset="0"/>
                  </a:rPr>
                  <a:t>𝑎</a:t>
                </a:r>
                <a:r>
                  <a:rPr lang="en-US" sz="1200" b="0" i="0">
                    <a:solidFill>
                      <a:schemeClr val="tx1"/>
                    </a:solidFill>
                    <a:latin typeface="Cambria Math" panose="02040503050406030204" pitchFamily="18" charset="0"/>
                  </a:rPr>
                  <a:t>|</a:t>
                </a:r>
                <a:r>
                  <a:rPr lang="en-US" sz="1200" i="0">
                    <a:solidFill>
                      <a:schemeClr val="tx1"/>
                    </a:solidFill>
                    <a:latin typeface="Cambria Math" panose="02040503050406030204" pitchFamily="18" charset="0"/>
                  </a:rPr>
                  <a:t>0⟩</a:t>
                </a:r>
                <a:r>
                  <a:rPr lang="sr-Latn-RS" sz="1200" b="0" i="0">
                    <a:solidFill>
                      <a:schemeClr val="tx1"/>
                    </a:solidFill>
                    <a:latin typeface="Cambria Math" panose="02040503050406030204" pitchFamily="18" charset="0"/>
                  </a:rPr>
                  <a:t>−𝑏</a:t>
                </a:r>
                <a:r>
                  <a:rPr lang="en-US" sz="1200" b="0" i="0">
                    <a:solidFill>
                      <a:schemeClr val="tx1"/>
                    </a:solidFill>
                    <a:latin typeface="Cambria Math" panose="02040503050406030204" pitchFamily="18" charset="0"/>
                  </a:rPr>
                  <a:t>|</a:t>
                </a:r>
                <a:r>
                  <a:rPr lang="en-US" sz="1200" i="0">
                    <a:solidFill>
                      <a:schemeClr val="tx1"/>
                    </a:solidFill>
                    <a:latin typeface="Cambria Math" panose="02040503050406030204" pitchFamily="18" charset="0"/>
                  </a:rPr>
                  <a:t>1⟩ )</a:t>
                </a:r>
                <a:endParaRPr lang="en-US" sz="1200" dirty="0">
                  <a:solidFill>
                    <a:schemeClr val="tx1"/>
                  </a:solidFill>
                </a:endParaRPr>
              </a:p>
              <a:p>
                <a:endParaRPr lang="en-ZA"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18</a:t>
            </a:fld>
            <a:endParaRPr lang="en-US"/>
          </a:p>
        </p:txBody>
      </p:sp>
    </p:spTree>
    <p:extLst>
      <p:ext uri="{BB962C8B-B14F-4D97-AF65-F5344CB8AC3E}">
        <p14:creationId xmlns:p14="http://schemas.microsoft.com/office/powerpoint/2010/main" val="100678134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171450" indent="-171450" algn="just">
                  <a:buFont typeface="Arial" panose="020B0604020202020204" pitchFamily="34" charset="0"/>
                  <a:buChar char="•"/>
                </a:pPr>
                <a:r>
                  <a:rPr lang="en-ZA" dirty="0"/>
                  <a:t>The square root of X gate (√X) rotates a qubit’s state about the X-axis by </a:t>
                </a:r>
                <a:r>
                  <a:rPr lang="el-GR" dirty="0"/>
                  <a:t>π/2.</a:t>
                </a:r>
                <a:endParaRPr lang="en-US" dirty="0"/>
              </a:p>
              <a:p>
                <a:pPr marL="171450" indent="-171450" algn="just">
                  <a:buFont typeface="Arial" panose="020B0604020202020204" pitchFamily="34" charset="0"/>
                  <a:buChar char="•"/>
                </a:pPr>
                <a:endParaRPr lang="en-US" dirty="0"/>
              </a:p>
              <a:p>
                <a:pPr marL="171450" indent="-171450" algn="just">
                  <a:buFont typeface="Arial" panose="020B0604020202020204" pitchFamily="34" charset="0"/>
                  <a:buChar char="•"/>
                </a:pPr>
                <a:r>
                  <a:rPr lang="en-ZA" dirty="0"/>
                  <a:t>Its inverse, the X</a:t>
                </a:r>
                <a:r>
                  <a:rPr lang="en-ZA" baseline="30000" dirty="0"/>
                  <a:t>†</a:t>
                </a:r>
                <a:r>
                  <a:rPr lang="en-ZA" dirty="0"/>
                  <a:t> gate, rotates it by −</a:t>
                </a:r>
                <a:r>
                  <a:rPr lang="el-GR" dirty="0"/>
                  <a:t>π/2.</a:t>
                </a:r>
                <a:endParaRPr lang="en-US" dirty="0"/>
              </a:p>
              <a:p>
                <a:pPr marL="171450" indent="-171450" algn="just">
                  <a:buFont typeface="Arial" panose="020B0604020202020204" pitchFamily="34" charset="0"/>
                  <a:buChar char="•"/>
                </a:pPr>
                <a:endParaRPr lang="el-GR" dirty="0"/>
              </a:p>
              <a:p>
                <a:pPr marL="171450" indent="-171450" algn="just">
                  <a:buFont typeface="Arial" panose="020B0604020202020204" pitchFamily="34" charset="0"/>
                  <a:buChar char="•"/>
                </a:pPr>
                <a:r>
                  <a:rPr lang="en-ZA" dirty="0"/>
                  <a:t>Applying √X twice, or X</a:t>
                </a:r>
                <a:r>
                  <a:rPr lang="en-ZA" baseline="30000" dirty="0"/>
                  <a:t>†</a:t>
                </a:r>
                <a:r>
                  <a:rPr lang="en-ZA" dirty="0"/>
                  <a:t> twice, results in the Pauli-X gate.</a:t>
                </a:r>
              </a:p>
              <a:p>
                <a:pPr algn="just"/>
                <a:endParaRPr lang="en-ZA" dirty="0"/>
              </a:p>
              <a:p>
                <a:pPr algn="just"/>
                <a:r>
                  <a:rPr lang="en-ZA" dirty="0"/>
                  <a:t>In QASM, the letter ‘s’ denotes a square root operation. The suffix ‘dg’ means </a:t>
                </a:r>
                <a:r>
                  <a:rPr lang="en-ZA" i="1" dirty="0"/>
                  <a:t>dagger</a:t>
                </a:r>
                <a:r>
                  <a:rPr lang="en-ZA" dirty="0"/>
                  <a:t>, which refers to the Hermitian conjugate (†).</a:t>
                </a:r>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Kolo </a:t>
                </a:r>
                <a:r>
                  <a:rPr lang="en-US" sz="1200" dirty="0" err="1"/>
                  <a:t>kvadratnog</a:t>
                </a:r>
                <a:r>
                  <a:rPr lang="en-US" sz="1200" dirty="0"/>
                  <a:t> </a:t>
                </a:r>
                <a:r>
                  <a:rPr lang="en-US" sz="1200" dirty="0" err="1"/>
                  <a:t>korena</a:t>
                </a:r>
                <a:r>
                  <a:rPr lang="en-US" sz="1200" dirty="0"/>
                  <a:t> X </a:t>
                </a:r>
                <a:r>
                  <a:rPr lang="sr-Latn-RS" sz="1200" dirty="0"/>
                  <a:t>rotira vektor oko </a:t>
                </a:r>
                <a:r>
                  <a:rPr lang="sr-Latn-RS" sz="1200" i="0">
                    <a:latin typeface="Cambria Math" panose="02040503050406030204" pitchFamily="18" charset="0"/>
                  </a:rPr>
                  <a:t> 𝑥</a:t>
                </a:r>
                <a:r>
                  <a:rPr lang="sr-Latn-RS" sz="1200" dirty="0"/>
                  <a:t>-ose za ugao</a:t>
                </a:r>
                <a:r>
                  <a:rPr lang="sr-Latn-RS" sz="1200" baseline="0" dirty="0"/>
                  <a:t> </a:t>
                </a:r>
                <a:r>
                  <a:rPr lang="el-GR" sz="1200" baseline="0" dirty="0"/>
                  <a:t>π</a:t>
                </a:r>
                <a:r>
                  <a:rPr lang="sr-Latn-RS" sz="1200" baseline="0" dirty="0"/>
                  <a:t>/2, dok X† rotira vektor za -</a:t>
                </a:r>
                <a:r>
                  <a:rPr lang="el-GR" sz="1200" baseline="0" dirty="0"/>
                  <a:t>π</a:t>
                </a:r>
                <a:r>
                  <a:rPr lang="sr-Latn-RS" sz="1200" baseline="0" dirty="0"/>
                  <a:t>/2. Oba kola pomnožena sa samim sobom daju X elementarno kolo.</a:t>
                </a:r>
                <a:endParaRPr lang="en-US" sz="1200" kern="1200" dirty="0">
                  <a:solidFill>
                    <a:schemeClr val="tx1"/>
                  </a:solidFill>
                  <a:latin typeface="+mn-lt"/>
                  <a:ea typeface="+mn-ea"/>
                  <a:cs typeface="+mn-cs"/>
                </a:endParaRPr>
              </a:p>
              <a:p>
                <a:endParaRPr lang="en-US" sz="1200"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19</a:t>
            </a:fld>
            <a:endParaRPr lang="en-US"/>
          </a:p>
        </p:txBody>
      </p:sp>
    </p:spTree>
    <p:extLst>
      <p:ext uri="{BB962C8B-B14F-4D97-AF65-F5344CB8AC3E}">
        <p14:creationId xmlns:p14="http://schemas.microsoft.com/office/powerpoint/2010/main" val="324891660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b="0" dirty="0"/>
                  <a:t>The Hadamard gate rotates the qubit state by 180</a:t>
                </a:r>
                <a:r>
                  <a:rPr lang="en-ZA" b="0" baseline="30000" dirty="0"/>
                  <a:t>∘</a:t>
                </a:r>
                <a:r>
                  <a:rPr lang="en-ZA" b="0" dirty="0"/>
                  <a:t> about an axis halfway between the x- and z-axes in the x-z plane of the Bloch sphere.</a:t>
                </a:r>
              </a:p>
              <a:p>
                <a:pPr algn="just"/>
                <a:endParaRPr lang="en-ZA" b="0" dirty="0">
                  <a:latin typeface="+mj-lt"/>
                </a:endParaRPr>
              </a:p>
              <a:p>
                <a:pPr algn="just"/>
                <a:r>
                  <a:rPr lang="en-ZA" b="0" dirty="0">
                    <a:latin typeface="+mj-lt"/>
                  </a:rPr>
                  <a:t>Multiplying the Hadamard matrix by |0⟩ results in |+⟩. In other words, the Hadamard gate places the |0⟩ state into an equal superposition of the computational basis states.</a:t>
                </a:r>
              </a:p>
              <a:p>
                <a:pPr algn="just"/>
                <a:r>
                  <a:rPr lang="en-ZA" b="0" dirty="0">
                    <a:latin typeface="+mj-lt"/>
                  </a:rPr>
                  <a:t>Similarly, when applied to |1⟩, the Hadamard gate produces |−⟩.</a:t>
                </a:r>
              </a:p>
              <a:p>
                <a:pPr algn="just"/>
                <a:endParaRPr lang="en-ZA" b="0" dirty="0">
                  <a:latin typeface="+mj-lt"/>
                </a:endParaRPr>
              </a:p>
              <a:p>
                <a:pPr algn="just"/>
                <a:r>
                  <a:rPr lang="en-ZA" b="0" dirty="0"/>
                  <a:t>For a general qubit, the H gate combines its amplitudes into a new state: the amplitude of ∣0⟩ becomes their sum, while the amplitude of ∣1⟩ becomes their difference, </a:t>
                </a:r>
                <a:r>
                  <a:rPr lang="en-ZA" dirty="0"/>
                  <a:t>with both scaled by </a:t>
                </a:r>
                <a:r>
                  <a:rPr lang="en-ZA" b="0" dirty="0"/>
                  <a:t> </a:t>
                </a:r>
                <a14:m>
                  <m:oMath xmlns:m="http://schemas.openxmlformats.org/officeDocument/2006/math">
                    <m:r>
                      <a:rPr lang="en-US" sz="1200" b="0" i="0" smtClean="0">
                        <a:latin typeface="Cambria Math" panose="02040503050406030204" pitchFamily="18" charset="0"/>
                      </a:rPr>
                      <m:t>1/</m:t>
                    </m:r>
                    <m:rad>
                      <m:radPr>
                        <m:degHide m:val="on"/>
                        <m:ctrlPr>
                          <a:rPr lang="en-US" sz="1200" i="1" smtClean="0">
                            <a:latin typeface="Cambria Math" panose="02040503050406030204" pitchFamily="18" charset="0"/>
                          </a:rPr>
                        </m:ctrlPr>
                      </m:radPr>
                      <m:deg/>
                      <m:e>
                        <m:r>
                          <a:rPr lang="en-US" sz="1200" i="0">
                            <a:latin typeface="Cambria Math" panose="02040503050406030204" pitchFamily="18" charset="0"/>
                          </a:rPr>
                          <m:t>2</m:t>
                        </m:r>
                      </m:e>
                    </m:rad>
                  </m:oMath>
                </a14:m>
                <a:r>
                  <a:rPr lang="en-ZA" b="0" dirty="0"/>
                  <a:t>.</a:t>
                </a:r>
                <a:endParaRPr lang="en-ZA" b="0" dirty="0">
                  <a:latin typeface="+mj-lt"/>
                </a:endParaRPr>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err="1"/>
                  <a:t>Sledeće</a:t>
                </a:r>
                <a:r>
                  <a:rPr lang="en-US" sz="1200" dirty="0"/>
                  <a:t> </a:t>
                </a:r>
                <a:r>
                  <a:rPr lang="en-US" sz="1200" dirty="0" err="1"/>
                  <a:t>važno</a:t>
                </a:r>
                <a:r>
                  <a:rPr lang="en-US" sz="1200" dirty="0"/>
                  <a:t> </a:t>
                </a:r>
                <a:r>
                  <a:rPr lang="en-US" sz="1200" dirty="0" err="1"/>
                  <a:t>elementarno</a:t>
                </a:r>
                <a:r>
                  <a:rPr lang="en-US" sz="1200" dirty="0"/>
                  <a:t> </a:t>
                </a:r>
                <a:r>
                  <a:rPr lang="en-US" sz="1200" dirty="0" err="1"/>
                  <a:t>kolo</a:t>
                </a:r>
                <a:r>
                  <a:rPr lang="en-US" sz="1200" dirty="0"/>
                  <a:t> </a:t>
                </a:r>
                <a:r>
                  <a:rPr lang="en-US" sz="1200" dirty="0" err="1"/>
                  <a:t>je</a:t>
                </a:r>
                <a:r>
                  <a:rPr lang="en-US" sz="1200" dirty="0"/>
                  <a:t> </a:t>
                </a:r>
                <a:r>
                  <a:rPr lang="en-US" sz="1200" dirty="0" err="1"/>
                  <a:t>Adamarovo</a:t>
                </a:r>
                <a:r>
                  <a:rPr lang="en-US" sz="1200" dirty="0"/>
                  <a:t> </a:t>
                </a:r>
                <a:r>
                  <a:rPr lang="en-US" sz="1200" dirty="0" err="1"/>
                  <a:t>kolo</a:t>
                </a:r>
                <a:r>
                  <a:rPr lang="en-US" sz="1200" dirty="0"/>
                  <a:t> </a:t>
                </a:r>
                <a:r>
                  <a:rPr lang="en-US" sz="1200" dirty="0" err="1"/>
                  <a:t>koje</a:t>
                </a:r>
                <a:r>
                  <a:rPr lang="en-US" sz="1200" dirty="0"/>
                  <a:t> </a:t>
                </a:r>
                <a:r>
                  <a:rPr lang="en-US" sz="1200" dirty="0" err="1"/>
                  <a:t>vrši</a:t>
                </a:r>
                <a:r>
                  <a:rPr lang="en-US" sz="1200" dirty="0"/>
                  <a:t> </a:t>
                </a:r>
                <a:r>
                  <a:rPr lang="en-US" sz="1200" dirty="0" err="1"/>
                  <a:t>rotaciju</a:t>
                </a:r>
                <a:r>
                  <a:rPr lang="en-US" sz="1200" dirty="0"/>
                  <a:t> </a:t>
                </a:r>
                <a:r>
                  <a:rPr lang="sr-Latn-RS" sz="1200" dirty="0"/>
                  <a:t>ket vektora oko </a:t>
                </a:r>
                <a:r>
                  <a:rPr lang="sr-Latn-RS" sz="1200" i="0">
                    <a:latin typeface="Cambria Math" panose="02040503050406030204" pitchFamily="18" charset="0"/>
                  </a:rPr>
                  <a:t>(𝑥+𝑧)</a:t>
                </a:r>
                <a:r>
                  <a:rPr lang="en-US" sz="1200" kern="1200" dirty="0">
                    <a:solidFill>
                      <a:schemeClr val="tx1"/>
                    </a:solidFill>
                    <a:latin typeface="+mn-lt"/>
                    <a:ea typeface="+mn-ea"/>
                    <a:cs typeface="+mn-cs"/>
                  </a:rPr>
                  <a:t>/√2 </a:t>
                </a:r>
                <a:r>
                  <a:rPr lang="en-US" sz="1200" kern="1200" dirty="0" err="1">
                    <a:solidFill>
                      <a:schemeClr val="tx1"/>
                    </a:solidFill>
                    <a:latin typeface="+mn-lt"/>
                    <a:ea typeface="+mn-ea"/>
                    <a:cs typeface="+mn-cs"/>
                  </a:rPr>
                  <a:t>ose</a:t>
                </a:r>
                <a:r>
                  <a:rPr lang="en-US" sz="1200" kern="1200" dirty="0">
                    <a:solidFill>
                      <a:schemeClr val="tx1"/>
                    </a:solidFill>
                    <a:latin typeface="+mn-lt"/>
                    <a:ea typeface="+mn-ea"/>
                    <a:cs typeface="+mn-cs"/>
                  </a:rPr>
                  <a:t>. QASM </a:t>
                </a:r>
                <a:r>
                  <a:rPr lang="en-US" sz="1200" kern="1200" dirty="0" err="1">
                    <a:solidFill>
                      <a:schemeClr val="tx1"/>
                    </a:solidFill>
                    <a:latin typeface="+mn-lt"/>
                    <a:ea typeface="+mn-ea"/>
                    <a:cs typeface="+mn-cs"/>
                  </a:rPr>
                  <a:t>instrukcija</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je</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jednostavno</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slovo</a:t>
                </a:r>
                <a:r>
                  <a:rPr lang="en-US" sz="1200" kern="1200" dirty="0">
                    <a:solidFill>
                      <a:schemeClr val="tx1"/>
                    </a:solidFill>
                    <a:latin typeface="+mn-lt"/>
                    <a:ea typeface="+mn-ea"/>
                    <a:cs typeface="+mn-cs"/>
                  </a:rPr>
                  <a:t> h </a:t>
                </a:r>
                <a:r>
                  <a:rPr lang="en-US" sz="1200" kern="1200" dirty="0" err="1">
                    <a:solidFill>
                      <a:schemeClr val="tx1"/>
                    </a:solidFill>
                    <a:latin typeface="+mn-lt"/>
                    <a:ea typeface="+mn-ea"/>
                    <a:cs typeface="+mn-cs"/>
                  </a:rPr>
                  <a:t>iza</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koje</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sledi</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ime</a:t>
                </a:r>
                <a:r>
                  <a:rPr lang="en-US" sz="1200" kern="1200" dirty="0">
                    <a:solidFill>
                      <a:schemeClr val="tx1"/>
                    </a:solidFill>
                    <a:latin typeface="+mn-lt"/>
                    <a:ea typeface="+mn-ea"/>
                    <a:cs typeface="+mn-cs"/>
                  </a:rPr>
                  <a:t> kubita </a:t>
                </a:r>
                <a:r>
                  <a:rPr lang="en-US" sz="1200" kern="1200" dirty="0" err="1">
                    <a:solidFill>
                      <a:schemeClr val="tx1"/>
                    </a:solidFill>
                    <a:latin typeface="+mn-lt"/>
                    <a:ea typeface="+mn-ea"/>
                    <a:cs typeface="+mn-cs"/>
                  </a:rPr>
                  <a:t>na</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koje</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kolo</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deluje</a:t>
                </a:r>
                <a:r>
                  <a:rPr lang="en-US" sz="1200" kern="1200" dirty="0">
                    <a:solidFill>
                      <a:schemeClr val="tx1"/>
                    </a:solidFill>
                    <a:latin typeface="+mn-lt"/>
                    <a:ea typeface="+mn-ea"/>
                    <a:cs typeface="+mn-cs"/>
                  </a:rPr>
                  <a:t>.</a:t>
                </a: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err="1">
                    <a:solidFill>
                      <a:schemeClr val="tx1"/>
                    </a:solidFill>
                    <a:latin typeface="+mn-lt"/>
                    <a:ea typeface="+mn-ea"/>
                    <a:cs typeface="+mn-cs"/>
                  </a:rPr>
                  <a:t>Množenjem</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Adamarove</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matrice</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sa</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vektorom</a:t>
                </a:r>
                <a:r>
                  <a:rPr lang="en-US" sz="1200" kern="1200" dirty="0">
                    <a:solidFill>
                      <a:schemeClr val="tx1"/>
                    </a:solidFill>
                    <a:latin typeface="+mn-lt"/>
                    <a:ea typeface="+mn-ea"/>
                    <a:cs typeface="+mn-cs"/>
                  </a:rPr>
                  <a:t> </a:t>
                </a:r>
                <a:r>
                  <a:rPr lang="en-US" dirty="0"/>
                  <a:t>|0⟩ </a:t>
                </a:r>
                <a:r>
                  <a:rPr lang="en-US" dirty="0" err="1"/>
                  <a:t>dobija</a:t>
                </a:r>
                <a:r>
                  <a:rPr lang="en-US" dirty="0"/>
                  <a:t> se |+⟩. </a:t>
                </a:r>
                <a:r>
                  <a:rPr lang="en-US" dirty="0" err="1"/>
                  <a:t>Drugim</a:t>
                </a:r>
                <a:r>
                  <a:rPr lang="en-US" dirty="0"/>
                  <a:t> </a:t>
                </a:r>
                <a:r>
                  <a:rPr lang="en-US" dirty="0" err="1"/>
                  <a:t>rećima</a:t>
                </a:r>
                <a:r>
                  <a:rPr lang="en-US" dirty="0"/>
                  <a:t>, </a:t>
                </a:r>
                <a:r>
                  <a:rPr lang="en-US" dirty="0" err="1"/>
                  <a:t>Adamarovo</a:t>
                </a:r>
                <a:r>
                  <a:rPr lang="en-US" dirty="0"/>
                  <a:t> </a:t>
                </a:r>
                <a:r>
                  <a:rPr lang="en-US" dirty="0" err="1"/>
                  <a:t>kolo</a:t>
                </a:r>
                <a:r>
                  <a:rPr lang="en-US" dirty="0"/>
                  <a:t> </a:t>
                </a:r>
                <a:r>
                  <a:rPr lang="en-US" dirty="0" err="1"/>
                  <a:t>stavlja</a:t>
                </a:r>
                <a:r>
                  <a:rPr lang="en-US" dirty="0"/>
                  <a:t> kubit |0⟩ u </a:t>
                </a:r>
                <a:r>
                  <a:rPr lang="en-US" dirty="0" err="1"/>
                  <a:t>jednaku</a:t>
                </a:r>
                <a:r>
                  <a:rPr lang="en-US" dirty="0"/>
                  <a:t> </a:t>
                </a:r>
                <a:r>
                  <a:rPr lang="en-US" dirty="0" err="1"/>
                  <a:t>superpoziciju</a:t>
                </a:r>
                <a:r>
                  <a:rPr lang="en-US" dirty="0"/>
                  <a:t> </a:t>
                </a:r>
                <a:r>
                  <a:rPr lang="en-US" dirty="0" err="1"/>
                  <a:t>stanja</a:t>
                </a:r>
                <a:r>
                  <a:rPr lang="en-US" dirty="0"/>
                  <a:t>.</a:t>
                </a: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err="1"/>
                  <a:t>Isto</a:t>
                </a:r>
                <a:r>
                  <a:rPr lang="en-US" dirty="0"/>
                  <a:t> </a:t>
                </a:r>
                <a:r>
                  <a:rPr lang="en-US" dirty="0" err="1"/>
                  <a:t>važi</a:t>
                </a:r>
                <a:r>
                  <a:rPr lang="en-US" dirty="0"/>
                  <a:t> I </a:t>
                </a:r>
                <a:r>
                  <a:rPr lang="en-US" dirty="0" err="1"/>
                  <a:t>kada</a:t>
                </a:r>
                <a:r>
                  <a:rPr lang="en-US" dirty="0"/>
                  <a:t> se </a:t>
                </a:r>
                <a:r>
                  <a:rPr lang="en-US" dirty="0" err="1"/>
                  <a:t>pomnoži</a:t>
                </a:r>
                <a:r>
                  <a:rPr lang="en-US" dirty="0"/>
                  <a:t> </a:t>
                </a:r>
                <a:r>
                  <a:rPr lang="en-US" dirty="0" err="1"/>
                  <a:t>sa</a:t>
                </a:r>
                <a:r>
                  <a:rPr lang="en-US" dirty="0"/>
                  <a:t> |1⟩, </a:t>
                </a:r>
                <a:r>
                  <a:rPr lang="en-US" dirty="0" err="1"/>
                  <a:t>samo</a:t>
                </a:r>
                <a:r>
                  <a:rPr lang="en-US" dirty="0"/>
                  <a:t> </a:t>
                </a:r>
                <a:r>
                  <a:rPr lang="en-US" dirty="0" err="1"/>
                  <a:t>je</a:t>
                </a:r>
                <a:r>
                  <a:rPr lang="en-US" dirty="0"/>
                  <a:t> </a:t>
                </a:r>
                <a:r>
                  <a:rPr lang="en-US" dirty="0" err="1"/>
                  <a:t>ovog</a:t>
                </a:r>
                <a:r>
                  <a:rPr lang="en-US" dirty="0"/>
                  <a:t> puta </a:t>
                </a:r>
                <a:r>
                  <a:rPr lang="en-US" dirty="0" err="1"/>
                  <a:t>relativna</a:t>
                </a:r>
                <a:r>
                  <a:rPr lang="en-US" dirty="0"/>
                  <a:t> </a:t>
                </a:r>
                <a:r>
                  <a:rPr lang="en-US" dirty="0" err="1"/>
                  <a:t>faza</a:t>
                </a:r>
                <a:r>
                  <a:rPr lang="en-US" dirty="0"/>
                  <a:t> </a:t>
                </a:r>
                <a:r>
                  <a:rPr lang="el-GR" dirty="0"/>
                  <a:t>π</a:t>
                </a:r>
                <a:r>
                  <a:rPr lang="sr-Latn-RS" dirty="0"/>
                  <a:t> radijana, pa se dobija stanje </a:t>
                </a:r>
                <a:r>
                  <a:rPr lang="en-US" dirty="0"/>
                  <a:t>|–⟩</a:t>
                </a:r>
                <a:r>
                  <a:rPr lang="sr-Latn-RS" dirty="0"/>
                  <a:t>. Ovo je vredno zapamtiti i zbog projekta jer se jednostavnom upotrebom </a:t>
                </a:r>
                <a:r>
                  <a:rPr lang="sr-Latn-RS" dirty="0" err="1"/>
                  <a:t>H</a:t>
                </a:r>
                <a:r>
                  <a:rPr lang="sr-Latn-RS" dirty="0"/>
                  <a:t> kola, kubit rotira u jedno od željenih stanja.</a:t>
                </a:r>
                <a:endParaRPr lang="en-US" sz="1200" kern="1200" dirty="0">
                  <a:solidFill>
                    <a:schemeClr val="tx1"/>
                  </a:solidFill>
                  <a:latin typeface="+mn-lt"/>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err="1">
                    <a:solidFill>
                      <a:schemeClr val="tx1"/>
                    </a:solidFill>
                    <a:latin typeface="+mn-lt"/>
                    <a:ea typeface="+mn-ea"/>
                    <a:cs typeface="+mn-cs"/>
                  </a:rPr>
                  <a:t>Donja</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jednačina</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prikazuje</a:t>
                </a:r>
                <a:r>
                  <a:rPr lang="en-US" sz="1200" kern="1200" dirty="0">
                    <a:solidFill>
                      <a:schemeClr val="tx1"/>
                    </a:solidFill>
                    <a:latin typeface="+mn-lt"/>
                    <a:ea typeface="+mn-ea"/>
                    <a:cs typeface="+mn-cs"/>
                  </a:rPr>
                  <a:t> novo </a:t>
                </a:r>
                <a:r>
                  <a:rPr lang="en-US" sz="1200" kern="1200" dirty="0" err="1">
                    <a:solidFill>
                      <a:schemeClr val="tx1"/>
                    </a:solidFill>
                    <a:latin typeface="+mn-lt"/>
                    <a:ea typeface="+mn-ea"/>
                    <a:cs typeface="+mn-cs"/>
                  </a:rPr>
                  <a:t>stanje</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vektora</a:t>
                </a:r>
                <a:r>
                  <a:rPr lang="en-US" sz="1200" kern="1200" dirty="0">
                    <a:solidFill>
                      <a:schemeClr val="tx1"/>
                    </a:solidFill>
                    <a:latin typeface="+mn-lt"/>
                    <a:ea typeface="+mn-ea"/>
                    <a:cs typeface="+mn-cs"/>
                  </a:rPr>
                  <a:t> kubita u </a:t>
                </a:r>
                <a:r>
                  <a:rPr lang="en-US" sz="1200" kern="1200" dirty="0" err="1">
                    <a:solidFill>
                      <a:schemeClr val="tx1"/>
                    </a:solidFill>
                    <a:latin typeface="+mn-lt"/>
                    <a:ea typeface="+mn-ea"/>
                    <a:cs typeface="+mn-cs"/>
                  </a:rPr>
                  <a:t>generalnom</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obliku</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koje</a:t>
                </a:r>
                <a:r>
                  <a:rPr lang="en-US" sz="1200" kern="1200" dirty="0">
                    <a:solidFill>
                      <a:schemeClr val="tx1"/>
                    </a:solidFill>
                    <a:latin typeface="+mn-lt"/>
                    <a:ea typeface="+mn-ea"/>
                    <a:cs typeface="+mn-cs"/>
                  </a:rPr>
                  <a:t> se </a:t>
                </a:r>
                <a:r>
                  <a:rPr lang="en-US" sz="1200" kern="1200" dirty="0" err="1">
                    <a:solidFill>
                      <a:schemeClr val="tx1"/>
                    </a:solidFill>
                    <a:latin typeface="+mn-lt"/>
                    <a:ea typeface="+mn-ea"/>
                    <a:cs typeface="+mn-cs"/>
                  </a:rPr>
                  <a:t>dobija</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primenom</a:t>
                </a:r>
                <a:r>
                  <a:rPr lang="en-US" sz="1200" kern="1200" dirty="0">
                    <a:solidFill>
                      <a:schemeClr val="tx1"/>
                    </a:solidFill>
                    <a:latin typeface="+mn-lt"/>
                    <a:ea typeface="+mn-ea"/>
                    <a:cs typeface="+mn-cs"/>
                  </a:rPr>
                  <a:t> H kola.</a:t>
                </a: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kern="1200" dirty="0">
                  <a:solidFill>
                    <a:schemeClr val="tx1"/>
                  </a:solidFill>
                  <a:latin typeface="+mn-lt"/>
                  <a:ea typeface="+mn-ea"/>
                  <a:cs typeface="+mn-cs"/>
                </a:endParaRPr>
              </a:p>
              <a:p>
                <a:endParaRPr lang="en-US" sz="1200"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20</a:t>
            </a:fld>
            <a:endParaRPr lang="en-US"/>
          </a:p>
        </p:txBody>
      </p:sp>
    </p:spTree>
    <p:extLst>
      <p:ext uri="{BB962C8B-B14F-4D97-AF65-F5344CB8AC3E}">
        <p14:creationId xmlns:p14="http://schemas.microsoft.com/office/powerpoint/2010/main" val="193434213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B2CE5E3-B8BD-D040-AC87-D640191DD8F1}" type="slidenum">
              <a:rPr lang="en-US" smtClean="0"/>
              <a:t>21</a:t>
            </a:fld>
            <a:endParaRPr lang="en-US"/>
          </a:p>
        </p:txBody>
      </p:sp>
    </p:spTree>
    <p:extLst>
      <p:ext uri="{BB962C8B-B14F-4D97-AF65-F5344CB8AC3E}">
        <p14:creationId xmlns:p14="http://schemas.microsoft.com/office/powerpoint/2010/main" val="95154174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ZA" b="0" dirty="0"/>
                  <a:t>By combining rotations about the </a:t>
                </a:r>
                <a14:m>
                  <m:oMath xmlns:m="http://schemas.openxmlformats.org/officeDocument/2006/math">
                    <m:r>
                      <a:rPr lang="en-US" sz="1200" i="1" smtClean="0">
                        <a:latin typeface="Cambria Math" panose="02040503050406030204" pitchFamily="18" charset="0"/>
                      </a:rPr>
                      <m:t>𝑥</m:t>
                    </m:r>
                  </m:oMath>
                </a14:m>
                <a:r>
                  <a:rPr lang="en-ZA" b="0" dirty="0"/>
                  <a:t>, </a:t>
                </a:r>
                <a14:m>
                  <m:oMath xmlns:m="http://schemas.openxmlformats.org/officeDocument/2006/math">
                    <m:r>
                      <a:rPr lang="en-US" sz="1200" b="0" i="1" smtClean="0">
                        <a:latin typeface="Cambria Math" panose="02040503050406030204" pitchFamily="18" charset="0"/>
                      </a:rPr>
                      <m:t>𝑦</m:t>
                    </m:r>
                  </m:oMath>
                </a14:m>
                <a:r>
                  <a:rPr lang="en-ZA" b="0" dirty="0"/>
                  <a:t>, and </a:t>
                </a:r>
                <a14:m>
                  <m:oMath xmlns:m="http://schemas.openxmlformats.org/officeDocument/2006/math">
                    <m:r>
                      <a:rPr lang="en-US" sz="1200" b="0" i="1" smtClean="0">
                        <a:latin typeface="Cambria Math" panose="02040503050406030204" pitchFamily="18" charset="0"/>
                      </a:rPr>
                      <m:t>𝑧</m:t>
                    </m:r>
                  </m:oMath>
                </a14:m>
                <a:r>
                  <a:rPr lang="en-ZA" b="0" dirty="0"/>
                  <a:t> axes, a state vector can be moved to any point on the Bloch sphere. These rotations are performed by the rotation gates RX​, RY​, and RZ​, which are defined using the corresponding Pauli matrices X, Y, and Z.</a:t>
                </a:r>
              </a:p>
              <a:p>
                <a:endParaRPr lang="en-ZA" b="0" dirty="0"/>
              </a:p>
              <a:p>
                <a:r>
                  <a:rPr lang="en-ZA" b="0" dirty="0"/>
                  <a:t>A rotation by an angle </a:t>
                </a:r>
                <a:r>
                  <a:rPr lang="el-GR" b="0" dirty="0"/>
                  <a:t>θ </a:t>
                </a:r>
                <a:r>
                  <a:rPr lang="en-ZA" b="0" dirty="0"/>
                  <a:t>is expressed as</a:t>
                </a:r>
              </a:p>
              <a:p>
                <a:endParaRPr lang="en-ZA" b="0" dirty="0"/>
              </a:p>
              <a:p>
                <a:pPr/>
                <a14:m>
                  <m:oMathPara xmlns:m="http://schemas.openxmlformats.org/officeDocument/2006/math">
                    <m:oMathParaPr>
                      <m:jc m:val="centerGroup"/>
                    </m:oMathParaPr>
                    <m:oMath xmlns:m="http://schemas.openxmlformats.org/officeDocument/2006/math">
                      <m:sSub>
                        <m:sSubPr>
                          <m:ctrlPr>
                            <a:rPr lang="en-US" sz="1200" i="1" smtClean="0">
                              <a:latin typeface="Cambria Math" panose="02040503050406030204" pitchFamily="18" charset="0"/>
                            </a:rPr>
                          </m:ctrlPr>
                        </m:sSubPr>
                        <m:e>
                          <m:r>
                            <a:rPr lang="en-US" sz="1200" i="1">
                              <a:latin typeface="Cambria Math" panose="02040503050406030204" pitchFamily="18" charset="0"/>
                            </a:rPr>
                            <m:t>𝑅</m:t>
                          </m:r>
                        </m:e>
                        <m:sub>
                          <m:r>
                            <a:rPr lang="en-US" sz="1200" i="1">
                              <a:latin typeface="Cambria Math" panose="02040503050406030204" pitchFamily="18" charset="0"/>
                            </a:rPr>
                            <m:t>𝑥</m:t>
                          </m:r>
                        </m:sub>
                      </m:sSub>
                      <m:d>
                        <m:dPr>
                          <m:ctrlPr>
                            <a:rPr lang="en-US" sz="1200" i="1">
                              <a:latin typeface="Cambria Math" panose="02040503050406030204" pitchFamily="18" charset="0"/>
                            </a:rPr>
                          </m:ctrlPr>
                        </m:dPr>
                        <m:e>
                          <m:sSub>
                            <m:sSubPr>
                              <m:ctrlPr>
                                <a:rPr lang="en-US" sz="1200" i="1" smtClean="0">
                                  <a:latin typeface="Cambria Math" panose="02040503050406030204" pitchFamily="18" charset="0"/>
                                </a:rPr>
                              </m:ctrlPr>
                            </m:sSubPr>
                            <m:e>
                              <m:r>
                                <a:rPr lang="en-US" sz="1200" i="1">
                                  <a:latin typeface="Cambria Math" panose="02040503050406030204" pitchFamily="18" charset="0"/>
                                </a:rPr>
                                <m:t>𝜃</m:t>
                              </m:r>
                            </m:e>
                            <m:sub>
                              <m:r>
                                <a:rPr lang="sr-Latn-RS" sz="1200" b="0" i="1" smtClean="0">
                                  <a:latin typeface="Cambria Math" panose="02040503050406030204" pitchFamily="18" charset="0"/>
                                </a:rPr>
                                <m:t>𝑥</m:t>
                              </m:r>
                            </m:sub>
                          </m:sSub>
                        </m:e>
                      </m:d>
                      <m:r>
                        <a:rPr lang="en-US" sz="1200" i="0">
                          <a:latin typeface="Cambria Math" panose="02040503050406030204" pitchFamily="18" charset="0"/>
                        </a:rPr>
                        <m:t>=</m:t>
                      </m:r>
                      <m:sSup>
                        <m:sSupPr>
                          <m:ctrlPr>
                            <a:rPr lang="en-US" sz="1200" i="1" smtClean="0">
                              <a:latin typeface="Cambria Math" panose="02040503050406030204" pitchFamily="18" charset="0"/>
                            </a:rPr>
                          </m:ctrlPr>
                        </m:sSupPr>
                        <m:e>
                          <m:r>
                            <a:rPr lang="en-US" sz="1200" b="0" i="1" smtClean="0">
                              <a:latin typeface="Cambria Math" panose="02040503050406030204" pitchFamily="18" charset="0"/>
                            </a:rPr>
                            <m:t>𝑒</m:t>
                          </m:r>
                        </m:e>
                        <m:sup>
                          <m:r>
                            <a:rPr lang="en-US" sz="1200" b="0" i="1" smtClean="0">
                              <a:latin typeface="Cambria Math" panose="02040503050406030204" pitchFamily="18" charset="0"/>
                            </a:rPr>
                            <m:t>−</m:t>
                          </m:r>
                          <m:r>
                            <a:rPr lang="en-US" sz="1200" b="0" i="1" smtClean="0">
                              <a:latin typeface="Cambria Math" panose="02040503050406030204" pitchFamily="18" charset="0"/>
                            </a:rPr>
                            <m:t>𝑖</m:t>
                          </m:r>
                          <m:f>
                            <m:fPr>
                              <m:ctrlPr>
                                <a:rPr lang="en-US" sz="1200" i="1">
                                  <a:latin typeface="Cambria Math" panose="02040503050406030204" pitchFamily="18" charset="0"/>
                                </a:rPr>
                              </m:ctrlPr>
                            </m:fPr>
                            <m:num>
                              <m:sSub>
                                <m:sSubPr>
                                  <m:ctrlPr>
                                    <a:rPr lang="en-US" sz="1200" i="1" smtClean="0">
                                      <a:latin typeface="Cambria Math" panose="02040503050406030204" pitchFamily="18" charset="0"/>
                                    </a:rPr>
                                  </m:ctrlPr>
                                </m:sSubPr>
                                <m:e>
                                  <m:r>
                                    <a:rPr lang="en-US" sz="1200" i="1">
                                      <a:latin typeface="Cambria Math" panose="02040503050406030204" pitchFamily="18" charset="0"/>
                                    </a:rPr>
                                    <m:t>𝜃</m:t>
                                  </m:r>
                                </m:e>
                                <m:sub>
                                  <m:r>
                                    <a:rPr lang="sr-Latn-RS" sz="1200" b="0" i="1" smtClean="0">
                                      <a:latin typeface="Cambria Math" panose="02040503050406030204" pitchFamily="18" charset="0"/>
                                    </a:rPr>
                                    <m:t>𝑥</m:t>
                                  </m:r>
                                </m:sub>
                              </m:sSub>
                            </m:num>
                            <m:den>
                              <m:r>
                                <a:rPr lang="en-US" sz="1200">
                                  <a:latin typeface="Cambria Math" panose="02040503050406030204" pitchFamily="18" charset="0"/>
                                </a:rPr>
                                <m:t>2</m:t>
                              </m:r>
                            </m:den>
                          </m:f>
                          <m:r>
                            <a:rPr lang="en-US" sz="1200" b="0" i="1" smtClean="0">
                              <a:latin typeface="Cambria Math" panose="02040503050406030204" pitchFamily="18" charset="0"/>
                            </a:rPr>
                            <m:t>𝑋</m:t>
                          </m:r>
                        </m:sup>
                      </m:sSup>
                      <m:r>
                        <a:rPr lang="en-US" sz="1200" b="0" i="1" smtClean="0">
                          <a:latin typeface="Cambria Math" panose="02040503050406030204" pitchFamily="18" charset="0"/>
                        </a:rPr>
                        <m:t>,  </m:t>
                      </m:r>
                      <m:sSub>
                        <m:sSubPr>
                          <m:ctrlPr>
                            <a:rPr lang="en-US" sz="1200" i="1" smtClean="0">
                              <a:latin typeface="Cambria Math" panose="02040503050406030204" pitchFamily="18" charset="0"/>
                            </a:rPr>
                          </m:ctrlPr>
                        </m:sSubPr>
                        <m:e>
                          <m:r>
                            <a:rPr lang="en-US" sz="1200" i="1">
                              <a:latin typeface="Cambria Math" panose="02040503050406030204" pitchFamily="18" charset="0"/>
                            </a:rPr>
                            <m:t>𝑅</m:t>
                          </m:r>
                        </m:e>
                        <m:sub>
                          <m:r>
                            <a:rPr lang="en-US" sz="1200" b="0" i="1" smtClean="0">
                              <a:latin typeface="Cambria Math" panose="02040503050406030204" pitchFamily="18" charset="0"/>
                            </a:rPr>
                            <m:t>𝑦</m:t>
                          </m:r>
                        </m:sub>
                      </m:sSub>
                      <m:d>
                        <m:dPr>
                          <m:ctrlPr>
                            <a:rPr lang="en-US" sz="1200" i="1">
                              <a:latin typeface="Cambria Math" panose="02040503050406030204" pitchFamily="18" charset="0"/>
                            </a:rPr>
                          </m:ctrlPr>
                        </m:dPr>
                        <m:e>
                          <m:sSub>
                            <m:sSubPr>
                              <m:ctrlPr>
                                <a:rPr lang="en-US" sz="1200" i="1">
                                  <a:latin typeface="Cambria Math" panose="02040503050406030204" pitchFamily="18" charset="0"/>
                                </a:rPr>
                              </m:ctrlPr>
                            </m:sSubPr>
                            <m:e>
                              <m:r>
                                <a:rPr lang="en-US" sz="1200" i="1">
                                  <a:latin typeface="Cambria Math" panose="02040503050406030204" pitchFamily="18" charset="0"/>
                                </a:rPr>
                                <m:t>𝜃</m:t>
                              </m:r>
                            </m:e>
                            <m:sub>
                              <m:r>
                                <a:rPr lang="sr-Latn-RS" sz="1200" b="0" i="1" smtClean="0">
                                  <a:latin typeface="Cambria Math" panose="02040503050406030204" pitchFamily="18" charset="0"/>
                                </a:rPr>
                                <m:t>𝑦</m:t>
                              </m:r>
                            </m:sub>
                          </m:sSub>
                        </m:e>
                      </m:d>
                      <m:r>
                        <a:rPr lang="en-US" sz="1200" i="0">
                          <a:latin typeface="Cambria Math" panose="02040503050406030204" pitchFamily="18" charset="0"/>
                        </a:rPr>
                        <m:t>=</m:t>
                      </m:r>
                      <m:sSup>
                        <m:sSupPr>
                          <m:ctrlPr>
                            <a:rPr lang="en-US" sz="1200" i="1" smtClean="0">
                              <a:latin typeface="Cambria Math" panose="02040503050406030204" pitchFamily="18" charset="0"/>
                            </a:rPr>
                          </m:ctrlPr>
                        </m:sSupPr>
                        <m:e>
                          <m:r>
                            <a:rPr lang="en-US" sz="1200" b="0" i="1" smtClean="0">
                              <a:latin typeface="Cambria Math" panose="02040503050406030204" pitchFamily="18" charset="0"/>
                            </a:rPr>
                            <m:t>𝑒</m:t>
                          </m:r>
                        </m:e>
                        <m:sup>
                          <m:r>
                            <a:rPr lang="en-US" sz="1200" b="0" i="1" smtClean="0">
                              <a:latin typeface="Cambria Math" panose="02040503050406030204" pitchFamily="18" charset="0"/>
                            </a:rPr>
                            <m:t>−</m:t>
                          </m:r>
                          <m:r>
                            <a:rPr lang="en-US" sz="1200" b="0" i="1" smtClean="0">
                              <a:latin typeface="Cambria Math" panose="02040503050406030204" pitchFamily="18" charset="0"/>
                            </a:rPr>
                            <m:t>𝑖</m:t>
                          </m:r>
                          <m:f>
                            <m:fPr>
                              <m:ctrlPr>
                                <a:rPr lang="en-US" sz="1200" i="1">
                                  <a:latin typeface="Cambria Math" panose="02040503050406030204" pitchFamily="18" charset="0"/>
                                </a:rPr>
                              </m:ctrlPr>
                            </m:fPr>
                            <m:num>
                              <m:sSub>
                                <m:sSubPr>
                                  <m:ctrlPr>
                                    <a:rPr lang="en-US" sz="1200" i="1">
                                      <a:latin typeface="Cambria Math" panose="02040503050406030204" pitchFamily="18" charset="0"/>
                                    </a:rPr>
                                  </m:ctrlPr>
                                </m:sSubPr>
                                <m:e>
                                  <m:r>
                                    <a:rPr lang="en-US" sz="1200" i="1">
                                      <a:latin typeface="Cambria Math" panose="02040503050406030204" pitchFamily="18" charset="0"/>
                                    </a:rPr>
                                    <m:t>𝜃</m:t>
                                  </m:r>
                                </m:e>
                                <m:sub>
                                  <m:r>
                                    <a:rPr lang="sr-Latn-RS" sz="1200" b="0" i="1" smtClean="0">
                                      <a:latin typeface="Cambria Math" panose="02040503050406030204" pitchFamily="18" charset="0"/>
                                    </a:rPr>
                                    <m:t>𝑦</m:t>
                                  </m:r>
                                </m:sub>
                              </m:sSub>
                            </m:num>
                            <m:den>
                              <m:r>
                                <a:rPr lang="en-US" sz="1200">
                                  <a:latin typeface="Cambria Math" panose="02040503050406030204" pitchFamily="18" charset="0"/>
                                </a:rPr>
                                <m:t>2</m:t>
                              </m:r>
                            </m:den>
                          </m:f>
                          <m:r>
                            <a:rPr lang="en-US" sz="1200" b="0" i="1" smtClean="0">
                              <a:latin typeface="Cambria Math" panose="02040503050406030204" pitchFamily="18" charset="0"/>
                            </a:rPr>
                            <m:t>𝑌</m:t>
                          </m:r>
                        </m:sup>
                      </m:sSup>
                      <m:r>
                        <a:rPr lang="en-US" sz="1200" b="0" i="1" smtClean="0">
                          <a:latin typeface="Cambria Math" panose="02040503050406030204" pitchFamily="18" charset="0"/>
                        </a:rPr>
                        <m:t>,  </m:t>
                      </m:r>
                      <m:sSub>
                        <m:sSubPr>
                          <m:ctrlPr>
                            <a:rPr lang="en-US" sz="1200" i="1" smtClean="0">
                              <a:latin typeface="Cambria Math" panose="02040503050406030204" pitchFamily="18" charset="0"/>
                            </a:rPr>
                          </m:ctrlPr>
                        </m:sSubPr>
                        <m:e>
                          <m:r>
                            <a:rPr lang="en-US" sz="1200" i="1">
                              <a:latin typeface="Cambria Math" panose="02040503050406030204" pitchFamily="18" charset="0"/>
                            </a:rPr>
                            <m:t>𝑅</m:t>
                          </m:r>
                        </m:e>
                        <m:sub>
                          <m:r>
                            <a:rPr lang="en-US" sz="1200" b="0" i="1" smtClean="0">
                              <a:latin typeface="Cambria Math" panose="02040503050406030204" pitchFamily="18" charset="0"/>
                            </a:rPr>
                            <m:t>𝑧</m:t>
                          </m:r>
                        </m:sub>
                      </m:sSub>
                      <m:d>
                        <m:dPr>
                          <m:ctrlPr>
                            <a:rPr lang="en-US" sz="1200" i="1">
                              <a:latin typeface="Cambria Math" panose="02040503050406030204" pitchFamily="18" charset="0"/>
                            </a:rPr>
                          </m:ctrlPr>
                        </m:dPr>
                        <m:e>
                          <m:sSub>
                            <m:sSubPr>
                              <m:ctrlPr>
                                <a:rPr lang="en-US" sz="1200" i="1">
                                  <a:latin typeface="Cambria Math" panose="02040503050406030204" pitchFamily="18" charset="0"/>
                                </a:rPr>
                              </m:ctrlPr>
                            </m:sSubPr>
                            <m:e>
                              <m:r>
                                <a:rPr lang="en-US" sz="1200" i="1">
                                  <a:latin typeface="Cambria Math" panose="02040503050406030204" pitchFamily="18" charset="0"/>
                                </a:rPr>
                                <m:t>𝜃</m:t>
                              </m:r>
                            </m:e>
                            <m:sub>
                              <m:r>
                                <a:rPr lang="sr-Latn-RS" sz="1200" b="0" i="1" smtClean="0">
                                  <a:latin typeface="Cambria Math" panose="02040503050406030204" pitchFamily="18" charset="0"/>
                                </a:rPr>
                                <m:t>𝑧</m:t>
                              </m:r>
                            </m:sub>
                          </m:sSub>
                        </m:e>
                      </m:d>
                      <m:r>
                        <a:rPr lang="en-US" sz="1200" i="0">
                          <a:latin typeface="Cambria Math" panose="02040503050406030204" pitchFamily="18" charset="0"/>
                        </a:rPr>
                        <m:t>=</m:t>
                      </m:r>
                      <m:sSup>
                        <m:sSupPr>
                          <m:ctrlPr>
                            <a:rPr lang="en-US" sz="1200" i="1" smtClean="0">
                              <a:latin typeface="Cambria Math" panose="02040503050406030204" pitchFamily="18" charset="0"/>
                            </a:rPr>
                          </m:ctrlPr>
                        </m:sSupPr>
                        <m:e>
                          <m:r>
                            <a:rPr lang="en-US" sz="1200" b="0" i="1" smtClean="0">
                              <a:latin typeface="Cambria Math" panose="02040503050406030204" pitchFamily="18" charset="0"/>
                            </a:rPr>
                            <m:t>𝑒</m:t>
                          </m:r>
                        </m:e>
                        <m:sup>
                          <m:r>
                            <a:rPr lang="en-US" sz="1200" b="0" i="1" smtClean="0">
                              <a:latin typeface="Cambria Math" panose="02040503050406030204" pitchFamily="18" charset="0"/>
                            </a:rPr>
                            <m:t>−</m:t>
                          </m:r>
                          <m:r>
                            <a:rPr lang="en-US" sz="1200" b="0" i="1" smtClean="0">
                              <a:latin typeface="Cambria Math" panose="02040503050406030204" pitchFamily="18" charset="0"/>
                            </a:rPr>
                            <m:t>𝑖</m:t>
                          </m:r>
                          <m:f>
                            <m:fPr>
                              <m:ctrlPr>
                                <a:rPr lang="en-US" sz="1200" i="1">
                                  <a:latin typeface="Cambria Math" panose="02040503050406030204" pitchFamily="18" charset="0"/>
                                </a:rPr>
                              </m:ctrlPr>
                            </m:fPr>
                            <m:num>
                              <m:sSub>
                                <m:sSubPr>
                                  <m:ctrlPr>
                                    <a:rPr lang="en-US" sz="1200" i="1">
                                      <a:latin typeface="Cambria Math" panose="02040503050406030204" pitchFamily="18" charset="0"/>
                                    </a:rPr>
                                  </m:ctrlPr>
                                </m:sSubPr>
                                <m:e>
                                  <m:r>
                                    <a:rPr lang="en-US" sz="1200" i="1">
                                      <a:latin typeface="Cambria Math" panose="02040503050406030204" pitchFamily="18" charset="0"/>
                                    </a:rPr>
                                    <m:t>𝜃</m:t>
                                  </m:r>
                                </m:e>
                                <m:sub>
                                  <m:r>
                                    <a:rPr lang="sr-Latn-RS" sz="1200" i="1">
                                      <a:latin typeface="Cambria Math" panose="02040503050406030204" pitchFamily="18" charset="0"/>
                                    </a:rPr>
                                    <m:t>𝑧</m:t>
                                  </m:r>
                                </m:sub>
                              </m:sSub>
                            </m:num>
                            <m:den>
                              <m:r>
                                <a:rPr lang="en-US" sz="1200">
                                  <a:latin typeface="Cambria Math" panose="02040503050406030204" pitchFamily="18" charset="0"/>
                                </a:rPr>
                                <m:t>2</m:t>
                              </m:r>
                            </m:den>
                          </m:f>
                          <m:r>
                            <a:rPr lang="en-US" sz="1200" b="0" i="1" smtClean="0">
                              <a:latin typeface="Cambria Math" panose="02040503050406030204" pitchFamily="18" charset="0"/>
                            </a:rPr>
                            <m:t>𝑍</m:t>
                          </m:r>
                        </m:sup>
                      </m:sSup>
                    </m:oMath>
                  </m:oMathPara>
                </a14:m>
                <a:endParaRPr lang="en-ZA" b="0" dirty="0"/>
              </a:p>
              <a:p>
                <a:endParaRPr lang="en-ZA" b="0" dirty="0"/>
              </a:p>
              <a:p>
                <a:r>
                  <a:rPr lang="en-ZA" dirty="0"/>
                  <a:t>Here, </a:t>
                </a:r>
                <a14:m>
                  <m:oMath xmlns:m="http://schemas.openxmlformats.org/officeDocument/2006/math">
                    <m:r>
                      <a:rPr lang="en-US" sz="1200" b="0" i="1" smtClean="0">
                        <a:latin typeface="Cambria Math" panose="02040503050406030204" pitchFamily="18" charset="0"/>
                      </a:rPr>
                      <m:t>𝑋</m:t>
                    </m:r>
                  </m:oMath>
                </a14:m>
                <a:r>
                  <a:rPr lang="en-ZA" dirty="0"/>
                  <a:t>, </a:t>
                </a:r>
                <a14:m>
                  <m:oMath xmlns:m="http://schemas.openxmlformats.org/officeDocument/2006/math">
                    <m:r>
                      <a:rPr lang="en-US" sz="1200" b="0" i="1" smtClean="0">
                        <a:latin typeface="Cambria Math" panose="02040503050406030204" pitchFamily="18" charset="0"/>
                      </a:rPr>
                      <m:t>𝑌</m:t>
                    </m:r>
                  </m:oMath>
                </a14:m>
                <a:r>
                  <a:rPr lang="en-ZA" dirty="0"/>
                  <a:t>, and </a:t>
                </a:r>
                <a14:m>
                  <m:oMath xmlns:m="http://schemas.openxmlformats.org/officeDocument/2006/math">
                    <m:r>
                      <a:rPr lang="en-US" sz="1200" b="0" i="1" smtClean="0">
                        <a:latin typeface="Cambria Math" panose="02040503050406030204" pitchFamily="18" charset="0"/>
                      </a:rPr>
                      <m:t>𝑍</m:t>
                    </m:r>
                  </m:oMath>
                </a14:m>
                <a:r>
                  <a:rPr lang="en-ZA" dirty="0"/>
                  <a:t> are the corresponding Pauli matrices, and </a:t>
                </a:r>
                <a14:m>
                  <m:oMath xmlns:m="http://schemas.openxmlformats.org/officeDocument/2006/math">
                    <m:r>
                      <a:rPr lang="en-US" sz="1200" i="1" smtClean="0">
                        <a:latin typeface="Cambria Math" panose="02040503050406030204" pitchFamily="18" charset="0"/>
                      </a:rPr>
                      <m:t>𝜃</m:t>
                    </m:r>
                  </m:oMath>
                </a14:m>
                <a:r>
                  <a:rPr lang="el-GR" dirty="0"/>
                  <a:t> </a:t>
                </a:r>
                <a:r>
                  <a:rPr lang="en-ZA" dirty="0"/>
                  <a:t>is the amount of rotation. The factor </a:t>
                </a:r>
                <a14:m>
                  <m:oMath xmlns:m="http://schemas.openxmlformats.org/officeDocument/2006/math">
                    <m:r>
                      <a:rPr lang="en-US" sz="1200" b="0" i="0" smtClean="0">
                        <a:latin typeface="Cambria Math" panose="02040503050406030204" pitchFamily="18" charset="0"/>
                      </a:rPr>
                      <m:t>−</m:t>
                    </m:r>
                    <m:r>
                      <a:rPr lang="en-US" sz="1200" i="1" smtClean="0">
                        <a:latin typeface="Cambria Math" panose="02040503050406030204" pitchFamily="18" charset="0"/>
                      </a:rPr>
                      <m:t>𝜃</m:t>
                    </m:r>
                    <m:r>
                      <a:rPr lang="en-US" sz="1200" b="0" i="1" smtClean="0">
                        <a:latin typeface="Cambria Math" panose="02040503050406030204" pitchFamily="18" charset="0"/>
                      </a:rPr>
                      <m:t>/2</m:t>
                    </m:r>
                  </m:oMath>
                </a14:m>
                <a:r>
                  <a:rPr lang="el-GR" dirty="0"/>
                  <a:t> </a:t>
                </a:r>
                <a:r>
                  <a:rPr lang="en-ZA" dirty="0"/>
                  <a:t>in the exponential follows from the quantum-mechanical representation of rotations.</a:t>
                </a:r>
                <a:endParaRPr lang="en-ZA" b="0"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kern="1200" dirty="0">
                    <a:solidFill>
                      <a:schemeClr val="tx1"/>
                    </a:solidFill>
                    <a:latin typeface="+mn-lt"/>
                    <a:ea typeface="+mn-ea"/>
                    <a:cs typeface="+mn-cs"/>
                  </a:rPr>
                  <a:t>The general form of a state vector rotating about each axis by </a:t>
                </a:r>
                <a:r>
                  <a:rPr lang="en-US" sz="2000" i="0">
                    <a:latin typeface="Cambria Math" panose="02040503050406030204" pitchFamily="18" charset="0"/>
                  </a:rPr>
                  <a:t>𝜃</a:t>
                </a:r>
                <a:r>
                  <a:rPr lang="en-US" sz="2000" kern="1200" dirty="0">
                    <a:solidFill>
                      <a:schemeClr val="tx1"/>
                    </a:solidFill>
                    <a:latin typeface="+mn-lt"/>
                    <a:ea typeface="+mn-ea"/>
                    <a:cs typeface="+mn-cs"/>
                  </a:rPr>
                  <a:t> is given by </a:t>
                </a:r>
                <a:r>
                  <a:rPr lang="en-US" sz="2000" i="0">
                    <a:latin typeface="Cambria Math" panose="02040503050406030204" pitchFamily="18" charset="0"/>
                  </a:rPr>
                  <a:t>𝑅_𝑥</a:t>
                </a:r>
                <a:r>
                  <a:rPr lang="en-US" sz="2000" kern="1200" dirty="0">
                    <a:solidFill>
                      <a:schemeClr val="tx1"/>
                    </a:solidFill>
                    <a:latin typeface="+mn-lt"/>
                    <a:ea typeface="+mn-ea"/>
                    <a:cs typeface="+mn-cs"/>
                  </a:rPr>
                  <a:t>,</a:t>
                </a:r>
                <a:r>
                  <a:rPr lang="en-US" sz="2000" dirty="0"/>
                  <a:t> </a:t>
                </a:r>
                <a:r>
                  <a:rPr lang="en-US" sz="2000" i="0">
                    <a:latin typeface="Cambria Math" panose="02040503050406030204" pitchFamily="18" charset="0"/>
                  </a:rPr>
                  <a:t>𝑅_</a:t>
                </a:r>
                <a:r>
                  <a:rPr lang="en-US" sz="2000" b="0" i="0">
                    <a:latin typeface="Cambria Math" panose="02040503050406030204" pitchFamily="18" charset="0"/>
                  </a:rPr>
                  <a:t>𝑦</a:t>
                </a:r>
                <a:r>
                  <a:rPr lang="en-US" sz="2000" kern="1200" dirty="0">
                    <a:solidFill>
                      <a:schemeClr val="tx1"/>
                    </a:solidFill>
                    <a:latin typeface="+mn-lt"/>
                    <a:ea typeface="+mn-ea"/>
                    <a:cs typeface="+mn-cs"/>
                  </a:rPr>
                  <a:t> and </a:t>
                </a:r>
                <a:r>
                  <a:rPr lang="en-US" sz="2000" i="0">
                    <a:latin typeface="Cambria Math" panose="02040503050406030204" pitchFamily="18" charset="0"/>
                  </a:rPr>
                  <a:t>𝑅_</a:t>
                </a:r>
                <a:r>
                  <a:rPr lang="en-US" sz="2000" b="0" i="0">
                    <a:latin typeface="Cambria Math" panose="02040503050406030204" pitchFamily="18" charset="0"/>
                  </a:rPr>
                  <a:t>𝑧</a:t>
                </a:r>
                <a:r>
                  <a:rPr lang="en-US" sz="2000" kern="1200" dirty="0">
                    <a:solidFill>
                      <a:schemeClr val="tx1"/>
                    </a:solidFill>
                    <a:latin typeface="+mn-lt"/>
                    <a:ea typeface="+mn-ea"/>
                    <a:cs typeface="+mn-cs"/>
                  </a:rPr>
                  <a:t> where Euler's identity in matrix form is given at</a:t>
                </a:r>
                <a:r>
                  <a:rPr lang="en-US" sz="2000" kern="1200" baseline="0" dirty="0">
                    <a:solidFill>
                      <a:schemeClr val="tx1"/>
                    </a:solidFill>
                    <a:latin typeface="+mn-lt"/>
                    <a:ea typeface="+mn-ea"/>
                    <a:cs typeface="+mn-cs"/>
                  </a:rPr>
                  <a:t> the bottom.</a:t>
                </a:r>
                <a:endParaRPr lang="en-US" sz="2000" kern="1200" dirty="0">
                  <a:solidFill>
                    <a:schemeClr val="tx1"/>
                  </a:solidFill>
                  <a:latin typeface="+mn-lt"/>
                  <a:ea typeface="+mn-ea"/>
                  <a:cs typeface="+mn-cs"/>
                </a:endParaRPr>
              </a:p>
              <a:p>
                <a:endParaRPr lang="en-US" sz="2000"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22</a:t>
            </a:fld>
            <a:endParaRPr lang="en-US"/>
          </a:p>
        </p:txBody>
      </p:sp>
    </p:spTree>
    <p:extLst>
      <p:ext uri="{BB962C8B-B14F-4D97-AF65-F5344CB8AC3E}">
        <p14:creationId xmlns:p14="http://schemas.microsoft.com/office/powerpoint/2010/main" val="194745222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dirty="0"/>
                  <a:t>As an example, consider a rotation about the y-axis. Starting with Euler’s formula in matrix form and using the Pauli-Y matrix, the rotation operator can be written as </a:t>
                </a:r>
                <a14:m>
                  <m:oMath xmlns:m="http://schemas.openxmlformats.org/officeDocument/2006/math">
                    <m:sSub>
                      <m:sSubPr>
                        <m:ctrlPr>
                          <a:rPr lang="en-US" sz="1200" i="1" smtClean="0">
                            <a:latin typeface="Cambria Math" panose="02040503050406030204" pitchFamily="18" charset="0"/>
                          </a:rPr>
                        </m:ctrlPr>
                      </m:sSubPr>
                      <m:e>
                        <m:r>
                          <a:rPr lang="en-US" sz="1200" i="1">
                            <a:latin typeface="Cambria Math" panose="02040503050406030204" pitchFamily="18" charset="0"/>
                          </a:rPr>
                          <m:t>𝑅</m:t>
                        </m:r>
                      </m:e>
                      <m:sub>
                        <m:r>
                          <a:rPr lang="en-US" sz="1200" i="1">
                            <a:latin typeface="Cambria Math" panose="02040503050406030204" pitchFamily="18" charset="0"/>
                          </a:rPr>
                          <m:t>𝑦</m:t>
                        </m:r>
                      </m:sub>
                    </m:sSub>
                    <m:d>
                      <m:dPr>
                        <m:ctrlPr>
                          <a:rPr lang="en-US" sz="1200" i="1">
                            <a:latin typeface="Cambria Math" panose="02040503050406030204" pitchFamily="18" charset="0"/>
                          </a:rPr>
                        </m:ctrlPr>
                      </m:dPr>
                      <m:e>
                        <m:r>
                          <a:rPr lang="en-US" sz="1200" i="1">
                            <a:latin typeface="Cambria Math" panose="02040503050406030204" pitchFamily="18" charset="0"/>
                          </a:rPr>
                          <m:t>𝜃</m:t>
                        </m:r>
                      </m:e>
                    </m:d>
                    <m:r>
                      <a:rPr lang="en-US" sz="1200">
                        <a:latin typeface="Cambria Math" panose="02040503050406030204" pitchFamily="18" charset="0"/>
                      </a:rPr>
                      <m:t>=</m:t>
                    </m:r>
                    <m:sSup>
                      <m:sSupPr>
                        <m:ctrlPr>
                          <a:rPr lang="en-US" sz="1200" i="1">
                            <a:latin typeface="Cambria Math" panose="02040503050406030204" pitchFamily="18" charset="0"/>
                          </a:rPr>
                        </m:ctrlPr>
                      </m:sSupPr>
                      <m:e>
                        <m:r>
                          <a:rPr lang="en-US" sz="1200" i="1">
                            <a:latin typeface="Cambria Math" panose="02040503050406030204" pitchFamily="18" charset="0"/>
                          </a:rPr>
                          <m:t>𝑒</m:t>
                        </m:r>
                      </m:e>
                      <m:sup>
                        <m:r>
                          <a:rPr lang="en-US" sz="1200" i="1">
                            <a:latin typeface="Cambria Math" panose="02040503050406030204" pitchFamily="18" charset="0"/>
                          </a:rPr>
                          <m:t>−</m:t>
                        </m:r>
                        <m:r>
                          <a:rPr lang="en-US" sz="1200" i="1">
                            <a:latin typeface="Cambria Math" panose="02040503050406030204" pitchFamily="18" charset="0"/>
                          </a:rPr>
                          <m:t>𝑖</m:t>
                        </m:r>
                        <m:f>
                          <m:fPr>
                            <m:ctrlPr>
                              <a:rPr lang="en-US" sz="1200" i="1">
                                <a:latin typeface="Cambria Math" panose="02040503050406030204" pitchFamily="18" charset="0"/>
                              </a:rPr>
                            </m:ctrlPr>
                          </m:fPr>
                          <m:num>
                            <m:r>
                              <a:rPr lang="en-US" sz="1200" i="1">
                                <a:latin typeface="Cambria Math" panose="02040503050406030204" pitchFamily="18" charset="0"/>
                              </a:rPr>
                              <m:t>𝜃</m:t>
                            </m:r>
                          </m:num>
                          <m:den>
                            <m:r>
                              <a:rPr lang="en-US" sz="1200">
                                <a:latin typeface="Cambria Math" panose="02040503050406030204" pitchFamily="18" charset="0"/>
                              </a:rPr>
                              <m:t>2</m:t>
                            </m:r>
                          </m:den>
                        </m:f>
                        <m:r>
                          <a:rPr lang="en-US" sz="1200" i="1">
                            <a:latin typeface="Cambria Math" panose="02040503050406030204" pitchFamily="18" charset="0"/>
                          </a:rPr>
                          <m:t>𝑌</m:t>
                        </m:r>
                      </m:sup>
                    </m:sSup>
                  </m:oMath>
                </a14:m>
                <a:endParaRPr lang="en-ZA" b="0" dirty="0"/>
              </a:p>
              <a:p>
                <a:pPr algn="just"/>
                <a:endParaRPr lang="en-ZA" b="0" dirty="0"/>
              </a:p>
              <a:p>
                <a:pPr marL="228600" indent="-228600" algn="just">
                  <a:buFont typeface="Arial" panose="020B0604020202020204" pitchFamily="34" charset="0"/>
                  <a:buChar char="•"/>
                </a:pPr>
                <a:r>
                  <a:rPr lang="en-ZA" dirty="0"/>
                  <a:t>Expanding this exponential using Euler’s formula gives the RY​(</a:t>
                </a:r>
                <a:r>
                  <a:rPr lang="el-GR" dirty="0"/>
                  <a:t>θ) </a:t>
                </a:r>
                <a:r>
                  <a:rPr lang="en-ZA" dirty="0"/>
                  <a:t>rotation operator:</a:t>
                </a:r>
              </a:p>
              <a:p>
                <a:pPr marL="228600" indent="-228600" algn="just">
                  <a:buFont typeface="Arial" panose="020B0604020202020204" pitchFamily="34" charset="0"/>
                  <a:buChar char="•"/>
                </a:pPr>
                <a:endParaRPr lang="en-ZA" dirty="0"/>
              </a:p>
              <a:p>
                <a:pPr marL="0" indent="0" algn="just">
                  <a:buFont typeface="+mj-lt"/>
                  <a:buNone/>
                </a:pPr>
                <a14:m>
                  <m:oMathPara xmlns:m="http://schemas.openxmlformats.org/officeDocument/2006/math">
                    <m:oMathParaPr>
                      <m:jc m:val="centerGroup"/>
                    </m:oMathParaPr>
                    <m:oMath xmlns:m="http://schemas.openxmlformats.org/officeDocument/2006/math">
                      <m:sSub>
                        <m:sSubPr>
                          <m:ctrlPr>
                            <a:rPr lang="en-US" sz="1200" i="1" smtClean="0">
                              <a:latin typeface="Cambria Math" panose="02040503050406030204" pitchFamily="18" charset="0"/>
                            </a:rPr>
                          </m:ctrlPr>
                        </m:sSubPr>
                        <m:e>
                          <m:r>
                            <a:rPr lang="en-US" sz="1200" i="1">
                              <a:latin typeface="Cambria Math" panose="02040503050406030204" pitchFamily="18" charset="0"/>
                            </a:rPr>
                            <m:t>𝑅</m:t>
                          </m:r>
                        </m:e>
                        <m:sub>
                          <m:r>
                            <a:rPr lang="en-US" sz="1200" i="1">
                              <a:latin typeface="Cambria Math" panose="02040503050406030204" pitchFamily="18" charset="0"/>
                            </a:rPr>
                            <m:t>𝑦</m:t>
                          </m:r>
                        </m:sub>
                      </m:sSub>
                      <m:d>
                        <m:dPr>
                          <m:ctrlPr>
                            <a:rPr lang="en-US" sz="1200" i="1">
                              <a:latin typeface="Cambria Math" panose="02040503050406030204" pitchFamily="18" charset="0"/>
                            </a:rPr>
                          </m:ctrlPr>
                        </m:dPr>
                        <m:e>
                          <m:r>
                            <a:rPr lang="en-US" sz="1200" i="1">
                              <a:latin typeface="Cambria Math" panose="02040503050406030204" pitchFamily="18" charset="0"/>
                            </a:rPr>
                            <m:t>𝜃</m:t>
                          </m:r>
                        </m:e>
                      </m:d>
                      <m:r>
                        <a:rPr lang="en-US" sz="1200" b="0" i="1" smtClean="0">
                          <a:latin typeface="Cambria Math" panose="02040503050406030204" pitchFamily="18" charset="0"/>
                        </a:rPr>
                        <m:t>=</m:t>
                      </m:r>
                      <m:func>
                        <m:funcPr>
                          <m:ctrlPr>
                            <a:rPr lang="en-US" sz="1200" i="1">
                              <a:latin typeface="Cambria Math" panose="02040503050406030204" pitchFamily="18" charset="0"/>
                            </a:rPr>
                          </m:ctrlPr>
                        </m:funcPr>
                        <m:fName>
                          <m:r>
                            <a:rPr lang="en-US" sz="1200" i="1">
                              <a:latin typeface="Cambria Math" panose="02040503050406030204" pitchFamily="18" charset="0"/>
                            </a:rPr>
                            <m:t>𝑐𝑜𝑠</m:t>
                          </m:r>
                        </m:fName>
                        <m:e>
                          <m:d>
                            <m:dPr>
                              <m:ctrlPr>
                                <a:rPr lang="en-US" sz="1200" i="1">
                                  <a:latin typeface="Cambria Math" panose="02040503050406030204" pitchFamily="18" charset="0"/>
                                </a:rPr>
                              </m:ctrlPr>
                            </m:dPr>
                            <m:e>
                              <m:f>
                                <m:fPr>
                                  <m:ctrlPr>
                                    <a:rPr lang="en-US" sz="1200" i="1">
                                      <a:latin typeface="Cambria Math" panose="02040503050406030204" pitchFamily="18" charset="0"/>
                                    </a:rPr>
                                  </m:ctrlPr>
                                </m:fPr>
                                <m:num>
                                  <m:r>
                                    <a:rPr lang="en-US" sz="1200" i="1">
                                      <a:latin typeface="Cambria Math" panose="02040503050406030204" pitchFamily="18" charset="0"/>
                                    </a:rPr>
                                    <m:t>𝜃</m:t>
                                  </m:r>
                                </m:num>
                                <m:den>
                                  <m:r>
                                    <a:rPr lang="en-US" sz="1200">
                                      <a:latin typeface="Cambria Math" panose="02040503050406030204" pitchFamily="18" charset="0"/>
                                    </a:rPr>
                                    <m:t>2</m:t>
                                  </m:r>
                                </m:den>
                              </m:f>
                            </m:e>
                          </m:d>
                          <m:d>
                            <m:dPr>
                              <m:ctrlPr>
                                <a:rPr lang="en-US" sz="1200" i="1">
                                  <a:latin typeface="Cambria Math" panose="02040503050406030204" pitchFamily="18" charset="0"/>
                                </a:rPr>
                              </m:ctrlPr>
                            </m:dPr>
                            <m:e>
                              <m:m>
                                <m:mPr>
                                  <m:plcHide m:val="on"/>
                                  <m:mcs>
                                    <m:mc>
                                      <m:mcPr>
                                        <m:count m:val="2"/>
                                        <m:mcJc m:val="center"/>
                                      </m:mcPr>
                                    </m:mc>
                                  </m:mcs>
                                  <m:ctrlPr>
                                    <a:rPr lang="en-US" sz="1200" i="1">
                                      <a:latin typeface="Cambria Math" panose="02040503050406030204" pitchFamily="18" charset="0"/>
                                    </a:rPr>
                                  </m:ctrlPr>
                                </m:mPr>
                                <m:mr>
                                  <m:e>
                                    <m:r>
                                      <a:rPr lang="en-US" sz="1200" i="1">
                                        <a:latin typeface="Cambria Math" panose="02040503050406030204" pitchFamily="18" charset="0"/>
                                      </a:rPr>
                                      <m:t>1</m:t>
                                    </m:r>
                                  </m:e>
                                  <m:e>
                                    <m:r>
                                      <a:rPr lang="en-US" sz="1200">
                                        <a:latin typeface="Cambria Math" panose="02040503050406030204" pitchFamily="18" charset="0"/>
                                      </a:rPr>
                                      <m:t>0</m:t>
                                    </m:r>
                                  </m:e>
                                </m:mr>
                                <m:mr>
                                  <m:e>
                                    <m:r>
                                      <a:rPr lang="en-US" sz="1200" i="1">
                                        <a:latin typeface="Cambria Math" panose="02040503050406030204" pitchFamily="18" charset="0"/>
                                      </a:rPr>
                                      <m:t>0</m:t>
                                    </m:r>
                                  </m:e>
                                  <m:e>
                                    <m:r>
                                      <a:rPr lang="en-US" sz="1200">
                                        <a:latin typeface="Cambria Math" panose="02040503050406030204" pitchFamily="18" charset="0"/>
                                      </a:rPr>
                                      <m:t>1</m:t>
                                    </m:r>
                                  </m:e>
                                </m:mr>
                              </m:m>
                            </m:e>
                          </m:d>
                          <m:r>
                            <a:rPr lang="en-US" sz="1200" b="0" i="0" smtClean="0">
                              <a:latin typeface="Cambria Math" panose="02040503050406030204" pitchFamily="18" charset="0"/>
                            </a:rPr>
                            <m:t>−</m:t>
                          </m:r>
                          <m:r>
                            <a:rPr lang="en-US" sz="1200" i="1">
                              <a:latin typeface="Cambria Math" panose="02040503050406030204" pitchFamily="18" charset="0"/>
                            </a:rPr>
                            <m:t>𝑖</m:t>
                          </m:r>
                          <m:func>
                            <m:funcPr>
                              <m:ctrlPr>
                                <a:rPr lang="en-US" sz="1200" i="1">
                                  <a:latin typeface="Cambria Math" panose="02040503050406030204" pitchFamily="18" charset="0"/>
                                </a:rPr>
                              </m:ctrlPr>
                            </m:funcPr>
                            <m:fName>
                              <m:r>
                                <a:rPr lang="en-US" sz="1200" i="1">
                                  <a:latin typeface="Cambria Math" panose="02040503050406030204" pitchFamily="18" charset="0"/>
                                </a:rPr>
                                <m:t>𝑠𝑖𝑛</m:t>
                              </m:r>
                            </m:fName>
                            <m:e>
                              <m:d>
                                <m:dPr>
                                  <m:ctrlPr>
                                    <a:rPr lang="en-US" sz="1200" i="1">
                                      <a:latin typeface="Cambria Math" panose="02040503050406030204" pitchFamily="18" charset="0"/>
                                    </a:rPr>
                                  </m:ctrlPr>
                                </m:dPr>
                                <m:e>
                                  <m:f>
                                    <m:fPr>
                                      <m:ctrlPr>
                                        <a:rPr lang="en-US" sz="1200" i="1">
                                          <a:latin typeface="Cambria Math" panose="02040503050406030204" pitchFamily="18" charset="0"/>
                                        </a:rPr>
                                      </m:ctrlPr>
                                    </m:fPr>
                                    <m:num>
                                      <m:r>
                                        <a:rPr lang="en-US" sz="1200" i="1">
                                          <a:latin typeface="Cambria Math" panose="02040503050406030204" pitchFamily="18" charset="0"/>
                                        </a:rPr>
                                        <m:t>𝜃</m:t>
                                      </m:r>
                                    </m:num>
                                    <m:den>
                                      <m:r>
                                        <a:rPr lang="en-US" sz="1200">
                                          <a:latin typeface="Cambria Math" panose="02040503050406030204" pitchFamily="18" charset="0"/>
                                        </a:rPr>
                                        <m:t>2</m:t>
                                      </m:r>
                                    </m:den>
                                  </m:f>
                                </m:e>
                              </m:d>
                            </m:e>
                          </m:func>
                          <m:d>
                            <m:dPr>
                              <m:ctrlPr>
                                <a:rPr lang="en-US" sz="1200" i="1">
                                  <a:latin typeface="Cambria Math" panose="02040503050406030204" pitchFamily="18" charset="0"/>
                                </a:rPr>
                              </m:ctrlPr>
                            </m:dPr>
                            <m:e>
                              <m:m>
                                <m:mPr>
                                  <m:plcHide m:val="on"/>
                                  <m:mcs>
                                    <m:mc>
                                      <m:mcPr>
                                        <m:count m:val="2"/>
                                        <m:mcJc m:val="center"/>
                                      </m:mcPr>
                                    </m:mc>
                                  </m:mcs>
                                  <m:ctrlPr>
                                    <a:rPr lang="en-US" sz="1200" i="1">
                                      <a:latin typeface="Cambria Math" panose="02040503050406030204" pitchFamily="18" charset="0"/>
                                    </a:rPr>
                                  </m:ctrlPr>
                                </m:mPr>
                                <m:mr>
                                  <m:e>
                                    <m:r>
                                      <a:rPr lang="en-US" sz="1200">
                                        <a:latin typeface="Cambria Math" panose="02040503050406030204" pitchFamily="18" charset="0"/>
                                      </a:rPr>
                                      <m:t>0</m:t>
                                    </m:r>
                                  </m:e>
                                  <m:e>
                                    <m:r>
                                      <a:rPr lang="en-US" sz="1200">
                                        <a:latin typeface="Cambria Math" panose="02040503050406030204" pitchFamily="18" charset="0"/>
                                      </a:rPr>
                                      <m:t>−</m:t>
                                    </m:r>
                                    <m:r>
                                      <a:rPr lang="en-US" sz="1200" i="1">
                                        <a:latin typeface="Cambria Math" panose="02040503050406030204" pitchFamily="18" charset="0"/>
                                      </a:rPr>
                                      <m:t>𝑖</m:t>
                                    </m:r>
                                  </m:e>
                                </m:mr>
                                <m:mr>
                                  <m:e>
                                    <m:r>
                                      <a:rPr lang="en-US" sz="1200" i="1">
                                        <a:latin typeface="Cambria Math" panose="02040503050406030204" pitchFamily="18" charset="0"/>
                                      </a:rPr>
                                      <m:t>𝑖</m:t>
                                    </m:r>
                                  </m:e>
                                  <m:e>
                                    <m:r>
                                      <a:rPr lang="en-US" sz="1200">
                                        <a:latin typeface="Cambria Math" panose="02040503050406030204" pitchFamily="18" charset="0"/>
                                      </a:rPr>
                                      <m:t>0</m:t>
                                    </m:r>
                                  </m:e>
                                </m:mr>
                              </m:m>
                            </m:e>
                          </m:d>
                        </m:e>
                      </m:func>
                      <m:r>
                        <a:rPr lang="en-US" sz="1200" i="1" smtClean="0">
                          <a:latin typeface="Cambria Math" panose="02040503050406030204" pitchFamily="18" charset="0"/>
                        </a:rPr>
                        <m:t>=</m:t>
                      </m:r>
                      <m:d>
                        <m:dPr>
                          <m:ctrlPr>
                            <a:rPr lang="en-US" sz="1200" i="1">
                              <a:latin typeface="Cambria Math" panose="02040503050406030204" pitchFamily="18" charset="0"/>
                            </a:rPr>
                          </m:ctrlPr>
                        </m:dPr>
                        <m:e>
                          <m:m>
                            <m:mPr>
                              <m:plcHide m:val="on"/>
                              <m:mcs>
                                <m:mc>
                                  <m:mcPr>
                                    <m:count m:val="2"/>
                                    <m:mcJc m:val="center"/>
                                  </m:mcPr>
                                </m:mc>
                              </m:mcs>
                              <m:ctrlPr>
                                <a:rPr lang="en-US" sz="1200" i="1">
                                  <a:latin typeface="Cambria Math" panose="02040503050406030204" pitchFamily="18" charset="0"/>
                                </a:rPr>
                              </m:ctrlPr>
                            </m:mPr>
                            <m:mr>
                              <m:e>
                                <m:func>
                                  <m:funcPr>
                                    <m:ctrlPr>
                                      <a:rPr lang="en-US" sz="1200" i="1">
                                        <a:latin typeface="Cambria Math" panose="02040503050406030204" pitchFamily="18" charset="0"/>
                                      </a:rPr>
                                    </m:ctrlPr>
                                  </m:funcPr>
                                  <m:fName>
                                    <m:r>
                                      <a:rPr lang="en-US" sz="1200" i="1">
                                        <a:latin typeface="Cambria Math" panose="02040503050406030204" pitchFamily="18" charset="0"/>
                                      </a:rPr>
                                      <m:t>𝑐𝑜𝑠</m:t>
                                    </m:r>
                                  </m:fName>
                                  <m:e>
                                    <m:d>
                                      <m:dPr>
                                        <m:ctrlPr>
                                          <a:rPr lang="en-US" sz="1200" i="1">
                                            <a:latin typeface="Cambria Math" panose="02040503050406030204" pitchFamily="18" charset="0"/>
                                          </a:rPr>
                                        </m:ctrlPr>
                                      </m:dPr>
                                      <m:e>
                                        <m:f>
                                          <m:fPr>
                                            <m:ctrlPr>
                                              <a:rPr lang="en-US" sz="1200" i="1">
                                                <a:latin typeface="Cambria Math" panose="02040503050406030204" pitchFamily="18" charset="0"/>
                                              </a:rPr>
                                            </m:ctrlPr>
                                          </m:fPr>
                                          <m:num>
                                            <m:r>
                                              <a:rPr lang="en-US" sz="1200" i="1">
                                                <a:latin typeface="Cambria Math" panose="02040503050406030204" pitchFamily="18" charset="0"/>
                                              </a:rPr>
                                              <m:t>𝜃</m:t>
                                            </m:r>
                                          </m:num>
                                          <m:den>
                                            <m:r>
                                              <a:rPr lang="en-US" sz="1200">
                                                <a:latin typeface="Cambria Math" panose="02040503050406030204" pitchFamily="18" charset="0"/>
                                              </a:rPr>
                                              <m:t>2</m:t>
                                            </m:r>
                                          </m:den>
                                        </m:f>
                                      </m:e>
                                    </m:d>
                                  </m:e>
                                </m:func>
                              </m:e>
                              <m:e>
                                <m:func>
                                  <m:funcPr>
                                    <m:ctrlPr>
                                      <a:rPr lang="en-US" sz="1200" i="1">
                                        <a:latin typeface="Cambria Math" panose="02040503050406030204" pitchFamily="18" charset="0"/>
                                      </a:rPr>
                                    </m:ctrlPr>
                                  </m:funcPr>
                                  <m:fName>
                                    <m:r>
                                      <a:rPr lang="en-US" sz="1200" b="0" i="1" smtClean="0">
                                        <a:latin typeface="Cambria Math" panose="02040503050406030204" pitchFamily="18" charset="0"/>
                                      </a:rPr>
                                      <m:t>−</m:t>
                                    </m:r>
                                    <m:r>
                                      <a:rPr lang="en-US" sz="1200" i="1">
                                        <a:latin typeface="Cambria Math" panose="02040503050406030204" pitchFamily="18" charset="0"/>
                                      </a:rPr>
                                      <m:t>𝑠𝑖𝑛</m:t>
                                    </m:r>
                                  </m:fName>
                                  <m:e>
                                    <m:d>
                                      <m:dPr>
                                        <m:ctrlPr>
                                          <a:rPr lang="en-US" sz="1200" i="1">
                                            <a:latin typeface="Cambria Math" panose="02040503050406030204" pitchFamily="18" charset="0"/>
                                          </a:rPr>
                                        </m:ctrlPr>
                                      </m:dPr>
                                      <m:e>
                                        <m:f>
                                          <m:fPr>
                                            <m:ctrlPr>
                                              <a:rPr lang="en-US" sz="1200" i="1">
                                                <a:latin typeface="Cambria Math" panose="02040503050406030204" pitchFamily="18" charset="0"/>
                                              </a:rPr>
                                            </m:ctrlPr>
                                          </m:fPr>
                                          <m:num>
                                            <m:r>
                                              <a:rPr lang="en-US" sz="1200" i="1">
                                                <a:latin typeface="Cambria Math" panose="02040503050406030204" pitchFamily="18" charset="0"/>
                                              </a:rPr>
                                              <m:t>𝜃</m:t>
                                            </m:r>
                                          </m:num>
                                          <m:den>
                                            <m:r>
                                              <a:rPr lang="en-US" sz="1200">
                                                <a:latin typeface="Cambria Math" panose="02040503050406030204" pitchFamily="18" charset="0"/>
                                              </a:rPr>
                                              <m:t>2</m:t>
                                            </m:r>
                                          </m:den>
                                        </m:f>
                                      </m:e>
                                    </m:d>
                                  </m:e>
                                </m:func>
                              </m:e>
                            </m:mr>
                            <m:mr>
                              <m:e>
                                <m:func>
                                  <m:funcPr>
                                    <m:ctrlPr>
                                      <a:rPr lang="en-US" sz="1200" i="1">
                                        <a:latin typeface="Cambria Math" panose="02040503050406030204" pitchFamily="18" charset="0"/>
                                      </a:rPr>
                                    </m:ctrlPr>
                                  </m:funcPr>
                                  <m:fName>
                                    <m:r>
                                      <a:rPr lang="en-US" sz="1200" i="1">
                                        <a:latin typeface="Cambria Math" panose="02040503050406030204" pitchFamily="18" charset="0"/>
                                      </a:rPr>
                                      <m:t>𝑠𝑖𝑛</m:t>
                                    </m:r>
                                  </m:fName>
                                  <m:e>
                                    <m:d>
                                      <m:dPr>
                                        <m:ctrlPr>
                                          <a:rPr lang="en-US" sz="1200" i="1">
                                            <a:latin typeface="Cambria Math" panose="02040503050406030204" pitchFamily="18" charset="0"/>
                                          </a:rPr>
                                        </m:ctrlPr>
                                      </m:dPr>
                                      <m:e>
                                        <m:f>
                                          <m:fPr>
                                            <m:ctrlPr>
                                              <a:rPr lang="en-US" sz="1200" i="1">
                                                <a:latin typeface="Cambria Math" panose="02040503050406030204" pitchFamily="18" charset="0"/>
                                              </a:rPr>
                                            </m:ctrlPr>
                                          </m:fPr>
                                          <m:num>
                                            <m:r>
                                              <a:rPr lang="en-US" sz="1200" i="1">
                                                <a:latin typeface="Cambria Math" panose="02040503050406030204" pitchFamily="18" charset="0"/>
                                              </a:rPr>
                                              <m:t>𝜃</m:t>
                                            </m:r>
                                          </m:num>
                                          <m:den>
                                            <m:r>
                                              <a:rPr lang="en-US" sz="1200">
                                                <a:latin typeface="Cambria Math" panose="02040503050406030204" pitchFamily="18" charset="0"/>
                                              </a:rPr>
                                              <m:t>2</m:t>
                                            </m:r>
                                          </m:den>
                                        </m:f>
                                      </m:e>
                                    </m:d>
                                  </m:e>
                                </m:func>
                              </m:e>
                              <m:e>
                                <m:func>
                                  <m:funcPr>
                                    <m:ctrlPr>
                                      <a:rPr lang="en-US" sz="1200" i="1">
                                        <a:latin typeface="Cambria Math" panose="02040503050406030204" pitchFamily="18" charset="0"/>
                                      </a:rPr>
                                    </m:ctrlPr>
                                  </m:funcPr>
                                  <m:fName>
                                    <m:r>
                                      <a:rPr lang="en-US" sz="1200" i="1">
                                        <a:latin typeface="Cambria Math" panose="02040503050406030204" pitchFamily="18" charset="0"/>
                                      </a:rPr>
                                      <m:t>𝑐𝑜𝑠</m:t>
                                    </m:r>
                                  </m:fName>
                                  <m:e>
                                    <m:d>
                                      <m:dPr>
                                        <m:ctrlPr>
                                          <a:rPr lang="en-US" sz="1200" i="1">
                                            <a:latin typeface="Cambria Math" panose="02040503050406030204" pitchFamily="18" charset="0"/>
                                          </a:rPr>
                                        </m:ctrlPr>
                                      </m:dPr>
                                      <m:e>
                                        <m:f>
                                          <m:fPr>
                                            <m:ctrlPr>
                                              <a:rPr lang="en-US" sz="1200" i="1">
                                                <a:latin typeface="Cambria Math" panose="02040503050406030204" pitchFamily="18" charset="0"/>
                                              </a:rPr>
                                            </m:ctrlPr>
                                          </m:fPr>
                                          <m:num>
                                            <m:r>
                                              <a:rPr lang="en-US" sz="1200" i="1">
                                                <a:latin typeface="Cambria Math" panose="02040503050406030204" pitchFamily="18" charset="0"/>
                                              </a:rPr>
                                              <m:t>𝜃</m:t>
                                            </m:r>
                                          </m:num>
                                          <m:den>
                                            <m:r>
                                              <a:rPr lang="en-US" sz="1200">
                                                <a:latin typeface="Cambria Math" panose="02040503050406030204" pitchFamily="18" charset="0"/>
                                              </a:rPr>
                                              <m:t>2</m:t>
                                            </m:r>
                                          </m:den>
                                        </m:f>
                                      </m:e>
                                    </m:d>
                                  </m:e>
                                </m:func>
                              </m:e>
                            </m:mr>
                          </m:m>
                        </m:e>
                      </m:d>
                    </m:oMath>
                  </m:oMathPara>
                </a14:m>
                <a:endParaRPr lang="en-ZA" dirty="0"/>
              </a:p>
              <a:p>
                <a:pPr marL="0" indent="0" algn="just">
                  <a:buFont typeface="+mj-lt"/>
                  <a:buNone/>
                </a:pPr>
                <a:endParaRPr lang="en-ZA" dirty="0"/>
              </a:p>
              <a:p>
                <a:pPr marL="0" indent="0" algn="just">
                  <a:buFont typeface="+mj-lt"/>
                  <a:buNone/>
                </a:pPr>
                <a:r>
                  <a:rPr lang="en-ZA" dirty="0"/>
                  <a:t>This operator rotates the quantum state by an angle </a:t>
                </a:r>
                <a:r>
                  <a:rPr lang="el-GR" dirty="0"/>
                  <a:t>θ </a:t>
                </a:r>
                <a:r>
                  <a:rPr lang="en-ZA" dirty="0"/>
                  <a:t>about the y-axis of the Bloch sphere.</a:t>
                </a:r>
                <a:endParaRPr lang="en-ZA" b="0" dirty="0"/>
              </a:p>
              <a:p>
                <a:pPr marL="228600" indent="-228600" algn="just">
                  <a:buFont typeface="+mj-lt"/>
                  <a:buAutoNum type="arabicPeriod"/>
                </a:pPr>
                <a:endParaRPr lang="en-ZA" b="0" dirty="0"/>
              </a:p>
              <a:p>
                <a:pPr marL="0" indent="0" algn="just">
                  <a:buFont typeface="Arial" panose="020B0604020202020204" pitchFamily="34" charset="0"/>
                  <a:buNone/>
                </a:pPr>
                <a:r>
                  <a:rPr lang="en-ZA" dirty="0"/>
                  <a:t>For example, setting </a:t>
                </a:r>
                <a:r>
                  <a:rPr lang="el-GR" dirty="0"/>
                  <a:t>θ=π/2 </a:t>
                </a:r>
                <a:r>
                  <a:rPr lang="en-ZA" dirty="0"/>
                  <a:t>rotates the qubit state by 90 degrees about the Y-axis of the Bloch sphere.</a:t>
                </a:r>
                <a:endParaRPr lang="en-ZA" b="0" dirty="0"/>
              </a:p>
            </p:txBody>
          </p:sp>
        </mc:Choice>
        <mc:Fallback xmlns="">
          <p:sp>
            <p:nvSpPr>
              <p:cNvPr id="3" name="Notes Placeholder 2"/>
              <p:cNvSpPr>
                <a:spLocks noGrp="1"/>
              </p:cNvSpPr>
              <p:nvPr>
                <p:ph type="body" idx="1"/>
              </p:nvPr>
            </p:nvSpPr>
            <p:spPr/>
            <p:txBody>
              <a:bodyPr/>
              <a:lstStyle/>
              <a:p>
                <a:r>
                  <a:rPr lang="en-US" sz="2000" dirty="0"/>
                  <a:t>Na primer, </a:t>
                </a:r>
                <a:r>
                  <a:rPr lang="en-US" sz="2000" dirty="0" err="1"/>
                  <a:t>izvedimo</a:t>
                </a:r>
                <a:r>
                  <a:rPr lang="en-US" sz="2000" dirty="0"/>
                  <a:t> operator </a:t>
                </a:r>
                <a:r>
                  <a:rPr lang="en-US" sz="2000" dirty="0" err="1"/>
                  <a:t>koji</a:t>
                </a:r>
                <a:r>
                  <a:rPr lang="en-US" sz="2000" dirty="0"/>
                  <a:t> </a:t>
                </a:r>
                <a:r>
                  <a:rPr lang="en-US" sz="2000" dirty="0" err="1"/>
                  <a:t>ce</a:t>
                </a:r>
                <a:r>
                  <a:rPr lang="en-US" sz="2000" dirty="0"/>
                  <a:t> </a:t>
                </a:r>
                <a:r>
                  <a:rPr lang="en-US" sz="2000" dirty="0" err="1"/>
                  <a:t>rotirati</a:t>
                </a:r>
                <a:r>
                  <a:rPr lang="en-US" sz="2000" dirty="0"/>
                  <a:t> </a:t>
                </a:r>
                <a:r>
                  <a:rPr lang="en-US" sz="2000" dirty="0" err="1"/>
                  <a:t>kubit</a:t>
                </a:r>
                <a:r>
                  <a:rPr lang="en-US" sz="2000" dirty="0"/>
                  <a:t> </a:t>
                </a:r>
                <a:r>
                  <a:rPr lang="en-US" sz="2000" dirty="0" err="1"/>
                  <a:t>oko</a:t>
                </a:r>
                <a:r>
                  <a:rPr lang="en-US" sz="2000" dirty="0"/>
                  <a:t> y-</a:t>
                </a:r>
                <a:r>
                  <a:rPr lang="en-US" sz="2000" dirty="0" err="1"/>
                  <a:t>ose</a:t>
                </a:r>
                <a:r>
                  <a:rPr lang="en-US" sz="2000" dirty="0"/>
                  <a:t>.</a:t>
                </a:r>
                <a:r>
                  <a:rPr lang="en-US" sz="2000" baseline="0" dirty="0"/>
                  <a:t> </a:t>
                </a:r>
                <a:r>
                  <a:rPr lang="en-US" sz="2000" baseline="0" dirty="0" err="1"/>
                  <a:t>Polazeci</a:t>
                </a:r>
                <a:r>
                  <a:rPr lang="en-US" sz="2000" baseline="0" dirty="0"/>
                  <a:t> od </a:t>
                </a:r>
                <a:r>
                  <a:rPr lang="en-US" sz="2000" baseline="0" dirty="0" err="1"/>
                  <a:t>opsteg</a:t>
                </a:r>
                <a:r>
                  <a:rPr lang="en-US" sz="2000" baseline="0" dirty="0"/>
                  <a:t> </a:t>
                </a:r>
                <a:r>
                  <a:rPr lang="en-US" sz="2000" baseline="0" dirty="0" err="1"/>
                  <a:t>izraza</a:t>
                </a:r>
                <a:r>
                  <a:rPr lang="en-US" sz="2000" baseline="0" dirty="0"/>
                  <a:t> </a:t>
                </a:r>
                <a:r>
                  <a:rPr lang="en-US" sz="2000" baseline="0" dirty="0" err="1"/>
                  <a:t>za</a:t>
                </a:r>
                <a:r>
                  <a:rPr lang="en-US" sz="2000" baseline="0" dirty="0"/>
                  <a:t> </a:t>
                </a:r>
                <a:r>
                  <a:rPr lang="en-US" sz="2000" baseline="0" dirty="0" err="1"/>
                  <a:t>rotaciju</a:t>
                </a:r>
                <a:r>
                  <a:rPr lang="en-US" sz="2000" baseline="0" dirty="0"/>
                  <a:t> u </a:t>
                </a:r>
                <a:r>
                  <a:rPr lang="en-US" sz="2000" baseline="0" dirty="0" err="1"/>
                  <a:t>koji</a:t>
                </a:r>
                <a:r>
                  <a:rPr lang="en-US" sz="2000" baseline="0" dirty="0"/>
                  <a:t> </a:t>
                </a:r>
                <a:r>
                  <a:rPr lang="en-US" sz="2000" baseline="0" dirty="0" err="1"/>
                  <a:t>stavimo</a:t>
                </a:r>
                <a:r>
                  <a:rPr lang="en-US" sz="2000" baseline="0" dirty="0"/>
                  <a:t> </a:t>
                </a:r>
                <a:r>
                  <a:rPr lang="en-US" sz="2000" dirty="0" err="1"/>
                  <a:t>Paulijevu</a:t>
                </a:r>
                <a:r>
                  <a:rPr lang="en-US" sz="2000" baseline="0" dirty="0"/>
                  <a:t> Y </a:t>
                </a:r>
                <a:r>
                  <a:rPr lang="en-US" sz="2000" baseline="0" dirty="0" err="1"/>
                  <a:t>matricu</a:t>
                </a:r>
                <a:r>
                  <a:rPr lang="en-US" sz="2000" baseline="0" dirty="0"/>
                  <a:t>, </a:t>
                </a:r>
                <a:r>
                  <a:rPr lang="en-US" sz="2000" baseline="0" dirty="0" err="1"/>
                  <a:t>dobijamo</a:t>
                </a:r>
                <a:r>
                  <a:rPr lang="en-US" sz="2000" baseline="0" dirty="0"/>
                  <a:t> operator </a:t>
                </a:r>
                <a:r>
                  <a:rPr lang="en-US" sz="2000" i="0">
                    <a:latin typeface="Cambria Math" panose="02040503050406030204" pitchFamily="18" charset="0"/>
                  </a:rPr>
                  <a:t>𝑅_𝑦 (𝜃</a:t>
                </a:r>
                <a:r>
                  <a:rPr lang="en-US" sz="2000" b="0" i="0">
                    <a:latin typeface="Cambria Math" panose="02040503050406030204" pitchFamily="18" charset="0"/>
                  </a:rPr>
                  <a:t>)</a:t>
                </a:r>
                <a:r>
                  <a:rPr lang="en-US" sz="2000" dirty="0"/>
                  <a:t>. </a:t>
                </a:r>
              </a:p>
              <a:p>
                <a:r>
                  <a:rPr lang="en-US" sz="2000" dirty="0" err="1"/>
                  <a:t>Primenjujuci</a:t>
                </a:r>
                <a:r>
                  <a:rPr lang="en-US" sz="2000" dirty="0"/>
                  <a:t> </a:t>
                </a:r>
                <a:r>
                  <a:rPr lang="en-US" sz="2000" dirty="0" err="1"/>
                  <a:t>ga</a:t>
                </a:r>
                <a:r>
                  <a:rPr lang="en-US" sz="2000" dirty="0"/>
                  <a:t>, </a:t>
                </a:r>
                <a:r>
                  <a:rPr lang="en-US" sz="2000" dirty="0" err="1"/>
                  <a:t>recimo</a:t>
                </a:r>
                <a:r>
                  <a:rPr lang="en-US" sz="2000" dirty="0"/>
                  <a:t> </a:t>
                </a:r>
                <a:r>
                  <a:rPr lang="en-US" sz="2000" dirty="0" err="1"/>
                  <a:t>na</a:t>
                </a:r>
                <a:r>
                  <a:rPr lang="en-US" sz="2000" dirty="0"/>
                  <a:t> vector </a:t>
                </a:r>
                <a:r>
                  <a:rPr lang="en-US" sz="2000" i="0">
                    <a:solidFill>
                      <a:srgbClr val="FF0000"/>
                    </a:solidFill>
                    <a:latin typeface="Cambria Math" panose="02040503050406030204" pitchFamily="18" charset="0"/>
                  </a:rPr>
                  <a:t>|0⟩</a:t>
                </a:r>
                <a:r>
                  <a:rPr lang="en-US" sz="2000" dirty="0"/>
                  <a:t> </a:t>
                </a:r>
                <a:r>
                  <a:rPr lang="en-US" sz="2000" dirty="0" err="1"/>
                  <a:t>dobijamo</a:t>
                </a:r>
                <a:r>
                  <a:rPr lang="en-US" sz="2000" dirty="0"/>
                  <a:t> vector </a:t>
                </a:r>
                <a:r>
                  <a:rPr lang="en-US" sz="2000" i="0">
                    <a:solidFill>
                      <a:srgbClr val="FF0000"/>
                    </a:solidFill>
                    <a:latin typeface="Cambria Math" panose="02040503050406030204" pitchFamily="18" charset="0"/>
                  </a:rPr>
                  <a:t>|</a:t>
                </a:r>
                <a:r>
                  <a:rPr lang="en-US" sz="2000" b="0" i="0">
                    <a:solidFill>
                      <a:srgbClr val="FF0000"/>
                    </a:solidFill>
                    <a:latin typeface="Cambria Math" panose="02040503050406030204" pitchFamily="18" charset="0"/>
                  </a:rPr>
                  <a:t>+⟩</a:t>
                </a:r>
                <a:r>
                  <a:rPr lang="en-US" sz="2000" dirty="0"/>
                  <a:t>.</a:t>
                </a: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23</a:t>
            </a:fld>
            <a:endParaRPr lang="en-US"/>
          </a:p>
        </p:txBody>
      </p:sp>
    </p:spTree>
    <p:extLst>
      <p:ext uri="{BB962C8B-B14F-4D97-AF65-F5344CB8AC3E}">
        <p14:creationId xmlns:p14="http://schemas.microsoft.com/office/powerpoint/2010/main" val="214685379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b="0" dirty="0"/>
                  <a:t>Using the same method, we can construct rotation operators about the x-, y-, and z-axes for any angle. These are the standard rotation gates RX​, RY​, and RZ​.</a:t>
                </a:r>
              </a:p>
              <a:p>
                <a:pPr algn="just"/>
                <a:endParaRPr lang="en-ZA" b="0" dirty="0"/>
              </a:p>
              <a:p>
                <a:pPr algn="just"/>
                <a:r>
                  <a:rPr lang="en-ZA" b="0" dirty="0"/>
                  <a:t>They are parameterized gates, meaning that the rotation angle </a:t>
                </a:r>
                <a:r>
                  <a:rPr lang="el-GR" b="0" dirty="0"/>
                  <a:t>θ </a:t>
                </a:r>
                <a:r>
                  <a:rPr lang="en-ZA" b="0" dirty="0"/>
                  <a:t>is specified as a parameter. In a quantum program, </a:t>
                </a:r>
                <a:r>
                  <a:rPr lang="el-GR" b="0" dirty="0"/>
                  <a:t>θ </a:t>
                </a:r>
                <a:r>
                  <a:rPr lang="en-ZA" b="0" dirty="0"/>
                  <a:t>can be any real number, including values expressed in terms of </a:t>
                </a:r>
                <a:r>
                  <a:rPr lang="el-GR" b="0" dirty="0"/>
                  <a:t>π, </a:t>
                </a:r>
                <a:r>
                  <a:rPr lang="en-ZA" b="0" dirty="0"/>
                  <a:t>such as </a:t>
                </a:r>
                <a:r>
                  <a:rPr lang="el-GR" b="0" dirty="0"/>
                  <a:t>θ=π/2.</a:t>
                </a:r>
              </a:p>
              <a:p>
                <a:pPr algn="just"/>
                <a:endParaRPr lang="el-GR" b="0" dirty="0"/>
              </a:p>
            </p:txBody>
          </p:sp>
        </mc:Choice>
        <mc:Fallback xmlns="">
          <p:sp>
            <p:nvSpPr>
              <p:cNvPr id="3" name="Notes Placeholder 2"/>
              <p:cNvSpPr>
                <a:spLocks noGrp="1"/>
              </p:cNvSpPr>
              <p:nvPr>
                <p:ph type="body" idx="1"/>
              </p:nvPr>
            </p:nvSpPr>
            <p:spPr/>
            <p:txBody>
              <a:bodyPr/>
              <a:lstStyle/>
              <a:p>
                <a:r>
                  <a:rPr lang="en-US" sz="2000" dirty="0"/>
                  <a:t>By applying rotation formulae we get a set of three rotation gates</a:t>
                </a:r>
                <a:r>
                  <a:rPr lang="en-US" sz="2000" baseline="0" dirty="0"/>
                  <a:t> t</a:t>
                </a:r>
                <a:r>
                  <a:rPr lang="en-US" sz="2000" dirty="0"/>
                  <a:t>hat  rotates a qubit by </a:t>
                </a:r>
                <a:r>
                  <a:rPr lang="en-US" sz="2000" i="0">
                    <a:latin typeface="Cambria Math" panose="02040503050406030204" pitchFamily="18" charset="0"/>
                  </a:rPr>
                  <a:t>𝜃</a:t>
                </a:r>
                <a:r>
                  <a:rPr lang="en-US" sz="2000" dirty="0"/>
                  <a:t> radians about x, y or z axis. The</a:t>
                </a:r>
                <a:r>
                  <a:rPr lang="en-US" sz="2000" baseline="0" dirty="0"/>
                  <a:t> slide also shows quantum assembly language instruction to perform a rotation of a qubit ‘q[</a:t>
                </a:r>
                <a:r>
                  <a:rPr lang="en-US" sz="2000" baseline="0" dirty="0" err="1"/>
                  <a:t>i</a:t>
                </a:r>
                <a:r>
                  <a:rPr lang="en-US" sz="2000" baseline="0" dirty="0"/>
                  <a:t>]’ for an angle ‘t’.</a:t>
                </a:r>
                <a:endParaRPr lang="en-US" sz="2000"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24</a:t>
            </a:fld>
            <a:endParaRPr lang="en-US"/>
          </a:p>
        </p:txBody>
      </p:sp>
    </p:spTree>
    <p:extLst>
      <p:ext uri="{BB962C8B-B14F-4D97-AF65-F5344CB8AC3E}">
        <p14:creationId xmlns:p14="http://schemas.microsoft.com/office/powerpoint/2010/main" val="295789610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ZA" dirty="0"/>
                  <a:t>In addition to rotation gates, there are also phase-shift gates, which change the relative phase of a qubit state. Phase-shift gates correspond to rotations of the quantum state about the z-axis of the Bloch sphere. The most general of these is the P gate, which takes a phase angle </a:t>
                </a:r>
                <a14:m>
                  <m:oMath xmlns:m="http://schemas.openxmlformats.org/officeDocument/2006/math">
                    <m:r>
                      <a:rPr lang="en-US" sz="1200" i="1" smtClean="0">
                        <a:latin typeface="Cambria Math" panose="02040503050406030204" pitchFamily="18" charset="0"/>
                        <a:ea typeface="Cambria Math" panose="02040503050406030204" pitchFamily="18" charset="0"/>
                      </a:rPr>
                      <m:t>𝜑</m:t>
                    </m:r>
                  </m:oMath>
                </a14:m>
                <a:r>
                  <a:rPr lang="el-GR" dirty="0"/>
                  <a:t> </a:t>
                </a:r>
                <a:r>
                  <a:rPr lang="en-ZA" dirty="0"/>
                  <a:t>as a parameter:</a:t>
                </a:r>
              </a:p>
              <a:p>
                <a:endParaRPr lang="en-ZA" dirty="0"/>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200" i="1" smtClean="0">
                          <a:latin typeface="Cambria Math" panose="02040503050406030204" pitchFamily="18" charset="0"/>
                        </a:rPr>
                        <m:t>𝑃</m:t>
                      </m:r>
                      <m:d>
                        <m:dPr>
                          <m:ctrlPr>
                            <a:rPr lang="en-US" sz="1200" i="1">
                              <a:latin typeface="Cambria Math" panose="02040503050406030204" pitchFamily="18" charset="0"/>
                            </a:rPr>
                          </m:ctrlPr>
                        </m:dPr>
                        <m:e>
                          <m:r>
                            <a:rPr lang="en-US" sz="1200" i="1">
                              <a:latin typeface="Cambria Math" panose="02040503050406030204" pitchFamily="18" charset="0"/>
                              <a:ea typeface="Cambria Math" panose="02040503050406030204" pitchFamily="18" charset="0"/>
                            </a:rPr>
                            <m:t>𝜑</m:t>
                          </m:r>
                        </m:e>
                      </m:d>
                      <m:r>
                        <a:rPr lang="en-US" sz="1200" i="1">
                          <a:latin typeface="Cambria Math" panose="02040503050406030204" pitchFamily="18" charset="0"/>
                        </a:rPr>
                        <m:t>=</m:t>
                      </m:r>
                      <m:d>
                        <m:dPr>
                          <m:ctrlPr>
                            <a:rPr lang="en-US" sz="1200" i="1">
                              <a:latin typeface="Cambria Math" panose="02040503050406030204" pitchFamily="18" charset="0"/>
                            </a:rPr>
                          </m:ctrlPr>
                        </m:dPr>
                        <m:e>
                          <m:m>
                            <m:mPr>
                              <m:plcHide m:val="on"/>
                              <m:mcs>
                                <m:mc>
                                  <m:mcPr>
                                    <m:count m:val="2"/>
                                    <m:mcJc m:val="center"/>
                                  </m:mcPr>
                                </m:mc>
                              </m:mcs>
                              <m:ctrlPr>
                                <a:rPr lang="en-US" sz="1200" i="1">
                                  <a:latin typeface="Cambria Math" panose="02040503050406030204" pitchFamily="18" charset="0"/>
                                </a:rPr>
                              </m:ctrlPr>
                            </m:mPr>
                            <m:mr>
                              <m:e>
                                <m:r>
                                  <a:rPr lang="en-US" sz="1200">
                                    <a:latin typeface="Cambria Math" panose="02040503050406030204" pitchFamily="18" charset="0"/>
                                  </a:rPr>
                                  <m:t>1</m:t>
                                </m:r>
                              </m:e>
                              <m:e>
                                <m:r>
                                  <a:rPr lang="en-US" sz="1200">
                                    <a:latin typeface="Cambria Math" panose="02040503050406030204" pitchFamily="18" charset="0"/>
                                  </a:rPr>
                                  <m:t>0</m:t>
                                </m:r>
                              </m:e>
                            </m:mr>
                            <m:mr>
                              <m:e>
                                <m:r>
                                  <a:rPr lang="en-US" sz="1200">
                                    <a:latin typeface="Cambria Math" panose="02040503050406030204" pitchFamily="18" charset="0"/>
                                  </a:rPr>
                                  <m:t>0</m:t>
                                </m:r>
                              </m:e>
                              <m:e>
                                <m:sSup>
                                  <m:sSupPr>
                                    <m:ctrlPr>
                                      <a:rPr lang="en-US" sz="1200" i="1">
                                        <a:latin typeface="Cambria Math" panose="02040503050406030204" pitchFamily="18" charset="0"/>
                                      </a:rPr>
                                    </m:ctrlPr>
                                  </m:sSupPr>
                                  <m:e>
                                    <m:r>
                                      <a:rPr lang="en-US" sz="1200" i="1">
                                        <a:latin typeface="Cambria Math" panose="02040503050406030204" pitchFamily="18" charset="0"/>
                                      </a:rPr>
                                      <m:t>𝑒</m:t>
                                    </m:r>
                                  </m:e>
                                  <m:sup>
                                    <m:r>
                                      <a:rPr lang="en-US" sz="1200" i="1">
                                        <a:latin typeface="Cambria Math" panose="02040503050406030204" pitchFamily="18" charset="0"/>
                                      </a:rPr>
                                      <m:t>𝑖</m:t>
                                    </m:r>
                                    <m:r>
                                      <a:rPr lang="en-US" sz="1200" i="1">
                                        <a:latin typeface="Cambria Math" panose="02040503050406030204" pitchFamily="18" charset="0"/>
                                      </a:rPr>
                                      <m:t>𝜑</m:t>
                                    </m:r>
                                  </m:sup>
                                </m:sSup>
                              </m:e>
                            </m:mr>
                          </m:m>
                        </m:e>
                      </m:d>
                    </m:oMath>
                  </m:oMathPara>
                </a14:m>
                <a:endParaRPr lang="en-ZA" dirty="0"/>
              </a:p>
              <a:p>
                <a:pPr algn="just"/>
                <a:endParaRPr lang="en-ZA" dirty="0"/>
              </a:p>
              <a:p>
                <a:pPr algn="just"/>
                <a:r>
                  <a:rPr lang="en-ZA" dirty="0"/>
                  <a:t>Choosing specific values of </a:t>
                </a:r>
                <a:r>
                  <a:rPr lang="en-US" sz="1200" dirty="0">
                    <a:solidFill>
                      <a:schemeClr val="tx1"/>
                    </a:solidFill>
                    <a:latin typeface="+mn-lt"/>
                  </a:rPr>
                  <a:t>𝜑</a:t>
                </a:r>
                <a:r>
                  <a:rPr lang="el-GR" dirty="0"/>
                  <a:t>, </a:t>
                </a:r>
                <a:r>
                  <a:rPr lang="en-US" dirty="0"/>
                  <a:t>g</a:t>
                </a:r>
                <a:r>
                  <a:rPr lang="en-ZA" dirty="0" err="1"/>
                  <a:t>ives</a:t>
                </a:r>
                <a:r>
                  <a:rPr lang="en-ZA" dirty="0"/>
                  <a:t> five other commonly used gates:</a:t>
                </a:r>
              </a:p>
              <a:p>
                <a:pPr algn="just"/>
                <a:endParaRPr lang="en-ZA" b="0" dirty="0"/>
              </a:p>
              <a:p>
                <a:pPr marL="171450" indent="-171450" algn="just">
                  <a:buFont typeface="Arial" panose="020B0604020202020204" pitchFamily="34" charset="0"/>
                  <a:buChar char="•"/>
                </a:pPr>
                <a:r>
                  <a:rPr lang="en-ZA" b="0" dirty="0"/>
                  <a:t>For </a:t>
                </a:r>
                <a:r>
                  <a:rPr lang="en-US" sz="1200" dirty="0">
                    <a:solidFill>
                      <a:schemeClr val="tx1"/>
                    </a:solidFill>
                    <a:latin typeface="+mn-lt"/>
                  </a:rPr>
                  <a:t>𝜑=𝜋</a:t>
                </a:r>
                <a:r>
                  <a:rPr lang="el-GR" b="0" dirty="0"/>
                  <a:t>, </a:t>
                </a:r>
                <a:r>
                  <a:rPr lang="en-ZA" dirty="0"/>
                  <a:t>this gives the </a:t>
                </a:r>
                <a:r>
                  <a:rPr lang="en-ZA" b="0" dirty="0"/>
                  <a:t>Pauli-Z gate.</a:t>
                </a:r>
              </a:p>
              <a:p>
                <a:pPr marL="171450" indent="-171450" algn="just">
                  <a:buFont typeface="Arial" panose="020B0604020202020204" pitchFamily="34" charset="0"/>
                  <a:buChar char="•"/>
                </a:pPr>
                <a:r>
                  <a:rPr lang="en-ZA" b="0" dirty="0"/>
                  <a:t>For </a:t>
                </a:r>
                <a:r>
                  <a:rPr lang="en-US" sz="1200" dirty="0">
                    <a:solidFill>
                      <a:schemeClr val="tx1"/>
                    </a:solidFill>
                    <a:latin typeface="+mn-lt"/>
                  </a:rPr>
                  <a:t>𝜑=±𝜋/2 </a:t>
                </a:r>
                <a:r>
                  <a:rPr lang="el-GR" b="0" dirty="0"/>
                  <a:t>, </a:t>
                </a:r>
                <a:r>
                  <a:rPr lang="en-ZA" dirty="0"/>
                  <a:t>this gives the </a:t>
                </a:r>
                <a:r>
                  <a:rPr lang="en-ZA" b="0" dirty="0"/>
                  <a:t>S and S</a:t>
                </a:r>
                <a:r>
                  <a:rPr lang="en-ZA" b="0" baseline="30000" dirty="0"/>
                  <a:t>†</a:t>
                </a:r>
                <a:r>
                  <a:rPr lang="en-ZA" b="0" dirty="0"/>
                  <a:t> gates.</a:t>
                </a:r>
              </a:p>
              <a:p>
                <a:pPr marL="171450" indent="-171450" algn="just">
                  <a:buFont typeface="Arial" panose="020B0604020202020204" pitchFamily="34" charset="0"/>
                  <a:buChar char="•"/>
                </a:pPr>
                <a:r>
                  <a:rPr lang="en-ZA" b="0" dirty="0"/>
                  <a:t>For </a:t>
                </a:r>
                <a:r>
                  <a:rPr lang="en-US" sz="1200" dirty="0">
                    <a:solidFill>
                      <a:schemeClr val="tx1"/>
                    </a:solidFill>
                    <a:latin typeface="+mn-lt"/>
                  </a:rPr>
                  <a:t>𝜑=±𝜋/4</a:t>
                </a:r>
                <a:r>
                  <a:rPr lang="el-GR" b="0" dirty="0"/>
                  <a:t>, </a:t>
                </a:r>
                <a:r>
                  <a:rPr lang="en-ZA" dirty="0"/>
                  <a:t>this gives </a:t>
                </a:r>
                <a:r>
                  <a:rPr lang="en-ZA" dirty="0" err="1"/>
                  <a:t>the</a:t>
                </a:r>
                <a:r>
                  <a:rPr lang="en-ZA" b="0" dirty="0" err="1"/>
                  <a:t>T</a:t>
                </a:r>
                <a:r>
                  <a:rPr lang="en-ZA" b="0" dirty="0"/>
                  <a:t> and T</a:t>
                </a:r>
                <a:r>
                  <a:rPr lang="en-ZA" b="0" baseline="30000" dirty="0"/>
                  <a:t>†</a:t>
                </a:r>
                <a:r>
                  <a:rPr lang="en-ZA" b="0" dirty="0"/>
                  <a:t> gates.</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sz="1200" dirty="0">
                  <a:solidFill>
                    <a:schemeClr val="tx1"/>
                  </a:solidFill>
                  <a:latin typeface="+mn-lt"/>
                </a:endParaRPr>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latin typeface="+mn-lt"/>
                  </a:rPr>
                  <a:t>Another family of gates are phase shift gates that rotates a qubit state vector about the </a:t>
                </a:r>
                <a:r>
                  <a:rPr lang="en-US" sz="2000" i="0">
                    <a:latin typeface="+mn-lt"/>
                  </a:rPr>
                  <a:t>𝑧</a:t>
                </a:r>
                <a:r>
                  <a:rPr lang="en-US" sz="2000" dirty="0">
                    <a:latin typeface="+mn-lt"/>
                  </a:rPr>
                  <a:t>–axis by angle </a:t>
                </a:r>
                <a:r>
                  <a:rPr lang="en-US" sz="2000" i="0">
                    <a:latin typeface="+mn-lt"/>
                  </a:rPr>
                  <a:t>𝜑</a:t>
                </a:r>
                <a:r>
                  <a:rPr lang="en-US" sz="2000" dirty="0">
                    <a:latin typeface="+mn-lt"/>
                  </a:rPr>
                  <a:t>. As</a:t>
                </a:r>
                <a:r>
                  <a:rPr lang="en-US" sz="2000" baseline="0" dirty="0">
                    <a:latin typeface="+mn-lt"/>
                  </a:rPr>
                  <a:t> you can see from matrices, the relative phase shift is applied to </a:t>
                </a:r>
                <a:r>
                  <a:rPr lang="en-US" sz="2000" i="0">
                    <a:latin typeface="Cambria Math" panose="02040503050406030204" pitchFamily="18" charset="0"/>
                  </a:rPr>
                  <a:t>|</a:t>
                </a:r>
                <a:r>
                  <a:rPr lang="en-US" sz="2000" b="0" i="0">
                    <a:latin typeface="Cambria Math" panose="02040503050406030204" pitchFamily="18" charset="0"/>
                  </a:rPr>
                  <a:t>1⟩</a:t>
                </a:r>
                <a:r>
                  <a:rPr lang="en-US" sz="2000" dirty="0">
                    <a:latin typeface="+mn-lt"/>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latin typeface="+mn-lt"/>
                  </a:rPr>
                  <a:t>The gate  </a:t>
                </a:r>
                <a:r>
                  <a:rPr lang="en-US" sz="2000" baseline="0" dirty="0">
                    <a:latin typeface="+mn-lt"/>
                  </a:rPr>
                  <a:t>P that takes any angle </a:t>
                </a:r>
                <a:r>
                  <a:rPr lang="en-US" sz="2000" i="0">
                    <a:latin typeface="+mn-lt"/>
                  </a:rPr>
                  <a:t>𝜑</a:t>
                </a:r>
                <a:r>
                  <a:rPr lang="en-US" sz="2000" dirty="0">
                    <a:latin typeface="+mn-lt"/>
                  </a:rPr>
                  <a:t> as an argument,</a:t>
                </a:r>
                <a:r>
                  <a:rPr lang="en-US" sz="2000" baseline="0" dirty="0">
                    <a:latin typeface="+mn-lt"/>
                  </a:rPr>
                  <a:t> but there are 5 additional gates that has this angle fixed,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latin typeface="+mn-lt"/>
                  </a:rPr>
                  <a:t>For </a:t>
                </a:r>
                <a:r>
                  <a:rPr lang="en-US" sz="2000" i="0">
                    <a:latin typeface="+mn-lt"/>
                  </a:rPr>
                  <a:t>𝜑</a:t>
                </a:r>
                <a:r>
                  <a:rPr lang="en-US" sz="2000" b="0" i="0">
                    <a:latin typeface="+mn-lt"/>
                  </a:rPr>
                  <a:t>=</a:t>
                </a:r>
                <a:r>
                  <a:rPr lang="en-US" sz="2000" i="0">
                    <a:latin typeface="+mn-lt"/>
                  </a:rPr>
                  <a:t>𝜋</a:t>
                </a:r>
                <a:r>
                  <a:rPr lang="en-US" sz="2000" dirty="0">
                    <a:latin typeface="+mn-lt"/>
                  </a:rPr>
                  <a:t> we get Pauli Z gate. Four other gates that takes </a:t>
                </a:r>
                <a:r>
                  <a:rPr lang="en-US" sz="2000" i="0">
                    <a:latin typeface="+mn-lt"/>
                    <a:ea typeface="Cambria Math" panose="02040503050406030204" pitchFamily="18" charset="0"/>
                  </a:rPr>
                  <a:t>±</a:t>
                </a:r>
                <a:r>
                  <a:rPr lang="en-US" sz="2000" i="0">
                    <a:latin typeface="+mn-lt"/>
                  </a:rPr>
                  <a:t>𝜋∕2</a:t>
                </a:r>
                <a:r>
                  <a:rPr lang="en-US" sz="2000" dirty="0">
                    <a:latin typeface="+mn-lt"/>
                  </a:rPr>
                  <a:t> and </a:t>
                </a:r>
                <a:r>
                  <a:rPr lang="en-US" sz="2000" i="0">
                    <a:latin typeface="+mn-lt"/>
                    <a:ea typeface="Cambria Math" panose="02040503050406030204" pitchFamily="18" charset="0"/>
                  </a:rPr>
                  <a:t>±</a:t>
                </a:r>
                <a:r>
                  <a:rPr lang="en-US" sz="2000" i="0">
                    <a:latin typeface="+mn-lt"/>
                  </a:rPr>
                  <a:t>𝜋∕</a:t>
                </a:r>
                <a:r>
                  <a:rPr lang="en-US" sz="2000" b="0" i="0">
                    <a:latin typeface="+mn-lt"/>
                  </a:rPr>
                  <a:t>4</a:t>
                </a:r>
                <a:r>
                  <a:rPr lang="en-US" sz="2000" dirty="0">
                    <a:latin typeface="+mn-lt"/>
                  </a:rPr>
                  <a:t>. Gates S and </a:t>
                </a:r>
                <a:r>
                  <a:rPr lang="en-US" sz="2000" dirty="0">
                    <a:solidFill>
                      <a:schemeClr val="tx1"/>
                    </a:solidFill>
                    <a:latin typeface="+mn-lt"/>
                  </a:rPr>
                  <a:t>S</a:t>
                </a:r>
                <a:r>
                  <a:rPr lang="en-US" sz="2000" baseline="30000" dirty="0">
                    <a:solidFill>
                      <a:schemeClr val="tx1"/>
                    </a:solidFill>
                    <a:latin typeface="+mn-lt"/>
                  </a:rPr>
                  <a:t>†</a:t>
                </a:r>
                <a:r>
                  <a:rPr lang="en-US" sz="2000" baseline="0" dirty="0">
                    <a:solidFill>
                      <a:schemeClr val="tx1"/>
                    </a:solidFill>
                    <a:latin typeface="+mn-lt"/>
                  </a:rPr>
                  <a:t> has </a:t>
                </a:r>
                <a:r>
                  <a:rPr lang="en-US" sz="2000" i="0">
                    <a:latin typeface="Cambria Math" panose="02040503050406030204" pitchFamily="18" charset="0"/>
                  </a:rPr>
                  <a:t>𝜑</a:t>
                </a:r>
                <a:r>
                  <a:rPr lang="en-US" sz="2000" baseline="0" dirty="0">
                    <a:solidFill>
                      <a:schemeClr val="tx1"/>
                    </a:solidFill>
                    <a:latin typeface="+mn-lt"/>
                  </a:rPr>
                  <a:t> fixed to  </a:t>
                </a:r>
                <a:r>
                  <a:rPr lang="en-US" sz="2000" i="0">
                    <a:latin typeface="Cambria Math" panose="02040503050406030204" pitchFamily="18" charset="0"/>
                    <a:ea typeface="Cambria Math" panose="02040503050406030204" pitchFamily="18" charset="0"/>
                  </a:rPr>
                  <a:t>±</a:t>
                </a:r>
                <a:r>
                  <a:rPr lang="en-US" sz="2000" i="0">
                    <a:latin typeface="Cambria Math" panose="02040503050406030204" pitchFamily="18" charset="0"/>
                  </a:rPr>
                  <a:t>𝜋∕2</a:t>
                </a:r>
                <a:r>
                  <a:rPr lang="en-US" sz="2000" baseline="0" dirty="0">
                    <a:solidFill>
                      <a:schemeClr val="tx1"/>
                    </a:solidFill>
                    <a:latin typeface="+mn-lt"/>
                  </a:rPr>
                  <a:t> and gates T and T</a:t>
                </a:r>
                <a:r>
                  <a:rPr lang="en-US" sz="2000" baseline="30000" dirty="0">
                    <a:solidFill>
                      <a:schemeClr val="tx1"/>
                    </a:solidFill>
                    <a:latin typeface="+mn-lt"/>
                  </a:rPr>
                  <a:t>†</a:t>
                </a:r>
                <a:r>
                  <a:rPr lang="en-US" sz="2000" baseline="0" dirty="0">
                    <a:solidFill>
                      <a:schemeClr val="tx1"/>
                    </a:solidFill>
                    <a:latin typeface="+mn-lt"/>
                  </a:rPr>
                  <a:t> has </a:t>
                </a:r>
                <a:r>
                  <a:rPr lang="en-US" sz="2000" i="0">
                    <a:latin typeface="Cambria Math" panose="02040503050406030204" pitchFamily="18" charset="0"/>
                  </a:rPr>
                  <a:t>𝜑</a:t>
                </a:r>
                <a:r>
                  <a:rPr lang="en-US" sz="2000" baseline="0" dirty="0">
                    <a:solidFill>
                      <a:schemeClr val="tx1"/>
                    </a:solidFill>
                    <a:latin typeface="+mn-lt"/>
                  </a:rPr>
                  <a:t> fixed to </a:t>
                </a:r>
                <a:r>
                  <a:rPr lang="en-US" sz="2000" b="0" i="0">
                    <a:latin typeface="Cambria Math" panose="02040503050406030204" pitchFamily="18" charset="0"/>
                    <a:ea typeface="Cambria Math" panose="02040503050406030204" pitchFamily="18" charset="0"/>
                  </a:rPr>
                  <a:t> </a:t>
                </a:r>
                <a:r>
                  <a:rPr lang="en-US" sz="2000" i="0">
                    <a:latin typeface="Cambria Math" panose="02040503050406030204" pitchFamily="18" charset="0"/>
                    <a:ea typeface="Cambria Math" panose="02040503050406030204" pitchFamily="18" charset="0"/>
                  </a:rPr>
                  <a:t>±</a:t>
                </a:r>
                <a:r>
                  <a:rPr lang="en-US" sz="2000" i="0">
                    <a:latin typeface="Cambria Math" panose="02040503050406030204" pitchFamily="18" charset="0"/>
                  </a:rPr>
                  <a:t>𝜋∕2</a:t>
                </a:r>
                <a:r>
                  <a:rPr lang="en-US" sz="2000" baseline="0" dirty="0">
                    <a:solidFill>
                      <a:schemeClr val="tx1"/>
                    </a:solidFill>
                    <a:latin typeface="+mn-lt"/>
                  </a:rPr>
                  <a:t> . </a:t>
                </a:r>
                <a:r>
                  <a:rPr lang="en-US" sz="2000" dirty="0">
                    <a:latin typeface="+mn-lt"/>
                  </a:rPr>
                  <a:t>Gates S and </a:t>
                </a:r>
                <a:r>
                  <a:rPr lang="en-US" sz="2000" dirty="0">
                    <a:solidFill>
                      <a:schemeClr val="tx1"/>
                    </a:solidFill>
                    <a:latin typeface="+mn-lt"/>
                  </a:rPr>
                  <a:t>S</a:t>
                </a:r>
                <a:r>
                  <a:rPr lang="en-US" sz="2000" baseline="30000" dirty="0">
                    <a:solidFill>
                      <a:schemeClr val="tx1"/>
                    </a:solidFill>
                    <a:latin typeface="+mn-lt"/>
                  </a:rPr>
                  <a:t>†</a:t>
                </a:r>
                <a:r>
                  <a:rPr lang="en-US" sz="2000" baseline="0" dirty="0">
                    <a:solidFill>
                      <a:schemeClr val="tx1"/>
                    </a:solidFill>
                    <a:latin typeface="+mn-lt"/>
                  </a:rPr>
                  <a:t> are inverse of each other, same as gates T and T</a:t>
                </a:r>
                <a:r>
                  <a:rPr lang="en-US" sz="2000" baseline="30000" dirty="0">
                    <a:solidFill>
                      <a:schemeClr val="tx1"/>
                    </a:solidFill>
                    <a:latin typeface="+mn-lt"/>
                  </a:rPr>
                  <a:t>†</a:t>
                </a:r>
                <a:r>
                  <a:rPr lang="en-US" sz="2000" baseline="0" dirty="0">
                    <a:solidFill>
                      <a:schemeClr val="tx1"/>
                    </a:solidFill>
                    <a:latin typeface="+mn-lt"/>
                  </a:rPr>
                  <a:t>. This simply means that if we apply gate </a:t>
                </a:r>
                <a:r>
                  <a:rPr lang="en-US" sz="2000" dirty="0">
                    <a:latin typeface="+mn-lt"/>
                  </a:rPr>
                  <a:t>S and then</a:t>
                </a:r>
                <a:r>
                  <a:rPr lang="en-US" sz="2000" baseline="0" dirty="0">
                    <a:latin typeface="+mn-lt"/>
                  </a:rPr>
                  <a:t> gate </a:t>
                </a:r>
                <a:r>
                  <a:rPr lang="en-US" sz="2000" dirty="0">
                    <a:solidFill>
                      <a:schemeClr val="tx1"/>
                    </a:solidFill>
                    <a:latin typeface="+mn-lt"/>
                  </a:rPr>
                  <a:t>S</a:t>
                </a:r>
                <a:r>
                  <a:rPr lang="en-US" sz="2000" baseline="30000" dirty="0">
                    <a:solidFill>
                      <a:schemeClr val="tx1"/>
                    </a:solidFill>
                    <a:latin typeface="+mn-lt"/>
                  </a:rPr>
                  <a:t>† </a:t>
                </a:r>
                <a:r>
                  <a:rPr lang="en-US" sz="2000" baseline="0" dirty="0">
                    <a:solidFill>
                      <a:schemeClr val="tx1"/>
                    </a:solidFill>
                    <a:latin typeface="+mn-lt"/>
                  </a:rPr>
                  <a:t> state vector will rotate by </a:t>
                </a:r>
                <a:r>
                  <a:rPr lang="en-US" sz="2000" dirty="0">
                    <a:latin typeface="+mn-lt"/>
                  </a:rPr>
                  <a:t> </a:t>
                </a:r>
                <a:r>
                  <a:rPr lang="en-US" sz="2000" i="0">
                    <a:latin typeface="Cambria Math" panose="02040503050406030204" pitchFamily="18" charset="0"/>
                  </a:rPr>
                  <a:t>𝜋∕2</a:t>
                </a:r>
                <a:r>
                  <a:rPr lang="en-US" sz="2000" dirty="0">
                    <a:latin typeface="+mn-lt"/>
                  </a:rPr>
                  <a:t> and then rotate back to the starting position by </a:t>
                </a:r>
                <a:r>
                  <a:rPr lang="en-US" sz="2000" b="0" i="0">
                    <a:latin typeface="Cambria Math" panose="02040503050406030204" pitchFamily="18" charset="0"/>
                  </a:rPr>
                  <a:t>−</a:t>
                </a:r>
                <a:r>
                  <a:rPr lang="en-US" sz="2000" i="0">
                    <a:latin typeface="Cambria Math" panose="02040503050406030204" pitchFamily="18" charset="0"/>
                  </a:rPr>
                  <a:t>𝜋∕2</a:t>
                </a:r>
                <a:r>
                  <a:rPr lang="en-US" sz="2000" dirty="0">
                    <a:latin typeface="+mn-lt"/>
                  </a:rPr>
                  <a:t>. This is consequence of matrices being unitary.</a:t>
                </a: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25</a:t>
            </a:fld>
            <a:endParaRPr lang="en-US"/>
          </a:p>
        </p:txBody>
      </p:sp>
    </p:spTree>
    <p:extLst>
      <p:ext uri="{BB962C8B-B14F-4D97-AF65-F5344CB8AC3E}">
        <p14:creationId xmlns:p14="http://schemas.microsoft.com/office/powerpoint/2010/main" val="163717257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ZA" dirty="0"/>
                  <a:t>The table shows the standard phase-shift gates. Among them, only the P gate is parameterized, while the other gates have fixed phase angles. The S and T gates are not Hermitian, and their inverse operations are given by S</a:t>
                </a:r>
                <a:r>
                  <a:rPr lang="en-ZA" baseline="30000" dirty="0"/>
                  <a:t>†</a:t>
                </a:r>
                <a:r>
                  <a:rPr lang="en-ZA" dirty="0"/>
                  <a:t> and T</a:t>
                </a:r>
                <a:r>
                  <a:rPr lang="en-ZA" baseline="30000" dirty="0"/>
                  <a:t>†</a:t>
                </a:r>
                <a:r>
                  <a:rPr lang="en-ZA" dirty="0"/>
                  <a:t>, respectively.</a:t>
                </a:r>
                <a:endParaRPr lang="en-ZA" b="0" dirty="0"/>
              </a:p>
            </p:txBody>
          </p:sp>
        </mc:Choice>
        <mc:Fallback xmlns="">
          <p:sp>
            <p:nvSpPr>
              <p:cNvPr id="3" name="Notes Placeholder 2"/>
              <p:cNvSpPr>
                <a:spLocks noGrp="1"/>
              </p:cNvSpPr>
              <p:nvPr>
                <p:ph type="body" idx="1"/>
              </p:nvPr>
            </p:nvSpPr>
            <p:spPr/>
            <p:txBody>
              <a:bodyPr/>
              <a:lstStyle/>
              <a:p>
                <a:r>
                  <a:rPr lang="en-US" sz="1200" dirty="0"/>
                  <a:t>Tabela </a:t>
                </a:r>
                <a:r>
                  <a:rPr lang="en-US" sz="1200" dirty="0" err="1"/>
                  <a:t>prikazuje</a:t>
                </a:r>
                <a:r>
                  <a:rPr lang="en-US" sz="1200" dirty="0"/>
                  <a:t> </a:t>
                </a:r>
                <a:r>
                  <a:rPr lang="en-US" sz="1200" dirty="0" err="1"/>
                  <a:t>elementarna</a:t>
                </a:r>
                <a:r>
                  <a:rPr lang="en-US" sz="1200" dirty="0"/>
                  <a:t> kola </a:t>
                </a:r>
                <a:r>
                  <a:rPr lang="en-US" sz="1200" dirty="0" err="1"/>
                  <a:t>za</a:t>
                </a:r>
                <a:r>
                  <a:rPr lang="en-US" sz="1200" dirty="0"/>
                  <a:t> </a:t>
                </a:r>
                <a:r>
                  <a:rPr lang="en-US" sz="1200" dirty="0" err="1"/>
                  <a:t>pomeraj</a:t>
                </a:r>
                <a:r>
                  <a:rPr lang="en-US" sz="1200" dirty="0"/>
                  <a:t> faze. </a:t>
                </a:r>
                <a:r>
                  <a:rPr lang="en-US" sz="1200" dirty="0" err="1"/>
                  <a:t>Jedino</a:t>
                </a:r>
                <a:r>
                  <a:rPr lang="en-US" sz="1200" dirty="0"/>
                  <a:t> </a:t>
                </a:r>
                <a:r>
                  <a:rPr lang="en-US" sz="1200" dirty="0" err="1"/>
                  <a:t>je</a:t>
                </a:r>
                <a:r>
                  <a:rPr lang="en-US" sz="1200" dirty="0"/>
                  <a:t> P </a:t>
                </a:r>
                <a:r>
                  <a:rPr lang="en-US" sz="1200" dirty="0" err="1"/>
                  <a:t>elementarno</a:t>
                </a:r>
                <a:r>
                  <a:rPr lang="en-US" sz="1200" dirty="0"/>
                  <a:t> </a:t>
                </a:r>
                <a:r>
                  <a:rPr lang="en-US" sz="1200" dirty="0" err="1"/>
                  <a:t>kolo</a:t>
                </a:r>
                <a:r>
                  <a:rPr lang="en-US" sz="1200" dirty="0"/>
                  <a:t> </a:t>
                </a:r>
                <a:r>
                  <a:rPr lang="en-US" sz="1200" dirty="0" err="1"/>
                  <a:t>parametarizovano</a:t>
                </a:r>
                <a:r>
                  <a:rPr lang="en-US" sz="1200" dirty="0"/>
                  <a:t> dog </a:t>
                </a:r>
                <a:r>
                  <a:rPr lang="en-US" sz="1200" dirty="0" err="1"/>
                  <a:t>ostala</a:t>
                </a:r>
                <a:r>
                  <a:rPr lang="en-US" sz="1200" dirty="0"/>
                  <a:t> kola </a:t>
                </a:r>
                <a:r>
                  <a:rPr lang="en-US" sz="1200" dirty="0" err="1"/>
                  <a:t>imaju</a:t>
                </a:r>
                <a:r>
                  <a:rPr lang="en-US" sz="1200" dirty="0"/>
                  <a:t> </a:t>
                </a:r>
                <a:r>
                  <a:rPr lang="en-US" sz="1200" dirty="0" err="1"/>
                  <a:t>fiksne</a:t>
                </a:r>
                <a:r>
                  <a:rPr lang="en-US" sz="1200" dirty="0"/>
                  <a:t> faze </a:t>
                </a:r>
                <a:r>
                  <a:rPr lang="en-US" sz="1200" dirty="0" err="1"/>
                  <a:t>uglove</a:t>
                </a:r>
                <a:r>
                  <a:rPr lang="en-US" sz="1200" dirty="0"/>
                  <a:t>. </a:t>
                </a:r>
                <a:r>
                  <a:rPr lang="en-US" sz="1200" dirty="0" err="1"/>
                  <a:t>Treba</a:t>
                </a:r>
                <a:r>
                  <a:rPr lang="en-US" sz="1200" dirty="0"/>
                  <a:t> </a:t>
                </a:r>
                <a:r>
                  <a:rPr lang="en-US" sz="1200" dirty="0" err="1"/>
                  <a:t>primetiti</a:t>
                </a:r>
                <a:r>
                  <a:rPr lang="en-US" sz="1200" dirty="0"/>
                  <a:t> da </a:t>
                </a:r>
                <a:r>
                  <a:rPr lang="en-US" sz="1200" dirty="0" err="1"/>
                  <a:t>parovi</a:t>
                </a:r>
                <a:r>
                  <a:rPr lang="en-US" sz="1200" dirty="0"/>
                  <a:t> </a:t>
                </a:r>
                <a:r>
                  <a:rPr lang="en-US" sz="1200" dirty="0" err="1"/>
                  <a:t>matrica</a:t>
                </a:r>
                <a:r>
                  <a:rPr lang="en-US" sz="1200" dirty="0"/>
                  <a:t> </a:t>
                </a:r>
                <a:r>
                  <a:rPr lang="en-US" sz="1200" b="0" i="0">
                    <a:latin typeface="Cambria Math" panose="02040503050406030204" pitchFamily="18" charset="0"/>
                  </a:rPr>
                  <a:t>𝑆</a:t>
                </a:r>
                <a:r>
                  <a:rPr lang="en-US" sz="1200" dirty="0"/>
                  <a:t> </a:t>
                </a:r>
                <a:r>
                  <a:rPr lang="en-US" sz="1200" dirty="0" err="1"/>
                  <a:t>i</a:t>
                </a:r>
                <a:r>
                  <a:rPr lang="en-US" sz="1200" dirty="0"/>
                  <a:t> </a:t>
                </a:r>
                <a:r>
                  <a:rPr lang="en-US" sz="1200" i="0">
                    <a:latin typeface="Cambria Math" panose="02040503050406030204" pitchFamily="18" charset="0"/>
                  </a:rPr>
                  <a:t>𝑆^†</a:t>
                </a:r>
                <a:r>
                  <a:rPr lang="en-US" sz="1200" dirty="0"/>
                  <a:t> </a:t>
                </a:r>
                <a:r>
                  <a:rPr lang="en-US" sz="1200" dirty="0" err="1"/>
                  <a:t>kao</a:t>
                </a:r>
                <a:r>
                  <a:rPr lang="en-US" sz="1200" dirty="0"/>
                  <a:t> I </a:t>
                </a:r>
                <a:r>
                  <a:rPr lang="sr-Latn-RS" sz="1200" b="0" i="0">
                    <a:latin typeface="Cambria Math" panose="02040503050406030204" pitchFamily="18" charset="0"/>
                  </a:rPr>
                  <a:t>𝑇</a:t>
                </a:r>
                <a:r>
                  <a:rPr lang="en-US" sz="1200" dirty="0"/>
                  <a:t> i </a:t>
                </a:r>
                <a:r>
                  <a:rPr lang="en-US" sz="1200" i="0">
                    <a:latin typeface="Cambria Math" panose="02040503050406030204" pitchFamily="18" charset="0"/>
                  </a:rPr>
                  <a:t>𝑇^†</a:t>
                </a:r>
                <a:r>
                  <a:rPr lang="en-US" sz="1200" dirty="0"/>
                  <a:t> </a:t>
                </a:r>
                <a:r>
                  <a:rPr lang="en-US" sz="1200" dirty="0" err="1"/>
                  <a:t>nisu</a:t>
                </a:r>
                <a:r>
                  <a:rPr lang="en-US" sz="1200" dirty="0"/>
                  <a:t> </a:t>
                </a:r>
                <a:r>
                  <a:rPr lang="en-US" sz="1200" dirty="0" err="1"/>
                  <a:t>ermitske</a:t>
                </a:r>
                <a:r>
                  <a:rPr lang="en-US" sz="1200" baseline="0" dirty="0"/>
                  <a:t> </a:t>
                </a:r>
                <a:r>
                  <a:rPr lang="en-US" sz="1200" baseline="0" dirty="0" err="1"/>
                  <a:t>što</a:t>
                </a:r>
                <a:r>
                  <a:rPr lang="en-US" sz="1200" baseline="0" dirty="0"/>
                  <a:t> </a:t>
                </a:r>
                <a:r>
                  <a:rPr lang="en-US" sz="1200" baseline="0" dirty="0" err="1"/>
                  <a:t>objašnjava</a:t>
                </a:r>
                <a:r>
                  <a:rPr lang="en-US" sz="1200" baseline="0" dirty="0"/>
                  <a:t> </a:t>
                </a:r>
                <a:r>
                  <a:rPr lang="en-US" sz="1200" baseline="0" dirty="0" err="1"/>
                  <a:t>postojanje</a:t>
                </a:r>
                <a:r>
                  <a:rPr lang="en-US" sz="1200" baseline="0" dirty="0"/>
                  <a:t> </a:t>
                </a:r>
                <a:r>
                  <a:rPr lang="en-US" sz="1200" baseline="0" dirty="0" err="1"/>
                  <a:t>dva</a:t>
                </a:r>
                <a:r>
                  <a:rPr lang="en-US" sz="1200" baseline="0" dirty="0"/>
                  <a:t> kola, </a:t>
                </a:r>
                <a:r>
                  <a:rPr lang="en-US" sz="1200" baseline="0" dirty="0" err="1"/>
                  <a:t>jednu</a:t>
                </a:r>
                <a:r>
                  <a:rPr lang="en-US" sz="1200" baseline="0" dirty="0"/>
                  <a:t> </a:t>
                </a:r>
                <a:r>
                  <a:rPr lang="en-US" sz="1200" baseline="0" dirty="0" err="1"/>
                  <a:t>za</a:t>
                </a:r>
                <a:r>
                  <a:rPr lang="en-US" sz="1200" baseline="0" dirty="0"/>
                  <a:t> </a:t>
                </a:r>
                <a:r>
                  <a:rPr lang="en-US" sz="1200" baseline="0" dirty="0" err="1"/>
                  <a:t>direktnu</a:t>
                </a:r>
                <a:r>
                  <a:rPr lang="en-US" sz="1200" baseline="0" dirty="0"/>
                  <a:t> a </a:t>
                </a:r>
                <a:r>
                  <a:rPr lang="en-US" sz="1200" baseline="0" dirty="0" err="1"/>
                  <a:t>drugo</a:t>
                </a:r>
                <a:r>
                  <a:rPr lang="en-US" sz="1200" baseline="0" dirty="0"/>
                  <a:t> </a:t>
                </a:r>
                <a:r>
                  <a:rPr lang="en-US" sz="1200" baseline="0" dirty="0" err="1"/>
                  <a:t>za</a:t>
                </a:r>
                <a:r>
                  <a:rPr lang="en-US" sz="1200" baseline="0" dirty="0"/>
                  <a:t> </a:t>
                </a:r>
                <a:r>
                  <a:rPr lang="en-US" sz="1200" baseline="0" dirty="0" err="1"/>
                  <a:t>inverznu</a:t>
                </a:r>
                <a:r>
                  <a:rPr lang="en-US" sz="1200" baseline="0" dirty="0"/>
                  <a:t> </a:t>
                </a:r>
                <a:r>
                  <a:rPr lang="en-US" sz="1200" baseline="0" dirty="0" err="1"/>
                  <a:t>transfromaciju</a:t>
                </a:r>
                <a:r>
                  <a:rPr lang="en-US" sz="1200" baseline="0" dirty="0"/>
                  <a:t>.</a:t>
                </a:r>
                <a:endParaRPr lang="en-US" sz="1200"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26</a:t>
            </a:fld>
            <a:endParaRPr lang="en-US"/>
          </a:p>
        </p:txBody>
      </p:sp>
    </p:spTree>
    <p:extLst>
      <p:ext uri="{BB962C8B-B14F-4D97-AF65-F5344CB8AC3E}">
        <p14:creationId xmlns:p14="http://schemas.microsoft.com/office/powerpoint/2010/main" val="166183024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dirty="0"/>
                  <a:t>Any rotation of a qubit state on the Bloch sphere can be performed using three rotations about two different axes. This means that a state vector can be moved to an arbitrary point on the Bloch sphere by performing three consecutive rotations:</a:t>
                </a:r>
              </a:p>
              <a:p>
                <a:pPr algn="just"/>
                <a:endParaRPr lang="en-ZA" b="0" dirty="0">
                  <a:solidFill>
                    <a:schemeClr val="tx1"/>
                  </a:solidFill>
                </a:endParaRPr>
              </a:p>
              <a:p>
                <a:pPr marL="171450" indent="-171450" algn="just">
                  <a:buFont typeface="Arial" panose="020B0604020202020204" pitchFamily="34" charset="0"/>
                  <a:buChar char="•"/>
                </a:pPr>
                <a:r>
                  <a:rPr lang="en-ZA" dirty="0">
                    <a:solidFill>
                      <a:schemeClr val="tx1"/>
                    </a:solidFill>
                  </a:rPr>
                  <a:t>by </a:t>
                </a:r>
                <a14:m>
                  <m:oMath xmlns:m="http://schemas.openxmlformats.org/officeDocument/2006/math">
                    <m:r>
                      <a:rPr lang="sr-Latn-RS" sz="1200" i="1" smtClean="0">
                        <a:solidFill>
                          <a:schemeClr val="tx1"/>
                        </a:solidFill>
                        <a:latin typeface="Cambria Math" panose="02040503050406030204" pitchFamily="18" charset="0"/>
                      </a:rPr>
                      <m:t>𝜆</m:t>
                    </m:r>
                  </m:oMath>
                </a14:m>
                <a:r>
                  <a:rPr lang="en-ZA" dirty="0">
                    <a:solidFill>
                      <a:schemeClr val="tx1"/>
                    </a:solidFill>
                  </a:rPr>
                  <a:t> about the z-axis,</a:t>
                </a:r>
              </a:p>
              <a:p>
                <a:pPr marL="171450" indent="-171450" algn="just">
                  <a:buFont typeface="Arial" panose="020B0604020202020204" pitchFamily="34" charset="0"/>
                  <a:buChar char="•"/>
                </a:pPr>
                <a:r>
                  <a:rPr lang="en-ZA" dirty="0">
                    <a:solidFill>
                      <a:schemeClr val="tx1"/>
                    </a:solidFill>
                  </a:rPr>
                  <a:t>by </a:t>
                </a:r>
                <a14:m>
                  <m:oMath xmlns:m="http://schemas.openxmlformats.org/officeDocument/2006/math">
                    <m:r>
                      <a:rPr lang="sr-Latn-RS" sz="1200" i="1" smtClean="0">
                        <a:solidFill>
                          <a:schemeClr val="tx1"/>
                        </a:solidFill>
                        <a:latin typeface="Cambria Math" panose="02040503050406030204" pitchFamily="18" charset="0"/>
                      </a:rPr>
                      <m:t>𝜃</m:t>
                    </m:r>
                  </m:oMath>
                </a14:m>
                <a:r>
                  <a:rPr lang="el-GR" dirty="0">
                    <a:solidFill>
                      <a:schemeClr val="tx1"/>
                    </a:solidFill>
                  </a:rPr>
                  <a:t> </a:t>
                </a:r>
                <a:r>
                  <a:rPr lang="en-ZA" dirty="0">
                    <a:solidFill>
                      <a:schemeClr val="tx1"/>
                    </a:solidFill>
                  </a:rPr>
                  <a:t>about the y-axis,</a:t>
                </a:r>
              </a:p>
              <a:p>
                <a:pPr marL="171450" indent="-171450" algn="just">
                  <a:buFont typeface="Arial" panose="020B0604020202020204" pitchFamily="34" charset="0"/>
                  <a:buChar char="•"/>
                </a:pPr>
                <a:r>
                  <a:rPr lang="en-ZA" dirty="0">
                    <a:solidFill>
                      <a:schemeClr val="tx1"/>
                    </a:solidFill>
                  </a:rPr>
                  <a:t>and by </a:t>
                </a:r>
                <a14:m>
                  <m:oMath xmlns:m="http://schemas.openxmlformats.org/officeDocument/2006/math">
                    <m:r>
                      <a:rPr lang="sr-Latn-RS" sz="1200" i="1" smtClean="0">
                        <a:solidFill>
                          <a:schemeClr val="tx1"/>
                        </a:solidFill>
                        <a:latin typeface="Cambria Math" panose="02040503050406030204" pitchFamily="18" charset="0"/>
                      </a:rPr>
                      <m:t>𝜑</m:t>
                    </m:r>
                  </m:oMath>
                </a14:m>
                <a:r>
                  <a:rPr lang="en-ZA" dirty="0">
                    <a:solidFill>
                      <a:schemeClr val="tx1"/>
                    </a:solidFill>
                  </a:rPr>
                  <a:t> about the z-axis again.</a:t>
                </a:r>
                <a:endParaRPr lang="en-ZA" b="0" dirty="0">
                  <a:solidFill>
                    <a:schemeClr val="tx1"/>
                  </a:solidFill>
                </a:endParaRPr>
              </a:p>
              <a:p>
                <a:pPr algn="just"/>
                <a:endParaRPr lang="en-ZA" b="0" dirty="0">
                  <a:solidFill>
                    <a:schemeClr val="tx1"/>
                  </a:solidFill>
                </a:endParaRPr>
              </a:p>
              <a:p>
                <a:pPr algn="just"/>
                <a:r>
                  <a:rPr lang="en-ZA" dirty="0">
                    <a:solidFill>
                      <a:schemeClr val="tx1"/>
                    </a:solidFill>
                  </a:rPr>
                  <a:t>This is written as:</a:t>
                </a:r>
              </a:p>
              <a:p>
                <a:pPr marL="0" marR="0" lvl="0" indent="0" algn="just"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200" b="0" i="1" smtClean="0">
                          <a:solidFill>
                            <a:schemeClr val="tx1"/>
                          </a:solidFill>
                          <a:latin typeface="Cambria Math" panose="02040503050406030204" pitchFamily="18" charset="0"/>
                        </a:rPr>
                        <m:t>𝑈</m:t>
                      </m:r>
                      <m:d>
                        <m:dPr>
                          <m:ctrlPr>
                            <a:rPr lang="en-US" sz="1200" i="1">
                              <a:solidFill>
                                <a:schemeClr val="tx1"/>
                              </a:solidFill>
                              <a:latin typeface="Cambria Math" panose="02040503050406030204" pitchFamily="18" charset="0"/>
                            </a:rPr>
                          </m:ctrlPr>
                        </m:dPr>
                        <m:e>
                          <m:r>
                            <a:rPr lang="sr-Latn-RS" sz="1200" i="1">
                              <a:solidFill>
                                <a:schemeClr val="tx1"/>
                              </a:solidFill>
                              <a:latin typeface="Cambria Math" panose="02040503050406030204" pitchFamily="18" charset="0"/>
                            </a:rPr>
                            <m:t>𝜃</m:t>
                          </m:r>
                          <m:r>
                            <a:rPr lang="sr-Latn-RS" sz="1200" i="1">
                              <a:solidFill>
                                <a:schemeClr val="tx1"/>
                              </a:solidFill>
                              <a:latin typeface="Cambria Math" panose="02040503050406030204" pitchFamily="18" charset="0"/>
                            </a:rPr>
                            <m:t>,</m:t>
                          </m:r>
                          <m:r>
                            <a:rPr lang="sr-Latn-RS" sz="1200" i="1">
                              <a:solidFill>
                                <a:schemeClr val="tx1"/>
                              </a:solidFill>
                              <a:latin typeface="Cambria Math" panose="02040503050406030204" pitchFamily="18" charset="0"/>
                            </a:rPr>
                            <m:t>𝜑</m:t>
                          </m:r>
                          <m:r>
                            <a:rPr lang="sr-Latn-RS" sz="1200" i="1">
                              <a:solidFill>
                                <a:schemeClr val="tx1"/>
                              </a:solidFill>
                              <a:latin typeface="Cambria Math" panose="02040503050406030204" pitchFamily="18" charset="0"/>
                            </a:rPr>
                            <m:t>,</m:t>
                          </m:r>
                          <m:r>
                            <a:rPr lang="sr-Latn-RS" sz="1200" i="1">
                              <a:solidFill>
                                <a:schemeClr val="tx1"/>
                              </a:solidFill>
                              <a:latin typeface="Cambria Math" panose="02040503050406030204" pitchFamily="18" charset="0"/>
                            </a:rPr>
                            <m:t>𝜆</m:t>
                          </m:r>
                        </m:e>
                      </m:d>
                      <m:r>
                        <a:rPr lang="en-US" sz="1200" b="0" i="1" smtClean="0">
                          <a:solidFill>
                            <a:schemeClr val="tx1"/>
                          </a:solidFill>
                          <a:latin typeface="Cambria Math" panose="02040503050406030204" pitchFamily="18" charset="0"/>
                          <a:ea typeface="Cambria Math" panose="02040503050406030204" pitchFamily="18" charset="0"/>
                        </a:rPr>
                        <m:t>=</m:t>
                      </m:r>
                      <m:sSub>
                        <m:sSubPr>
                          <m:ctrlPr>
                            <a:rPr lang="sr-Latn-RS" sz="1200" b="0" i="1" smtClean="0">
                              <a:solidFill>
                                <a:schemeClr val="tx1"/>
                              </a:solidFill>
                              <a:latin typeface="Cambria Math" panose="02040503050406030204" pitchFamily="18" charset="0"/>
                              <a:ea typeface="Cambria Math" panose="02040503050406030204" pitchFamily="18" charset="0"/>
                            </a:rPr>
                          </m:ctrlPr>
                        </m:sSubPr>
                        <m:e>
                          <m:r>
                            <a:rPr lang="sr-Latn-RS" sz="1200" i="1">
                              <a:solidFill>
                                <a:schemeClr val="tx1"/>
                              </a:solidFill>
                              <a:latin typeface="Cambria Math" panose="02040503050406030204" pitchFamily="18" charset="0"/>
                              <a:ea typeface="Cambria Math" panose="02040503050406030204" pitchFamily="18" charset="0"/>
                            </a:rPr>
                            <m:t>𝑅</m:t>
                          </m:r>
                        </m:e>
                        <m:sub>
                          <m:r>
                            <a:rPr lang="sr-Latn-RS" sz="1200" b="0" i="1" smtClean="0">
                              <a:solidFill>
                                <a:schemeClr val="tx1"/>
                              </a:solidFill>
                              <a:latin typeface="Cambria Math" panose="02040503050406030204" pitchFamily="18" charset="0"/>
                              <a:ea typeface="Cambria Math" panose="02040503050406030204" pitchFamily="18" charset="0"/>
                            </a:rPr>
                            <m:t>𝑧</m:t>
                          </m:r>
                        </m:sub>
                      </m:sSub>
                      <m:d>
                        <m:dPr>
                          <m:ctrlPr>
                            <a:rPr lang="sr-Latn-RS" sz="1200" b="0" i="1" smtClean="0">
                              <a:solidFill>
                                <a:schemeClr val="tx1"/>
                              </a:solidFill>
                              <a:latin typeface="Cambria Math" panose="02040503050406030204" pitchFamily="18" charset="0"/>
                              <a:ea typeface="Cambria Math" panose="02040503050406030204" pitchFamily="18" charset="0"/>
                            </a:rPr>
                          </m:ctrlPr>
                        </m:dPr>
                        <m:e>
                          <m:r>
                            <a:rPr lang="en-US" sz="1200" i="1">
                              <a:solidFill>
                                <a:schemeClr val="tx1"/>
                              </a:solidFill>
                              <a:latin typeface="Cambria Math" panose="02040503050406030204" pitchFamily="18" charset="0"/>
                              <a:ea typeface="Cambria Math" panose="02040503050406030204" pitchFamily="18" charset="0"/>
                            </a:rPr>
                            <m:t>𝜑</m:t>
                          </m:r>
                        </m:e>
                      </m:d>
                      <m:sSub>
                        <m:sSubPr>
                          <m:ctrlPr>
                            <a:rPr lang="sr-Latn-RS" sz="1200" i="1">
                              <a:solidFill>
                                <a:schemeClr val="tx1"/>
                              </a:solidFill>
                              <a:latin typeface="Cambria Math" panose="02040503050406030204" pitchFamily="18" charset="0"/>
                              <a:ea typeface="Cambria Math" panose="02040503050406030204" pitchFamily="18" charset="0"/>
                            </a:rPr>
                          </m:ctrlPr>
                        </m:sSubPr>
                        <m:e>
                          <m:r>
                            <a:rPr lang="sr-Latn-RS" sz="1200" i="1">
                              <a:solidFill>
                                <a:schemeClr val="tx1"/>
                              </a:solidFill>
                              <a:latin typeface="Cambria Math" panose="02040503050406030204" pitchFamily="18" charset="0"/>
                              <a:ea typeface="Cambria Math" panose="02040503050406030204" pitchFamily="18" charset="0"/>
                            </a:rPr>
                            <m:t>𝑅</m:t>
                          </m:r>
                        </m:e>
                        <m:sub>
                          <m:r>
                            <a:rPr lang="sr-Latn-RS" sz="1200" b="0" i="1" smtClean="0">
                              <a:solidFill>
                                <a:schemeClr val="tx1"/>
                              </a:solidFill>
                              <a:latin typeface="Cambria Math" panose="02040503050406030204" pitchFamily="18" charset="0"/>
                              <a:ea typeface="Cambria Math" panose="02040503050406030204" pitchFamily="18" charset="0"/>
                            </a:rPr>
                            <m:t>𝑦</m:t>
                          </m:r>
                        </m:sub>
                      </m:sSub>
                      <m:d>
                        <m:dPr>
                          <m:ctrlPr>
                            <a:rPr lang="sr-Latn-RS" sz="1200" i="1">
                              <a:solidFill>
                                <a:schemeClr val="tx1"/>
                              </a:solidFill>
                              <a:latin typeface="Cambria Math" panose="02040503050406030204" pitchFamily="18" charset="0"/>
                              <a:ea typeface="Cambria Math" panose="02040503050406030204" pitchFamily="18" charset="0"/>
                            </a:rPr>
                          </m:ctrlPr>
                        </m:dPr>
                        <m:e>
                          <m:r>
                            <a:rPr lang="en-US" sz="1200" i="1">
                              <a:solidFill>
                                <a:schemeClr val="tx1"/>
                              </a:solidFill>
                              <a:latin typeface="Cambria Math" panose="02040503050406030204" pitchFamily="18" charset="0"/>
                              <a:ea typeface="Cambria Math" panose="02040503050406030204" pitchFamily="18" charset="0"/>
                            </a:rPr>
                            <m:t>𝜃</m:t>
                          </m:r>
                        </m:e>
                      </m:d>
                      <m:sSub>
                        <m:sSubPr>
                          <m:ctrlPr>
                            <a:rPr lang="sr-Latn-RS" sz="1200" i="1">
                              <a:solidFill>
                                <a:schemeClr val="tx1"/>
                              </a:solidFill>
                              <a:latin typeface="Cambria Math" panose="02040503050406030204" pitchFamily="18" charset="0"/>
                              <a:ea typeface="Cambria Math" panose="02040503050406030204" pitchFamily="18" charset="0"/>
                            </a:rPr>
                          </m:ctrlPr>
                        </m:sSubPr>
                        <m:e>
                          <m:r>
                            <a:rPr lang="sr-Latn-RS" sz="1200" i="1">
                              <a:solidFill>
                                <a:schemeClr val="tx1"/>
                              </a:solidFill>
                              <a:latin typeface="Cambria Math" panose="02040503050406030204" pitchFamily="18" charset="0"/>
                              <a:ea typeface="Cambria Math" panose="02040503050406030204" pitchFamily="18" charset="0"/>
                            </a:rPr>
                            <m:t>𝑅</m:t>
                          </m:r>
                        </m:e>
                        <m:sub>
                          <m:r>
                            <a:rPr lang="sr-Latn-RS" sz="1200" b="0" i="1" smtClean="0">
                              <a:solidFill>
                                <a:schemeClr val="tx1"/>
                              </a:solidFill>
                              <a:latin typeface="Cambria Math" panose="02040503050406030204" pitchFamily="18" charset="0"/>
                              <a:ea typeface="Cambria Math" panose="02040503050406030204" pitchFamily="18" charset="0"/>
                            </a:rPr>
                            <m:t>𝑧</m:t>
                          </m:r>
                        </m:sub>
                      </m:sSub>
                      <m:d>
                        <m:dPr>
                          <m:ctrlPr>
                            <a:rPr lang="sr-Latn-RS" sz="1200" i="1">
                              <a:solidFill>
                                <a:schemeClr val="tx1"/>
                              </a:solidFill>
                              <a:latin typeface="Cambria Math" panose="02040503050406030204" pitchFamily="18" charset="0"/>
                              <a:ea typeface="Cambria Math" panose="02040503050406030204" pitchFamily="18" charset="0"/>
                            </a:rPr>
                          </m:ctrlPr>
                        </m:dPr>
                        <m:e>
                          <m:r>
                            <a:rPr lang="en-US" sz="1200" i="1">
                              <a:solidFill>
                                <a:schemeClr val="tx1"/>
                              </a:solidFill>
                              <a:latin typeface="Cambria Math" panose="02040503050406030204" pitchFamily="18" charset="0"/>
                              <a:ea typeface="Cambria Math" panose="02040503050406030204" pitchFamily="18" charset="0"/>
                            </a:rPr>
                            <m:t>𝜆</m:t>
                          </m:r>
                        </m:e>
                      </m:d>
                    </m:oMath>
                  </m:oMathPara>
                </a14:m>
                <a:endParaRPr lang="en-US" sz="1200" dirty="0">
                  <a:solidFill>
                    <a:schemeClr val="tx1"/>
                  </a:solidFill>
                </a:endParaRPr>
              </a:p>
              <a:p>
                <a:pPr algn="just"/>
                <a:endParaRPr lang="en-US" dirty="0">
                  <a:solidFill>
                    <a:schemeClr val="tx1"/>
                  </a:solidFill>
                </a:endParaRPr>
              </a:p>
              <a:p>
                <a:pPr algn="just"/>
                <a:r>
                  <a:rPr lang="en-ZA" b="0" dirty="0"/>
                  <a:t>This gives us a universal single-qubit gate, meaning that any single-qubit unitary operation can be expressed in this form using the angles</a:t>
                </a:r>
                <a14:m>
                  <m:oMath xmlns:m="http://schemas.openxmlformats.org/officeDocument/2006/math">
                    <m:r>
                      <a:rPr lang="en-US" sz="1200" b="0" i="0" smtClean="0">
                        <a:solidFill>
                          <a:schemeClr val="tx1"/>
                        </a:solidFill>
                        <a:latin typeface="Cambria Math" panose="02040503050406030204" pitchFamily="18" charset="0"/>
                        <a:ea typeface="Cambria Math" panose="02040503050406030204" pitchFamily="18" charset="0"/>
                      </a:rPr>
                      <m:t> </m:t>
                    </m:r>
                    <m:r>
                      <a:rPr lang="en-US" sz="1200" i="1" smtClean="0">
                        <a:solidFill>
                          <a:schemeClr val="tx1"/>
                        </a:solidFill>
                        <a:latin typeface="Cambria Math" panose="02040503050406030204" pitchFamily="18" charset="0"/>
                        <a:ea typeface="Cambria Math" panose="02040503050406030204" pitchFamily="18" charset="0"/>
                      </a:rPr>
                      <m:t>𝜃</m:t>
                    </m:r>
                  </m:oMath>
                </a14:m>
                <a:r>
                  <a:rPr lang="el-GR" dirty="0">
                    <a:solidFill>
                      <a:schemeClr val="tx1"/>
                    </a:solidFill>
                  </a:rPr>
                  <a:t>, </a:t>
                </a:r>
                <a14:m>
                  <m:oMath xmlns:m="http://schemas.openxmlformats.org/officeDocument/2006/math">
                    <m:r>
                      <a:rPr lang="en-US" sz="1200" i="1" smtClean="0">
                        <a:solidFill>
                          <a:schemeClr val="tx1"/>
                        </a:solidFill>
                        <a:latin typeface="Cambria Math" panose="02040503050406030204" pitchFamily="18" charset="0"/>
                        <a:ea typeface="Cambria Math" panose="02040503050406030204" pitchFamily="18" charset="0"/>
                      </a:rPr>
                      <m:t>𝜑</m:t>
                    </m:r>
                  </m:oMath>
                </a14:m>
                <a:r>
                  <a:rPr lang="el-GR" dirty="0">
                    <a:solidFill>
                      <a:schemeClr val="tx1"/>
                    </a:solidFill>
                  </a:rPr>
                  <a:t>, </a:t>
                </a:r>
                <a:r>
                  <a:rPr lang="en-ZA" dirty="0">
                    <a:solidFill>
                      <a:schemeClr val="tx1"/>
                    </a:solidFill>
                  </a:rPr>
                  <a:t>and </a:t>
                </a:r>
                <a14:m>
                  <m:oMath xmlns:m="http://schemas.openxmlformats.org/officeDocument/2006/math">
                    <m:r>
                      <a:rPr lang="en-US" sz="1200" i="1" smtClean="0">
                        <a:solidFill>
                          <a:schemeClr val="tx1"/>
                        </a:solidFill>
                        <a:latin typeface="Cambria Math" panose="02040503050406030204" pitchFamily="18" charset="0"/>
                        <a:ea typeface="Cambria Math" panose="02040503050406030204" pitchFamily="18" charset="0"/>
                      </a:rPr>
                      <m:t>𝜆</m:t>
                    </m:r>
                  </m:oMath>
                </a14:m>
                <a:r>
                  <a:rPr lang="en-ZA" b="1" dirty="0"/>
                  <a:t>, </a:t>
                </a:r>
                <a:r>
                  <a:rPr lang="en-ZA" b="0" dirty="0"/>
                  <a:t>up to a global phase.</a:t>
                </a:r>
                <a:r>
                  <a:rPr lang="en-ZA" dirty="0">
                    <a:solidFill>
                      <a:schemeClr val="tx1"/>
                    </a:solidFill>
                  </a:rPr>
                  <a:t> In real quantum computers, compilers use this decomposition to break complex operations into rotation gates that hardware can run directly.</a:t>
                </a:r>
              </a:p>
              <a:p>
                <a:pPr algn="just"/>
                <a:endParaRPr lang="en-ZA" dirty="0">
                  <a:solidFill>
                    <a:schemeClr val="tx1"/>
                  </a:solidFill>
                </a:endParaRPr>
              </a:p>
              <a:p>
                <a:r>
                  <a:rPr lang="en-ZA" b="0" dirty="0"/>
                  <a:t>The phrase “up to a global phase” means that the expression </a:t>
                </a:r>
                <a14:m>
                  <m:oMath xmlns:m="http://schemas.openxmlformats.org/officeDocument/2006/math">
                    <m:sSub>
                      <m:sSubPr>
                        <m:ctrlPr>
                          <a:rPr lang="sr-Latn-RS" sz="1200" b="0" i="1" smtClean="0">
                            <a:latin typeface="Cambria Math" panose="02040503050406030204" pitchFamily="18" charset="0"/>
                            <a:ea typeface="Cambria Math" panose="02040503050406030204" pitchFamily="18" charset="0"/>
                          </a:rPr>
                        </m:ctrlPr>
                      </m:sSubPr>
                      <m:e>
                        <m:r>
                          <a:rPr lang="sr-Latn-RS" sz="1200" i="1">
                            <a:latin typeface="Cambria Math" panose="02040503050406030204" pitchFamily="18" charset="0"/>
                            <a:ea typeface="Cambria Math" panose="02040503050406030204" pitchFamily="18" charset="0"/>
                          </a:rPr>
                          <m:t>𝑅</m:t>
                        </m:r>
                      </m:e>
                      <m:sub>
                        <m:r>
                          <a:rPr lang="sr-Latn-RS" sz="1200" b="0" i="1" smtClean="0">
                            <a:latin typeface="Cambria Math" panose="02040503050406030204" pitchFamily="18" charset="0"/>
                            <a:ea typeface="Cambria Math" panose="02040503050406030204" pitchFamily="18" charset="0"/>
                          </a:rPr>
                          <m:t>𝑧</m:t>
                        </m:r>
                      </m:sub>
                    </m:sSub>
                    <m:d>
                      <m:dPr>
                        <m:ctrlPr>
                          <a:rPr lang="sr-Latn-RS" sz="1200" b="0" i="1" smtClean="0">
                            <a:latin typeface="Cambria Math" panose="02040503050406030204" pitchFamily="18" charset="0"/>
                            <a:ea typeface="Cambria Math" panose="02040503050406030204" pitchFamily="18" charset="0"/>
                          </a:rPr>
                        </m:ctrlPr>
                      </m:dPr>
                      <m:e>
                        <m:r>
                          <a:rPr lang="en-US" sz="1200" i="1">
                            <a:latin typeface="Cambria Math" panose="02040503050406030204" pitchFamily="18" charset="0"/>
                            <a:ea typeface="Cambria Math" panose="02040503050406030204" pitchFamily="18" charset="0"/>
                          </a:rPr>
                          <m:t>𝜑</m:t>
                        </m:r>
                      </m:e>
                    </m:d>
                    <m:sSub>
                      <m:sSubPr>
                        <m:ctrlPr>
                          <a:rPr lang="sr-Latn-RS" sz="1200" i="1">
                            <a:latin typeface="Cambria Math" panose="02040503050406030204" pitchFamily="18" charset="0"/>
                            <a:ea typeface="Cambria Math" panose="02040503050406030204" pitchFamily="18" charset="0"/>
                          </a:rPr>
                        </m:ctrlPr>
                      </m:sSubPr>
                      <m:e>
                        <m:r>
                          <a:rPr lang="sr-Latn-RS" sz="1200" i="1">
                            <a:latin typeface="Cambria Math" panose="02040503050406030204" pitchFamily="18" charset="0"/>
                            <a:ea typeface="Cambria Math" panose="02040503050406030204" pitchFamily="18" charset="0"/>
                          </a:rPr>
                          <m:t>𝑅</m:t>
                        </m:r>
                      </m:e>
                      <m:sub>
                        <m:r>
                          <a:rPr lang="sr-Latn-RS" sz="1200" b="0" i="1" smtClean="0">
                            <a:latin typeface="Cambria Math" panose="02040503050406030204" pitchFamily="18" charset="0"/>
                            <a:ea typeface="Cambria Math" panose="02040503050406030204" pitchFamily="18" charset="0"/>
                          </a:rPr>
                          <m:t>𝑦</m:t>
                        </m:r>
                      </m:sub>
                    </m:sSub>
                    <m:d>
                      <m:dPr>
                        <m:ctrlPr>
                          <a:rPr lang="sr-Latn-RS" sz="1200" i="1">
                            <a:latin typeface="Cambria Math" panose="02040503050406030204" pitchFamily="18" charset="0"/>
                            <a:ea typeface="Cambria Math" panose="02040503050406030204" pitchFamily="18" charset="0"/>
                          </a:rPr>
                        </m:ctrlPr>
                      </m:dPr>
                      <m:e>
                        <m:r>
                          <a:rPr lang="en-US" sz="1200" i="1">
                            <a:latin typeface="Cambria Math" panose="02040503050406030204" pitchFamily="18" charset="0"/>
                            <a:ea typeface="Cambria Math" panose="02040503050406030204" pitchFamily="18" charset="0"/>
                          </a:rPr>
                          <m:t>𝜃</m:t>
                        </m:r>
                      </m:e>
                    </m:d>
                    <m:sSub>
                      <m:sSubPr>
                        <m:ctrlPr>
                          <a:rPr lang="sr-Latn-RS" sz="1200" i="1">
                            <a:latin typeface="Cambria Math" panose="02040503050406030204" pitchFamily="18" charset="0"/>
                            <a:ea typeface="Cambria Math" panose="02040503050406030204" pitchFamily="18" charset="0"/>
                          </a:rPr>
                        </m:ctrlPr>
                      </m:sSubPr>
                      <m:e>
                        <m:r>
                          <a:rPr lang="sr-Latn-RS" sz="1200" i="1">
                            <a:latin typeface="Cambria Math" panose="02040503050406030204" pitchFamily="18" charset="0"/>
                            <a:ea typeface="Cambria Math" panose="02040503050406030204" pitchFamily="18" charset="0"/>
                          </a:rPr>
                          <m:t>𝑅</m:t>
                        </m:r>
                      </m:e>
                      <m:sub>
                        <m:r>
                          <a:rPr lang="sr-Latn-RS" sz="1200" b="0" i="1" smtClean="0">
                            <a:latin typeface="Cambria Math" panose="02040503050406030204" pitchFamily="18" charset="0"/>
                            <a:ea typeface="Cambria Math" panose="02040503050406030204" pitchFamily="18" charset="0"/>
                          </a:rPr>
                          <m:t>𝑧</m:t>
                        </m:r>
                      </m:sub>
                    </m:sSub>
                    <m:d>
                      <m:dPr>
                        <m:ctrlPr>
                          <a:rPr lang="sr-Latn-RS" sz="1200" i="1">
                            <a:latin typeface="Cambria Math" panose="02040503050406030204" pitchFamily="18" charset="0"/>
                            <a:ea typeface="Cambria Math" panose="02040503050406030204" pitchFamily="18" charset="0"/>
                          </a:rPr>
                        </m:ctrlPr>
                      </m:dPr>
                      <m:e>
                        <m:r>
                          <a:rPr lang="en-US" sz="1200" i="1">
                            <a:latin typeface="Cambria Math" panose="02040503050406030204" pitchFamily="18" charset="0"/>
                            <a:ea typeface="Cambria Math" panose="02040503050406030204" pitchFamily="18" charset="0"/>
                          </a:rPr>
                          <m:t>𝜆</m:t>
                        </m:r>
                      </m:e>
                    </m:d>
                  </m:oMath>
                </a14:m>
                <a:r>
                  <a:rPr lang="en-ZA" b="0" dirty="0"/>
                  <a:t> can reproduce any single-qubit unitary transformation, although the resulting matrix may differ from the desired matrix by an overall phase factor </a:t>
                </a:r>
                <a14:m>
                  <m:oMath xmlns:m="http://schemas.openxmlformats.org/officeDocument/2006/math">
                    <m:sSup>
                      <m:sSupPr>
                        <m:ctrlPr>
                          <a:rPr lang="en-US" sz="1200" i="1" smtClean="0">
                            <a:solidFill>
                              <a:schemeClr val="tx1"/>
                            </a:solidFill>
                            <a:latin typeface="Cambria Math" panose="02040503050406030204" pitchFamily="18" charset="0"/>
                            <a:ea typeface="Cambria Math" panose="02040503050406030204" pitchFamily="18" charset="0"/>
                          </a:rPr>
                        </m:ctrlPr>
                      </m:sSupPr>
                      <m:e>
                        <m:r>
                          <a:rPr lang="en-US" sz="1200" i="1">
                            <a:solidFill>
                              <a:schemeClr val="tx1"/>
                            </a:solidFill>
                            <a:latin typeface="Cambria Math" panose="02040503050406030204" pitchFamily="18" charset="0"/>
                            <a:ea typeface="Cambria Math" panose="02040503050406030204" pitchFamily="18" charset="0"/>
                          </a:rPr>
                          <m:t>𝑒</m:t>
                        </m:r>
                      </m:e>
                      <m:sup>
                        <m:r>
                          <a:rPr lang="en-US" sz="1200" i="1">
                            <a:solidFill>
                              <a:schemeClr val="tx1"/>
                            </a:solidFill>
                            <a:latin typeface="Cambria Math" panose="02040503050406030204" pitchFamily="18" charset="0"/>
                            <a:ea typeface="Cambria Math" panose="02040503050406030204" pitchFamily="18" charset="0"/>
                          </a:rPr>
                          <m:t>𝑖</m:t>
                        </m:r>
                        <m:r>
                          <a:rPr lang="en-US" sz="1200" i="1" smtClean="0">
                            <a:solidFill>
                              <a:schemeClr val="tx1"/>
                            </a:solidFill>
                            <a:latin typeface="Cambria Math" panose="02040503050406030204" pitchFamily="18" charset="0"/>
                            <a:ea typeface="Cambria Math" panose="02040503050406030204" pitchFamily="18" charset="0"/>
                          </a:rPr>
                          <m:t>𝛾</m:t>
                        </m:r>
                      </m:sup>
                    </m:sSup>
                  </m:oMath>
                </a14:m>
                <a:endParaRPr lang="el-GR" b="0" dirty="0"/>
              </a:p>
              <a:p>
                <a:pP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ea typeface="Cambria Math" panose="02040503050406030204" pitchFamily="18" charset="0"/>
                        </a:rPr>
                        <m:t>𝑈</m:t>
                      </m:r>
                      <m:r>
                        <a:rPr lang="en-US" sz="1200" b="0" i="1" smtClean="0">
                          <a:latin typeface="Cambria Math" panose="02040503050406030204" pitchFamily="18" charset="0"/>
                          <a:ea typeface="Cambria Math" panose="02040503050406030204" pitchFamily="18" charset="0"/>
                        </a:rPr>
                        <m:t>=</m:t>
                      </m:r>
                      <m:sSub>
                        <m:sSubPr>
                          <m:ctrlPr>
                            <a:rPr lang="sr-Latn-RS" sz="1200" b="0" i="1" smtClean="0">
                              <a:latin typeface="Cambria Math" panose="02040503050406030204" pitchFamily="18" charset="0"/>
                              <a:ea typeface="Cambria Math" panose="02040503050406030204" pitchFamily="18" charset="0"/>
                            </a:rPr>
                          </m:ctrlPr>
                        </m:sSubPr>
                        <m:e>
                          <m:sSup>
                            <m:sSupPr>
                              <m:ctrlPr>
                                <a:rPr lang="en-US" sz="1200" i="1" smtClean="0">
                                  <a:solidFill>
                                    <a:schemeClr val="tx1"/>
                                  </a:solidFill>
                                  <a:latin typeface="Cambria Math" panose="02040503050406030204" pitchFamily="18" charset="0"/>
                                  <a:ea typeface="Cambria Math" panose="02040503050406030204" pitchFamily="18" charset="0"/>
                                </a:rPr>
                              </m:ctrlPr>
                            </m:sSupPr>
                            <m:e>
                              <m:r>
                                <a:rPr lang="en-US" sz="1200" i="1">
                                  <a:solidFill>
                                    <a:schemeClr val="tx1"/>
                                  </a:solidFill>
                                  <a:latin typeface="Cambria Math" panose="02040503050406030204" pitchFamily="18" charset="0"/>
                                  <a:ea typeface="Cambria Math" panose="02040503050406030204" pitchFamily="18" charset="0"/>
                                </a:rPr>
                                <m:t>𝑒</m:t>
                              </m:r>
                            </m:e>
                            <m:sup>
                              <m:r>
                                <a:rPr lang="en-US" sz="1200" i="1">
                                  <a:solidFill>
                                    <a:schemeClr val="tx1"/>
                                  </a:solidFill>
                                  <a:latin typeface="Cambria Math" panose="02040503050406030204" pitchFamily="18" charset="0"/>
                                  <a:ea typeface="Cambria Math" panose="02040503050406030204" pitchFamily="18" charset="0"/>
                                </a:rPr>
                                <m:t>𝑖</m:t>
                              </m:r>
                              <m:r>
                                <a:rPr lang="en-US" sz="1200" i="1" smtClean="0">
                                  <a:solidFill>
                                    <a:schemeClr val="tx1"/>
                                  </a:solidFill>
                                  <a:latin typeface="Cambria Math" panose="02040503050406030204" pitchFamily="18" charset="0"/>
                                  <a:ea typeface="Cambria Math" panose="02040503050406030204" pitchFamily="18" charset="0"/>
                                </a:rPr>
                                <m:t>𝛾</m:t>
                              </m:r>
                            </m:sup>
                          </m:sSup>
                          <m:r>
                            <a:rPr lang="sr-Latn-RS" sz="1200" i="1">
                              <a:latin typeface="Cambria Math" panose="02040503050406030204" pitchFamily="18" charset="0"/>
                              <a:ea typeface="Cambria Math" panose="02040503050406030204" pitchFamily="18" charset="0"/>
                            </a:rPr>
                            <m:t>𝑅</m:t>
                          </m:r>
                        </m:e>
                        <m:sub>
                          <m:r>
                            <a:rPr lang="sr-Latn-RS" sz="1200" b="0" i="1" smtClean="0">
                              <a:latin typeface="Cambria Math" panose="02040503050406030204" pitchFamily="18" charset="0"/>
                              <a:ea typeface="Cambria Math" panose="02040503050406030204" pitchFamily="18" charset="0"/>
                            </a:rPr>
                            <m:t>𝑧</m:t>
                          </m:r>
                        </m:sub>
                      </m:sSub>
                      <m:d>
                        <m:dPr>
                          <m:ctrlPr>
                            <a:rPr lang="sr-Latn-RS" sz="1200" b="0" i="1" smtClean="0">
                              <a:latin typeface="Cambria Math" panose="02040503050406030204" pitchFamily="18" charset="0"/>
                              <a:ea typeface="Cambria Math" panose="02040503050406030204" pitchFamily="18" charset="0"/>
                            </a:rPr>
                          </m:ctrlPr>
                        </m:dPr>
                        <m:e>
                          <m:r>
                            <a:rPr lang="en-US" sz="1200" i="1">
                              <a:latin typeface="Cambria Math" panose="02040503050406030204" pitchFamily="18" charset="0"/>
                              <a:ea typeface="Cambria Math" panose="02040503050406030204" pitchFamily="18" charset="0"/>
                            </a:rPr>
                            <m:t>𝜑</m:t>
                          </m:r>
                        </m:e>
                      </m:d>
                      <m:sSub>
                        <m:sSubPr>
                          <m:ctrlPr>
                            <a:rPr lang="sr-Latn-RS" sz="1200" i="1">
                              <a:latin typeface="Cambria Math" panose="02040503050406030204" pitchFamily="18" charset="0"/>
                              <a:ea typeface="Cambria Math" panose="02040503050406030204" pitchFamily="18" charset="0"/>
                            </a:rPr>
                          </m:ctrlPr>
                        </m:sSubPr>
                        <m:e>
                          <m:r>
                            <a:rPr lang="sr-Latn-RS" sz="1200" i="1">
                              <a:latin typeface="Cambria Math" panose="02040503050406030204" pitchFamily="18" charset="0"/>
                              <a:ea typeface="Cambria Math" panose="02040503050406030204" pitchFamily="18" charset="0"/>
                            </a:rPr>
                            <m:t>𝑅</m:t>
                          </m:r>
                        </m:e>
                        <m:sub>
                          <m:r>
                            <a:rPr lang="sr-Latn-RS" sz="1200" b="0" i="1" smtClean="0">
                              <a:latin typeface="Cambria Math" panose="02040503050406030204" pitchFamily="18" charset="0"/>
                              <a:ea typeface="Cambria Math" panose="02040503050406030204" pitchFamily="18" charset="0"/>
                            </a:rPr>
                            <m:t>𝑦</m:t>
                          </m:r>
                        </m:sub>
                      </m:sSub>
                      <m:d>
                        <m:dPr>
                          <m:ctrlPr>
                            <a:rPr lang="sr-Latn-RS" sz="1200" i="1">
                              <a:latin typeface="Cambria Math" panose="02040503050406030204" pitchFamily="18" charset="0"/>
                              <a:ea typeface="Cambria Math" panose="02040503050406030204" pitchFamily="18" charset="0"/>
                            </a:rPr>
                          </m:ctrlPr>
                        </m:dPr>
                        <m:e>
                          <m:r>
                            <a:rPr lang="en-US" sz="1200" i="1">
                              <a:latin typeface="Cambria Math" panose="02040503050406030204" pitchFamily="18" charset="0"/>
                              <a:ea typeface="Cambria Math" panose="02040503050406030204" pitchFamily="18" charset="0"/>
                            </a:rPr>
                            <m:t>𝜃</m:t>
                          </m:r>
                        </m:e>
                      </m:d>
                      <m:sSub>
                        <m:sSubPr>
                          <m:ctrlPr>
                            <a:rPr lang="sr-Latn-RS" sz="1200" i="1">
                              <a:latin typeface="Cambria Math" panose="02040503050406030204" pitchFamily="18" charset="0"/>
                              <a:ea typeface="Cambria Math" panose="02040503050406030204" pitchFamily="18" charset="0"/>
                            </a:rPr>
                          </m:ctrlPr>
                        </m:sSubPr>
                        <m:e>
                          <m:r>
                            <a:rPr lang="sr-Latn-RS" sz="1200" i="1">
                              <a:latin typeface="Cambria Math" panose="02040503050406030204" pitchFamily="18" charset="0"/>
                              <a:ea typeface="Cambria Math" panose="02040503050406030204" pitchFamily="18" charset="0"/>
                            </a:rPr>
                            <m:t>𝑅</m:t>
                          </m:r>
                        </m:e>
                        <m:sub>
                          <m:r>
                            <a:rPr lang="sr-Latn-RS" sz="1200" b="0" i="1" smtClean="0">
                              <a:latin typeface="Cambria Math" panose="02040503050406030204" pitchFamily="18" charset="0"/>
                              <a:ea typeface="Cambria Math" panose="02040503050406030204" pitchFamily="18" charset="0"/>
                            </a:rPr>
                            <m:t>𝑧</m:t>
                          </m:r>
                        </m:sub>
                      </m:sSub>
                      <m:d>
                        <m:dPr>
                          <m:ctrlPr>
                            <a:rPr lang="sr-Latn-RS" sz="1200" i="1">
                              <a:latin typeface="Cambria Math" panose="02040503050406030204" pitchFamily="18" charset="0"/>
                              <a:ea typeface="Cambria Math" panose="02040503050406030204" pitchFamily="18" charset="0"/>
                            </a:rPr>
                          </m:ctrlPr>
                        </m:dPr>
                        <m:e>
                          <m:r>
                            <a:rPr lang="en-US" sz="1200" i="1">
                              <a:latin typeface="Cambria Math" panose="02040503050406030204" pitchFamily="18" charset="0"/>
                              <a:ea typeface="Cambria Math" panose="02040503050406030204" pitchFamily="18" charset="0"/>
                            </a:rPr>
                            <m:t>𝜆</m:t>
                          </m:r>
                        </m:e>
                      </m:d>
                    </m:oMath>
                  </m:oMathPara>
                </a14:m>
                <a:endParaRPr lang="en-ZA" b="0" dirty="0"/>
              </a:p>
              <a:p>
                <a:r>
                  <a:rPr lang="en-ZA" b="0" dirty="0"/>
                  <a:t>Since a global phase has no observable effect, the two transformations are physically equivalent.</a:t>
                </a:r>
              </a:p>
              <a:p>
                <a:pPr algn="just"/>
                <a:endParaRPr lang="en-US" dirty="0">
                  <a:solidFill>
                    <a:schemeClr val="tx1"/>
                  </a:solidFill>
                </a:endParaRPr>
              </a:p>
            </p:txBody>
          </p:sp>
        </mc:Choice>
        <mc:Fallback xmlns="">
          <p:sp>
            <p:nvSpPr>
              <p:cNvPr id="3" name="Notes Placeholder 2"/>
              <p:cNvSpPr>
                <a:spLocks noGrp="1"/>
              </p:cNvSpPr>
              <p:nvPr>
                <p:ph type="body" idx="1"/>
              </p:nvPr>
            </p:nvSpPr>
            <p:spPr/>
            <p:txBody>
              <a:bodyPr/>
              <a:lstStyle/>
              <a:p>
                <a:r>
                  <a:rPr lang="en-US" sz="2000" dirty="0"/>
                  <a:t>It can be shown that rotation in the Bloch sphere around some vector n-hat </a:t>
                </a:r>
                <a:r>
                  <a:rPr lang="en-US" sz="2000" kern="1200" dirty="0">
                    <a:solidFill>
                      <a:schemeClr val="tx1"/>
                    </a:solidFill>
                    <a:effectLst/>
                    <a:latin typeface="+mn-lt"/>
                    <a:ea typeface="+mn-ea"/>
                    <a:cs typeface="+mn-cs"/>
                  </a:rPr>
                  <a:t>is given by the first expressions where n-hat is a vector given by its</a:t>
                </a:r>
                <a:r>
                  <a:rPr lang="en-US" sz="2000" kern="1200" baseline="0" dirty="0">
                    <a:solidFill>
                      <a:schemeClr val="tx1"/>
                    </a:solidFill>
                    <a:effectLst/>
                    <a:latin typeface="+mn-lt"/>
                    <a:ea typeface="+mn-ea"/>
                    <a:cs typeface="+mn-cs"/>
                  </a:rPr>
                  <a:t> </a:t>
                </a:r>
                <a:r>
                  <a:rPr lang="en-US" sz="2000" kern="1200" dirty="0">
                    <a:solidFill>
                      <a:schemeClr val="tx1"/>
                    </a:solidFill>
                    <a:effectLst/>
                    <a:latin typeface="+mn-lt"/>
                    <a:ea typeface="+mn-ea"/>
                    <a:cs typeface="+mn-cs"/>
                  </a:rPr>
                  <a:t>coordinates and  </a:t>
                </a:r>
                <a:r>
                  <a:rPr lang="en-US" sz="2000" i="0">
                    <a:latin typeface="Cambria Math" panose="02040503050406030204" pitchFamily="18" charset="0"/>
                    <a:ea typeface="Cambria Math" panose="02040503050406030204" pitchFamily="18" charset="0"/>
                  </a:rPr>
                  <a:t>𝜎</a:t>
                </a:r>
                <a:r>
                  <a:rPr lang="en-US" sz="2000" dirty="0"/>
                  <a:t> is a vector of Pauli matrices. Example on the left shows an arbitrary vector S rotation about vector n for angle theta.</a:t>
                </a:r>
              </a:p>
              <a:p>
                <a:endParaRPr lang="en-US" sz="20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2000" kern="1200" dirty="0">
                    <a:solidFill>
                      <a:schemeClr val="tx1"/>
                    </a:solidFill>
                    <a:latin typeface="+mn-lt"/>
                    <a:ea typeface="+mn-ea"/>
                    <a:cs typeface="+mn-cs"/>
                  </a:rPr>
                  <a:t>If we include a global phase shift factor </a:t>
                </a:r>
                <a:r>
                  <a:rPr lang="en-US" sz="2000" i="0">
                    <a:latin typeface="Cambria Math" panose="02040503050406030204" pitchFamily="18" charset="0"/>
                    <a:ea typeface="Cambria Math" panose="02040503050406030204" pitchFamily="18" charset="0"/>
                  </a:rPr>
                  <a:t>𝜑</a:t>
                </a:r>
                <a:r>
                  <a:rPr lang="en-US" sz="2000" kern="1200" dirty="0">
                    <a:solidFill>
                      <a:schemeClr val="tx1"/>
                    </a:solidFill>
                    <a:latin typeface="+mn-lt"/>
                    <a:ea typeface="+mn-ea"/>
                    <a:cs typeface="+mn-cs"/>
                  </a:rPr>
                  <a:t> into the rotation operator, we can produce any Bloch vector.</a:t>
                </a:r>
              </a:p>
              <a:p>
                <a:endParaRPr lang="en-US" sz="2000"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27</a:t>
            </a:fld>
            <a:endParaRPr lang="en-US"/>
          </a:p>
        </p:txBody>
      </p:sp>
    </p:spTree>
    <p:extLst>
      <p:ext uri="{BB962C8B-B14F-4D97-AF65-F5344CB8AC3E}">
        <p14:creationId xmlns:p14="http://schemas.microsoft.com/office/powerpoint/2010/main" val="169026179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lang="en-ZA" b="0" dirty="0"/>
              </a:p>
              <a:p>
                <a:r>
                  <a:rPr lang="en-ZA" b="0" dirty="0"/>
                  <a:t>The universal gate </a:t>
                </a:r>
                <a14:m>
                  <m:oMath xmlns:m="http://schemas.openxmlformats.org/officeDocument/2006/math">
                    <m:r>
                      <a:rPr lang="en-US" sz="1200" b="0" i="1" smtClean="0">
                        <a:latin typeface="Cambria Math" panose="02040503050406030204" pitchFamily="18" charset="0"/>
                      </a:rPr>
                      <m:t>𝑈</m:t>
                    </m:r>
                    <m:d>
                      <m:dPr>
                        <m:ctrlPr>
                          <a:rPr lang="en-US" sz="1200" b="0" i="1">
                            <a:latin typeface="Cambria Math" panose="02040503050406030204" pitchFamily="18" charset="0"/>
                          </a:rPr>
                        </m:ctrlPr>
                      </m:dPr>
                      <m:e>
                        <m:r>
                          <a:rPr lang="sr-Latn-RS" sz="1200" b="0" i="1">
                            <a:latin typeface="Cambria Math" panose="02040503050406030204" pitchFamily="18" charset="0"/>
                          </a:rPr>
                          <m:t>𝜃</m:t>
                        </m:r>
                        <m:r>
                          <a:rPr lang="sr-Latn-RS" sz="1200" b="0" i="1">
                            <a:latin typeface="Cambria Math" panose="02040503050406030204" pitchFamily="18" charset="0"/>
                          </a:rPr>
                          <m:t>,</m:t>
                        </m:r>
                        <m:r>
                          <a:rPr lang="sr-Latn-RS" sz="1200" b="0" i="1">
                            <a:latin typeface="Cambria Math" panose="02040503050406030204" pitchFamily="18" charset="0"/>
                          </a:rPr>
                          <m:t>𝜑</m:t>
                        </m:r>
                        <m:r>
                          <a:rPr lang="sr-Latn-RS" sz="1200" b="0" i="1">
                            <a:latin typeface="Cambria Math" panose="02040503050406030204" pitchFamily="18" charset="0"/>
                          </a:rPr>
                          <m:t>,</m:t>
                        </m:r>
                        <m:r>
                          <a:rPr lang="sr-Latn-RS" sz="1200" b="0" i="1">
                            <a:latin typeface="Cambria Math" panose="02040503050406030204" pitchFamily="18" charset="0"/>
                          </a:rPr>
                          <m:t>𝜆</m:t>
                        </m:r>
                      </m:e>
                    </m:d>
                  </m:oMath>
                </a14:m>
                <a:r>
                  <a:rPr lang="el-GR" b="0" dirty="0"/>
                  <a:t>, </a:t>
                </a:r>
                <a:r>
                  <a:rPr lang="en-US" b="0" dirty="0"/>
                  <a:t>c</a:t>
                </a:r>
                <a:r>
                  <a:rPr lang="en-ZA" b="0" dirty="0"/>
                  <a:t>an represent any single-qubit operation simply by adjusting its three parameters.</a:t>
                </a:r>
              </a:p>
              <a:p>
                <a:endParaRPr lang="en-ZA" b="0" dirty="0"/>
              </a:p>
              <a:p>
                <a:r>
                  <a:rPr lang="en-ZA" dirty="0"/>
                  <a:t>Quantum compilers can express arbitrary single-qubit gates in the form </a:t>
                </a:r>
                <a14:m>
                  <m:oMath xmlns:m="http://schemas.openxmlformats.org/officeDocument/2006/math">
                    <m:r>
                      <a:rPr lang="en-US" sz="1200" b="0" i="1" smtClean="0">
                        <a:latin typeface="Cambria Math" panose="02040503050406030204" pitchFamily="18" charset="0"/>
                      </a:rPr>
                      <m:t>𝑈</m:t>
                    </m:r>
                    <m:d>
                      <m:dPr>
                        <m:ctrlPr>
                          <a:rPr lang="en-US" sz="1200" b="0" i="1">
                            <a:latin typeface="Cambria Math" panose="02040503050406030204" pitchFamily="18" charset="0"/>
                          </a:rPr>
                        </m:ctrlPr>
                      </m:dPr>
                      <m:e>
                        <m:r>
                          <a:rPr lang="sr-Latn-RS" sz="1200" b="0" i="1">
                            <a:latin typeface="Cambria Math" panose="02040503050406030204" pitchFamily="18" charset="0"/>
                          </a:rPr>
                          <m:t>𝜃</m:t>
                        </m:r>
                        <m:r>
                          <a:rPr lang="sr-Latn-RS" sz="1200" b="0" i="1">
                            <a:latin typeface="Cambria Math" panose="02040503050406030204" pitchFamily="18" charset="0"/>
                          </a:rPr>
                          <m:t>,</m:t>
                        </m:r>
                        <m:r>
                          <a:rPr lang="sr-Latn-RS" sz="1200" b="0" i="1">
                            <a:latin typeface="Cambria Math" panose="02040503050406030204" pitchFamily="18" charset="0"/>
                          </a:rPr>
                          <m:t>𝜑</m:t>
                        </m:r>
                        <m:r>
                          <a:rPr lang="sr-Latn-RS" sz="1200" b="0" i="1">
                            <a:latin typeface="Cambria Math" panose="02040503050406030204" pitchFamily="18" charset="0"/>
                          </a:rPr>
                          <m:t>,</m:t>
                        </m:r>
                        <m:r>
                          <a:rPr lang="sr-Latn-RS" sz="1200" b="0" i="1">
                            <a:latin typeface="Cambria Math" panose="02040503050406030204" pitchFamily="18" charset="0"/>
                          </a:rPr>
                          <m:t>𝜆</m:t>
                        </m:r>
                      </m:e>
                    </m:d>
                  </m:oMath>
                </a14:m>
                <a:r>
                  <a:rPr lang="en-ZA" b="0" dirty="0"/>
                  <a:t> </a:t>
                </a:r>
                <a:r>
                  <a:rPr lang="en-ZA" dirty="0"/>
                  <a:t>and then map this representation to the native gates supported by the quantum hardware.</a:t>
                </a:r>
                <a:endParaRPr lang="en-ZA" b="0"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Kolo </a:t>
                </a:r>
                <a:r>
                  <a:rPr lang="en-US" sz="1200" dirty="0" err="1"/>
                  <a:t>kvadratnog</a:t>
                </a:r>
                <a:r>
                  <a:rPr lang="en-US" sz="1200" dirty="0"/>
                  <a:t> </a:t>
                </a:r>
                <a:r>
                  <a:rPr lang="en-US" sz="1200" dirty="0" err="1"/>
                  <a:t>korena</a:t>
                </a:r>
                <a:r>
                  <a:rPr lang="en-US" sz="1200" dirty="0"/>
                  <a:t> X </a:t>
                </a:r>
                <a:r>
                  <a:rPr lang="sr-Latn-RS" sz="1200" dirty="0"/>
                  <a:t>rotira vektor oko </a:t>
                </a:r>
                <a:r>
                  <a:rPr lang="sr-Latn-RS" sz="1200" i="0">
                    <a:latin typeface="Cambria Math" panose="02040503050406030204" pitchFamily="18" charset="0"/>
                  </a:rPr>
                  <a:t> 𝑥</a:t>
                </a:r>
                <a:r>
                  <a:rPr lang="sr-Latn-RS" sz="1200" dirty="0"/>
                  <a:t>-ose za ugao</a:t>
                </a:r>
                <a:r>
                  <a:rPr lang="sr-Latn-RS" sz="1200" baseline="0" dirty="0"/>
                  <a:t> </a:t>
                </a:r>
                <a:r>
                  <a:rPr lang="el-GR" sz="1200" baseline="0" dirty="0"/>
                  <a:t>π</a:t>
                </a:r>
                <a:r>
                  <a:rPr lang="sr-Latn-RS" sz="1200" baseline="0" dirty="0"/>
                  <a:t>/2, dok X† rotira vektor za -</a:t>
                </a:r>
                <a:r>
                  <a:rPr lang="el-GR" sz="1200" baseline="0" dirty="0"/>
                  <a:t>π</a:t>
                </a:r>
                <a:r>
                  <a:rPr lang="sr-Latn-RS" sz="1200" baseline="0" dirty="0"/>
                  <a:t>/2. Oba kola pomnožena sa samim sobom daju X elementarno kolo.</a:t>
                </a:r>
                <a:endParaRPr lang="en-US" sz="1200" kern="1200" dirty="0">
                  <a:solidFill>
                    <a:schemeClr val="tx1"/>
                  </a:solidFill>
                  <a:latin typeface="+mn-lt"/>
                  <a:ea typeface="+mn-ea"/>
                  <a:cs typeface="+mn-cs"/>
                </a:endParaRPr>
              </a:p>
              <a:p>
                <a:endParaRPr lang="en-US" sz="1200"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28</a:t>
            </a:fld>
            <a:endParaRPr lang="en-US"/>
          </a:p>
        </p:txBody>
      </p:sp>
    </p:spTree>
    <p:extLst>
      <p:ext uri="{BB962C8B-B14F-4D97-AF65-F5344CB8AC3E}">
        <p14:creationId xmlns:p14="http://schemas.microsoft.com/office/powerpoint/2010/main" val="193244596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dirty="0"/>
                  <a:t>Measuring, or reading, a qubit is performed using a measurement operation, often represented by a measurement-gate symbol. This operation is irreversible: once a qubit is measured, its state collapses to a basis state, and the original superposition cannot be recovered.</a:t>
                </a:r>
              </a:p>
              <a:p>
                <a:pPr algn="just"/>
                <a:endParaRPr lang="en-ZA" dirty="0"/>
              </a:p>
              <a:p>
                <a:pPr algn="just"/>
                <a:r>
                  <a:rPr lang="en-ZA" dirty="0"/>
                  <a:t>In quantum computing, measurement is typically performed in the </a:t>
                </a:r>
                <a:r>
                  <a:rPr lang="en-ZA" b="1" dirty="0"/>
                  <a:t>computational (standard) basis</a:t>
                </a:r>
                <a:r>
                  <a:rPr lang="en-ZA" dirty="0"/>
                  <a:t>, {∣0⟩, ∣1⟩}. and is called </a:t>
                </a:r>
                <a:r>
                  <a:rPr lang="en-ZA" b="1" dirty="0"/>
                  <a:t>standard measurement</a:t>
                </a:r>
                <a:r>
                  <a:rPr lang="en-ZA" dirty="0"/>
                  <a:t>. The possible measurement outcomes are the classical bits 0 and 1, leaving the measured qubit in the corresponding state ∣0⟩ or ∣1⟩.</a:t>
                </a:r>
              </a:p>
              <a:p>
                <a:pPr algn="just"/>
                <a:endParaRPr lang="en-ZA" dirty="0"/>
              </a:p>
              <a:p>
                <a:pPr marL="228600" indent="-228600" algn="just">
                  <a:buFont typeface="+mj-lt"/>
                  <a:buAutoNum type="arabicPeriod"/>
                </a:pPr>
                <a:r>
                  <a:rPr lang="en-ZA" dirty="0"/>
                  <a:t>If the qubit is in state ∣0⟩, measurement always produces bit 0, and the qubit remains in ∣0⟩.</a:t>
                </a:r>
              </a:p>
              <a:p>
                <a:pPr marL="228600" indent="-228600" algn="just">
                  <a:buFont typeface="+mj-lt"/>
                  <a:buAutoNum type="arabicPeriod"/>
                </a:pPr>
                <a:r>
                  <a:rPr lang="en-ZA" dirty="0"/>
                  <a:t>If the qubit is in state ∣1⟩, measurement always produces bit 1, and the qubit remains in ∣1⟩.</a:t>
                </a:r>
              </a:p>
              <a:p>
                <a:pPr marL="228600" indent="-228600" algn="just">
                  <a:buFont typeface="+mj-lt"/>
                  <a:buAutoNum type="arabicPeriod"/>
                </a:pPr>
                <a:r>
                  <a:rPr lang="en-ZA" dirty="0"/>
                  <a:t>If the qubit is in a superposition of ∣0⟩ and ∣1⟩, the measurement outcome is random, with probabilities determined by </a:t>
                </a:r>
                <a:r>
                  <a:rPr lang="en-ZA" dirty="0" err="1"/>
                  <a:t>Born’s</a:t>
                </a:r>
                <a:r>
                  <a:rPr lang="en-ZA" dirty="0"/>
                  <a:t> rule. After measurement, the qubit is in ∣0⟩ or ∣1⟩, corresponding to the measured classical bit.</a:t>
                </a:r>
              </a:p>
              <a:p>
                <a:pPr marL="228600" indent="-228600" algn="just">
                  <a:buFont typeface="+mj-lt"/>
                  <a:buAutoNum type="arabicPeriod"/>
                </a:pPr>
                <a:endParaRPr lang="en-ZA" dirty="0"/>
              </a:p>
              <a:p>
                <a:pPr algn="just"/>
                <a:r>
                  <a:rPr lang="en-ZA" dirty="0"/>
                  <a:t>Measurement therefore marks the transition from a quantum state to a definite classical measurement outcome.</a:t>
                </a:r>
              </a:p>
            </p:txBody>
          </p:sp>
        </mc:Choice>
        <mc:Fallback xmlns="">
          <p:sp>
            <p:nvSpPr>
              <p:cNvPr id="3" name="Notes Placeholder 2"/>
              <p:cNvSpPr>
                <a:spLocks noGrp="1"/>
              </p:cNvSpPr>
              <p:nvPr>
                <p:ph type="body" idx="1"/>
              </p:nvPr>
            </p:nvSpPr>
            <p:spPr/>
            <p:txBody>
              <a:bodyPr/>
              <a:lstStyle/>
              <a:p>
                <a:pPr marL="0" indent="0">
                  <a:buFont typeface="Arial" panose="020B0604020202020204" pitchFamily="34" charset="0"/>
                  <a:buNone/>
                </a:pPr>
                <a:r>
                  <a:rPr lang="en-US" sz="2000" dirty="0"/>
                  <a:t>Measurement gate measure a qubit state and returns a classical bit as a result. </a:t>
                </a:r>
              </a:p>
              <a:p>
                <a:pPr marL="457200" indent="-457200">
                  <a:buFont typeface="+mj-lt"/>
                  <a:buAutoNum type="arabicPeriod"/>
                </a:pPr>
                <a:r>
                  <a:rPr lang="en-US" sz="2000" dirty="0"/>
                  <a:t>If qubit </a:t>
                </a:r>
                <a:r>
                  <a:rPr lang="en-US" sz="2000" i="0">
                    <a:latin typeface="Cambria Math" panose="02040503050406030204" pitchFamily="18" charset="0"/>
                    <a:ea typeface="Cambria Math" panose="02040503050406030204" pitchFamily="18" charset="0"/>
                  </a:rPr>
                  <a:t>|0⟩</a:t>
                </a:r>
                <a:r>
                  <a:rPr lang="en-US" sz="2000" dirty="0"/>
                  <a:t> comes to the gate the qubit stays in this state and instrument outputs</a:t>
                </a:r>
                <a:r>
                  <a:rPr lang="en-US" sz="2000" baseline="0" dirty="0"/>
                  <a:t> bit 0.</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000" dirty="0"/>
                  <a:t>If qubit </a:t>
                </a:r>
                <a:r>
                  <a:rPr lang="en-US" sz="2000" i="0">
                    <a:latin typeface="Cambria Math" panose="02040503050406030204" pitchFamily="18" charset="0"/>
                    <a:ea typeface="Cambria Math" panose="02040503050406030204" pitchFamily="18" charset="0"/>
                  </a:rPr>
                  <a:t>|</a:t>
                </a:r>
                <a:r>
                  <a:rPr lang="en-US" sz="2000" b="0" i="0">
                    <a:latin typeface="Cambria Math" panose="02040503050406030204" pitchFamily="18" charset="0"/>
                    <a:ea typeface="Cambria Math" panose="02040503050406030204" pitchFamily="18" charset="0"/>
                  </a:rPr>
                  <a:t>1⟩</a:t>
                </a:r>
                <a:r>
                  <a:rPr lang="en-US" sz="2000" dirty="0"/>
                  <a:t> comes to the gate the qubit stays in this state and instrument outputs</a:t>
                </a:r>
                <a:r>
                  <a:rPr lang="en-US" sz="2000" baseline="0" dirty="0"/>
                  <a:t> bit 1.</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000" dirty="0"/>
                  <a:t>If qubit </a:t>
                </a:r>
                <a:r>
                  <a:rPr lang="en-US" sz="2000" i="0">
                    <a:latin typeface="Cambria Math" panose="02040503050406030204" pitchFamily="18" charset="0"/>
                    <a:ea typeface="Cambria Math" panose="02040503050406030204" pitchFamily="18" charset="0"/>
                  </a:rPr>
                  <a:t>|0⟩</a:t>
                </a:r>
                <a:r>
                  <a:rPr lang="en-US" sz="2000" dirty="0"/>
                  <a:t> comes to the gate the qubit stays in this state and instrument outputs</a:t>
                </a:r>
                <a:r>
                  <a:rPr lang="en-US" sz="2000" baseline="0" dirty="0"/>
                  <a:t> bit 1.</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000" dirty="0"/>
                  <a:t>For a qubit is in perfect superposition, according to the measurement rule, the probability of getting 0 or 1 is 50/50%. In other words, the measurement will return a random bit and leave the qubit in a state consistent with the measurement.</a:t>
                </a: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29</a:t>
            </a:fld>
            <a:endParaRPr lang="en-US"/>
          </a:p>
        </p:txBody>
      </p:sp>
    </p:spTree>
    <p:extLst>
      <p:ext uri="{BB962C8B-B14F-4D97-AF65-F5344CB8AC3E}">
        <p14:creationId xmlns:p14="http://schemas.microsoft.com/office/powerpoint/2010/main" val="108470039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b="0" dirty="0" err="1"/>
              <a:t>OpenQASM</a:t>
            </a:r>
            <a:r>
              <a:rPr lang="en-ZA" b="0" dirty="0"/>
              <a:t> allows programmers to define custom quantum gates using the gate statement. The syntax is similar to a function definition in a high-level programming language, with parameters and qubit arguments.</a:t>
            </a:r>
          </a:p>
          <a:p>
            <a:endParaRPr lang="en-ZA" b="0" dirty="0"/>
          </a:p>
          <a:p>
            <a:pPr algn="ctr"/>
            <a:r>
              <a:rPr lang="en-ZA" sz="1200" dirty="0">
                <a:latin typeface="Menlo" panose="020B0609030804020204" pitchFamily="49" charset="0"/>
                <a:ea typeface="Menlo" panose="020B0609030804020204" pitchFamily="49" charset="0"/>
                <a:cs typeface="Menlo" panose="020B0609030804020204" pitchFamily="49" charset="0"/>
              </a:rPr>
              <a:t>gate name(</a:t>
            </a:r>
            <a:r>
              <a:rPr lang="en-ZA" sz="1200" dirty="0" err="1">
                <a:latin typeface="Menlo" panose="020B0609030804020204" pitchFamily="49" charset="0"/>
                <a:ea typeface="Menlo" panose="020B0609030804020204" pitchFamily="49" charset="0"/>
                <a:cs typeface="Menlo" panose="020B0609030804020204" pitchFamily="49" charset="0"/>
              </a:rPr>
              <a:t>param</a:t>
            </a:r>
            <a:r>
              <a:rPr lang="en-ZA" sz="1200" dirty="0">
                <a:latin typeface="Menlo" panose="020B0609030804020204" pitchFamily="49" charset="0"/>
                <a:ea typeface="Menlo" panose="020B0609030804020204" pitchFamily="49" charset="0"/>
                <a:cs typeface="Menlo" panose="020B0609030804020204" pitchFamily="49" charset="0"/>
              </a:rPr>
              <a:t>) </a:t>
            </a:r>
            <a:r>
              <a:rPr lang="en-ZA" sz="1200" dirty="0" err="1">
                <a:latin typeface="Menlo" panose="020B0609030804020204" pitchFamily="49" charset="0"/>
                <a:ea typeface="Menlo" panose="020B0609030804020204" pitchFamily="49" charset="0"/>
                <a:cs typeface="Menlo" panose="020B0609030804020204" pitchFamily="49" charset="0"/>
              </a:rPr>
              <a:t>qarg</a:t>
            </a:r>
            <a:r>
              <a:rPr lang="en-ZA" sz="1200" dirty="0">
                <a:latin typeface="Menlo" panose="020B0609030804020204" pitchFamily="49" charset="0"/>
                <a:ea typeface="Menlo" panose="020B0609030804020204" pitchFamily="49" charset="0"/>
                <a:cs typeface="Menlo" panose="020B0609030804020204" pitchFamily="49" charset="0"/>
              </a:rPr>
              <a:t> { ... }</a:t>
            </a:r>
            <a:endParaRPr lang="en-ZA" sz="1200" b="0" dirty="0">
              <a:latin typeface="Menlo" panose="020B0609030804020204" pitchFamily="49" charset="0"/>
              <a:ea typeface="Menlo" panose="020B0609030804020204" pitchFamily="49" charset="0"/>
              <a:cs typeface="Menlo" panose="020B0609030804020204" pitchFamily="49" charset="0"/>
            </a:endParaRPr>
          </a:p>
          <a:p>
            <a:r>
              <a:rPr lang="en-ZA" b="0" dirty="0"/>
              <a:t>name – Specifies the name of the custom gate. </a:t>
            </a:r>
          </a:p>
          <a:p>
            <a:r>
              <a:rPr lang="en-ZA" b="0" dirty="0" err="1"/>
              <a:t>param</a:t>
            </a:r>
            <a:r>
              <a:rPr lang="en-ZA" b="0" dirty="0"/>
              <a:t> – Specifies an optional list of parameters, such as rotation angles. </a:t>
            </a:r>
          </a:p>
          <a:p>
            <a:r>
              <a:rPr lang="en-ZA" b="0" dirty="0" err="1"/>
              <a:t>qarg</a:t>
            </a:r>
            <a:r>
              <a:rPr lang="en-ZA" b="0" dirty="0"/>
              <a:t> – Specifies one or more qubit arguments on which the gate operates. </a:t>
            </a:r>
          </a:p>
          <a:p>
            <a:endParaRPr lang="en-ZA" b="0" dirty="0"/>
          </a:p>
          <a:p>
            <a:r>
              <a:rPr lang="en-ZA" b="0" dirty="0"/>
              <a:t>This feature enables modular and reusable gate definitions, making quantum circuits easier to structure and understand.</a:t>
            </a:r>
          </a:p>
          <a:p>
            <a:pPr algn="just"/>
            <a:endParaRPr lang="en-ZA" b="0" dirty="0"/>
          </a:p>
        </p:txBody>
      </p:sp>
      <p:sp>
        <p:nvSpPr>
          <p:cNvPr id="4" name="Slide Number Placeholder 3"/>
          <p:cNvSpPr>
            <a:spLocks noGrp="1"/>
          </p:cNvSpPr>
          <p:nvPr>
            <p:ph type="sldNum" sz="quarter" idx="5"/>
          </p:nvPr>
        </p:nvSpPr>
        <p:spPr/>
        <p:txBody>
          <a:bodyPr/>
          <a:lstStyle/>
          <a:p>
            <a:fld id="{1B2CE5E3-B8BD-D040-AC87-D640191DD8F1}" type="slidenum">
              <a:rPr lang="en-US" smtClean="0"/>
              <a:t>30</a:t>
            </a:fld>
            <a:endParaRPr lang="en-US"/>
          </a:p>
        </p:txBody>
      </p:sp>
    </p:spTree>
    <p:extLst>
      <p:ext uri="{BB962C8B-B14F-4D97-AF65-F5344CB8AC3E}">
        <p14:creationId xmlns:p14="http://schemas.microsoft.com/office/powerpoint/2010/main" val="201169708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dirty="0"/>
              <a:t>In a superconducting quantum processor, precisely shaped microwave pulses are sent to the resonators that control the qubits.</a:t>
            </a:r>
            <a:r>
              <a:rPr lang="en-ZA" b="0" dirty="0"/>
              <a:t> Microwave resonators are also used to read the qubit states and, in some architectures, to help qubits interact and become entangled. In the figure, green resonators are used for qubit control, while blue resonators are used for qubit readout.</a:t>
            </a:r>
          </a:p>
          <a:p>
            <a:pPr algn="just"/>
            <a:endParaRPr lang="en-ZA" b="0" dirty="0"/>
          </a:p>
          <a:p>
            <a:pPr algn="just"/>
            <a:r>
              <a:rPr lang="en-ZA" b="0" dirty="0"/>
              <a:t>The control electronics generate microwave pulses with specific frequency, amplitude, phase, and duration. By adjusting these properties, different quantum operations can be performed on the qubits. Some operations, such as Z-axis rotations, can be implemented virtually without sending an additional microwave pulse.</a:t>
            </a:r>
          </a:p>
          <a:p>
            <a:pPr algn="just"/>
            <a:endParaRPr lang="en-ZA" b="0" dirty="0"/>
          </a:p>
          <a:p>
            <a:pPr algn="just"/>
            <a:r>
              <a:rPr lang="en-ZA" b="0" dirty="0"/>
              <a:t>A readout resonator is used to measure the state of a qubit. A weak microwave signal is sent to the resonator, and its response depends on the qubit state. By </a:t>
            </a:r>
            <a:r>
              <a:rPr lang="en-ZA" b="0" dirty="0" err="1"/>
              <a:t>analyzing</a:t>
            </a:r>
            <a:r>
              <a:rPr lang="en-ZA" b="0" dirty="0"/>
              <a:t> the returned signal, the system determines whether the measured qubit is in state ∣0⟩ or ∣1⟩. The measurement is designed to be quantum non-demolition (QND), meaning that after measurement the qubit ideally remains in the measured state. For example, if the result is 0, the qubit remains in state ∣0⟩, so an immediate second measurement should give the same result.</a:t>
            </a:r>
          </a:p>
        </p:txBody>
      </p:sp>
      <p:sp>
        <p:nvSpPr>
          <p:cNvPr id="4" name="Slide Number Placeholder 3"/>
          <p:cNvSpPr>
            <a:spLocks noGrp="1"/>
          </p:cNvSpPr>
          <p:nvPr>
            <p:ph type="sldNum" sz="quarter" idx="5"/>
          </p:nvPr>
        </p:nvSpPr>
        <p:spPr/>
        <p:txBody>
          <a:bodyPr/>
          <a:lstStyle/>
          <a:p>
            <a:fld id="{1B2CE5E3-B8BD-D040-AC87-D640191DD8F1}" type="slidenum">
              <a:rPr lang="en-US" smtClean="0"/>
              <a:t>31</a:t>
            </a:fld>
            <a:endParaRPr lang="en-US"/>
          </a:p>
        </p:txBody>
      </p:sp>
    </p:spTree>
    <p:extLst>
      <p:ext uri="{BB962C8B-B14F-4D97-AF65-F5344CB8AC3E}">
        <p14:creationId xmlns:p14="http://schemas.microsoft.com/office/powerpoint/2010/main" val="275632205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B2CE5E3-B8BD-D040-AC87-D640191DD8F1}" type="slidenum">
              <a:rPr lang="en-US" smtClean="0"/>
              <a:t>32</a:t>
            </a:fld>
            <a:endParaRPr lang="en-US"/>
          </a:p>
        </p:txBody>
      </p:sp>
    </p:spTree>
    <p:extLst>
      <p:ext uri="{BB962C8B-B14F-4D97-AF65-F5344CB8AC3E}">
        <p14:creationId xmlns:p14="http://schemas.microsoft.com/office/powerpoint/2010/main" val="344319245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lgn="just">
              <a:buFont typeface="Arial" panose="020B0604020202020204" pitchFamily="34" charset="0"/>
              <a:buChar char="•"/>
            </a:pPr>
            <a:r>
              <a:rPr lang="en-ZA" b="0" dirty="0"/>
              <a:t>A unitary gate can be extended to a </a:t>
            </a:r>
            <a:r>
              <a:rPr lang="en-ZA" b="1" dirty="0"/>
              <a:t>controlled gate</a:t>
            </a:r>
            <a:r>
              <a:rPr lang="en-ZA" b="0" dirty="0"/>
              <a:t> by adding one or more control qubits. </a:t>
            </a:r>
            <a:r>
              <a:rPr lang="en-ZA" dirty="0"/>
              <a:t>By convention, a control qubit is labelled </a:t>
            </a:r>
            <a:r>
              <a:rPr lang="en-ZA" b="1" dirty="0"/>
              <a:t>c</a:t>
            </a:r>
            <a:r>
              <a:rPr lang="en-ZA" dirty="0"/>
              <a:t>, and a target qubit, on which the gate acts, is labelled </a:t>
            </a:r>
            <a:r>
              <a:rPr lang="en-ZA" b="1" dirty="0"/>
              <a:t>t</a:t>
            </a:r>
            <a:r>
              <a:rPr lang="en-ZA" dirty="0"/>
              <a:t>.</a:t>
            </a:r>
            <a:endParaRPr lang="en-ZA" b="0" dirty="0"/>
          </a:p>
          <a:p>
            <a:pPr algn="just"/>
            <a:endParaRPr lang="en-ZA" b="0" dirty="0"/>
          </a:p>
          <a:p>
            <a:pPr marL="171450" indent="-171450" algn="just">
              <a:buFont typeface="Arial" panose="020B0604020202020204" pitchFamily="34" charset="0"/>
              <a:buChar char="•"/>
            </a:pPr>
            <a:r>
              <a:rPr lang="en-ZA" b="0" dirty="0"/>
              <a:t>A controlled gate can be thought of as the quantum equivalent of an if statement:</a:t>
            </a:r>
          </a:p>
          <a:p>
            <a:pPr algn="ctr"/>
            <a:r>
              <a:rPr lang="en-ZA" b="0" dirty="0"/>
              <a:t>IF the control condition is satisfied, THEN apply the gate to the target qubit(s).</a:t>
            </a:r>
          </a:p>
          <a:p>
            <a:pPr algn="just"/>
            <a:endParaRPr lang="en-ZA" b="0" dirty="0"/>
          </a:p>
          <a:p>
            <a:pPr marL="171450" indent="-171450" algn="just">
              <a:buFont typeface="Arial" panose="020B0604020202020204" pitchFamily="34" charset="0"/>
              <a:buChar char="•"/>
            </a:pPr>
            <a:r>
              <a:rPr lang="en-ZA" b="0" dirty="0"/>
              <a:t>The control condition for a single control qubit can be defined as state ∣1⟩, indicated by a black circle (●), or state ∣0⟩, indicated by a white circle (○). For example, if all controls are indicated by black circles, the gate is applied only when all control qubits are in state ∣1⟩.</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ZA" b="0" dirty="0"/>
          </a:p>
        </p:txBody>
      </p:sp>
      <p:sp>
        <p:nvSpPr>
          <p:cNvPr id="4" name="Slide Number Placeholder 3"/>
          <p:cNvSpPr>
            <a:spLocks noGrp="1"/>
          </p:cNvSpPr>
          <p:nvPr>
            <p:ph type="sldNum" sz="quarter" idx="5"/>
          </p:nvPr>
        </p:nvSpPr>
        <p:spPr/>
        <p:txBody>
          <a:bodyPr/>
          <a:lstStyle/>
          <a:p>
            <a:fld id="{1B2CE5E3-B8BD-D040-AC87-D640191DD8F1}" type="slidenum">
              <a:rPr lang="en-US" smtClean="0"/>
              <a:t>33</a:t>
            </a:fld>
            <a:endParaRPr lang="en-US"/>
          </a:p>
        </p:txBody>
      </p:sp>
    </p:spTree>
    <p:extLst>
      <p:ext uri="{BB962C8B-B14F-4D97-AF65-F5344CB8AC3E}">
        <p14:creationId xmlns:p14="http://schemas.microsoft.com/office/powerpoint/2010/main" val="269929290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dirty="0"/>
                  <a:t>The transformation matrix for a controlled operator can be derived using an arbitrary single-qubit gate G. The gate G acts on the target qubit t only when the control qubit c is in the state ∣1⟩.</a:t>
                </a:r>
              </a:p>
              <a:p>
                <a:pPr algn="just"/>
                <a:endParaRPr lang="en-ZA" b="0" dirty="0"/>
              </a:p>
              <a:p>
                <a:pPr marL="228600" indent="-228600" algn="just">
                  <a:buFont typeface="+mj-lt"/>
                  <a:buAutoNum type="arabicPeriod"/>
                </a:pPr>
                <a:r>
                  <a:rPr lang="en-ZA" dirty="0"/>
                  <a:t>The slide shows the transformation of the four basis states in Dirac notation, with the first qubit as the control and the second as the target:</a:t>
                </a:r>
              </a:p>
              <a:p>
                <a:pPr algn="just"/>
                <a:endParaRPr lang="en-ZA" dirty="0"/>
              </a:p>
              <a:p>
                <a:pPr marL="628650" lvl="1" indent="-171450">
                  <a:buFont typeface="Arial" panose="020B0604020202020204" pitchFamily="34" charset="0"/>
                  <a:buChar char="•"/>
                </a:pPr>
                <a:r>
                  <a:rPr lang="en-ZA" b="0" dirty="0"/>
                  <a:t>For ∣00⟩: the control is ∣0⟩, so the state </a:t>
                </a:r>
                <a:r>
                  <a:rPr lang="en-ZA" dirty="0"/>
                  <a:t>remains</a:t>
                </a:r>
                <a:r>
                  <a:rPr lang="en-ZA" b="0" dirty="0"/>
                  <a:t> ∣00⟩.</a:t>
                </a:r>
              </a:p>
              <a:p>
                <a:pPr marL="628650" lvl="1" indent="-171450">
                  <a:buFont typeface="Arial" panose="020B0604020202020204" pitchFamily="34" charset="0"/>
                  <a:buChar char="•"/>
                </a:pPr>
                <a:r>
                  <a:rPr lang="en-ZA" b="0" dirty="0"/>
                  <a:t>For ∣01⟩: the control is ∣0⟩, so the state </a:t>
                </a:r>
                <a:r>
                  <a:rPr lang="en-ZA" dirty="0"/>
                  <a:t>remains</a:t>
                </a:r>
                <a:r>
                  <a:rPr lang="en-ZA" b="0" dirty="0"/>
                  <a:t> ∣01⟩.</a:t>
                </a:r>
              </a:p>
              <a:p>
                <a:pPr marL="628650" lvl="1" indent="-171450">
                  <a:buFont typeface="Arial" panose="020B0604020202020204" pitchFamily="34" charset="0"/>
                  <a:buChar char="•"/>
                </a:pPr>
                <a:r>
                  <a:rPr lang="en-ZA" b="0" dirty="0"/>
                  <a:t>For ∣10⟩: the control is ∣1⟩, so </a:t>
                </a:r>
                <a:r>
                  <a:rPr lang="en-ZA" dirty="0"/>
                  <a:t>G is applied to the target </a:t>
                </a:r>
                <a:r>
                  <a:rPr lang="en-ZA" b="0" dirty="0"/>
                  <a:t>∣0⟩, giving ∣1⟩⊗G∣0⟩.</a:t>
                </a:r>
              </a:p>
              <a:p>
                <a:pPr marL="628650" lvl="1" indent="-171450">
                  <a:buFont typeface="Arial" panose="020B0604020202020204" pitchFamily="34" charset="0"/>
                  <a:buChar char="•"/>
                </a:pPr>
                <a:r>
                  <a:rPr lang="en-ZA" b="0" dirty="0"/>
                  <a:t>For ∣11⟩: the control is ∣1⟩, so G </a:t>
                </a:r>
                <a:r>
                  <a:rPr lang="en-ZA" dirty="0"/>
                  <a:t>is applied to the target </a:t>
                </a:r>
                <a:r>
                  <a:rPr lang="en-ZA" b="0" dirty="0"/>
                  <a:t>∣1⟩, giving ∣1⟩⊗G∣1⟩.</a:t>
                </a:r>
              </a:p>
              <a:p>
                <a:pPr lvl="1" algn="just"/>
                <a:endParaRPr lang="en-ZA" b="0" dirty="0"/>
              </a:p>
              <a:p>
                <a:pPr marL="228600" indent="-228600" algn="just">
                  <a:buFont typeface="+mj-lt"/>
                  <a:buAutoNum type="arabicPeriod" startAt="2"/>
                </a:pPr>
                <a:r>
                  <a:rPr lang="en-ZA" dirty="0"/>
                  <a:t>After writing these outputs in matrix form and carrying out the multiplications, we obtain the corresponding output vectors.</a:t>
                </a:r>
              </a:p>
              <a:p>
                <a:pPr marL="228600" indent="-228600" algn="just">
                  <a:buFont typeface="+mj-lt"/>
                  <a:buAutoNum type="arabicPeriod" startAt="2"/>
                </a:pPr>
                <a:endParaRPr lang="en-ZA" dirty="0"/>
              </a:p>
              <a:p>
                <a:pPr marL="228600" indent="-228600" algn="just">
                  <a:buFont typeface="+mj-lt"/>
                  <a:buAutoNum type="arabicPeriod" startAt="2"/>
                </a:pPr>
                <a:r>
                  <a:rPr lang="en-ZA" dirty="0"/>
                  <a:t>Placing these column vectors side by side gives the matrix of the two-qubit controlled operator.</a:t>
                </a:r>
              </a:p>
              <a:p>
                <a:pPr marL="228600" indent="-228600" algn="just">
                  <a:buFont typeface="+mj-lt"/>
                  <a:buAutoNum type="arabicPeriod" startAt="2"/>
                </a:pPr>
                <a:endParaRPr lang="en-ZA" dirty="0"/>
              </a:p>
              <a:p>
                <a:pPr marL="228600" indent="-228600" algn="just">
                  <a:buFont typeface="+mj-lt"/>
                  <a:buAutoNum type="arabicPeriod" startAt="2"/>
                </a:pPr>
                <a:r>
                  <a:rPr lang="en-ZA" dirty="0"/>
                  <a:t>The resulting matrix has a block-diagonal form: the upper block is the identity matrix </a:t>
                </a:r>
                <a14:m>
                  <m:oMath xmlns:m="http://schemas.openxmlformats.org/officeDocument/2006/math">
                    <m:r>
                      <a:rPr lang="en-US" sz="1200" b="0" i="1" smtClean="0">
                        <a:latin typeface="Cambria Math" panose="02040503050406030204" pitchFamily="18" charset="0"/>
                      </a:rPr>
                      <m:t>𝐼</m:t>
                    </m:r>
                  </m:oMath>
                </a14:m>
                <a:r>
                  <a:rPr lang="en-ZA" dirty="0"/>
                  <a:t>, and the lower block is the gate matrix </a:t>
                </a:r>
                <a14:m>
                  <m:oMath xmlns:m="http://schemas.openxmlformats.org/officeDocument/2006/math">
                    <m:r>
                      <a:rPr lang="en-US" sz="1200" b="0" i="1" smtClean="0">
                        <a:latin typeface="Cambria Math" panose="02040503050406030204" pitchFamily="18" charset="0"/>
                      </a:rPr>
                      <m:t>𝐺</m:t>
                    </m:r>
                  </m:oMath>
                </a14:m>
                <a:r>
                  <a:rPr lang="en-ZA" dirty="0"/>
                  <a:t>.</a:t>
                </a:r>
              </a:p>
              <a:p>
                <a:pPr marL="228600" indent="-228600" algn="just">
                  <a:buFont typeface="+mj-lt"/>
                  <a:buAutoNum type="arabicPeriod" startAt="2"/>
                </a:pPr>
                <a:endParaRPr lang="en-ZA" b="0" dirty="0"/>
              </a:p>
              <a:p>
                <a:pPr algn="just"/>
                <a:r>
                  <a:rPr lang="en-ZA" dirty="0"/>
                  <a:t>To obtain a controlled version of a particular gate, simply replace G with the corresponding single-qubit operator, such as X, Y, or Z. A leading C commonly denotes the controlled version, giving, for example, CX, CY, or CZ.</a:t>
                </a:r>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kern="1200" dirty="0">
                    <a:solidFill>
                      <a:schemeClr val="tx1"/>
                    </a:solidFill>
                    <a:effectLst/>
                    <a:latin typeface="+mn-lt"/>
                    <a:ea typeface="+mn-ea"/>
                    <a:cs typeface="+mn-cs"/>
                  </a:rPr>
                  <a:t>Upotrebom </a:t>
                </a:r>
                <a:r>
                  <a:rPr lang="en-US" sz="2000" kern="1200" dirty="0" err="1">
                    <a:solidFill>
                      <a:schemeClr val="tx1"/>
                    </a:solidFill>
                    <a:effectLst/>
                    <a:latin typeface="+mn-lt"/>
                    <a:ea typeface="+mn-ea"/>
                    <a:cs typeface="+mn-cs"/>
                  </a:rPr>
                  <a:t>kontrolnog</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modifikatora</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moguće</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je</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konstruisati</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najrazličitija</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kontrolisana</a:t>
                </a:r>
                <a:r>
                  <a:rPr lang="en-US" sz="2000" kern="1200" dirty="0">
                    <a:solidFill>
                      <a:schemeClr val="tx1"/>
                    </a:solidFill>
                    <a:effectLst/>
                    <a:latin typeface="+mn-lt"/>
                    <a:ea typeface="+mn-ea"/>
                    <a:cs typeface="+mn-cs"/>
                  </a:rPr>
                  <a:t> kola. </a:t>
                </a:r>
                <a:r>
                  <a:rPr lang="en-US" sz="2000" kern="1200" dirty="0" err="1">
                    <a:solidFill>
                      <a:schemeClr val="tx1"/>
                    </a:solidFill>
                    <a:effectLst/>
                    <a:latin typeface="+mn-lt"/>
                    <a:ea typeface="+mn-ea"/>
                    <a:cs typeface="+mn-cs"/>
                  </a:rPr>
                  <a:t>Grafički</a:t>
                </a:r>
                <a:r>
                  <a:rPr lang="en-US" sz="2000" kern="1200" dirty="0">
                    <a:solidFill>
                      <a:schemeClr val="tx1"/>
                    </a:solidFill>
                    <a:effectLst/>
                    <a:latin typeface="+mn-lt"/>
                    <a:ea typeface="+mn-ea"/>
                    <a:cs typeface="+mn-cs"/>
                  </a:rPr>
                  <a:t> symbol </a:t>
                </a:r>
                <a:r>
                  <a:rPr lang="en-US" sz="2000" kern="1200" dirty="0" err="1">
                    <a:solidFill>
                      <a:schemeClr val="tx1"/>
                    </a:solidFill>
                    <a:effectLst/>
                    <a:latin typeface="+mn-lt"/>
                    <a:ea typeface="+mn-ea"/>
                    <a:cs typeface="+mn-cs"/>
                  </a:rPr>
                  <a:t>modifikatora</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je</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kružić</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koji</a:t>
                </a:r>
                <a:r>
                  <a:rPr lang="en-US" sz="2000" kern="1200" dirty="0">
                    <a:solidFill>
                      <a:schemeClr val="tx1"/>
                    </a:solidFill>
                    <a:effectLst/>
                    <a:latin typeface="+mn-lt"/>
                    <a:ea typeface="+mn-ea"/>
                    <a:cs typeface="+mn-cs"/>
                  </a:rPr>
                  <a:t> se </a:t>
                </a:r>
                <a:r>
                  <a:rPr lang="en-US" sz="2000" kern="1200" dirty="0" err="1">
                    <a:solidFill>
                      <a:schemeClr val="tx1"/>
                    </a:solidFill>
                    <a:effectLst/>
                    <a:latin typeface="+mn-lt"/>
                    <a:ea typeface="+mn-ea"/>
                    <a:cs typeface="+mn-cs"/>
                  </a:rPr>
                  <a:t>povezuje</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sa</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elementarnim</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kolom</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pretvarajući</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ga</a:t>
                </a:r>
                <a:r>
                  <a:rPr lang="en-US" sz="2000" kern="1200" dirty="0">
                    <a:solidFill>
                      <a:schemeClr val="tx1"/>
                    </a:solidFill>
                    <a:effectLst/>
                    <a:latin typeface="+mn-lt"/>
                    <a:ea typeface="+mn-ea"/>
                    <a:cs typeface="+mn-cs"/>
                  </a:rPr>
                  <a:t> u </a:t>
                </a:r>
                <a:r>
                  <a:rPr lang="en-US" sz="2000" kern="1200" dirty="0" err="1">
                    <a:solidFill>
                      <a:schemeClr val="tx1"/>
                    </a:solidFill>
                    <a:effectLst/>
                    <a:latin typeface="+mn-lt"/>
                    <a:ea typeface="+mn-ea"/>
                    <a:cs typeface="+mn-cs"/>
                  </a:rPr>
                  <a:t>kontrolisano</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kolo</a:t>
                </a:r>
                <a:r>
                  <a:rPr lang="en-US" sz="2000" kern="1200" dirty="0">
                    <a:solidFill>
                      <a:schemeClr val="tx1"/>
                    </a:solidFill>
                    <a:effectLst/>
                    <a:latin typeface="+mn-lt"/>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000" kern="1200" dirty="0">
                    <a:solidFill>
                      <a:schemeClr val="tx1"/>
                    </a:solidFill>
                    <a:effectLst/>
                    <a:latin typeface="+mn-lt"/>
                    <a:ea typeface="+mn-ea"/>
                    <a:cs typeface="+mn-cs"/>
                  </a:rPr>
                  <a:t>Primer </a:t>
                </a:r>
                <a:r>
                  <a:rPr lang="en-US" sz="2000" kern="1200" dirty="0" err="1">
                    <a:solidFill>
                      <a:schemeClr val="tx1"/>
                    </a:solidFill>
                    <a:effectLst/>
                    <a:latin typeface="+mn-lt"/>
                    <a:ea typeface="+mn-ea"/>
                    <a:cs typeface="+mn-cs"/>
                  </a:rPr>
                  <a:t>sa</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slike</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prikazuje</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neko</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elementarno</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kolo</a:t>
                </a:r>
                <a:r>
                  <a:rPr lang="en-US" sz="2000" kern="1200" dirty="0">
                    <a:solidFill>
                      <a:schemeClr val="tx1"/>
                    </a:solidFill>
                    <a:effectLst/>
                    <a:latin typeface="+mn-lt"/>
                    <a:ea typeface="+mn-ea"/>
                    <a:cs typeface="+mn-cs"/>
                  </a:rPr>
                  <a:t> G </a:t>
                </a:r>
                <a:r>
                  <a:rPr lang="en-US" sz="2000" kern="1200" dirty="0" err="1">
                    <a:solidFill>
                      <a:schemeClr val="tx1"/>
                    </a:solidFill>
                    <a:effectLst/>
                    <a:latin typeface="+mn-lt"/>
                    <a:ea typeface="+mn-ea"/>
                    <a:cs typeface="+mn-cs"/>
                  </a:rPr>
                  <a:t>dato</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matricom</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sa</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nepoznatim</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parametrima</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Traži</a:t>
                </a:r>
                <a:r>
                  <a:rPr lang="en-US" sz="2000" kern="1200" baseline="0" dirty="0">
                    <a:solidFill>
                      <a:schemeClr val="tx1"/>
                    </a:solidFill>
                    <a:effectLst/>
                    <a:latin typeface="+mn-lt"/>
                    <a:ea typeface="+mn-ea"/>
                    <a:cs typeface="+mn-cs"/>
                  </a:rPr>
                  <a:t> se </a:t>
                </a:r>
                <a:r>
                  <a:rPr lang="en-US" sz="2000" kern="1200" baseline="0" dirty="0" err="1">
                    <a:solidFill>
                      <a:schemeClr val="tx1"/>
                    </a:solidFill>
                    <a:effectLst/>
                    <a:latin typeface="+mn-lt"/>
                    <a:ea typeface="+mn-ea"/>
                    <a:cs typeface="+mn-cs"/>
                  </a:rPr>
                  <a:t>matrica</a:t>
                </a:r>
                <a:r>
                  <a:rPr lang="en-US" sz="2000" kern="1200" baseline="0" dirty="0">
                    <a:solidFill>
                      <a:schemeClr val="tx1"/>
                    </a:solidFill>
                    <a:effectLst/>
                    <a:latin typeface="+mn-lt"/>
                    <a:ea typeface="+mn-ea"/>
                    <a:cs typeface="+mn-cs"/>
                  </a:rPr>
                  <a:t> </a:t>
                </a:r>
                <a:r>
                  <a:rPr lang="en-US" sz="2000" kern="1200" baseline="0" dirty="0" err="1">
                    <a:solidFill>
                      <a:schemeClr val="tx1"/>
                    </a:solidFill>
                    <a:effectLst/>
                    <a:latin typeface="+mn-lt"/>
                    <a:ea typeface="+mn-ea"/>
                    <a:cs typeface="+mn-cs"/>
                  </a:rPr>
                  <a:t>transformacije</a:t>
                </a:r>
                <a:r>
                  <a:rPr lang="en-US" sz="2000" kern="1200" baseline="0" dirty="0">
                    <a:solidFill>
                      <a:schemeClr val="tx1"/>
                    </a:solidFill>
                    <a:effectLst/>
                    <a:latin typeface="+mn-lt"/>
                    <a:ea typeface="+mn-ea"/>
                    <a:cs typeface="+mn-cs"/>
                  </a:rPr>
                  <a:t> </a:t>
                </a:r>
                <a:r>
                  <a:rPr lang="en-US" sz="2000" kern="1200" baseline="0" dirty="0" err="1">
                    <a:solidFill>
                      <a:schemeClr val="tx1"/>
                    </a:solidFill>
                    <a:effectLst/>
                    <a:latin typeface="+mn-lt"/>
                    <a:ea typeface="+mn-ea"/>
                    <a:cs typeface="+mn-cs"/>
                  </a:rPr>
                  <a:t>koje</a:t>
                </a:r>
                <a:r>
                  <a:rPr lang="en-US" sz="2000" kern="1200" baseline="0" dirty="0">
                    <a:solidFill>
                      <a:schemeClr val="tx1"/>
                    </a:solidFill>
                    <a:effectLst/>
                    <a:latin typeface="+mn-lt"/>
                    <a:ea typeface="+mn-ea"/>
                    <a:cs typeface="+mn-cs"/>
                  </a:rPr>
                  <a:t> </a:t>
                </a:r>
                <a:r>
                  <a:rPr lang="en-US" sz="2000" kern="1200" baseline="0" dirty="0" err="1">
                    <a:solidFill>
                      <a:schemeClr val="tx1"/>
                    </a:solidFill>
                    <a:effectLst/>
                    <a:latin typeface="+mn-lt"/>
                    <a:ea typeface="+mn-ea"/>
                    <a:cs typeface="+mn-cs"/>
                  </a:rPr>
                  <a:t>pretvara</a:t>
                </a:r>
                <a:r>
                  <a:rPr lang="en-US" sz="2000" kern="1200" baseline="0" dirty="0">
                    <a:solidFill>
                      <a:schemeClr val="tx1"/>
                    </a:solidFill>
                    <a:effectLst/>
                    <a:latin typeface="+mn-lt"/>
                    <a:ea typeface="+mn-ea"/>
                    <a:cs typeface="+mn-cs"/>
                  </a:rPr>
                  <a:t> </a:t>
                </a:r>
                <a:r>
                  <a:rPr lang="en-US" sz="2000" kern="1200" baseline="0" dirty="0" err="1">
                    <a:solidFill>
                      <a:schemeClr val="tx1"/>
                    </a:solidFill>
                    <a:effectLst/>
                    <a:latin typeface="+mn-lt"/>
                    <a:ea typeface="+mn-ea"/>
                    <a:cs typeface="+mn-cs"/>
                  </a:rPr>
                  <a:t>kolo</a:t>
                </a:r>
                <a:r>
                  <a:rPr lang="en-US" sz="2000" kern="1200" baseline="0" dirty="0">
                    <a:solidFill>
                      <a:schemeClr val="tx1"/>
                    </a:solidFill>
                    <a:effectLst/>
                    <a:latin typeface="+mn-lt"/>
                    <a:ea typeface="+mn-ea"/>
                    <a:cs typeface="+mn-cs"/>
                  </a:rPr>
                  <a:t> G</a:t>
                </a:r>
                <a:r>
                  <a:rPr lang="en-US" sz="2000" kern="1200" dirty="0">
                    <a:solidFill>
                      <a:schemeClr val="tx1"/>
                    </a:solidFill>
                    <a:effectLst/>
                    <a:latin typeface="+mn-lt"/>
                    <a:ea typeface="+mn-ea"/>
                    <a:cs typeface="+mn-cs"/>
                  </a:rPr>
                  <a:t> u </a:t>
                </a:r>
                <a:r>
                  <a:rPr lang="en-US" sz="2000" kern="1200" dirty="0" err="1">
                    <a:solidFill>
                      <a:schemeClr val="tx1"/>
                    </a:solidFill>
                    <a:effectLst/>
                    <a:latin typeface="+mn-lt"/>
                    <a:ea typeface="+mn-ea"/>
                    <a:cs typeface="+mn-cs"/>
                  </a:rPr>
                  <a:t>kontrolisano</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kolo</a:t>
                </a:r>
                <a:r>
                  <a:rPr lang="en-US" sz="2000" kern="1200" dirty="0">
                    <a:solidFill>
                      <a:schemeClr val="tx1"/>
                    </a:solidFill>
                    <a:effectLst/>
                    <a:latin typeface="+mn-lt"/>
                    <a:ea typeface="+mn-ea"/>
                    <a:cs typeface="+mn-cs"/>
                  </a:rPr>
                  <a:t>,</a:t>
                </a:r>
                <a:r>
                  <a:rPr lang="en-US" sz="2000" kern="1200" baseline="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gde</a:t>
                </a:r>
                <a:r>
                  <a:rPr lang="en-US" sz="2000" kern="1200" dirty="0">
                    <a:solidFill>
                      <a:schemeClr val="tx1"/>
                    </a:solidFill>
                    <a:effectLst/>
                    <a:latin typeface="+mn-lt"/>
                    <a:ea typeface="+mn-ea"/>
                    <a:cs typeface="+mn-cs"/>
                  </a:rPr>
                  <a:t> operator G </a:t>
                </a:r>
                <a:r>
                  <a:rPr lang="en-US" sz="2000" kern="1200" dirty="0" err="1">
                    <a:solidFill>
                      <a:schemeClr val="tx1"/>
                    </a:solidFill>
                    <a:effectLst/>
                    <a:latin typeface="+mn-lt"/>
                    <a:ea typeface="+mn-ea"/>
                    <a:cs typeface="+mn-cs"/>
                  </a:rPr>
                  <a:t>deluje</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na</a:t>
                </a:r>
                <a:r>
                  <a:rPr lang="en-US" sz="2000" kern="1200" dirty="0">
                    <a:solidFill>
                      <a:schemeClr val="tx1"/>
                    </a:solidFill>
                    <a:effectLst/>
                    <a:latin typeface="+mn-lt"/>
                    <a:ea typeface="+mn-ea"/>
                    <a:cs typeface="+mn-cs"/>
                  </a:rPr>
                  <a:t> target </a:t>
                </a:r>
                <a:r>
                  <a:rPr lang="en-US" sz="2000" b="0" i="0">
                    <a:latin typeface="Cambria Math" panose="02040503050406030204" pitchFamily="18" charset="0"/>
                  </a:rPr>
                  <a:t>𝑡</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samo</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ako</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je</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kontrolni</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kubit</a:t>
                </a:r>
                <a:r>
                  <a:rPr lang="en-US" sz="2000" kern="1200" dirty="0">
                    <a:solidFill>
                      <a:schemeClr val="tx1"/>
                    </a:solidFill>
                    <a:effectLst/>
                    <a:latin typeface="+mn-lt"/>
                    <a:ea typeface="+mn-ea"/>
                    <a:cs typeface="+mn-cs"/>
                  </a:rPr>
                  <a:t> </a:t>
                </a:r>
                <a:r>
                  <a:rPr lang="en-US" sz="2000" i="0">
                    <a:latin typeface="Cambria Math" panose="02040503050406030204" pitchFamily="18" charset="0"/>
                  </a:rPr>
                  <a:t>𝑐</a:t>
                </a:r>
                <a:r>
                  <a:rPr lang="en-US" sz="2000" kern="1200" dirty="0">
                    <a:solidFill>
                      <a:schemeClr val="tx1"/>
                    </a:solidFill>
                    <a:effectLst/>
                    <a:latin typeface="+mn-lt"/>
                    <a:ea typeface="+mn-ea"/>
                    <a:cs typeface="+mn-cs"/>
                  </a:rPr>
                  <a:t> jednak</a:t>
                </a:r>
                <a:r>
                  <a:rPr lang="en-US" sz="2000" kern="1200" baseline="0" dirty="0">
                    <a:solidFill>
                      <a:schemeClr val="tx1"/>
                    </a:solidFill>
                    <a:effectLst/>
                    <a:latin typeface="+mn-lt"/>
                    <a:ea typeface="+mn-ea"/>
                    <a:cs typeface="+mn-cs"/>
                  </a:rPr>
                  <a:t> </a:t>
                </a:r>
                <a:r>
                  <a:rPr lang="en-US" sz="2000" kern="1200" dirty="0">
                    <a:solidFill>
                      <a:schemeClr val="tx1"/>
                    </a:solidFill>
                    <a:effectLst/>
                    <a:latin typeface="+mn-lt"/>
                    <a:ea typeface="+mn-ea"/>
                    <a:cs typeface="+mn-cs"/>
                  </a:rPr>
                  <a:t>|1⟩.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kern="1200" dirty="0">
                  <a:solidFill>
                    <a:schemeClr val="tx1"/>
                  </a:solidFill>
                  <a:effectLst/>
                  <a:latin typeface="+mn-lt"/>
                  <a:ea typeface="+mn-ea"/>
                  <a:cs typeface="+mn-cs"/>
                </a:endParaRP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000" kern="1200" dirty="0">
                    <a:solidFill>
                      <a:schemeClr val="tx1"/>
                    </a:solidFill>
                    <a:effectLst/>
                    <a:latin typeface="+mn-lt"/>
                    <a:ea typeface="+mn-ea"/>
                    <a:cs typeface="+mn-cs"/>
                  </a:rPr>
                  <a:t>U </a:t>
                </a:r>
                <a:r>
                  <a:rPr lang="en-US" sz="2000" kern="1200" dirty="0" err="1">
                    <a:solidFill>
                      <a:schemeClr val="tx1"/>
                    </a:solidFill>
                    <a:effectLst/>
                    <a:latin typeface="+mn-lt"/>
                    <a:ea typeface="+mn-ea"/>
                    <a:cs typeface="+mn-cs"/>
                  </a:rPr>
                  <a:t>prvom</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koraku</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ispiše</a:t>
                </a:r>
                <a:r>
                  <a:rPr lang="en-US" sz="2000" kern="1200" dirty="0">
                    <a:solidFill>
                      <a:schemeClr val="tx1"/>
                    </a:solidFill>
                    <a:effectLst/>
                    <a:latin typeface="+mn-lt"/>
                    <a:ea typeface="+mn-ea"/>
                    <a:cs typeface="+mn-cs"/>
                  </a:rPr>
                  <a:t> se </a:t>
                </a:r>
                <a:r>
                  <a:rPr lang="en-US" sz="2000" kern="1200" dirty="0" err="1">
                    <a:solidFill>
                      <a:schemeClr val="tx1"/>
                    </a:solidFill>
                    <a:effectLst/>
                    <a:latin typeface="+mn-lt"/>
                    <a:ea typeface="+mn-ea"/>
                    <a:cs typeface="+mn-cs"/>
                  </a:rPr>
                  <a:t>tablica</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istinitosti</a:t>
                </a:r>
                <a:r>
                  <a:rPr lang="en-US" sz="2000" kern="1200" dirty="0">
                    <a:solidFill>
                      <a:schemeClr val="tx1"/>
                    </a:solidFill>
                    <a:effectLst/>
                    <a:latin typeface="+mn-lt"/>
                    <a:ea typeface="+mn-ea"/>
                    <a:cs typeface="+mn-cs"/>
                  </a:rPr>
                  <a:t> u </a:t>
                </a:r>
                <a:r>
                  <a:rPr lang="en-US" sz="2000" kern="1200" dirty="0" err="1">
                    <a:solidFill>
                      <a:schemeClr val="tx1"/>
                    </a:solidFill>
                    <a:effectLst/>
                    <a:latin typeface="+mn-lt"/>
                    <a:ea typeface="+mn-ea"/>
                    <a:cs typeface="+mn-cs"/>
                  </a:rPr>
                  <a:t>Dirakovoj</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notaciji</a:t>
                </a:r>
                <a:r>
                  <a:rPr lang="en-US" sz="2000" kern="1200" dirty="0">
                    <a:solidFill>
                      <a:schemeClr val="tx1"/>
                    </a:solidFill>
                    <a:effectLst/>
                    <a:latin typeface="+mn-lt"/>
                    <a:ea typeface="+mn-ea"/>
                    <a:cs typeface="+mn-cs"/>
                  </a:rPr>
                  <a:t>.</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000" kern="1200" dirty="0" err="1">
                    <a:solidFill>
                      <a:schemeClr val="tx1"/>
                    </a:solidFill>
                    <a:effectLst/>
                    <a:latin typeface="+mn-lt"/>
                    <a:ea typeface="+mn-ea"/>
                    <a:cs typeface="+mn-cs"/>
                  </a:rPr>
                  <a:t>Dodaje</a:t>
                </a:r>
                <a:r>
                  <a:rPr lang="en-US" sz="2000" kern="1200" dirty="0">
                    <a:solidFill>
                      <a:schemeClr val="tx1"/>
                    </a:solidFill>
                    <a:effectLst/>
                    <a:latin typeface="+mn-lt"/>
                    <a:ea typeface="+mn-ea"/>
                    <a:cs typeface="+mn-cs"/>
                  </a:rPr>
                  <a:t> se </a:t>
                </a:r>
                <a:r>
                  <a:rPr lang="en-US" sz="2000" kern="1200" dirty="0" err="1">
                    <a:solidFill>
                      <a:schemeClr val="tx1"/>
                    </a:solidFill>
                    <a:effectLst/>
                    <a:latin typeface="+mn-lt"/>
                    <a:ea typeface="+mn-ea"/>
                    <a:cs typeface="+mn-cs"/>
                  </a:rPr>
                  <a:t>još</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jedna</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kolona</a:t>
                </a:r>
                <a:r>
                  <a:rPr lang="en-US" sz="2000" kern="1200" dirty="0">
                    <a:solidFill>
                      <a:schemeClr val="tx1"/>
                    </a:solidFill>
                    <a:effectLst/>
                    <a:latin typeface="+mn-lt"/>
                    <a:ea typeface="+mn-ea"/>
                    <a:cs typeface="+mn-cs"/>
                  </a:rPr>
                  <a:t> u </a:t>
                </a:r>
                <a:r>
                  <a:rPr lang="en-US" sz="2000" kern="1200" dirty="0" err="1">
                    <a:solidFill>
                      <a:schemeClr val="tx1"/>
                    </a:solidFill>
                    <a:effectLst/>
                    <a:latin typeface="+mn-lt"/>
                    <a:ea typeface="+mn-ea"/>
                    <a:cs typeface="+mn-cs"/>
                  </a:rPr>
                  <a:t>kojoj</a:t>
                </a:r>
                <a:r>
                  <a:rPr lang="en-US" sz="2000" kern="1200" dirty="0">
                    <a:solidFill>
                      <a:schemeClr val="tx1"/>
                    </a:solidFill>
                    <a:effectLst/>
                    <a:latin typeface="+mn-lt"/>
                    <a:ea typeface="+mn-ea"/>
                    <a:cs typeface="+mn-cs"/>
                  </a:rPr>
                  <a:t> se </a:t>
                </a:r>
                <a:r>
                  <a:rPr lang="en-US" sz="2000" kern="1200" dirty="0" err="1">
                    <a:solidFill>
                      <a:schemeClr val="tx1"/>
                    </a:solidFill>
                    <a:effectLst/>
                    <a:latin typeface="+mn-lt"/>
                    <a:ea typeface="+mn-ea"/>
                    <a:cs typeface="+mn-cs"/>
                  </a:rPr>
                  <a:t>Dirakova</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notacija</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pretvara</a:t>
                </a:r>
                <a:r>
                  <a:rPr lang="en-US" sz="2000" kern="1200" dirty="0">
                    <a:solidFill>
                      <a:schemeClr val="tx1"/>
                    </a:solidFill>
                    <a:effectLst/>
                    <a:latin typeface="+mn-lt"/>
                    <a:ea typeface="+mn-ea"/>
                    <a:cs typeface="+mn-cs"/>
                  </a:rPr>
                  <a:t> u </a:t>
                </a:r>
                <a:r>
                  <a:rPr lang="en-US" sz="2000" kern="1200" dirty="0" err="1">
                    <a:solidFill>
                      <a:schemeClr val="tx1"/>
                    </a:solidFill>
                    <a:effectLst/>
                    <a:latin typeface="+mn-lt"/>
                    <a:ea typeface="+mn-ea"/>
                    <a:cs typeface="+mn-cs"/>
                  </a:rPr>
                  <a:t>matričnu</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i</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izlaz</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napiše</a:t>
                </a:r>
                <a:r>
                  <a:rPr lang="en-US" sz="2000" kern="1200" dirty="0">
                    <a:solidFill>
                      <a:schemeClr val="tx1"/>
                    </a:solidFill>
                    <a:effectLst/>
                    <a:latin typeface="+mn-lt"/>
                    <a:ea typeface="+mn-ea"/>
                    <a:cs typeface="+mn-cs"/>
                  </a:rPr>
                  <a:t> u </a:t>
                </a:r>
                <a:r>
                  <a:rPr lang="en-US" sz="2000" kern="1200" dirty="0" err="1">
                    <a:solidFill>
                      <a:schemeClr val="tx1"/>
                    </a:solidFill>
                    <a:effectLst/>
                    <a:latin typeface="+mn-lt"/>
                    <a:ea typeface="+mn-ea"/>
                    <a:cs typeface="+mn-cs"/>
                  </a:rPr>
                  <a:t>obliku</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vetor-kolone</a:t>
                </a:r>
                <a:r>
                  <a:rPr lang="en-US" sz="2000" kern="1200" dirty="0">
                    <a:solidFill>
                      <a:schemeClr val="tx1"/>
                    </a:solidFill>
                    <a:effectLst/>
                    <a:latin typeface="+mn-lt"/>
                    <a:ea typeface="+mn-ea"/>
                    <a:cs typeface="+mn-cs"/>
                  </a:rPr>
                  <a:t>.</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000" kern="1200" dirty="0" err="1">
                    <a:solidFill>
                      <a:schemeClr val="tx1"/>
                    </a:solidFill>
                    <a:effectLst/>
                    <a:latin typeface="+mn-lt"/>
                    <a:ea typeface="+mn-ea"/>
                    <a:cs typeface="+mn-cs"/>
                  </a:rPr>
                  <a:t>Vektori</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kolone</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izlaza</a:t>
                </a:r>
                <a:r>
                  <a:rPr lang="en-US" sz="2000" kern="1200" dirty="0">
                    <a:solidFill>
                      <a:schemeClr val="tx1"/>
                    </a:solidFill>
                    <a:effectLst/>
                    <a:latin typeface="+mn-lt"/>
                    <a:ea typeface="+mn-ea"/>
                    <a:cs typeface="+mn-cs"/>
                  </a:rPr>
                  <a:t> se </a:t>
                </a:r>
                <a:r>
                  <a:rPr lang="en-US" sz="2000" kern="1200" dirty="0" err="1">
                    <a:solidFill>
                      <a:schemeClr val="tx1"/>
                    </a:solidFill>
                    <a:effectLst/>
                    <a:latin typeface="+mn-lt"/>
                    <a:ea typeface="+mn-ea"/>
                    <a:cs typeface="+mn-cs"/>
                  </a:rPr>
                  <a:t>na</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kraju</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spajaju</a:t>
                </a:r>
                <a:r>
                  <a:rPr lang="en-US" sz="2000" kern="1200" dirty="0">
                    <a:solidFill>
                      <a:schemeClr val="tx1"/>
                    </a:solidFill>
                    <a:effectLst/>
                    <a:latin typeface="+mn-lt"/>
                    <a:ea typeface="+mn-ea"/>
                    <a:cs typeface="+mn-cs"/>
                  </a:rPr>
                  <a:t> u </a:t>
                </a:r>
                <a:r>
                  <a:rPr lang="en-US" sz="2000" kern="1200" dirty="0" err="1">
                    <a:solidFill>
                      <a:schemeClr val="tx1"/>
                    </a:solidFill>
                    <a:effectLst/>
                    <a:latin typeface="+mn-lt"/>
                    <a:ea typeface="+mn-ea"/>
                    <a:cs typeface="+mn-cs"/>
                  </a:rPr>
                  <a:t>matricu</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koja</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predstavlja</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matricu</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transformacije</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za</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bilo</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koje</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kontrolisano</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jednokubitno</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kolo</a:t>
                </a:r>
                <a:r>
                  <a:rPr lang="en-US" sz="2000" kern="1200" dirty="0">
                    <a:solidFill>
                      <a:schemeClr val="tx1"/>
                    </a:solidFill>
                    <a:effectLst/>
                    <a:latin typeface="+mn-lt"/>
                    <a:ea typeface="+mn-ea"/>
                    <a:cs typeface="+mn-cs"/>
                  </a:rPr>
                  <a:t>.</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endParaRPr lang="en-US" sz="20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2000" kern="1200" dirty="0">
                    <a:solidFill>
                      <a:schemeClr val="tx1"/>
                    </a:solidFill>
                    <a:effectLst/>
                    <a:latin typeface="+mn-lt"/>
                    <a:ea typeface="+mn-ea"/>
                    <a:cs typeface="+mn-cs"/>
                  </a:rPr>
                  <a:t>Da bi se </a:t>
                </a:r>
                <a:r>
                  <a:rPr lang="en-US" sz="2000" kern="1200" dirty="0" err="1">
                    <a:solidFill>
                      <a:schemeClr val="tx1"/>
                    </a:solidFill>
                    <a:effectLst/>
                    <a:latin typeface="+mn-lt"/>
                    <a:ea typeface="+mn-ea"/>
                    <a:cs typeface="+mn-cs"/>
                  </a:rPr>
                  <a:t>dobila</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matrica</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transformacije</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pojedinačnog</a:t>
                </a:r>
                <a:r>
                  <a:rPr lang="en-US" sz="2000" kern="1200" dirty="0">
                    <a:solidFill>
                      <a:schemeClr val="tx1"/>
                    </a:solidFill>
                    <a:effectLst/>
                    <a:latin typeface="+mn-lt"/>
                    <a:ea typeface="+mn-ea"/>
                    <a:cs typeface="+mn-cs"/>
                  </a:rPr>
                  <a:t> kola, </a:t>
                </a:r>
                <a:r>
                  <a:rPr lang="en-US" sz="2000" kern="1200" dirty="0" err="1">
                    <a:solidFill>
                      <a:schemeClr val="tx1"/>
                    </a:solidFill>
                    <a:effectLst/>
                    <a:latin typeface="+mn-lt"/>
                    <a:ea typeface="+mn-ea"/>
                    <a:cs typeface="+mn-cs"/>
                  </a:rPr>
                  <a:t>nepoznati</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elementi</a:t>
                </a:r>
                <a:r>
                  <a:rPr lang="en-US" sz="2000" kern="1200" dirty="0">
                    <a:solidFill>
                      <a:schemeClr val="tx1"/>
                    </a:solidFill>
                    <a:effectLst/>
                    <a:latin typeface="+mn-lt"/>
                    <a:ea typeface="+mn-ea"/>
                    <a:cs typeface="+mn-cs"/>
                  </a:rPr>
                  <a:t> </a:t>
                </a:r>
                <a:r>
                  <a:rPr lang="en-US" sz="2000" i="0">
                    <a:latin typeface="Cambria Math" panose="02040503050406030204" pitchFamily="18" charset="0"/>
                  </a:rPr>
                  <a:t>𝑔_</a:t>
                </a:r>
                <a:r>
                  <a:rPr lang="en-US" sz="2000" b="0" i="0">
                    <a:latin typeface="Cambria Math" panose="02040503050406030204" pitchFamily="18" charset="0"/>
                  </a:rPr>
                  <a:t>𝑖𝑗</a:t>
                </a:r>
                <a:r>
                  <a:rPr lang="en-US" sz="2000" kern="1200" dirty="0">
                    <a:solidFill>
                      <a:schemeClr val="tx1"/>
                    </a:solidFill>
                    <a:effectLst/>
                    <a:latin typeface="+mn-lt"/>
                    <a:ea typeface="+mn-ea"/>
                    <a:cs typeface="+mn-cs"/>
                  </a:rPr>
                  <a:t> se </a:t>
                </a:r>
                <a:r>
                  <a:rPr lang="en-US" sz="2000" kern="1200" dirty="0" err="1">
                    <a:solidFill>
                      <a:schemeClr val="tx1"/>
                    </a:solidFill>
                    <a:effectLst/>
                    <a:latin typeface="+mn-lt"/>
                    <a:ea typeface="+mn-ea"/>
                    <a:cs typeface="+mn-cs"/>
                  </a:rPr>
                  <a:t>zamenjuju</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matricom</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operatora</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kome</a:t>
                </a:r>
                <a:r>
                  <a:rPr lang="en-US" sz="2000" kern="1200" dirty="0">
                    <a:solidFill>
                      <a:schemeClr val="tx1"/>
                    </a:solidFill>
                    <a:effectLst/>
                    <a:latin typeface="+mn-lt"/>
                    <a:ea typeface="+mn-ea"/>
                    <a:cs typeface="+mn-cs"/>
                  </a:rPr>
                  <a:t> se </a:t>
                </a:r>
                <a:r>
                  <a:rPr lang="en-US" sz="2000" kern="1200" dirty="0" err="1">
                    <a:solidFill>
                      <a:schemeClr val="tx1"/>
                    </a:solidFill>
                    <a:effectLst/>
                    <a:latin typeface="+mn-lt"/>
                    <a:ea typeface="+mn-ea"/>
                    <a:cs typeface="+mn-cs"/>
                  </a:rPr>
                  <a:t>dodaje</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kontrola</a:t>
                </a:r>
                <a:r>
                  <a:rPr lang="en-US" sz="2000" kern="1200" dirty="0">
                    <a:solidFill>
                      <a:schemeClr val="tx1"/>
                    </a:solidFill>
                    <a:effectLst/>
                    <a:latin typeface="+mn-lt"/>
                    <a:ea typeface="+mn-ea"/>
                    <a:cs typeface="+mn-cs"/>
                  </a:rPr>
                  <a:t>. To</a:t>
                </a:r>
                <a:r>
                  <a:rPr lang="en-US" sz="2000" kern="1200" baseline="0" dirty="0">
                    <a:solidFill>
                      <a:schemeClr val="tx1"/>
                    </a:solidFill>
                    <a:effectLst/>
                    <a:latin typeface="+mn-lt"/>
                    <a:ea typeface="+mn-ea"/>
                    <a:cs typeface="+mn-cs"/>
                  </a:rPr>
                  <a:t> </a:t>
                </a:r>
                <a:r>
                  <a:rPr lang="en-US" sz="2000" kern="1200" baseline="0" dirty="0" err="1">
                    <a:solidFill>
                      <a:schemeClr val="tx1"/>
                    </a:solidFill>
                    <a:effectLst/>
                    <a:latin typeface="+mn-lt"/>
                    <a:ea typeface="+mn-ea"/>
                    <a:cs typeface="+mn-cs"/>
                  </a:rPr>
                  <a:t>može</a:t>
                </a:r>
                <a:r>
                  <a:rPr lang="en-US" sz="2000" kern="1200" baseline="0" dirty="0">
                    <a:solidFill>
                      <a:schemeClr val="tx1"/>
                    </a:solidFill>
                    <a:effectLst/>
                    <a:latin typeface="+mn-lt"/>
                    <a:ea typeface="+mn-ea"/>
                    <a:cs typeface="+mn-cs"/>
                  </a:rPr>
                  <a:t> </a:t>
                </a:r>
                <a:r>
                  <a:rPr lang="en-US" sz="2000" kern="1200" baseline="0" dirty="0" err="1">
                    <a:solidFill>
                      <a:schemeClr val="tx1"/>
                    </a:solidFill>
                    <a:effectLst/>
                    <a:latin typeface="+mn-lt"/>
                    <a:ea typeface="+mn-ea"/>
                    <a:cs typeface="+mn-cs"/>
                  </a:rPr>
                  <a:t>biti</a:t>
                </a:r>
                <a:r>
                  <a:rPr lang="en-US" sz="2000" kern="1200" baseline="0" dirty="0">
                    <a:solidFill>
                      <a:schemeClr val="tx1"/>
                    </a:solidFill>
                    <a:effectLst/>
                    <a:latin typeface="+mn-lt"/>
                    <a:ea typeface="+mn-ea"/>
                    <a:cs typeface="+mn-cs"/>
                  </a:rPr>
                  <a:t> </a:t>
                </a:r>
                <a:r>
                  <a:rPr lang="en-US" sz="2000" i="1" kern="1200" baseline="0" dirty="0">
                    <a:solidFill>
                      <a:schemeClr val="tx1"/>
                    </a:solidFill>
                    <a:effectLst/>
                    <a:latin typeface="+mn-lt"/>
                    <a:ea typeface="+mn-ea"/>
                    <a:cs typeface="+mn-cs"/>
                  </a:rPr>
                  <a:t>H, X, T </a:t>
                </a:r>
                <a:r>
                  <a:rPr lang="en-US" sz="2000" kern="1200" baseline="0" dirty="0" err="1">
                    <a:solidFill>
                      <a:schemeClr val="tx1"/>
                    </a:solidFill>
                    <a:effectLst/>
                    <a:latin typeface="+mn-lt"/>
                    <a:ea typeface="+mn-ea"/>
                    <a:cs typeface="+mn-cs"/>
                  </a:rPr>
                  <a:t>ili</a:t>
                </a:r>
                <a:r>
                  <a:rPr lang="en-US" sz="2000" kern="1200" baseline="0" dirty="0">
                    <a:solidFill>
                      <a:schemeClr val="tx1"/>
                    </a:solidFill>
                    <a:effectLst/>
                    <a:latin typeface="+mn-lt"/>
                    <a:ea typeface="+mn-ea"/>
                    <a:cs typeface="+mn-cs"/>
                  </a:rPr>
                  <a:t> </a:t>
                </a:r>
                <a:r>
                  <a:rPr lang="en-US" sz="2000" kern="1200" baseline="0" dirty="0" err="1">
                    <a:solidFill>
                      <a:schemeClr val="tx1"/>
                    </a:solidFill>
                    <a:effectLst/>
                    <a:latin typeface="+mn-lt"/>
                    <a:ea typeface="+mn-ea"/>
                    <a:cs typeface="+mn-cs"/>
                  </a:rPr>
                  <a:t>bilo</a:t>
                </a:r>
                <a:r>
                  <a:rPr lang="en-US" sz="2000" kern="1200" baseline="0" dirty="0">
                    <a:solidFill>
                      <a:schemeClr val="tx1"/>
                    </a:solidFill>
                    <a:effectLst/>
                    <a:latin typeface="+mn-lt"/>
                    <a:ea typeface="+mn-ea"/>
                    <a:cs typeface="+mn-cs"/>
                  </a:rPr>
                  <a:t> </a:t>
                </a:r>
                <a:r>
                  <a:rPr lang="en-US" sz="2000" kern="1200" baseline="0" dirty="0" err="1">
                    <a:solidFill>
                      <a:schemeClr val="tx1"/>
                    </a:solidFill>
                    <a:effectLst/>
                    <a:latin typeface="+mn-lt"/>
                    <a:ea typeface="+mn-ea"/>
                    <a:cs typeface="+mn-cs"/>
                  </a:rPr>
                  <a:t>koji</a:t>
                </a:r>
                <a:r>
                  <a:rPr lang="en-US" sz="2000" kern="1200" baseline="0" dirty="0">
                    <a:solidFill>
                      <a:schemeClr val="tx1"/>
                    </a:solidFill>
                    <a:effectLst/>
                    <a:latin typeface="+mn-lt"/>
                    <a:ea typeface="+mn-ea"/>
                    <a:cs typeface="+mn-cs"/>
                  </a:rPr>
                  <a:t> </a:t>
                </a:r>
                <a:r>
                  <a:rPr lang="en-US" sz="2000" kern="1200" baseline="0" dirty="0" err="1">
                    <a:solidFill>
                      <a:schemeClr val="tx1"/>
                    </a:solidFill>
                    <a:effectLst/>
                    <a:latin typeface="+mn-lt"/>
                    <a:ea typeface="+mn-ea"/>
                    <a:cs typeface="+mn-cs"/>
                  </a:rPr>
                  <a:t>drugi</a:t>
                </a:r>
                <a:r>
                  <a:rPr lang="en-US" sz="2000" kern="1200" baseline="0" dirty="0">
                    <a:solidFill>
                      <a:schemeClr val="tx1"/>
                    </a:solidFill>
                    <a:effectLst/>
                    <a:latin typeface="+mn-lt"/>
                    <a:ea typeface="+mn-ea"/>
                    <a:cs typeface="+mn-cs"/>
                  </a:rPr>
                  <a:t> </a:t>
                </a:r>
                <a:r>
                  <a:rPr lang="en-US" sz="2000" kern="1200" baseline="0" dirty="0" err="1">
                    <a:solidFill>
                      <a:schemeClr val="tx1"/>
                    </a:solidFill>
                    <a:effectLst/>
                    <a:latin typeface="+mn-lt"/>
                    <a:ea typeface="+mn-ea"/>
                    <a:cs typeface="+mn-cs"/>
                  </a:rPr>
                  <a:t>jednokubitni</a:t>
                </a:r>
                <a:r>
                  <a:rPr lang="en-US" sz="2000" kern="1200" baseline="0" dirty="0">
                    <a:solidFill>
                      <a:schemeClr val="tx1"/>
                    </a:solidFill>
                    <a:effectLst/>
                    <a:latin typeface="+mn-lt"/>
                    <a:ea typeface="+mn-ea"/>
                    <a:cs typeface="+mn-cs"/>
                  </a:rPr>
                  <a:t> operator. </a:t>
                </a:r>
                <a:r>
                  <a:rPr lang="en-US" sz="2000" kern="1200" dirty="0" err="1">
                    <a:solidFill>
                      <a:schemeClr val="tx1"/>
                    </a:solidFill>
                    <a:effectLst/>
                    <a:latin typeface="+mn-lt"/>
                    <a:ea typeface="+mn-ea"/>
                    <a:cs typeface="+mn-cs"/>
                  </a:rPr>
                  <a:t>Ime</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novog</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operatora</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obično</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sadrži</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prefiks</a:t>
                </a:r>
                <a:r>
                  <a:rPr lang="en-US" sz="2000" kern="1200" dirty="0">
                    <a:solidFill>
                      <a:schemeClr val="tx1"/>
                    </a:solidFill>
                    <a:effectLst/>
                    <a:latin typeface="+mn-lt"/>
                    <a:ea typeface="+mn-ea"/>
                    <a:cs typeface="+mn-cs"/>
                  </a:rPr>
                  <a:t> </a:t>
                </a:r>
                <a:r>
                  <a:rPr lang="en-US" sz="2000" b="0" i="0">
                    <a:latin typeface="Cambria Math" panose="02040503050406030204" pitchFamily="18" charset="0"/>
                  </a:rPr>
                  <a:t>𝑐</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ispred</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imena</a:t>
                </a:r>
                <a:r>
                  <a:rPr lang="en-US" sz="2000" kern="1200" dirty="0">
                    <a:solidFill>
                      <a:schemeClr val="tx1"/>
                    </a:solidFill>
                    <a:effectLst/>
                    <a:latin typeface="+mn-lt"/>
                    <a:ea typeface="+mn-ea"/>
                    <a:cs typeface="+mn-cs"/>
                  </a:rPr>
                  <a:t> kola </a:t>
                </a:r>
                <a:r>
                  <a:rPr lang="en-US" sz="2000" kern="1200" dirty="0" err="1">
                    <a:solidFill>
                      <a:schemeClr val="tx1"/>
                    </a:solidFill>
                    <a:effectLst/>
                    <a:latin typeface="+mn-lt"/>
                    <a:ea typeface="+mn-ea"/>
                    <a:cs typeface="+mn-cs"/>
                  </a:rPr>
                  <a:t>za</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koje</a:t>
                </a:r>
                <a:r>
                  <a:rPr lang="en-US" sz="2000" kern="1200" dirty="0">
                    <a:solidFill>
                      <a:schemeClr val="tx1"/>
                    </a:solidFill>
                    <a:effectLst/>
                    <a:latin typeface="+mn-lt"/>
                    <a:ea typeface="+mn-ea"/>
                    <a:cs typeface="+mn-cs"/>
                  </a:rPr>
                  <a:t> se operator </a:t>
                </a:r>
                <a:r>
                  <a:rPr lang="en-US" sz="2000" kern="1200" dirty="0" err="1">
                    <a:solidFill>
                      <a:schemeClr val="tx1"/>
                    </a:solidFill>
                    <a:effectLst/>
                    <a:latin typeface="+mn-lt"/>
                    <a:ea typeface="+mn-ea"/>
                    <a:cs typeface="+mn-cs"/>
                  </a:rPr>
                  <a:t>konstruiše</a:t>
                </a:r>
                <a:r>
                  <a:rPr lang="en-US" sz="2000" kern="1200" dirty="0">
                    <a:solidFill>
                      <a:schemeClr val="tx1"/>
                    </a:solidFill>
                    <a:effectLst/>
                    <a:latin typeface="+mn-lt"/>
                    <a:ea typeface="+mn-ea"/>
                    <a:cs typeface="+mn-cs"/>
                  </a:rPr>
                  <a:t>.  Na primer </a:t>
                </a:r>
                <a:r>
                  <a:rPr lang="en-US" sz="2000" b="0" i="0">
                    <a:latin typeface="Cambria Math" panose="02040503050406030204" pitchFamily="18" charset="0"/>
                  </a:rPr>
                  <a:t>𝑐𝐻</a:t>
                </a:r>
                <a:r>
                  <a:rPr lang="en-US" sz="2000" kern="1200" dirty="0">
                    <a:solidFill>
                      <a:schemeClr val="tx1"/>
                    </a:solidFill>
                    <a:effectLst/>
                    <a:latin typeface="+mn-lt"/>
                    <a:ea typeface="+mn-ea"/>
                    <a:cs typeface="+mn-cs"/>
                  </a:rPr>
                  <a:t>,</a:t>
                </a:r>
                <a:r>
                  <a:rPr lang="en-US" sz="2000" b="0" dirty="0"/>
                  <a:t> </a:t>
                </a:r>
                <a:r>
                  <a:rPr lang="en-US" sz="2000" b="0" i="0">
                    <a:latin typeface="Cambria Math" panose="02040503050406030204" pitchFamily="18" charset="0"/>
                  </a:rPr>
                  <a:t>𝑐𝑋</a:t>
                </a:r>
                <a:r>
                  <a:rPr lang="en-US" sz="2000" kern="1200" dirty="0">
                    <a:solidFill>
                      <a:schemeClr val="tx1"/>
                    </a:solidFill>
                    <a:effectLst/>
                    <a:latin typeface="+mn-lt"/>
                    <a:ea typeface="+mn-ea"/>
                    <a:cs typeface="+mn-cs"/>
                  </a:rPr>
                  <a:t>,</a:t>
                </a:r>
                <a:r>
                  <a:rPr lang="en-US" sz="2000" b="0" dirty="0"/>
                  <a:t> </a:t>
                </a:r>
                <a:r>
                  <a:rPr lang="en-US" sz="2000" b="0" i="0">
                    <a:latin typeface="Cambria Math" panose="02040503050406030204" pitchFamily="18" charset="0"/>
                  </a:rPr>
                  <a:t>𝑐𝑇</a:t>
                </a:r>
                <a:r>
                  <a:rPr lang="en-US" sz="2000" kern="1200" dirty="0">
                    <a:solidFill>
                      <a:schemeClr val="tx1"/>
                    </a:solidFill>
                    <a:effectLst/>
                    <a:latin typeface="+mn-lt"/>
                    <a:ea typeface="+mn-ea"/>
                    <a:cs typeface="+mn-cs"/>
                  </a:rPr>
                  <a:t>, …</a:t>
                </a: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34</a:t>
            </a:fld>
            <a:endParaRPr lang="en-US"/>
          </a:p>
        </p:txBody>
      </p:sp>
    </p:spTree>
    <p:extLst>
      <p:ext uri="{BB962C8B-B14F-4D97-AF65-F5344CB8AC3E}">
        <p14:creationId xmlns:p14="http://schemas.microsoft.com/office/powerpoint/2010/main" val="412234839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b="0" dirty="0"/>
                  <a:t>The most common controlled gate is the controlled Pauli-X gate, usually called CX or CNOT.</a:t>
                </a:r>
              </a:p>
              <a:p>
                <a:pPr algn="just"/>
                <a:endParaRPr lang="en-ZA" b="0" dirty="0"/>
              </a:p>
              <a:p>
                <a:pPr algn="just"/>
                <a:r>
                  <a:rPr lang="en-ZA" b="0" dirty="0"/>
                  <a:t>By definition, if the control qubit is ∣1⟩, the X gate is applied to the target qubit. If the control qubit is ∣0⟩, the target remains unchanged. Its matrix is a 4×4 block-diagonal matrix, with the identity matrix I in the upper block and the Pauli-X matrix in the lower block.</a:t>
                </a:r>
              </a:p>
              <a:p>
                <a:pPr algn="just"/>
                <a:endParaRPr lang="en-ZA" b="0" dirty="0"/>
              </a:p>
              <a:p>
                <a:r>
                  <a:rPr lang="en-ZA" b="0" dirty="0"/>
                  <a:t>The CNOT gate can also be understood as performing an XOR operation, or equivalently addition modulo 2, on the target qubit. The control qubit remains unchanged.</a:t>
                </a:r>
              </a:p>
            </p:txBody>
          </p:sp>
        </mc:Choice>
        <mc:Fallback xmlns="">
          <p:sp>
            <p:nvSpPr>
              <p:cNvPr id="3" name="Notes Placeholder 2"/>
              <p:cNvSpPr>
                <a:spLocks noGrp="1"/>
              </p:cNvSpPr>
              <p:nvPr>
                <p:ph type="body" idx="1"/>
              </p:nvPr>
            </p:nvSpPr>
            <p:spPr/>
            <p:txBody>
              <a:bodyPr/>
              <a:lstStyle/>
              <a:p>
                <a:r>
                  <a:rPr lang="en-US" sz="2000" dirty="0"/>
                  <a:t>Dvo-kubitna </a:t>
                </a:r>
                <a:r>
                  <a:rPr lang="en-US" sz="2000" dirty="0" err="1"/>
                  <a:t>elementarna</a:t>
                </a:r>
                <a:r>
                  <a:rPr lang="en-US" sz="2000" dirty="0"/>
                  <a:t> kola </a:t>
                </a:r>
                <a:r>
                  <a:rPr lang="en-US" sz="2000" dirty="0" err="1"/>
                  <a:t>su</a:t>
                </a:r>
                <a:r>
                  <a:rPr lang="en-US" sz="2000" dirty="0"/>
                  <a:t> </a:t>
                </a:r>
                <a:r>
                  <a:rPr lang="en-US" sz="2000" dirty="0" err="1"/>
                  <a:t>akodje</a:t>
                </a:r>
                <a:r>
                  <a:rPr lang="en-US" sz="2000" dirty="0"/>
                  <a:t> </a:t>
                </a:r>
                <a:r>
                  <a:rPr lang="en-US" sz="2000" dirty="0" err="1"/>
                  <a:t>nezaobilazni</a:t>
                </a:r>
                <a:r>
                  <a:rPr lang="en-US" sz="2000" dirty="0"/>
                  <a:t> </a:t>
                </a:r>
                <a:r>
                  <a:rPr lang="en-US" sz="2000" dirty="0" err="1"/>
                  <a:t>elemenat</a:t>
                </a:r>
                <a:r>
                  <a:rPr lang="en-US" sz="2000" dirty="0"/>
                  <a:t> u </a:t>
                </a:r>
                <a:r>
                  <a:rPr lang="en-US" sz="2000" dirty="0" err="1"/>
                  <a:t>kvantnim</a:t>
                </a:r>
                <a:r>
                  <a:rPr lang="en-US" sz="2000" dirty="0"/>
                  <a:t> </a:t>
                </a:r>
                <a:r>
                  <a:rPr lang="en-US" sz="2000" dirty="0" err="1"/>
                  <a:t>racunarima</a:t>
                </a:r>
                <a:r>
                  <a:rPr lang="en-US" sz="2000" dirty="0"/>
                  <a:t>. </a:t>
                </a:r>
              </a:p>
              <a:p>
                <a:pPr marL="457200" indent="-457200">
                  <a:buFont typeface="Arial" panose="020B0604020202020204" pitchFamily="34" charset="0"/>
                  <a:buChar char="•"/>
                </a:pPr>
                <a:r>
                  <a:rPr lang="en-US" sz="2000" dirty="0"/>
                  <a:t>Na primer SWAP </a:t>
                </a:r>
                <a:r>
                  <a:rPr lang="en-US" sz="2000" dirty="0" err="1"/>
                  <a:t>kolo</a:t>
                </a:r>
                <a:r>
                  <a:rPr lang="en-US" sz="2000" dirty="0"/>
                  <a:t> </a:t>
                </a:r>
                <a:r>
                  <a:rPr lang="en-US" sz="2000" dirty="0" err="1"/>
                  <a:t>razmenjuje</a:t>
                </a:r>
                <a:r>
                  <a:rPr lang="en-US" sz="2000" dirty="0"/>
                  <a:t> </a:t>
                </a:r>
                <a:r>
                  <a:rPr lang="en-US" sz="2000" dirty="0" err="1"/>
                  <a:t>stanja</a:t>
                </a:r>
                <a:r>
                  <a:rPr lang="en-US" sz="2000" dirty="0"/>
                  <a:t> </a:t>
                </a:r>
                <a:r>
                  <a:rPr lang="en-US" sz="2000" dirty="0" err="1"/>
                  <a:t>dva</a:t>
                </a:r>
                <a:r>
                  <a:rPr lang="en-US" sz="2000" dirty="0"/>
                  <a:t> </a:t>
                </a:r>
                <a:r>
                  <a:rPr lang="en-US" sz="2000" dirty="0" err="1"/>
                  <a:t>kubita</a:t>
                </a:r>
                <a:r>
                  <a:rPr lang="en-US" sz="2000" dirty="0"/>
                  <a:t>, </a:t>
                </a:r>
                <a:r>
                  <a:rPr lang="en-US" sz="2000" dirty="0" err="1"/>
                  <a:t>tako</a:t>
                </a:r>
                <a:r>
                  <a:rPr lang="en-US" sz="2000" dirty="0"/>
                  <a:t> </a:t>
                </a:r>
                <a:r>
                  <a:rPr lang="en-US" sz="2000" dirty="0" err="1"/>
                  <a:t>sto</a:t>
                </a:r>
                <a:r>
                  <a:rPr lang="en-US" sz="2000" dirty="0"/>
                  <a:t> </a:t>
                </a:r>
                <a:r>
                  <a:rPr lang="en-US" sz="2000" dirty="0" err="1"/>
                  <a:t>kubit</a:t>
                </a:r>
                <a:r>
                  <a:rPr lang="en-US" sz="2000" dirty="0"/>
                  <a:t> </a:t>
                </a:r>
                <a:r>
                  <a:rPr lang="en-US" sz="2000" b="0" i="0">
                    <a:latin typeface="Cambria Math" panose="02040503050406030204" pitchFamily="18" charset="0"/>
                  </a:rPr>
                  <a:t>𝑞_0</a:t>
                </a:r>
                <a:r>
                  <a:rPr lang="en-US" sz="2000" dirty="0"/>
                  <a:t> </a:t>
                </a:r>
                <a:r>
                  <a:rPr lang="en-US" sz="2000" dirty="0" err="1"/>
                  <a:t>sa</a:t>
                </a:r>
                <a:r>
                  <a:rPr lang="en-US" sz="2000" dirty="0"/>
                  <a:t> </a:t>
                </a:r>
                <a:r>
                  <a:rPr lang="en-US" sz="2000" dirty="0" err="1"/>
                  <a:t>slike</a:t>
                </a:r>
                <a:r>
                  <a:rPr lang="en-US" sz="2000" dirty="0"/>
                  <a:t> </a:t>
                </a:r>
                <a:r>
                  <a:rPr lang="en-US" sz="2000" dirty="0" err="1"/>
                  <a:t>preuzima</a:t>
                </a:r>
                <a:r>
                  <a:rPr lang="en-US" sz="2000" baseline="0" dirty="0"/>
                  <a:t> </a:t>
                </a:r>
                <a:r>
                  <a:rPr lang="en-US" sz="2000" baseline="0" dirty="0" err="1"/>
                  <a:t>stanje</a:t>
                </a:r>
                <a:r>
                  <a:rPr lang="en-US" sz="2000" baseline="0" dirty="0"/>
                  <a:t> </a:t>
                </a:r>
                <a:r>
                  <a:rPr lang="en-US" sz="2000" baseline="0" dirty="0" err="1"/>
                  <a:t>kubit</a:t>
                </a:r>
                <a:r>
                  <a:rPr lang="en-US" sz="2000" baseline="0" dirty="0"/>
                  <a:t> </a:t>
                </a:r>
                <a:r>
                  <a:rPr lang="en-US" sz="2000" b="0" i="0">
                    <a:latin typeface="Cambria Math" panose="02040503050406030204" pitchFamily="18" charset="0"/>
                  </a:rPr>
                  <a:t>𝑞_1</a:t>
                </a:r>
                <a:r>
                  <a:rPr lang="en-US" sz="2000" dirty="0"/>
                  <a:t> a </a:t>
                </a:r>
                <a:r>
                  <a:rPr lang="en-US" sz="2000" dirty="0" err="1"/>
                  <a:t>kubit</a:t>
                </a:r>
                <a:r>
                  <a:rPr lang="en-US" sz="2000" dirty="0"/>
                  <a:t> </a:t>
                </a:r>
                <a:r>
                  <a:rPr lang="en-US" sz="2000" b="0" i="0">
                    <a:latin typeface="Cambria Math" panose="02040503050406030204" pitchFamily="18" charset="0"/>
                  </a:rPr>
                  <a:t>𝑞_1</a:t>
                </a:r>
                <a:r>
                  <a:rPr lang="en-US" sz="2000" dirty="0" err="1"/>
                  <a:t>stanje</a:t>
                </a:r>
                <a:r>
                  <a:rPr lang="en-US" sz="2000" dirty="0"/>
                  <a:t> </a:t>
                </a:r>
                <a:r>
                  <a:rPr lang="en-US" sz="2000" dirty="0" err="1"/>
                  <a:t>kubit</a:t>
                </a:r>
                <a:r>
                  <a:rPr lang="en-US" sz="2000" dirty="0"/>
                  <a:t> </a:t>
                </a:r>
                <a:r>
                  <a:rPr lang="en-US" sz="2000" b="0" i="0">
                    <a:latin typeface="Cambria Math" panose="02040503050406030204" pitchFamily="18" charset="0"/>
                  </a:rPr>
                  <a:t>𝑞_0</a:t>
                </a:r>
                <a:r>
                  <a:rPr lang="en-US" sz="2000" dirty="0"/>
                  <a:t>.</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dirty="0"/>
                  <a:t>CNOT </a:t>
                </a:r>
                <a:r>
                  <a:rPr lang="en-US" sz="2000" dirty="0" err="1"/>
                  <a:t>ili</a:t>
                </a:r>
                <a:r>
                  <a:rPr lang="en-US" sz="2000" dirty="0"/>
                  <a:t> </a:t>
                </a:r>
                <a:r>
                  <a:rPr lang="en-US" sz="2000" dirty="0" err="1"/>
                  <a:t>kontrolisano</a:t>
                </a:r>
                <a:r>
                  <a:rPr lang="en-US" sz="2000" dirty="0"/>
                  <a:t> NOT, </a:t>
                </a:r>
                <a:r>
                  <a:rPr lang="en-US" sz="2000" dirty="0" err="1"/>
                  <a:t>ili</a:t>
                </a:r>
                <a:r>
                  <a:rPr lang="en-US" sz="2000" dirty="0"/>
                  <a:t> </a:t>
                </a:r>
                <a:r>
                  <a:rPr lang="en-US" sz="2000" dirty="0" err="1"/>
                  <a:t>kontrolisano</a:t>
                </a:r>
                <a:r>
                  <a:rPr lang="en-US" sz="2000" dirty="0"/>
                  <a:t> X </a:t>
                </a:r>
                <a:r>
                  <a:rPr lang="en-US" sz="2000" dirty="0" err="1"/>
                  <a:t>kolo</a:t>
                </a:r>
                <a:r>
                  <a:rPr lang="en-US" sz="2000" dirty="0"/>
                  <a:t> </a:t>
                </a:r>
                <a:r>
                  <a:rPr lang="en-US" sz="2000" kern="1200" dirty="0" err="1">
                    <a:solidFill>
                      <a:schemeClr val="tx1"/>
                    </a:solidFill>
                    <a:latin typeface="+mn-lt"/>
                    <a:ea typeface="+mn-ea"/>
                    <a:cs typeface="+mn-cs"/>
                  </a:rPr>
                  <a:t>primenjuje</a:t>
                </a:r>
                <a:r>
                  <a:rPr lang="en-US" sz="2000" kern="1200" dirty="0">
                    <a:solidFill>
                      <a:schemeClr val="tx1"/>
                    </a:solidFill>
                    <a:latin typeface="+mn-lt"/>
                    <a:ea typeface="+mn-ea"/>
                    <a:cs typeface="+mn-cs"/>
                  </a:rPr>
                  <a:t> X operator </a:t>
                </a:r>
                <a:r>
                  <a:rPr lang="en-US" sz="2000" kern="1200" dirty="0" err="1">
                    <a:solidFill>
                      <a:schemeClr val="tx1"/>
                    </a:solidFill>
                    <a:latin typeface="+mn-lt"/>
                    <a:ea typeface="+mn-ea"/>
                    <a:cs typeface="+mn-cs"/>
                  </a:rPr>
                  <a:t>na</a:t>
                </a:r>
                <a:r>
                  <a:rPr lang="en-US" sz="2000" kern="1200" dirty="0">
                    <a:solidFill>
                      <a:schemeClr val="tx1"/>
                    </a:solidFill>
                    <a:latin typeface="+mn-lt"/>
                    <a:ea typeface="+mn-ea"/>
                    <a:cs typeface="+mn-cs"/>
                  </a:rPr>
                  <a:t> </a:t>
                </a:r>
                <a:r>
                  <a:rPr lang="en-US" sz="2000" kern="1200" dirty="0" err="1">
                    <a:solidFill>
                      <a:schemeClr val="tx1"/>
                    </a:solidFill>
                    <a:latin typeface="+mn-lt"/>
                    <a:ea typeface="+mn-ea"/>
                    <a:cs typeface="+mn-cs"/>
                  </a:rPr>
                  <a:t>ciljni</a:t>
                </a:r>
                <a:r>
                  <a:rPr lang="en-US" sz="2000" kern="1200" dirty="0">
                    <a:solidFill>
                      <a:schemeClr val="tx1"/>
                    </a:solidFill>
                    <a:latin typeface="+mn-lt"/>
                    <a:ea typeface="+mn-ea"/>
                    <a:cs typeface="+mn-cs"/>
                  </a:rPr>
                  <a:t> </a:t>
                </a:r>
                <a:r>
                  <a:rPr lang="en-US" sz="2000" kern="1200" dirty="0" err="1">
                    <a:solidFill>
                      <a:schemeClr val="tx1"/>
                    </a:solidFill>
                    <a:latin typeface="+mn-lt"/>
                    <a:ea typeface="+mn-ea"/>
                    <a:cs typeface="+mn-cs"/>
                  </a:rPr>
                  <a:t>kubit</a:t>
                </a:r>
                <a:r>
                  <a:rPr lang="en-US" sz="2000" kern="1200" dirty="0">
                    <a:solidFill>
                      <a:schemeClr val="tx1"/>
                    </a:solidFill>
                    <a:latin typeface="+mn-lt"/>
                    <a:ea typeface="+mn-ea"/>
                    <a:cs typeface="+mn-cs"/>
                  </a:rPr>
                  <a:t> </a:t>
                </a:r>
                <a:r>
                  <a:rPr lang="en-US" sz="1800" i="0">
                    <a:latin typeface="Cambria Math" panose="02040503050406030204" pitchFamily="18" charset="0"/>
                  </a:rPr>
                  <a:t>𝑞_</a:t>
                </a:r>
                <a:r>
                  <a:rPr lang="en-US" sz="1800" b="0" i="0">
                    <a:latin typeface="Cambria Math" panose="02040503050406030204" pitchFamily="18" charset="0"/>
                  </a:rPr>
                  <a:t>1 </a:t>
                </a:r>
                <a:r>
                  <a:rPr lang="en-US" sz="1800" i="0">
                    <a:latin typeface="Cambria Math" panose="02040503050406030204" pitchFamily="18" charset="0"/>
                  </a:rPr>
                  <a:t> </a:t>
                </a:r>
                <a:r>
                  <a:rPr lang="en-US" sz="2000" kern="1200" dirty="0" err="1">
                    <a:solidFill>
                      <a:schemeClr val="tx1"/>
                    </a:solidFill>
                    <a:latin typeface="+mn-lt"/>
                    <a:ea typeface="+mn-ea"/>
                    <a:cs typeface="+mn-cs"/>
                  </a:rPr>
                  <a:t>ako</a:t>
                </a:r>
                <a:r>
                  <a:rPr lang="en-US" sz="2000" kern="1200" dirty="0">
                    <a:solidFill>
                      <a:schemeClr val="tx1"/>
                    </a:solidFill>
                    <a:latin typeface="+mn-lt"/>
                    <a:ea typeface="+mn-ea"/>
                    <a:cs typeface="+mn-cs"/>
                  </a:rPr>
                  <a:t> </a:t>
                </a:r>
                <a:r>
                  <a:rPr lang="en-US" sz="2000" kern="1200" dirty="0" err="1">
                    <a:solidFill>
                      <a:schemeClr val="tx1"/>
                    </a:solidFill>
                    <a:latin typeface="+mn-lt"/>
                    <a:ea typeface="+mn-ea"/>
                    <a:cs typeface="+mn-cs"/>
                  </a:rPr>
                  <a:t>je</a:t>
                </a:r>
                <a:r>
                  <a:rPr lang="en-US" sz="2000" kern="1200" dirty="0">
                    <a:solidFill>
                      <a:schemeClr val="tx1"/>
                    </a:solidFill>
                    <a:latin typeface="+mn-lt"/>
                    <a:ea typeface="+mn-ea"/>
                    <a:cs typeface="+mn-cs"/>
                  </a:rPr>
                  <a:t> </a:t>
                </a:r>
                <a:r>
                  <a:rPr lang="en-US" sz="2000" kern="1200" dirty="0" err="1">
                    <a:solidFill>
                      <a:schemeClr val="tx1"/>
                    </a:solidFill>
                    <a:latin typeface="+mn-lt"/>
                    <a:ea typeface="+mn-ea"/>
                    <a:cs typeface="+mn-cs"/>
                  </a:rPr>
                  <a:t>kontrolni</a:t>
                </a:r>
                <a:r>
                  <a:rPr lang="en-US" sz="2000" kern="1200" dirty="0">
                    <a:solidFill>
                      <a:schemeClr val="tx1"/>
                    </a:solidFill>
                    <a:latin typeface="+mn-lt"/>
                    <a:ea typeface="+mn-ea"/>
                    <a:cs typeface="+mn-cs"/>
                  </a:rPr>
                  <a:t> </a:t>
                </a:r>
                <a:r>
                  <a:rPr lang="en-US" sz="2000" kern="1200" dirty="0" err="1">
                    <a:solidFill>
                      <a:schemeClr val="tx1"/>
                    </a:solidFill>
                    <a:latin typeface="+mn-lt"/>
                    <a:ea typeface="+mn-ea"/>
                    <a:cs typeface="+mn-cs"/>
                  </a:rPr>
                  <a:t>kubit</a:t>
                </a:r>
                <a:r>
                  <a:rPr lang="en-US" sz="2000" kern="1200" dirty="0">
                    <a:solidFill>
                      <a:schemeClr val="tx1"/>
                    </a:solidFill>
                    <a:latin typeface="+mn-lt"/>
                    <a:ea typeface="+mn-ea"/>
                    <a:cs typeface="+mn-cs"/>
                  </a:rPr>
                  <a:t>  </a:t>
                </a:r>
                <a:r>
                  <a:rPr lang="en-US" sz="2000" i="0">
                    <a:latin typeface="Cambria Math" panose="02040503050406030204" pitchFamily="18" charset="0"/>
                  </a:rPr>
                  <a:t>𝑞_0</a:t>
                </a:r>
                <a:r>
                  <a:rPr lang="en-US" sz="2000" kern="1200" dirty="0">
                    <a:solidFill>
                      <a:schemeClr val="tx1"/>
                    </a:solidFill>
                    <a:latin typeface="+mn-lt"/>
                    <a:ea typeface="+mn-ea"/>
                    <a:cs typeface="+mn-cs"/>
                  </a:rPr>
                  <a:t> u </a:t>
                </a:r>
                <a:r>
                  <a:rPr lang="en-US" sz="2000" kern="1200" dirty="0" err="1">
                    <a:solidFill>
                      <a:schemeClr val="tx1"/>
                    </a:solidFill>
                    <a:latin typeface="+mn-lt"/>
                    <a:ea typeface="+mn-ea"/>
                    <a:cs typeface="+mn-cs"/>
                  </a:rPr>
                  <a:t>stanju</a:t>
                </a:r>
                <a:r>
                  <a:rPr lang="en-US" sz="2000" kern="1200" dirty="0">
                    <a:solidFill>
                      <a:schemeClr val="tx1"/>
                    </a:solidFill>
                    <a:latin typeface="+mn-lt"/>
                    <a:ea typeface="+mn-ea"/>
                    <a:cs typeface="+mn-cs"/>
                  </a:rPr>
                  <a:t> ∣1⟩. </a:t>
                </a:r>
                <a:r>
                  <a:rPr lang="en-US" sz="2000" kern="1200" dirty="0" err="1">
                    <a:solidFill>
                      <a:schemeClr val="tx1"/>
                    </a:solidFill>
                    <a:latin typeface="+mn-lt"/>
                    <a:ea typeface="+mn-ea"/>
                    <a:cs typeface="+mn-cs"/>
                  </a:rPr>
                  <a:t>Ovo</a:t>
                </a:r>
                <a:r>
                  <a:rPr lang="en-US" sz="2000" kern="1200" dirty="0">
                    <a:solidFill>
                      <a:schemeClr val="tx1"/>
                    </a:solidFill>
                    <a:latin typeface="+mn-lt"/>
                    <a:ea typeface="+mn-ea"/>
                    <a:cs typeface="+mn-cs"/>
                  </a:rPr>
                  <a:t> </a:t>
                </a:r>
                <a:r>
                  <a:rPr lang="en-US" sz="2000" kern="1200" dirty="0" err="1">
                    <a:solidFill>
                      <a:schemeClr val="tx1"/>
                    </a:solidFill>
                    <a:latin typeface="+mn-lt"/>
                    <a:ea typeface="+mn-ea"/>
                    <a:cs typeface="+mn-cs"/>
                  </a:rPr>
                  <a:t>kolo</a:t>
                </a:r>
                <a:r>
                  <a:rPr lang="en-US" sz="2000" kern="1200" dirty="0">
                    <a:solidFill>
                      <a:schemeClr val="tx1"/>
                    </a:solidFill>
                    <a:latin typeface="+mn-lt"/>
                    <a:ea typeface="+mn-ea"/>
                    <a:cs typeface="+mn-cs"/>
                  </a:rPr>
                  <a:t> </a:t>
                </a:r>
                <a:r>
                  <a:rPr lang="en-US" sz="2000" kern="1200" dirty="0" err="1">
                    <a:solidFill>
                      <a:schemeClr val="tx1"/>
                    </a:solidFill>
                    <a:latin typeface="+mn-lt"/>
                    <a:ea typeface="+mn-ea"/>
                    <a:cs typeface="+mn-cs"/>
                  </a:rPr>
                  <a:t>je</a:t>
                </a:r>
                <a:r>
                  <a:rPr lang="en-US" sz="2000" kern="1200" dirty="0">
                    <a:solidFill>
                      <a:schemeClr val="tx1"/>
                    </a:solidFill>
                    <a:latin typeface="+mn-lt"/>
                    <a:ea typeface="+mn-ea"/>
                    <a:cs typeface="+mn-cs"/>
                  </a:rPr>
                  <a:t> </a:t>
                </a:r>
                <a:r>
                  <a:rPr lang="en-US" sz="2000" kern="1200" dirty="0" err="1">
                    <a:solidFill>
                      <a:schemeClr val="tx1"/>
                    </a:solidFill>
                    <a:latin typeface="+mn-lt"/>
                    <a:ea typeface="+mn-ea"/>
                    <a:cs typeface="+mn-cs"/>
                  </a:rPr>
                  <a:t>ekvivalent</a:t>
                </a:r>
                <a:r>
                  <a:rPr lang="en-US" sz="2000" kern="1200" dirty="0">
                    <a:solidFill>
                      <a:schemeClr val="tx1"/>
                    </a:solidFill>
                    <a:latin typeface="+mn-lt"/>
                    <a:ea typeface="+mn-ea"/>
                    <a:cs typeface="+mn-cs"/>
                  </a:rPr>
                  <a:t> ‘if’ </a:t>
                </a:r>
                <a:r>
                  <a:rPr lang="en-US" sz="2000" kern="1200" dirty="0" err="1">
                    <a:solidFill>
                      <a:schemeClr val="tx1"/>
                    </a:solidFill>
                    <a:latin typeface="+mn-lt"/>
                    <a:ea typeface="+mn-ea"/>
                    <a:cs typeface="+mn-cs"/>
                  </a:rPr>
                  <a:t>operacije</a:t>
                </a:r>
                <a:r>
                  <a:rPr lang="en-US" sz="2000" kern="1200" dirty="0">
                    <a:solidFill>
                      <a:schemeClr val="tx1"/>
                    </a:solidFill>
                    <a:latin typeface="+mn-lt"/>
                    <a:ea typeface="+mn-ea"/>
                    <a:cs typeface="+mn-cs"/>
                  </a:rPr>
                  <a:t> u </a:t>
                </a:r>
                <a:r>
                  <a:rPr lang="en-US" sz="2000" kern="1200" dirty="0" err="1">
                    <a:solidFill>
                      <a:schemeClr val="tx1"/>
                    </a:solidFill>
                    <a:latin typeface="+mn-lt"/>
                    <a:ea typeface="+mn-ea"/>
                    <a:cs typeface="+mn-cs"/>
                  </a:rPr>
                  <a:t>visim</a:t>
                </a:r>
                <a:r>
                  <a:rPr lang="en-US" sz="2000" kern="1200" dirty="0">
                    <a:solidFill>
                      <a:schemeClr val="tx1"/>
                    </a:solidFill>
                    <a:latin typeface="+mn-lt"/>
                    <a:ea typeface="+mn-ea"/>
                    <a:cs typeface="+mn-cs"/>
                  </a:rPr>
                  <a:t> </a:t>
                </a:r>
                <a:r>
                  <a:rPr lang="en-US" sz="2000" kern="1200" dirty="0" err="1">
                    <a:solidFill>
                      <a:schemeClr val="tx1"/>
                    </a:solidFill>
                    <a:latin typeface="+mn-lt"/>
                    <a:ea typeface="+mn-ea"/>
                    <a:cs typeface="+mn-cs"/>
                  </a:rPr>
                  <a:t>programskim</a:t>
                </a:r>
                <a:r>
                  <a:rPr lang="en-US" sz="2000" kern="1200" dirty="0">
                    <a:solidFill>
                      <a:schemeClr val="tx1"/>
                    </a:solidFill>
                    <a:latin typeface="+mn-lt"/>
                    <a:ea typeface="+mn-ea"/>
                    <a:cs typeface="+mn-cs"/>
                  </a:rPr>
                  <a:t> </a:t>
                </a:r>
                <a:r>
                  <a:rPr lang="en-US" sz="2000" kern="1200" dirty="0" err="1">
                    <a:solidFill>
                      <a:schemeClr val="tx1"/>
                    </a:solidFill>
                    <a:latin typeface="+mn-lt"/>
                    <a:ea typeface="+mn-ea"/>
                    <a:cs typeface="+mn-cs"/>
                  </a:rPr>
                  <a:t>jezicima</a:t>
                </a:r>
                <a:r>
                  <a:rPr lang="en-US" sz="2000" kern="1200" dirty="0">
                    <a:solidFill>
                      <a:schemeClr val="tx1"/>
                    </a:solidFill>
                    <a:latin typeface="+mn-lt"/>
                    <a:ea typeface="+mn-ea"/>
                    <a:cs typeface="+mn-cs"/>
                  </a:rPr>
                  <a:t>.</a:t>
                </a:r>
              </a:p>
              <a:p>
                <a:pPr marL="457200" indent="-457200">
                  <a:buFont typeface="Arial" panose="020B0604020202020204" pitchFamily="34" charset="0"/>
                  <a:buChar char="•"/>
                </a:pPr>
                <a:endParaRPr lang="en-US" sz="2000" dirty="0"/>
              </a:p>
              <a:p>
                <a:endParaRPr lang="en-US" sz="2000"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35</a:t>
            </a:fld>
            <a:endParaRPr lang="en-US"/>
          </a:p>
        </p:txBody>
      </p:sp>
    </p:spTree>
    <p:extLst>
      <p:ext uri="{BB962C8B-B14F-4D97-AF65-F5344CB8AC3E}">
        <p14:creationId xmlns:p14="http://schemas.microsoft.com/office/powerpoint/2010/main" val="147320031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dirty="0"/>
                  <a:t>Just like the Pauli-X gate, the other Pauli operators can also be turned into controlled gates by adding a control qubit. In this case, the chosen Pauli operation is applied to the target qubit only when the control qubit is in state ∣1⟩.</a:t>
                </a:r>
              </a:p>
              <a:p>
                <a:pPr algn="just"/>
                <a:endParaRPr lang="en-ZA" sz="1200" b="0" dirty="0"/>
              </a:p>
              <a:p>
                <a:pPr algn="just"/>
                <a:r>
                  <a:rPr lang="en-ZA" dirty="0"/>
                  <a:t>The Z gate applies a phase factor of −1 to the ∣1⟩ state. Therefore, the CZ gate applies a phase factor of −1 only to the ∣11⟩ state: ∣10⟩→∣10⟩ and ∣11⟩→−∣11⟩.  In other words, the CZ gate changes the phase only when both qubits are in the ∣1⟩ state, leaving the other computational-basis states unchanged.</a:t>
                </a:r>
                <a:endParaRPr lang="en-US" sz="1200" b="0" dirty="0"/>
              </a:p>
            </p:txBody>
          </p:sp>
        </mc:Choice>
        <mc:Fallback xmlns="">
          <p:sp>
            <p:nvSpPr>
              <p:cNvPr id="3" name="Notes Placeholder 2"/>
              <p:cNvSpPr>
                <a:spLocks noGrp="1"/>
              </p:cNvSpPr>
              <p:nvPr>
                <p:ph type="body" idx="1"/>
              </p:nvPr>
            </p:nvSpPr>
            <p:spPr/>
            <p:txBody>
              <a:bodyPr/>
              <a:lstStyle/>
              <a:p>
                <a:r>
                  <a:rPr lang="en-US" sz="2000" dirty="0"/>
                  <a:t>Dvo-kubitna </a:t>
                </a:r>
                <a:r>
                  <a:rPr lang="en-US" sz="2000" dirty="0" err="1"/>
                  <a:t>elementarna</a:t>
                </a:r>
                <a:r>
                  <a:rPr lang="en-US" sz="2000" dirty="0"/>
                  <a:t> kola </a:t>
                </a:r>
                <a:r>
                  <a:rPr lang="en-US" sz="2000" dirty="0" err="1"/>
                  <a:t>su</a:t>
                </a:r>
                <a:r>
                  <a:rPr lang="en-US" sz="2000" dirty="0"/>
                  <a:t> </a:t>
                </a:r>
                <a:r>
                  <a:rPr lang="en-US" sz="2000" dirty="0" err="1"/>
                  <a:t>akodje</a:t>
                </a:r>
                <a:r>
                  <a:rPr lang="en-US" sz="2000" dirty="0"/>
                  <a:t> </a:t>
                </a:r>
                <a:r>
                  <a:rPr lang="en-US" sz="2000" dirty="0" err="1"/>
                  <a:t>nezaobilazni</a:t>
                </a:r>
                <a:r>
                  <a:rPr lang="en-US" sz="2000" dirty="0"/>
                  <a:t> </a:t>
                </a:r>
                <a:r>
                  <a:rPr lang="en-US" sz="2000" dirty="0" err="1"/>
                  <a:t>elemenat</a:t>
                </a:r>
                <a:r>
                  <a:rPr lang="en-US" sz="2000" dirty="0"/>
                  <a:t> u </a:t>
                </a:r>
                <a:r>
                  <a:rPr lang="en-US" sz="2000" dirty="0" err="1"/>
                  <a:t>kvantnim</a:t>
                </a:r>
                <a:r>
                  <a:rPr lang="en-US" sz="2000" dirty="0"/>
                  <a:t> </a:t>
                </a:r>
                <a:r>
                  <a:rPr lang="en-US" sz="2000" dirty="0" err="1"/>
                  <a:t>racunarima</a:t>
                </a:r>
                <a:r>
                  <a:rPr lang="en-US" sz="2000" dirty="0"/>
                  <a:t>. </a:t>
                </a:r>
              </a:p>
              <a:p>
                <a:pPr marL="457200" indent="-457200">
                  <a:buFont typeface="Arial" panose="020B0604020202020204" pitchFamily="34" charset="0"/>
                  <a:buChar char="•"/>
                </a:pPr>
                <a:r>
                  <a:rPr lang="en-US" sz="2000" dirty="0"/>
                  <a:t>Na primer SWAP </a:t>
                </a:r>
                <a:r>
                  <a:rPr lang="en-US" sz="2000" dirty="0" err="1"/>
                  <a:t>kolo</a:t>
                </a:r>
                <a:r>
                  <a:rPr lang="en-US" sz="2000" dirty="0"/>
                  <a:t> </a:t>
                </a:r>
                <a:r>
                  <a:rPr lang="en-US" sz="2000" dirty="0" err="1"/>
                  <a:t>razmenjuje</a:t>
                </a:r>
                <a:r>
                  <a:rPr lang="en-US" sz="2000" dirty="0"/>
                  <a:t> </a:t>
                </a:r>
                <a:r>
                  <a:rPr lang="en-US" sz="2000" dirty="0" err="1"/>
                  <a:t>stanja</a:t>
                </a:r>
                <a:r>
                  <a:rPr lang="en-US" sz="2000" dirty="0"/>
                  <a:t> </a:t>
                </a:r>
                <a:r>
                  <a:rPr lang="en-US" sz="2000" dirty="0" err="1"/>
                  <a:t>dva</a:t>
                </a:r>
                <a:r>
                  <a:rPr lang="en-US" sz="2000" dirty="0"/>
                  <a:t> </a:t>
                </a:r>
                <a:r>
                  <a:rPr lang="en-US" sz="2000" dirty="0" err="1"/>
                  <a:t>kubita</a:t>
                </a:r>
                <a:r>
                  <a:rPr lang="en-US" sz="2000" dirty="0"/>
                  <a:t>, </a:t>
                </a:r>
                <a:r>
                  <a:rPr lang="en-US" sz="2000" dirty="0" err="1"/>
                  <a:t>tako</a:t>
                </a:r>
                <a:r>
                  <a:rPr lang="en-US" sz="2000" dirty="0"/>
                  <a:t> </a:t>
                </a:r>
                <a:r>
                  <a:rPr lang="en-US" sz="2000" dirty="0" err="1"/>
                  <a:t>sto</a:t>
                </a:r>
                <a:r>
                  <a:rPr lang="en-US" sz="2000" dirty="0"/>
                  <a:t> </a:t>
                </a:r>
                <a:r>
                  <a:rPr lang="en-US" sz="2000" dirty="0" err="1"/>
                  <a:t>kubit</a:t>
                </a:r>
                <a:r>
                  <a:rPr lang="en-US" sz="2000" dirty="0"/>
                  <a:t> </a:t>
                </a:r>
                <a:r>
                  <a:rPr lang="en-US" sz="2000" b="0" i="0">
                    <a:latin typeface="Cambria Math" panose="02040503050406030204" pitchFamily="18" charset="0"/>
                  </a:rPr>
                  <a:t>𝑞_0</a:t>
                </a:r>
                <a:r>
                  <a:rPr lang="en-US" sz="2000" dirty="0"/>
                  <a:t> </a:t>
                </a:r>
                <a:r>
                  <a:rPr lang="en-US" sz="2000" dirty="0" err="1"/>
                  <a:t>sa</a:t>
                </a:r>
                <a:r>
                  <a:rPr lang="en-US" sz="2000" dirty="0"/>
                  <a:t> </a:t>
                </a:r>
                <a:r>
                  <a:rPr lang="en-US" sz="2000" dirty="0" err="1"/>
                  <a:t>slike</a:t>
                </a:r>
                <a:r>
                  <a:rPr lang="en-US" sz="2000" dirty="0"/>
                  <a:t> </a:t>
                </a:r>
                <a:r>
                  <a:rPr lang="en-US" sz="2000" dirty="0" err="1"/>
                  <a:t>preuzima</a:t>
                </a:r>
                <a:r>
                  <a:rPr lang="en-US" sz="2000" baseline="0" dirty="0"/>
                  <a:t> </a:t>
                </a:r>
                <a:r>
                  <a:rPr lang="en-US" sz="2000" baseline="0" dirty="0" err="1"/>
                  <a:t>stanje</a:t>
                </a:r>
                <a:r>
                  <a:rPr lang="en-US" sz="2000" baseline="0" dirty="0"/>
                  <a:t> </a:t>
                </a:r>
                <a:r>
                  <a:rPr lang="en-US" sz="2000" baseline="0" dirty="0" err="1"/>
                  <a:t>kubit</a:t>
                </a:r>
                <a:r>
                  <a:rPr lang="en-US" sz="2000" baseline="0" dirty="0"/>
                  <a:t> </a:t>
                </a:r>
                <a:r>
                  <a:rPr lang="en-US" sz="2000" b="0" i="0">
                    <a:latin typeface="Cambria Math" panose="02040503050406030204" pitchFamily="18" charset="0"/>
                  </a:rPr>
                  <a:t>𝑞_1</a:t>
                </a:r>
                <a:r>
                  <a:rPr lang="en-US" sz="2000" dirty="0"/>
                  <a:t> a </a:t>
                </a:r>
                <a:r>
                  <a:rPr lang="en-US" sz="2000" dirty="0" err="1"/>
                  <a:t>kubit</a:t>
                </a:r>
                <a:r>
                  <a:rPr lang="en-US" sz="2000" dirty="0"/>
                  <a:t> </a:t>
                </a:r>
                <a:r>
                  <a:rPr lang="en-US" sz="2000" b="0" i="0">
                    <a:latin typeface="Cambria Math" panose="02040503050406030204" pitchFamily="18" charset="0"/>
                  </a:rPr>
                  <a:t>𝑞_1</a:t>
                </a:r>
                <a:r>
                  <a:rPr lang="en-US" sz="2000" dirty="0" err="1"/>
                  <a:t>stanje</a:t>
                </a:r>
                <a:r>
                  <a:rPr lang="en-US" sz="2000" dirty="0"/>
                  <a:t> </a:t>
                </a:r>
                <a:r>
                  <a:rPr lang="en-US" sz="2000" dirty="0" err="1"/>
                  <a:t>kubit</a:t>
                </a:r>
                <a:r>
                  <a:rPr lang="en-US" sz="2000" dirty="0"/>
                  <a:t> </a:t>
                </a:r>
                <a:r>
                  <a:rPr lang="en-US" sz="2000" b="0" i="0">
                    <a:latin typeface="Cambria Math" panose="02040503050406030204" pitchFamily="18" charset="0"/>
                  </a:rPr>
                  <a:t>𝑞_0</a:t>
                </a:r>
                <a:r>
                  <a:rPr lang="en-US" sz="2000" dirty="0"/>
                  <a:t>.</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dirty="0"/>
                  <a:t>CNOT </a:t>
                </a:r>
                <a:r>
                  <a:rPr lang="en-US" sz="2000" dirty="0" err="1"/>
                  <a:t>ili</a:t>
                </a:r>
                <a:r>
                  <a:rPr lang="en-US" sz="2000" dirty="0"/>
                  <a:t> </a:t>
                </a:r>
                <a:r>
                  <a:rPr lang="en-US" sz="2000" dirty="0" err="1"/>
                  <a:t>kontrolisano</a:t>
                </a:r>
                <a:r>
                  <a:rPr lang="en-US" sz="2000" dirty="0"/>
                  <a:t> NOT, </a:t>
                </a:r>
                <a:r>
                  <a:rPr lang="en-US" sz="2000" dirty="0" err="1"/>
                  <a:t>ili</a:t>
                </a:r>
                <a:r>
                  <a:rPr lang="en-US" sz="2000" dirty="0"/>
                  <a:t> </a:t>
                </a:r>
                <a:r>
                  <a:rPr lang="en-US" sz="2000" dirty="0" err="1"/>
                  <a:t>kontrolisano</a:t>
                </a:r>
                <a:r>
                  <a:rPr lang="en-US" sz="2000" dirty="0"/>
                  <a:t> X </a:t>
                </a:r>
                <a:r>
                  <a:rPr lang="en-US" sz="2000" dirty="0" err="1"/>
                  <a:t>kolo</a:t>
                </a:r>
                <a:r>
                  <a:rPr lang="en-US" sz="2000" dirty="0"/>
                  <a:t> </a:t>
                </a:r>
                <a:r>
                  <a:rPr lang="en-US" sz="2000" kern="1200" dirty="0" err="1">
                    <a:solidFill>
                      <a:schemeClr val="tx1"/>
                    </a:solidFill>
                    <a:latin typeface="+mn-lt"/>
                    <a:ea typeface="+mn-ea"/>
                    <a:cs typeface="+mn-cs"/>
                  </a:rPr>
                  <a:t>primenjuje</a:t>
                </a:r>
                <a:r>
                  <a:rPr lang="en-US" sz="2000" kern="1200" dirty="0">
                    <a:solidFill>
                      <a:schemeClr val="tx1"/>
                    </a:solidFill>
                    <a:latin typeface="+mn-lt"/>
                    <a:ea typeface="+mn-ea"/>
                    <a:cs typeface="+mn-cs"/>
                  </a:rPr>
                  <a:t> X operator </a:t>
                </a:r>
                <a:r>
                  <a:rPr lang="en-US" sz="2000" kern="1200" dirty="0" err="1">
                    <a:solidFill>
                      <a:schemeClr val="tx1"/>
                    </a:solidFill>
                    <a:latin typeface="+mn-lt"/>
                    <a:ea typeface="+mn-ea"/>
                    <a:cs typeface="+mn-cs"/>
                  </a:rPr>
                  <a:t>na</a:t>
                </a:r>
                <a:r>
                  <a:rPr lang="en-US" sz="2000" kern="1200" dirty="0">
                    <a:solidFill>
                      <a:schemeClr val="tx1"/>
                    </a:solidFill>
                    <a:latin typeface="+mn-lt"/>
                    <a:ea typeface="+mn-ea"/>
                    <a:cs typeface="+mn-cs"/>
                  </a:rPr>
                  <a:t> </a:t>
                </a:r>
                <a:r>
                  <a:rPr lang="en-US" sz="2000" kern="1200" dirty="0" err="1">
                    <a:solidFill>
                      <a:schemeClr val="tx1"/>
                    </a:solidFill>
                    <a:latin typeface="+mn-lt"/>
                    <a:ea typeface="+mn-ea"/>
                    <a:cs typeface="+mn-cs"/>
                  </a:rPr>
                  <a:t>ciljni</a:t>
                </a:r>
                <a:r>
                  <a:rPr lang="en-US" sz="2000" kern="1200" dirty="0">
                    <a:solidFill>
                      <a:schemeClr val="tx1"/>
                    </a:solidFill>
                    <a:latin typeface="+mn-lt"/>
                    <a:ea typeface="+mn-ea"/>
                    <a:cs typeface="+mn-cs"/>
                  </a:rPr>
                  <a:t> </a:t>
                </a:r>
                <a:r>
                  <a:rPr lang="en-US" sz="2000" kern="1200" dirty="0" err="1">
                    <a:solidFill>
                      <a:schemeClr val="tx1"/>
                    </a:solidFill>
                    <a:latin typeface="+mn-lt"/>
                    <a:ea typeface="+mn-ea"/>
                    <a:cs typeface="+mn-cs"/>
                  </a:rPr>
                  <a:t>kubit</a:t>
                </a:r>
                <a:r>
                  <a:rPr lang="en-US" sz="2000" kern="1200" dirty="0">
                    <a:solidFill>
                      <a:schemeClr val="tx1"/>
                    </a:solidFill>
                    <a:latin typeface="+mn-lt"/>
                    <a:ea typeface="+mn-ea"/>
                    <a:cs typeface="+mn-cs"/>
                  </a:rPr>
                  <a:t> </a:t>
                </a:r>
                <a:r>
                  <a:rPr lang="en-US" sz="1800" i="0">
                    <a:latin typeface="Cambria Math" panose="02040503050406030204" pitchFamily="18" charset="0"/>
                  </a:rPr>
                  <a:t>𝑞_</a:t>
                </a:r>
                <a:r>
                  <a:rPr lang="en-US" sz="1800" b="0" i="0">
                    <a:latin typeface="Cambria Math" panose="02040503050406030204" pitchFamily="18" charset="0"/>
                  </a:rPr>
                  <a:t>1 </a:t>
                </a:r>
                <a:r>
                  <a:rPr lang="en-US" sz="1800" i="0">
                    <a:latin typeface="Cambria Math" panose="02040503050406030204" pitchFamily="18" charset="0"/>
                  </a:rPr>
                  <a:t> </a:t>
                </a:r>
                <a:r>
                  <a:rPr lang="en-US" sz="2000" kern="1200" dirty="0" err="1">
                    <a:solidFill>
                      <a:schemeClr val="tx1"/>
                    </a:solidFill>
                    <a:latin typeface="+mn-lt"/>
                    <a:ea typeface="+mn-ea"/>
                    <a:cs typeface="+mn-cs"/>
                  </a:rPr>
                  <a:t>ako</a:t>
                </a:r>
                <a:r>
                  <a:rPr lang="en-US" sz="2000" kern="1200" dirty="0">
                    <a:solidFill>
                      <a:schemeClr val="tx1"/>
                    </a:solidFill>
                    <a:latin typeface="+mn-lt"/>
                    <a:ea typeface="+mn-ea"/>
                    <a:cs typeface="+mn-cs"/>
                  </a:rPr>
                  <a:t> </a:t>
                </a:r>
                <a:r>
                  <a:rPr lang="en-US" sz="2000" kern="1200" dirty="0" err="1">
                    <a:solidFill>
                      <a:schemeClr val="tx1"/>
                    </a:solidFill>
                    <a:latin typeface="+mn-lt"/>
                    <a:ea typeface="+mn-ea"/>
                    <a:cs typeface="+mn-cs"/>
                  </a:rPr>
                  <a:t>je</a:t>
                </a:r>
                <a:r>
                  <a:rPr lang="en-US" sz="2000" kern="1200" dirty="0">
                    <a:solidFill>
                      <a:schemeClr val="tx1"/>
                    </a:solidFill>
                    <a:latin typeface="+mn-lt"/>
                    <a:ea typeface="+mn-ea"/>
                    <a:cs typeface="+mn-cs"/>
                  </a:rPr>
                  <a:t> </a:t>
                </a:r>
                <a:r>
                  <a:rPr lang="en-US" sz="2000" kern="1200" dirty="0" err="1">
                    <a:solidFill>
                      <a:schemeClr val="tx1"/>
                    </a:solidFill>
                    <a:latin typeface="+mn-lt"/>
                    <a:ea typeface="+mn-ea"/>
                    <a:cs typeface="+mn-cs"/>
                  </a:rPr>
                  <a:t>kontrolni</a:t>
                </a:r>
                <a:r>
                  <a:rPr lang="en-US" sz="2000" kern="1200" dirty="0">
                    <a:solidFill>
                      <a:schemeClr val="tx1"/>
                    </a:solidFill>
                    <a:latin typeface="+mn-lt"/>
                    <a:ea typeface="+mn-ea"/>
                    <a:cs typeface="+mn-cs"/>
                  </a:rPr>
                  <a:t> </a:t>
                </a:r>
                <a:r>
                  <a:rPr lang="en-US" sz="2000" kern="1200" dirty="0" err="1">
                    <a:solidFill>
                      <a:schemeClr val="tx1"/>
                    </a:solidFill>
                    <a:latin typeface="+mn-lt"/>
                    <a:ea typeface="+mn-ea"/>
                    <a:cs typeface="+mn-cs"/>
                  </a:rPr>
                  <a:t>kubit</a:t>
                </a:r>
                <a:r>
                  <a:rPr lang="en-US" sz="2000" kern="1200" dirty="0">
                    <a:solidFill>
                      <a:schemeClr val="tx1"/>
                    </a:solidFill>
                    <a:latin typeface="+mn-lt"/>
                    <a:ea typeface="+mn-ea"/>
                    <a:cs typeface="+mn-cs"/>
                  </a:rPr>
                  <a:t>  </a:t>
                </a:r>
                <a:r>
                  <a:rPr lang="en-US" sz="2000" i="0">
                    <a:latin typeface="Cambria Math" panose="02040503050406030204" pitchFamily="18" charset="0"/>
                  </a:rPr>
                  <a:t>𝑞_0</a:t>
                </a:r>
                <a:r>
                  <a:rPr lang="en-US" sz="2000" kern="1200" dirty="0">
                    <a:solidFill>
                      <a:schemeClr val="tx1"/>
                    </a:solidFill>
                    <a:latin typeface="+mn-lt"/>
                    <a:ea typeface="+mn-ea"/>
                    <a:cs typeface="+mn-cs"/>
                  </a:rPr>
                  <a:t> u </a:t>
                </a:r>
                <a:r>
                  <a:rPr lang="en-US" sz="2000" kern="1200" dirty="0" err="1">
                    <a:solidFill>
                      <a:schemeClr val="tx1"/>
                    </a:solidFill>
                    <a:latin typeface="+mn-lt"/>
                    <a:ea typeface="+mn-ea"/>
                    <a:cs typeface="+mn-cs"/>
                  </a:rPr>
                  <a:t>stanju</a:t>
                </a:r>
                <a:r>
                  <a:rPr lang="en-US" sz="2000" kern="1200" dirty="0">
                    <a:solidFill>
                      <a:schemeClr val="tx1"/>
                    </a:solidFill>
                    <a:latin typeface="+mn-lt"/>
                    <a:ea typeface="+mn-ea"/>
                    <a:cs typeface="+mn-cs"/>
                  </a:rPr>
                  <a:t> ∣1⟩. </a:t>
                </a:r>
                <a:r>
                  <a:rPr lang="en-US" sz="2000" kern="1200" dirty="0" err="1">
                    <a:solidFill>
                      <a:schemeClr val="tx1"/>
                    </a:solidFill>
                    <a:latin typeface="+mn-lt"/>
                    <a:ea typeface="+mn-ea"/>
                    <a:cs typeface="+mn-cs"/>
                  </a:rPr>
                  <a:t>Ovo</a:t>
                </a:r>
                <a:r>
                  <a:rPr lang="en-US" sz="2000" kern="1200" dirty="0">
                    <a:solidFill>
                      <a:schemeClr val="tx1"/>
                    </a:solidFill>
                    <a:latin typeface="+mn-lt"/>
                    <a:ea typeface="+mn-ea"/>
                    <a:cs typeface="+mn-cs"/>
                  </a:rPr>
                  <a:t> </a:t>
                </a:r>
                <a:r>
                  <a:rPr lang="en-US" sz="2000" kern="1200" dirty="0" err="1">
                    <a:solidFill>
                      <a:schemeClr val="tx1"/>
                    </a:solidFill>
                    <a:latin typeface="+mn-lt"/>
                    <a:ea typeface="+mn-ea"/>
                    <a:cs typeface="+mn-cs"/>
                  </a:rPr>
                  <a:t>kolo</a:t>
                </a:r>
                <a:r>
                  <a:rPr lang="en-US" sz="2000" kern="1200" dirty="0">
                    <a:solidFill>
                      <a:schemeClr val="tx1"/>
                    </a:solidFill>
                    <a:latin typeface="+mn-lt"/>
                    <a:ea typeface="+mn-ea"/>
                    <a:cs typeface="+mn-cs"/>
                  </a:rPr>
                  <a:t> </a:t>
                </a:r>
                <a:r>
                  <a:rPr lang="en-US" sz="2000" kern="1200" dirty="0" err="1">
                    <a:solidFill>
                      <a:schemeClr val="tx1"/>
                    </a:solidFill>
                    <a:latin typeface="+mn-lt"/>
                    <a:ea typeface="+mn-ea"/>
                    <a:cs typeface="+mn-cs"/>
                  </a:rPr>
                  <a:t>je</a:t>
                </a:r>
                <a:r>
                  <a:rPr lang="en-US" sz="2000" kern="1200" dirty="0">
                    <a:solidFill>
                      <a:schemeClr val="tx1"/>
                    </a:solidFill>
                    <a:latin typeface="+mn-lt"/>
                    <a:ea typeface="+mn-ea"/>
                    <a:cs typeface="+mn-cs"/>
                  </a:rPr>
                  <a:t> </a:t>
                </a:r>
                <a:r>
                  <a:rPr lang="en-US" sz="2000" kern="1200" dirty="0" err="1">
                    <a:solidFill>
                      <a:schemeClr val="tx1"/>
                    </a:solidFill>
                    <a:latin typeface="+mn-lt"/>
                    <a:ea typeface="+mn-ea"/>
                    <a:cs typeface="+mn-cs"/>
                  </a:rPr>
                  <a:t>ekvivalent</a:t>
                </a:r>
                <a:r>
                  <a:rPr lang="en-US" sz="2000" kern="1200" dirty="0">
                    <a:solidFill>
                      <a:schemeClr val="tx1"/>
                    </a:solidFill>
                    <a:latin typeface="+mn-lt"/>
                    <a:ea typeface="+mn-ea"/>
                    <a:cs typeface="+mn-cs"/>
                  </a:rPr>
                  <a:t> ‘if’ </a:t>
                </a:r>
                <a:r>
                  <a:rPr lang="en-US" sz="2000" kern="1200" dirty="0" err="1">
                    <a:solidFill>
                      <a:schemeClr val="tx1"/>
                    </a:solidFill>
                    <a:latin typeface="+mn-lt"/>
                    <a:ea typeface="+mn-ea"/>
                    <a:cs typeface="+mn-cs"/>
                  </a:rPr>
                  <a:t>operacije</a:t>
                </a:r>
                <a:r>
                  <a:rPr lang="en-US" sz="2000" kern="1200" dirty="0">
                    <a:solidFill>
                      <a:schemeClr val="tx1"/>
                    </a:solidFill>
                    <a:latin typeface="+mn-lt"/>
                    <a:ea typeface="+mn-ea"/>
                    <a:cs typeface="+mn-cs"/>
                  </a:rPr>
                  <a:t> u </a:t>
                </a:r>
                <a:r>
                  <a:rPr lang="en-US" sz="2000" kern="1200" dirty="0" err="1">
                    <a:solidFill>
                      <a:schemeClr val="tx1"/>
                    </a:solidFill>
                    <a:latin typeface="+mn-lt"/>
                    <a:ea typeface="+mn-ea"/>
                    <a:cs typeface="+mn-cs"/>
                  </a:rPr>
                  <a:t>visim</a:t>
                </a:r>
                <a:r>
                  <a:rPr lang="en-US" sz="2000" kern="1200" dirty="0">
                    <a:solidFill>
                      <a:schemeClr val="tx1"/>
                    </a:solidFill>
                    <a:latin typeface="+mn-lt"/>
                    <a:ea typeface="+mn-ea"/>
                    <a:cs typeface="+mn-cs"/>
                  </a:rPr>
                  <a:t> </a:t>
                </a:r>
                <a:r>
                  <a:rPr lang="en-US" sz="2000" kern="1200" dirty="0" err="1">
                    <a:solidFill>
                      <a:schemeClr val="tx1"/>
                    </a:solidFill>
                    <a:latin typeface="+mn-lt"/>
                    <a:ea typeface="+mn-ea"/>
                    <a:cs typeface="+mn-cs"/>
                  </a:rPr>
                  <a:t>programskim</a:t>
                </a:r>
                <a:r>
                  <a:rPr lang="en-US" sz="2000" kern="1200" dirty="0">
                    <a:solidFill>
                      <a:schemeClr val="tx1"/>
                    </a:solidFill>
                    <a:latin typeface="+mn-lt"/>
                    <a:ea typeface="+mn-ea"/>
                    <a:cs typeface="+mn-cs"/>
                  </a:rPr>
                  <a:t> </a:t>
                </a:r>
                <a:r>
                  <a:rPr lang="en-US" sz="2000" kern="1200" dirty="0" err="1">
                    <a:solidFill>
                      <a:schemeClr val="tx1"/>
                    </a:solidFill>
                    <a:latin typeface="+mn-lt"/>
                    <a:ea typeface="+mn-ea"/>
                    <a:cs typeface="+mn-cs"/>
                  </a:rPr>
                  <a:t>jezicima</a:t>
                </a:r>
                <a:r>
                  <a:rPr lang="en-US" sz="2000" kern="1200" dirty="0">
                    <a:solidFill>
                      <a:schemeClr val="tx1"/>
                    </a:solidFill>
                    <a:latin typeface="+mn-lt"/>
                    <a:ea typeface="+mn-ea"/>
                    <a:cs typeface="+mn-cs"/>
                  </a:rPr>
                  <a:t>.</a:t>
                </a:r>
              </a:p>
              <a:p>
                <a:pPr marL="457200" indent="-457200">
                  <a:buFont typeface="Arial" panose="020B0604020202020204" pitchFamily="34" charset="0"/>
                  <a:buChar char="•"/>
                </a:pPr>
                <a:endParaRPr lang="en-US" sz="2000" dirty="0"/>
              </a:p>
              <a:p>
                <a:endParaRPr lang="en-US" sz="2000"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36</a:t>
            </a:fld>
            <a:endParaRPr lang="en-US"/>
          </a:p>
        </p:txBody>
      </p:sp>
    </p:spTree>
    <p:extLst>
      <p:ext uri="{BB962C8B-B14F-4D97-AF65-F5344CB8AC3E}">
        <p14:creationId xmlns:p14="http://schemas.microsoft.com/office/powerpoint/2010/main" val="419485064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dirty="0"/>
                  <a:t>In the same way, we can define a controlled-Hadamard, or CH, gate. Here, the Hadamard transformation is applied to the target qubit only when the control qubit is in state ∣1⟩. The CH gate is useful when we want to apply the Hadamard transformation, and potentially create a superposition, only under a certain condition.</a:t>
                </a:r>
                <a:endParaRPr lang="en-ZA" b="0" dirty="0"/>
              </a:p>
            </p:txBody>
          </p:sp>
        </mc:Choice>
        <mc:Fallback xmlns="">
          <p:sp>
            <p:nvSpPr>
              <p:cNvPr id="3" name="Notes Placeholder 2"/>
              <p:cNvSpPr>
                <a:spLocks noGrp="1"/>
              </p:cNvSpPr>
              <p:nvPr>
                <p:ph type="body" idx="1"/>
              </p:nvPr>
            </p:nvSpPr>
            <p:spPr/>
            <p:txBody>
              <a:bodyPr/>
              <a:lstStyle/>
              <a:p>
                <a:r>
                  <a:rPr lang="en-US" sz="2000" dirty="0"/>
                  <a:t>Dvo-kubitna </a:t>
                </a:r>
                <a:r>
                  <a:rPr lang="en-US" sz="2000" dirty="0" err="1"/>
                  <a:t>elementarna</a:t>
                </a:r>
                <a:r>
                  <a:rPr lang="en-US" sz="2000" dirty="0"/>
                  <a:t> kola </a:t>
                </a:r>
                <a:r>
                  <a:rPr lang="en-US" sz="2000" dirty="0" err="1"/>
                  <a:t>su</a:t>
                </a:r>
                <a:r>
                  <a:rPr lang="en-US" sz="2000" dirty="0"/>
                  <a:t> </a:t>
                </a:r>
                <a:r>
                  <a:rPr lang="en-US" sz="2000" dirty="0" err="1"/>
                  <a:t>akodje</a:t>
                </a:r>
                <a:r>
                  <a:rPr lang="en-US" sz="2000" dirty="0"/>
                  <a:t> </a:t>
                </a:r>
                <a:r>
                  <a:rPr lang="en-US" sz="2000" dirty="0" err="1"/>
                  <a:t>nezaobilazni</a:t>
                </a:r>
                <a:r>
                  <a:rPr lang="en-US" sz="2000" dirty="0"/>
                  <a:t> </a:t>
                </a:r>
                <a:r>
                  <a:rPr lang="en-US" sz="2000" dirty="0" err="1"/>
                  <a:t>elemenat</a:t>
                </a:r>
                <a:r>
                  <a:rPr lang="en-US" sz="2000" dirty="0"/>
                  <a:t> u </a:t>
                </a:r>
                <a:r>
                  <a:rPr lang="en-US" sz="2000" dirty="0" err="1"/>
                  <a:t>kvantnim</a:t>
                </a:r>
                <a:r>
                  <a:rPr lang="en-US" sz="2000" dirty="0"/>
                  <a:t> </a:t>
                </a:r>
                <a:r>
                  <a:rPr lang="en-US" sz="2000" dirty="0" err="1"/>
                  <a:t>racunarima</a:t>
                </a:r>
                <a:r>
                  <a:rPr lang="en-US" sz="2000" dirty="0"/>
                  <a:t>. </a:t>
                </a:r>
              </a:p>
              <a:p>
                <a:pPr marL="457200" indent="-457200">
                  <a:buFont typeface="Arial" panose="020B0604020202020204" pitchFamily="34" charset="0"/>
                  <a:buChar char="•"/>
                </a:pPr>
                <a:r>
                  <a:rPr lang="en-US" sz="2000" dirty="0"/>
                  <a:t>Na primer SWAP </a:t>
                </a:r>
                <a:r>
                  <a:rPr lang="en-US" sz="2000" dirty="0" err="1"/>
                  <a:t>kolo</a:t>
                </a:r>
                <a:r>
                  <a:rPr lang="en-US" sz="2000" dirty="0"/>
                  <a:t> </a:t>
                </a:r>
                <a:r>
                  <a:rPr lang="en-US" sz="2000" dirty="0" err="1"/>
                  <a:t>razmenjuje</a:t>
                </a:r>
                <a:r>
                  <a:rPr lang="en-US" sz="2000" dirty="0"/>
                  <a:t> </a:t>
                </a:r>
                <a:r>
                  <a:rPr lang="en-US" sz="2000" dirty="0" err="1"/>
                  <a:t>stanja</a:t>
                </a:r>
                <a:r>
                  <a:rPr lang="en-US" sz="2000" dirty="0"/>
                  <a:t> </a:t>
                </a:r>
                <a:r>
                  <a:rPr lang="en-US" sz="2000" dirty="0" err="1"/>
                  <a:t>dva</a:t>
                </a:r>
                <a:r>
                  <a:rPr lang="en-US" sz="2000" dirty="0"/>
                  <a:t> </a:t>
                </a:r>
                <a:r>
                  <a:rPr lang="en-US" sz="2000" dirty="0" err="1"/>
                  <a:t>kubita</a:t>
                </a:r>
                <a:r>
                  <a:rPr lang="en-US" sz="2000" dirty="0"/>
                  <a:t>, </a:t>
                </a:r>
                <a:r>
                  <a:rPr lang="en-US" sz="2000" dirty="0" err="1"/>
                  <a:t>tako</a:t>
                </a:r>
                <a:r>
                  <a:rPr lang="en-US" sz="2000" dirty="0"/>
                  <a:t> </a:t>
                </a:r>
                <a:r>
                  <a:rPr lang="en-US" sz="2000" dirty="0" err="1"/>
                  <a:t>sto</a:t>
                </a:r>
                <a:r>
                  <a:rPr lang="en-US" sz="2000" dirty="0"/>
                  <a:t> </a:t>
                </a:r>
                <a:r>
                  <a:rPr lang="en-US" sz="2000" dirty="0" err="1"/>
                  <a:t>kubit</a:t>
                </a:r>
                <a:r>
                  <a:rPr lang="en-US" sz="2000" dirty="0"/>
                  <a:t> </a:t>
                </a:r>
                <a:r>
                  <a:rPr lang="en-US" sz="2000" b="0" i="0">
                    <a:latin typeface="Cambria Math" panose="02040503050406030204" pitchFamily="18" charset="0"/>
                  </a:rPr>
                  <a:t>𝑞_0</a:t>
                </a:r>
                <a:r>
                  <a:rPr lang="en-US" sz="2000" dirty="0"/>
                  <a:t> </a:t>
                </a:r>
                <a:r>
                  <a:rPr lang="en-US" sz="2000" dirty="0" err="1"/>
                  <a:t>sa</a:t>
                </a:r>
                <a:r>
                  <a:rPr lang="en-US" sz="2000" dirty="0"/>
                  <a:t> </a:t>
                </a:r>
                <a:r>
                  <a:rPr lang="en-US" sz="2000" dirty="0" err="1"/>
                  <a:t>slike</a:t>
                </a:r>
                <a:r>
                  <a:rPr lang="en-US" sz="2000" dirty="0"/>
                  <a:t> </a:t>
                </a:r>
                <a:r>
                  <a:rPr lang="en-US" sz="2000" dirty="0" err="1"/>
                  <a:t>preuzima</a:t>
                </a:r>
                <a:r>
                  <a:rPr lang="en-US" sz="2000" baseline="0" dirty="0"/>
                  <a:t> </a:t>
                </a:r>
                <a:r>
                  <a:rPr lang="en-US" sz="2000" baseline="0" dirty="0" err="1"/>
                  <a:t>stanje</a:t>
                </a:r>
                <a:r>
                  <a:rPr lang="en-US" sz="2000" baseline="0" dirty="0"/>
                  <a:t> </a:t>
                </a:r>
                <a:r>
                  <a:rPr lang="en-US" sz="2000" baseline="0" dirty="0" err="1"/>
                  <a:t>kubit</a:t>
                </a:r>
                <a:r>
                  <a:rPr lang="en-US" sz="2000" baseline="0" dirty="0"/>
                  <a:t> </a:t>
                </a:r>
                <a:r>
                  <a:rPr lang="en-US" sz="2000" b="0" i="0">
                    <a:latin typeface="Cambria Math" panose="02040503050406030204" pitchFamily="18" charset="0"/>
                  </a:rPr>
                  <a:t>𝑞_1</a:t>
                </a:r>
                <a:r>
                  <a:rPr lang="en-US" sz="2000" dirty="0"/>
                  <a:t> a </a:t>
                </a:r>
                <a:r>
                  <a:rPr lang="en-US" sz="2000" dirty="0" err="1"/>
                  <a:t>kubit</a:t>
                </a:r>
                <a:r>
                  <a:rPr lang="en-US" sz="2000" dirty="0"/>
                  <a:t> </a:t>
                </a:r>
                <a:r>
                  <a:rPr lang="en-US" sz="2000" b="0" i="0">
                    <a:latin typeface="Cambria Math" panose="02040503050406030204" pitchFamily="18" charset="0"/>
                  </a:rPr>
                  <a:t>𝑞_1</a:t>
                </a:r>
                <a:r>
                  <a:rPr lang="en-US" sz="2000" dirty="0" err="1"/>
                  <a:t>stanje</a:t>
                </a:r>
                <a:r>
                  <a:rPr lang="en-US" sz="2000" dirty="0"/>
                  <a:t> </a:t>
                </a:r>
                <a:r>
                  <a:rPr lang="en-US" sz="2000" dirty="0" err="1"/>
                  <a:t>kubit</a:t>
                </a:r>
                <a:r>
                  <a:rPr lang="en-US" sz="2000" dirty="0"/>
                  <a:t> </a:t>
                </a:r>
                <a:r>
                  <a:rPr lang="en-US" sz="2000" b="0" i="0">
                    <a:latin typeface="Cambria Math" panose="02040503050406030204" pitchFamily="18" charset="0"/>
                  </a:rPr>
                  <a:t>𝑞_0</a:t>
                </a:r>
                <a:r>
                  <a:rPr lang="en-US" sz="2000" dirty="0"/>
                  <a:t>.</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dirty="0"/>
                  <a:t>CNOT </a:t>
                </a:r>
                <a:r>
                  <a:rPr lang="en-US" sz="2000" dirty="0" err="1"/>
                  <a:t>ili</a:t>
                </a:r>
                <a:r>
                  <a:rPr lang="en-US" sz="2000" dirty="0"/>
                  <a:t> </a:t>
                </a:r>
                <a:r>
                  <a:rPr lang="en-US" sz="2000" dirty="0" err="1"/>
                  <a:t>kontrolisano</a:t>
                </a:r>
                <a:r>
                  <a:rPr lang="en-US" sz="2000" dirty="0"/>
                  <a:t> NOT, </a:t>
                </a:r>
                <a:r>
                  <a:rPr lang="en-US" sz="2000" dirty="0" err="1"/>
                  <a:t>ili</a:t>
                </a:r>
                <a:r>
                  <a:rPr lang="en-US" sz="2000" dirty="0"/>
                  <a:t> </a:t>
                </a:r>
                <a:r>
                  <a:rPr lang="en-US" sz="2000" dirty="0" err="1"/>
                  <a:t>kontrolisano</a:t>
                </a:r>
                <a:r>
                  <a:rPr lang="en-US" sz="2000" dirty="0"/>
                  <a:t> X </a:t>
                </a:r>
                <a:r>
                  <a:rPr lang="en-US" sz="2000" dirty="0" err="1"/>
                  <a:t>kolo</a:t>
                </a:r>
                <a:r>
                  <a:rPr lang="en-US" sz="2000" dirty="0"/>
                  <a:t> </a:t>
                </a:r>
                <a:r>
                  <a:rPr lang="en-US" sz="2000" kern="1200" dirty="0" err="1">
                    <a:solidFill>
                      <a:schemeClr val="tx1"/>
                    </a:solidFill>
                    <a:latin typeface="+mn-lt"/>
                    <a:ea typeface="+mn-ea"/>
                    <a:cs typeface="+mn-cs"/>
                  </a:rPr>
                  <a:t>primenjuje</a:t>
                </a:r>
                <a:r>
                  <a:rPr lang="en-US" sz="2000" kern="1200" dirty="0">
                    <a:solidFill>
                      <a:schemeClr val="tx1"/>
                    </a:solidFill>
                    <a:latin typeface="+mn-lt"/>
                    <a:ea typeface="+mn-ea"/>
                    <a:cs typeface="+mn-cs"/>
                  </a:rPr>
                  <a:t> X operator </a:t>
                </a:r>
                <a:r>
                  <a:rPr lang="en-US" sz="2000" kern="1200" dirty="0" err="1">
                    <a:solidFill>
                      <a:schemeClr val="tx1"/>
                    </a:solidFill>
                    <a:latin typeface="+mn-lt"/>
                    <a:ea typeface="+mn-ea"/>
                    <a:cs typeface="+mn-cs"/>
                  </a:rPr>
                  <a:t>na</a:t>
                </a:r>
                <a:r>
                  <a:rPr lang="en-US" sz="2000" kern="1200" dirty="0">
                    <a:solidFill>
                      <a:schemeClr val="tx1"/>
                    </a:solidFill>
                    <a:latin typeface="+mn-lt"/>
                    <a:ea typeface="+mn-ea"/>
                    <a:cs typeface="+mn-cs"/>
                  </a:rPr>
                  <a:t> </a:t>
                </a:r>
                <a:r>
                  <a:rPr lang="en-US" sz="2000" kern="1200" dirty="0" err="1">
                    <a:solidFill>
                      <a:schemeClr val="tx1"/>
                    </a:solidFill>
                    <a:latin typeface="+mn-lt"/>
                    <a:ea typeface="+mn-ea"/>
                    <a:cs typeface="+mn-cs"/>
                  </a:rPr>
                  <a:t>ciljni</a:t>
                </a:r>
                <a:r>
                  <a:rPr lang="en-US" sz="2000" kern="1200" dirty="0">
                    <a:solidFill>
                      <a:schemeClr val="tx1"/>
                    </a:solidFill>
                    <a:latin typeface="+mn-lt"/>
                    <a:ea typeface="+mn-ea"/>
                    <a:cs typeface="+mn-cs"/>
                  </a:rPr>
                  <a:t> </a:t>
                </a:r>
                <a:r>
                  <a:rPr lang="en-US" sz="2000" kern="1200" dirty="0" err="1">
                    <a:solidFill>
                      <a:schemeClr val="tx1"/>
                    </a:solidFill>
                    <a:latin typeface="+mn-lt"/>
                    <a:ea typeface="+mn-ea"/>
                    <a:cs typeface="+mn-cs"/>
                  </a:rPr>
                  <a:t>kubit</a:t>
                </a:r>
                <a:r>
                  <a:rPr lang="en-US" sz="2000" kern="1200" dirty="0">
                    <a:solidFill>
                      <a:schemeClr val="tx1"/>
                    </a:solidFill>
                    <a:latin typeface="+mn-lt"/>
                    <a:ea typeface="+mn-ea"/>
                    <a:cs typeface="+mn-cs"/>
                  </a:rPr>
                  <a:t> </a:t>
                </a:r>
                <a:r>
                  <a:rPr lang="en-US" sz="1800" i="0">
                    <a:latin typeface="Cambria Math" panose="02040503050406030204" pitchFamily="18" charset="0"/>
                  </a:rPr>
                  <a:t>𝑞_</a:t>
                </a:r>
                <a:r>
                  <a:rPr lang="en-US" sz="1800" b="0" i="0">
                    <a:latin typeface="Cambria Math" panose="02040503050406030204" pitchFamily="18" charset="0"/>
                  </a:rPr>
                  <a:t>1 </a:t>
                </a:r>
                <a:r>
                  <a:rPr lang="en-US" sz="1800" i="0">
                    <a:latin typeface="Cambria Math" panose="02040503050406030204" pitchFamily="18" charset="0"/>
                  </a:rPr>
                  <a:t> </a:t>
                </a:r>
                <a:r>
                  <a:rPr lang="en-US" sz="2000" kern="1200" dirty="0" err="1">
                    <a:solidFill>
                      <a:schemeClr val="tx1"/>
                    </a:solidFill>
                    <a:latin typeface="+mn-lt"/>
                    <a:ea typeface="+mn-ea"/>
                    <a:cs typeface="+mn-cs"/>
                  </a:rPr>
                  <a:t>ako</a:t>
                </a:r>
                <a:r>
                  <a:rPr lang="en-US" sz="2000" kern="1200" dirty="0">
                    <a:solidFill>
                      <a:schemeClr val="tx1"/>
                    </a:solidFill>
                    <a:latin typeface="+mn-lt"/>
                    <a:ea typeface="+mn-ea"/>
                    <a:cs typeface="+mn-cs"/>
                  </a:rPr>
                  <a:t> </a:t>
                </a:r>
                <a:r>
                  <a:rPr lang="en-US" sz="2000" kern="1200" dirty="0" err="1">
                    <a:solidFill>
                      <a:schemeClr val="tx1"/>
                    </a:solidFill>
                    <a:latin typeface="+mn-lt"/>
                    <a:ea typeface="+mn-ea"/>
                    <a:cs typeface="+mn-cs"/>
                  </a:rPr>
                  <a:t>je</a:t>
                </a:r>
                <a:r>
                  <a:rPr lang="en-US" sz="2000" kern="1200" dirty="0">
                    <a:solidFill>
                      <a:schemeClr val="tx1"/>
                    </a:solidFill>
                    <a:latin typeface="+mn-lt"/>
                    <a:ea typeface="+mn-ea"/>
                    <a:cs typeface="+mn-cs"/>
                  </a:rPr>
                  <a:t> </a:t>
                </a:r>
                <a:r>
                  <a:rPr lang="en-US" sz="2000" kern="1200" dirty="0" err="1">
                    <a:solidFill>
                      <a:schemeClr val="tx1"/>
                    </a:solidFill>
                    <a:latin typeface="+mn-lt"/>
                    <a:ea typeface="+mn-ea"/>
                    <a:cs typeface="+mn-cs"/>
                  </a:rPr>
                  <a:t>kontrolni</a:t>
                </a:r>
                <a:r>
                  <a:rPr lang="en-US" sz="2000" kern="1200" dirty="0">
                    <a:solidFill>
                      <a:schemeClr val="tx1"/>
                    </a:solidFill>
                    <a:latin typeface="+mn-lt"/>
                    <a:ea typeface="+mn-ea"/>
                    <a:cs typeface="+mn-cs"/>
                  </a:rPr>
                  <a:t> </a:t>
                </a:r>
                <a:r>
                  <a:rPr lang="en-US" sz="2000" kern="1200" dirty="0" err="1">
                    <a:solidFill>
                      <a:schemeClr val="tx1"/>
                    </a:solidFill>
                    <a:latin typeface="+mn-lt"/>
                    <a:ea typeface="+mn-ea"/>
                    <a:cs typeface="+mn-cs"/>
                  </a:rPr>
                  <a:t>kubit</a:t>
                </a:r>
                <a:r>
                  <a:rPr lang="en-US" sz="2000" kern="1200" dirty="0">
                    <a:solidFill>
                      <a:schemeClr val="tx1"/>
                    </a:solidFill>
                    <a:latin typeface="+mn-lt"/>
                    <a:ea typeface="+mn-ea"/>
                    <a:cs typeface="+mn-cs"/>
                  </a:rPr>
                  <a:t>  </a:t>
                </a:r>
                <a:r>
                  <a:rPr lang="en-US" sz="2000" i="0">
                    <a:latin typeface="Cambria Math" panose="02040503050406030204" pitchFamily="18" charset="0"/>
                  </a:rPr>
                  <a:t>𝑞_0</a:t>
                </a:r>
                <a:r>
                  <a:rPr lang="en-US" sz="2000" kern="1200" dirty="0">
                    <a:solidFill>
                      <a:schemeClr val="tx1"/>
                    </a:solidFill>
                    <a:latin typeface="+mn-lt"/>
                    <a:ea typeface="+mn-ea"/>
                    <a:cs typeface="+mn-cs"/>
                  </a:rPr>
                  <a:t> u </a:t>
                </a:r>
                <a:r>
                  <a:rPr lang="en-US" sz="2000" kern="1200" dirty="0" err="1">
                    <a:solidFill>
                      <a:schemeClr val="tx1"/>
                    </a:solidFill>
                    <a:latin typeface="+mn-lt"/>
                    <a:ea typeface="+mn-ea"/>
                    <a:cs typeface="+mn-cs"/>
                  </a:rPr>
                  <a:t>stanju</a:t>
                </a:r>
                <a:r>
                  <a:rPr lang="en-US" sz="2000" kern="1200" dirty="0">
                    <a:solidFill>
                      <a:schemeClr val="tx1"/>
                    </a:solidFill>
                    <a:latin typeface="+mn-lt"/>
                    <a:ea typeface="+mn-ea"/>
                    <a:cs typeface="+mn-cs"/>
                  </a:rPr>
                  <a:t> ∣1⟩. </a:t>
                </a:r>
                <a:r>
                  <a:rPr lang="en-US" sz="2000" kern="1200" dirty="0" err="1">
                    <a:solidFill>
                      <a:schemeClr val="tx1"/>
                    </a:solidFill>
                    <a:latin typeface="+mn-lt"/>
                    <a:ea typeface="+mn-ea"/>
                    <a:cs typeface="+mn-cs"/>
                  </a:rPr>
                  <a:t>Ovo</a:t>
                </a:r>
                <a:r>
                  <a:rPr lang="en-US" sz="2000" kern="1200" dirty="0">
                    <a:solidFill>
                      <a:schemeClr val="tx1"/>
                    </a:solidFill>
                    <a:latin typeface="+mn-lt"/>
                    <a:ea typeface="+mn-ea"/>
                    <a:cs typeface="+mn-cs"/>
                  </a:rPr>
                  <a:t> </a:t>
                </a:r>
                <a:r>
                  <a:rPr lang="en-US" sz="2000" kern="1200" dirty="0" err="1">
                    <a:solidFill>
                      <a:schemeClr val="tx1"/>
                    </a:solidFill>
                    <a:latin typeface="+mn-lt"/>
                    <a:ea typeface="+mn-ea"/>
                    <a:cs typeface="+mn-cs"/>
                  </a:rPr>
                  <a:t>kolo</a:t>
                </a:r>
                <a:r>
                  <a:rPr lang="en-US" sz="2000" kern="1200" dirty="0">
                    <a:solidFill>
                      <a:schemeClr val="tx1"/>
                    </a:solidFill>
                    <a:latin typeface="+mn-lt"/>
                    <a:ea typeface="+mn-ea"/>
                    <a:cs typeface="+mn-cs"/>
                  </a:rPr>
                  <a:t> </a:t>
                </a:r>
                <a:r>
                  <a:rPr lang="en-US" sz="2000" kern="1200" dirty="0" err="1">
                    <a:solidFill>
                      <a:schemeClr val="tx1"/>
                    </a:solidFill>
                    <a:latin typeface="+mn-lt"/>
                    <a:ea typeface="+mn-ea"/>
                    <a:cs typeface="+mn-cs"/>
                  </a:rPr>
                  <a:t>je</a:t>
                </a:r>
                <a:r>
                  <a:rPr lang="en-US" sz="2000" kern="1200" dirty="0">
                    <a:solidFill>
                      <a:schemeClr val="tx1"/>
                    </a:solidFill>
                    <a:latin typeface="+mn-lt"/>
                    <a:ea typeface="+mn-ea"/>
                    <a:cs typeface="+mn-cs"/>
                  </a:rPr>
                  <a:t> </a:t>
                </a:r>
                <a:r>
                  <a:rPr lang="en-US" sz="2000" kern="1200" dirty="0" err="1">
                    <a:solidFill>
                      <a:schemeClr val="tx1"/>
                    </a:solidFill>
                    <a:latin typeface="+mn-lt"/>
                    <a:ea typeface="+mn-ea"/>
                    <a:cs typeface="+mn-cs"/>
                  </a:rPr>
                  <a:t>ekvivalent</a:t>
                </a:r>
                <a:r>
                  <a:rPr lang="en-US" sz="2000" kern="1200" dirty="0">
                    <a:solidFill>
                      <a:schemeClr val="tx1"/>
                    </a:solidFill>
                    <a:latin typeface="+mn-lt"/>
                    <a:ea typeface="+mn-ea"/>
                    <a:cs typeface="+mn-cs"/>
                  </a:rPr>
                  <a:t> ‘if’ </a:t>
                </a:r>
                <a:r>
                  <a:rPr lang="en-US" sz="2000" kern="1200" dirty="0" err="1">
                    <a:solidFill>
                      <a:schemeClr val="tx1"/>
                    </a:solidFill>
                    <a:latin typeface="+mn-lt"/>
                    <a:ea typeface="+mn-ea"/>
                    <a:cs typeface="+mn-cs"/>
                  </a:rPr>
                  <a:t>operacije</a:t>
                </a:r>
                <a:r>
                  <a:rPr lang="en-US" sz="2000" kern="1200" dirty="0">
                    <a:solidFill>
                      <a:schemeClr val="tx1"/>
                    </a:solidFill>
                    <a:latin typeface="+mn-lt"/>
                    <a:ea typeface="+mn-ea"/>
                    <a:cs typeface="+mn-cs"/>
                  </a:rPr>
                  <a:t> u </a:t>
                </a:r>
                <a:r>
                  <a:rPr lang="en-US" sz="2000" kern="1200" dirty="0" err="1">
                    <a:solidFill>
                      <a:schemeClr val="tx1"/>
                    </a:solidFill>
                    <a:latin typeface="+mn-lt"/>
                    <a:ea typeface="+mn-ea"/>
                    <a:cs typeface="+mn-cs"/>
                  </a:rPr>
                  <a:t>visim</a:t>
                </a:r>
                <a:r>
                  <a:rPr lang="en-US" sz="2000" kern="1200" dirty="0">
                    <a:solidFill>
                      <a:schemeClr val="tx1"/>
                    </a:solidFill>
                    <a:latin typeface="+mn-lt"/>
                    <a:ea typeface="+mn-ea"/>
                    <a:cs typeface="+mn-cs"/>
                  </a:rPr>
                  <a:t> </a:t>
                </a:r>
                <a:r>
                  <a:rPr lang="en-US" sz="2000" kern="1200" dirty="0" err="1">
                    <a:solidFill>
                      <a:schemeClr val="tx1"/>
                    </a:solidFill>
                    <a:latin typeface="+mn-lt"/>
                    <a:ea typeface="+mn-ea"/>
                    <a:cs typeface="+mn-cs"/>
                  </a:rPr>
                  <a:t>programskim</a:t>
                </a:r>
                <a:r>
                  <a:rPr lang="en-US" sz="2000" kern="1200" dirty="0">
                    <a:solidFill>
                      <a:schemeClr val="tx1"/>
                    </a:solidFill>
                    <a:latin typeface="+mn-lt"/>
                    <a:ea typeface="+mn-ea"/>
                    <a:cs typeface="+mn-cs"/>
                  </a:rPr>
                  <a:t> </a:t>
                </a:r>
                <a:r>
                  <a:rPr lang="en-US" sz="2000" kern="1200" dirty="0" err="1">
                    <a:solidFill>
                      <a:schemeClr val="tx1"/>
                    </a:solidFill>
                    <a:latin typeface="+mn-lt"/>
                    <a:ea typeface="+mn-ea"/>
                    <a:cs typeface="+mn-cs"/>
                  </a:rPr>
                  <a:t>jezicima</a:t>
                </a:r>
                <a:r>
                  <a:rPr lang="en-US" sz="2000" kern="1200" dirty="0">
                    <a:solidFill>
                      <a:schemeClr val="tx1"/>
                    </a:solidFill>
                    <a:latin typeface="+mn-lt"/>
                    <a:ea typeface="+mn-ea"/>
                    <a:cs typeface="+mn-cs"/>
                  </a:rPr>
                  <a:t>.</a:t>
                </a:r>
              </a:p>
              <a:p>
                <a:pPr marL="457200" indent="-457200">
                  <a:buFont typeface="Arial" panose="020B0604020202020204" pitchFamily="34" charset="0"/>
                  <a:buChar char="•"/>
                </a:pPr>
                <a:endParaRPr lang="en-US" sz="2000" dirty="0"/>
              </a:p>
              <a:p>
                <a:endParaRPr lang="en-US" sz="2000"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37</a:t>
            </a:fld>
            <a:endParaRPr lang="en-US"/>
          </a:p>
        </p:txBody>
      </p:sp>
    </p:spTree>
    <p:extLst>
      <p:ext uri="{BB962C8B-B14F-4D97-AF65-F5344CB8AC3E}">
        <p14:creationId xmlns:p14="http://schemas.microsoft.com/office/powerpoint/2010/main" val="118343202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dirty="0"/>
                  <a:t>The </a:t>
                </a:r>
                <a:r>
                  <a:rPr lang="en-ZA" b="0" dirty="0"/>
                  <a:t>controlled-phase gate </a:t>
                </a:r>
                <a:r>
                  <a:rPr lang="en-ZA" dirty="0"/>
                  <a:t>applies a phase shift to the target qubit only when the control qubit is in state ∣1⟩.</a:t>
                </a:r>
              </a:p>
              <a:p>
                <a:pPr algn="just"/>
                <a:endParaRPr lang="en-ZA" b="0" dirty="0"/>
              </a:p>
              <a:p>
                <a:pPr algn="just"/>
                <a:r>
                  <a:rPr lang="en-ZA" dirty="0"/>
                  <a:t>The gate is </a:t>
                </a:r>
                <a:r>
                  <a:rPr lang="en-ZA" b="0" dirty="0"/>
                  <a:t>symmetric</a:t>
                </a:r>
                <a:r>
                  <a:rPr lang="en-ZA" dirty="0"/>
                  <a:t>, so swapping the control and target qubits does not change its operation. This is because the phase factor </a:t>
                </a:r>
                <a14:m>
                  <m:oMath xmlns:m="http://schemas.openxmlformats.org/officeDocument/2006/math">
                    <m:sSup>
                      <m:sSupPr>
                        <m:ctrlPr>
                          <a:rPr lang="en-ZA" sz="1200" i="1" smtClean="0">
                            <a:latin typeface="Cambria Math" panose="02040503050406030204" pitchFamily="18" charset="0"/>
                          </a:rPr>
                        </m:ctrlPr>
                      </m:sSupPr>
                      <m:e>
                        <m:r>
                          <a:rPr lang="sr-Latn-RS" sz="1200" i="1">
                            <a:latin typeface="Cambria Math" panose="02040503050406030204" pitchFamily="18" charset="0"/>
                          </a:rPr>
                          <m:t>𝑒</m:t>
                        </m:r>
                      </m:e>
                      <m:sup>
                        <m:r>
                          <a:rPr lang="sr-Latn-RS" sz="1200" i="1">
                            <a:latin typeface="Cambria Math" panose="02040503050406030204" pitchFamily="18" charset="0"/>
                          </a:rPr>
                          <m:t>𝑖</m:t>
                        </m:r>
                        <m:r>
                          <a:rPr lang="sr-Latn-RS" sz="1200" i="1">
                            <a:latin typeface="Cambria Math" panose="02040503050406030204" pitchFamily="18" charset="0"/>
                          </a:rPr>
                          <m:t>𝜆</m:t>
                        </m:r>
                      </m:sup>
                    </m:sSup>
                  </m:oMath>
                </a14:m>
                <a:r>
                  <a:rPr lang="el-GR" dirty="0"/>
                  <a:t> </a:t>
                </a:r>
                <a:r>
                  <a:rPr lang="en-ZA" dirty="0"/>
                  <a:t>is applied only to the ∣11⟩ state, while all other computational basis states remain unchanged.</a:t>
                </a:r>
                <a:endParaRPr lang="en-ZA" b="0" dirty="0"/>
              </a:p>
            </p:txBody>
          </p:sp>
        </mc:Choice>
        <mc:Fallback xmlns="">
          <p:sp>
            <p:nvSpPr>
              <p:cNvPr id="3" name="Notes Placeholder 2"/>
              <p:cNvSpPr>
                <a:spLocks noGrp="1"/>
              </p:cNvSpPr>
              <p:nvPr>
                <p:ph type="body" idx="1"/>
              </p:nvPr>
            </p:nvSpPr>
            <p:spPr/>
            <p:txBody>
              <a:bodyPr/>
              <a:lstStyle/>
              <a:p>
                <a:r>
                  <a:rPr lang="en-US" sz="2000" dirty="0"/>
                  <a:t>Dvo-kubitna </a:t>
                </a:r>
                <a:r>
                  <a:rPr lang="en-US" sz="2000" dirty="0" err="1"/>
                  <a:t>elementarna</a:t>
                </a:r>
                <a:r>
                  <a:rPr lang="en-US" sz="2000" dirty="0"/>
                  <a:t> kola </a:t>
                </a:r>
                <a:r>
                  <a:rPr lang="en-US" sz="2000" dirty="0" err="1"/>
                  <a:t>su</a:t>
                </a:r>
                <a:r>
                  <a:rPr lang="en-US" sz="2000" dirty="0"/>
                  <a:t> </a:t>
                </a:r>
                <a:r>
                  <a:rPr lang="en-US" sz="2000" dirty="0" err="1"/>
                  <a:t>akodje</a:t>
                </a:r>
                <a:r>
                  <a:rPr lang="en-US" sz="2000" dirty="0"/>
                  <a:t> </a:t>
                </a:r>
                <a:r>
                  <a:rPr lang="en-US" sz="2000" dirty="0" err="1"/>
                  <a:t>nezaobilazni</a:t>
                </a:r>
                <a:r>
                  <a:rPr lang="en-US" sz="2000" dirty="0"/>
                  <a:t> </a:t>
                </a:r>
                <a:r>
                  <a:rPr lang="en-US" sz="2000" dirty="0" err="1"/>
                  <a:t>elemenat</a:t>
                </a:r>
                <a:r>
                  <a:rPr lang="en-US" sz="2000" dirty="0"/>
                  <a:t> u </a:t>
                </a:r>
                <a:r>
                  <a:rPr lang="en-US" sz="2000" dirty="0" err="1"/>
                  <a:t>kvantnim</a:t>
                </a:r>
                <a:r>
                  <a:rPr lang="en-US" sz="2000" dirty="0"/>
                  <a:t> </a:t>
                </a:r>
                <a:r>
                  <a:rPr lang="en-US" sz="2000" dirty="0" err="1"/>
                  <a:t>racunarima</a:t>
                </a:r>
                <a:r>
                  <a:rPr lang="en-US" sz="2000" dirty="0"/>
                  <a:t>. </a:t>
                </a:r>
              </a:p>
              <a:p>
                <a:pPr marL="457200" indent="-457200">
                  <a:buFont typeface="Arial" panose="020B0604020202020204" pitchFamily="34" charset="0"/>
                  <a:buChar char="•"/>
                </a:pPr>
                <a:r>
                  <a:rPr lang="en-US" sz="2000" dirty="0"/>
                  <a:t>Na primer SWAP </a:t>
                </a:r>
                <a:r>
                  <a:rPr lang="en-US" sz="2000" dirty="0" err="1"/>
                  <a:t>kolo</a:t>
                </a:r>
                <a:r>
                  <a:rPr lang="en-US" sz="2000" dirty="0"/>
                  <a:t> </a:t>
                </a:r>
                <a:r>
                  <a:rPr lang="en-US" sz="2000" dirty="0" err="1"/>
                  <a:t>razmenjuje</a:t>
                </a:r>
                <a:r>
                  <a:rPr lang="en-US" sz="2000" dirty="0"/>
                  <a:t> </a:t>
                </a:r>
                <a:r>
                  <a:rPr lang="en-US" sz="2000" dirty="0" err="1"/>
                  <a:t>stanja</a:t>
                </a:r>
                <a:r>
                  <a:rPr lang="en-US" sz="2000" dirty="0"/>
                  <a:t> </a:t>
                </a:r>
                <a:r>
                  <a:rPr lang="en-US" sz="2000" dirty="0" err="1"/>
                  <a:t>dva</a:t>
                </a:r>
                <a:r>
                  <a:rPr lang="en-US" sz="2000" dirty="0"/>
                  <a:t> </a:t>
                </a:r>
                <a:r>
                  <a:rPr lang="en-US" sz="2000" dirty="0" err="1"/>
                  <a:t>kubita</a:t>
                </a:r>
                <a:r>
                  <a:rPr lang="en-US" sz="2000" dirty="0"/>
                  <a:t>, </a:t>
                </a:r>
                <a:r>
                  <a:rPr lang="en-US" sz="2000" dirty="0" err="1"/>
                  <a:t>tako</a:t>
                </a:r>
                <a:r>
                  <a:rPr lang="en-US" sz="2000" dirty="0"/>
                  <a:t> </a:t>
                </a:r>
                <a:r>
                  <a:rPr lang="en-US" sz="2000" dirty="0" err="1"/>
                  <a:t>sto</a:t>
                </a:r>
                <a:r>
                  <a:rPr lang="en-US" sz="2000" dirty="0"/>
                  <a:t> </a:t>
                </a:r>
                <a:r>
                  <a:rPr lang="en-US" sz="2000" dirty="0" err="1"/>
                  <a:t>kubit</a:t>
                </a:r>
                <a:r>
                  <a:rPr lang="en-US" sz="2000" dirty="0"/>
                  <a:t> </a:t>
                </a:r>
                <a:r>
                  <a:rPr lang="en-US" sz="2000" b="0" i="0">
                    <a:latin typeface="Cambria Math" panose="02040503050406030204" pitchFamily="18" charset="0"/>
                  </a:rPr>
                  <a:t>𝑞_0</a:t>
                </a:r>
                <a:r>
                  <a:rPr lang="en-US" sz="2000" dirty="0"/>
                  <a:t> </a:t>
                </a:r>
                <a:r>
                  <a:rPr lang="en-US" sz="2000" dirty="0" err="1"/>
                  <a:t>sa</a:t>
                </a:r>
                <a:r>
                  <a:rPr lang="en-US" sz="2000" dirty="0"/>
                  <a:t> </a:t>
                </a:r>
                <a:r>
                  <a:rPr lang="en-US" sz="2000" dirty="0" err="1"/>
                  <a:t>slike</a:t>
                </a:r>
                <a:r>
                  <a:rPr lang="en-US" sz="2000" dirty="0"/>
                  <a:t> </a:t>
                </a:r>
                <a:r>
                  <a:rPr lang="en-US" sz="2000" dirty="0" err="1"/>
                  <a:t>preuzima</a:t>
                </a:r>
                <a:r>
                  <a:rPr lang="en-US" sz="2000" baseline="0" dirty="0"/>
                  <a:t> </a:t>
                </a:r>
                <a:r>
                  <a:rPr lang="en-US" sz="2000" baseline="0" dirty="0" err="1"/>
                  <a:t>stanje</a:t>
                </a:r>
                <a:r>
                  <a:rPr lang="en-US" sz="2000" baseline="0" dirty="0"/>
                  <a:t> </a:t>
                </a:r>
                <a:r>
                  <a:rPr lang="en-US" sz="2000" baseline="0" dirty="0" err="1"/>
                  <a:t>kubit</a:t>
                </a:r>
                <a:r>
                  <a:rPr lang="en-US" sz="2000" baseline="0" dirty="0"/>
                  <a:t> </a:t>
                </a:r>
                <a:r>
                  <a:rPr lang="en-US" sz="2000" b="0" i="0">
                    <a:latin typeface="Cambria Math" panose="02040503050406030204" pitchFamily="18" charset="0"/>
                  </a:rPr>
                  <a:t>𝑞_1</a:t>
                </a:r>
                <a:r>
                  <a:rPr lang="en-US" sz="2000" dirty="0"/>
                  <a:t> a </a:t>
                </a:r>
                <a:r>
                  <a:rPr lang="en-US" sz="2000" dirty="0" err="1"/>
                  <a:t>kubit</a:t>
                </a:r>
                <a:r>
                  <a:rPr lang="en-US" sz="2000" dirty="0"/>
                  <a:t> </a:t>
                </a:r>
                <a:r>
                  <a:rPr lang="en-US" sz="2000" b="0" i="0">
                    <a:latin typeface="Cambria Math" panose="02040503050406030204" pitchFamily="18" charset="0"/>
                  </a:rPr>
                  <a:t>𝑞_1</a:t>
                </a:r>
                <a:r>
                  <a:rPr lang="en-US" sz="2000" dirty="0" err="1"/>
                  <a:t>stanje</a:t>
                </a:r>
                <a:r>
                  <a:rPr lang="en-US" sz="2000" dirty="0"/>
                  <a:t> </a:t>
                </a:r>
                <a:r>
                  <a:rPr lang="en-US" sz="2000" dirty="0" err="1"/>
                  <a:t>kubit</a:t>
                </a:r>
                <a:r>
                  <a:rPr lang="en-US" sz="2000" dirty="0"/>
                  <a:t> </a:t>
                </a:r>
                <a:r>
                  <a:rPr lang="en-US" sz="2000" b="0" i="0">
                    <a:latin typeface="Cambria Math" panose="02040503050406030204" pitchFamily="18" charset="0"/>
                  </a:rPr>
                  <a:t>𝑞_0</a:t>
                </a:r>
                <a:r>
                  <a:rPr lang="en-US" sz="2000" dirty="0"/>
                  <a:t>.</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dirty="0"/>
                  <a:t>CNOT </a:t>
                </a:r>
                <a:r>
                  <a:rPr lang="en-US" sz="2000" dirty="0" err="1"/>
                  <a:t>ili</a:t>
                </a:r>
                <a:r>
                  <a:rPr lang="en-US" sz="2000" dirty="0"/>
                  <a:t> </a:t>
                </a:r>
                <a:r>
                  <a:rPr lang="en-US" sz="2000" dirty="0" err="1"/>
                  <a:t>kontrolisano</a:t>
                </a:r>
                <a:r>
                  <a:rPr lang="en-US" sz="2000" dirty="0"/>
                  <a:t> NOT, </a:t>
                </a:r>
                <a:r>
                  <a:rPr lang="en-US" sz="2000" dirty="0" err="1"/>
                  <a:t>ili</a:t>
                </a:r>
                <a:r>
                  <a:rPr lang="en-US" sz="2000" dirty="0"/>
                  <a:t> </a:t>
                </a:r>
                <a:r>
                  <a:rPr lang="en-US" sz="2000" dirty="0" err="1"/>
                  <a:t>kontrolisano</a:t>
                </a:r>
                <a:r>
                  <a:rPr lang="en-US" sz="2000" dirty="0"/>
                  <a:t> X </a:t>
                </a:r>
                <a:r>
                  <a:rPr lang="en-US" sz="2000" dirty="0" err="1"/>
                  <a:t>kolo</a:t>
                </a:r>
                <a:r>
                  <a:rPr lang="en-US" sz="2000" dirty="0"/>
                  <a:t> </a:t>
                </a:r>
                <a:r>
                  <a:rPr lang="en-US" sz="2000" kern="1200" dirty="0" err="1">
                    <a:solidFill>
                      <a:schemeClr val="tx1"/>
                    </a:solidFill>
                    <a:latin typeface="+mn-lt"/>
                    <a:ea typeface="+mn-ea"/>
                    <a:cs typeface="+mn-cs"/>
                  </a:rPr>
                  <a:t>primenjuje</a:t>
                </a:r>
                <a:r>
                  <a:rPr lang="en-US" sz="2000" kern="1200" dirty="0">
                    <a:solidFill>
                      <a:schemeClr val="tx1"/>
                    </a:solidFill>
                    <a:latin typeface="+mn-lt"/>
                    <a:ea typeface="+mn-ea"/>
                    <a:cs typeface="+mn-cs"/>
                  </a:rPr>
                  <a:t> X operator </a:t>
                </a:r>
                <a:r>
                  <a:rPr lang="en-US" sz="2000" kern="1200" dirty="0" err="1">
                    <a:solidFill>
                      <a:schemeClr val="tx1"/>
                    </a:solidFill>
                    <a:latin typeface="+mn-lt"/>
                    <a:ea typeface="+mn-ea"/>
                    <a:cs typeface="+mn-cs"/>
                  </a:rPr>
                  <a:t>na</a:t>
                </a:r>
                <a:r>
                  <a:rPr lang="en-US" sz="2000" kern="1200" dirty="0">
                    <a:solidFill>
                      <a:schemeClr val="tx1"/>
                    </a:solidFill>
                    <a:latin typeface="+mn-lt"/>
                    <a:ea typeface="+mn-ea"/>
                    <a:cs typeface="+mn-cs"/>
                  </a:rPr>
                  <a:t> </a:t>
                </a:r>
                <a:r>
                  <a:rPr lang="en-US" sz="2000" kern="1200" dirty="0" err="1">
                    <a:solidFill>
                      <a:schemeClr val="tx1"/>
                    </a:solidFill>
                    <a:latin typeface="+mn-lt"/>
                    <a:ea typeface="+mn-ea"/>
                    <a:cs typeface="+mn-cs"/>
                  </a:rPr>
                  <a:t>ciljni</a:t>
                </a:r>
                <a:r>
                  <a:rPr lang="en-US" sz="2000" kern="1200" dirty="0">
                    <a:solidFill>
                      <a:schemeClr val="tx1"/>
                    </a:solidFill>
                    <a:latin typeface="+mn-lt"/>
                    <a:ea typeface="+mn-ea"/>
                    <a:cs typeface="+mn-cs"/>
                  </a:rPr>
                  <a:t> </a:t>
                </a:r>
                <a:r>
                  <a:rPr lang="en-US" sz="2000" kern="1200" dirty="0" err="1">
                    <a:solidFill>
                      <a:schemeClr val="tx1"/>
                    </a:solidFill>
                    <a:latin typeface="+mn-lt"/>
                    <a:ea typeface="+mn-ea"/>
                    <a:cs typeface="+mn-cs"/>
                  </a:rPr>
                  <a:t>kubit</a:t>
                </a:r>
                <a:r>
                  <a:rPr lang="en-US" sz="2000" kern="1200" dirty="0">
                    <a:solidFill>
                      <a:schemeClr val="tx1"/>
                    </a:solidFill>
                    <a:latin typeface="+mn-lt"/>
                    <a:ea typeface="+mn-ea"/>
                    <a:cs typeface="+mn-cs"/>
                  </a:rPr>
                  <a:t> </a:t>
                </a:r>
                <a:r>
                  <a:rPr lang="en-US" sz="1800" i="0">
                    <a:latin typeface="Cambria Math" panose="02040503050406030204" pitchFamily="18" charset="0"/>
                  </a:rPr>
                  <a:t>𝑞_</a:t>
                </a:r>
                <a:r>
                  <a:rPr lang="en-US" sz="1800" b="0" i="0">
                    <a:latin typeface="Cambria Math" panose="02040503050406030204" pitchFamily="18" charset="0"/>
                  </a:rPr>
                  <a:t>1 </a:t>
                </a:r>
                <a:r>
                  <a:rPr lang="en-US" sz="1800" i="0">
                    <a:latin typeface="Cambria Math" panose="02040503050406030204" pitchFamily="18" charset="0"/>
                  </a:rPr>
                  <a:t> </a:t>
                </a:r>
                <a:r>
                  <a:rPr lang="en-US" sz="2000" kern="1200" dirty="0" err="1">
                    <a:solidFill>
                      <a:schemeClr val="tx1"/>
                    </a:solidFill>
                    <a:latin typeface="+mn-lt"/>
                    <a:ea typeface="+mn-ea"/>
                    <a:cs typeface="+mn-cs"/>
                  </a:rPr>
                  <a:t>ako</a:t>
                </a:r>
                <a:r>
                  <a:rPr lang="en-US" sz="2000" kern="1200" dirty="0">
                    <a:solidFill>
                      <a:schemeClr val="tx1"/>
                    </a:solidFill>
                    <a:latin typeface="+mn-lt"/>
                    <a:ea typeface="+mn-ea"/>
                    <a:cs typeface="+mn-cs"/>
                  </a:rPr>
                  <a:t> </a:t>
                </a:r>
                <a:r>
                  <a:rPr lang="en-US" sz="2000" kern="1200" dirty="0" err="1">
                    <a:solidFill>
                      <a:schemeClr val="tx1"/>
                    </a:solidFill>
                    <a:latin typeface="+mn-lt"/>
                    <a:ea typeface="+mn-ea"/>
                    <a:cs typeface="+mn-cs"/>
                  </a:rPr>
                  <a:t>je</a:t>
                </a:r>
                <a:r>
                  <a:rPr lang="en-US" sz="2000" kern="1200" dirty="0">
                    <a:solidFill>
                      <a:schemeClr val="tx1"/>
                    </a:solidFill>
                    <a:latin typeface="+mn-lt"/>
                    <a:ea typeface="+mn-ea"/>
                    <a:cs typeface="+mn-cs"/>
                  </a:rPr>
                  <a:t> </a:t>
                </a:r>
                <a:r>
                  <a:rPr lang="en-US" sz="2000" kern="1200" dirty="0" err="1">
                    <a:solidFill>
                      <a:schemeClr val="tx1"/>
                    </a:solidFill>
                    <a:latin typeface="+mn-lt"/>
                    <a:ea typeface="+mn-ea"/>
                    <a:cs typeface="+mn-cs"/>
                  </a:rPr>
                  <a:t>kontrolni</a:t>
                </a:r>
                <a:r>
                  <a:rPr lang="en-US" sz="2000" kern="1200" dirty="0">
                    <a:solidFill>
                      <a:schemeClr val="tx1"/>
                    </a:solidFill>
                    <a:latin typeface="+mn-lt"/>
                    <a:ea typeface="+mn-ea"/>
                    <a:cs typeface="+mn-cs"/>
                  </a:rPr>
                  <a:t> </a:t>
                </a:r>
                <a:r>
                  <a:rPr lang="en-US" sz="2000" kern="1200" dirty="0" err="1">
                    <a:solidFill>
                      <a:schemeClr val="tx1"/>
                    </a:solidFill>
                    <a:latin typeface="+mn-lt"/>
                    <a:ea typeface="+mn-ea"/>
                    <a:cs typeface="+mn-cs"/>
                  </a:rPr>
                  <a:t>kubit</a:t>
                </a:r>
                <a:r>
                  <a:rPr lang="en-US" sz="2000" kern="1200" dirty="0">
                    <a:solidFill>
                      <a:schemeClr val="tx1"/>
                    </a:solidFill>
                    <a:latin typeface="+mn-lt"/>
                    <a:ea typeface="+mn-ea"/>
                    <a:cs typeface="+mn-cs"/>
                  </a:rPr>
                  <a:t>  </a:t>
                </a:r>
                <a:r>
                  <a:rPr lang="en-US" sz="2000" i="0">
                    <a:latin typeface="Cambria Math" panose="02040503050406030204" pitchFamily="18" charset="0"/>
                  </a:rPr>
                  <a:t>𝑞_0</a:t>
                </a:r>
                <a:r>
                  <a:rPr lang="en-US" sz="2000" kern="1200" dirty="0">
                    <a:solidFill>
                      <a:schemeClr val="tx1"/>
                    </a:solidFill>
                    <a:latin typeface="+mn-lt"/>
                    <a:ea typeface="+mn-ea"/>
                    <a:cs typeface="+mn-cs"/>
                  </a:rPr>
                  <a:t> u </a:t>
                </a:r>
                <a:r>
                  <a:rPr lang="en-US" sz="2000" kern="1200" dirty="0" err="1">
                    <a:solidFill>
                      <a:schemeClr val="tx1"/>
                    </a:solidFill>
                    <a:latin typeface="+mn-lt"/>
                    <a:ea typeface="+mn-ea"/>
                    <a:cs typeface="+mn-cs"/>
                  </a:rPr>
                  <a:t>stanju</a:t>
                </a:r>
                <a:r>
                  <a:rPr lang="en-US" sz="2000" kern="1200" dirty="0">
                    <a:solidFill>
                      <a:schemeClr val="tx1"/>
                    </a:solidFill>
                    <a:latin typeface="+mn-lt"/>
                    <a:ea typeface="+mn-ea"/>
                    <a:cs typeface="+mn-cs"/>
                  </a:rPr>
                  <a:t> ∣1⟩. </a:t>
                </a:r>
                <a:r>
                  <a:rPr lang="en-US" sz="2000" kern="1200" dirty="0" err="1">
                    <a:solidFill>
                      <a:schemeClr val="tx1"/>
                    </a:solidFill>
                    <a:latin typeface="+mn-lt"/>
                    <a:ea typeface="+mn-ea"/>
                    <a:cs typeface="+mn-cs"/>
                  </a:rPr>
                  <a:t>Ovo</a:t>
                </a:r>
                <a:r>
                  <a:rPr lang="en-US" sz="2000" kern="1200" dirty="0">
                    <a:solidFill>
                      <a:schemeClr val="tx1"/>
                    </a:solidFill>
                    <a:latin typeface="+mn-lt"/>
                    <a:ea typeface="+mn-ea"/>
                    <a:cs typeface="+mn-cs"/>
                  </a:rPr>
                  <a:t> </a:t>
                </a:r>
                <a:r>
                  <a:rPr lang="en-US" sz="2000" kern="1200" dirty="0" err="1">
                    <a:solidFill>
                      <a:schemeClr val="tx1"/>
                    </a:solidFill>
                    <a:latin typeface="+mn-lt"/>
                    <a:ea typeface="+mn-ea"/>
                    <a:cs typeface="+mn-cs"/>
                  </a:rPr>
                  <a:t>kolo</a:t>
                </a:r>
                <a:r>
                  <a:rPr lang="en-US" sz="2000" kern="1200" dirty="0">
                    <a:solidFill>
                      <a:schemeClr val="tx1"/>
                    </a:solidFill>
                    <a:latin typeface="+mn-lt"/>
                    <a:ea typeface="+mn-ea"/>
                    <a:cs typeface="+mn-cs"/>
                  </a:rPr>
                  <a:t> </a:t>
                </a:r>
                <a:r>
                  <a:rPr lang="en-US" sz="2000" kern="1200" dirty="0" err="1">
                    <a:solidFill>
                      <a:schemeClr val="tx1"/>
                    </a:solidFill>
                    <a:latin typeface="+mn-lt"/>
                    <a:ea typeface="+mn-ea"/>
                    <a:cs typeface="+mn-cs"/>
                  </a:rPr>
                  <a:t>je</a:t>
                </a:r>
                <a:r>
                  <a:rPr lang="en-US" sz="2000" kern="1200" dirty="0">
                    <a:solidFill>
                      <a:schemeClr val="tx1"/>
                    </a:solidFill>
                    <a:latin typeface="+mn-lt"/>
                    <a:ea typeface="+mn-ea"/>
                    <a:cs typeface="+mn-cs"/>
                  </a:rPr>
                  <a:t> </a:t>
                </a:r>
                <a:r>
                  <a:rPr lang="en-US" sz="2000" kern="1200" dirty="0" err="1">
                    <a:solidFill>
                      <a:schemeClr val="tx1"/>
                    </a:solidFill>
                    <a:latin typeface="+mn-lt"/>
                    <a:ea typeface="+mn-ea"/>
                    <a:cs typeface="+mn-cs"/>
                  </a:rPr>
                  <a:t>ekvivalent</a:t>
                </a:r>
                <a:r>
                  <a:rPr lang="en-US" sz="2000" kern="1200" dirty="0">
                    <a:solidFill>
                      <a:schemeClr val="tx1"/>
                    </a:solidFill>
                    <a:latin typeface="+mn-lt"/>
                    <a:ea typeface="+mn-ea"/>
                    <a:cs typeface="+mn-cs"/>
                  </a:rPr>
                  <a:t> ‘if’ </a:t>
                </a:r>
                <a:r>
                  <a:rPr lang="en-US" sz="2000" kern="1200" dirty="0" err="1">
                    <a:solidFill>
                      <a:schemeClr val="tx1"/>
                    </a:solidFill>
                    <a:latin typeface="+mn-lt"/>
                    <a:ea typeface="+mn-ea"/>
                    <a:cs typeface="+mn-cs"/>
                  </a:rPr>
                  <a:t>operacije</a:t>
                </a:r>
                <a:r>
                  <a:rPr lang="en-US" sz="2000" kern="1200" dirty="0">
                    <a:solidFill>
                      <a:schemeClr val="tx1"/>
                    </a:solidFill>
                    <a:latin typeface="+mn-lt"/>
                    <a:ea typeface="+mn-ea"/>
                    <a:cs typeface="+mn-cs"/>
                  </a:rPr>
                  <a:t> u </a:t>
                </a:r>
                <a:r>
                  <a:rPr lang="en-US" sz="2000" kern="1200" dirty="0" err="1">
                    <a:solidFill>
                      <a:schemeClr val="tx1"/>
                    </a:solidFill>
                    <a:latin typeface="+mn-lt"/>
                    <a:ea typeface="+mn-ea"/>
                    <a:cs typeface="+mn-cs"/>
                  </a:rPr>
                  <a:t>visim</a:t>
                </a:r>
                <a:r>
                  <a:rPr lang="en-US" sz="2000" kern="1200" dirty="0">
                    <a:solidFill>
                      <a:schemeClr val="tx1"/>
                    </a:solidFill>
                    <a:latin typeface="+mn-lt"/>
                    <a:ea typeface="+mn-ea"/>
                    <a:cs typeface="+mn-cs"/>
                  </a:rPr>
                  <a:t> </a:t>
                </a:r>
                <a:r>
                  <a:rPr lang="en-US" sz="2000" kern="1200" dirty="0" err="1">
                    <a:solidFill>
                      <a:schemeClr val="tx1"/>
                    </a:solidFill>
                    <a:latin typeface="+mn-lt"/>
                    <a:ea typeface="+mn-ea"/>
                    <a:cs typeface="+mn-cs"/>
                  </a:rPr>
                  <a:t>programskim</a:t>
                </a:r>
                <a:r>
                  <a:rPr lang="en-US" sz="2000" kern="1200" dirty="0">
                    <a:solidFill>
                      <a:schemeClr val="tx1"/>
                    </a:solidFill>
                    <a:latin typeface="+mn-lt"/>
                    <a:ea typeface="+mn-ea"/>
                    <a:cs typeface="+mn-cs"/>
                  </a:rPr>
                  <a:t> </a:t>
                </a:r>
                <a:r>
                  <a:rPr lang="en-US" sz="2000" kern="1200" dirty="0" err="1">
                    <a:solidFill>
                      <a:schemeClr val="tx1"/>
                    </a:solidFill>
                    <a:latin typeface="+mn-lt"/>
                    <a:ea typeface="+mn-ea"/>
                    <a:cs typeface="+mn-cs"/>
                  </a:rPr>
                  <a:t>jezicima</a:t>
                </a:r>
                <a:r>
                  <a:rPr lang="en-US" sz="2000" kern="1200" dirty="0">
                    <a:solidFill>
                      <a:schemeClr val="tx1"/>
                    </a:solidFill>
                    <a:latin typeface="+mn-lt"/>
                    <a:ea typeface="+mn-ea"/>
                    <a:cs typeface="+mn-cs"/>
                  </a:rPr>
                  <a:t>.</a:t>
                </a:r>
              </a:p>
              <a:p>
                <a:pPr marL="457200" indent="-457200">
                  <a:buFont typeface="Arial" panose="020B0604020202020204" pitchFamily="34" charset="0"/>
                  <a:buChar char="•"/>
                </a:pPr>
                <a:endParaRPr lang="en-US" sz="2000" dirty="0"/>
              </a:p>
              <a:p>
                <a:endParaRPr lang="en-US" sz="2000"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38</a:t>
            </a:fld>
            <a:endParaRPr lang="en-US"/>
          </a:p>
        </p:txBody>
      </p:sp>
    </p:spTree>
    <p:extLst>
      <p:ext uri="{BB962C8B-B14F-4D97-AF65-F5344CB8AC3E}">
        <p14:creationId xmlns:p14="http://schemas.microsoft.com/office/powerpoint/2010/main" val="366017283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dirty="0"/>
              <a:t>Controlled rotation gates CRX​, CRY​, and CRZ​ rotate the target qubit about the x-, y-, or z-axis by a chosen angle when the control qubit is in state ∣1⟩. Controlled rotations provide a finer level of control over quantum states and are often used in parameterized quantum circuits, particularly in quantum machine learning.</a:t>
            </a:r>
            <a:endParaRPr lang="en-ZA" b="0" dirty="0"/>
          </a:p>
        </p:txBody>
      </p:sp>
      <p:sp>
        <p:nvSpPr>
          <p:cNvPr id="4" name="Slide Number Placeholder 3"/>
          <p:cNvSpPr>
            <a:spLocks noGrp="1"/>
          </p:cNvSpPr>
          <p:nvPr>
            <p:ph type="sldNum" sz="quarter" idx="5"/>
          </p:nvPr>
        </p:nvSpPr>
        <p:spPr/>
        <p:txBody>
          <a:bodyPr/>
          <a:lstStyle/>
          <a:p>
            <a:fld id="{1B2CE5E3-B8BD-D040-AC87-D640191DD8F1}" type="slidenum">
              <a:rPr lang="en-US" smtClean="0"/>
              <a:t>39</a:t>
            </a:fld>
            <a:endParaRPr lang="en-US"/>
          </a:p>
        </p:txBody>
      </p:sp>
    </p:spTree>
    <p:extLst>
      <p:ext uri="{BB962C8B-B14F-4D97-AF65-F5344CB8AC3E}">
        <p14:creationId xmlns:p14="http://schemas.microsoft.com/office/powerpoint/2010/main" val="358858647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indent="0">
                  <a:buFont typeface="Arial" panose="020B0604020202020204" pitchFamily="34" charset="0"/>
                  <a:buNone/>
                </a:pPr>
                <a:r>
                  <a:rPr lang="en-ZA" dirty="0"/>
                  <a:t>The SWAP gate exchanges the states of two qubits.  If the input is ∣ab⟩, the output becomes ∣</a:t>
                </a:r>
                <a:r>
                  <a:rPr lang="en-ZA" dirty="0" err="1"/>
                  <a:t>ba</a:t>
                </a:r>
                <a:r>
                  <a:rPr lang="en-ZA" dirty="0"/>
                  <a:t>⟩.</a:t>
                </a:r>
              </a:p>
            </p:txBody>
          </p:sp>
        </mc:Choice>
        <mc:Fallback xmlns="">
          <p:sp>
            <p:nvSpPr>
              <p:cNvPr id="3" name="Notes Placeholder 2"/>
              <p:cNvSpPr>
                <a:spLocks noGrp="1"/>
              </p:cNvSpPr>
              <p:nvPr>
                <p:ph type="body" idx="1"/>
              </p:nvPr>
            </p:nvSpPr>
            <p:spPr/>
            <p:txBody>
              <a:bodyPr/>
              <a:lstStyle/>
              <a:p>
                <a:r>
                  <a:rPr lang="en-US" sz="2000" dirty="0"/>
                  <a:t>Dvo-kubitna </a:t>
                </a:r>
                <a:r>
                  <a:rPr lang="en-US" sz="2000" dirty="0" err="1"/>
                  <a:t>elementarna</a:t>
                </a:r>
                <a:r>
                  <a:rPr lang="en-US" sz="2000" dirty="0"/>
                  <a:t> kola </a:t>
                </a:r>
                <a:r>
                  <a:rPr lang="en-US" sz="2000" dirty="0" err="1"/>
                  <a:t>su</a:t>
                </a:r>
                <a:r>
                  <a:rPr lang="en-US" sz="2000" dirty="0"/>
                  <a:t> </a:t>
                </a:r>
                <a:r>
                  <a:rPr lang="en-US" sz="2000" dirty="0" err="1"/>
                  <a:t>akodje</a:t>
                </a:r>
                <a:r>
                  <a:rPr lang="en-US" sz="2000" dirty="0"/>
                  <a:t> </a:t>
                </a:r>
                <a:r>
                  <a:rPr lang="en-US" sz="2000" dirty="0" err="1"/>
                  <a:t>nezaobilazni</a:t>
                </a:r>
                <a:r>
                  <a:rPr lang="en-US" sz="2000" dirty="0"/>
                  <a:t> </a:t>
                </a:r>
                <a:r>
                  <a:rPr lang="en-US" sz="2000" dirty="0" err="1"/>
                  <a:t>elemenat</a:t>
                </a:r>
                <a:r>
                  <a:rPr lang="en-US" sz="2000" dirty="0"/>
                  <a:t> u </a:t>
                </a:r>
                <a:r>
                  <a:rPr lang="en-US" sz="2000" dirty="0" err="1"/>
                  <a:t>kvantnim</a:t>
                </a:r>
                <a:r>
                  <a:rPr lang="en-US" sz="2000" dirty="0"/>
                  <a:t> </a:t>
                </a:r>
                <a:r>
                  <a:rPr lang="en-US" sz="2000" dirty="0" err="1"/>
                  <a:t>racunarima</a:t>
                </a:r>
                <a:r>
                  <a:rPr lang="en-US" sz="2000" dirty="0"/>
                  <a:t>. </a:t>
                </a:r>
              </a:p>
              <a:p>
                <a:pPr marL="457200" indent="-457200">
                  <a:buFont typeface="Arial" panose="020B0604020202020204" pitchFamily="34" charset="0"/>
                  <a:buChar char="•"/>
                </a:pPr>
                <a:r>
                  <a:rPr lang="en-US" sz="2000" dirty="0"/>
                  <a:t>Na primer SWAP </a:t>
                </a:r>
                <a:r>
                  <a:rPr lang="en-US" sz="2000" dirty="0" err="1"/>
                  <a:t>kolo</a:t>
                </a:r>
                <a:r>
                  <a:rPr lang="en-US" sz="2000" dirty="0"/>
                  <a:t> </a:t>
                </a:r>
                <a:r>
                  <a:rPr lang="en-US" sz="2000" dirty="0" err="1"/>
                  <a:t>razmenjuje</a:t>
                </a:r>
                <a:r>
                  <a:rPr lang="en-US" sz="2000" dirty="0"/>
                  <a:t> </a:t>
                </a:r>
                <a:r>
                  <a:rPr lang="en-US" sz="2000" dirty="0" err="1"/>
                  <a:t>stanja</a:t>
                </a:r>
                <a:r>
                  <a:rPr lang="en-US" sz="2000" dirty="0"/>
                  <a:t> </a:t>
                </a:r>
                <a:r>
                  <a:rPr lang="en-US" sz="2000" dirty="0" err="1"/>
                  <a:t>dva</a:t>
                </a:r>
                <a:r>
                  <a:rPr lang="en-US" sz="2000" dirty="0"/>
                  <a:t> </a:t>
                </a:r>
                <a:r>
                  <a:rPr lang="en-US" sz="2000" dirty="0" err="1"/>
                  <a:t>kubita</a:t>
                </a:r>
                <a:r>
                  <a:rPr lang="en-US" sz="2000" dirty="0"/>
                  <a:t>, </a:t>
                </a:r>
                <a:r>
                  <a:rPr lang="en-US" sz="2000" dirty="0" err="1"/>
                  <a:t>tako</a:t>
                </a:r>
                <a:r>
                  <a:rPr lang="en-US" sz="2000" dirty="0"/>
                  <a:t> </a:t>
                </a:r>
                <a:r>
                  <a:rPr lang="en-US" sz="2000" dirty="0" err="1"/>
                  <a:t>sto</a:t>
                </a:r>
                <a:r>
                  <a:rPr lang="en-US" sz="2000" dirty="0"/>
                  <a:t> </a:t>
                </a:r>
                <a:r>
                  <a:rPr lang="en-US" sz="2000" dirty="0" err="1"/>
                  <a:t>kubit</a:t>
                </a:r>
                <a:r>
                  <a:rPr lang="en-US" sz="2000" dirty="0"/>
                  <a:t> </a:t>
                </a:r>
                <a:r>
                  <a:rPr lang="en-US" sz="2000" b="0" i="0">
                    <a:latin typeface="Cambria Math" panose="02040503050406030204" pitchFamily="18" charset="0"/>
                  </a:rPr>
                  <a:t>𝑞_0</a:t>
                </a:r>
                <a:r>
                  <a:rPr lang="en-US" sz="2000" dirty="0"/>
                  <a:t> </a:t>
                </a:r>
                <a:r>
                  <a:rPr lang="en-US" sz="2000" dirty="0" err="1"/>
                  <a:t>sa</a:t>
                </a:r>
                <a:r>
                  <a:rPr lang="en-US" sz="2000" dirty="0"/>
                  <a:t> </a:t>
                </a:r>
                <a:r>
                  <a:rPr lang="en-US" sz="2000" dirty="0" err="1"/>
                  <a:t>slike</a:t>
                </a:r>
                <a:r>
                  <a:rPr lang="en-US" sz="2000" dirty="0"/>
                  <a:t> </a:t>
                </a:r>
                <a:r>
                  <a:rPr lang="en-US" sz="2000" dirty="0" err="1"/>
                  <a:t>preuzima</a:t>
                </a:r>
                <a:r>
                  <a:rPr lang="en-US" sz="2000" baseline="0" dirty="0"/>
                  <a:t> </a:t>
                </a:r>
                <a:r>
                  <a:rPr lang="en-US" sz="2000" baseline="0" dirty="0" err="1"/>
                  <a:t>stanje</a:t>
                </a:r>
                <a:r>
                  <a:rPr lang="en-US" sz="2000" baseline="0" dirty="0"/>
                  <a:t> </a:t>
                </a:r>
                <a:r>
                  <a:rPr lang="en-US" sz="2000" baseline="0" dirty="0" err="1"/>
                  <a:t>kubit</a:t>
                </a:r>
                <a:r>
                  <a:rPr lang="en-US" sz="2000" baseline="0" dirty="0"/>
                  <a:t> </a:t>
                </a:r>
                <a:r>
                  <a:rPr lang="en-US" sz="2000" b="0" i="0">
                    <a:latin typeface="Cambria Math" panose="02040503050406030204" pitchFamily="18" charset="0"/>
                  </a:rPr>
                  <a:t>𝑞_1</a:t>
                </a:r>
                <a:r>
                  <a:rPr lang="en-US" sz="2000" dirty="0"/>
                  <a:t> a </a:t>
                </a:r>
                <a:r>
                  <a:rPr lang="en-US" sz="2000" dirty="0" err="1"/>
                  <a:t>kubit</a:t>
                </a:r>
                <a:r>
                  <a:rPr lang="en-US" sz="2000" dirty="0"/>
                  <a:t> </a:t>
                </a:r>
                <a:r>
                  <a:rPr lang="en-US" sz="2000" b="0" i="0">
                    <a:latin typeface="Cambria Math" panose="02040503050406030204" pitchFamily="18" charset="0"/>
                  </a:rPr>
                  <a:t>𝑞_1</a:t>
                </a:r>
                <a:r>
                  <a:rPr lang="en-US" sz="2000" dirty="0" err="1"/>
                  <a:t>stanje</a:t>
                </a:r>
                <a:r>
                  <a:rPr lang="en-US" sz="2000" dirty="0"/>
                  <a:t> </a:t>
                </a:r>
                <a:r>
                  <a:rPr lang="en-US" sz="2000" dirty="0" err="1"/>
                  <a:t>kubit</a:t>
                </a:r>
                <a:r>
                  <a:rPr lang="en-US" sz="2000" dirty="0"/>
                  <a:t> </a:t>
                </a:r>
                <a:r>
                  <a:rPr lang="en-US" sz="2000" b="0" i="0">
                    <a:latin typeface="Cambria Math" panose="02040503050406030204" pitchFamily="18" charset="0"/>
                  </a:rPr>
                  <a:t>𝑞_0</a:t>
                </a:r>
                <a:r>
                  <a:rPr lang="en-US" sz="2000" dirty="0"/>
                  <a:t>.</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dirty="0"/>
                  <a:t>CNOT </a:t>
                </a:r>
                <a:r>
                  <a:rPr lang="en-US" sz="2000" dirty="0" err="1"/>
                  <a:t>ili</a:t>
                </a:r>
                <a:r>
                  <a:rPr lang="en-US" sz="2000" dirty="0"/>
                  <a:t> </a:t>
                </a:r>
                <a:r>
                  <a:rPr lang="en-US" sz="2000" dirty="0" err="1"/>
                  <a:t>kontrolisano</a:t>
                </a:r>
                <a:r>
                  <a:rPr lang="en-US" sz="2000" dirty="0"/>
                  <a:t> NOT, </a:t>
                </a:r>
                <a:r>
                  <a:rPr lang="en-US" sz="2000" dirty="0" err="1"/>
                  <a:t>ili</a:t>
                </a:r>
                <a:r>
                  <a:rPr lang="en-US" sz="2000" dirty="0"/>
                  <a:t> </a:t>
                </a:r>
                <a:r>
                  <a:rPr lang="en-US" sz="2000" dirty="0" err="1"/>
                  <a:t>kontrolisano</a:t>
                </a:r>
                <a:r>
                  <a:rPr lang="en-US" sz="2000" dirty="0"/>
                  <a:t> X </a:t>
                </a:r>
                <a:r>
                  <a:rPr lang="en-US" sz="2000" dirty="0" err="1"/>
                  <a:t>kolo</a:t>
                </a:r>
                <a:r>
                  <a:rPr lang="en-US" sz="2000" dirty="0"/>
                  <a:t> </a:t>
                </a:r>
                <a:r>
                  <a:rPr lang="en-US" sz="2000" kern="1200" dirty="0" err="1">
                    <a:solidFill>
                      <a:schemeClr val="tx1"/>
                    </a:solidFill>
                    <a:latin typeface="+mn-lt"/>
                    <a:ea typeface="+mn-ea"/>
                    <a:cs typeface="+mn-cs"/>
                  </a:rPr>
                  <a:t>primenjuje</a:t>
                </a:r>
                <a:r>
                  <a:rPr lang="en-US" sz="2000" kern="1200" dirty="0">
                    <a:solidFill>
                      <a:schemeClr val="tx1"/>
                    </a:solidFill>
                    <a:latin typeface="+mn-lt"/>
                    <a:ea typeface="+mn-ea"/>
                    <a:cs typeface="+mn-cs"/>
                  </a:rPr>
                  <a:t> X operator </a:t>
                </a:r>
                <a:r>
                  <a:rPr lang="en-US" sz="2000" kern="1200" dirty="0" err="1">
                    <a:solidFill>
                      <a:schemeClr val="tx1"/>
                    </a:solidFill>
                    <a:latin typeface="+mn-lt"/>
                    <a:ea typeface="+mn-ea"/>
                    <a:cs typeface="+mn-cs"/>
                  </a:rPr>
                  <a:t>na</a:t>
                </a:r>
                <a:r>
                  <a:rPr lang="en-US" sz="2000" kern="1200" dirty="0">
                    <a:solidFill>
                      <a:schemeClr val="tx1"/>
                    </a:solidFill>
                    <a:latin typeface="+mn-lt"/>
                    <a:ea typeface="+mn-ea"/>
                    <a:cs typeface="+mn-cs"/>
                  </a:rPr>
                  <a:t> </a:t>
                </a:r>
                <a:r>
                  <a:rPr lang="en-US" sz="2000" kern="1200" dirty="0" err="1">
                    <a:solidFill>
                      <a:schemeClr val="tx1"/>
                    </a:solidFill>
                    <a:latin typeface="+mn-lt"/>
                    <a:ea typeface="+mn-ea"/>
                    <a:cs typeface="+mn-cs"/>
                  </a:rPr>
                  <a:t>ciljni</a:t>
                </a:r>
                <a:r>
                  <a:rPr lang="en-US" sz="2000" kern="1200" dirty="0">
                    <a:solidFill>
                      <a:schemeClr val="tx1"/>
                    </a:solidFill>
                    <a:latin typeface="+mn-lt"/>
                    <a:ea typeface="+mn-ea"/>
                    <a:cs typeface="+mn-cs"/>
                  </a:rPr>
                  <a:t> </a:t>
                </a:r>
                <a:r>
                  <a:rPr lang="en-US" sz="2000" kern="1200" dirty="0" err="1">
                    <a:solidFill>
                      <a:schemeClr val="tx1"/>
                    </a:solidFill>
                    <a:latin typeface="+mn-lt"/>
                    <a:ea typeface="+mn-ea"/>
                    <a:cs typeface="+mn-cs"/>
                  </a:rPr>
                  <a:t>kubit</a:t>
                </a:r>
                <a:r>
                  <a:rPr lang="en-US" sz="2000" kern="1200" dirty="0">
                    <a:solidFill>
                      <a:schemeClr val="tx1"/>
                    </a:solidFill>
                    <a:latin typeface="+mn-lt"/>
                    <a:ea typeface="+mn-ea"/>
                    <a:cs typeface="+mn-cs"/>
                  </a:rPr>
                  <a:t> </a:t>
                </a:r>
                <a:r>
                  <a:rPr lang="en-US" sz="1800" i="0">
                    <a:latin typeface="Cambria Math" panose="02040503050406030204" pitchFamily="18" charset="0"/>
                  </a:rPr>
                  <a:t>𝑞_</a:t>
                </a:r>
                <a:r>
                  <a:rPr lang="en-US" sz="1800" b="0" i="0">
                    <a:latin typeface="Cambria Math" panose="02040503050406030204" pitchFamily="18" charset="0"/>
                  </a:rPr>
                  <a:t>1 </a:t>
                </a:r>
                <a:r>
                  <a:rPr lang="en-US" sz="1800" i="0">
                    <a:latin typeface="Cambria Math" panose="02040503050406030204" pitchFamily="18" charset="0"/>
                  </a:rPr>
                  <a:t> </a:t>
                </a:r>
                <a:r>
                  <a:rPr lang="en-US" sz="2000" kern="1200" dirty="0" err="1">
                    <a:solidFill>
                      <a:schemeClr val="tx1"/>
                    </a:solidFill>
                    <a:latin typeface="+mn-lt"/>
                    <a:ea typeface="+mn-ea"/>
                    <a:cs typeface="+mn-cs"/>
                  </a:rPr>
                  <a:t>ako</a:t>
                </a:r>
                <a:r>
                  <a:rPr lang="en-US" sz="2000" kern="1200" dirty="0">
                    <a:solidFill>
                      <a:schemeClr val="tx1"/>
                    </a:solidFill>
                    <a:latin typeface="+mn-lt"/>
                    <a:ea typeface="+mn-ea"/>
                    <a:cs typeface="+mn-cs"/>
                  </a:rPr>
                  <a:t> </a:t>
                </a:r>
                <a:r>
                  <a:rPr lang="en-US" sz="2000" kern="1200" dirty="0" err="1">
                    <a:solidFill>
                      <a:schemeClr val="tx1"/>
                    </a:solidFill>
                    <a:latin typeface="+mn-lt"/>
                    <a:ea typeface="+mn-ea"/>
                    <a:cs typeface="+mn-cs"/>
                  </a:rPr>
                  <a:t>je</a:t>
                </a:r>
                <a:r>
                  <a:rPr lang="en-US" sz="2000" kern="1200" dirty="0">
                    <a:solidFill>
                      <a:schemeClr val="tx1"/>
                    </a:solidFill>
                    <a:latin typeface="+mn-lt"/>
                    <a:ea typeface="+mn-ea"/>
                    <a:cs typeface="+mn-cs"/>
                  </a:rPr>
                  <a:t> </a:t>
                </a:r>
                <a:r>
                  <a:rPr lang="en-US" sz="2000" kern="1200" dirty="0" err="1">
                    <a:solidFill>
                      <a:schemeClr val="tx1"/>
                    </a:solidFill>
                    <a:latin typeface="+mn-lt"/>
                    <a:ea typeface="+mn-ea"/>
                    <a:cs typeface="+mn-cs"/>
                  </a:rPr>
                  <a:t>kontrolni</a:t>
                </a:r>
                <a:r>
                  <a:rPr lang="en-US" sz="2000" kern="1200" dirty="0">
                    <a:solidFill>
                      <a:schemeClr val="tx1"/>
                    </a:solidFill>
                    <a:latin typeface="+mn-lt"/>
                    <a:ea typeface="+mn-ea"/>
                    <a:cs typeface="+mn-cs"/>
                  </a:rPr>
                  <a:t> </a:t>
                </a:r>
                <a:r>
                  <a:rPr lang="en-US" sz="2000" kern="1200" dirty="0" err="1">
                    <a:solidFill>
                      <a:schemeClr val="tx1"/>
                    </a:solidFill>
                    <a:latin typeface="+mn-lt"/>
                    <a:ea typeface="+mn-ea"/>
                    <a:cs typeface="+mn-cs"/>
                  </a:rPr>
                  <a:t>kubit</a:t>
                </a:r>
                <a:r>
                  <a:rPr lang="en-US" sz="2000" kern="1200" dirty="0">
                    <a:solidFill>
                      <a:schemeClr val="tx1"/>
                    </a:solidFill>
                    <a:latin typeface="+mn-lt"/>
                    <a:ea typeface="+mn-ea"/>
                    <a:cs typeface="+mn-cs"/>
                  </a:rPr>
                  <a:t>  </a:t>
                </a:r>
                <a:r>
                  <a:rPr lang="en-US" sz="2000" i="0">
                    <a:latin typeface="Cambria Math" panose="02040503050406030204" pitchFamily="18" charset="0"/>
                  </a:rPr>
                  <a:t>𝑞_0</a:t>
                </a:r>
                <a:r>
                  <a:rPr lang="en-US" sz="2000" kern="1200" dirty="0">
                    <a:solidFill>
                      <a:schemeClr val="tx1"/>
                    </a:solidFill>
                    <a:latin typeface="+mn-lt"/>
                    <a:ea typeface="+mn-ea"/>
                    <a:cs typeface="+mn-cs"/>
                  </a:rPr>
                  <a:t> u </a:t>
                </a:r>
                <a:r>
                  <a:rPr lang="en-US" sz="2000" kern="1200" dirty="0" err="1">
                    <a:solidFill>
                      <a:schemeClr val="tx1"/>
                    </a:solidFill>
                    <a:latin typeface="+mn-lt"/>
                    <a:ea typeface="+mn-ea"/>
                    <a:cs typeface="+mn-cs"/>
                  </a:rPr>
                  <a:t>stanju</a:t>
                </a:r>
                <a:r>
                  <a:rPr lang="en-US" sz="2000" kern="1200" dirty="0">
                    <a:solidFill>
                      <a:schemeClr val="tx1"/>
                    </a:solidFill>
                    <a:latin typeface="+mn-lt"/>
                    <a:ea typeface="+mn-ea"/>
                    <a:cs typeface="+mn-cs"/>
                  </a:rPr>
                  <a:t> ∣1⟩. </a:t>
                </a:r>
                <a:r>
                  <a:rPr lang="en-US" sz="2000" kern="1200" dirty="0" err="1">
                    <a:solidFill>
                      <a:schemeClr val="tx1"/>
                    </a:solidFill>
                    <a:latin typeface="+mn-lt"/>
                    <a:ea typeface="+mn-ea"/>
                    <a:cs typeface="+mn-cs"/>
                  </a:rPr>
                  <a:t>Ovo</a:t>
                </a:r>
                <a:r>
                  <a:rPr lang="en-US" sz="2000" kern="1200" dirty="0">
                    <a:solidFill>
                      <a:schemeClr val="tx1"/>
                    </a:solidFill>
                    <a:latin typeface="+mn-lt"/>
                    <a:ea typeface="+mn-ea"/>
                    <a:cs typeface="+mn-cs"/>
                  </a:rPr>
                  <a:t> </a:t>
                </a:r>
                <a:r>
                  <a:rPr lang="en-US" sz="2000" kern="1200" dirty="0" err="1">
                    <a:solidFill>
                      <a:schemeClr val="tx1"/>
                    </a:solidFill>
                    <a:latin typeface="+mn-lt"/>
                    <a:ea typeface="+mn-ea"/>
                    <a:cs typeface="+mn-cs"/>
                  </a:rPr>
                  <a:t>kolo</a:t>
                </a:r>
                <a:r>
                  <a:rPr lang="en-US" sz="2000" kern="1200" dirty="0">
                    <a:solidFill>
                      <a:schemeClr val="tx1"/>
                    </a:solidFill>
                    <a:latin typeface="+mn-lt"/>
                    <a:ea typeface="+mn-ea"/>
                    <a:cs typeface="+mn-cs"/>
                  </a:rPr>
                  <a:t> </a:t>
                </a:r>
                <a:r>
                  <a:rPr lang="en-US" sz="2000" kern="1200" dirty="0" err="1">
                    <a:solidFill>
                      <a:schemeClr val="tx1"/>
                    </a:solidFill>
                    <a:latin typeface="+mn-lt"/>
                    <a:ea typeface="+mn-ea"/>
                    <a:cs typeface="+mn-cs"/>
                  </a:rPr>
                  <a:t>je</a:t>
                </a:r>
                <a:r>
                  <a:rPr lang="en-US" sz="2000" kern="1200" dirty="0">
                    <a:solidFill>
                      <a:schemeClr val="tx1"/>
                    </a:solidFill>
                    <a:latin typeface="+mn-lt"/>
                    <a:ea typeface="+mn-ea"/>
                    <a:cs typeface="+mn-cs"/>
                  </a:rPr>
                  <a:t> </a:t>
                </a:r>
                <a:r>
                  <a:rPr lang="en-US" sz="2000" kern="1200" dirty="0" err="1">
                    <a:solidFill>
                      <a:schemeClr val="tx1"/>
                    </a:solidFill>
                    <a:latin typeface="+mn-lt"/>
                    <a:ea typeface="+mn-ea"/>
                    <a:cs typeface="+mn-cs"/>
                  </a:rPr>
                  <a:t>ekvivalent</a:t>
                </a:r>
                <a:r>
                  <a:rPr lang="en-US" sz="2000" kern="1200" dirty="0">
                    <a:solidFill>
                      <a:schemeClr val="tx1"/>
                    </a:solidFill>
                    <a:latin typeface="+mn-lt"/>
                    <a:ea typeface="+mn-ea"/>
                    <a:cs typeface="+mn-cs"/>
                  </a:rPr>
                  <a:t> ‘if’ </a:t>
                </a:r>
                <a:r>
                  <a:rPr lang="en-US" sz="2000" kern="1200" dirty="0" err="1">
                    <a:solidFill>
                      <a:schemeClr val="tx1"/>
                    </a:solidFill>
                    <a:latin typeface="+mn-lt"/>
                    <a:ea typeface="+mn-ea"/>
                    <a:cs typeface="+mn-cs"/>
                  </a:rPr>
                  <a:t>operacije</a:t>
                </a:r>
                <a:r>
                  <a:rPr lang="en-US" sz="2000" kern="1200" dirty="0">
                    <a:solidFill>
                      <a:schemeClr val="tx1"/>
                    </a:solidFill>
                    <a:latin typeface="+mn-lt"/>
                    <a:ea typeface="+mn-ea"/>
                    <a:cs typeface="+mn-cs"/>
                  </a:rPr>
                  <a:t> u </a:t>
                </a:r>
                <a:r>
                  <a:rPr lang="en-US" sz="2000" kern="1200" dirty="0" err="1">
                    <a:solidFill>
                      <a:schemeClr val="tx1"/>
                    </a:solidFill>
                    <a:latin typeface="+mn-lt"/>
                    <a:ea typeface="+mn-ea"/>
                    <a:cs typeface="+mn-cs"/>
                  </a:rPr>
                  <a:t>visim</a:t>
                </a:r>
                <a:r>
                  <a:rPr lang="en-US" sz="2000" kern="1200" dirty="0">
                    <a:solidFill>
                      <a:schemeClr val="tx1"/>
                    </a:solidFill>
                    <a:latin typeface="+mn-lt"/>
                    <a:ea typeface="+mn-ea"/>
                    <a:cs typeface="+mn-cs"/>
                  </a:rPr>
                  <a:t> </a:t>
                </a:r>
                <a:r>
                  <a:rPr lang="en-US" sz="2000" kern="1200" dirty="0" err="1">
                    <a:solidFill>
                      <a:schemeClr val="tx1"/>
                    </a:solidFill>
                    <a:latin typeface="+mn-lt"/>
                    <a:ea typeface="+mn-ea"/>
                    <a:cs typeface="+mn-cs"/>
                  </a:rPr>
                  <a:t>programskim</a:t>
                </a:r>
                <a:r>
                  <a:rPr lang="en-US" sz="2000" kern="1200" dirty="0">
                    <a:solidFill>
                      <a:schemeClr val="tx1"/>
                    </a:solidFill>
                    <a:latin typeface="+mn-lt"/>
                    <a:ea typeface="+mn-ea"/>
                    <a:cs typeface="+mn-cs"/>
                  </a:rPr>
                  <a:t> </a:t>
                </a:r>
                <a:r>
                  <a:rPr lang="en-US" sz="2000" kern="1200" dirty="0" err="1">
                    <a:solidFill>
                      <a:schemeClr val="tx1"/>
                    </a:solidFill>
                    <a:latin typeface="+mn-lt"/>
                    <a:ea typeface="+mn-ea"/>
                    <a:cs typeface="+mn-cs"/>
                  </a:rPr>
                  <a:t>jezicima</a:t>
                </a:r>
                <a:r>
                  <a:rPr lang="en-US" sz="2000" kern="1200" dirty="0">
                    <a:solidFill>
                      <a:schemeClr val="tx1"/>
                    </a:solidFill>
                    <a:latin typeface="+mn-lt"/>
                    <a:ea typeface="+mn-ea"/>
                    <a:cs typeface="+mn-cs"/>
                  </a:rPr>
                  <a:t>.</a:t>
                </a:r>
              </a:p>
              <a:p>
                <a:pPr marL="457200" indent="-457200">
                  <a:buFont typeface="Arial" panose="020B0604020202020204" pitchFamily="34" charset="0"/>
                  <a:buChar char="•"/>
                </a:pPr>
                <a:endParaRPr lang="en-US" sz="2000" dirty="0"/>
              </a:p>
              <a:p>
                <a:endParaRPr lang="en-US" sz="2000"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40</a:t>
            </a:fld>
            <a:endParaRPr lang="en-US"/>
          </a:p>
        </p:txBody>
      </p:sp>
    </p:spTree>
    <p:extLst>
      <p:ext uri="{BB962C8B-B14F-4D97-AF65-F5344CB8AC3E}">
        <p14:creationId xmlns:p14="http://schemas.microsoft.com/office/powerpoint/2010/main" val="246181289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b="0" dirty="0"/>
                  <a:t>The CU gate is the controlled version of the universal single-qubit gate. It applies the U transformation to the target qubit only when the control qubit is in state ∣1⟩. Since the U gate can represent a general single-qubit transformation, the CU gate provides a general form of a controlled single-qubit operation.</a:t>
                </a:r>
              </a:p>
              <a:p>
                <a:pPr algn="just"/>
                <a:endParaRPr lang="en-ZA" b="0" dirty="0"/>
              </a:p>
              <a:p>
                <a:pPr algn="just"/>
                <a:r>
                  <a:rPr lang="en-ZA" b="0" dirty="0"/>
                  <a:t>By choosing different angle values, the CU gate can reproduce many familiar controlled gates, such as CX, CY, and CZ. </a:t>
                </a:r>
              </a:p>
            </p:txBody>
          </p:sp>
        </mc:Choice>
        <mc:Fallback xmlns="">
          <p:sp>
            <p:nvSpPr>
              <p:cNvPr id="3" name="Notes Placeholder 2"/>
              <p:cNvSpPr>
                <a:spLocks noGrp="1"/>
              </p:cNvSpPr>
              <p:nvPr>
                <p:ph type="body" idx="1"/>
              </p:nvPr>
            </p:nvSpPr>
            <p:spPr/>
            <p:txBody>
              <a:bodyPr/>
              <a:lstStyle/>
              <a:p>
                <a:r>
                  <a:rPr lang="en-US" sz="2000" dirty="0"/>
                  <a:t>Dvo-kubitna </a:t>
                </a:r>
                <a:r>
                  <a:rPr lang="en-US" sz="2000" dirty="0" err="1"/>
                  <a:t>elementarna</a:t>
                </a:r>
                <a:r>
                  <a:rPr lang="en-US" sz="2000" dirty="0"/>
                  <a:t> kola </a:t>
                </a:r>
                <a:r>
                  <a:rPr lang="en-US" sz="2000" dirty="0" err="1"/>
                  <a:t>su</a:t>
                </a:r>
                <a:r>
                  <a:rPr lang="en-US" sz="2000" dirty="0"/>
                  <a:t> </a:t>
                </a:r>
                <a:r>
                  <a:rPr lang="en-US" sz="2000" dirty="0" err="1"/>
                  <a:t>akodje</a:t>
                </a:r>
                <a:r>
                  <a:rPr lang="en-US" sz="2000" dirty="0"/>
                  <a:t> </a:t>
                </a:r>
                <a:r>
                  <a:rPr lang="en-US" sz="2000" dirty="0" err="1"/>
                  <a:t>nezaobilazni</a:t>
                </a:r>
                <a:r>
                  <a:rPr lang="en-US" sz="2000" dirty="0"/>
                  <a:t> </a:t>
                </a:r>
                <a:r>
                  <a:rPr lang="en-US" sz="2000" dirty="0" err="1"/>
                  <a:t>elemenat</a:t>
                </a:r>
                <a:r>
                  <a:rPr lang="en-US" sz="2000" dirty="0"/>
                  <a:t> u </a:t>
                </a:r>
                <a:r>
                  <a:rPr lang="en-US" sz="2000" dirty="0" err="1"/>
                  <a:t>kvantnim</a:t>
                </a:r>
                <a:r>
                  <a:rPr lang="en-US" sz="2000" dirty="0"/>
                  <a:t> </a:t>
                </a:r>
                <a:r>
                  <a:rPr lang="en-US" sz="2000" dirty="0" err="1"/>
                  <a:t>racunarima</a:t>
                </a:r>
                <a:r>
                  <a:rPr lang="en-US" sz="2000" dirty="0"/>
                  <a:t>. </a:t>
                </a:r>
              </a:p>
              <a:p>
                <a:pPr marL="457200" indent="-457200">
                  <a:buFont typeface="Arial" panose="020B0604020202020204" pitchFamily="34" charset="0"/>
                  <a:buChar char="•"/>
                </a:pPr>
                <a:r>
                  <a:rPr lang="en-US" sz="2000" dirty="0"/>
                  <a:t>Na primer SWAP </a:t>
                </a:r>
                <a:r>
                  <a:rPr lang="en-US" sz="2000" dirty="0" err="1"/>
                  <a:t>kolo</a:t>
                </a:r>
                <a:r>
                  <a:rPr lang="en-US" sz="2000" dirty="0"/>
                  <a:t> </a:t>
                </a:r>
                <a:r>
                  <a:rPr lang="en-US" sz="2000" dirty="0" err="1"/>
                  <a:t>razmenjuje</a:t>
                </a:r>
                <a:r>
                  <a:rPr lang="en-US" sz="2000" dirty="0"/>
                  <a:t> </a:t>
                </a:r>
                <a:r>
                  <a:rPr lang="en-US" sz="2000" dirty="0" err="1"/>
                  <a:t>stanja</a:t>
                </a:r>
                <a:r>
                  <a:rPr lang="en-US" sz="2000" dirty="0"/>
                  <a:t> </a:t>
                </a:r>
                <a:r>
                  <a:rPr lang="en-US" sz="2000" dirty="0" err="1"/>
                  <a:t>dva</a:t>
                </a:r>
                <a:r>
                  <a:rPr lang="en-US" sz="2000" dirty="0"/>
                  <a:t> </a:t>
                </a:r>
                <a:r>
                  <a:rPr lang="en-US" sz="2000" dirty="0" err="1"/>
                  <a:t>kubita</a:t>
                </a:r>
                <a:r>
                  <a:rPr lang="en-US" sz="2000" dirty="0"/>
                  <a:t>, </a:t>
                </a:r>
                <a:r>
                  <a:rPr lang="en-US" sz="2000" dirty="0" err="1"/>
                  <a:t>tako</a:t>
                </a:r>
                <a:r>
                  <a:rPr lang="en-US" sz="2000" dirty="0"/>
                  <a:t> </a:t>
                </a:r>
                <a:r>
                  <a:rPr lang="en-US" sz="2000" dirty="0" err="1"/>
                  <a:t>sto</a:t>
                </a:r>
                <a:r>
                  <a:rPr lang="en-US" sz="2000" dirty="0"/>
                  <a:t> </a:t>
                </a:r>
                <a:r>
                  <a:rPr lang="en-US" sz="2000" dirty="0" err="1"/>
                  <a:t>kubit</a:t>
                </a:r>
                <a:r>
                  <a:rPr lang="en-US" sz="2000" dirty="0"/>
                  <a:t> </a:t>
                </a:r>
                <a:r>
                  <a:rPr lang="en-US" sz="2000" b="0" i="0">
                    <a:latin typeface="Cambria Math" panose="02040503050406030204" pitchFamily="18" charset="0"/>
                  </a:rPr>
                  <a:t>𝑞_0</a:t>
                </a:r>
                <a:r>
                  <a:rPr lang="en-US" sz="2000" dirty="0"/>
                  <a:t> </a:t>
                </a:r>
                <a:r>
                  <a:rPr lang="en-US" sz="2000" dirty="0" err="1"/>
                  <a:t>sa</a:t>
                </a:r>
                <a:r>
                  <a:rPr lang="en-US" sz="2000" dirty="0"/>
                  <a:t> </a:t>
                </a:r>
                <a:r>
                  <a:rPr lang="en-US" sz="2000" dirty="0" err="1"/>
                  <a:t>slike</a:t>
                </a:r>
                <a:r>
                  <a:rPr lang="en-US" sz="2000" dirty="0"/>
                  <a:t> </a:t>
                </a:r>
                <a:r>
                  <a:rPr lang="en-US" sz="2000" dirty="0" err="1"/>
                  <a:t>preuzima</a:t>
                </a:r>
                <a:r>
                  <a:rPr lang="en-US" sz="2000" baseline="0" dirty="0"/>
                  <a:t> </a:t>
                </a:r>
                <a:r>
                  <a:rPr lang="en-US" sz="2000" baseline="0" dirty="0" err="1"/>
                  <a:t>stanje</a:t>
                </a:r>
                <a:r>
                  <a:rPr lang="en-US" sz="2000" baseline="0" dirty="0"/>
                  <a:t> </a:t>
                </a:r>
                <a:r>
                  <a:rPr lang="en-US" sz="2000" baseline="0" dirty="0" err="1"/>
                  <a:t>kubit</a:t>
                </a:r>
                <a:r>
                  <a:rPr lang="en-US" sz="2000" baseline="0" dirty="0"/>
                  <a:t> </a:t>
                </a:r>
                <a:r>
                  <a:rPr lang="en-US" sz="2000" b="0" i="0">
                    <a:latin typeface="Cambria Math" panose="02040503050406030204" pitchFamily="18" charset="0"/>
                  </a:rPr>
                  <a:t>𝑞_1</a:t>
                </a:r>
                <a:r>
                  <a:rPr lang="en-US" sz="2000" dirty="0"/>
                  <a:t> a </a:t>
                </a:r>
                <a:r>
                  <a:rPr lang="en-US" sz="2000" dirty="0" err="1"/>
                  <a:t>kubit</a:t>
                </a:r>
                <a:r>
                  <a:rPr lang="en-US" sz="2000" dirty="0"/>
                  <a:t> </a:t>
                </a:r>
                <a:r>
                  <a:rPr lang="en-US" sz="2000" b="0" i="0">
                    <a:latin typeface="Cambria Math" panose="02040503050406030204" pitchFamily="18" charset="0"/>
                  </a:rPr>
                  <a:t>𝑞_1</a:t>
                </a:r>
                <a:r>
                  <a:rPr lang="en-US" sz="2000" dirty="0" err="1"/>
                  <a:t>stanje</a:t>
                </a:r>
                <a:r>
                  <a:rPr lang="en-US" sz="2000" dirty="0"/>
                  <a:t> </a:t>
                </a:r>
                <a:r>
                  <a:rPr lang="en-US" sz="2000" dirty="0" err="1"/>
                  <a:t>kubit</a:t>
                </a:r>
                <a:r>
                  <a:rPr lang="en-US" sz="2000" dirty="0"/>
                  <a:t> </a:t>
                </a:r>
                <a:r>
                  <a:rPr lang="en-US" sz="2000" b="0" i="0">
                    <a:latin typeface="Cambria Math" panose="02040503050406030204" pitchFamily="18" charset="0"/>
                  </a:rPr>
                  <a:t>𝑞_0</a:t>
                </a:r>
                <a:r>
                  <a:rPr lang="en-US" sz="2000" dirty="0"/>
                  <a:t>.</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dirty="0"/>
                  <a:t>CNOT </a:t>
                </a:r>
                <a:r>
                  <a:rPr lang="en-US" sz="2000" dirty="0" err="1"/>
                  <a:t>ili</a:t>
                </a:r>
                <a:r>
                  <a:rPr lang="en-US" sz="2000" dirty="0"/>
                  <a:t> </a:t>
                </a:r>
                <a:r>
                  <a:rPr lang="en-US" sz="2000" dirty="0" err="1"/>
                  <a:t>kontrolisano</a:t>
                </a:r>
                <a:r>
                  <a:rPr lang="en-US" sz="2000" dirty="0"/>
                  <a:t> NOT, </a:t>
                </a:r>
                <a:r>
                  <a:rPr lang="en-US" sz="2000" dirty="0" err="1"/>
                  <a:t>ili</a:t>
                </a:r>
                <a:r>
                  <a:rPr lang="en-US" sz="2000" dirty="0"/>
                  <a:t> </a:t>
                </a:r>
                <a:r>
                  <a:rPr lang="en-US" sz="2000" dirty="0" err="1"/>
                  <a:t>kontrolisano</a:t>
                </a:r>
                <a:r>
                  <a:rPr lang="en-US" sz="2000" dirty="0"/>
                  <a:t> X </a:t>
                </a:r>
                <a:r>
                  <a:rPr lang="en-US" sz="2000" dirty="0" err="1"/>
                  <a:t>kolo</a:t>
                </a:r>
                <a:r>
                  <a:rPr lang="en-US" sz="2000" dirty="0"/>
                  <a:t> </a:t>
                </a:r>
                <a:r>
                  <a:rPr lang="en-US" sz="2000" kern="1200" dirty="0" err="1">
                    <a:solidFill>
                      <a:schemeClr val="tx1"/>
                    </a:solidFill>
                    <a:latin typeface="+mn-lt"/>
                    <a:ea typeface="+mn-ea"/>
                    <a:cs typeface="+mn-cs"/>
                  </a:rPr>
                  <a:t>primenjuje</a:t>
                </a:r>
                <a:r>
                  <a:rPr lang="en-US" sz="2000" kern="1200" dirty="0">
                    <a:solidFill>
                      <a:schemeClr val="tx1"/>
                    </a:solidFill>
                    <a:latin typeface="+mn-lt"/>
                    <a:ea typeface="+mn-ea"/>
                    <a:cs typeface="+mn-cs"/>
                  </a:rPr>
                  <a:t> X operator </a:t>
                </a:r>
                <a:r>
                  <a:rPr lang="en-US" sz="2000" kern="1200" dirty="0" err="1">
                    <a:solidFill>
                      <a:schemeClr val="tx1"/>
                    </a:solidFill>
                    <a:latin typeface="+mn-lt"/>
                    <a:ea typeface="+mn-ea"/>
                    <a:cs typeface="+mn-cs"/>
                  </a:rPr>
                  <a:t>na</a:t>
                </a:r>
                <a:r>
                  <a:rPr lang="en-US" sz="2000" kern="1200" dirty="0">
                    <a:solidFill>
                      <a:schemeClr val="tx1"/>
                    </a:solidFill>
                    <a:latin typeface="+mn-lt"/>
                    <a:ea typeface="+mn-ea"/>
                    <a:cs typeface="+mn-cs"/>
                  </a:rPr>
                  <a:t> </a:t>
                </a:r>
                <a:r>
                  <a:rPr lang="en-US" sz="2000" kern="1200" dirty="0" err="1">
                    <a:solidFill>
                      <a:schemeClr val="tx1"/>
                    </a:solidFill>
                    <a:latin typeface="+mn-lt"/>
                    <a:ea typeface="+mn-ea"/>
                    <a:cs typeface="+mn-cs"/>
                  </a:rPr>
                  <a:t>ciljni</a:t>
                </a:r>
                <a:r>
                  <a:rPr lang="en-US" sz="2000" kern="1200" dirty="0">
                    <a:solidFill>
                      <a:schemeClr val="tx1"/>
                    </a:solidFill>
                    <a:latin typeface="+mn-lt"/>
                    <a:ea typeface="+mn-ea"/>
                    <a:cs typeface="+mn-cs"/>
                  </a:rPr>
                  <a:t> </a:t>
                </a:r>
                <a:r>
                  <a:rPr lang="en-US" sz="2000" kern="1200" dirty="0" err="1">
                    <a:solidFill>
                      <a:schemeClr val="tx1"/>
                    </a:solidFill>
                    <a:latin typeface="+mn-lt"/>
                    <a:ea typeface="+mn-ea"/>
                    <a:cs typeface="+mn-cs"/>
                  </a:rPr>
                  <a:t>kubit</a:t>
                </a:r>
                <a:r>
                  <a:rPr lang="en-US" sz="2000" kern="1200" dirty="0">
                    <a:solidFill>
                      <a:schemeClr val="tx1"/>
                    </a:solidFill>
                    <a:latin typeface="+mn-lt"/>
                    <a:ea typeface="+mn-ea"/>
                    <a:cs typeface="+mn-cs"/>
                  </a:rPr>
                  <a:t> </a:t>
                </a:r>
                <a:r>
                  <a:rPr lang="en-US" sz="1800" i="0">
                    <a:latin typeface="Cambria Math" panose="02040503050406030204" pitchFamily="18" charset="0"/>
                  </a:rPr>
                  <a:t>𝑞_</a:t>
                </a:r>
                <a:r>
                  <a:rPr lang="en-US" sz="1800" b="0" i="0">
                    <a:latin typeface="Cambria Math" panose="02040503050406030204" pitchFamily="18" charset="0"/>
                  </a:rPr>
                  <a:t>1 </a:t>
                </a:r>
                <a:r>
                  <a:rPr lang="en-US" sz="1800" i="0">
                    <a:latin typeface="Cambria Math" panose="02040503050406030204" pitchFamily="18" charset="0"/>
                  </a:rPr>
                  <a:t> </a:t>
                </a:r>
                <a:r>
                  <a:rPr lang="en-US" sz="2000" kern="1200" dirty="0" err="1">
                    <a:solidFill>
                      <a:schemeClr val="tx1"/>
                    </a:solidFill>
                    <a:latin typeface="+mn-lt"/>
                    <a:ea typeface="+mn-ea"/>
                    <a:cs typeface="+mn-cs"/>
                  </a:rPr>
                  <a:t>ako</a:t>
                </a:r>
                <a:r>
                  <a:rPr lang="en-US" sz="2000" kern="1200" dirty="0">
                    <a:solidFill>
                      <a:schemeClr val="tx1"/>
                    </a:solidFill>
                    <a:latin typeface="+mn-lt"/>
                    <a:ea typeface="+mn-ea"/>
                    <a:cs typeface="+mn-cs"/>
                  </a:rPr>
                  <a:t> </a:t>
                </a:r>
                <a:r>
                  <a:rPr lang="en-US" sz="2000" kern="1200" dirty="0" err="1">
                    <a:solidFill>
                      <a:schemeClr val="tx1"/>
                    </a:solidFill>
                    <a:latin typeface="+mn-lt"/>
                    <a:ea typeface="+mn-ea"/>
                    <a:cs typeface="+mn-cs"/>
                  </a:rPr>
                  <a:t>je</a:t>
                </a:r>
                <a:r>
                  <a:rPr lang="en-US" sz="2000" kern="1200" dirty="0">
                    <a:solidFill>
                      <a:schemeClr val="tx1"/>
                    </a:solidFill>
                    <a:latin typeface="+mn-lt"/>
                    <a:ea typeface="+mn-ea"/>
                    <a:cs typeface="+mn-cs"/>
                  </a:rPr>
                  <a:t> </a:t>
                </a:r>
                <a:r>
                  <a:rPr lang="en-US" sz="2000" kern="1200" dirty="0" err="1">
                    <a:solidFill>
                      <a:schemeClr val="tx1"/>
                    </a:solidFill>
                    <a:latin typeface="+mn-lt"/>
                    <a:ea typeface="+mn-ea"/>
                    <a:cs typeface="+mn-cs"/>
                  </a:rPr>
                  <a:t>kontrolni</a:t>
                </a:r>
                <a:r>
                  <a:rPr lang="en-US" sz="2000" kern="1200" dirty="0">
                    <a:solidFill>
                      <a:schemeClr val="tx1"/>
                    </a:solidFill>
                    <a:latin typeface="+mn-lt"/>
                    <a:ea typeface="+mn-ea"/>
                    <a:cs typeface="+mn-cs"/>
                  </a:rPr>
                  <a:t> </a:t>
                </a:r>
                <a:r>
                  <a:rPr lang="en-US" sz="2000" kern="1200" dirty="0" err="1">
                    <a:solidFill>
                      <a:schemeClr val="tx1"/>
                    </a:solidFill>
                    <a:latin typeface="+mn-lt"/>
                    <a:ea typeface="+mn-ea"/>
                    <a:cs typeface="+mn-cs"/>
                  </a:rPr>
                  <a:t>kubit</a:t>
                </a:r>
                <a:r>
                  <a:rPr lang="en-US" sz="2000" kern="1200" dirty="0">
                    <a:solidFill>
                      <a:schemeClr val="tx1"/>
                    </a:solidFill>
                    <a:latin typeface="+mn-lt"/>
                    <a:ea typeface="+mn-ea"/>
                    <a:cs typeface="+mn-cs"/>
                  </a:rPr>
                  <a:t>  </a:t>
                </a:r>
                <a:r>
                  <a:rPr lang="en-US" sz="2000" i="0">
                    <a:latin typeface="Cambria Math" panose="02040503050406030204" pitchFamily="18" charset="0"/>
                  </a:rPr>
                  <a:t>𝑞_0</a:t>
                </a:r>
                <a:r>
                  <a:rPr lang="en-US" sz="2000" kern="1200" dirty="0">
                    <a:solidFill>
                      <a:schemeClr val="tx1"/>
                    </a:solidFill>
                    <a:latin typeface="+mn-lt"/>
                    <a:ea typeface="+mn-ea"/>
                    <a:cs typeface="+mn-cs"/>
                  </a:rPr>
                  <a:t> u </a:t>
                </a:r>
                <a:r>
                  <a:rPr lang="en-US" sz="2000" kern="1200" dirty="0" err="1">
                    <a:solidFill>
                      <a:schemeClr val="tx1"/>
                    </a:solidFill>
                    <a:latin typeface="+mn-lt"/>
                    <a:ea typeface="+mn-ea"/>
                    <a:cs typeface="+mn-cs"/>
                  </a:rPr>
                  <a:t>stanju</a:t>
                </a:r>
                <a:r>
                  <a:rPr lang="en-US" sz="2000" kern="1200" dirty="0">
                    <a:solidFill>
                      <a:schemeClr val="tx1"/>
                    </a:solidFill>
                    <a:latin typeface="+mn-lt"/>
                    <a:ea typeface="+mn-ea"/>
                    <a:cs typeface="+mn-cs"/>
                  </a:rPr>
                  <a:t> ∣1⟩. </a:t>
                </a:r>
                <a:r>
                  <a:rPr lang="en-US" sz="2000" kern="1200" dirty="0" err="1">
                    <a:solidFill>
                      <a:schemeClr val="tx1"/>
                    </a:solidFill>
                    <a:latin typeface="+mn-lt"/>
                    <a:ea typeface="+mn-ea"/>
                    <a:cs typeface="+mn-cs"/>
                  </a:rPr>
                  <a:t>Ovo</a:t>
                </a:r>
                <a:r>
                  <a:rPr lang="en-US" sz="2000" kern="1200" dirty="0">
                    <a:solidFill>
                      <a:schemeClr val="tx1"/>
                    </a:solidFill>
                    <a:latin typeface="+mn-lt"/>
                    <a:ea typeface="+mn-ea"/>
                    <a:cs typeface="+mn-cs"/>
                  </a:rPr>
                  <a:t> </a:t>
                </a:r>
                <a:r>
                  <a:rPr lang="en-US" sz="2000" kern="1200" dirty="0" err="1">
                    <a:solidFill>
                      <a:schemeClr val="tx1"/>
                    </a:solidFill>
                    <a:latin typeface="+mn-lt"/>
                    <a:ea typeface="+mn-ea"/>
                    <a:cs typeface="+mn-cs"/>
                  </a:rPr>
                  <a:t>kolo</a:t>
                </a:r>
                <a:r>
                  <a:rPr lang="en-US" sz="2000" kern="1200" dirty="0">
                    <a:solidFill>
                      <a:schemeClr val="tx1"/>
                    </a:solidFill>
                    <a:latin typeface="+mn-lt"/>
                    <a:ea typeface="+mn-ea"/>
                    <a:cs typeface="+mn-cs"/>
                  </a:rPr>
                  <a:t> </a:t>
                </a:r>
                <a:r>
                  <a:rPr lang="en-US" sz="2000" kern="1200" dirty="0" err="1">
                    <a:solidFill>
                      <a:schemeClr val="tx1"/>
                    </a:solidFill>
                    <a:latin typeface="+mn-lt"/>
                    <a:ea typeface="+mn-ea"/>
                    <a:cs typeface="+mn-cs"/>
                  </a:rPr>
                  <a:t>je</a:t>
                </a:r>
                <a:r>
                  <a:rPr lang="en-US" sz="2000" kern="1200" dirty="0">
                    <a:solidFill>
                      <a:schemeClr val="tx1"/>
                    </a:solidFill>
                    <a:latin typeface="+mn-lt"/>
                    <a:ea typeface="+mn-ea"/>
                    <a:cs typeface="+mn-cs"/>
                  </a:rPr>
                  <a:t> </a:t>
                </a:r>
                <a:r>
                  <a:rPr lang="en-US" sz="2000" kern="1200" dirty="0" err="1">
                    <a:solidFill>
                      <a:schemeClr val="tx1"/>
                    </a:solidFill>
                    <a:latin typeface="+mn-lt"/>
                    <a:ea typeface="+mn-ea"/>
                    <a:cs typeface="+mn-cs"/>
                  </a:rPr>
                  <a:t>ekvivalent</a:t>
                </a:r>
                <a:r>
                  <a:rPr lang="en-US" sz="2000" kern="1200" dirty="0">
                    <a:solidFill>
                      <a:schemeClr val="tx1"/>
                    </a:solidFill>
                    <a:latin typeface="+mn-lt"/>
                    <a:ea typeface="+mn-ea"/>
                    <a:cs typeface="+mn-cs"/>
                  </a:rPr>
                  <a:t> ‘if’ </a:t>
                </a:r>
                <a:r>
                  <a:rPr lang="en-US" sz="2000" kern="1200" dirty="0" err="1">
                    <a:solidFill>
                      <a:schemeClr val="tx1"/>
                    </a:solidFill>
                    <a:latin typeface="+mn-lt"/>
                    <a:ea typeface="+mn-ea"/>
                    <a:cs typeface="+mn-cs"/>
                  </a:rPr>
                  <a:t>operacije</a:t>
                </a:r>
                <a:r>
                  <a:rPr lang="en-US" sz="2000" kern="1200" dirty="0">
                    <a:solidFill>
                      <a:schemeClr val="tx1"/>
                    </a:solidFill>
                    <a:latin typeface="+mn-lt"/>
                    <a:ea typeface="+mn-ea"/>
                    <a:cs typeface="+mn-cs"/>
                  </a:rPr>
                  <a:t> u </a:t>
                </a:r>
                <a:r>
                  <a:rPr lang="en-US" sz="2000" kern="1200" dirty="0" err="1">
                    <a:solidFill>
                      <a:schemeClr val="tx1"/>
                    </a:solidFill>
                    <a:latin typeface="+mn-lt"/>
                    <a:ea typeface="+mn-ea"/>
                    <a:cs typeface="+mn-cs"/>
                  </a:rPr>
                  <a:t>visim</a:t>
                </a:r>
                <a:r>
                  <a:rPr lang="en-US" sz="2000" kern="1200" dirty="0">
                    <a:solidFill>
                      <a:schemeClr val="tx1"/>
                    </a:solidFill>
                    <a:latin typeface="+mn-lt"/>
                    <a:ea typeface="+mn-ea"/>
                    <a:cs typeface="+mn-cs"/>
                  </a:rPr>
                  <a:t> </a:t>
                </a:r>
                <a:r>
                  <a:rPr lang="en-US" sz="2000" kern="1200" dirty="0" err="1">
                    <a:solidFill>
                      <a:schemeClr val="tx1"/>
                    </a:solidFill>
                    <a:latin typeface="+mn-lt"/>
                    <a:ea typeface="+mn-ea"/>
                    <a:cs typeface="+mn-cs"/>
                  </a:rPr>
                  <a:t>programskim</a:t>
                </a:r>
                <a:r>
                  <a:rPr lang="en-US" sz="2000" kern="1200" dirty="0">
                    <a:solidFill>
                      <a:schemeClr val="tx1"/>
                    </a:solidFill>
                    <a:latin typeface="+mn-lt"/>
                    <a:ea typeface="+mn-ea"/>
                    <a:cs typeface="+mn-cs"/>
                  </a:rPr>
                  <a:t> </a:t>
                </a:r>
                <a:r>
                  <a:rPr lang="en-US" sz="2000" kern="1200" dirty="0" err="1">
                    <a:solidFill>
                      <a:schemeClr val="tx1"/>
                    </a:solidFill>
                    <a:latin typeface="+mn-lt"/>
                    <a:ea typeface="+mn-ea"/>
                    <a:cs typeface="+mn-cs"/>
                  </a:rPr>
                  <a:t>jezicima</a:t>
                </a:r>
                <a:r>
                  <a:rPr lang="en-US" sz="2000" kern="1200" dirty="0">
                    <a:solidFill>
                      <a:schemeClr val="tx1"/>
                    </a:solidFill>
                    <a:latin typeface="+mn-lt"/>
                    <a:ea typeface="+mn-ea"/>
                    <a:cs typeface="+mn-cs"/>
                  </a:rPr>
                  <a:t>.</a:t>
                </a:r>
              </a:p>
              <a:p>
                <a:pPr marL="457200" indent="-457200">
                  <a:buFont typeface="Arial" panose="020B0604020202020204" pitchFamily="34" charset="0"/>
                  <a:buChar char="•"/>
                </a:pPr>
                <a:endParaRPr lang="en-US" sz="2000" dirty="0"/>
              </a:p>
              <a:p>
                <a:endParaRPr lang="en-US" sz="2000"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41</a:t>
            </a:fld>
            <a:endParaRPr lang="en-US"/>
          </a:p>
        </p:txBody>
      </p:sp>
    </p:spTree>
    <p:extLst>
      <p:ext uri="{BB962C8B-B14F-4D97-AF65-F5344CB8AC3E}">
        <p14:creationId xmlns:p14="http://schemas.microsoft.com/office/powerpoint/2010/main" val="77608100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B2CE5E3-B8BD-D040-AC87-D640191DD8F1}" type="slidenum">
              <a:rPr lang="en-US" smtClean="0"/>
              <a:t>42</a:t>
            </a:fld>
            <a:endParaRPr lang="en-US"/>
          </a:p>
        </p:txBody>
      </p:sp>
    </p:spTree>
    <p:extLst>
      <p:ext uri="{BB962C8B-B14F-4D97-AF65-F5344CB8AC3E}">
        <p14:creationId xmlns:p14="http://schemas.microsoft.com/office/powerpoint/2010/main" val="308816355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b="0" dirty="0"/>
                  <a:t>The CCNOT gate, also called the CCX or </a:t>
                </a:r>
                <a:r>
                  <a:rPr lang="en-ZA" b="0" dirty="0" err="1"/>
                  <a:t>Toffoli</a:t>
                </a:r>
                <a:r>
                  <a:rPr lang="en-ZA" b="0" dirty="0"/>
                  <a:t> gate, is named after Tommaso </a:t>
                </a:r>
                <a:r>
                  <a:rPr lang="en-ZA" b="0" dirty="0" err="1"/>
                  <a:t>Toffoli</a:t>
                </a:r>
                <a:r>
                  <a:rPr lang="en-ZA" b="0" dirty="0"/>
                  <a:t>, an Italian-American scientist who introduced it in the context of reversible computing before it was adopted in quantum computing.</a:t>
                </a:r>
              </a:p>
              <a:p>
                <a:pPr algn="just"/>
                <a:endParaRPr lang="en-ZA" b="0" dirty="0"/>
              </a:p>
              <a:p>
                <a:pPr algn="just"/>
                <a:r>
                  <a:rPr lang="en-ZA" b="0" dirty="0"/>
                  <a:t>The CCX gate works like an extended version of the controlled-X gate. Instead of one control qubit, it uses two. The X gate acts on the target qubit only when both control qubits are in state ∣1⟩. T</a:t>
                </a:r>
                <a:r>
                  <a:rPr lang="en-ZA" dirty="0"/>
                  <a:t>his can be written as</a:t>
                </a:r>
                <a:r>
                  <a:rPr lang="en-ZA" baseline="0" dirty="0"/>
                  <a:t> </a:t>
                </a:r>
                <a14:m>
                  <m:oMath xmlns:m="http://schemas.openxmlformats.org/officeDocument/2006/math">
                    <m:sSup>
                      <m:sSupPr>
                        <m:ctrlPr>
                          <a:rPr lang="en-US" sz="1200" b="0" i="1" smtClean="0">
                            <a:latin typeface="Cambria Math" panose="02040503050406030204" pitchFamily="18" charset="0"/>
                          </a:rPr>
                        </m:ctrlPr>
                      </m:sSupPr>
                      <m:e>
                        <m:r>
                          <a:rPr lang="en-US" sz="1200" b="0" i="1" smtClean="0">
                            <a:latin typeface="Cambria Math" panose="02040503050406030204" pitchFamily="18" charset="0"/>
                          </a:rPr>
                          <m:t>𝑡</m:t>
                        </m:r>
                      </m:e>
                      <m:sup>
                        <m:r>
                          <a:rPr lang="en-US" sz="1200" b="0" i="1" smtClean="0">
                            <a:latin typeface="Cambria Math" panose="02040503050406030204" pitchFamily="18" charset="0"/>
                          </a:rPr>
                          <m:t>′</m:t>
                        </m:r>
                      </m:sup>
                    </m:sSup>
                    <m:r>
                      <a:rPr lang="en-US" sz="1200" b="0" i="1" smtClean="0">
                        <a:latin typeface="Cambria Math" panose="02040503050406030204" pitchFamily="18" charset="0"/>
                      </a:rPr>
                      <m:t>=</m:t>
                    </m:r>
                    <m:r>
                      <a:rPr lang="en-US" sz="1200" b="0" i="1" smtClean="0">
                        <a:latin typeface="Cambria Math" panose="02040503050406030204" pitchFamily="18" charset="0"/>
                      </a:rPr>
                      <m:t>𝑡</m:t>
                    </m:r>
                    <m:r>
                      <a:rPr lang="en-US" sz="1200" b="0" i="1" smtClean="0">
                        <a:latin typeface="Cambria Math" panose="02040503050406030204" pitchFamily="18" charset="0"/>
                      </a:rPr>
                      <m:t> ⨁</m:t>
                    </m:r>
                    <m:r>
                      <a:rPr lang="sr-Latn-RS" sz="1200" b="0" i="0" smtClean="0">
                        <a:latin typeface="Cambria Math" panose="02040503050406030204" pitchFamily="18" charset="0"/>
                      </a:rPr>
                      <m:t>(</m:t>
                    </m:r>
                    <m:sSub>
                      <m:sSubPr>
                        <m:ctrlPr>
                          <a:rPr lang="en-US" sz="1200" i="1">
                            <a:latin typeface="Cambria Math" panose="02040503050406030204" pitchFamily="18" charset="0"/>
                          </a:rPr>
                        </m:ctrlPr>
                      </m:sSubPr>
                      <m:e>
                        <m:r>
                          <a:rPr lang="sr-Latn-RS" sz="1200" i="1">
                            <a:latin typeface="Cambria Math" panose="02040503050406030204" pitchFamily="18" charset="0"/>
                          </a:rPr>
                          <m:t>𝑐</m:t>
                        </m:r>
                      </m:e>
                      <m:sub>
                        <m:r>
                          <a:rPr lang="en-US" sz="1200" i="1">
                            <a:latin typeface="Cambria Math" panose="02040503050406030204" pitchFamily="18" charset="0"/>
                          </a:rPr>
                          <m:t>1</m:t>
                        </m:r>
                      </m:sub>
                    </m:sSub>
                    <m:sSub>
                      <m:sSubPr>
                        <m:ctrlPr>
                          <a:rPr lang="en-US" sz="1200" i="1">
                            <a:latin typeface="Cambria Math" panose="02040503050406030204" pitchFamily="18" charset="0"/>
                          </a:rPr>
                        </m:ctrlPr>
                      </m:sSubPr>
                      <m:e>
                        <m:r>
                          <a:rPr lang="en-US" sz="1200" i="1" smtClean="0">
                            <a:latin typeface="Cambria Math" panose="02040503050406030204" pitchFamily="18" charset="0"/>
                            <a:ea typeface="Cambria Math" panose="02040503050406030204" pitchFamily="18" charset="0"/>
                          </a:rPr>
                          <m:t>∙</m:t>
                        </m:r>
                        <m:r>
                          <a:rPr lang="sr-Latn-RS" sz="1200" b="0" i="1" smtClean="0">
                            <a:latin typeface="Cambria Math" panose="02040503050406030204" pitchFamily="18" charset="0"/>
                            <a:ea typeface="Cambria Math" panose="02040503050406030204" pitchFamily="18" charset="0"/>
                          </a:rPr>
                          <m:t>𝑐</m:t>
                        </m:r>
                      </m:e>
                      <m:sub>
                        <m:r>
                          <a:rPr lang="sr-Latn-RS" sz="1200" b="0" i="1" smtClean="0">
                            <a:latin typeface="Cambria Math" panose="02040503050406030204" pitchFamily="18" charset="0"/>
                          </a:rPr>
                          <m:t>2</m:t>
                        </m:r>
                      </m:sub>
                    </m:sSub>
                    <m:r>
                      <a:rPr lang="sr-Latn-RS" sz="1200" b="0" i="0" smtClean="0">
                        <a:latin typeface="Cambria Math" panose="02040503050406030204" pitchFamily="18" charset="0"/>
                      </a:rPr>
                      <m:t>)</m:t>
                    </m:r>
                  </m:oMath>
                </a14:m>
                <a:r>
                  <a:rPr lang="en-US" sz="1200" dirty="0"/>
                  <a:t>, </a:t>
                </a:r>
                <a:r>
                  <a:rPr lang="en-ZA" dirty="0"/>
                  <a:t>where ⋅ represents AND and ⊕ represents XOR. The two control qubits remain unchanged.</a:t>
                </a:r>
                <a:endParaRPr lang="en-US" sz="1200" dirty="0"/>
              </a:p>
              <a:p>
                <a:pPr algn="just"/>
                <a:endParaRPr lang="en-ZA" b="0" dirty="0"/>
              </a:p>
              <a:p>
                <a:pPr marL="0" indent="0" algn="just">
                  <a:buFont typeface="Arial" panose="020B0604020202020204" pitchFamily="34" charset="0"/>
                  <a:buNone/>
                </a:pPr>
                <a:r>
                  <a:rPr lang="en-ZA" dirty="0"/>
                  <a:t>The CCX matrix has a block-diagonal structure. The first six computational basis states remain unchanged. When both control qubits are 1, the X operation acts on the target qubit, exchanging the states ∣110⟩ and ∣111⟩. Therefore, the matrix can be written as</a:t>
                </a:r>
                <a:endParaRPr lang="en-US" sz="1200" b="0" i="1" dirty="0">
                  <a:latin typeface="Cambria Math" panose="02040503050406030204" pitchFamily="18" charset="0"/>
                </a:endParaRPr>
              </a:p>
              <a:p>
                <a:pPr marL="0" indent="0" algn="just">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𝐶𝐶𝑋</m:t>
                      </m:r>
                      <m:r>
                        <a:rPr lang="en-US" sz="1200" b="0" i="1" smtClean="0">
                          <a:latin typeface="Cambria Math" panose="02040503050406030204" pitchFamily="18" charset="0"/>
                        </a:rPr>
                        <m:t>=</m:t>
                      </m:r>
                      <m:d>
                        <m:dPr>
                          <m:ctrlPr>
                            <a:rPr lang="en-US" sz="1200" b="0" i="1" smtClean="0">
                              <a:latin typeface="Cambria Math" panose="02040503050406030204" pitchFamily="18" charset="0"/>
                            </a:rPr>
                          </m:ctrlPr>
                        </m:dPr>
                        <m:e>
                          <m:m>
                            <m:mPr>
                              <m:mcs>
                                <m:mc>
                                  <m:mcPr>
                                    <m:count m:val="2"/>
                                    <m:mcJc m:val="center"/>
                                  </m:mcPr>
                                </m:mc>
                              </m:mcs>
                              <m:ctrlPr>
                                <a:rPr lang="en-US" sz="1200" b="0" i="1" smtClean="0">
                                  <a:latin typeface="Cambria Math" panose="02040503050406030204" pitchFamily="18" charset="0"/>
                                </a:rPr>
                              </m:ctrlPr>
                            </m:mPr>
                            <m:mr>
                              <m:e>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𝐼</m:t>
                                    </m:r>
                                  </m:e>
                                  <m:sub>
                                    <m:r>
                                      <a:rPr lang="en-US" sz="1200" b="0" i="1" smtClean="0">
                                        <a:latin typeface="Cambria Math" panose="02040503050406030204" pitchFamily="18" charset="0"/>
                                      </a:rPr>
                                      <m:t>6</m:t>
                                    </m:r>
                                  </m:sub>
                                </m:sSub>
                              </m:e>
                              <m:e>
                                <m:r>
                                  <a:rPr lang="en-US" sz="1200" b="0" i="1" smtClean="0">
                                    <a:latin typeface="Cambria Math" panose="02040503050406030204" pitchFamily="18" charset="0"/>
                                  </a:rPr>
                                  <m:t>0</m:t>
                                </m:r>
                              </m:e>
                            </m:mr>
                            <m:mr>
                              <m:e>
                                <m:r>
                                  <a:rPr lang="en-US" sz="1200" b="0" i="1" smtClean="0">
                                    <a:latin typeface="Cambria Math" panose="02040503050406030204" pitchFamily="18" charset="0"/>
                                  </a:rPr>
                                  <m:t>0</m:t>
                                </m:r>
                              </m:e>
                              <m:e>
                                <m:r>
                                  <a:rPr lang="en-US" sz="1200" b="0" i="1" smtClean="0">
                                    <a:latin typeface="Cambria Math" panose="02040503050406030204" pitchFamily="18" charset="0"/>
                                  </a:rPr>
                                  <m:t>𝑋</m:t>
                                </m:r>
                              </m:e>
                            </m:mr>
                          </m:m>
                        </m:e>
                      </m:d>
                    </m:oMath>
                  </m:oMathPara>
                </a14:m>
                <a:endParaRPr lang="en-ZA" b="0" dirty="0"/>
              </a:p>
            </p:txBody>
          </p:sp>
        </mc:Choice>
        <mc:Fallback xmlns="">
          <p:sp>
            <p:nvSpPr>
              <p:cNvPr id="3" name="Notes Placeholder 2"/>
              <p:cNvSpPr>
                <a:spLocks noGrp="1"/>
              </p:cNvSpPr>
              <p:nvPr>
                <p:ph type="body" idx="1"/>
              </p:nvPr>
            </p:nvSpPr>
            <p:spPr/>
            <p:txBody>
              <a:bodyPr/>
              <a:lstStyle/>
              <a:p>
                <a:r>
                  <a:rPr lang="en-US" sz="2000" b="0" kern="1200" dirty="0">
                    <a:solidFill>
                      <a:schemeClr val="tx1"/>
                    </a:solidFill>
                    <a:effectLst/>
                    <a:latin typeface="+mn-lt"/>
                    <a:ea typeface="+mn-ea"/>
                    <a:cs typeface="+mn-cs"/>
                  </a:rPr>
                  <a:t>CCNOT, CCX </a:t>
                </a:r>
                <a:r>
                  <a:rPr lang="en-US" sz="2000" b="0" kern="1200" dirty="0" err="1">
                    <a:solidFill>
                      <a:schemeClr val="tx1"/>
                    </a:solidFill>
                    <a:effectLst/>
                    <a:latin typeface="+mn-lt"/>
                    <a:ea typeface="+mn-ea"/>
                    <a:cs typeface="+mn-cs"/>
                  </a:rPr>
                  <a:t>ili</a:t>
                </a:r>
                <a:r>
                  <a:rPr lang="en-US" sz="2000" b="0" kern="1200" dirty="0">
                    <a:solidFill>
                      <a:schemeClr val="tx1"/>
                    </a:solidFill>
                    <a:effectLst/>
                    <a:latin typeface="+mn-lt"/>
                    <a:ea typeface="+mn-ea"/>
                    <a:cs typeface="+mn-cs"/>
                  </a:rPr>
                  <a:t> </a:t>
                </a:r>
                <a:r>
                  <a:rPr lang="en-US" sz="2000" b="0" kern="1200" dirty="0" err="1">
                    <a:solidFill>
                      <a:schemeClr val="tx1"/>
                    </a:solidFill>
                    <a:effectLst/>
                    <a:latin typeface="+mn-lt"/>
                    <a:ea typeface="+mn-ea"/>
                    <a:cs typeface="+mn-cs"/>
                  </a:rPr>
                  <a:t>Tofoli</a:t>
                </a:r>
                <a:r>
                  <a:rPr lang="en-US" sz="2000" b="0" kern="1200" dirty="0">
                    <a:solidFill>
                      <a:schemeClr val="tx1"/>
                    </a:solidFill>
                    <a:effectLst/>
                    <a:latin typeface="+mn-lt"/>
                    <a:ea typeface="+mn-ea"/>
                    <a:cs typeface="+mn-cs"/>
                  </a:rPr>
                  <a:t> </a:t>
                </a:r>
                <a:r>
                  <a:rPr lang="en-US" sz="2000" b="0" kern="1200" dirty="0" err="1">
                    <a:solidFill>
                      <a:schemeClr val="tx1"/>
                    </a:solidFill>
                    <a:effectLst/>
                    <a:latin typeface="+mn-lt"/>
                    <a:ea typeface="+mn-ea"/>
                    <a:cs typeface="+mn-cs"/>
                  </a:rPr>
                  <a:t>kolo</a:t>
                </a:r>
                <a:r>
                  <a:rPr lang="en-US" sz="2000" b="0" kern="1200" dirty="0">
                    <a:solidFill>
                      <a:schemeClr val="tx1"/>
                    </a:solidFill>
                    <a:effectLst/>
                    <a:latin typeface="+mn-lt"/>
                    <a:ea typeface="+mn-ea"/>
                    <a:cs typeface="+mn-cs"/>
                  </a:rPr>
                  <a:t> </a:t>
                </a:r>
                <a:r>
                  <a:rPr lang="en-US" sz="2000" b="0" kern="1200" dirty="0" err="1">
                    <a:solidFill>
                      <a:schemeClr val="tx1"/>
                    </a:solidFill>
                    <a:effectLst/>
                    <a:latin typeface="+mn-lt"/>
                    <a:ea typeface="+mn-ea"/>
                    <a:cs typeface="+mn-cs"/>
                  </a:rPr>
                  <a:t>je</a:t>
                </a:r>
                <a:r>
                  <a:rPr lang="en-US" sz="2000" b="0" kern="1200" dirty="0">
                    <a:solidFill>
                      <a:schemeClr val="tx1"/>
                    </a:solidFill>
                    <a:effectLst/>
                    <a:latin typeface="+mn-lt"/>
                    <a:ea typeface="+mn-ea"/>
                    <a:cs typeface="+mn-cs"/>
                  </a:rPr>
                  <a:t> </a:t>
                </a:r>
                <a:r>
                  <a:rPr lang="en-US" sz="2000" b="0" kern="1200" dirty="0" err="1">
                    <a:solidFill>
                      <a:schemeClr val="tx1"/>
                    </a:solidFill>
                    <a:effectLst/>
                    <a:latin typeface="+mn-lt"/>
                    <a:ea typeface="+mn-ea"/>
                    <a:cs typeface="+mn-cs"/>
                  </a:rPr>
                  <a:t>jedino</a:t>
                </a:r>
                <a:r>
                  <a:rPr lang="en-US" sz="2000" b="0" kern="1200" dirty="0">
                    <a:solidFill>
                      <a:schemeClr val="tx1"/>
                    </a:solidFill>
                    <a:effectLst/>
                    <a:latin typeface="+mn-lt"/>
                    <a:ea typeface="+mn-ea"/>
                    <a:cs typeface="+mn-cs"/>
                  </a:rPr>
                  <a:t> </a:t>
                </a:r>
                <a:r>
                  <a:rPr lang="en-US" sz="2000" b="0" kern="1200" dirty="0" err="1">
                    <a:solidFill>
                      <a:schemeClr val="tx1"/>
                    </a:solidFill>
                    <a:effectLst/>
                    <a:latin typeface="+mn-lt"/>
                    <a:ea typeface="+mn-ea"/>
                    <a:cs typeface="+mn-cs"/>
                  </a:rPr>
                  <a:t>elementarno</a:t>
                </a:r>
                <a:r>
                  <a:rPr lang="en-US" sz="2000" b="0" kern="1200" dirty="0">
                    <a:solidFill>
                      <a:schemeClr val="tx1"/>
                    </a:solidFill>
                    <a:effectLst/>
                    <a:latin typeface="+mn-lt"/>
                    <a:ea typeface="+mn-ea"/>
                    <a:cs typeface="+mn-cs"/>
                  </a:rPr>
                  <a:t> </a:t>
                </a:r>
                <a:r>
                  <a:rPr lang="en-US" sz="2000" b="0" kern="1200" dirty="0" err="1">
                    <a:solidFill>
                      <a:schemeClr val="tx1"/>
                    </a:solidFill>
                    <a:effectLst/>
                    <a:latin typeface="+mn-lt"/>
                    <a:ea typeface="+mn-ea"/>
                    <a:cs typeface="+mn-cs"/>
                  </a:rPr>
                  <a:t>trokubitno</a:t>
                </a:r>
                <a:r>
                  <a:rPr lang="en-US" sz="2000" b="0" kern="1200" dirty="0">
                    <a:solidFill>
                      <a:schemeClr val="tx1"/>
                    </a:solidFill>
                    <a:effectLst/>
                    <a:latin typeface="+mn-lt"/>
                    <a:ea typeface="+mn-ea"/>
                    <a:cs typeface="+mn-cs"/>
                  </a:rPr>
                  <a:t> </a:t>
                </a:r>
                <a:r>
                  <a:rPr lang="en-US" sz="2000" b="0" kern="1200" dirty="0" err="1">
                    <a:solidFill>
                      <a:schemeClr val="tx1"/>
                    </a:solidFill>
                    <a:effectLst/>
                    <a:latin typeface="+mn-lt"/>
                    <a:ea typeface="+mn-ea"/>
                    <a:cs typeface="+mn-cs"/>
                  </a:rPr>
                  <a:t>kolo</a:t>
                </a:r>
                <a:r>
                  <a:rPr lang="en-US" sz="2000" b="0" kern="1200" dirty="0">
                    <a:solidFill>
                      <a:schemeClr val="tx1"/>
                    </a:solidFill>
                    <a:effectLst/>
                    <a:latin typeface="+mn-lt"/>
                    <a:ea typeface="+mn-ea"/>
                    <a:cs typeface="+mn-cs"/>
                  </a:rPr>
                  <a:t>. </a:t>
                </a:r>
                <a:r>
                  <a:rPr lang="en-US" sz="2000" b="0" kern="1200" dirty="0" err="1">
                    <a:solidFill>
                      <a:schemeClr val="tx1"/>
                    </a:solidFill>
                    <a:effectLst/>
                    <a:latin typeface="+mn-lt"/>
                    <a:ea typeface="+mn-ea"/>
                    <a:cs typeface="+mn-cs"/>
                  </a:rPr>
                  <a:t>funkcioniše</a:t>
                </a:r>
                <a:r>
                  <a:rPr lang="en-US" sz="2000" b="0" kern="1200" dirty="0">
                    <a:solidFill>
                      <a:schemeClr val="tx1"/>
                    </a:solidFill>
                    <a:effectLst/>
                    <a:latin typeface="+mn-lt"/>
                    <a:ea typeface="+mn-ea"/>
                    <a:cs typeface="+mn-cs"/>
                  </a:rPr>
                  <a:t> </a:t>
                </a:r>
                <a:r>
                  <a:rPr lang="en-US" sz="2000" b="0" kern="1200" dirty="0" err="1">
                    <a:solidFill>
                      <a:schemeClr val="tx1"/>
                    </a:solidFill>
                    <a:effectLst/>
                    <a:latin typeface="+mn-lt"/>
                    <a:ea typeface="+mn-ea"/>
                    <a:cs typeface="+mn-cs"/>
                  </a:rPr>
                  <a:t>slično</a:t>
                </a:r>
                <a:r>
                  <a:rPr lang="en-US" sz="2000" b="0" kern="1200" dirty="0">
                    <a:solidFill>
                      <a:schemeClr val="tx1"/>
                    </a:solidFill>
                    <a:effectLst/>
                    <a:latin typeface="+mn-lt"/>
                    <a:ea typeface="+mn-ea"/>
                    <a:cs typeface="+mn-cs"/>
                  </a:rPr>
                  <a:t> CX </a:t>
                </a:r>
                <a:r>
                  <a:rPr lang="en-US" sz="2000" b="0" kern="1200" dirty="0" err="1">
                    <a:solidFill>
                      <a:schemeClr val="tx1"/>
                    </a:solidFill>
                    <a:effectLst/>
                    <a:latin typeface="+mn-lt"/>
                    <a:ea typeface="+mn-ea"/>
                    <a:cs typeface="+mn-cs"/>
                  </a:rPr>
                  <a:t>kolu</a:t>
                </a:r>
                <a:r>
                  <a:rPr lang="en-US" sz="2000" b="0" kern="1200" dirty="0">
                    <a:solidFill>
                      <a:schemeClr val="tx1"/>
                    </a:solidFill>
                    <a:effectLst/>
                    <a:latin typeface="+mn-lt"/>
                    <a:ea typeface="+mn-ea"/>
                    <a:cs typeface="+mn-cs"/>
                  </a:rPr>
                  <a:t>, </a:t>
                </a:r>
                <a:r>
                  <a:rPr lang="en-US" sz="2000" b="0" kern="1200" dirty="0" err="1">
                    <a:solidFill>
                      <a:schemeClr val="tx1"/>
                    </a:solidFill>
                    <a:effectLst/>
                    <a:latin typeface="+mn-lt"/>
                    <a:ea typeface="+mn-ea"/>
                    <a:cs typeface="+mn-cs"/>
                  </a:rPr>
                  <a:t>osim</a:t>
                </a:r>
                <a:r>
                  <a:rPr lang="en-US" sz="2000" b="0" kern="1200" dirty="0">
                    <a:solidFill>
                      <a:schemeClr val="tx1"/>
                    </a:solidFill>
                    <a:effectLst/>
                    <a:latin typeface="+mn-lt"/>
                    <a:ea typeface="+mn-ea"/>
                    <a:cs typeface="+mn-cs"/>
                  </a:rPr>
                  <a:t> </a:t>
                </a:r>
                <a:r>
                  <a:rPr lang="en-US" sz="2000" b="0" kern="1200" dirty="0" err="1">
                    <a:solidFill>
                      <a:schemeClr val="tx1"/>
                    </a:solidFill>
                    <a:effectLst/>
                    <a:latin typeface="+mn-lt"/>
                    <a:ea typeface="+mn-ea"/>
                    <a:cs typeface="+mn-cs"/>
                  </a:rPr>
                  <a:t>što</a:t>
                </a:r>
                <a:r>
                  <a:rPr lang="en-US" sz="2000" b="0" kern="1200" dirty="0">
                    <a:solidFill>
                      <a:schemeClr val="tx1"/>
                    </a:solidFill>
                    <a:effectLst/>
                    <a:latin typeface="+mn-lt"/>
                    <a:ea typeface="+mn-ea"/>
                    <a:cs typeface="+mn-cs"/>
                  </a:rPr>
                  <a:t> </a:t>
                </a:r>
                <a:r>
                  <a:rPr lang="en-US" sz="2000" b="0" kern="1200" dirty="0" err="1">
                    <a:solidFill>
                      <a:schemeClr val="tx1"/>
                    </a:solidFill>
                    <a:effectLst/>
                    <a:latin typeface="+mn-lt"/>
                    <a:ea typeface="+mn-ea"/>
                    <a:cs typeface="+mn-cs"/>
                  </a:rPr>
                  <a:t>ima</a:t>
                </a:r>
                <a:r>
                  <a:rPr lang="en-US" sz="2000" b="0" kern="1200" dirty="0">
                    <a:solidFill>
                      <a:schemeClr val="tx1"/>
                    </a:solidFill>
                    <a:effectLst/>
                    <a:latin typeface="+mn-lt"/>
                    <a:ea typeface="+mn-ea"/>
                    <a:cs typeface="+mn-cs"/>
                  </a:rPr>
                  <a:t> </a:t>
                </a:r>
                <a:r>
                  <a:rPr lang="en-US" sz="2000" b="0" kern="1200" dirty="0" err="1">
                    <a:solidFill>
                      <a:schemeClr val="tx1"/>
                    </a:solidFill>
                    <a:effectLst/>
                    <a:latin typeface="+mn-lt"/>
                    <a:ea typeface="+mn-ea"/>
                    <a:cs typeface="+mn-cs"/>
                  </a:rPr>
                  <a:t>dva</a:t>
                </a:r>
                <a:r>
                  <a:rPr lang="en-US" sz="2000" b="0" kern="1200" dirty="0">
                    <a:solidFill>
                      <a:schemeClr val="tx1"/>
                    </a:solidFill>
                    <a:effectLst/>
                    <a:latin typeface="+mn-lt"/>
                    <a:ea typeface="+mn-ea"/>
                    <a:cs typeface="+mn-cs"/>
                  </a:rPr>
                  <a:t> </a:t>
                </a:r>
                <a:r>
                  <a:rPr lang="en-US" sz="2000" b="0" kern="1200" dirty="0" err="1">
                    <a:solidFill>
                      <a:schemeClr val="tx1"/>
                    </a:solidFill>
                    <a:effectLst/>
                    <a:latin typeface="+mn-lt"/>
                    <a:ea typeface="+mn-ea"/>
                    <a:cs typeface="+mn-cs"/>
                  </a:rPr>
                  <a:t>kontrolna</a:t>
                </a:r>
                <a:r>
                  <a:rPr lang="en-US" sz="2000" b="0" kern="1200" dirty="0">
                    <a:solidFill>
                      <a:schemeClr val="tx1"/>
                    </a:solidFill>
                    <a:effectLst/>
                    <a:latin typeface="+mn-lt"/>
                    <a:ea typeface="+mn-ea"/>
                    <a:cs typeface="+mn-cs"/>
                  </a:rPr>
                  <a:t> </a:t>
                </a:r>
                <a:r>
                  <a:rPr lang="en-US" sz="2000" b="0" kern="1200" dirty="0" err="1">
                    <a:solidFill>
                      <a:schemeClr val="tx1"/>
                    </a:solidFill>
                    <a:effectLst/>
                    <a:latin typeface="+mn-lt"/>
                    <a:ea typeface="+mn-ea"/>
                    <a:cs typeface="+mn-cs"/>
                  </a:rPr>
                  <a:t>kubita</a:t>
                </a:r>
                <a:r>
                  <a:rPr lang="en-US" sz="2000" b="0" kern="1200" dirty="0">
                    <a:solidFill>
                      <a:schemeClr val="tx1"/>
                    </a:solidFill>
                    <a:effectLst/>
                    <a:latin typeface="+mn-lt"/>
                    <a:ea typeface="+mn-ea"/>
                    <a:cs typeface="+mn-cs"/>
                  </a:rPr>
                  <a:t>. </a:t>
                </a:r>
                <a:r>
                  <a:rPr lang="en-US" sz="2000" b="0" kern="1200" dirty="0" err="1">
                    <a:solidFill>
                      <a:schemeClr val="tx1"/>
                    </a:solidFill>
                    <a:effectLst/>
                    <a:latin typeface="+mn-lt"/>
                    <a:ea typeface="+mn-ea"/>
                    <a:cs typeface="+mn-cs"/>
                  </a:rPr>
                  <a:t>Ako</a:t>
                </a:r>
                <a:r>
                  <a:rPr lang="en-US" sz="2000" b="0" kern="1200" dirty="0">
                    <a:solidFill>
                      <a:schemeClr val="tx1"/>
                    </a:solidFill>
                    <a:effectLst/>
                    <a:latin typeface="+mn-lt"/>
                    <a:ea typeface="+mn-ea"/>
                    <a:cs typeface="+mn-cs"/>
                  </a:rPr>
                  <a:t> </a:t>
                </a:r>
                <a:r>
                  <a:rPr lang="en-US" sz="2000" b="0" kern="1200" dirty="0" err="1">
                    <a:solidFill>
                      <a:schemeClr val="tx1"/>
                    </a:solidFill>
                    <a:effectLst/>
                    <a:latin typeface="+mn-lt"/>
                    <a:ea typeface="+mn-ea"/>
                    <a:cs typeface="+mn-cs"/>
                  </a:rPr>
                  <a:t>su</a:t>
                </a:r>
                <a:r>
                  <a:rPr lang="en-US" sz="2000" b="0" kern="1200" dirty="0">
                    <a:solidFill>
                      <a:schemeClr val="tx1"/>
                    </a:solidFill>
                    <a:effectLst/>
                    <a:latin typeface="+mn-lt"/>
                    <a:ea typeface="+mn-ea"/>
                    <a:cs typeface="+mn-cs"/>
                  </a:rPr>
                  <a:t> </a:t>
                </a:r>
                <a:r>
                  <a:rPr lang="en-US" sz="2000" b="0" kern="1200" dirty="0" err="1">
                    <a:solidFill>
                      <a:schemeClr val="tx1"/>
                    </a:solidFill>
                    <a:effectLst/>
                    <a:latin typeface="+mn-lt"/>
                    <a:ea typeface="+mn-ea"/>
                    <a:cs typeface="+mn-cs"/>
                  </a:rPr>
                  <a:t>kontrolni</a:t>
                </a:r>
                <a:r>
                  <a:rPr lang="en-US" sz="2000" b="0" kern="1200" dirty="0">
                    <a:solidFill>
                      <a:schemeClr val="tx1"/>
                    </a:solidFill>
                    <a:effectLst/>
                    <a:latin typeface="+mn-lt"/>
                    <a:ea typeface="+mn-ea"/>
                    <a:cs typeface="+mn-cs"/>
                  </a:rPr>
                  <a:t> </a:t>
                </a:r>
                <a:r>
                  <a:rPr lang="en-US" sz="2000" b="0" kern="1200" dirty="0" err="1">
                    <a:solidFill>
                      <a:schemeClr val="tx1"/>
                    </a:solidFill>
                    <a:effectLst/>
                    <a:latin typeface="+mn-lt"/>
                    <a:ea typeface="+mn-ea"/>
                    <a:cs typeface="+mn-cs"/>
                  </a:rPr>
                  <a:t>kubiti</a:t>
                </a:r>
                <a:r>
                  <a:rPr lang="en-US" sz="2000" b="0" kern="1200" dirty="0">
                    <a:solidFill>
                      <a:schemeClr val="tx1"/>
                    </a:solidFill>
                    <a:effectLst/>
                    <a:latin typeface="+mn-lt"/>
                    <a:ea typeface="+mn-ea"/>
                    <a:cs typeface="+mn-cs"/>
                  </a:rPr>
                  <a:t> 1 </a:t>
                </a:r>
                <a:r>
                  <a:rPr lang="en-US" sz="2000" b="0" kern="1200" dirty="0" err="1">
                    <a:solidFill>
                      <a:schemeClr val="tx1"/>
                    </a:solidFill>
                    <a:effectLst/>
                    <a:latin typeface="+mn-lt"/>
                    <a:ea typeface="+mn-ea"/>
                    <a:cs typeface="+mn-cs"/>
                  </a:rPr>
                  <a:t>onda</a:t>
                </a:r>
                <a:r>
                  <a:rPr lang="en-US" sz="2000" b="0" kern="1200" dirty="0">
                    <a:solidFill>
                      <a:schemeClr val="tx1"/>
                    </a:solidFill>
                    <a:effectLst/>
                    <a:latin typeface="+mn-lt"/>
                    <a:ea typeface="+mn-ea"/>
                    <a:cs typeface="+mn-cs"/>
                  </a:rPr>
                  <a:t> se </a:t>
                </a:r>
                <a:r>
                  <a:rPr lang="en-US" sz="2000" b="0" kern="1200" dirty="0" err="1">
                    <a:solidFill>
                      <a:schemeClr val="tx1"/>
                    </a:solidFill>
                    <a:effectLst/>
                    <a:latin typeface="+mn-lt"/>
                    <a:ea typeface="+mn-ea"/>
                    <a:cs typeface="+mn-cs"/>
                  </a:rPr>
                  <a:t>primenjuje</a:t>
                </a:r>
                <a:r>
                  <a:rPr lang="en-US" sz="2000" b="0" kern="1200" dirty="0">
                    <a:solidFill>
                      <a:schemeClr val="tx1"/>
                    </a:solidFill>
                    <a:effectLst/>
                    <a:latin typeface="+mn-lt"/>
                    <a:ea typeface="+mn-ea"/>
                    <a:cs typeface="+mn-cs"/>
                  </a:rPr>
                  <a:t> </a:t>
                </a:r>
                <a:r>
                  <a:rPr lang="en-US" sz="2000" b="0" i="0">
                    <a:latin typeface="Cambria Math" panose="02040503050406030204" pitchFamily="18" charset="0"/>
                  </a:rPr>
                  <a:t>𝑋</a:t>
                </a:r>
                <a:r>
                  <a:rPr lang="en-US" sz="2000" b="0" kern="1200" dirty="0">
                    <a:solidFill>
                      <a:schemeClr val="tx1"/>
                    </a:solidFill>
                    <a:effectLst/>
                    <a:latin typeface="+mn-lt"/>
                    <a:ea typeface="+mn-ea"/>
                    <a:cs typeface="+mn-cs"/>
                  </a:rPr>
                  <a:t> operator </a:t>
                </a:r>
                <a:r>
                  <a:rPr lang="en-US" sz="2000" b="0" kern="1200" dirty="0" err="1">
                    <a:solidFill>
                      <a:schemeClr val="tx1"/>
                    </a:solidFill>
                    <a:effectLst/>
                    <a:latin typeface="+mn-lt"/>
                    <a:ea typeface="+mn-ea"/>
                    <a:cs typeface="+mn-cs"/>
                  </a:rPr>
                  <a:t>nad</a:t>
                </a:r>
                <a:r>
                  <a:rPr lang="en-US" sz="2000" b="0" kern="1200" dirty="0">
                    <a:solidFill>
                      <a:schemeClr val="tx1"/>
                    </a:solidFill>
                    <a:effectLst/>
                    <a:latin typeface="+mn-lt"/>
                    <a:ea typeface="+mn-ea"/>
                    <a:cs typeface="+mn-cs"/>
                  </a:rPr>
                  <a:t> target </a:t>
                </a:r>
                <a:r>
                  <a:rPr lang="en-US" sz="2000" b="0" kern="1200" dirty="0" err="1">
                    <a:solidFill>
                      <a:schemeClr val="tx1"/>
                    </a:solidFill>
                    <a:effectLst/>
                    <a:latin typeface="+mn-lt"/>
                    <a:ea typeface="+mn-ea"/>
                    <a:cs typeface="+mn-cs"/>
                  </a:rPr>
                  <a:t>kubitom</a:t>
                </a:r>
                <a:r>
                  <a:rPr lang="en-US" sz="2000" b="0" kern="1200" dirty="0">
                    <a:solidFill>
                      <a:schemeClr val="tx1"/>
                    </a:solidFill>
                    <a:effectLst/>
                    <a:latin typeface="+mn-lt"/>
                    <a:ea typeface="+mn-ea"/>
                    <a:cs typeface="+mn-cs"/>
                  </a:rPr>
                  <a:t>.</a:t>
                </a:r>
              </a:p>
              <a:p>
                <a:endParaRPr lang="en-US" sz="2000" b="0" kern="1200" dirty="0">
                  <a:solidFill>
                    <a:schemeClr val="tx1"/>
                  </a:solidFill>
                  <a:effectLst/>
                  <a:latin typeface="+mn-lt"/>
                  <a:ea typeface="+mn-ea"/>
                  <a:cs typeface="+mn-cs"/>
                </a:endParaRPr>
              </a:p>
              <a:p>
                <a:r>
                  <a:rPr lang="en-US" sz="2000" b="0" kern="1200" dirty="0" err="1">
                    <a:solidFill>
                      <a:schemeClr val="tx1"/>
                    </a:solidFill>
                    <a:effectLst/>
                    <a:latin typeface="+mn-lt"/>
                    <a:ea typeface="+mn-ea"/>
                    <a:cs typeface="+mn-cs"/>
                  </a:rPr>
                  <a:t>Operacija</a:t>
                </a:r>
                <a:r>
                  <a:rPr lang="en-US" sz="2000" b="0" kern="1200" dirty="0">
                    <a:solidFill>
                      <a:schemeClr val="tx1"/>
                    </a:solidFill>
                    <a:effectLst/>
                    <a:latin typeface="+mn-lt"/>
                    <a:ea typeface="+mn-ea"/>
                    <a:cs typeface="+mn-cs"/>
                  </a:rPr>
                  <a:t> CCX kola se </a:t>
                </a:r>
                <a:r>
                  <a:rPr lang="en-US" sz="2000" b="0" kern="1200" dirty="0" err="1">
                    <a:solidFill>
                      <a:schemeClr val="tx1"/>
                    </a:solidFill>
                    <a:effectLst/>
                    <a:latin typeface="+mn-lt"/>
                    <a:ea typeface="+mn-ea"/>
                    <a:cs typeface="+mn-cs"/>
                  </a:rPr>
                  <a:t>može</a:t>
                </a:r>
                <a:r>
                  <a:rPr lang="en-US" sz="2000" b="0" kern="1200" dirty="0">
                    <a:solidFill>
                      <a:schemeClr val="tx1"/>
                    </a:solidFill>
                    <a:effectLst/>
                    <a:latin typeface="+mn-lt"/>
                    <a:ea typeface="+mn-ea"/>
                    <a:cs typeface="+mn-cs"/>
                  </a:rPr>
                  <a:t> </a:t>
                </a:r>
                <a:r>
                  <a:rPr lang="en-US" sz="2000" b="0" kern="1200" dirty="0" err="1">
                    <a:solidFill>
                      <a:schemeClr val="tx1"/>
                    </a:solidFill>
                    <a:effectLst/>
                    <a:latin typeface="+mn-lt"/>
                    <a:ea typeface="+mn-ea"/>
                    <a:cs typeface="+mn-cs"/>
                  </a:rPr>
                  <a:t>predstaviti</a:t>
                </a:r>
                <a:r>
                  <a:rPr lang="en-US" sz="2000" b="0" kern="1200" dirty="0">
                    <a:solidFill>
                      <a:schemeClr val="tx1"/>
                    </a:solidFill>
                    <a:effectLst/>
                    <a:latin typeface="+mn-lt"/>
                    <a:ea typeface="+mn-ea"/>
                    <a:cs typeface="+mn-cs"/>
                  </a:rPr>
                  <a:t> </a:t>
                </a:r>
                <a:r>
                  <a:rPr lang="en-US" sz="2000" b="0" kern="1200" dirty="0" err="1">
                    <a:solidFill>
                      <a:schemeClr val="tx1"/>
                    </a:solidFill>
                    <a:effectLst/>
                    <a:latin typeface="+mn-lt"/>
                    <a:ea typeface="+mn-ea"/>
                    <a:cs typeface="+mn-cs"/>
                  </a:rPr>
                  <a:t>i</a:t>
                </a:r>
                <a:r>
                  <a:rPr lang="en-US" sz="2000" b="0" kern="1200" dirty="0">
                    <a:solidFill>
                      <a:schemeClr val="tx1"/>
                    </a:solidFill>
                    <a:effectLst/>
                    <a:latin typeface="+mn-lt"/>
                    <a:ea typeface="+mn-ea"/>
                    <a:cs typeface="+mn-cs"/>
                  </a:rPr>
                  <a:t> </a:t>
                </a:r>
                <a:r>
                  <a:rPr lang="en-US" sz="2000" b="0" kern="1200" dirty="0" err="1">
                    <a:solidFill>
                      <a:schemeClr val="tx1"/>
                    </a:solidFill>
                    <a:effectLst/>
                    <a:latin typeface="+mn-lt"/>
                    <a:ea typeface="+mn-ea"/>
                    <a:cs typeface="+mn-cs"/>
                  </a:rPr>
                  <a:t>logičkim</a:t>
                </a:r>
                <a:r>
                  <a:rPr lang="en-US" sz="2000" b="0" kern="1200" dirty="0">
                    <a:solidFill>
                      <a:schemeClr val="tx1"/>
                    </a:solidFill>
                    <a:effectLst/>
                    <a:latin typeface="+mn-lt"/>
                    <a:ea typeface="+mn-ea"/>
                    <a:cs typeface="+mn-cs"/>
                  </a:rPr>
                  <a:t> </a:t>
                </a:r>
                <a:r>
                  <a:rPr lang="en-US" sz="2000" b="0" kern="1200" dirty="0" err="1">
                    <a:solidFill>
                      <a:schemeClr val="tx1"/>
                    </a:solidFill>
                    <a:effectLst/>
                    <a:latin typeface="+mn-lt"/>
                    <a:ea typeface="+mn-ea"/>
                    <a:cs typeface="+mn-cs"/>
                  </a:rPr>
                  <a:t>izrazom</a:t>
                </a:r>
                <a:r>
                  <a:rPr lang="en-US" sz="2000" b="0" kern="1200" dirty="0">
                    <a:solidFill>
                      <a:schemeClr val="tx1"/>
                    </a:solidFill>
                    <a:effectLst/>
                    <a:latin typeface="+mn-lt"/>
                    <a:ea typeface="+mn-ea"/>
                    <a:cs typeface="+mn-cs"/>
                  </a:rPr>
                  <a:t> u </a:t>
                </a:r>
                <a:r>
                  <a:rPr lang="en-US" sz="2000" b="0" kern="1200" dirty="0" err="1">
                    <a:solidFill>
                      <a:schemeClr val="tx1"/>
                    </a:solidFill>
                    <a:effectLst/>
                    <a:latin typeface="+mn-lt"/>
                    <a:ea typeface="+mn-ea"/>
                    <a:cs typeface="+mn-cs"/>
                  </a:rPr>
                  <a:t>kome</a:t>
                </a:r>
                <a:r>
                  <a:rPr lang="en-US" sz="2000" b="0" kern="1200" dirty="0">
                    <a:solidFill>
                      <a:schemeClr val="tx1"/>
                    </a:solidFill>
                    <a:effectLst/>
                    <a:latin typeface="+mn-lt"/>
                    <a:ea typeface="+mn-ea"/>
                    <a:cs typeface="+mn-cs"/>
                  </a:rPr>
                  <a:t> </a:t>
                </a:r>
                <a:r>
                  <a:rPr lang="en-US" sz="2000" b="0" kern="1200" dirty="0" err="1">
                    <a:solidFill>
                      <a:schemeClr val="tx1"/>
                    </a:solidFill>
                    <a:effectLst/>
                    <a:latin typeface="+mn-lt"/>
                    <a:ea typeface="+mn-ea"/>
                    <a:cs typeface="+mn-cs"/>
                  </a:rPr>
                  <a:t>je</a:t>
                </a:r>
                <a:r>
                  <a:rPr lang="en-US" sz="2000" b="0" kern="1200" dirty="0">
                    <a:solidFill>
                      <a:schemeClr val="tx1"/>
                    </a:solidFill>
                    <a:effectLst/>
                    <a:latin typeface="+mn-lt"/>
                    <a:ea typeface="+mn-ea"/>
                    <a:cs typeface="+mn-cs"/>
                  </a:rPr>
                  <a:t> target </a:t>
                </a:r>
                <a:r>
                  <a:rPr lang="en-US" sz="2000" b="0" kern="1200" dirty="0" err="1">
                    <a:solidFill>
                      <a:schemeClr val="tx1"/>
                    </a:solidFill>
                    <a:effectLst/>
                    <a:latin typeface="+mn-lt"/>
                    <a:ea typeface="+mn-ea"/>
                    <a:cs typeface="+mn-cs"/>
                  </a:rPr>
                  <a:t>kubit</a:t>
                </a:r>
                <a:r>
                  <a:rPr lang="en-US" sz="2000" b="0" kern="1200" dirty="0">
                    <a:solidFill>
                      <a:schemeClr val="tx1"/>
                    </a:solidFill>
                    <a:effectLst/>
                    <a:latin typeface="+mn-lt"/>
                    <a:ea typeface="+mn-ea"/>
                    <a:cs typeface="+mn-cs"/>
                  </a:rPr>
                  <a:t> </a:t>
                </a:r>
                <a:r>
                  <a:rPr lang="en-US" sz="2000" b="0" kern="1200" dirty="0" err="1">
                    <a:solidFill>
                      <a:schemeClr val="tx1"/>
                    </a:solidFill>
                    <a:effectLst/>
                    <a:latin typeface="+mn-lt"/>
                    <a:ea typeface="+mn-ea"/>
                    <a:cs typeface="+mn-cs"/>
                  </a:rPr>
                  <a:t>rezultat</a:t>
                </a:r>
                <a:r>
                  <a:rPr lang="en-US" sz="2000" b="0" kern="1200" dirty="0">
                    <a:solidFill>
                      <a:schemeClr val="tx1"/>
                    </a:solidFill>
                    <a:effectLst/>
                    <a:latin typeface="+mn-lt"/>
                    <a:ea typeface="+mn-ea"/>
                    <a:cs typeface="+mn-cs"/>
                  </a:rPr>
                  <a:t> XOR </a:t>
                </a:r>
                <a:r>
                  <a:rPr lang="en-US" sz="2000" b="0" kern="1200" dirty="0" err="1">
                    <a:solidFill>
                      <a:schemeClr val="tx1"/>
                    </a:solidFill>
                    <a:effectLst/>
                    <a:latin typeface="+mn-lt"/>
                    <a:ea typeface="+mn-ea"/>
                    <a:cs typeface="+mn-cs"/>
                  </a:rPr>
                  <a:t>operacije</a:t>
                </a:r>
                <a:r>
                  <a:rPr lang="en-US" sz="2000" b="0" kern="1200" dirty="0">
                    <a:solidFill>
                      <a:schemeClr val="tx1"/>
                    </a:solidFill>
                    <a:effectLst/>
                    <a:latin typeface="+mn-lt"/>
                    <a:ea typeface="+mn-ea"/>
                    <a:cs typeface="+mn-cs"/>
                  </a:rPr>
                  <a:t> </a:t>
                </a:r>
                <a:r>
                  <a:rPr lang="en-US" sz="2000" b="0" kern="1200" dirty="0" err="1">
                    <a:solidFill>
                      <a:schemeClr val="tx1"/>
                    </a:solidFill>
                    <a:effectLst/>
                    <a:latin typeface="+mn-lt"/>
                    <a:ea typeface="+mn-ea"/>
                    <a:cs typeface="+mn-cs"/>
                  </a:rPr>
                  <a:t>izmedju</a:t>
                </a:r>
                <a:r>
                  <a:rPr lang="en-US" sz="2000" b="0" kern="1200" dirty="0">
                    <a:solidFill>
                      <a:schemeClr val="tx1"/>
                    </a:solidFill>
                    <a:effectLst/>
                    <a:latin typeface="+mn-lt"/>
                    <a:ea typeface="+mn-ea"/>
                    <a:cs typeface="+mn-cs"/>
                  </a:rPr>
                  <a:t> </a:t>
                </a:r>
                <a:r>
                  <a:rPr lang="en-US" sz="2000" b="0" kern="1200" dirty="0" err="1">
                    <a:solidFill>
                      <a:schemeClr val="tx1"/>
                    </a:solidFill>
                    <a:effectLst/>
                    <a:latin typeface="+mn-lt"/>
                    <a:ea typeface="+mn-ea"/>
                    <a:cs typeface="+mn-cs"/>
                  </a:rPr>
                  <a:t>svoje</a:t>
                </a:r>
                <a:r>
                  <a:rPr lang="en-US" sz="2000" b="0" kern="1200" dirty="0">
                    <a:solidFill>
                      <a:schemeClr val="tx1"/>
                    </a:solidFill>
                    <a:effectLst/>
                    <a:latin typeface="+mn-lt"/>
                    <a:ea typeface="+mn-ea"/>
                    <a:cs typeface="+mn-cs"/>
                  </a:rPr>
                  <a:t> </a:t>
                </a:r>
                <a:r>
                  <a:rPr lang="en-US" sz="2000" b="0" kern="1200" dirty="0" err="1">
                    <a:solidFill>
                      <a:schemeClr val="tx1"/>
                    </a:solidFill>
                    <a:effectLst/>
                    <a:latin typeface="+mn-lt"/>
                    <a:ea typeface="+mn-ea"/>
                    <a:cs typeface="+mn-cs"/>
                  </a:rPr>
                  <a:t>početne</a:t>
                </a:r>
                <a:r>
                  <a:rPr lang="en-US" sz="2000" b="0" kern="1200" dirty="0">
                    <a:solidFill>
                      <a:schemeClr val="tx1"/>
                    </a:solidFill>
                    <a:effectLst/>
                    <a:latin typeface="+mn-lt"/>
                    <a:ea typeface="+mn-ea"/>
                    <a:cs typeface="+mn-cs"/>
                  </a:rPr>
                  <a:t> </a:t>
                </a:r>
                <a:r>
                  <a:rPr lang="en-US" sz="2000" b="0" kern="1200" dirty="0" err="1">
                    <a:solidFill>
                      <a:schemeClr val="tx1"/>
                    </a:solidFill>
                    <a:effectLst/>
                    <a:latin typeface="+mn-lt"/>
                    <a:ea typeface="+mn-ea"/>
                    <a:cs typeface="+mn-cs"/>
                  </a:rPr>
                  <a:t>vrednosti</a:t>
                </a:r>
                <a:r>
                  <a:rPr lang="en-US" sz="2000" b="0" kern="1200" dirty="0">
                    <a:solidFill>
                      <a:schemeClr val="tx1"/>
                    </a:solidFill>
                    <a:effectLst/>
                    <a:latin typeface="+mn-lt"/>
                    <a:ea typeface="+mn-ea"/>
                    <a:cs typeface="+mn-cs"/>
                  </a:rPr>
                  <a:t> </a:t>
                </a:r>
                <a:r>
                  <a:rPr lang="en-US" sz="2000" b="0" kern="1200" dirty="0" err="1">
                    <a:solidFill>
                      <a:schemeClr val="tx1"/>
                    </a:solidFill>
                    <a:effectLst/>
                    <a:latin typeface="+mn-lt"/>
                    <a:ea typeface="+mn-ea"/>
                    <a:cs typeface="+mn-cs"/>
                  </a:rPr>
                  <a:t>i</a:t>
                </a:r>
                <a:r>
                  <a:rPr lang="en-US" sz="2000" b="0" kern="1200" dirty="0">
                    <a:solidFill>
                      <a:schemeClr val="tx1"/>
                    </a:solidFill>
                    <a:effectLst/>
                    <a:latin typeface="+mn-lt"/>
                    <a:ea typeface="+mn-ea"/>
                    <a:cs typeface="+mn-cs"/>
                  </a:rPr>
                  <a:t> </a:t>
                </a:r>
                <a:r>
                  <a:rPr lang="en-US" sz="2000" b="0" kern="1200" dirty="0" err="1">
                    <a:solidFill>
                      <a:schemeClr val="tx1"/>
                    </a:solidFill>
                    <a:effectLst/>
                    <a:latin typeface="+mn-lt"/>
                    <a:ea typeface="+mn-ea"/>
                    <a:cs typeface="+mn-cs"/>
                  </a:rPr>
                  <a:t>rezultata</a:t>
                </a:r>
                <a:r>
                  <a:rPr lang="en-US" sz="2000" b="0" kern="1200" dirty="0">
                    <a:solidFill>
                      <a:schemeClr val="tx1"/>
                    </a:solidFill>
                    <a:effectLst/>
                    <a:latin typeface="+mn-lt"/>
                    <a:ea typeface="+mn-ea"/>
                    <a:cs typeface="+mn-cs"/>
                  </a:rPr>
                  <a:t> AND </a:t>
                </a:r>
                <a:r>
                  <a:rPr lang="en-US" sz="2000" b="0" kern="1200" dirty="0" err="1">
                    <a:solidFill>
                      <a:schemeClr val="tx1"/>
                    </a:solidFill>
                    <a:effectLst/>
                    <a:latin typeface="+mn-lt"/>
                    <a:ea typeface="+mn-ea"/>
                    <a:cs typeface="+mn-cs"/>
                  </a:rPr>
                  <a:t>operacije</a:t>
                </a:r>
                <a:r>
                  <a:rPr lang="en-US" sz="2000" b="0" kern="1200" dirty="0">
                    <a:solidFill>
                      <a:schemeClr val="tx1"/>
                    </a:solidFill>
                    <a:effectLst/>
                    <a:latin typeface="+mn-lt"/>
                    <a:ea typeface="+mn-ea"/>
                    <a:cs typeface="+mn-cs"/>
                  </a:rPr>
                  <a:t> </a:t>
                </a:r>
                <a:r>
                  <a:rPr lang="en-US" sz="2000" b="0" kern="1200" dirty="0" err="1">
                    <a:solidFill>
                      <a:schemeClr val="tx1"/>
                    </a:solidFill>
                    <a:effectLst/>
                    <a:latin typeface="+mn-lt"/>
                    <a:ea typeface="+mn-ea"/>
                    <a:cs typeface="+mn-cs"/>
                  </a:rPr>
                  <a:t>dva</a:t>
                </a:r>
                <a:r>
                  <a:rPr lang="en-US" sz="2000" b="0" kern="1200" dirty="0">
                    <a:solidFill>
                      <a:schemeClr val="tx1"/>
                    </a:solidFill>
                    <a:effectLst/>
                    <a:latin typeface="+mn-lt"/>
                    <a:ea typeface="+mn-ea"/>
                    <a:cs typeface="+mn-cs"/>
                  </a:rPr>
                  <a:t> </a:t>
                </a:r>
                <a:r>
                  <a:rPr lang="en-US" sz="2000" b="0" kern="1200" dirty="0" err="1">
                    <a:solidFill>
                      <a:schemeClr val="tx1"/>
                    </a:solidFill>
                    <a:effectLst/>
                    <a:latin typeface="+mn-lt"/>
                    <a:ea typeface="+mn-ea"/>
                    <a:cs typeface="+mn-cs"/>
                  </a:rPr>
                  <a:t>kontrolna</a:t>
                </a:r>
                <a:r>
                  <a:rPr lang="en-US" sz="2000" b="0" kern="1200" dirty="0">
                    <a:solidFill>
                      <a:schemeClr val="tx1"/>
                    </a:solidFill>
                    <a:effectLst/>
                    <a:latin typeface="+mn-lt"/>
                    <a:ea typeface="+mn-ea"/>
                    <a:cs typeface="+mn-cs"/>
                  </a:rPr>
                  <a:t> </a:t>
                </a:r>
                <a:r>
                  <a:rPr lang="en-US" sz="2000" b="0" kern="1200" dirty="0" err="1">
                    <a:solidFill>
                      <a:schemeClr val="tx1"/>
                    </a:solidFill>
                    <a:effectLst/>
                    <a:latin typeface="+mn-lt"/>
                    <a:ea typeface="+mn-ea"/>
                    <a:cs typeface="+mn-cs"/>
                  </a:rPr>
                  <a:t>kubita</a:t>
                </a:r>
                <a:r>
                  <a:rPr lang="en-US" sz="2000" b="0" kern="1200" dirty="0">
                    <a:solidFill>
                      <a:schemeClr val="tx1"/>
                    </a:solidFill>
                    <a:effectLst/>
                    <a:latin typeface="+mn-lt"/>
                    <a:ea typeface="+mn-ea"/>
                    <a:cs typeface="+mn-cs"/>
                  </a:rPr>
                  <a:t>. </a:t>
                </a: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43</a:t>
            </a:fld>
            <a:endParaRPr lang="en-US"/>
          </a:p>
        </p:txBody>
      </p:sp>
    </p:spTree>
    <p:extLst>
      <p:ext uri="{BB962C8B-B14F-4D97-AF65-F5344CB8AC3E}">
        <p14:creationId xmlns:p14="http://schemas.microsoft.com/office/powerpoint/2010/main" val="8978006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dirty="0"/>
                  <a:t>Adding a control qubit to the two-qubit SWAP gate creates the controlled-SWAP gate, also known as the </a:t>
                </a:r>
                <a:r>
                  <a:rPr lang="en-ZA" dirty="0" err="1"/>
                  <a:t>Fredkin</a:t>
                </a:r>
                <a:r>
                  <a:rPr lang="en-ZA" dirty="0"/>
                  <a:t> gate. </a:t>
                </a:r>
                <a:r>
                  <a:rPr lang="en-ZA" b="0" dirty="0"/>
                  <a:t>It is named after Edward </a:t>
                </a:r>
                <a:r>
                  <a:rPr lang="en-ZA" b="0" dirty="0" err="1"/>
                  <a:t>Fredkin</a:t>
                </a:r>
                <a:r>
                  <a:rPr lang="en-ZA" b="0" dirty="0"/>
                  <a:t>, who introduced it in the context of reversible computing before it later became important in quantum computing.</a:t>
                </a:r>
              </a:p>
              <a:p>
                <a:pPr algn="just"/>
                <a:endParaRPr lang="en-ZA" b="0" dirty="0"/>
              </a:p>
              <a:p>
                <a:pPr algn="just"/>
                <a:r>
                  <a:rPr lang="en-ZA" dirty="0"/>
                  <a:t>The controlled-SWAP operation swaps the states of the two target qubits, t1​ and t2​, only when the control qubit is in the state ∣1⟩. If the control qubit is in the state ∣0⟩, the two target qubits remain unchanged.</a:t>
                </a:r>
                <a:endParaRPr lang="en-ZA" b="0" dirty="0"/>
              </a:p>
              <a:p>
                <a:pPr algn="just"/>
                <a:endParaRPr lang="en-ZA" b="0" dirty="0"/>
              </a:p>
              <a:p>
                <a:pPr algn="just"/>
                <a:r>
                  <a:rPr lang="en-ZA" dirty="0"/>
                  <a:t>Its 8×8 matrix has a block-diagonal form, with a 4×4 identity matrix in the upper block and the 4×4 SWAP matrix in the lower block. This follows the standard structure of a controlled operation, with 4×4 blocks because SWAP acts on two target qubits.</a:t>
                </a:r>
                <a:endParaRPr lang="en-ZA" b="0" dirty="0"/>
              </a:p>
            </p:txBody>
          </p:sp>
        </mc:Choice>
        <mc:Fallback xmlns="">
          <p:sp>
            <p:nvSpPr>
              <p:cNvPr id="3" name="Notes Placeholder 2"/>
              <p:cNvSpPr>
                <a:spLocks noGrp="1"/>
              </p:cNvSpPr>
              <p:nvPr>
                <p:ph type="body" idx="1"/>
              </p:nvPr>
            </p:nvSpPr>
            <p:spPr/>
            <p:txBody>
              <a:bodyPr/>
              <a:lstStyle/>
              <a:p>
                <a:r>
                  <a:rPr lang="en-US" sz="2000" b="0" kern="1200" dirty="0">
                    <a:solidFill>
                      <a:schemeClr val="tx1"/>
                    </a:solidFill>
                    <a:effectLst/>
                    <a:latin typeface="+mn-lt"/>
                    <a:ea typeface="+mn-ea"/>
                    <a:cs typeface="+mn-cs"/>
                  </a:rPr>
                  <a:t>CCNOT, CCX </a:t>
                </a:r>
                <a:r>
                  <a:rPr lang="en-US" sz="2000" b="0" kern="1200" dirty="0" err="1">
                    <a:solidFill>
                      <a:schemeClr val="tx1"/>
                    </a:solidFill>
                    <a:effectLst/>
                    <a:latin typeface="+mn-lt"/>
                    <a:ea typeface="+mn-ea"/>
                    <a:cs typeface="+mn-cs"/>
                  </a:rPr>
                  <a:t>ili</a:t>
                </a:r>
                <a:r>
                  <a:rPr lang="en-US" sz="2000" b="0" kern="1200" dirty="0">
                    <a:solidFill>
                      <a:schemeClr val="tx1"/>
                    </a:solidFill>
                    <a:effectLst/>
                    <a:latin typeface="+mn-lt"/>
                    <a:ea typeface="+mn-ea"/>
                    <a:cs typeface="+mn-cs"/>
                  </a:rPr>
                  <a:t> </a:t>
                </a:r>
                <a:r>
                  <a:rPr lang="en-US" sz="2000" b="0" kern="1200" dirty="0" err="1">
                    <a:solidFill>
                      <a:schemeClr val="tx1"/>
                    </a:solidFill>
                    <a:effectLst/>
                    <a:latin typeface="+mn-lt"/>
                    <a:ea typeface="+mn-ea"/>
                    <a:cs typeface="+mn-cs"/>
                  </a:rPr>
                  <a:t>Tofoli</a:t>
                </a:r>
                <a:r>
                  <a:rPr lang="en-US" sz="2000" b="0" kern="1200" dirty="0">
                    <a:solidFill>
                      <a:schemeClr val="tx1"/>
                    </a:solidFill>
                    <a:effectLst/>
                    <a:latin typeface="+mn-lt"/>
                    <a:ea typeface="+mn-ea"/>
                    <a:cs typeface="+mn-cs"/>
                  </a:rPr>
                  <a:t> </a:t>
                </a:r>
                <a:r>
                  <a:rPr lang="en-US" sz="2000" b="0" kern="1200" dirty="0" err="1">
                    <a:solidFill>
                      <a:schemeClr val="tx1"/>
                    </a:solidFill>
                    <a:effectLst/>
                    <a:latin typeface="+mn-lt"/>
                    <a:ea typeface="+mn-ea"/>
                    <a:cs typeface="+mn-cs"/>
                  </a:rPr>
                  <a:t>kolo</a:t>
                </a:r>
                <a:r>
                  <a:rPr lang="en-US" sz="2000" b="0" kern="1200" dirty="0">
                    <a:solidFill>
                      <a:schemeClr val="tx1"/>
                    </a:solidFill>
                    <a:effectLst/>
                    <a:latin typeface="+mn-lt"/>
                    <a:ea typeface="+mn-ea"/>
                    <a:cs typeface="+mn-cs"/>
                  </a:rPr>
                  <a:t> </a:t>
                </a:r>
                <a:r>
                  <a:rPr lang="en-US" sz="2000" b="0" kern="1200" dirty="0" err="1">
                    <a:solidFill>
                      <a:schemeClr val="tx1"/>
                    </a:solidFill>
                    <a:effectLst/>
                    <a:latin typeface="+mn-lt"/>
                    <a:ea typeface="+mn-ea"/>
                    <a:cs typeface="+mn-cs"/>
                  </a:rPr>
                  <a:t>je</a:t>
                </a:r>
                <a:r>
                  <a:rPr lang="en-US" sz="2000" b="0" kern="1200" dirty="0">
                    <a:solidFill>
                      <a:schemeClr val="tx1"/>
                    </a:solidFill>
                    <a:effectLst/>
                    <a:latin typeface="+mn-lt"/>
                    <a:ea typeface="+mn-ea"/>
                    <a:cs typeface="+mn-cs"/>
                  </a:rPr>
                  <a:t> </a:t>
                </a:r>
                <a:r>
                  <a:rPr lang="en-US" sz="2000" b="0" kern="1200" dirty="0" err="1">
                    <a:solidFill>
                      <a:schemeClr val="tx1"/>
                    </a:solidFill>
                    <a:effectLst/>
                    <a:latin typeface="+mn-lt"/>
                    <a:ea typeface="+mn-ea"/>
                    <a:cs typeface="+mn-cs"/>
                  </a:rPr>
                  <a:t>jedino</a:t>
                </a:r>
                <a:r>
                  <a:rPr lang="en-US" sz="2000" b="0" kern="1200" dirty="0">
                    <a:solidFill>
                      <a:schemeClr val="tx1"/>
                    </a:solidFill>
                    <a:effectLst/>
                    <a:latin typeface="+mn-lt"/>
                    <a:ea typeface="+mn-ea"/>
                    <a:cs typeface="+mn-cs"/>
                  </a:rPr>
                  <a:t> </a:t>
                </a:r>
                <a:r>
                  <a:rPr lang="en-US" sz="2000" b="0" kern="1200" dirty="0" err="1">
                    <a:solidFill>
                      <a:schemeClr val="tx1"/>
                    </a:solidFill>
                    <a:effectLst/>
                    <a:latin typeface="+mn-lt"/>
                    <a:ea typeface="+mn-ea"/>
                    <a:cs typeface="+mn-cs"/>
                  </a:rPr>
                  <a:t>elementarno</a:t>
                </a:r>
                <a:r>
                  <a:rPr lang="en-US" sz="2000" b="0" kern="1200" dirty="0">
                    <a:solidFill>
                      <a:schemeClr val="tx1"/>
                    </a:solidFill>
                    <a:effectLst/>
                    <a:latin typeface="+mn-lt"/>
                    <a:ea typeface="+mn-ea"/>
                    <a:cs typeface="+mn-cs"/>
                  </a:rPr>
                  <a:t> </a:t>
                </a:r>
                <a:r>
                  <a:rPr lang="en-US" sz="2000" b="0" kern="1200" dirty="0" err="1">
                    <a:solidFill>
                      <a:schemeClr val="tx1"/>
                    </a:solidFill>
                    <a:effectLst/>
                    <a:latin typeface="+mn-lt"/>
                    <a:ea typeface="+mn-ea"/>
                    <a:cs typeface="+mn-cs"/>
                  </a:rPr>
                  <a:t>trokubitno</a:t>
                </a:r>
                <a:r>
                  <a:rPr lang="en-US" sz="2000" b="0" kern="1200" dirty="0">
                    <a:solidFill>
                      <a:schemeClr val="tx1"/>
                    </a:solidFill>
                    <a:effectLst/>
                    <a:latin typeface="+mn-lt"/>
                    <a:ea typeface="+mn-ea"/>
                    <a:cs typeface="+mn-cs"/>
                  </a:rPr>
                  <a:t> </a:t>
                </a:r>
                <a:r>
                  <a:rPr lang="en-US" sz="2000" b="0" kern="1200" dirty="0" err="1">
                    <a:solidFill>
                      <a:schemeClr val="tx1"/>
                    </a:solidFill>
                    <a:effectLst/>
                    <a:latin typeface="+mn-lt"/>
                    <a:ea typeface="+mn-ea"/>
                    <a:cs typeface="+mn-cs"/>
                  </a:rPr>
                  <a:t>kolo</a:t>
                </a:r>
                <a:r>
                  <a:rPr lang="en-US" sz="2000" b="0" kern="1200" dirty="0">
                    <a:solidFill>
                      <a:schemeClr val="tx1"/>
                    </a:solidFill>
                    <a:effectLst/>
                    <a:latin typeface="+mn-lt"/>
                    <a:ea typeface="+mn-ea"/>
                    <a:cs typeface="+mn-cs"/>
                  </a:rPr>
                  <a:t>. </a:t>
                </a:r>
                <a:r>
                  <a:rPr lang="en-US" sz="2000" b="0" kern="1200" dirty="0" err="1">
                    <a:solidFill>
                      <a:schemeClr val="tx1"/>
                    </a:solidFill>
                    <a:effectLst/>
                    <a:latin typeface="+mn-lt"/>
                    <a:ea typeface="+mn-ea"/>
                    <a:cs typeface="+mn-cs"/>
                  </a:rPr>
                  <a:t>funkcioniše</a:t>
                </a:r>
                <a:r>
                  <a:rPr lang="en-US" sz="2000" b="0" kern="1200" dirty="0">
                    <a:solidFill>
                      <a:schemeClr val="tx1"/>
                    </a:solidFill>
                    <a:effectLst/>
                    <a:latin typeface="+mn-lt"/>
                    <a:ea typeface="+mn-ea"/>
                    <a:cs typeface="+mn-cs"/>
                  </a:rPr>
                  <a:t> </a:t>
                </a:r>
                <a:r>
                  <a:rPr lang="en-US" sz="2000" b="0" kern="1200" dirty="0" err="1">
                    <a:solidFill>
                      <a:schemeClr val="tx1"/>
                    </a:solidFill>
                    <a:effectLst/>
                    <a:latin typeface="+mn-lt"/>
                    <a:ea typeface="+mn-ea"/>
                    <a:cs typeface="+mn-cs"/>
                  </a:rPr>
                  <a:t>slično</a:t>
                </a:r>
                <a:r>
                  <a:rPr lang="en-US" sz="2000" b="0" kern="1200" dirty="0">
                    <a:solidFill>
                      <a:schemeClr val="tx1"/>
                    </a:solidFill>
                    <a:effectLst/>
                    <a:latin typeface="+mn-lt"/>
                    <a:ea typeface="+mn-ea"/>
                    <a:cs typeface="+mn-cs"/>
                  </a:rPr>
                  <a:t> CX </a:t>
                </a:r>
                <a:r>
                  <a:rPr lang="en-US" sz="2000" b="0" kern="1200" dirty="0" err="1">
                    <a:solidFill>
                      <a:schemeClr val="tx1"/>
                    </a:solidFill>
                    <a:effectLst/>
                    <a:latin typeface="+mn-lt"/>
                    <a:ea typeface="+mn-ea"/>
                    <a:cs typeface="+mn-cs"/>
                  </a:rPr>
                  <a:t>kolu</a:t>
                </a:r>
                <a:r>
                  <a:rPr lang="en-US" sz="2000" b="0" kern="1200" dirty="0">
                    <a:solidFill>
                      <a:schemeClr val="tx1"/>
                    </a:solidFill>
                    <a:effectLst/>
                    <a:latin typeface="+mn-lt"/>
                    <a:ea typeface="+mn-ea"/>
                    <a:cs typeface="+mn-cs"/>
                  </a:rPr>
                  <a:t>, </a:t>
                </a:r>
                <a:r>
                  <a:rPr lang="en-US" sz="2000" b="0" kern="1200" dirty="0" err="1">
                    <a:solidFill>
                      <a:schemeClr val="tx1"/>
                    </a:solidFill>
                    <a:effectLst/>
                    <a:latin typeface="+mn-lt"/>
                    <a:ea typeface="+mn-ea"/>
                    <a:cs typeface="+mn-cs"/>
                  </a:rPr>
                  <a:t>osim</a:t>
                </a:r>
                <a:r>
                  <a:rPr lang="en-US" sz="2000" b="0" kern="1200" dirty="0">
                    <a:solidFill>
                      <a:schemeClr val="tx1"/>
                    </a:solidFill>
                    <a:effectLst/>
                    <a:latin typeface="+mn-lt"/>
                    <a:ea typeface="+mn-ea"/>
                    <a:cs typeface="+mn-cs"/>
                  </a:rPr>
                  <a:t> </a:t>
                </a:r>
                <a:r>
                  <a:rPr lang="en-US" sz="2000" b="0" kern="1200" dirty="0" err="1">
                    <a:solidFill>
                      <a:schemeClr val="tx1"/>
                    </a:solidFill>
                    <a:effectLst/>
                    <a:latin typeface="+mn-lt"/>
                    <a:ea typeface="+mn-ea"/>
                    <a:cs typeface="+mn-cs"/>
                  </a:rPr>
                  <a:t>što</a:t>
                </a:r>
                <a:r>
                  <a:rPr lang="en-US" sz="2000" b="0" kern="1200" dirty="0">
                    <a:solidFill>
                      <a:schemeClr val="tx1"/>
                    </a:solidFill>
                    <a:effectLst/>
                    <a:latin typeface="+mn-lt"/>
                    <a:ea typeface="+mn-ea"/>
                    <a:cs typeface="+mn-cs"/>
                  </a:rPr>
                  <a:t> </a:t>
                </a:r>
                <a:r>
                  <a:rPr lang="en-US" sz="2000" b="0" kern="1200" dirty="0" err="1">
                    <a:solidFill>
                      <a:schemeClr val="tx1"/>
                    </a:solidFill>
                    <a:effectLst/>
                    <a:latin typeface="+mn-lt"/>
                    <a:ea typeface="+mn-ea"/>
                    <a:cs typeface="+mn-cs"/>
                  </a:rPr>
                  <a:t>ima</a:t>
                </a:r>
                <a:r>
                  <a:rPr lang="en-US" sz="2000" b="0" kern="1200" dirty="0">
                    <a:solidFill>
                      <a:schemeClr val="tx1"/>
                    </a:solidFill>
                    <a:effectLst/>
                    <a:latin typeface="+mn-lt"/>
                    <a:ea typeface="+mn-ea"/>
                    <a:cs typeface="+mn-cs"/>
                  </a:rPr>
                  <a:t> </a:t>
                </a:r>
                <a:r>
                  <a:rPr lang="en-US" sz="2000" b="0" kern="1200" dirty="0" err="1">
                    <a:solidFill>
                      <a:schemeClr val="tx1"/>
                    </a:solidFill>
                    <a:effectLst/>
                    <a:latin typeface="+mn-lt"/>
                    <a:ea typeface="+mn-ea"/>
                    <a:cs typeface="+mn-cs"/>
                  </a:rPr>
                  <a:t>dva</a:t>
                </a:r>
                <a:r>
                  <a:rPr lang="en-US" sz="2000" b="0" kern="1200" dirty="0">
                    <a:solidFill>
                      <a:schemeClr val="tx1"/>
                    </a:solidFill>
                    <a:effectLst/>
                    <a:latin typeface="+mn-lt"/>
                    <a:ea typeface="+mn-ea"/>
                    <a:cs typeface="+mn-cs"/>
                  </a:rPr>
                  <a:t> </a:t>
                </a:r>
                <a:r>
                  <a:rPr lang="en-US" sz="2000" b="0" kern="1200" dirty="0" err="1">
                    <a:solidFill>
                      <a:schemeClr val="tx1"/>
                    </a:solidFill>
                    <a:effectLst/>
                    <a:latin typeface="+mn-lt"/>
                    <a:ea typeface="+mn-ea"/>
                    <a:cs typeface="+mn-cs"/>
                  </a:rPr>
                  <a:t>kontrolna</a:t>
                </a:r>
                <a:r>
                  <a:rPr lang="en-US" sz="2000" b="0" kern="1200" dirty="0">
                    <a:solidFill>
                      <a:schemeClr val="tx1"/>
                    </a:solidFill>
                    <a:effectLst/>
                    <a:latin typeface="+mn-lt"/>
                    <a:ea typeface="+mn-ea"/>
                    <a:cs typeface="+mn-cs"/>
                  </a:rPr>
                  <a:t> </a:t>
                </a:r>
                <a:r>
                  <a:rPr lang="en-US" sz="2000" b="0" kern="1200" dirty="0" err="1">
                    <a:solidFill>
                      <a:schemeClr val="tx1"/>
                    </a:solidFill>
                    <a:effectLst/>
                    <a:latin typeface="+mn-lt"/>
                    <a:ea typeface="+mn-ea"/>
                    <a:cs typeface="+mn-cs"/>
                  </a:rPr>
                  <a:t>kubita</a:t>
                </a:r>
                <a:r>
                  <a:rPr lang="en-US" sz="2000" b="0" kern="1200" dirty="0">
                    <a:solidFill>
                      <a:schemeClr val="tx1"/>
                    </a:solidFill>
                    <a:effectLst/>
                    <a:latin typeface="+mn-lt"/>
                    <a:ea typeface="+mn-ea"/>
                    <a:cs typeface="+mn-cs"/>
                  </a:rPr>
                  <a:t>. </a:t>
                </a:r>
                <a:r>
                  <a:rPr lang="en-US" sz="2000" b="0" kern="1200" dirty="0" err="1">
                    <a:solidFill>
                      <a:schemeClr val="tx1"/>
                    </a:solidFill>
                    <a:effectLst/>
                    <a:latin typeface="+mn-lt"/>
                    <a:ea typeface="+mn-ea"/>
                    <a:cs typeface="+mn-cs"/>
                  </a:rPr>
                  <a:t>Ako</a:t>
                </a:r>
                <a:r>
                  <a:rPr lang="en-US" sz="2000" b="0" kern="1200" dirty="0">
                    <a:solidFill>
                      <a:schemeClr val="tx1"/>
                    </a:solidFill>
                    <a:effectLst/>
                    <a:latin typeface="+mn-lt"/>
                    <a:ea typeface="+mn-ea"/>
                    <a:cs typeface="+mn-cs"/>
                  </a:rPr>
                  <a:t> </a:t>
                </a:r>
                <a:r>
                  <a:rPr lang="en-US" sz="2000" b="0" kern="1200" dirty="0" err="1">
                    <a:solidFill>
                      <a:schemeClr val="tx1"/>
                    </a:solidFill>
                    <a:effectLst/>
                    <a:latin typeface="+mn-lt"/>
                    <a:ea typeface="+mn-ea"/>
                    <a:cs typeface="+mn-cs"/>
                  </a:rPr>
                  <a:t>su</a:t>
                </a:r>
                <a:r>
                  <a:rPr lang="en-US" sz="2000" b="0" kern="1200" dirty="0">
                    <a:solidFill>
                      <a:schemeClr val="tx1"/>
                    </a:solidFill>
                    <a:effectLst/>
                    <a:latin typeface="+mn-lt"/>
                    <a:ea typeface="+mn-ea"/>
                    <a:cs typeface="+mn-cs"/>
                  </a:rPr>
                  <a:t> </a:t>
                </a:r>
                <a:r>
                  <a:rPr lang="en-US" sz="2000" b="0" kern="1200" dirty="0" err="1">
                    <a:solidFill>
                      <a:schemeClr val="tx1"/>
                    </a:solidFill>
                    <a:effectLst/>
                    <a:latin typeface="+mn-lt"/>
                    <a:ea typeface="+mn-ea"/>
                    <a:cs typeface="+mn-cs"/>
                  </a:rPr>
                  <a:t>kontrolni</a:t>
                </a:r>
                <a:r>
                  <a:rPr lang="en-US" sz="2000" b="0" kern="1200" dirty="0">
                    <a:solidFill>
                      <a:schemeClr val="tx1"/>
                    </a:solidFill>
                    <a:effectLst/>
                    <a:latin typeface="+mn-lt"/>
                    <a:ea typeface="+mn-ea"/>
                    <a:cs typeface="+mn-cs"/>
                  </a:rPr>
                  <a:t> </a:t>
                </a:r>
                <a:r>
                  <a:rPr lang="en-US" sz="2000" b="0" kern="1200" dirty="0" err="1">
                    <a:solidFill>
                      <a:schemeClr val="tx1"/>
                    </a:solidFill>
                    <a:effectLst/>
                    <a:latin typeface="+mn-lt"/>
                    <a:ea typeface="+mn-ea"/>
                    <a:cs typeface="+mn-cs"/>
                  </a:rPr>
                  <a:t>kubiti</a:t>
                </a:r>
                <a:r>
                  <a:rPr lang="en-US" sz="2000" b="0" kern="1200" dirty="0">
                    <a:solidFill>
                      <a:schemeClr val="tx1"/>
                    </a:solidFill>
                    <a:effectLst/>
                    <a:latin typeface="+mn-lt"/>
                    <a:ea typeface="+mn-ea"/>
                    <a:cs typeface="+mn-cs"/>
                  </a:rPr>
                  <a:t> 1 </a:t>
                </a:r>
                <a:r>
                  <a:rPr lang="en-US" sz="2000" b="0" kern="1200" dirty="0" err="1">
                    <a:solidFill>
                      <a:schemeClr val="tx1"/>
                    </a:solidFill>
                    <a:effectLst/>
                    <a:latin typeface="+mn-lt"/>
                    <a:ea typeface="+mn-ea"/>
                    <a:cs typeface="+mn-cs"/>
                  </a:rPr>
                  <a:t>onda</a:t>
                </a:r>
                <a:r>
                  <a:rPr lang="en-US" sz="2000" b="0" kern="1200" dirty="0">
                    <a:solidFill>
                      <a:schemeClr val="tx1"/>
                    </a:solidFill>
                    <a:effectLst/>
                    <a:latin typeface="+mn-lt"/>
                    <a:ea typeface="+mn-ea"/>
                    <a:cs typeface="+mn-cs"/>
                  </a:rPr>
                  <a:t> se </a:t>
                </a:r>
                <a:r>
                  <a:rPr lang="en-US" sz="2000" b="0" kern="1200" dirty="0" err="1">
                    <a:solidFill>
                      <a:schemeClr val="tx1"/>
                    </a:solidFill>
                    <a:effectLst/>
                    <a:latin typeface="+mn-lt"/>
                    <a:ea typeface="+mn-ea"/>
                    <a:cs typeface="+mn-cs"/>
                  </a:rPr>
                  <a:t>primenjuje</a:t>
                </a:r>
                <a:r>
                  <a:rPr lang="en-US" sz="2000" b="0" kern="1200" dirty="0">
                    <a:solidFill>
                      <a:schemeClr val="tx1"/>
                    </a:solidFill>
                    <a:effectLst/>
                    <a:latin typeface="+mn-lt"/>
                    <a:ea typeface="+mn-ea"/>
                    <a:cs typeface="+mn-cs"/>
                  </a:rPr>
                  <a:t> </a:t>
                </a:r>
                <a:r>
                  <a:rPr lang="en-US" sz="2000" b="0" i="0">
                    <a:latin typeface="Cambria Math" panose="02040503050406030204" pitchFamily="18" charset="0"/>
                  </a:rPr>
                  <a:t>𝑋</a:t>
                </a:r>
                <a:r>
                  <a:rPr lang="en-US" sz="2000" b="0" kern="1200" dirty="0">
                    <a:solidFill>
                      <a:schemeClr val="tx1"/>
                    </a:solidFill>
                    <a:effectLst/>
                    <a:latin typeface="+mn-lt"/>
                    <a:ea typeface="+mn-ea"/>
                    <a:cs typeface="+mn-cs"/>
                  </a:rPr>
                  <a:t> operator </a:t>
                </a:r>
                <a:r>
                  <a:rPr lang="en-US" sz="2000" b="0" kern="1200" dirty="0" err="1">
                    <a:solidFill>
                      <a:schemeClr val="tx1"/>
                    </a:solidFill>
                    <a:effectLst/>
                    <a:latin typeface="+mn-lt"/>
                    <a:ea typeface="+mn-ea"/>
                    <a:cs typeface="+mn-cs"/>
                  </a:rPr>
                  <a:t>nad</a:t>
                </a:r>
                <a:r>
                  <a:rPr lang="en-US" sz="2000" b="0" kern="1200" dirty="0">
                    <a:solidFill>
                      <a:schemeClr val="tx1"/>
                    </a:solidFill>
                    <a:effectLst/>
                    <a:latin typeface="+mn-lt"/>
                    <a:ea typeface="+mn-ea"/>
                    <a:cs typeface="+mn-cs"/>
                  </a:rPr>
                  <a:t> target </a:t>
                </a:r>
                <a:r>
                  <a:rPr lang="en-US" sz="2000" b="0" kern="1200" dirty="0" err="1">
                    <a:solidFill>
                      <a:schemeClr val="tx1"/>
                    </a:solidFill>
                    <a:effectLst/>
                    <a:latin typeface="+mn-lt"/>
                    <a:ea typeface="+mn-ea"/>
                    <a:cs typeface="+mn-cs"/>
                  </a:rPr>
                  <a:t>kubitom</a:t>
                </a:r>
                <a:r>
                  <a:rPr lang="en-US" sz="2000" b="0" kern="1200" dirty="0">
                    <a:solidFill>
                      <a:schemeClr val="tx1"/>
                    </a:solidFill>
                    <a:effectLst/>
                    <a:latin typeface="+mn-lt"/>
                    <a:ea typeface="+mn-ea"/>
                    <a:cs typeface="+mn-cs"/>
                  </a:rPr>
                  <a:t>.</a:t>
                </a:r>
              </a:p>
              <a:p>
                <a:endParaRPr lang="en-US" sz="2000" b="0" kern="1200" dirty="0">
                  <a:solidFill>
                    <a:schemeClr val="tx1"/>
                  </a:solidFill>
                  <a:effectLst/>
                  <a:latin typeface="+mn-lt"/>
                  <a:ea typeface="+mn-ea"/>
                  <a:cs typeface="+mn-cs"/>
                </a:endParaRPr>
              </a:p>
              <a:p>
                <a:r>
                  <a:rPr lang="en-US" sz="2000" b="0" kern="1200" dirty="0" err="1">
                    <a:solidFill>
                      <a:schemeClr val="tx1"/>
                    </a:solidFill>
                    <a:effectLst/>
                    <a:latin typeface="+mn-lt"/>
                    <a:ea typeface="+mn-ea"/>
                    <a:cs typeface="+mn-cs"/>
                  </a:rPr>
                  <a:t>Operacija</a:t>
                </a:r>
                <a:r>
                  <a:rPr lang="en-US" sz="2000" b="0" kern="1200" dirty="0">
                    <a:solidFill>
                      <a:schemeClr val="tx1"/>
                    </a:solidFill>
                    <a:effectLst/>
                    <a:latin typeface="+mn-lt"/>
                    <a:ea typeface="+mn-ea"/>
                    <a:cs typeface="+mn-cs"/>
                  </a:rPr>
                  <a:t> CCX kola se </a:t>
                </a:r>
                <a:r>
                  <a:rPr lang="en-US" sz="2000" b="0" kern="1200" dirty="0" err="1">
                    <a:solidFill>
                      <a:schemeClr val="tx1"/>
                    </a:solidFill>
                    <a:effectLst/>
                    <a:latin typeface="+mn-lt"/>
                    <a:ea typeface="+mn-ea"/>
                    <a:cs typeface="+mn-cs"/>
                  </a:rPr>
                  <a:t>može</a:t>
                </a:r>
                <a:r>
                  <a:rPr lang="en-US" sz="2000" b="0" kern="1200" dirty="0">
                    <a:solidFill>
                      <a:schemeClr val="tx1"/>
                    </a:solidFill>
                    <a:effectLst/>
                    <a:latin typeface="+mn-lt"/>
                    <a:ea typeface="+mn-ea"/>
                    <a:cs typeface="+mn-cs"/>
                  </a:rPr>
                  <a:t> </a:t>
                </a:r>
                <a:r>
                  <a:rPr lang="en-US" sz="2000" b="0" kern="1200" dirty="0" err="1">
                    <a:solidFill>
                      <a:schemeClr val="tx1"/>
                    </a:solidFill>
                    <a:effectLst/>
                    <a:latin typeface="+mn-lt"/>
                    <a:ea typeface="+mn-ea"/>
                    <a:cs typeface="+mn-cs"/>
                  </a:rPr>
                  <a:t>predstaviti</a:t>
                </a:r>
                <a:r>
                  <a:rPr lang="en-US" sz="2000" b="0" kern="1200" dirty="0">
                    <a:solidFill>
                      <a:schemeClr val="tx1"/>
                    </a:solidFill>
                    <a:effectLst/>
                    <a:latin typeface="+mn-lt"/>
                    <a:ea typeface="+mn-ea"/>
                    <a:cs typeface="+mn-cs"/>
                  </a:rPr>
                  <a:t> </a:t>
                </a:r>
                <a:r>
                  <a:rPr lang="en-US" sz="2000" b="0" kern="1200" dirty="0" err="1">
                    <a:solidFill>
                      <a:schemeClr val="tx1"/>
                    </a:solidFill>
                    <a:effectLst/>
                    <a:latin typeface="+mn-lt"/>
                    <a:ea typeface="+mn-ea"/>
                    <a:cs typeface="+mn-cs"/>
                  </a:rPr>
                  <a:t>i</a:t>
                </a:r>
                <a:r>
                  <a:rPr lang="en-US" sz="2000" b="0" kern="1200" dirty="0">
                    <a:solidFill>
                      <a:schemeClr val="tx1"/>
                    </a:solidFill>
                    <a:effectLst/>
                    <a:latin typeface="+mn-lt"/>
                    <a:ea typeface="+mn-ea"/>
                    <a:cs typeface="+mn-cs"/>
                  </a:rPr>
                  <a:t> </a:t>
                </a:r>
                <a:r>
                  <a:rPr lang="en-US" sz="2000" b="0" kern="1200" dirty="0" err="1">
                    <a:solidFill>
                      <a:schemeClr val="tx1"/>
                    </a:solidFill>
                    <a:effectLst/>
                    <a:latin typeface="+mn-lt"/>
                    <a:ea typeface="+mn-ea"/>
                    <a:cs typeface="+mn-cs"/>
                  </a:rPr>
                  <a:t>logičkim</a:t>
                </a:r>
                <a:r>
                  <a:rPr lang="en-US" sz="2000" b="0" kern="1200" dirty="0">
                    <a:solidFill>
                      <a:schemeClr val="tx1"/>
                    </a:solidFill>
                    <a:effectLst/>
                    <a:latin typeface="+mn-lt"/>
                    <a:ea typeface="+mn-ea"/>
                    <a:cs typeface="+mn-cs"/>
                  </a:rPr>
                  <a:t> </a:t>
                </a:r>
                <a:r>
                  <a:rPr lang="en-US" sz="2000" b="0" kern="1200" dirty="0" err="1">
                    <a:solidFill>
                      <a:schemeClr val="tx1"/>
                    </a:solidFill>
                    <a:effectLst/>
                    <a:latin typeface="+mn-lt"/>
                    <a:ea typeface="+mn-ea"/>
                    <a:cs typeface="+mn-cs"/>
                  </a:rPr>
                  <a:t>izrazom</a:t>
                </a:r>
                <a:r>
                  <a:rPr lang="en-US" sz="2000" b="0" kern="1200" dirty="0">
                    <a:solidFill>
                      <a:schemeClr val="tx1"/>
                    </a:solidFill>
                    <a:effectLst/>
                    <a:latin typeface="+mn-lt"/>
                    <a:ea typeface="+mn-ea"/>
                    <a:cs typeface="+mn-cs"/>
                  </a:rPr>
                  <a:t> u </a:t>
                </a:r>
                <a:r>
                  <a:rPr lang="en-US" sz="2000" b="0" kern="1200" dirty="0" err="1">
                    <a:solidFill>
                      <a:schemeClr val="tx1"/>
                    </a:solidFill>
                    <a:effectLst/>
                    <a:latin typeface="+mn-lt"/>
                    <a:ea typeface="+mn-ea"/>
                    <a:cs typeface="+mn-cs"/>
                  </a:rPr>
                  <a:t>kome</a:t>
                </a:r>
                <a:r>
                  <a:rPr lang="en-US" sz="2000" b="0" kern="1200" dirty="0">
                    <a:solidFill>
                      <a:schemeClr val="tx1"/>
                    </a:solidFill>
                    <a:effectLst/>
                    <a:latin typeface="+mn-lt"/>
                    <a:ea typeface="+mn-ea"/>
                    <a:cs typeface="+mn-cs"/>
                  </a:rPr>
                  <a:t> </a:t>
                </a:r>
                <a:r>
                  <a:rPr lang="en-US" sz="2000" b="0" kern="1200" dirty="0" err="1">
                    <a:solidFill>
                      <a:schemeClr val="tx1"/>
                    </a:solidFill>
                    <a:effectLst/>
                    <a:latin typeface="+mn-lt"/>
                    <a:ea typeface="+mn-ea"/>
                    <a:cs typeface="+mn-cs"/>
                  </a:rPr>
                  <a:t>je</a:t>
                </a:r>
                <a:r>
                  <a:rPr lang="en-US" sz="2000" b="0" kern="1200" dirty="0">
                    <a:solidFill>
                      <a:schemeClr val="tx1"/>
                    </a:solidFill>
                    <a:effectLst/>
                    <a:latin typeface="+mn-lt"/>
                    <a:ea typeface="+mn-ea"/>
                    <a:cs typeface="+mn-cs"/>
                  </a:rPr>
                  <a:t> target </a:t>
                </a:r>
                <a:r>
                  <a:rPr lang="en-US" sz="2000" b="0" kern="1200" dirty="0" err="1">
                    <a:solidFill>
                      <a:schemeClr val="tx1"/>
                    </a:solidFill>
                    <a:effectLst/>
                    <a:latin typeface="+mn-lt"/>
                    <a:ea typeface="+mn-ea"/>
                    <a:cs typeface="+mn-cs"/>
                  </a:rPr>
                  <a:t>kubit</a:t>
                </a:r>
                <a:r>
                  <a:rPr lang="en-US" sz="2000" b="0" kern="1200" dirty="0">
                    <a:solidFill>
                      <a:schemeClr val="tx1"/>
                    </a:solidFill>
                    <a:effectLst/>
                    <a:latin typeface="+mn-lt"/>
                    <a:ea typeface="+mn-ea"/>
                    <a:cs typeface="+mn-cs"/>
                  </a:rPr>
                  <a:t> </a:t>
                </a:r>
                <a:r>
                  <a:rPr lang="en-US" sz="2000" b="0" kern="1200" dirty="0" err="1">
                    <a:solidFill>
                      <a:schemeClr val="tx1"/>
                    </a:solidFill>
                    <a:effectLst/>
                    <a:latin typeface="+mn-lt"/>
                    <a:ea typeface="+mn-ea"/>
                    <a:cs typeface="+mn-cs"/>
                  </a:rPr>
                  <a:t>rezultat</a:t>
                </a:r>
                <a:r>
                  <a:rPr lang="en-US" sz="2000" b="0" kern="1200" dirty="0">
                    <a:solidFill>
                      <a:schemeClr val="tx1"/>
                    </a:solidFill>
                    <a:effectLst/>
                    <a:latin typeface="+mn-lt"/>
                    <a:ea typeface="+mn-ea"/>
                    <a:cs typeface="+mn-cs"/>
                  </a:rPr>
                  <a:t> XOR </a:t>
                </a:r>
                <a:r>
                  <a:rPr lang="en-US" sz="2000" b="0" kern="1200" dirty="0" err="1">
                    <a:solidFill>
                      <a:schemeClr val="tx1"/>
                    </a:solidFill>
                    <a:effectLst/>
                    <a:latin typeface="+mn-lt"/>
                    <a:ea typeface="+mn-ea"/>
                    <a:cs typeface="+mn-cs"/>
                  </a:rPr>
                  <a:t>operacije</a:t>
                </a:r>
                <a:r>
                  <a:rPr lang="en-US" sz="2000" b="0" kern="1200" dirty="0">
                    <a:solidFill>
                      <a:schemeClr val="tx1"/>
                    </a:solidFill>
                    <a:effectLst/>
                    <a:latin typeface="+mn-lt"/>
                    <a:ea typeface="+mn-ea"/>
                    <a:cs typeface="+mn-cs"/>
                  </a:rPr>
                  <a:t> </a:t>
                </a:r>
                <a:r>
                  <a:rPr lang="en-US" sz="2000" b="0" kern="1200" dirty="0" err="1">
                    <a:solidFill>
                      <a:schemeClr val="tx1"/>
                    </a:solidFill>
                    <a:effectLst/>
                    <a:latin typeface="+mn-lt"/>
                    <a:ea typeface="+mn-ea"/>
                    <a:cs typeface="+mn-cs"/>
                  </a:rPr>
                  <a:t>izmedju</a:t>
                </a:r>
                <a:r>
                  <a:rPr lang="en-US" sz="2000" b="0" kern="1200" dirty="0">
                    <a:solidFill>
                      <a:schemeClr val="tx1"/>
                    </a:solidFill>
                    <a:effectLst/>
                    <a:latin typeface="+mn-lt"/>
                    <a:ea typeface="+mn-ea"/>
                    <a:cs typeface="+mn-cs"/>
                  </a:rPr>
                  <a:t> </a:t>
                </a:r>
                <a:r>
                  <a:rPr lang="en-US" sz="2000" b="0" kern="1200" dirty="0" err="1">
                    <a:solidFill>
                      <a:schemeClr val="tx1"/>
                    </a:solidFill>
                    <a:effectLst/>
                    <a:latin typeface="+mn-lt"/>
                    <a:ea typeface="+mn-ea"/>
                    <a:cs typeface="+mn-cs"/>
                  </a:rPr>
                  <a:t>svoje</a:t>
                </a:r>
                <a:r>
                  <a:rPr lang="en-US" sz="2000" b="0" kern="1200" dirty="0">
                    <a:solidFill>
                      <a:schemeClr val="tx1"/>
                    </a:solidFill>
                    <a:effectLst/>
                    <a:latin typeface="+mn-lt"/>
                    <a:ea typeface="+mn-ea"/>
                    <a:cs typeface="+mn-cs"/>
                  </a:rPr>
                  <a:t> </a:t>
                </a:r>
                <a:r>
                  <a:rPr lang="en-US" sz="2000" b="0" kern="1200" dirty="0" err="1">
                    <a:solidFill>
                      <a:schemeClr val="tx1"/>
                    </a:solidFill>
                    <a:effectLst/>
                    <a:latin typeface="+mn-lt"/>
                    <a:ea typeface="+mn-ea"/>
                    <a:cs typeface="+mn-cs"/>
                  </a:rPr>
                  <a:t>početne</a:t>
                </a:r>
                <a:r>
                  <a:rPr lang="en-US" sz="2000" b="0" kern="1200" dirty="0">
                    <a:solidFill>
                      <a:schemeClr val="tx1"/>
                    </a:solidFill>
                    <a:effectLst/>
                    <a:latin typeface="+mn-lt"/>
                    <a:ea typeface="+mn-ea"/>
                    <a:cs typeface="+mn-cs"/>
                  </a:rPr>
                  <a:t> </a:t>
                </a:r>
                <a:r>
                  <a:rPr lang="en-US" sz="2000" b="0" kern="1200" dirty="0" err="1">
                    <a:solidFill>
                      <a:schemeClr val="tx1"/>
                    </a:solidFill>
                    <a:effectLst/>
                    <a:latin typeface="+mn-lt"/>
                    <a:ea typeface="+mn-ea"/>
                    <a:cs typeface="+mn-cs"/>
                  </a:rPr>
                  <a:t>vrednosti</a:t>
                </a:r>
                <a:r>
                  <a:rPr lang="en-US" sz="2000" b="0" kern="1200" dirty="0">
                    <a:solidFill>
                      <a:schemeClr val="tx1"/>
                    </a:solidFill>
                    <a:effectLst/>
                    <a:latin typeface="+mn-lt"/>
                    <a:ea typeface="+mn-ea"/>
                    <a:cs typeface="+mn-cs"/>
                  </a:rPr>
                  <a:t> </a:t>
                </a:r>
                <a:r>
                  <a:rPr lang="en-US" sz="2000" b="0" kern="1200" dirty="0" err="1">
                    <a:solidFill>
                      <a:schemeClr val="tx1"/>
                    </a:solidFill>
                    <a:effectLst/>
                    <a:latin typeface="+mn-lt"/>
                    <a:ea typeface="+mn-ea"/>
                    <a:cs typeface="+mn-cs"/>
                  </a:rPr>
                  <a:t>i</a:t>
                </a:r>
                <a:r>
                  <a:rPr lang="en-US" sz="2000" b="0" kern="1200" dirty="0">
                    <a:solidFill>
                      <a:schemeClr val="tx1"/>
                    </a:solidFill>
                    <a:effectLst/>
                    <a:latin typeface="+mn-lt"/>
                    <a:ea typeface="+mn-ea"/>
                    <a:cs typeface="+mn-cs"/>
                  </a:rPr>
                  <a:t> </a:t>
                </a:r>
                <a:r>
                  <a:rPr lang="en-US" sz="2000" b="0" kern="1200" dirty="0" err="1">
                    <a:solidFill>
                      <a:schemeClr val="tx1"/>
                    </a:solidFill>
                    <a:effectLst/>
                    <a:latin typeface="+mn-lt"/>
                    <a:ea typeface="+mn-ea"/>
                    <a:cs typeface="+mn-cs"/>
                  </a:rPr>
                  <a:t>rezultata</a:t>
                </a:r>
                <a:r>
                  <a:rPr lang="en-US" sz="2000" b="0" kern="1200" dirty="0">
                    <a:solidFill>
                      <a:schemeClr val="tx1"/>
                    </a:solidFill>
                    <a:effectLst/>
                    <a:latin typeface="+mn-lt"/>
                    <a:ea typeface="+mn-ea"/>
                    <a:cs typeface="+mn-cs"/>
                  </a:rPr>
                  <a:t> AND </a:t>
                </a:r>
                <a:r>
                  <a:rPr lang="en-US" sz="2000" b="0" kern="1200" dirty="0" err="1">
                    <a:solidFill>
                      <a:schemeClr val="tx1"/>
                    </a:solidFill>
                    <a:effectLst/>
                    <a:latin typeface="+mn-lt"/>
                    <a:ea typeface="+mn-ea"/>
                    <a:cs typeface="+mn-cs"/>
                  </a:rPr>
                  <a:t>operacije</a:t>
                </a:r>
                <a:r>
                  <a:rPr lang="en-US" sz="2000" b="0" kern="1200" dirty="0">
                    <a:solidFill>
                      <a:schemeClr val="tx1"/>
                    </a:solidFill>
                    <a:effectLst/>
                    <a:latin typeface="+mn-lt"/>
                    <a:ea typeface="+mn-ea"/>
                    <a:cs typeface="+mn-cs"/>
                  </a:rPr>
                  <a:t> </a:t>
                </a:r>
                <a:r>
                  <a:rPr lang="en-US" sz="2000" b="0" kern="1200" dirty="0" err="1">
                    <a:solidFill>
                      <a:schemeClr val="tx1"/>
                    </a:solidFill>
                    <a:effectLst/>
                    <a:latin typeface="+mn-lt"/>
                    <a:ea typeface="+mn-ea"/>
                    <a:cs typeface="+mn-cs"/>
                  </a:rPr>
                  <a:t>dva</a:t>
                </a:r>
                <a:r>
                  <a:rPr lang="en-US" sz="2000" b="0" kern="1200" dirty="0">
                    <a:solidFill>
                      <a:schemeClr val="tx1"/>
                    </a:solidFill>
                    <a:effectLst/>
                    <a:latin typeface="+mn-lt"/>
                    <a:ea typeface="+mn-ea"/>
                    <a:cs typeface="+mn-cs"/>
                  </a:rPr>
                  <a:t> </a:t>
                </a:r>
                <a:r>
                  <a:rPr lang="en-US" sz="2000" b="0" kern="1200" dirty="0" err="1">
                    <a:solidFill>
                      <a:schemeClr val="tx1"/>
                    </a:solidFill>
                    <a:effectLst/>
                    <a:latin typeface="+mn-lt"/>
                    <a:ea typeface="+mn-ea"/>
                    <a:cs typeface="+mn-cs"/>
                  </a:rPr>
                  <a:t>kontrolna</a:t>
                </a:r>
                <a:r>
                  <a:rPr lang="en-US" sz="2000" b="0" kern="1200" dirty="0">
                    <a:solidFill>
                      <a:schemeClr val="tx1"/>
                    </a:solidFill>
                    <a:effectLst/>
                    <a:latin typeface="+mn-lt"/>
                    <a:ea typeface="+mn-ea"/>
                    <a:cs typeface="+mn-cs"/>
                  </a:rPr>
                  <a:t> </a:t>
                </a:r>
                <a:r>
                  <a:rPr lang="en-US" sz="2000" b="0" kern="1200" dirty="0" err="1">
                    <a:solidFill>
                      <a:schemeClr val="tx1"/>
                    </a:solidFill>
                    <a:effectLst/>
                    <a:latin typeface="+mn-lt"/>
                    <a:ea typeface="+mn-ea"/>
                    <a:cs typeface="+mn-cs"/>
                  </a:rPr>
                  <a:t>kubita</a:t>
                </a:r>
                <a:r>
                  <a:rPr lang="en-US" sz="2000" b="0" kern="1200" dirty="0">
                    <a:solidFill>
                      <a:schemeClr val="tx1"/>
                    </a:solidFill>
                    <a:effectLst/>
                    <a:latin typeface="+mn-lt"/>
                    <a:ea typeface="+mn-ea"/>
                    <a:cs typeface="+mn-cs"/>
                  </a:rPr>
                  <a:t>. </a:t>
                </a: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44</a:t>
            </a:fld>
            <a:endParaRPr lang="en-US"/>
          </a:p>
        </p:txBody>
      </p:sp>
    </p:spTree>
    <p:extLst>
      <p:ext uri="{BB962C8B-B14F-4D97-AF65-F5344CB8AC3E}">
        <p14:creationId xmlns:p14="http://schemas.microsoft.com/office/powerpoint/2010/main" val="413902583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b="0" dirty="0"/>
              <a:t>Multi-controlled gates generalize the concept of controlled operations by allowing a gate to be activated by two or more control qubits.</a:t>
            </a:r>
          </a:p>
          <a:p>
            <a:pPr algn="just"/>
            <a:endParaRPr lang="en-ZA" b="0" dirty="0"/>
          </a:p>
          <a:p>
            <a:pPr algn="just"/>
            <a:r>
              <a:rPr lang="en-ZA" b="0" dirty="0"/>
              <a:t>In </a:t>
            </a:r>
            <a:r>
              <a:rPr lang="en-ZA" b="0" dirty="0" err="1"/>
              <a:t>OpenQASM</a:t>
            </a:r>
            <a:r>
              <a:rPr lang="en-ZA" b="0" dirty="0"/>
              <a:t> 3, a gate can be converted into a multi-controlled gate using the ctrl modifier. The number of control qubits is specified in parentheses after ctrl, followed by @, the gate name, and the list of qubits. The control qubits are listed first, followed by the target qubit or qubits.</a:t>
            </a:r>
          </a:p>
          <a:p>
            <a:pPr algn="just"/>
            <a:endParaRPr lang="en-ZA" b="0" dirty="0"/>
          </a:p>
          <a:p>
            <a:pPr algn="just"/>
            <a:r>
              <a:rPr lang="en-ZA" b="0" dirty="0"/>
              <a:t>In </a:t>
            </a:r>
            <a:r>
              <a:rPr lang="en-ZA" b="0" dirty="0" err="1"/>
              <a:t>Qiskit</a:t>
            </a:r>
            <a:r>
              <a:rPr lang="en-ZA" b="0" dirty="0"/>
              <a:t>, multiple control qubits can be added to a gate using the .control(n) method, where n </a:t>
            </a:r>
            <a:r>
              <a:rPr lang="en-ZA" dirty="0"/>
              <a:t>specifies the number of control qubits.</a:t>
            </a:r>
          </a:p>
          <a:p>
            <a:pPr algn="just"/>
            <a:endParaRPr lang="en-ZA" b="0" dirty="0"/>
          </a:p>
          <a:p>
            <a:pPr algn="just"/>
            <a:r>
              <a:rPr lang="en-ZA" dirty="0"/>
              <a:t>Both </a:t>
            </a:r>
            <a:r>
              <a:rPr lang="en-ZA" dirty="0" err="1"/>
              <a:t>OpenQASM</a:t>
            </a:r>
            <a:r>
              <a:rPr lang="en-ZA" dirty="0"/>
              <a:t> 3 and </a:t>
            </a:r>
            <a:r>
              <a:rPr lang="en-ZA" dirty="0" err="1"/>
              <a:t>Qiskit</a:t>
            </a:r>
            <a:r>
              <a:rPr lang="en-ZA" dirty="0"/>
              <a:t> allow multiple control qubits to be specified. </a:t>
            </a:r>
            <a:r>
              <a:rPr lang="en-ZA"/>
              <a:t>In practice, multi-controlled gates are usually decomposed into simpler operations supported by the target quantum processor.</a:t>
            </a:r>
            <a:endParaRPr lang="en-ZA" b="0" dirty="0"/>
          </a:p>
        </p:txBody>
      </p:sp>
      <p:sp>
        <p:nvSpPr>
          <p:cNvPr id="4" name="Slide Number Placeholder 3"/>
          <p:cNvSpPr>
            <a:spLocks noGrp="1"/>
          </p:cNvSpPr>
          <p:nvPr>
            <p:ph type="sldNum" sz="quarter" idx="5"/>
          </p:nvPr>
        </p:nvSpPr>
        <p:spPr/>
        <p:txBody>
          <a:bodyPr/>
          <a:lstStyle/>
          <a:p>
            <a:fld id="{1B2CE5E3-B8BD-D040-AC87-D640191DD8F1}" type="slidenum">
              <a:rPr lang="en-US" smtClean="0"/>
              <a:t>45</a:t>
            </a:fld>
            <a:endParaRPr lang="en-US"/>
          </a:p>
        </p:txBody>
      </p:sp>
    </p:spTree>
    <p:extLst>
      <p:ext uri="{BB962C8B-B14F-4D97-AF65-F5344CB8AC3E}">
        <p14:creationId xmlns:p14="http://schemas.microsoft.com/office/powerpoint/2010/main" val="72158144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i="0" dirty="0"/>
          </a:p>
        </p:txBody>
      </p:sp>
      <p:sp>
        <p:nvSpPr>
          <p:cNvPr id="4" name="Slide Number Placeholder 3"/>
          <p:cNvSpPr>
            <a:spLocks noGrp="1"/>
          </p:cNvSpPr>
          <p:nvPr>
            <p:ph type="sldNum" sz="quarter" idx="5"/>
          </p:nvPr>
        </p:nvSpPr>
        <p:spPr/>
        <p:txBody>
          <a:bodyPr/>
          <a:lstStyle/>
          <a:p>
            <a:fld id="{1B2CE5E3-B8BD-D040-AC87-D640191DD8F1}" type="slidenum">
              <a:rPr lang="en-US" smtClean="0"/>
              <a:t>46</a:t>
            </a:fld>
            <a:endParaRPr lang="en-US"/>
          </a:p>
        </p:txBody>
      </p:sp>
    </p:spTree>
    <p:extLst>
      <p:ext uri="{BB962C8B-B14F-4D97-AF65-F5344CB8AC3E}">
        <p14:creationId xmlns:p14="http://schemas.microsoft.com/office/powerpoint/2010/main" val="26972075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tiff"/><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E11120-9110-E347-8B54-7933DF290CE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838A87D-FAB6-A743-817E-0C56F6336C6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A45607F-58DF-3447-9656-78BB1B0938F5}"/>
              </a:ext>
            </a:extLst>
          </p:cNvPr>
          <p:cNvSpPr>
            <a:spLocks noGrp="1"/>
          </p:cNvSpPr>
          <p:nvPr>
            <p:ph type="dt" sz="half" idx="10"/>
          </p:nvPr>
        </p:nvSpPr>
        <p:spPr/>
        <p:txBody>
          <a:bodyPr/>
          <a:lstStyle/>
          <a:p>
            <a:fld id="{1AE4839D-35CE-5948-991C-06BCC079A7B9}" type="datetime1">
              <a:rPr lang="en-US" smtClean="0"/>
              <a:t>10/24/26</a:t>
            </a:fld>
            <a:endParaRPr lang="en-US"/>
          </a:p>
        </p:txBody>
      </p:sp>
      <p:sp>
        <p:nvSpPr>
          <p:cNvPr id="5" name="Footer Placeholder 4">
            <a:extLst>
              <a:ext uri="{FF2B5EF4-FFF2-40B4-BE49-F238E27FC236}">
                <a16:creationId xmlns:a16="http://schemas.microsoft.com/office/drawing/2014/main" id="{82A11268-6971-7845-B2B0-61769F249F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F5C93A-6955-DE48-9E72-AE2BF1040520}"/>
              </a:ext>
            </a:extLst>
          </p:cNvPr>
          <p:cNvSpPr>
            <a:spLocks noGrp="1"/>
          </p:cNvSpPr>
          <p:nvPr>
            <p:ph type="sldNum" sz="quarter" idx="12"/>
          </p:nvPr>
        </p:nvSpPr>
        <p:spPr/>
        <p:txBody>
          <a:bodyPr/>
          <a:lstStyle/>
          <a:p>
            <a:fld id="{591A223C-FA10-BC46-A853-03BA373D023C}" type="slidenum">
              <a:rPr lang="en-US" smtClean="0"/>
              <a:t>‹#›</a:t>
            </a:fld>
            <a:endParaRPr lang="en-US"/>
          </a:p>
        </p:txBody>
      </p:sp>
    </p:spTree>
    <p:extLst>
      <p:ext uri="{BB962C8B-B14F-4D97-AF65-F5344CB8AC3E}">
        <p14:creationId xmlns:p14="http://schemas.microsoft.com/office/powerpoint/2010/main" val="10016362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649746-6A3A-2B40-897A-7771C9BE0A2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A0F0087-4B92-3E48-919C-B0DEFF5CA0F4}"/>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B605ED7-6A7E-B041-83E1-E1139884EF7E}"/>
              </a:ext>
            </a:extLst>
          </p:cNvPr>
          <p:cNvSpPr>
            <a:spLocks noGrp="1"/>
          </p:cNvSpPr>
          <p:nvPr>
            <p:ph type="dt" sz="half" idx="10"/>
          </p:nvPr>
        </p:nvSpPr>
        <p:spPr/>
        <p:txBody>
          <a:bodyPr/>
          <a:lstStyle/>
          <a:p>
            <a:fld id="{D21D1071-0E96-A240-8E9B-50D7576025E5}" type="datetime1">
              <a:rPr lang="en-US" smtClean="0"/>
              <a:t>10/24/26</a:t>
            </a:fld>
            <a:endParaRPr lang="en-US"/>
          </a:p>
        </p:txBody>
      </p:sp>
      <p:sp>
        <p:nvSpPr>
          <p:cNvPr id="5" name="Footer Placeholder 4">
            <a:extLst>
              <a:ext uri="{FF2B5EF4-FFF2-40B4-BE49-F238E27FC236}">
                <a16:creationId xmlns:a16="http://schemas.microsoft.com/office/drawing/2014/main" id="{234862D4-B653-154B-9F00-B29F8A9904F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7E1DDB-ECC2-6440-8F64-6FF7043B62ED}"/>
              </a:ext>
            </a:extLst>
          </p:cNvPr>
          <p:cNvSpPr>
            <a:spLocks noGrp="1"/>
          </p:cNvSpPr>
          <p:nvPr>
            <p:ph type="sldNum" sz="quarter" idx="12"/>
          </p:nvPr>
        </p:nvSpPr>
        <p:spPr/>
        <p:txBody>
          <a:bodyPr/>
          <a:lstStyle/>
          <a:p>
            <a:fld id="{591A223C-FA10-BC46-A853-03BA373D023C}" type="slidenum">
              <a:rPr lang="en-US" smtClean="0"/>
              <a:t>‹#›</a:t>
            </a:fld>
            <a:endParaRPr lang="en-US"/>
          </a:p>
        </p:txBody>
      </p:sp>
    </p:spTree>
    <p:extLst>
      <p:ext uri="{BB962C8B-B14F-4D97-AF65-F5344CB8AC3E}">
        <p14:creationId xmlns:p14="http://schemas.microsoft.com/office/powerpoint/2010/main" val="17583812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D37889-5E26-9F4B-ABC5-46737412E6F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43A11A0-B651-1246-A031-2EB34FAAA2C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69A7FBDE-56A4-544F-9E46-A8B3D22162DA}"/>
              </a:ext>
            </a:extLst>
          </p:cNvPr>
          <p:cNvSpPr>
            <a:spLocks noGrp="1"/>
          </p:cNvSpPr>
          <p:nvPr>
            <p:ph type="dt" sz="half" idx="10"/>
          </p:nvPr>
        </p:nvSpPr>
        <p:spPr/>
        <p:txBody>
          <a:bodyPr/>
          <a:lstStyle/>
          <a:p>
            <a:fld id="{D17CBCF1-D7CE-2C41-A8FB-9348FB41C55E}" type="datetime1">
              <a:rPr lang="en-US" smtClean="0"/>
              <a:t>10/24/26</a:t>
            </a:fld>
            <a:endParaRPr lang="en-US"/>
          </a:p>
        </p:txBody>
      </p:sp>
      <p:sp>
        <p:nvSpPr>
          <p:cNvPr id="5" name="Footer Placeholder 4">
            <a:extLst>
              <a:ext uri="{FF2B5EF4-FFF2-40B4-BE49-F238E27FC236}">
                <a16:creationId xmlns:a16="http://schemas.microsoft.com/office/drawing/2014/main" id="{4C68709F-B42E-EC48-8FBC-6974B5FDACF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E719095-1014-2C44-87B5-A279D4057E21}"/>
              </a:ext>
            </a:extLst>
          </p:cNvPr>
          <p:cNvSpPr>
            <a:spLocks noGrp="1"/>
          </p:cNvSpPr>
          <p:nvPr>
            <p:ph type="sldNum" sz="quarter" idx="12"/>
          </p:nvPr>
        </p:nvSpPr>
        <p:spPr/>
        <p:txBody>
          <a:bodyPr/>
          <a:lstStyle/>
          <a:p>
            <a:fld id="{591A223C-FA10-BC46-A853-03BA373D023C}" type="slidenum">
              <a:rPr lang="en-US" smtClean="0"/>
              <a:t>‹#›</a:t>
            </a:fld>
            <a:endParaRPr lang="en-US"/>
          </a:p>
        </p:txBody>
      </p:sp>
    </p:spTree>
    <p:extLst>
      <p:ext uri="{BB962C8B-B14F-4D97-AF65-F5344CB8AC3E}">
        <p14:creationId xmlns:p14="http://schemas.microsoft.com/office/powerpoint/2010/main" val="6689947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EEE1EC-CE7B-C74E-BB21-04FB5F3ADEA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4AAE6E3-FAA8-2941-97DF-C2CE1A284D4F}"/>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AD50239-C5D9-A146-B025-534BB867B583}"/>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114A720-AF7F-EC4C-B90A-F4581F526266}"/>
              </a:ext>
            </a:extLst>
          </p:cNvPr>
          <p:cNvSpPr>
            <a:spLocks noGrp="1"/>
          </p:cNvSpPr>
          <p:nvPr>
            <p:ph type="dt" sz="half" idx="10"/>
          </p:nvPr>
        </p:nvSpPr>
        <p:spPr/>
        <p:txBody>
          <a:bodyPr/>
          <a:lstStyle/>
          <a:p>
            <a:fld id="{7BA27735-2371-C441-A5A3-C9F11F72EF2A}" type="datetime1">
              <a:rPr lang="en-US" smtClean="0"/>
              <a:t>10/24/26</a:t>
            </a:fld>
            <a:endParaRPr lang="en-US"/>
          </a:p>
        </p:txBody>
      </p:sp>
      <p:sp>
        <p:nvSpPr>
          <p:cNvPr id="6" name="Footer Placeholder 5">
            <a:extLst>
              <a:ext uri="{FF2B5EF4-FFF2-40B4-BE49-F238E27FC236}">
                <a16:creationId xmlns:a16="http://schemas.microsoft.com/office/drawing/2014/main" id="{B28DF675-B48C-E044-8D49-6F0458C8019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9C3209-5E9C-C54A-ABFE-731C23683AB9}"/>
              </a:ext>
            </a:extLst>
          </p:cNvPr>
          <p:cNvSpPr>
            <a:spLocks noGrp="1"/>
          </p:cNvSpPr>
          <p:nvPr>
            <p:ph type="sldNum" sz="quarter" idx="12"/>
          </p:nvPr>
        </p:nvSpPr>
        <p:spPr/>
        <p:txBody>
          <a:bodyPr/>
          <a:lstStyle/>
          <a:p>
            <a:fld id="{591A223C-FA10-BC46-A853-03BA373D023C}" type="slidenum">
              <a:rPr lang="en-US" smtClean="0"/>
              <a:t>‹#›</a:t>
            </a:fld>
            <a:endParaRPr lang="en-US"/>
          </a:p>
        </p:txBody>
      </p:sp>
    </p:spTree>
    <p:extLst>
      <p:ext uri="{BB962C8B-B14F-4D97-AF65-F5344CB8AC3E}">
        <p14:creationId xmlns:p14="http://schemas.microsoft.com/office/powerpoint/2010/main" val="31560115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2392F6-6148-FE46-8B76-9B81927A059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3B4AF60-1528-9842-ADC9-963520FD630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DAAE9EEE-9501-B048-A51B-B54F83A8075D}"/>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E756781-36D8-E34C-82CC-C088F79BE93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88D179DE-69E1-4745-A19E-ECA22982DBE3}"/>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B0C8571-69A9-E54B-9D56-71E69986D26C}"/>
              </a:ext>
            </a:extLst>
          </p:cNvPr>
          <p:cNvSpPr>
            <a:spLocks noGrp="1"/>
          </p:cNvSpPr>
          <p:nvPr>
            <p:ph type="dt" sz="half" idx="10"/>
          </p:nvPr>
        </p:nvSpPr>
        <p:spPr/>
        <p:txBody>
          <a:bodyPr/>
          <a:lstStyle/>
          <a:p>
            <a:fld id="{AD956192-B3CA-E648-8D9D-A184E038D705}" type="datetime1">
              <a:rPr lang="en-US" smtClean="0"/>
              <a:t>10/24/26</a:t>
            </a:fld>
            <a:endParaRPr lang="en-US"/>
          </a:p>
        </p:txBody>
      </p:sp>
      <p:sp>
        <p:nvSpPr>
          <p:cNvPr id="8" name="Footer Placeholder 7">
            <a:extLst>
              <a:ext uri="{FF2B5EF4-FFF2-40B4-BE49-F238E27FC236}">
                <a16:creationId xmlns:a16="http://schemas.microsoft.com/office/drawing/2014/main" id="{F2999DD5-63CC-1D40-B3C1-B72C788C35E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8B02FEF-EE56-D249-961E-050212908867}"/>
              </a:ext>
            </a:extLst>
          </p:cNvPr>
          <p:cNvSpPr>
            <a:spLocks noGrp="1"/>
          </p:cNvSpPr>
          <p:nvPr>
            <p:ph type="sldNum" sz="quarter" idx="12"/>
          </p:nvPr>
        </p:nvSpPr>
        <p:spPr/>
        <p:txBody>
          <a:bodyPr/>
          <a:lstStyle/>
          <a:p>
            <a:fld id="{591A223C-FA10-BC46-A853-03BA373D023C}" type="slidenum">
              <a:rPr lang="en-US" smtClean="0"/>
              <a:t>‹#›</a:t>
            </a:fld>
            <a:endParaRPr lang="en-US"/>
          </a:p>
        </p:txBody>
      </p:sp>
    </p:spTree>
    <p:extLst>
      <p:ext uri="{BB962C8B-B14F-4D97-AF65-F5344CB8AC3E}">
        <p14:creationId xmlns:p14="http://schemas.microsoft.com/office/powerpoint/2010/main" val="35226381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91093C0F-96B2-6F4C-8B66-4B0CDB2D2C9A}"/>
              </a:ext>
            </a:extLst>
          </p:cNvPr>
          <p:cNvSpPr>
            <a:spLocks noGrp="1"/>
          </p:cNvSpPr>
          <p:nvPr>
            <p:ph type="sldNum" sz="quarter" idx="12"/>
          </p:nvPr>
        </p:nvSpPr>
        <p:spPr>
          <a:xfrm>
            <a:off x="0" y="6492875"/>
            <a:ext cx="767255" cy="365125"/>
          </a:xfrm>
        </p:spPr>
        <p:txBody>
          <a:bodyPr/>
          <a:lstStyle>
            <a:lvl1pPr algn="l">
              <a:defRPr/>
            </a:lvl1pPr>
          </a:lstStyle>
          <a:p>
            <a:fld id="{591A223C-FA10-BC46-A853-03BA373D023C}" type="slidenum">
              <a:rPr lang="en-US" smtClean="0"/>
              <a:pPr/>
              <a:t>‹#›</a:t>
            </a:fld>
            <a:endParaRPr lang="en-US"/>
          </a:p>
        </p:txBody>
      </p:sp>
      <p:sp>
        <p:nvSpPr>
          <p:cNvPr id="4" name="Title 1">
            <a:extLst>
              <a:ext uri="{FF2B5EF4-FFF2-40B4-BE49-F238E27FC236}">
                <a16:creationId xmlns:a16="http://schemas.microsoft.com/office/drawing/2014/main" id="{07A68673-DD50-9849-948E-33DE23C6836F}"/>
              </a:ext>
            </a:extLst>
          </p:cNvPr>
          <p:cNvSpPr>
            <a:spLocks noGrp="1"/>
          </p:cNvSpPr>
          <p:nvPr>
            <p:ph type="title"/>
          </p:nvPr>
        </p:nvSpPr>
        <p:spPr>
          <a:xfrm>
            <a:off x="0" y="0"/>
            <a:ext cx="12192000" cy="675316"/>
          </a:xfrm>
          <a:noFill/>
          <a:ln>
            <a:noFill/>
          </a:ln>
        </p:spPr>
        <p:txBody>
          <a:bodyPr>
            <a:normAutofit/>
          </a:bodyPr>
          <a:lstStyle>
            <a:lvl1pPr>
              <a:defRPr sz="3200" baseline="0">
                <a:latin typeface="+mj-lt"/>
                <a:cs typeface="Arial" panose="020B0604020202020204" pitchFamily="34" charset="0"/>
              </a:defRPr>
            </a:lvl1pPr>
          </a:lstStyle>
          <a:p>
            <a:r>
              <a:rPr lang="en-US" dirty="0"/>
              <a:t>Click to edit Master title style</a:t>
            </a:r>
          </a:p>
        </p:txBody>
      </p:sp>
      <p:pic>
        <p:nvPicPr>
          <p:cNvPr id="7" name="Picture 6">
            <a:extLst>
              <a:ext uri="{FF2B5EF4-FFF2-40B4-BE49-F238E27FC236}">
                <a16:creationId xmlns:a16="http://schemas.microsoft.com/office/drawing/2014/main" id="{206E27D3-B3E3-7149-9C0D-6F1A36237748}"/>
              </a:ext>
            </a:extLst>
          </p:cNvPr>
          <p:cNvPicPr>
            <a:picLocks noChangeAspect="1"/>
          </p:cNvPicPr>
          <p:nvPr userDrawn="1"/>
        </p:nvPicPr>
        <p:blipFill>
          <a:blip r:embed="rId2"/>
          <a:stretch>
            <a:fillRect/>
          </a:stretch>
        </p:blipFill>
        <p:spPr>
          <a:xfrm>
            <a:off x="121919" y="675316"/>
            <a:ext cx="5083823" cy="182718"/>
          </a:xfrm>
          <a:prstGeom prst="rect">
            <a:avLst/>
          </a:prstGeom>
        </p:spPr>
      </p:pic>
      <p:pic>
        <p:nvPicPr>
          <p:cNvPr id="6" name="Picture 5">
            <a:extLst>
              <a:ext uri="{FF2B5EF4-FFF2-40B4-BE49-F238E27FC236}">
                <a16:creationId xmlns:a16="http://schemas.microsoft.com/office/drawing/2014/main" id="{C79E11CA-0892-9A41-A5AA-2AE3B5D6B469}"/>
              </a:ext>
            </a:extLst>
          </p:cNvPr>
          <p:cNvPicPr>
            <a:picLocks noChangeAspect="1"/>
          </p:cNvPicPr>
          <p:nvPr userDrawn="1"/>
        </p:nvPicPr>
        <p:blipFill>
          <a:blip r:embed="rId3">
            <a:alphaModFix amt="50000"/>
          </a:blip>
          <a:stretch>
            <a:fillRect/>
          </a:stretch>
        </p:blipFill>
        <p:spPr>
          <a:xfrm>
            <a:off x="10886028" y="6598341"/>
            <a:ext cx="1264619" cy="240382"/>
          </a:xfrm>
          <a:prstGeom prst="rect">
            <a:avLst/>
          </a:prstGeom>
        </p:spPr>
      </p:pic>
    </p:spTree>
    <p:extLst>
      <p:ext uri="{BB962C8B-B14F-4D97-AF65-F5344CB8AC3E}">
        <p14:creationId xmlns:p14="http://schemas.microsoft.com/office/powerpoint/2010/main" val="1842597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A2EC4A4-C438-1440-90F8-B7184BF7E717}"/>
              </a:ext>
            </a:extLst>
          </p:cNvPr>
          <p:cNvSpPr>
            <a:spLocks noGrp="1"/>
          </p:cNvSpPr>
          <p:nvPr>
            <p:ph type="dt" sz="half" idx="10"/>
          </p:nvPr>
        </p:nvSpPr>
        <p:spPr/>
        <p:txBody>
          <a:bodyPr/>
          <a:lstStyle/>
          <a:p>
            <a:fld id="{EF3CDC91-E022-1D4D-9256-A5140D3F2EA2}" type="datetime1">
              <a:rPr lang="en-US" smtClean="0"/>
              <a:t>10/24/26</a:t>
            </a:fld>
            <a:endParaRPr lang="en-US"/>
          </a:p>
        </p:txBody>
      </p:sp>
      <p:sp>
        <p:nvSpPr>
          <p:cNvPr id="3" name="Footer Placeholder 2">
            <a:extLst>
              <a:ext uri="{FF2B5EF4-FFF2-40B4-BE49-F238E27FC236}">
                <a16:creationId xmlns:a16="http://schemas.microsoft.com/office/drawing/2014/main" id="{6DCE2C64-B28C-7345-B51A-24E96038970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ECAFA2F-918F-1F42-B0AE-E302BEBE934B}"/>
              </a:ext>
            </a:extLst>
          </p:cNvPr>
          <p:cNvSpPr>
            <a:spLocks noGrp="1"/>
          </p:cNvSpPr>
          <p:nvPr>
            <p:ph type="sldNum" sz="quarter" idx="12"/>
          </p:nvPr>
        </p:nvSpPr>
        <p:spPr/>
        <p:txBody>
          <a:bodyPr/>
          <a:lstStyle/>
          <a:p>
            <a:fld id="{591A223C-FA10-BC46-A853-03BA373D023C}" type="slidenum">
              <a:rPr lang="en-US" smtClean="0"/>
              <a:t>‹#›</a:t>
            </a:fld>
            <a:endParaRPr lang="en-US"/>
          </a:p>
        </p:txBody>
      </p:sp>
      <p:pic>
        <p:nvPicPr>
          <p:cNvPr id="5" name="Picture 4">
            <a:extLst>
              <a:ext uri="{FF2B5EF4-FFF2-40B4-BE49-F238E27FC236}">
                <a16:creationId xmlns:a16="http://schemas.microsoft.com/office/drawing/2014/main" id="{EDF37F3F-80A0-CD4F-9798-DE5C6BCBFD1F}"/>
              </a:ext>
            </a:extLst>
          </p:cNvPr>
          <p:cNvPicPr>
            <a:picLocks noChangeAspect="1"/>
          </p:cNvPicPr>
          <p:nvPr userDrawn="1"/>
        </p:nvPicPr>
        <p:blipFill>
          <a:blip r:embed="rId2">
            <a:alphaModFix amt="50000"/>
          </a:blip>
          <a:stretch>
            <a:fillRect/>
          </a:stretch>
        </p:blipFill>
        <p:spPr>
          <a:xfrm>
            <a:off x="10886028" y="6598341"/>
            <a:ext cx="1264619" cy="240382"/>
          </a:xfrm>
          <a:prstGeom prst="rect">
            <a:avLst/>
          </a:prstGeom>
        </p:spPr>
      </p:pic>
    </p:spTree>
    <p:extLst>
      <p:ext uri="{BB962C8B-B14F-4D97-AF65-F5344CB8AC3E}">
        <p14:creationId xmlns:p14="http://schemas.microsoft.com/office/powerpoint/2010/main" val="37436369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A440A5-589B-1341-A678-0A459F7E8CA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8CB40E1-21E4-9045-A9A4-3429D731629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4D75D2E-7C69-5C4D-9A6E-CC4654B472C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384A6CC8-26C5-7448-ADC5-2749D941F84E}"/>
              </a:ext>
            </a:extLst>
          </p:cNvPr>
          <p:cNvSpPr>
            <a:spLocks noGrp="1"/>
          </p:cNvSpPr>
          <p:nvPr>
            <p:ph type="dt" sz="half" idx="10"/>
          </p:nvPr>
        </p:nvSpPr>
        <p:spPr/>
        <p:txBody>
          <a:bodyPr/>
          <a:lstStyle/>
          <a:p>
            <a:fld id="{67A6211D-AE56-974B-984B-C110E12B29A2}" type="datetime1">
              <a:rPr lang="en-US" smtClean="0"/>
              <a:t>10/24/26</a:t>
            </a:fld>
            <a:endParaRPr lang="en-US"/>
          </a:p>
        </p:txBody>
      </p:sp>
      <p:sp>
        <p:nvSpPr>
          <p:cNvPr id="6" name="Footer Placeholder 5">
            <a:extLst>
              <a:ext uri="{FF2B5EF4-FFF2-40B4-BE49-F238E27FC236}">
                <a16:creationId xmlns:a16="http://schemas.microsoft.com/office/drawing/2014/main" id="{5AADDA07-5AA1-B34C-B309-62DD4C1D435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3378A32-B7C4-F842-87A7-D1CD1758A2A1}"/>
              </a:ext>
            </a:extLst>
          </p:cNvPr>
          <p:cNvSpPr>
            <a:spLocks noGrp="1"/>
          </p:cNvSpPr>
          <p:nvPr>
            <p:ph type="sldNum" sz="quarter" idx="12"/>
          </p:nvPr>
        </p:nvSpPr>
        <p:spPr/>
        <p:txBody>
          <a:bodyPr/>
          <a:lstStyle/>
          <a:p>
            <a:fld id="{591A223C-FA10-BC46-A853-03BA373D023C}" type="slidenum">
              <a:rPr lang="en-US" smtClean="0"/>
              <a:t>‹#›</a:t>
            </a:fld>
            <a:endParaRPr lang="en-US"/>
          </a:p>
        </p:txBody>
      </p:sp>
    </p:spTree>
    <p:extLst>
      <p:ext uri="{BB962C8B-B14F-4D97-AF65-F5344CB8AC3E}">
        <p14:creationId xmlns:p14="http://schemas.microsoft.com/office/powerpoint/2010/main" val="36445385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9F7726-1F76-544A-8680-3C1AB544BAC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98CB2FB-2F4A-A74A-A759-A58010D3DD2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0D38E96-E545-AC4A-8D98-95FD19B67A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E669DA82-266B-CC41-B1D2-F7AA15C5075D}"/>
              </a:ext>
            </a:extLst>
          </p:cNvPr>
          <p:cNvSpPr>
            <a:spLocks noGrp="1"/>
          </p:cNvSpPr>
          <p:nvPr>
            <p:ph type="dt" sz="half" idx="10"/>
          </p:nvPr>
        </p:nvSpPr>
        <p:spPr/>
        <p:txBody>
          <a:bodyPr/>
          <a:lstStyle/>
          <a:p>
            <a:fld id="{AE5A7FFF-10B1-4343-8D17-406DC86E5FAA}" type="datetime1">
              <a:rPr lang="en-US" smtClean="0"/>
              <a:t>10/24/26</a:t>
            </a:fld>
            <a:endParaRPr lang="en-US"/>
          </a:p>
        </p:txBody>
      </p:sp>
      <p:sp>
        <p:nvSpPr>
          <p:cNvPr id="6" name="Footer Placeholder 5">
            <a:extLst>
              <a:ext uri="{FF2B5EF4-FFF2-40B4-BE49-F238E27FC236}">
                <a16:creationId xmlns:a16="http://schemas.microsoft.com/office/drawing/2014/main" id="{4C5952A7-DE1B-CD46-B203-BA6A17F7F3A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46A02E3-794B-DA46-8CF3-5708E566E7BD}"/>
              </a:ext>
            </a:extLst>
          </p:cNvPr>
          <p:cNvSpPr>
            <a:spLocks noGrp="1"/>
          </p:cNvSpPr>
          <p:nvPr>
            <p:ph type="sldNum" sz="quarter" idx="12"/>
          </p:nvPr>
        </p:nvSpPr>
        <p:spPr/>
        <p:txBody>
          <a:bodyPr/>
          <a:lstStyle/>
          <a:p>
            <a:fld id="{591A223C-FA10-BC46-A853-03BA373D023C}" type="slidenum">
              <a:rPr lang="en-US" smtClean="0"/>
              <a:t>‹#›</a:t>
            </a:fld>
            <a:endParaRPr lang="en-US"/>
          </a:p>
        </p:txBody>
      </p:sp>
    </p:spTree>
    <p:extLst>
      <p:ext uri="{BB962C8B-B14F-4D97-AF65-F5344CB8AC3E}">
        <p14:creationId xmlns:p14="http://schemas.microsoft.com/office/powerpoint/2010/main" val="3129625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365BAA-57A4-C143-ABF5-35ABB2AF446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9E9F01E-C4CF-6A43-99EC-53F5681F6DA2}"/>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B413C5E-E003-A247-9E6F-436CAA7B14F4}"/>
              </a:ext>
            </a:extLst>
          </p:cNvPr>
          <p:cNvSpPr>
            <a:spLocks noGrp="1"/>
          </p:cNvSpPr>
          <p:nvPr>
            <p:ph type="dt" sz="half" idx="10"/>
          </p:nvPr>
        </p:nvSpPr>
        <p:spPr/>
        <p:txBody>
          <a:bodyPr/>
          <a:lstStyle/>
          <a:p>
            <a:fld id="{DF3C6696-8618-644E-B4E1-FA4689759F24}" type="datetime1">
              <a:rPr lang="en-US" smtClean="0"/>
              <a:t>10/24/26</a:t>
            </a:fld>
            <a:endParaRPr lang="en-US"/>
          </a:p>
        </p:txBody>
      </p:sp>
      <p:sp>
        <p:nvSpPr>
          <p:cNvPr id="5" name="Footer Placeholder 4">
            <a:extLst>
              <a:ext uri="{FF2B5EF4-FFF2-40B4-BE49-F238E27FC236}">
                <a16:creationId xmlns:a16="http://schemas.microsoft.com/office/drawing/2014/main" id="{27380A45-DDA9-4C4B-830C-9D0D289275F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F086D7-D0B1-6F43-A1F7-4D436CC2BE0D}"/>
              </a:ext>
            </a:extLst>
          </p:cNvPr>
          <p:cNvSpPr>
            <a:spLocks noGrp="1"/>
          </p:cNvSpPr>
          <p:nvPr>
            <p:ph type="sldNum" sz="quarter" idx="12"/>
          </p:nvPr>
        </p:nvSpPr>
        <p:spPr/>
        <p:txBody>
          <a:bodyPr/>
          <a:lstStyle/>
          <a:p>
            <a:fld id="{591A223C-FA10-BC46-A853-03BA373D023C}" type="slidenum">
              <a:rPr lang="en-US" smtClean="0"/>
              <a:t>‹#›</a:t>
            </a:fld>
            <a:endParaRPr lang="en-US"/>
          </a:p>
        </p:txBody>
      </p:sp>
    </p:spTree>
    <p:extLst>
      <p:ext uri="{BB962C8B-B14F-4D97-AF65-F5344CB8AC3E}">
        <p14:creationId xmlns:p14="http://schemas.microsoft.com/office/powerpoint/2010/main" val="2720653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FAA87F1-769D-CC47-ABF4-393B691AD5B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A46D245-448B-7B4E-9643-1A0962794CCE}"/>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38926CF-5171-4D44-9CE6-7B7960534FE4}"/>
              </a:ext>
            </a:extLst>
          </p:cNvPr>
          <p:cNvSpPr>
            <a:spLocks noGrp="1"/>
          </p:cNvSpPr>
          <p:nvPr>
            <p:ph type="dt" sz="half" idx="10"/>
          </p:nvPr>
        </p:nvSpPr>
        <p:spPr/>
        <p:txBody>
          <a:bodyPr/>
          <a:lstStyle/>
          <a:p>
            <a:fld id="{D4DB5934-BE72-FB4C-902A-D10164A603D2}" type="datetime1">
              <a:rPr lang="en-US" smtClean="0"/>
              <a:t>10/24/26</a:t>
            </a:fld>
            <a:endParaRPr lang="en-US"/>
          </a:p>
        </p:txBody>
      </p:sp>
      <p:sp>
        <p:nvSpPr>
          <p:cNvPr id="5" name="Footer Placeholder 4">
            <a:extLst>
              <a:ext uri="{FF2B5EF4-FFF2-40B4-BE49-F238E27FC236}">
                <a16:creationId xmlns:a16="http://schemas.microsoft.com/office/drawing/2014/main" id="{79ED5D8F-44E4-964B-BE01-CF913802E63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7266BE-E226-064D-8963-7A1D7859CC52}"/>
              </a:ext>
            </a:extLst>
          </p:cNvPr>
          <p:cNvSpPr>
            <a:spLocks noGrp="1"/>
          </p:cNvSpPr>
          <p:nvPr>
            <p:ph type="sldNum" sz="quarter" idx="12"/>
          </p:nvPr>
        </p:nvSpPr>
        <p:spPr/>
        <p:txBody>
          <a:bodyPr/>
          <a:lstStyle/>
          <a:p>
            <a:fld id="{591A223C-FA10-BC46-A853-03BA373D023C}" type="slidenum">
              <a:rPr lang="en-US" smtClean="0"/>
              <a:t>‹#›</a:t>
            </a:fld>
            <a:endParaRPr lang="en-US"/>
          </a:p>
        </p:txBody>
      </p:sp>
    </p:spTree>
    <p:extLst>
      <p:ext uri="{BB962C8B-B14F-4D97-AF65-F5344CB8AC3E}">
        <p14:creationId xmlns:p14="http://schemas.microsoft.com/office/powerpoint/2010/main" val="27234925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MathBox">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E8ED0569-BC0E-AC4B-9956-A0130DBE7C14}"/>
              </a:ext>
            </a:extLst>
          </p:cNvPr>
          <p:cNvSpPr>
            <a:spLocks noGrp="1"/>
          </p:cNvSpPr>
          <p:nvPr>
            <p:ph type="title"/>
          </p:nvPr>
        </p:nvSpPr>
        <p:spPr>
          <a:xfrm>
            <a:off x="0" y="0"/>
            <a:ext cx="11103429" cy="928688"/>
          </a:xfrm>
          <a:gradFill flip="none" rotWithShape="1">
            <a:gsLst>
              <a:gs pos="8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path path="circle">
              <a:fillToRect l="100000" t="100000"/>
            </a:path>
            <a:tileRect r="-100000" b="-100000"/>
          </a:gradFill>
          <a:ln>
            <a:noFill/>
          </a:ln>
        </p:spPr>
        <p:txBody>
          <a:bodyPr>
            <a:normAutofit/>
          </a:bodyPr>
          <a:lstStyle>
            <a:lvl1pPr>
              <a:defRPr sz="3400" baseline="0">
                <a:latin typeface="+mj-lt"/>
                <a:cs typeface="Arial" panose="020B0604020202020204" pitchFamily="34" charset="0"/>
              </a:defRPr>
            </a:lvl1pPr>
          </a:lstStyle>
          <a:p>
            <a:r>
              <a:rPr lang="en-US" dirty="0"/>
              <a:t>Click to edit Master title style</a:t>
            </a:r>
          </a:p>
        </p:txBody>
      </p:sp>
      <p:sp>
        <p:nvSpPr>
          <p:cNvPr id="5" name="Slide Number Placeholder 4">
            <a:extLst>
              <a:ext uri="{FF2B5EF4-FFF2-40B4-BE49-F238E27FC236}">
                <a16:creationId xmlns:a16="http://schemas.microsoft.com/office/drawing/2014/main" id="{91093C0F-96B2-6F4C-8B66-4B0CDB2D2C9A}"/>
              </a:ext>
            </a:extLst>
          </p:cNvPr>
          <p:cNvSpPr>
            <a:spLocks noGrp="1"/>
          </p:cNvSpPr>
          <p:nvPr>
            <p:ph type="sldNum" sz="quarter" idx="12"/>
          </p:nvPr>
        </p:nvSpPr>
        <p:spPr>
          <a:xfrm>
            <a:off x="9448800" y="6492875"/>
            <a:ext cx="2743200" cy="365125"/>
          </a:xfrm>
        </p:spPr>
        <p:txBody>
          <a:bodyPr/>
          <a:lstStyle/>
          <a:p>
            <a:fld id="{591A223C-FA10-BC46-A853-03BA373D023C}" type="slidenum">
              <a:rPr lang="en-US" smtClean="0"/>
              <a:t>‹#›</a:t>
            </a:fld>
            <a:endParaRPr lang="en-US"/>
          </a:p>
        </p:txBody>
      </p:sp>
      <p:pic>
        <p:nvPicPr>
          <p:cNvPr id="8" name="Picture 7">
            <a:extLst>
              <a:ext uri="{FF2B5EF4-FFF2-40B4-BE49-F238E27FC236}">
                <a16:creationId xmlns:a16="http://schemas.microsoft.com/office/drawing/2014/main" id="{B8F61E55-DA3C-CB48-9696-F88E7D4421DD}"/>
              </a:ext>
            </a:extLst>
          </p:cNvPr>
          <p:cNvPicPr>
            <a:picLocks noChangeAspect="1"/>
          </p:cNvPicPr>
          <p:nvPr userDrawn="1"/>
        </p:nvPicPr>
        <p:blipFill>
          <a:blip r:embed="rId2"/>
          <a:stretch>
            <a:fillRect/>
          </a:stretch>
        </p:blipFill>
        <p:spPr>
          <a:xfrm>
            <a:off x="121919" y="675316"/>
            <a:ext cx="5083823" cy="182718"/>
          </a:xfrm>
          <a:prstGeom prst="rect">
            <a:avLst/>
          </a:prstGeom>
        </p:spPr>
      </p:pic>
      <p:sp>
        <p:nvSpPr>
          <p:cNvPr id="2" name="Rounded Rectangle 1">
            <a:extLst>
              <a:ext uri="{FF2B5EF4-FFF2-40B4-BE49-F238E27FC236}">
                <a16:creationId xmlns:a16="http://schemas.microsoft.com/office/drawing/2014/main" id="{87EDEA9E-CC9F-D844-A9C8-5F5279A644DD}"/>
              </a:ext>
            </a:extLst>
          </p:cNvPr>
          <p:cNvSpPr/>
          <p:nvPr userDrawn="1"/>
        </p:nvSpPr>
        <p:spPr>
          <a:xfrm>
            <a:off x="0" y="928688"/>
            <a:ext cx="12192000" cy="5929312"/>
          </a:xfrm>
          <a:prstGeom prst="roundRect">
            <a:avLst>
              <a:gd name="adj" fmla="val 3550"/>
            </a:avLst>
          </a:prstGeom>
          <a:noFill/>
          <a:ln w="50800">
            <a:solidFill>
              <a:schemeClr val="accent5">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250B9F3F-AB52-DA4F-B1B7-9B0467277E6D}"/>
              </a:ext>
            </a:extLst>
          </p:cNvPr>
          <p:cNvPicPr>
            <a:picLocks noChangeAspect="1"/>
          </p:cNvPicPr>
          <p:nvPr userDrawn="1"/>
        </p:nvPicPr>
        <p:blipFill>
          <a:blip r:embed="rId3"/>
          <a:stretch>
            <a:fillRect/>
          </a:stretch>
        </p:blipFill>
        <p:spPr>
          <a:xfrm>
            <a:off x="11222468" y="111279"/>
            <a:ext cx="675746" cy="675746"/>
          </a:xfrm>
          <a:prstGeom prst="rect">
            <a:avLst/>
          </a:prstGeom>
        </p:spPr>
      </p:pic>
    </p:spTree>
    <p:extLst>
      <p:ext uri="{BB962C8B-B14F-4D97-AF65-F5344CB8AC3E}">
        <p14:creationId xmlns:p14="http://schemas.microsoft.com/office/powerpoint/2010/main" val="5805801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QMBox">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E8ED0569-BC0E-AC4B-9956-A0130DBE7C14}"/>
              </a:ext>
            </a:extLst>
          </p:cNvPr>
          <p:cNvSpPr>
            <a:spLocks noGrp="1"/>
          </p:cNvSpPr>
          <p:nvPr>
            <p:ph type="title"/>
          </p:nvPr>
        </p:nvSpPr>
        <p:spPr>
          <a:xfrm>
            <a:off x="0" y="0"/>
            <a:ext cx="12192000" cy="928688"/>
          </a:xfrm>
          <a:gradFill flip="none" rotWithShape="1">
            <a:gsLst>
              <a:gs pos="0">
                <a:schemeClr val="accent6">
                  <a:lumMod val="5000"/>
                  <a:lumOff val="95000"/>
                  <a:alpha val="0"/>
                </a:schemeClr>
              </a:gs>
              <a:gs pos="74000">
                <a:schemeClr val="accent6">
                  <a:lumMod val="45000"/>
                  <a:lumOff val="55000"/>
                </a:schemeClr>
              </a:gs>
              <a:gs pos="83000">
                <a:schemeClr val="accent6">
                  <a:lumMod val="45000"/>
                  <a:lumOff val="55000"/>
                </a:schemeClr>
              </a:gs>
              <a:gs pos="100000">
                <a:schemeClr val="accent6">
                  <a:lumMod val="30000"/>
                  <a:lumOff val="70000"/>
                </a:schemeClr>
              </a:gs>
            </a:gsLst>
            <a:lin ang="10800000" scaled="1"/>
            <a:tileRect/>
          </a:gradFill>
          <a:ln>
            <a:noFill/>
          </a:ln>
        </p:spPr>
        <p:txBody>
          <a:bodyPr>
            <a:normAutofit/>
          </a:bodyPr>
          <a:lstStyle>
            <a:lvl1pPr>
              <a:defRPr sz="3400" baseline="0">
                <a:latin typeface="+mj-lt"/>
                <a:cs typeface="Arial" panose="020B0604020202020204" pitchFamily="34" charset="0"/>
              </a:defRPr>
            </a:lvl1pPr>
          </a:lstStyle>
          <a:p>
            <a:r>
              <a:rPr lang="en-US" dirty="0"/>
              <a:t>Click to edit Master title style</a:t>
            </a:r>
          </a:p>
        </p:txBody>
      </p:sp>
      <p:sp>
        <p:nvSpPr>
          <p:cNvPr id="5" name="Slide Number Placeholder 4">
            <a:extLst>
              <a:ext uri="{FF2B5EF4-FFF2-40B4-BE49-F238E27FC236}">
                <a16:creationId xmlns:a16="http://schemas.microsoft.com/office/drawing/2014/main" id="{91093C0F-96B2-6F4C-8B66-4B0CDB2D2C9A}"/>
              </a:ext>
            </a:extLst>
          </p:cNvPr>
          <p:cNvSpPr>
            <a:spLocks noGrp="1"/>
          </p:cNvSpPr>
          <p:nvPr>
            <p:ph type="sldNum" sz="quarter" idx="12"/>
          </p:nvPr>
        </p:nvSpPr>
        <p:spPr>
          <a:xfrm>
            <a:off x="9448800" y="6492875"/>
            <a:ext cx="2743200" cy="365125"/>
          </a:xfrm>
        </p:spPr>
        <p:txBody>
          <a:bodyPr/>
          <a:lstStyle/>
          <a:p>
            <a:fld id="{591A223C-FA10-BC46-A853-03BA373D023C}" type="slidenum">
              <a:rPr lang="en-US" smtClean="0"/>
              <a:t>‹#›</a:t>
            </a:fld>
            <a:endParaRPr lang="en-US"/>
          </a:p>
        </p:txBody>
      </p:sp>
      <p:pic>
        <p:nvPicPr>
          <p:cNvPr id="8" name="Picture 7">
            <a:extLst>
              <a:ext uri="{FF2B5EF4-FFF2-40B4-BE49-F238E27FC236}">
                <a16:creationId xmlns:a16="http://schemas.microsoft.com/office/drawing/2014/main" id="{B8F61E55-DA3C-CB48-9696-F88E7D4421DD}"/>
              </a:ext>
            </a:extLst>
          </p:cNvPr>
          <p:cNvPicPr>
            <a:picLocks noChangeAspect="1"/>
          </p:cNvPicPr>
          <p:nvPr userDrawn="1"/>
        </p:nvPicPr>
        <p:blipFill>
          <a:blip r:embed="rId2"/>
          <a:stretch>
            <a:fillRect/>
          </a:stretch>
        </p:blipFill>
        <p:spPr>
          <a:xfrm>
            <a:off x="121919" y="675316"/>
            <a:ext cx="5083823" cy="182718"/>
          </a:xfrm>
          <a:prstGeom prst="rect">
            <a:avLst/>
          </a:prstGeom>
        </p:spPr>
      </p:pic>
      <p:sp>
        <p:nvSpPr>
          <p:cNvPr id="2" name="Rounded Rectangle 1">
            <a:extLst>
              <a:ext uri="{FF2B5EF4-FFF2-40B4-BE49-F238E27FC236}">
                <a16:creationId xmlns:a16="http://schemas.microsoft.com/office/drawing/2014/main" id="{87EDEA9E-CC9F-D844-A9C8-5F5279A644DD}"/>
              </a:ext>
            </a:extLst>
          </p:cNvPr>
          <p:cNvSpPr/>
          <p:nvPr userDrawn="1"/>
        </p:nvSpPr>
        <p:spPr>
          <a:xfrm>
            <a:off x="0" y="928688"/>
            <a:ext cx="12192000" cy="5929312"/>
          </a:xfrm>
          <a:prstGeom prst="roundRect">
            <a:avLst>
              <a:gd name="adj" fmla="val 3550"/>
            </a:avLst>
          </a:prstGeom>
          <a:noFill/>
          <a:ln w="5080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518B1DED-A97D-9F49-ADD7-83A254340500}"/>
              </a:ext>
            </a:extLst>
          </p:cNvPr>
          <p:cNvPicPr>
            <a:picLocks noChangeAspect="1"/>
          </p:cNvPicPr>
          <p:nvPr userDrawn="1"/>
        </p:nvPicPr>
        <p:blipFill>
          <a:blip r:embed="rId3"/>
          <a:stretch>
            <a:fillRect/>
          </a:stretch>
        </p:blipFill>
        <p:spPr>
          <a:xfrm>
            <a:off x="11222826" y="47388"/>
            <a:ext cx="709176" cy="792000"/>
          </a:xfrm>
          <a:prstGeom prst="rect">
            <a:avLst/>
          </a:prstGeom>
        </p:spPr>
      </p:pic>
    </p:spTree>
    <p:extLst>
      <p:ext uri="{BB962C8B-B14F-4D97-AF65-F5344CB8AC3E}">
        <p14:creationId xmlns:p14="http://schemas.microsoft.com/office/powerpoint/2010/main" val="38745084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1A8E703-F9A8-0441-A9C1-970176EA14A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9D3E870-AE9A-814D-8F1C-424E01F68B6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5CDA625-67E6-FC41-AE05-BDF6D62186D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095C081-EA16-A444-838F-7A9CF60C5F71}" type="datetime1">
              <a:rPr lang="en-US" smtClean="0"/>
              <a:t>10/24/26</a:t>
            </a:fld>
            <a:endParaRPr lang="en-US"/>
          </a:p>
        </p:txBody>
      </p:sp>
      <p:sp>
        <p:nvSpPr>
          <p:cNvPr id="5" name="Footer Placeholder 4">
            <a:extLst>
              <a:ext uri="{FF2B5EF4-FFF2-40B4-BE49-F238E27FC236}">
                <a16:creationId xmlns:a16="http://schemas.microsoft.com/office/drawing/2014/main" id="{C2CC2541-8D10-844A-AACF-A9080B4FC74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7ED89E2-F822-BE4F-A114-8B2AC36CD95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91A223C-FA10-BC46-A853-03BA373D023C}" type="slidenum">
              <a:rPr lang="en-US" smtClean="0"/>
              <a:t>‹#›</a:t>
            </a:fld>
            <a:endParaRPr lang="en-US"/>
          </a:p>
        </p:txBody>
      </p:sp>
    </p:spTree>
    <p:extLst>
      <p:ext uri="{BB962C8B-B14F-4D97-AF65-F5344CB8AC3E}">
        <p14:creationId xmlns:p14="http://schemas.microsoft.com/office/powerpoint/2010/main" val="41115875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 id="2147483662" r:id="rId13"/>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3" Type="http://schemas.openxmlformats.org/officeDocument/2006/relationships/image" Target="../media/image7.png"/><Relationship Id="rId3" Type="http://schemas.openxmlformats.org/officeDocument/2006/relationships/diagramData" Target="../diagrams/data1.xml"/><Relationship Id="rId7" Type="http://schemas.microsoft.com/office/2007/relationships/diagramDrawing" Target="../diagrams/drawing1.xml"/><Relationship Id="rId12"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diagramColors" Target="../diagrams/colors1.xml"/><Relationship Id="rId11" Type="http://schemas.openxmlformats.org/officeDocument/2006/relationships/image" Target="../media/image480.png"/><Relationship Id="rId5" Type="http://schemas.openxmlformats.org/officeDocument/2006/relationships/diagramQuickStyle" Target="../diagrams/quickStyle1.xml"/><Relationship Id="rId10" Type="http://schemas.openxmlformats.org/officeDocument/2006/relationships/image" Target="../media/image470.png"/><Relationship Id="rId4" Type="http://schemas.openxmlformats.org/officeDocument/2006/relationships/diagramLayout" Target="../diagrams/layout1.xml"/><Relationship Id="rId9" Type="http://schemas.openxmlformats.org/officeDocument/2006/relationships/image" Target="../media/image460.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2.xml"/><Relationship Id="rId5" Type="http://schemas.openxmlformats.org/officeDocument/2006/relationships/image" Target="../media/image107.png"/></Relationships>
</file>

<file path=ppt/slides/_rels/slide4.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8" Type="http://schemas.openxmlformats.org/officeDocument/2006/relationships/diagramData" Target="../diagrams/data3.xml"/><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diagramColors" Target="../diagrams/colors2.xml"/><Relationship Id="rId11" Type="http://schemas.openxmlformats.org/officeDocument/2006/relationships/diagramColors" Target="../diagrams/colors2.xml"/><Relationship Id="rId5" Type="http://schemas.openxmlformats.org/officeDocument/2006/relationships/diagramQuickStyle" Target="../diagrams/quickStyle2.xml"/><Relationship Id="rId10" Type="http://schemas.openxmlformats.org/officeDocument/2006/relationships/diagramQuickStyle" Target="../diagrams/quickStyle2.xml"/><Relationship Id="rId4" Type="http://schemas.openxmlformats.org/officeDocument/2006/relationships/diagramLayout" Target="../diagrams/layout2.xml"/><Relationship Id="rId9" Type="http://schemas.openxmlformats.org/officeDocument/2006/relationships/diagramLayout" Target="../diagrams/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9.png"/><Relationship Id="rId7"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6.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 Id="rId9"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13.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9.xml"/><Relationship Id="rId1" Type="http://schemas.openxmlformats.org/officeDocument/2006/relationships/slideLayout" Target="../slideLayouts/slideLayout6.xml"/><Relationship Id="rId6" Type="http://schemas.openxmlformats.org/officeDocument/2006/relationships/image" Target="../media/image25.png"/><Relationship Id="rId5" Type="http://schemas.openxmlformats.org/officeDocument/2006/relationships/image" Target="../media/image24.png"/><Relationship Id="rId10" Type="http://schemas.openxmlformats.org/officeDocument/2006/relationships/image" Target="../media/image210.png"/><Relationship Id="rId4" Type="http://schemas.openxmlformats.org/officeDocument/2006/relationships/image" Target="../media/image23.png"/><Relationship Id="rId9" Type="http://schemas.openxmlformats.org/officeDocument/2006/relationships/image" Target="../media/image28.png"/></Relationships>
</file>

<file path=ppt/slides/_rels/slide1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0.xml"/><Relationship Id="rId1" Type="http://schemas.openxmlformats.org/officeDocument/2006/relationships/slideLayout" Target="../slideLayouts/slideLayout6.xml"/><Relationship Id="rId5" Type="http://schemas.openxmlformats.org/officeDocument/2006/relationships/image" Target="../media/image31.png"/><Relationship Id="rId4" Type="http://schemas.openxmlformats.org/officeDocument/2006/relationships/image" Target="../media/image30.png"/></Relationships>
</file>

<file path=ppt/slides/_rels/slide1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33.tiff"/></Relationships>
</file>

<file path=ppt/slides/_rels/slide12.xml.rels><?xml version="1.0" encoding="UTF-8" standalone="yes"?>
<Relationships xmlns="http://schemas.openxmlformats.org/package/2006/relationships"><Relationship Id="rId3" Type="http://schemas.openxmlformats.org/officeDocument/2006/relationships/image" Target="../media/image240.png"/><Relationship Id="rId2" Type="http://schemas.openxmlformats.org/officeDocument/2006/relationships/notesSlide" Target="../notesSlides/notesSlide12.xml"/><Relationship Id="rId1" Type="http://schemas.openxmlformats.org/officeDocument/2006/relationships/slideLayout" Target="../slideLayouts/slideLayout6.xml"/><Relationship Id="rId4" Type="http://schemas.openxmlformats.org/officeDocument/2006/relationships/image" Target="../media/image280.png"/></Relationships>
</file>

<file path=ppt/slides/_rels/slide13.xml.rels><?xml version="1.0" encoding="UTF-8" standalone="yes"?>
<Relationships xmlns="http://schemas.openxmlformats.org/package/2006/relationships"><Relationship Id="rId3" Type="http://schemas.openxmlformats.org/officeDocument/2006/relationships/image" Target="../media/image220.png"/><Relationship Id="rId2" Type="http://schemas.openxmlformats.org/officeDocument/2006/relationships/notesSlide" Target="../notesSlides/notesSlide13.xml"/><Relationship Id="rId1" Type="http://schemas.openxmlformats.org/officeDocument/2006/relationships/slideLayout" Target="../slideLayouts/slideLayout6.xml"/><Relationship Id="rId6" Type="http://schemas.openxmlformats.org/officeDocument/2006/relationships/image" Target="../media/image301.png"/><Relationship Id="rId5" Type="http://schemas.openxmlformats.org/officeDocument/2006/relationships/image" Target="../media/image291.png"/><Relationship Id="rId4" Type="http://schemas.openxmlformats.org/officeDocument/2006/relationships/image" Target="../media/image230.png"/></Relationships>
</file>

<file path=ppt/slides/_rels/slide14.xml.rels><?xml version="1.0" encoding="UTF-8" standalone="yes"?>
<Relationships xmlns="http://schemas.openxmlformats.org/package/2006/relationships"><Relationship Id="rId3" Type="http://schemas.openxmlformats.org/officeDocument/2006/relationships/image" Target="../media/image440.png"/><Relationship Id="rId2" Type="http://schemas.openxmlformats.org/officeDocument/2006/relationships/notesSlide" Target="../notesSlides/notesSlide14.xml"/><Relationship Id="rId1" Type="http://schemas.openxmlformats.org/officeDocument/2006/relationships/slideLayout" Target="../slideLayouts/slideLayout6.xml"/><Relationship Id="rId5" Type="http://schemas.openxmlformats.org/officeDocument/2006/relationships/image" Target="../media/image41.png"/><Relationship Id="rId4" Type="http://schemas.openxmlformats.org/officeDocument/2006/relationships/image" Target="../media/image400.png"/></Relationships>
</file>

<file path=ppt/slides/_rels/slide15.xml.rels><?xml version="1.0" encoding="UTF-8" standalone="yes"?>
<Relationships xmlns="http://schemas.openxmlformats.org/package/2006/relationships"><Relationship Id="rId8" Type="http://schemas.openxmlformats.org/officeDocument/2006/relationships/image" Target="../media/image851.png"/><Relationship Id="rId3" Type="http://schemas.openxmlformats.org/officeDocument/2006/relationships/image" Target="../media/image34.gif"/><Relationship Id="rId7" Type="http://schemas.openxmlformats.org/officeDocument/2006/relationships/image" Target="../media/image36.gif"/><Relationship Id="rId2" Type="http://schemas.openxmlformats.org/officeDocument/2006/relationships/notesSlide" Target="../notesSlides/notesSlide15.xml"/><Relationship Id="rId1" Type="http://schemas.openxmlformats.org/officeDocument/2006/relationships/slideLayout" Target="../slideLayouts/slideLayout6.xml"/><Relationship Id="rId6" Type="http://schemas.openxmlformats.org/officeDocument/2006/relationships/image" Target="../media/image830.png"/><Relationship Id="rId5" Type="http://schemas.openxmlformats.org/officeDocument/2006/relationships/image" Target="../media/image35.gif"/><Relationship Id="rId4" Type="http://schemas.openxmlformats.org/officeDocument/2006/relationships/image" Target="../media/image800.png"/><Relationship Id="rId9" Type="http://schemas.openxmlformats.org/officeDocument/2006/relationships/image" Target="../media/image37.png"/></Relationships>
</file>

<file path=ppt/slides/_rels/slide16.xml.rels><?xml version="1.0" encoding="UTF-8" standalone="yes"?>
<Relationships xmlns="http://schemas.openxmlformats.org/package/2006/relationships"><Relationship Id="rId3" Type="http://schemas.openxmlformats.org/officeDocument/2006/relationships/image" Target="../media/image38.emf"/><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550.png"/><Relationship Id="rId5" Type="http://schemas.openxmlformats.org/officeDocument/2006/relationships/image" Target="../media/image34.png"/><Relationship Id="rId4" Type="http://schemas.openxmlformats.org/officeDocument/2006/relationships/image" Target="../media/image33.png"/></Relationships>
</file>

<file path=ppt/slides/_rels/slide17.xml.rels><?xml version="1.0" encoding="UTF-8" standalone="yes"?>
<Relationships xmlns="http://schemas.openxmlformats.org/package/2006/relationships"><Relationship Id="rId3" Type="http://schemas.openxmlformats.org/officeDocument/2006/relationships/image" Target="../media/image39.emf"/><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58.png"/><Relationship Id="rId5" Type="http://schemas.openxmlformats.org/officeDocument/2006/relationships/image" Target="../media/image36.png"/><Relationship Id="rId4" Type="http://schemas.openxmlformats.org/officeDocument/2006/relationships/image" Target="../media/image49.png"/></Relationships>
</file>

<file path=ppt/slides/_rels/slide18.xml.rels><?xml version="1.0" encoding="UTF-8" standalone="yes"?>
<Relationships xmlns="http://schemas.openxmlformats.org/package/2006/relationships"><Relationship Id="rId3" Type="http://schemas.openxmlformats.org/officeDocument/2006/relationships/image" Target="../media/image40.emf"/><Relationship Id="rId2" Type="http://schemas.openxmlformats.org/officeDocument/2006/relationships/notesSlide" Target="../notesSlides/notesSlide18.xml"/><Relationship Id="rId1" Type="http://schemas.openxmlformats.org/officeDocument/2006/relationships/slideLayout" Target="../slideLayouts/slideLayout6.xml"/><Relationship Id="rId6" Type="http://schemas.openxmlformats.org/officeDocument/2006/relationships/image" Target="../media/image61.png"/><Relationship Id="rId5" Type="http://schemas.openxmlformats.org/officeDocument/2006/relationships/image" Target="../media/image38.png"/><Relationship Id="rId4" Type="http://schemas.openxmlformats.org/officeDocument/2006/relationships/image" Target="../media/image33.png"/></Relationships>
</file>

<file path=ppt/slides/_rels/slide19.xml.rels><?xml version="1.0" encoding="UTF-8" standalone="yes"?>
<Relationships xmlns="http://schemas.openxmlformats.org/package/2006/relationships"><Relationship Id="rId8" Type="http://schemas.openxmlformats.org/officeDocument/2006/relationships/image" Target="../media/image601.png"/><Relationship Id="rId3" Type="http://schemas.openxmlformats.org/officeDocument/2006/relationships/image" Target="../media/image521.png"/><Relationship Id="rId7" Type="http://schemas.openxmlformats.org/officeDocument/2006/relationships/image" Target="../media/image590.png"/><Relationship Id="rId2" Type="http://schemas.openxmlformats.org/officeDocument/2006/relationships/notesSlide" Target="../notesSlides/notesSlide19.xml"/><Relationship Id="rId1" Type="http://schemas.openxmlformats.org/officeDocument/2006/relationships/slideLayout" Target="../slideLayouts/slideLayout6.xml"/><Relationship Id="rId6" Type="http://schemas.openxmlformats.org/officeDocument/2006/relationships/image" Target="../media/image570.png"/><Relationship Id="rId5" Type="http://schemas.openxmlformats.org/officeDocument/2006/relationships/image" Target="../media/image560.png"/><Relationship Id="rId10" Type="http://schemas.openxmlformats.org/officeDocument/2006/relationships/image" Target="../media/image510.png"/><Relationship Id="rId4" Type="http://schemas.openxmlformats.org/officeDocument/2006/relationships/image" Target="../media/image532.png"/><Relationship Id="rId9" Type="http://schemas.openxmlformats.org/officeDocument/2006/relationships/image" Target="../media/image500.png"/></Relationships>
</file>

<file path=ppt/slides/_rels/slide20.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41.tiff"/><Relationship Id="rId7" Type="http://schemas.openxmlformats.org/officeDocument/2006/relationships/image" Target="../media/image531.png"/><Relationship Id="rId2" Type="http://schemas.openxmlformats.org/officeDocument/2006/relationships/notesSlide" Target="../notesSlides/notesSlide20.xml"/><Relationship Id="rId1" Type="http://schemas.openxmlformats.org/officeDocument/2006/relationships/slideLayout" Target="../slideLayouts/slideLayout6.xml"/><Relationship Id="rId6" Type="http://schemas.openxmlformats.org/officeDocument/2006/relationships/image" Target="../media/image40.png"/><Relationship Id="rId5" Type="http://schemas.openxmlformats.org/officeDocument/2006/relationships/image" Target="../media/image622.png"/><Relationship Id="rId10" Type="http://schemas.openxmlformats.org/officeDocument/2006/relationships/image" Target="../media/image380.png"/><Relationship Id="rId4" Type="http://schemas.openxmlformats.org/officeDocument/2006/relationships/image" Target="../media/image43.png"/><Relationship Id="rId9" Type="http://schemas.openxmlformats.org/officeDocument/2006/relationships/image" Target="../media/image46.png"/></Relationships>
</file>

<file path=ppt/slides/_rels/slide21.xml.rels><?xml version="1.0" encoding="UTF-8" standalone="yes"?>
<Relationships xmlns="http://schemas.openxmlformats.org/package/2006/relationships"><Relationship Id="rId3" Type="http://schemas.openxmlformats.org/officeDocument/2006/relationships/image" Target="../media/image42.tiff"/><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8" Type="http://schemas.openxmlformats.org/officeDocument/2006/relationships/image" Target="../media/image390.png"/><Relationship Id="rId3" Type="http://schemas.openxmlformats.org/officeDocument/2006/relationships/image" Target="../media/image44.png"/><Relationship Id="rId7" Type="http://schemas.openxmlformats.org/officeDocument/2006/relationships/image" Target="../media/image360.png"/><Relationship Id="rId2" Type="http://schemas.openxmlformats.org/officeDocument/2006/relationships/notesSlide" Target="../notesSlides/notesSlide22.xml"/><Relationship Id="rId1" Type="http://schemas.openxmlformats.org/officeDocument/2006/relationships/slideLayout" Target="../slideLayouts/slideLayout6.xml"/><Relationship Id="rId6" Type="http://schemas.openxmlformats.org/officeDocument/2006/relationships/image" Target="../media/image350.png"/><Relationship Id="rId11" Type="http://schemas.openxmlformats.org/officeDocument/2006/relationships/image" Target="../media/image51.png"/><Relationship Id="rId5" Type="http://schemas.openxmlformats.org/officeDocument/2006/relationships/image" Target="../media/image48.png"/><Relationship Id="rId10" Type="http://schemas.openxmlformats.org/officeDocument/2006/relationships/image" Target="../media/image482.png"/><Relationship Id="rId4" Type="http://schemas.openxmlformats.org/officeDocument/2006/relationships/image" Target="../media/image47.png"/><Relationship Id="rId9" Type="http://schemas.openxmlformats.org/officeDocument/2006/relationships/image" Target="../media/image472.png"/></Relationships>
</file>

<file path=ppt/slides/_rels/slide23.xml.rels><?xml version="1.0" encoding="UTF-8" standalone="yes"?>
<Relationships xmlns="http://schemas.openxmlformats.org/package/2006/relationships"><Relationship Id="rId8" Type="http://schemas.openxmlformats.org/officeDocument/2006/relationships/image" Target="../media/image52.png"/><Relationship Id="rId13" Type="http://schemas.openxmlformats.org/officeDocument/2006/relationships/image" Target="../media/image971.png"/><Relationship Id="rId7" Type="http://schemas.openxmlformats.org/officeDocument/2006/relationships/image" Target="../media/image3200.png"/><Relationship Id="rId12" Type="http://schemas.openxmlformats.org/officeDocument/2006/relationships/image" Target="../media/image70.png"/><Relationship Id="rId2" Type="http://schemas.openxmlformats.org/officeDocument/2006/relationships/notesSlide" Target="../notesSlides/notesSlide23.xml"/><Relationship Id="rId1" Type="http://schemas.openxmlformats.org/officeDocument/2006/relationships/slideLayout" Target="../slideLayouts/slideLayout6.xml"/><Relationship Id="rId6" Type="http://schemas.openxmlformats.org/officeDocument/2006/relationships/image" Target="../media/image302.png"/><Relationship Id="rId5" Type="http://schemas.openxmlformats.org/officeDocument/2006/relationships/image" Target="../media/image300.png"/><Relationship Id="rId15" Type="http://schemas.openxmlformats.org/officeDocument/2006/relationships/image" Target="../media/image56.png"/><Relationship Id="rId10" Type="http://schemas.openxmlformats.org/officeDocument/2006/relationships/image" Target="../media/image55.png"/><Relationship Id="rId4" Type="http://schemas.openxmlformats.org/officeDocument/2006/relationships/image" Target="../media/image290.png"/><Relationship Id="rId9" Type="http://schemas.openxmlformats.org/officeDocument/2006/relationships/image" Target="../media/image53.png"/><Relationship Id="rId14" Type="http://schemas.openxmlformats.org/officeDocument/2006/relationships/image" Target="../media/image9800.png"/></Relationships>
</file>

<file path=ppt/slides/_rels/slide24.xml.rels><?xml version="1.0" encoding="UTF-8" standalone="yes"?>
<Relationships xmlns="http://schemas.openxmlformats.org/package/2006/relationships"><Relationship Id="rId8" Type="http://schemas.openxmlformats.org/officeDocument/2006/relationships/image" Target="../media/image610.png"/><Relationship Id="rId3" Type="http://schemas.openxmlformats.org/officeDocument/2006/relationships/image" Target="../media/image561.png"/><Relationship Id="rId7" Type="http://schemas.openxmlformats.org/officeDocument/2006/relationships/image" Target="../media/image600.pn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49.emf"/><Relationship Id="rId2" Type="http://schemas.openxmlformats.org/officeDocument/2006/relationships/notesSlide" Target="../notesSlides/notesSlide25.xml"/><Relationship Id="rId1" Type="http://schemas.openxmlformats.org/officeDocument/2006/relationships/slideLayout" Target="../slideLayouts/slideLayout6.xml"/><Relationship Id="rId6" Type="http://schemas.openxmlformats.org/officeDocument/2006/relationships/image" Target="../media/image631.png"/><Relationship Id="rId5" Type="http://schemas.openxmlformats.org/officeDocument/2006/relationships/image" Target="../media/image420.png"/><Relationship Id="rId4" Type="http://schemas.openxmlformats.org/officeDocument/2006/relationships/image" Target="../media/image621.png"/></Relationships>
</file>

<file path=ppt/slides/_rels/slide26.xml.rels><?xml version="1.0" encoding="UTF-8" standalone="yes"?>
<Relationships xmlns="http://schemas.openxmlformats.org/package/2006/relationships"><Relationship Id="rId8" Type="http://schemas.openxmlformats.org/officeDocument/2006/relationships/image" Target="../media/image471.png"/><Relationship Id="rId3" Type="http://schemas.openxmlformats.org/officeDocument/2006/relationships/image" Target="../media/image103.png"/><Relationship Id="rId7" Type="http://schemas.openxmlformats.org/officeDocument/2006/relationships/image" Target="../media/image441.png"/><Relationship Id="rId2" Type="http://schemas.openxmlformats.org/officeDocument/2006/relationships/notesSlide" Target="../notesSlides/notesSlide26.xml"/><Relationship Id="rId1" Type="http://schemas.openxmlformats.org/officeDocument/2006/relationships/slideLayout" Target="../slideLayouts/slideLayout6.xml"/><Relationship Id="rId6" Type="http://schemas.openxmlformats.org/officeDocument/2006/relationships/image" Target="../media/image106.png"/><Relationship Id="rId5" Type="http://schemas.openxmlformats.org/officeDocument/2006/relationships/image" Target="../media/image105.png"/><Relationship Id="rId10" Type="http://schemas.openxmlformats.org/officeDocument/2006/relationships/image" Target="../media/image481.png"/><Relationship Id="rId4" Type="http://schemas.openxmlformats.org/officeDocument/2006/relationships/image" Target="../media/image104.png"/><Relationship Id="rId9" Type="http://schemas.openxmlformats.org/officeDocument/2006/relationships/image" Target="../media/image108.png"/></Relationships>
</file>

<file path=ppt/slides/_rels/slide27.xml.rels><?xml version="1.0" encoding="UTF-8" standalone="yes"?>
<Relationships xmlns="http://schemas.openxmlformats.org/package/2006/relationships"><Relationship Id="rId8" Type="http://schemas.openxmlformats.org/officeDocument/2006/relationships/image" Target="../media/image122.png"/><Relationship Id="rId13" Type="http://schemas.openxmlformats.org/officeDocument/2006/relationships/image" Target="../media/image127.png"/><Relationship Id="rId3" Type="http://schemas.openxmlformats.org/officeDocument/2006/relationships/image" Target="../media/image1121.png"/><Relationship Id="rId7" Type="http://schemas.openxmlformats.org/officeDocument/2006/relationships/image" Target="../media/image121.png"/><Relationship Id="rId12" Type="http://schemas.openxmlformats.org/officeDocument/2006/relationships/image" Target="../media/image126.png"/><Relationship Id="rId2" Type="http://schemas.openxmlformats.org/officeDocument/2006/relationships/notesSlide" Target="../notesSlides/notesSlide27.xml"/><Relationship Id="rId1" Type="http://schemas.openxmlformats.org/officeDocument/2006/relationships/slideLayout" Target="../slideLayouts/slideLayout6.xml"/><Relationship Id="rId6" Type="http://schemas.openxmlformats.org/officeDocument/2006/relationships/image" Target="../media/image120.png"/><Relationship Id="rId11" Type="http://schemas.openxmlformats.org/officeDocument/2006/relationships/image" Target="../media/image125.png"/><Relationship Id="rId5" Type="http://schemas.openxmlformats.org/officeDocument/2006/relationships/image" Target="../media/image1141.png"/><Relationship Id="rId15" Type="http://schemas.openxmlformats.org/officeDocument/2006/relationships/image" Target="../media/image129.png"/><Relationship Id="rId10" Type="http://schemas.openxmlformats.org/officeDocument/2006/relationships/image" Target="../media/image124.png"/><Relationship Id="rId4" Type="http://schemas.openxmlformats.org/officeDocument/2006/relationships/image" Target="../media/image711.png"/><Relationship Id="rId9" Type="http://schemas.openxmlformats.org/officeDocument/2006/relationships/image" Target="../media/image123.png"/><Relationship Id="rId14" Type="http://schemas.openxmlformats.org/officeDocument/2006/relationships/image" Target="../media/image128.png"/></Relationships>
</file>

<file path=ppt/slides/_rels/slide28.xml.rels><?xml version="1.0" encoding="UTF-8" standalone="yes"?>
<Relationships xmlns="http://schemas.openxmlformats.org/package/2006/relationships"><Relationship Id="rId3" Type="http://schemas.openxmlformats.org/officeDocument/2006/relationships/image" Target="../media/image710.png"/><Relationship Id="rId2" Type="http://schemas.openxmlformats.org/officeDocument/2006/relationships/notesSlide" Target="../notesSlides/notesSlide28.xml"/><Relationship Id="rId1" Type="http://schemas.openxmlformats.org/officeDocument/2006/relationships/slideLayout" Target="../slideLayouts/slideLayout6.xml"/><Relationship Id="rId4" Type="http://schemas.openxmlformats.org/officeDocument/2006/relationships/image" Target="../media/image111.png"/></Relationships>
</file>

<file path=ppt/slides/_rels/slide29.xml.rels><?xml version="1.0" encoding="UTF-8" standalone="yes"?>
<Relationships xmlns="http://schemas.openxmlformats.org/package/2006/relationships"><Relationship Id="rId8" Type="http://schemas.openxmlformats.org/officeDocument/2006/relationships/image" Target="../media/image920.png"/><Relationship Id="rId13" Type="http://schemas.openxmlformats.org/officeDocument/2006/relationships/image" Target="../media/image970.png"/><Relationship Id="rId3" Type="http://schemas.openxmlformats.org/officeDocument/2006/relationships/image" Target="../media/image511.png"/><Relationship Id="rId7" Type="http://schemas.openxmlformats.org/officeDocument/2006/relationships/image" Target="../media/image522.png"/><Relationship Id="rId2" Type="http://schemas.openxmlformats.org/officeDocument/2006/relationships/notesSlide" Target="../notesSlides/notesSlide29.xml"/><Relationship Id="rId1" Type="http://schemas.openxmlformats.org/officeDocument/2006/relationships/slideLayout" Target="../slideLayouts/slideLayout6.xml"/><Relationship Id="rId6" Type="http://schemas.openxmlformats.org/officeDocument/2006/relationships/image" Target="../media/image901.png"/><Relationship Id="rId11" Type="http://schemas.openxmlformats.org/officeDocument/2006/relationships/image" Target="../media/image551.png"/><Relationship Id="rId5" Type="http://schemas.openxmlformats.org/officeDocument/2006/relationships/image" Target="../media/image890.png"/><Relationship Id="rId10" Type="http://schemas.openxmlformats.org/officeDocument/2006/relationships/image" Target="../media/image533.png"/><Relationship Id="rId9" Type="http://schemas.openxmlformats.org/officeDocument/2006/relationships/image" Target="../media/image930.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50.emf"/><Relationship Id="rId2" Type="http://schemas.openxmlformats.org/officeDocument/2006/relationships/notesSlide" Target="../notesSlides/notesSlide31.xml"/><Relationship Id="rId1" Type="http://schemas.openxmlformats.org/officeDocument/2006/relationships/slideLayout" Target="../slideLayouts/slideLayout6.xml"/><Relationship Id="rId4" Type="http://schemas.openxmlformats.org/officeDocument/2006/relationships/image" Target="../media/image54.png"/></Relationships>
</file>

<file path=ppt/slides/_rels/slide32.xml.rels><?xml version="1.0" encoding="UTF-8" standalone="yes"?>
<Relationships xmlns="http://schemas.openxmlformats.org/package/2006/relationships"><Relationship Id="rId3" Type="http://schemas.openxmlformats.org/officeDocument/2006/relationships/image" Target="../media/image55.tiff"/><Relationship Id="rId2" Type="http://schemas.openxmlformats.org/officeDocument/2006/relationships/notesSlide" Target="../notesSlides/notesSlide32.xml"/><Relationship Id="rId1" Type="http://schemas.openxmlformats.org/officeDocument/2006/relationships/slideLayout" Target="../slideLayouts/slideLayout7.xml"/><Relationship Id="rId5" Type="http://schemas.openxmlformats.org/officeDocument/2006/relationships/image" Target="../media/image59.png"/><Relationship Id="rId4" Type="http://schemas.openxmlformats.org/officeDocument/2006/relationships/image" Target="../media/image57.png"/></Relationships>
</file>

<file path=ppt/slides/_rels/slide33.xml.rels><?xml version="1.0" encoding="UTF-8" standalone="yes"?>
<Relationships xmlns="http://schemas.openxmlformats.org/package/2006/relationships"><Relationship Id="rId3" Type="http://schemas.openxmlformats.org/officeDocument/2006/relationships/image" Target="../media/image620.png"/><Relationship Id="rId2" Type="http://schemas.openxmlformats.org/officeDocument/2006/relationships/notesSlide" Target="../notesSlides/notesSlide33.xml"/><Relationship Id="rId1" Type="http://schemas.openxmlformats.org/officeDocument/2006/relationships/slideLayout" Target="../slideLayouts/slideLayout6.xml"/><Relationship Id="rId4" Type="http://schemas.openxmlformats.org/officeDocument/2006/relationships/image" Target="../media/image630.png"/></Relationships>
</file>

<file path=ppt/slides/_rels/slide34.xml.rels><?xml version="1.0" encoding="UTF-8" standalone="yes"?>
<Relationships xmlns="http://schemas.openxmlformats.org/package/2006/relationships"><Relationship Id="rId8" Type="http://schemas.openxmlformats.org/officeDocument/2006/relationships/image" Target="../media/image64.png"/><Relationship Id="rId3" Type="http://schemas.openxmlformats.org/officeDocument/2006/relationships/image" Target="NULL"/><Relationship Id="rId7" Type="http://schemas.openxmlformats.org/officeDocument/2006/relationships/image" Target="NULL"/><Relationship Id="rId2" Type="http://schemas.openxmlformats.org/officeDocument/2006/relationships/notesSlide" Target="../notesSlides/notesSlide34.xml"/><Relationship Id="rId1" Type="http://schemas.openxmlformats.org/officeDocument/2006/relationships/slideLayout" Target="../slideLayouts/slideLayout6.xml"/><Relationship Id="rId6" Type="http://schemas.openxmlformats.org/officeDocument/2006/relationships/image" Target="NULL"/><Relationship Id="rId11" Type="http://schemas.openxmlformats.org/officeDocument/2006/relationships/image" Target="../media/image591.png"/><Relationship Id="rId5" Type="http://schemas.openxmlformats.org/officeDocument/2006/relationships/image" Target="NULL"/><Relationship Id="rId10" Type="http://schemas.openxmlformats.org/officeDocument/2006/relationships/image" Target="NULL"/><Relationship Id="rId9" Type="http://schemas.openxmlformats.org/officeDocument/2006/relationships/image" Target="NULL"/></Relationships>
</file>

<file path=ppt/slides/_rels/slide35.xml.rels><?xml version="1.0" encoding="UTF-8" standalone="yes"?>
<Relationships xmlns="http://schemas.openxmlformats.org/package/2006/relationships"><Relationship Id="rId8" Type="http://schemas.openxmlformats.org/officeDocument/2006/relationships/image" Target="NULL"/><Relationship Id="rId3" Type="http://schemas.openxmlformats.org/officeDocument/2006/relationships/image" Target="../media/image66.png"/><Relationship Id="rId7" Type="http://schemas.openxmlformats.org/officeDocument/2006/relationships/image" Target="NULL"/><Relationship Id="rId2" Type="http://schemas.openxmlformats.org/officeDocument/2006/relationships/notesSlide" Target="../notesSlides/notesSlide35.xml"/><Relationship Id="rId1" Type="http://schemas.openxmlformats.org/officeDocument/2006/relationships/slideLayout" Target="../slideLayouts/slideLayout6.xml"/><Relationship Id="rId6" Type="http://schemas.openxmlformats.org/officeDocument/2006/relationships/image" Target="NULL"/><Relationship Id="rId11" Type="http://schemas.openxmlformats.org/officeDocument/2006/relationships/image" Target="NULL"/><Relationship Id="rId5" Type="http://schemas.openxmlformats.org/officeDocument/2006/relationships/image" Target="NULL"/><Relationship Id="rId10" Type="http://schemas.openxmlformats.org/officeDocument/2006/relationships/image" Target="NULL"/><Relationship Id="rId4" Type="http://schemas.openxmlformats.org/officeDocument/2006/relationships/image" Target="NULL"/><Relationship Id="rId9" Type="http://schemas.openxmlformats.org/officeDocument/2006/relationships/image" Target="NULL"/></Relationships>
</file>

<file path=ppt/slides/_rels/slide36.xml.rels><?xml version="1.0" encoding="UTF-8" standalone="yes"?>
<Relationships xmlns="http://schemas.openxmlformats.org/package/2006/relationships"><Relationship Id="rId8" Type="http://schemas.openxmlformats.org/officeDocument/2006/relationships/image" Target="NULL"/><Relationship Id="rId13" Type="http://schemas.openxmlformats.org/officeDocument/2006/relationships/image" Target="NULL"/><Relationship Id="rId3" Type="http://schemas.openxmlformats.org/officeDocument/2006/relationships/image" Target="NULL"/><Relationship Id="rId7" Type="http://schemas.openxmlformats.org/officeDocument/2006/relationships/image" Target="NULL"/><Relationship Id="rId12" Type="http://schemas.openxmlformats.org/officeDocument/2006/relationships/image" Target="NULL"/><Relationship Id="rId2" Type="http://schemas.openxmlformats.org/officeDocument/2006/relationships/notesSlide" Target="../notesSlides/notesSlide36.xml"/><Relationship Id="rId1" Type="http://schemas.openxmlformats.org/officeDocument/2006/relationships/slideLayout" Target="../slideLayouts/slideLayout6.xml"/><Relationship Id="rId6" Type="http://schemas.openxmlformats.org/officeDocument/2006/relationships/image" Target="NULL"/><Relationship Id="rId11" Type="http://schemas.openxmlformats.org/officeDocument/2006/relationships/image" Target="NULL"/><Relationship Id="rId5" Type="http://schemas.openxmlformats.org/officeDocument/2006/relationships/image" Target="NULL"/><Relationship Id="rId10" Type="http://schemas.openxmlformats.org/officeDocument/2006/relationships/image" Target="NULL"/><Relationship Id="rId4" Type="http://schemas.openxmlformats.org/officeDocument/2006/relationships/image" Target="NULL"/><Relationship Id="rId9" Type="http://schemas.openxmlformats.org/officeDocument/2006/relationships/image" Target="NULL"/><Relationship Id="rId14" Type="http://schemas.openxmlformats.org/officeDocument/2006/relationships/image" Target="NULL"/></Relationships>
</file>

<file path=ppt/slides/_rels/slide37.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37.xml"/><Relationship Id="rId1" Type="http://schemas.openxmlformats.org/officeDocument/2006/relationships/slideLayout" Target="../slideLayouts/slideLayout6.xml"/><Relationship Id="rId6" Type="http://schemas.openxmlformats.org/officeDocument/2006/relationships/image" Target="../media/image520.png"/><Relationship Id="rId5" Type="http://schemas.openxmlformats.org/officeDocument/2006/relationships/image" Target="NULL"/><Relationship Id="rId4" Type="http://schemas.openxmlformats.org/officeDocument/2006/relationships/image" Target="NULL"/></Relationships>
</file>

<file path=ppt/slides/_rels/slide38.xml.rels><?xml version="1.0" encoding="UTF-8" standalone="yes"?>
<Relationships xmlns="http://schemas.openxmlformats.org/package/2006/relationships"><Relationship Id="rId8" Type="http://schemas.openxmlformats.org/officeDocument/2006/relationships/image" Target="NULL"/><Relationship Id="rId3" Type="http://schemas.openxmlformats.org/officeDocument/2006/relationships/image" Target="NULL"/><Relationship Id="rId7" Type="http://schemas.openxmlformats.org/officeDocument/2006/relationships/image" Target="NULL"/><Relationship Id="rId2" Type="http://schemas.openxmlformats.org/officeDocument/2006/relationships/notesSlide" Target="../notesSlides/notesSlide38.xml"/><Relationship Id="rId1" Type="http://schemas.openxmlformats.org/officeDocument/2006/relationships/slideLayout" Target="../slideLayouts/slideLayout6.xml"/><Relationship Id="rId6" Type="http://schemas.openxmlformats.org/officeDocument/2006/relationships/image" Target="NULL"/><Relationship Id="rId5" Type="http://schemas.openxmlformats.org/officeDocument/2006/relationships/image" Target="NULL"/><Relationship Id="rId4" Type="http://schemas.openxmlformats.org/officeDocument/2006/relationships/image" Target="NULL"/></Relationships>
</file>

<file path=ppt/slides/_rels/slide39.xml.rels><?xml version="1.0" encoding="UTF-8" standalone="yes"?>
<Relationships xmlns="http://schemas.openxmlformats.org/package/2006/relationships"><Relationship Id="rId8" Type="http://schemas.openxmlformats.org/officeDocument/2006/relationships/image" Target="NULL"/><Relationship Id="rId7" Type="http://schemas.openxmlformats.org/officeDocument/2006/relationships/image" Target="NULL"/><Relationship Id="rId2" Type="http://schemas.openxmlformats.org/officeDocument/2006/relationships/notesSlide" Target="../notesSlides/notesSlide39.xml"/><Relationship Id="rId1" Type="http://schemas.openxmlformats.org/officeDocument/2006/relationships/slideLayout" Target="../slideLayouts/slideLayout6.xml"/><Relationship Id="rId6" Type="http://schemas.openxmlformats.org/officeDocument/2006/relationships/image" Target="NULL"/><Relationship Id="rId11" Type="http://schemas.openxmlformats.org/officeDocument/2006/relationships/image" Target="NULL"/><Relationship Id="rId10" Type="http://schemas.openxmlformats.org/officeDocument/2006/relationships/image" Target="NULL"/><Relationship Id="rId9" Type="http://schemas.openxmlformats.org/officeDocument/2006/relationships/image" Target="NULL"/></Relationships>
</file>

<file path=ppt/slides/_rels/slide40.xml.rels><?xml version="1.0" encoding="UTF-8" standalone="yes"?>
<Relationships xmlns="http://schemas.openxmlformats.org/package/2006/relationships"><Relationship Id="rId18" Type="http://schemas.openxmlformats.org/officeDocument/2006/relationships/image" Target="NULL"/><Relationship Id="rId3" Type="http://schemas.openxmlformats.org/officeDocument/2006/relationships/image" Target="NULL"/><Relationship Id="rId17" Type="http://schemas.openxmlformats.org/officeDocument/2006/relationships/image" Target="NULL"/><Relationship Id="rId2" Type="http://schemas.openxmlformats.org/officeDocument/2006/relationships/notesSlide" Target="../notesSlides/notesSlide40.xml"/><Relationship Id="rId16" Type="http://schemas.openxmlformats.org/officeDocument/2006/relationships/image" Target="NULL"/><Relationship Id="rId1" Type="http://schemas.openxmlformats.org/officeDocument/2006/relationships/slideLayout" Target="../slideLayouts/slideLayout6.xml"/><Relationship Id="rId5" Type="http://schemas.openxmlformats.org/officeDocument/2006/relationships/image" Target="../media/image660.png"/><Relationship Id="rId19" Type="http://schemas.openxmlformats.org/officeDocument/2006/relationships/image" Target="NULL"/><Relationship Id="rId4" Type="http://schemas.openxmlformats.org/officeDocument/2006/relationships/image" Target="NULL"/></Relationships>
</file>

<file path=ppt/slides/_rels/slide41.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41.xml"/><Relationship Id="rId1" Type="http://schemas.openxmlformats.org/officeDocument/2006/relationships/slideLayout" Target="../slideLayouts/slideLayout6.xml"/><Relationship Id="rId10" Type="http://schemas.openxmlformats.org/officeDocument/2006/relationships/image" Target="NULL"/><Relationship Id="rId4" Type="http://schemas.openxmlformats.org/officeDocument/2006/relationships/image" Target="NULL"/><Relationship Id="rId9" Type="http://schemas.openxmlformats.org/officeDocument/2006/relationships/image" Target="NULL"/></Relationships>
</file>

<file path=ppt/slides/_rels/slide42.xml.rels><?xml version="1.0" encoding="UTF-8" standalone="yes"?>
<Relationships xmlns="http://schemas.openxmlformats.org/package/2006/relationships"><Relationship Id="rId3" Type="http://schemas.openxmlformats.org/officeDocument/2006/relationships/image" Target="../media/image55.tiff"/><Relationship Id="rId2" Type="http://schemas.openxmlformats.org/officeDocument/2006/relationships/notesSlide" Target="../notesSlides/notesSlide42.xml"/><Relationship Id="rId1" Type="http://schemas.openxmlformats.org/officeDocument/2006/relationships/slideLayout" Target="../slideLayouts/slideLayout7.xml"/><Relationship Id="rId5" Type="http://schemas.openxmlformats.org/officeDocument/2006/relationships/image" Target="../media/image59.png"/><Relationship Id="rId4" Type="http://schemas.openxmlformats.org/officeDocument/2006/relationships/image" Target="../media/image57.png"/></Relationships>
</file>

<file path=ppt/slides/_rels/slide43.xml.rels><?xml version="1.0" encoding="UTF-8" standalone="yes"?>
<Relationships xmlns="http://schemas.openxmlformats.org/package/2006/relationships"><Relationship Id="rId8" Type="http://schemas.openxmlformats.org/officeDocument/2006/relationships/image" Target="NULL"/><Relationship Id="rId3" Type="http://schemas.openxmlformats.org/officeDocument/2006/relationships/image" Target="../media/image69.png"/><Relationship Id="rId7" Type="http://schemas.openxmlformats.org/officeDocument/2006/relationships/image" Target="../media/image74.png"/><Relationship Id="rId2" Type="http://schemas.openxmlformats.org/officeDocument/2006/relationships/notesSlide" Target="../notesSlides/notesSlide43.xml"/><Relationship Id="rId1" Type="http://schemas.openxmlformats.org/officeDocument/2006/relationships/slideLayout" Target="../slideLayouts/slideLayout6.xml"/><Relationship Id="rId6" Type="http://schemas.openxmlformats.org/officeDocument/2006/relationships/image" Target="../media/image73.png"/><Relationship Id="rId5" Type="http://schemas.openxmlformats.org/officeDocument/2006/relationships/image" Target="../media/image72.png"/><Relationship Id="rId4" Type="http://schemas.openxmlformats.org/officeDocument/2006/relationships/image" Target="../media/image71.png"/><Relationship Id="rId9" Type="http://schemas.openxmlformats.org/officeDocument/2006/relationships/image" Target="../media/image75.png"/></Relationships>
</file>

<file path=ppt/slides/_rels/slide44.xml.rels><?xml version="1.0" encoding="UTF-8" standalone="yes"?>
<Relationships xmlns="http://schemas.openxmlformats.org/package/2006/relationships"><Relationship Id="rId3" Type="http://schemas.openxmlformats.org/officeDocument/2006/relationships/image" Target="../media/image67.png"/><Relationship Id="rId7" Type="http://schemas.openxmlformats.org/officeDocument/2006/relationships/image" Target="NULL"/><Relationship Id="rId2" Type="http://schemas.openxmlformats.org/officeDocument/2006/relationships/notesSlide" Target="../notesSlides/notesSlide44.xml"/><Relationship Id="rId1" Type="http://schemas.openxmlformats.org/officeDocument/2006/relationships/slideLayout" Target="../slideLayouts/slideLayout6.xml"/><Relationship Id="rId6" Type="http://schemas.openxmlformats.org/officeDocument/2006/relationships/image" Target="../media/image68.png"/><Relationship Id="rId5" Type="http://schemas.openxmlformats.org/officeDocument/2006/relationships/image" Target="NUL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6.xml"/><Relationship Id="rId1" Type="http://schemas.openxmlformats.org/officeDocument/2006/relationships/slideLayout" Target="../slideLayouts/slideLayout7.xml"/><Relationship Id="rId5" Type="http://schemas.openxmlformats.org/officeDocument/2006/relationships/image" Target="../media/image61.tiff"/><Relationship Id="rId4" Type="http://schemas.openxmlformats.org/officeDocument/2006/relationships/image" Target="../media/image6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3F3F0A81-45B2-0A49-8C9A-C595BBE261B2}"/>
              </a:ext>
            </a:extLst>
          </p:cNvPr>
          <p:cNvPicPr>
            <a:picLocks noChangeAspect="1"/>
          </p:cNvPicPr>
          <p:nvPr/>
        </p:nvPicPr>
        <p:blipFill>
          <a:blip r:embed="rId3"/>
          <a:stretch>
            <a:fillRect/>
          </a:stretch>
        </p:blipFill>
        <p:spPr>
          <a:xfrm>
            <a:off x="0" y="0"/>
            <a:ext cx="12191999" cy="6835381"/>
          </a:xfrm>
          <a:prstGeom prst="rect">
            <a:avLst/>
          </a:prstGeom>
        </p:spPr>
      </p:pic>
      <p:sp>
        <p:nvSpPr>
          <p:cNvPr id="3" name="Slide Number Placeholder 2">
            <a:extLst>
              <a:ext uri="{FF2B5EF4-FFF2-40B4-BE49-F238E27FC236}">
                <a16:creationId xmlns:a16="http://schemas.microsoft.com/office/drawing/2014/main" id="{60C4B02F-0FE1-7640-89D9-897868D9C7FC}"/>
              </a:ext>
            </a:extLst>
          </p:cNvPr>
          <p:cNvSpPr>
            <a:spLocks noGrp="1"/>
          </p:cNvSpPr>
          <p:nvPr>
            <p:ph type="sldNum" sz="quarter" idx="12"/>
          </p:nvPr>
        </p:nvSpPr>
        <p:spPr/>
        <p:txBody>
          <a:bodyPr/>
          <a:lstStyle/>
          <a:p>
            <a:fld id="{591A223C-FA10-BC46-A853-03BA373D023C}" type="slidenum">
              <a:rPr lang="en-US" smtClean="0"/>
              <a:t>1</a:t>
            </a:fld>
            <a:endParaRPr lang="en-US"/>
          </a:p>
        </p:txBody>
      </p:sp>
      <p:sp>
        <p:nvSpPr>
          <p:cNvPr id="4" name="TextBox 3">
            <a:extLst>
              <a:ext uri="{FF2B5EF4-FFF2-40B4-BE49-F238E27FC236}">
                <a16:creationId xmlns:a16="http://schemas.microsoft.com/office/drawing/2014/main" id="{472519DD-9FFE-0047-9453-5A2889BD2B59}"/>
              </a:ext>
            </a:extLst>
          </p:cNvPr>
          <p:cNvSpPr txBox="1"/>
          <p:nvPr/>
        </p:nvSpPr>
        <p:spPr>
          <a:xfrm>
            <a:off x="0" y="678897"/>
            <a:ext cx="12191999" cy="1323439"/>
          </a:xfrm>
          <a:prstGeom prst="rect">
            <a:avLst/>
          </a:prstGeom>
          <a:noFill/>
        </p:spPr>
        <p:txBody>
          <a:bodyPr wrap="square" rtlCol="0">
            <a:spAutoFit/>
          </a:bodyPr>
          <a:lstStyle/>
          <a:p>
            <a:pPr algn="ctr"/>
            <a:r>
              <a:rPr lang="en-US" sz="8000" b="1" dirty="0">
                <a:solidFill>
                  <a:schemeClr val="bg1"/>
                </a:solidFill>
              </a:rPr>
              <a:t>Quantum Computing</a:t>
            </a:r>
          </a:p>
        </p:txBody>
      </p:sp>
      <p:sp>
        <p:nvSpPr>
          <p:cNvPr id="7" name="TextBox 6">
            <a:extLst>
              <a:ext uri="{FF2B5EF4-FFF2-40B4-BE49-F238E27FC236}">
                <a16:creationId xmlns:a16="http://schemas.microsoft.com/office/drawing/2014/main" id="{A0F6B325-DEAC-4545-AAF3-69D416F3EC54}"/>
              </a:ext>
            </a:extLst>
          </p:cNvPr>
          <p:cNvSpPr txBox="1"/>
          <p:nvPr/>
        </p:nvSpPr>
        <p:spPr>
          <a:xfrm>
            <a:off x="0" y="2749694"/>
            <a:ext cx="12192000" cy="1015663"/>
          </a:xfrm>
          <a:prstGeom prst="rect">
            <a:avLst/>
          </a:prstGeom>
          <a:noFill/>
        </p:spPr>
        <p:txBody>
          <a:bodyPr wrap="square" rtlCol="0">
            <a:spAutoFit/>
          </a:bodyPr>
          <a:lstStyle/>
          <a:p>
            <a:pPr algn="ctr"/>
            <a:r>
              <a:rPr lang="en-US" sz="6000" b="1" dirty="0">
                <a:solidFill>
                  <a:schemeClr val="bg1"/>
                </a:solidFill>
              </a:rPr>
              <a:t>4. </a:t>
            </a:r>
            <a:r>
              <a:rPr lang="en-US" sz="6000" b="1">
                <a:solidFill>
                  <a:schemeClr val="bg1"/>
                </a:solidFill>
              </a:rPr>
              <a:t>Quantum gates</a:t>
            </a:r>
            <a:endParaRPr lang="en-US" sz="6000" b="1" dirty="0">
              <a:solidFill>
                <a:schemeClr val="bg1"/>
              </a:solidFill>
            </a:endParaRPr>
          </a:p>
        </p:txBody>
      </p:sp>
      <p:sp>
        <p:nvSpPr>
          <p:cNvPr id="8" name="TextBox 7">
            <a:extLst>
              <a:ext uri="{FF2B5EF4-FFF2-40B4-BE49-F238E27FC236}">
                <a16:creationId xmlns:a16="http://schemas.microsoft.com/office/drawing/2014/main" id="{B14D4F28-916F-0140-93B2-852234F5AAF2}"/>
              </a:ext>
            </a:extLst>
          </p:cNvPr>
          <p:cNvSpPr txBox="1"/>
          <p:nvPr/>
        </p:nvSpPr>
        <p:spPr>
          <a:xfrm>
            <a:off x="8050517" y="5528379"/>
            <a:ext cx="3863365" cy="830997"/>
          </a:xfrm>
          <a:prstGeom prst="rect">
            <a:avLst/>
          </a:prstGeom>
          <a:noFill/>
        </p:spPr>
        <p:txBody>
          <a:bodyPr wrap="none" rtlCol="0">
            <a:spAutoFit/>
          </a:bodyPr>
          <a:lstStyle/>
          <a:p>
            <a:r>
              <a:rPr lang="en-US" sz="2400" dirty="0">
                <a:solidFill>
                  <a:schemeClr val="bg1"/>
                </a:solidFill>
              </a:rPr>
              <a:t>Prof. Aleksandar Radovanovic</a:t>
            </a:r>
          </a:p>
          <a:p>
            <a:pPr algn="ctr"/>
            <a:r>
              <a:rPr lang="en-US" sz="2400" dirty="0" err="1">
                <a:solidFill>
                  <a:schemeClr val="bg1"/>
                </a:solidFill>
              </a:rPr>
              <a:t>alex@qcict.org</a:t>
            </a:r>
            <a:endParaRPr lang="en-US" sz="2400" dirty="0">
              <a:solidFill>
                <a:schemeClr val="bg1"/>
              </a:solidFill>
            </a:endParaRPr>
          </a:p>
        </p:txBody>
      </p:sp>
      <p:sp>
        <p:nvSpPr>
          <p:cNvPr id="9" name="TextBox 8">
            <a:extLst>
              <a:ext uri="{FF2B5EF4-FFF2-40B4-BE49-F238E27FC236}">
                <a16:creationId xmlns:a16="http://schemas.microsoft.com/office/drawing/2014/main" id="{DCEB67DF-00AD-444A-90E9-536E556E27EE}"/>
              </a:ext>
            </a:extLst>
          </p:cNvPr>
          <p:cNvSpPr txBox="1"/>
          <p:nvPr/>
        </p:nvSpPr>
        <p:spPr>
          <a:xfrm>
            <a:off x="278749" y="5528379"/>
            <a:ext cx="3828484" cy="830997"/>
          </a:xfrm>
          <a:prstGeom prst="rect">
            <a:avLst/>
          </a:prstGeom>
          <a:noFill/>
        </p:spPr>
        <p:txBody>
          <a:bodyPr wrap="none" rtlCol="0">
            <a:spAutoFit/>
          </a:bodyPr>
          <a:lstStyle/>
          <a:p>
            <a:r>
              <a:rPr lang="en-US" sz="2400" dirty="0">
                <a:solidFill>
                  <a:schemeClr val="bg1"/>
                </a:solidFill>
              </a:rPr>
              <a:t>Quantum Computing </a:t>
            </a:r>
            <a:r>
              <a:rPr lang="en-US" sz="2400" dirty="0" err="1">
                <a:solidFill>
                  <a:schemeClr val="bg1"/>
                </a:solidFill>
              </a:rPr>
              <a:t>Insitute</a:t>
            </a:r>
            <a:endParaRPr lang="en-US" sz="2400" dirty="0">
              <a:solidFill>
                <a:schemeClr val="bg1"/>
              </a:solidFill>
            </a:endParaRPr>
          </a:p>
          <a:p>
            <a:r>
              <a:rPr lang="en-US" sz="2400" dirty="0">
                <a:solidFill>
                  <a:schemeClr val="bg1"/>
                </a:solidFill>
              </a:rPr>
              <a:t>https://</a:t>
            </a:r>
            <a:r>
              <a:rPr lang="en-US" sz="2400" dirty="0" err="1">
                <a:solidFill>
                  <a:schemeClr val="bg1"/>
                </a:solidFill>
              </a:rPr>
              <a:t>qcict.org</a:t>
            </a:r>
            <a:endParaRPr lang="en-US" sz="2400" dirty="0">
              <a:solidFill>
                <a:schemeClr val="bg1"/>
              </a:solidFill>
            </a:endParaRPr>
          </a:p>
        </p:txBody>
      </p:sp>
    </p:spTree>
    <p:extLst>
      <p:ext uri="{BB962C8B-B14F-4D97-AF65-F5344CB8AC3E}">
        <p14:creationId xmlns:p14="http://schemas.microsoft.com/office/powerpoint/2010/main" val="34607905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7399D833-5D8C-474B-BF8C-B775B13FD27B}"/>
              </a:ext>
            </a:extLst>
          </p:cNvPr>
          <p:cNvSpPr/>
          <p:nvPr/>
        </p:nvSpPr>
        <p:spPr>
          <a:xfrm>
            <a:off x="7051485" y="3333658"/>
            <a:ext cx="1185694" cy="864872"/>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02D0739-EDD1-1549-8DFA-CB4F40D297A1}"/>
              </a:ext>
            </a:extLst>
          </p:cNvPr>
          <p:cNvSpPr>
            <a:spLocks noGrp="1"/>
          </p:cNvSpPr>
          <p:nvPr>
            <p:ph type="title"/>
          </p:nvPr>
        </p:nvSpPr>
        <p:spPr>
          <a:xfrm>
            <a:off x="0" y="0"/>
            <a:ext cx="12192000" cy="928688"/>
          </a:xfrm>
        </p:spPr>
        <p:txBody>
          <a:bodyPr/>
          <a:lstStyle/>
          <a:p>
            <a:r>
              <a:rPr lang="en-ZA" dirty="0"/>
              <a:t>Model of quantum computation</a:t>
            </a:r>
            <a:endParaRPr lang="en-US" dirty="0"/>
          </a:p>
        </p:txBody>
      </p:sp>
      <p:graphicFrame>
        <p:nvGraphicFramePr>
          <p:cNvPr id="13" name="Diagram 12">
            <a:extLst>
              <a:ext uri="{FF2B5EF4-FFF2-40B4-BE49-F238E27FC236}">
                <a16:creationId xmlns:a16="http://schemas.microsoft.com/office/drawing/2014/main" id="{10EB9623-501D-7A45-8A8E-6BA01D731007}"/>
              </a:ext>
            </a:extLst>
          </p:cNvPr>
          <p:cNvGraphicFramePr/>
          <p:nvPr>
            <p:extLst/>
          </p:nvPr>
        </p:nvGraphicFramePr>
        <p:xfrm>
          <a:off x="334148" y="1141204"/>
          <a:ext cx="6229350" cy="530066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F06C10DC-9ED4-A04B-8EE7-254939B7DE04}"/>
                  </a:ext>
                </a:extLst>
              </p:cNvPr>
              <p:cNvSpPr txBox="1"/>
              <p:nvPr/>
            </p:nvSpPr>
            <p:spPr>
              <a:xfrm>
                <a:off x="6992991" y="3392826"/>
                <a:ext cx="2639632" cy="73385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ctrlPr>
                            <a:rPr lang="en-US" sz="2500" i="1" smtClean="0">
                              <a:latin typeface="Cambria Math" panose="02040503050406030204" pitchFamily="18" charset="0"/>
                              <a:ea typeface="Cambria Math" panose="02040503050406030204" pitchFamily="18" charset="0"/>
                            </a:rPr>
                          </m:ctrlPr>
                        </m:dPr>
                        <m:e>
                          <m:m>
                            <m:mPr>
                              <m:plcHide m:val="on"/>
                              <m:mcs>
                                <m:mc>
                                  <m:mcPr>
                                    <m:count m:val="2"/>
                                    <m:mcJc m:val="center"/>
                                  </m:mcPr>
                                </m:mc>
                              </m:mcs>
                              <m:ctrlPr>
                                <a:rPr lang="en-US" sz="2500" i="1">
                                  <a:latin typeface="Cambria Math" panose="02040503050406030204" pitchFamily="18" charset="0"/>
                                  <a:ea typeface="Cambria Math" panose="02040503050406030204" pitchFamily="18" charset="0"/>
                                </a:rPr>
                              </m:ctrlPr>
                            </m:mPr>
                            <m:mr>
                              <m:e>
                                <m:r>
                                  <a:rPr lang="en-US" sz="2500">
                                    <a:latin typeface="Cambria Math" panose="02040503050406030204" pitchFamily="18" charset="0"/>
                                    <a:ea typeface="Cambria Math" panose="02040503050406030204" pitchFamily="18" charset="0"/>
                                  </a:rPr>
                                  <m:t>0</m:t>
                                </m:r>
                              </m:e>
                              <m:e>
                                <m:r>
                                  <a:rPr lang="en-US" sz="2500">
                                    <a:latin typeface="Cambria Math" panose="02040503050406030204" pitchFamily="18" charset="0"/>
                                    <a:ea typeface="Cambria Math" panose="02040503050406030204" pitchFamily="18" charset="0"/>
                                  </a:rPr>
                                  <m:t>1</m:t>
                                </m:r>
                              </m:e>
                            </m:mr>
                            <m:mr>
                              <m:e>
                                <m:r>
                                  <a:rPr lang="en-US" sz="2500">
                                    <a:latin typeface="Cambria Math" panose="02040503050406030204" pitchFamily="18" charset="0"/>
                                    <a:ea typeface="Cambria Math" panose="02040503050406030204" pitchFamily="18" charset="0"/>
                                  </a:rPr>
                                  <m:t>1</m:t>
                                </m:r>
                              </m:e>
                              <m:e>
                                <m:r>
                                  <a:rPr lang="en-US" sz="2500">
                                    <a:latin typeface="Cambria Math" panose="02040503050406030204" pitchFamily="18" charset="0"/>
                                    <a:ea typeface="Cambria Math" panose="02040503050406030204" pitchFamily="18" charset="0"/>
                                  </a:rPr>
                                  <m:t>0</m:t>
                                </m:r>
                              </m:e>
                            </m:mr>
                          </m:m>
                        </m:e>
                      </m:d>
                      <m:r>
                        <a:rPr lang="en-US" sz="2500" b="0" i="1" smtClean="0">
                          <a:latin typeface="Cambria Math" panose="02040503050406030204" pitchFamily="18" charset="0"/>
                          <a:ea typeface="Cambria Math" panose="02040503050406030204" pitchFamily="18" charset="0"/>
                        </a:rPr>
                        <m:t> </m:t>
                      </m:r>
                      <m:d>
                        <m:dPr>
                          <m:ctrlPr>
                            <a:rPr lang="en-US" sz="2500" i="1">
                              <a:latin typeface="Cambria Math" panose="02040503050406030204" pitchFamily="18" charset="0"/>
                              <a:ea typeface="Cambria Math" panose="02040503050406030204" pitchFamily="18" charset="0"/>
                            </a:rPr>
                          </m:ctrlPr>
                        </m:dPr>
                        <m:e>
                          <m:m>
                            <m:mPr>
                              <m:plcHide m:val="on"/>
                              <m:mcs>
                                <m:mc>
                                  <m:mcPr>
                                    <m:count m:val="1"/>
                                    <m:mcJc m:val="center"/>
                                  </m:mcPr>
                                </m:mc>
                              </m:mcs>
                              <m:ctrlPr>
                                <a:rPr lang="en-US" sz="2500" i="1">
                                  <a:latin typeface="Cambria Math" panose="02040503050406030204" pitchFamily="18" charset="0"/>
                                  <a:ea typeface="Cambria Math" panose="02040503050406030204" pitchFamily="18" charset="0"/>
                                </a:rPr>
                              </m:ctrlPr>
                            </m:mPr>
                            <m:mr>
                              <m:e>
                                <m:r>
                                  <a:rPr lang="en-US" sz="2500" b="0" i="0" smtClean="0">
                                    <a:latin typeface="Cambria Math" panose="02040503050406030204" pitchFamily="18" charset="0"/>
                                    <a:ea typeface="Cambria Math" panose="02040503050406030204" pitchFamily="18" charset="0"/>
                                  </a:rPr>
                                  <m:t>0.9808</m:t>
                                </m:r>
                              </m:e>
                            </m:mr>
                            <m:mr>
                              <m:e>
                                <m:r>
                                  <a:rPr lang="en-US" sz="2500">
                                    <a:latin typeface="Cambria Math" panose="02040503050406030204" pitchFamily="18" charset="0"/>
                                    <a:ea typeface="Cambria Math" panose="02040503050406030204" pitchFamily="18" charset="0"/>
                                  </a:rPr>
                                  <m:t>0</m:t>
                                </m:r>
                                <m:r>
                                  <a:rPr lang="en-US" sz="2500" b="0" i="0" smtClean="0">
                                    <a:latin typeface="Cambria Math" panose="02040503050406030204" pitchFamily="18" charset="0"/>
                                    <a:ea typeface="Cambria Math" panose="02040503050406030204" pitchFamily="18" charset="0"/>
                                  </a:rPr>
                                  <m:t>.1951</m:t>
                                </m:r>
                              </m:e>
                            </m:mr>
                          </m:m>
                        </m:e>
                      </m:d>
                    </m:oMath>
                  </m:oMathPara>
                </a14:m>
                <a:endParaRPr lang="en-US" sz="2500" dirty="0">
                  <a:latin typeface="Cambria Math" panose="02040503050406030204" pitchFamily="18" charset="0"/>
                  <a:ea typeface="Cambria Math" panose="02040503050406030204" pitchFamily="18" charset="0"/>
                </a:endParaRPr>
              </a:p>
            </p:txBody>
          </p:sp>
        </mc:Choice>
        <mc:Fallback xmlns="">
          <p:sp>
            <p:nvSpPr>
              <p:cNvPr id="14" name="TextBox 13">
                <a:extLst>
                  <a:ext uri="{FF2B5EF4-FFF2-40B4-BE49-F238E27FC236}">
                    <a16:creationId xmlns:a16="http://schemas.microsoft.com/office/drawing/2014/main" id="{F06C10DC-9ED4-A04B-8EE7-254939B7DE04}"/>
                  </a:ext>
                </a:extLst>
              </p:cNvPr>
              <p:cNvSpPr txBox="1">
                <a:spLocks noRot="1" noChangeAspect="1" noMove="1" noResize="1" noEditPoints="1" noAdjustHandles="1" noChangeArrowheads="1" noChangeShapeType="1" noTextEdit="1"/>
              </p:cNvSpPr>
              <p:nvPr/>
            </p:nvSpPr>
            <p:spPr>
              <a:xfrm>
                <a:off x="6992991" y="3392826"/>
                <a:ext cx="2639632" cy="733855"/>
              </a:xfrm>
              <a:prstGeom prst="rect">
                <a:avLst/>
              </a:prstGeom>
              <a:blipFill>
                <a:blip r:embed="rId9"/>
                <a:stretch>
                  <a:fillRect b="-678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DA69AB2F-EAB2-5F41-A45D-5012876B2FC9}"/>
                  </a:ext>
                </a:extLst>
              </p:cNvPr>
              <p:cNvSpPr txBox="1"/>
              <p:nvPr/>
            </p:nvSpPr>
            <p:spPr>
              <a:xfrm>
                <a:off x="8022622" y="1209620"/>
                <a:ext cx="1526508" cy="73385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ctrlPr>
                            <a:rPr lang="en-US" sz="2500" i="1">
                              <a:latin typeface="Cambria Math" panose="02040503050406030204" pitchFamily="18" charset="0"/>
                              <a:ea typeface="Cambria Math" panose="02040503050406030204" pitchFamily="18" charset="0"/>
                            </a:rPr>
                          </m:ctrlPr>
                        </m:dPr>
                        <m:e>
                          <m:m>
                            <m:mPr>
                              <m:plcHide m:val="on"/>
                              <m:mcs>
                                <m:mc>
                                  <m:mcPr>
                                    <m:count m:val="1"/>
                                    <m:mcJc m:val="center"/>
                                  </m:mcPr>
                                </m:mc>
                              </m:mcs>
                              <m:ctrlPr>
                                <a:rPr lang="en-US" sz="2500" i="1">
                                  <a:latin typeface="Cambria Math" panose="02040503050406030204" pitchFamily="18" charset="0"/>
                                  <a:ea typeface="Cambria Math" panose="02040503050406030204" pitchFamily="18" charset="0"/>
                                </a:rPr>
                              </m:ctrlPr>
                            </m:mPr>
                            <m:mr>
                              <m:e>
                                <m:r>
                                  <a:rPr lang="en-US" sz="2500">
                                    <a:latin typeface="Cambria Math" panose="02040503050406030204" pitchFamily="18" charset="0"/>
                                    <a:ea typeface="Cambria Math" panose="02040503050406030204" pitchFamily="18" charset="0"/>
                                  </a:rPr>
                                  <m:t>0.9808</m:t>
                                </m:r>
                              </m:e>
                            </m:mr>
                            <m:mr>
                              <m:e>
                                <m:r>
                                  <a:rPr lang="en-US" sz="2500">
                                    <a:latin typeface="Cambria Math" panose="02040503050406030204" pitchFamily="18" charset="0"/>
                                    <a:ea typeface="Cambria Math" panose="02040503050406030204" pitchFamily="18" charset="0"/>
                                  </a:rPr>
                                  <m:t>0.1951</m:t>
                                </m:r>
                              </m:e>
                            </m:mr>
                          </m:m>
                        </m:e>
                      </m:d>
                    </m:oMath>
                  </m:oMathPara>
                </a14:m>
                <a:endParaRPr lang="en-US" sz="2500" dirty="0"/>
              </a:p>
            </p:txBody>
          </p:sp>
        </mc:Choice>
        <mc:Fallback xmlns="">
          <p:sp>
            <p:nvSpPr>
              <p:cNvPr id="15" name="TextBox 14">
                <a:extLst>
                  <a:ext uri="{FF2B5EF4-FFF2-40B4-BE49-F238E27FC236}">
                    <a16:creationId xmlns:a16="http://schemas.microsoft.com/office/drawing/2014/main" id="{DA69AB2F-EAB2-5F41-A45D-5012876B2FC9}"/>
                  </a:ext>
                </a:extLst>
              </p:cNvPr>
              <p:cNvSpPr txBox="1">
                <a:spLocks noRot="1" noChangeAspect="1" noMove="1" noResize="1" noEditPoints="1" noAdjustHandles="1" noChangeArrowheads="1" noChangeShapeType="1" noTextEdit="1"/>
              </p:cNvSpPr>
              <p:nvPr/>
            </p:nvSpPr>
            <p:spPr>
              <a:xfrm>
                <a:off x="8022622" y="1209620"/>
                <a:ext cx="1526508" cy="733855"/>
              </a:xfrm>
              <a:prstGeom prst="rect">
                <a:avLst/>
              </a:prstGeom>
              <a:blipFill>
                <a:blip r:embed="rId10"/>
                <a:stretch>
                  <a:fillRect b="-678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AC3C3807-0723-8E42-A7B0-2D62DE9DF039}"/>
                  </a:ext>
                </a:extLst>
              </p:cNvPr>
              <p:cNvSpPr txBox="1"/>
              <p:nvPr/>
            </p:nvSpPr>
            <p:spPr>
              <a:xfrm>
                <a:off x="8093050" y="2249545"/>
                <a:ext cx="1597040" cy="733855"/>
              </a:xfrm>
              <a:prstGeom prst="rect">
                <a:avLst/>
              </a:prstGeom>
              <a:noFill/>
            </p:spPr>
            <p:txBody>
              <a:bodyPr wrap="none" rtlCol="0">
                <a:spAutoFit/>
              </a:bodyPr>
              <a:lstStyle/>
              <a:p>
                <a:r>
                  <a:rPr lang="en-US" sz="2500" dirty="0">
                    <a:latin typeface="Cambria Math" panose="02040503050406030204" pitchFamily="18" charset="0"/>
                    <a:ea typeface="Cambria Math" panose="02040503050406030204" pitchFamily="18" charset="0"/>
                  </a:rPr>
                  <a:t>X=</a:t>
                </a:r>
                <a14:m>
                  <m:oMath xmlns:m="http://schemas.openxmlformats.org/officeDocument/2006/math">
                    <m:d>
                      <m:dPr>
                        <m:ctrlPr>
                          <a:rPr lang="en-US" sz="2500" i="1">
                            <a:latin typeface="Cambria Math" panose="02040503050406030204" pitchFamily="18" charset="0"/>
                            <a:ea typeface="Cambria Math" panose="02040503050406030204" pitchFamily="18" charset="0"/>
                          </a:rPr>
                        </m:ctrlPr>
                      </m:dPr>
                      <m:e>
                        <m:m>
                          <m:mPr>
                            <m:plcHide m:val="on"/>
                            <m:mcs>
                              <m:mc>
                                <m:mcPr>
                                  <m:count m:val="2"/>
                                  <m:mcJc m:val="center"/>
                                </m:mcPr>
                              </m:mc>
                            </m:mcs>
                            <m:ctrlPr>
                              <a:rPr lang="en-US" sz="2500" i="1">
                                <a:latin typeface="Cambria Math" panose="02040503050406030204" pitchFamily="18" charset="0"/>
                                <a:ea typeface="Cambria Math" panose="02040503050406030204" pitchFamily="18" charset="0"/>
                              </a:rPr>
                            </m:ctrlPr>
                          </m:mPr>
                          <m:mr>
                            <m:e>
                              <m:r>
                                <a:rPr lang="en-US" sz="2500" b="0" i="0" smtClean="0">
                                  <a:latin typeface="Cambria Math" panose="02040503050406030204" pitchFamily="18" charset="0"/>
                                  <a:ea typeface="Cambria Math" panose="02040503050406030204" pitchFamily="18" charset="0"/>
                                </a:rPr>
                                <m:t>0</m:t>
                              </m:r>
                            </m:e>
                            <m:e>
                              <m:r>
                                <a:rPr lang="en-US" sz="2500" b="0" i="0" smtClean="0">
                                  <a:latin typeface="Cambria Math" panose="02040503050406030204" pitchFamily="18" charset="0"/>
                                  <a:ea typeface="Cambria Math" panose="02040503050406030204" pitchFamily="18" charset="0"/>
                                </a:rPr>
                                <m:t>1</m:t>
                              </m:r>
                            </m:e>
                          </m:mr>
                          <m:mr>
                            <m:e>
                              <m:r>
                                <a:rPr lang="en-US" sz="2500" b="0" i="0" smtClean="0">
                                  <a:latin typeface="Cambria Math" panose="02040503050406030204" pitchFamily="18" charset="0"/>
                                  <a:ea typeface="Cambria Math" panose="02040503050406030204" pitchFamily="18" charset="0"/>
                                </a:rPr>
                                <m:t>1</m:t>
                              </m:r>
                            </m:e>
                            <m:e>
                              <m:r>
                                <a:rPr lang="en-US" sz="2500" b="0" i="0" smtClean="0">
                                  <a:latin typeface="Cambria Math" panose="02040503050406030204" pitchFamily="18" charset="0"/>
                                  <a:ea typeface="Cambria Math" panose="02040503050406030204" pitchFamily="18" charset="0"/>
                                </a:rPr>
                                <m:t>0</m:t>
                              </m:r>
                            </m:e>
                          </m:mr>
                        </m:m>
                      </m:e>
                    </m:d>
                  </m:oMath>
                </a14:m>
                <a:endParaRPr lang="en-US" sz="2500" dirty="0">
                  <a:latin typeface="Cambria Math" panose="02040503050406030204" pitchFamily="18" charset="0"/>
                  <a:ea typeface="Cambria Math" panose="02040503050406030204" pitchFamily="18" charset="0"/>
                </a:endParaRPr>
              </a:p>
            </p:txBody>
          </p:sp>
        </mc:Choice>
        <mc:Fallback xmlns="">
          <p:sp>
            <p:nvSpPr>
              <p:cNvPr id="18" name="TextBox 17">
                <a:extLst>
                  <a:ext uri="{FF2B5EF4-FFF2-40B4-BE49-F238E27FC236}">
                    <a16:creationId xmlns:a16="http://schemas.microsoft.com/office/drawing/2014/main" id="{AC3C3807-0723-8E42-A7B0-2D62DE9DF039}"/>
                  </a:ext>
                </a:extLst>
              </p:cNvPr>
              <p:cNvSpPr txBox="1">
                <a:spLocks noRot="1" noChangeAspect="1" noMove="1" noResize="1" noEditPoints="1" noAdjustHandles="1" noChangeArrowheads="1" noChangeShapeType="1" noTextEdit="1"/>
              </p:cNvSpPr>
              <p:nvPr/>
            </p:nvSpPr>
            <p:spPr>
              <a:xfrm>
                <a:off x="8093050" y="2249545"/>
                <a:ext cx="1597040" cy="733855"/>
              </a:xfrm>
              <a:prstGeom prst="rect">
                <a:avLst/>
              </a:prstGeom>
              <a:blipFill>
                <a:blip r:embed="rId11"/>
                <a:stretch>
                  <a:fillRect l="-5512" b="-6780"/>
                </a:stretch>
              </a:blipFill>
            </p:spPr>
            <p:txBody>
              <a:bodyPr/>
              <a:lstStyle/>
              <a:p>
                <a:r>
                  <a:rPr lang="en-US">
                    <a:noFill/>
                  </a:rPr>
                  <a:t> </a:t>
                </a:r>
              </a:p>
            </p:txBody>
          </p:sp>
        </mc:Fallback>
      </mc:AlternateContent>
      <p:sp>
        <p:nvSpPr>
          <p:cNvPr id="19" name="Slide Number Placeholder 18">
            <a:extLst>
              <a:ext uri="{FF2B5EF4-FFF2-40B4-BE49-F238E27FC236}">
                <a16:creationId xmlns:a16="http://schemas.microsoft.com/office/drawing/2014/main" id="{92874A6E-1BBE-DD4F-8C8A-DC83FB6B8BE2}"/>
              </a:ext>
            </a:extLst>
          </p:cNvPr>
          <p:cNvSpPr>
            <a:spLocks noGrp="1"/>
          </p:cNvSpPr>
          <p:nvPr>
            <p:ph type="sldNum" sz="quarter" idx="12"/>
          </p:nvPr>
        </p:nvSpPr>
        <p:spPr/>
        <p:txBody>
          <a:bodyPr/>
          <a:lstStyle/>
          <a:p>
            <a:fld id="{D0A7A90D-170E-2F4F-8861-97D6C3C25EEF}" type="slidenum">
              <a:rPr lang="en-US" smtClean="0"/>
              <a:t>2</a:t>
            </a:fld>
            <a:endParaRPr lang="en-US"/>
          </a:p>
        </p:txBody>
      </p:sp>
      <p:sp>
        <p:nvSpPr>
          <p:cNvPr id="12" name="Oval 11">
            <a:extLst>
              <a:ext uri="{FF2B5EF4-FFF2-40B4-BE49-F238E27FC236}">
                <a16:creationId xmlns:a16="http://schemas.microsoft.com/office/drawing/2014/main" id="{095F4CDB-67C0-A949-9108-543060B9DC85}"/>
              </a:ext>
            </a:extLst>
          </p:cNvPr>
          <p:cNvSpPr/>
          <p:nvPr/>
        </p:nvSpPr>
        <p:spPr>
          <a:xfrm>
            <a:off x="6992991" y="2322068"/>
            <a:ext cx="827999" cy="82799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cxnSp>
        <p:nvCxnSpPr>
          <p:cNvPr id="8" name="Straight Connector 7">
            <a:extLst>
              <a:ext uri="{FF2B5EF4-FFF2-40B4-BE49-F238E27FC236}">
                <a16:creationId xmlns:a16="http://schemas.microsoft.com/office/drawing/2014/main" id="{E8A318D2-2468-D946-AB85-289E68A4BC67}"/>
              </a:ext>
            </a:extLst>
          </p:cNvPr>
          <p:cNvCxnSpPr>
            <a:cxnSpLocks/>
          </p:cNvCxnSpPr>
          <p:nvPr/>
        </p:nvCxnSpPr>
        <p:spPr>
          <a:xfrm>
            <a:off x="6808732" y="4897813"/>
            <a:ext cx="387737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Oval 19">
            <a:extLst>
              <a:ext uri="{FF2B5EF4-FFF2-40B4-BE49-F238E27FC236}">
                <a16:creationId xmlns:a16="http://schemas.microsoft.com/office/drawing/2014/main" id="{DD939135-177E-464F-BE68-8BFF3A98B9ED}"/>
              </a:ext>
            </a:extLst>
          </p:cNvPr>
          <p:cNvSpPr/>
          <p:nvPr/>
        </p:nvSpPr>
        <p:spPr>
          <a:xfrm>
            <a:off x="7097301" y="4534540"/>
            <a:ext cx="720000"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sp>
        <p:nvSpPr>
          <p:cNvPr id="21" name="Rectangle 20">
            <a:extLst>
              <a:ext uri="{FF2B5EF4-FFF2-40B4-BE49-F238E27FC236}">
                <a16:creationId xmlns:a16="http://schemas.microsoft.com/office/drawing/2014/main" id="{F1E96AF3-BDE2-F042-9D10-19EA31F654C1}"/>
              </a:ext>
            </a:extLst>
          </p:cNvPr>
          <p:cNvSpPr/>
          <p:nvPr/>
        </p:nvSpPr>
        <p:spPr>
          <a:xfrm>
            <a:off x="8093050" y="4528072"/>
            <a:ext cx="720000" cy="72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H</a:t>
            </a:r>
          </a:p>
        </p:txBody>
      </p:sp>
      <p:pic>
        <p:nvPicPr>
          <p:cNvPr id="22" name="Picture 21">
            <a:extLst>
              <a:ext uri="{FF2B5EF4-FFF2-40B4-BE49-F238E27FC236}">
                <a16:creationId xmlns:a16="http://schemas.microsoft.com/office/drawing/2014/main" id="{1B26F4F8-1472-A740-9986-0A030CC73B1A}"/>
              </a:ext>
            </a:extLst>
          </p:cNvPr>
          <p:cNvPicPr>
            <a:picLocks noChangeAspect="1"/>
          </p:cNvPicPr>
          <p:nvPr/>
        </p:nvPicPr>
        <p:blipFill>
          <a:blip r:embed="rId12"/>
          <a:stretch>
            <a:fillRect/>
          </a:stretch>
        </p:blipFill>
        <p:spPr>
          <a:xfrm>
            <a:off x="9088800" y="4528072"/>
            <a:ext cx="720000" cy="739459"/>
          </a:xfrm>
          <a:prstGeom prst="rect">
            <a:avLst/>
          </a:prstGeom>
        </p:spPr>
      </p:pic>
      <p:sp>
        <p:nvSpPr>
          <p:cNvPr id="24" name="Rectangle 23">
            <a:extLst>
              <a:ext uri="{FF2B5EF4-FFF2-40B4-BE49-F238E27FC236}">
                <a16:creationId xmlns:a16="http://schemas.microsoft.com/office/drawing/2014/main" id="{94990A0B-E909-5541-B793-0888935EBF18}"/>
              </a:ext>
            </a:extLst>
          </p:cNvPr>
          <p:cNvSpPr/>
          <p:nvPr/>
        </p:nvSpPr>
        <p:spPr>
          <a:xfrm>
            <a:off x="6563498" y="5451830"/>
            <a:ext cx="4076793" cy="923330"/>
          </a:xfrm>
          <a:prstGeom prst="rect">
            <a:avLst/>
          </a:prstGeom>
          <a:solidFill>
            <a:schemeClr val="bg1">
              <a:lumMod val="95000"/>
            </a:schemeClr>
          </a:solidFill>
        </p:spPr>
        <p:txBody>
          <a:bodyPr wrap="square">
            <a:spAutoFit/>
          </a:bodyPr>
          <a:lstStyle/>
          <a:p>
            <a:r>
              <a:rPr lang="en-US" dirty="0" err="1"/>
              <a:t>circuit.x</a:t>
            </a:r>
            <a:r>
              <a:rPr lang="en-US" dirty="0"/>
              <a:t> (</a:t>
            </a:r>
            <a:r>
              <a:rPr lang="en-US" dirty="0" err="1"/>
              <a:t>qreg_q</a:t>
            </a:r>
            <a:r>
              <a:rPr lang="en-US" dirty="0"/>
              <a:t>[0])</a:t>
            </a:r>
          </a:p>
          <a:p>
            <a:r>
              <a:rPr lang="en-US" dirty="0" err="1"/>
              <a:t>circuit.h</a:t>
            </a:r>
            <a:r>
              <a:rPr lang="en-US" dirty="0"/>
              <a:t> (</a:t>
            </a:r>
            <a:r>
              <a:rPr lang="en-US" dirty="0" err="1"/>
              <a:t>qreg_q</a:t>
            </a:r>
            <a:r>
              <a:rPr lang="en-US" dirty="0"/>
              <a:t>[0])</a:t>
            </a:r>
          </a:p>
          <a:p>
            <a:r>
              <a:rPr lang="en-US" dirty="0" err="1"/>
              <a:t>circuit.measure</a:t>
            </a:r>
            <a:r>
              <a:rPr lang="en-US" dirty="0"/>
              <a:t> (</a:t>
            </a:r>
            <a:r>
              <a:rPr lang="en-US" dirty="0" err="1"/>
              <a:t>qreg_q</a:t>
            </a:r>
            <a:r>
              <a:rPr lang="en-US" dirty="0"/>
              <a:t>[0], </a:t>
            </a:r>
            <a:r>
              <a:rPr lang="en-US" dirty="0" err="1"/>
              <a:t>creg_c</a:t>
            </a:r>
            <a:r>
              <a:rPr lang="en-US" dirty="0"/>
              <a:t>[0])</a:t>
            </a:r>
          </a:p>
        </p:txBody>
      </p:sp>
      <p:grpSp>
        <p:nvGrpSpPr>
          <p:cNvPr id="23" name="Group 22">
            <a:extLst>
              <a:ext uri="{FF2B5EF4-FFF2-40B4-BE49-F238E27FC236}">
                <a16:creationId xmlns:a16="http://schemas.microsoft.com/office/drawing/2014/main" id="{3281CE0B-728B-CD44-AC60-8DC0250D4363}"/>
              </a:ext>
            </a:extLst>
          </p:cNvPr>
          <p:cNvGrpSpPr/>
          <p:nvPr/>
        </p:nvGrpSpPr>
        <p:grpSpPr>
          <a:xfrm>
            <a:off x="6762916" y="977447"/>
            <a:ext cx="1114259" cy="1140000"/>
            <a:chOff x="6762916" y="977447"/>
            <a:chExt cx="1114259" cy="1140000"/>
          </a:xfrm>
        </p:grpSpPr>
        <p:pic>
          <p:nvPicPr>
            <p:cNvPr id="27" name="Picture 26">
              <a:extLst>
                <a:ext uri="{FF2B5EF4-FFF2-40B4-BE49-F238E27FC236}">
                  <a16:creationId xmlns:a16="http://schemas.microsoft.com/office/drawing/2014/main" id="{FBAB7664-E219-CC49-8676-48A17E37653F}"/>
                </a:ext>
              </a:extLst>
            </p:cNvPr>
            <p:cNvPicPr>
              <a:picLocks noChangeAspect="1"/>
            </p:cNvPicPr>
            <p:nvPr/>
          </p:nvPicPr>
          <p:blipFill>
            <a:blip r:embed="rId13"/>
            <a:stretch>
              <a:fillRect/>
            </a:stretch>
          </p:blipFill>
          <p:spPr>
            <a:xfrm>
              <a:off x="6762916" y="977447"/>
              <a:ext cx="1080000" cy="1140000"/>
            </a:xfrm>
            <a:prstGeom prst="rect">
              <a:avLst/>
            </a:prstGeom>
          </p:spPr>
        </p:pic>
        <p:sp>
          <p:nvSpPr>
            <p:cNvPr id="29" name="Oval 28">
              <a:extLst>
                <a:ext uri="{FF2B5EF4-FFF2-40B4-BE49-F238E27FC236}">
                  <a16:creationId xmlns:a16="http://schemas.microsoft.com/office/drawing/2014/main" id="{908B48EC-4AFC-1746-9F63-E00A5191AF74}"/>
                </a:ext>
              </a:extLst>
            </p:cNvPr>
            <p:cNvSpPr/>
            <p:nvPr/>
          </p:nvSpPr>
          <p:spPr>
            <a:xfrm>
              <a:off x="6771533" y="995401"/>
              <a:ext cx="1105642" cy="1105642"/>
            </a:xfrm>
            <a:prstGeom prst="ellipse">
              <a:avLst/>
            </a:prstGeom>
            <a:gradFill flip="none" rotWithShape="1">
              <a:gsLst>
                <a:gs pos="0">
                  <a:schemeClr val="bg1"/>
                </a:gs>
                <a:gs pos="100000">
                  <a:schemeClr val="bg1">
                    <a:lumMod val="95000"/>
                  </a:schemeClr>
                </a:gs>
              </a:gsLst>
              <a:lin ang="5400000" scaled="1"/>
              <a:tileRect/>
            </a:gra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D0BA4C24-40CF-6146-B3A5-50D1C33E3DFA}"/>
                </a:ext>
              </a:extLst>
            </p:cNvPr>
            <p:cNvSpPr/>
            <p:nvPr/>
          </p:nvSpPr>
          <p:spPr>
            <a:xfrm>
              <a:off x="6771533" y="1347348"/>
              <a:ext cx="1105642" cy="401747"/>
            </a:xfrm>
            <a:prstGeom prst="ellipse">
              <a:avLst/>
            </a:prstGeom>
            <a:noFill/>
            <a:ln w="6350">
              <a:solidFill>
                <a:schemeClr val="tx1">
                  <a:lumMod val="50000"/>
                  <a:lumOff val="5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2" name="Straight Arrow Connector 31">
              <a:extLst>
                <a:ext uri="{FF2B5EF4-FFF2-40B4-BE49-F238E27FC236}">
                  <a16:creationId xmlns:a16="http://schemas.microsoft.com/office/drawing/2014/main" id="{A9FC825B-FC77-6141-9D8F-31F632D019B1}"/>
                </a:ext>
              </a:extLst>
            </p:cNvPr>
            <p:cNvCxnSpPr>
              <a:cxnSpLocks/>
            </p:cNvCxnSpPr>
            <p:nvPr/>
          </p:nvCxnSpPr>
          <p:spPr>
            <a:xfrm flipV="1">
              <a:off x="7324354" y="1052470"/>
              <a:ext cx="0" cy="495752"/>
            </a:xfrm>
            <a:prstGeom prst="straightConnector1">
              <a:avLst/>
            </a:prstGeom>
            <a:ln w="6350">
              <a:solidFill>
                <a:schemeClr val="tx1"/>
              </a:solidFill>
              <a:tailEnd type="none" w="lg" len="sm"/>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8BC7FA27-1DEF-2548-BB6C-992694EF3FC6}"/>
                </a:ext>
              </a:extLst>
            </p:cNvPr>
            <p:cNvCxnSpPr>
              <a:cxnSpLocks/>
              <a:endCxn id="29" idx="6"/>
            </p:cNvCxnSpPr>
            <p:nvPr/>
          </p:nvCxnSpPr>
          <p:spPr>
            <a:xfrm>
              <a:off x="7324354" y="1548222"/>
              <a:ext cx="552821" cy="0"/>
            </a:xfrm>
            <a:prstGeom prst="straightConnector1">
              <a:avLst/>
            </a:prstGeom>
            <a:ln w="6350">
              <a:solidFill>
                <a:schemeClr val="tx1"/>
              </a:solidFill>
              <a:tailEnd type="none" w="lg" len="sm"/>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D0842C65-9DC9-0B48-B224-172D3D07FA99}"/>
                </a:ext>
              </a:extLst>
            </p:cNvPr>
            <p:cNvCxnSpPr>
              <a:cxnSpLocks/>
            </p:cNvCxnSpPr>
            <p:nvPr/>
          </p:nvCxnSpPr>
          <p:spPr>
            <a:xfrm flipH="1">
              <a:off x="7162229" y="1548222"/>
              <a:ext cx="162125" cy="192029"/>
            </a:xfrm>
            <a:prstGeom prst="straightConnector1">
              <a:avLst/>
            </a:prstGeom>
            <a:ln w="6350">
              <a:solidFill>
                <a:schemeClr val="tx1"/>
              </a:solidFill>
              <a:tailEnd type="none" w="lg" len="sm"/>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0BCB0479-A475-7747-97AF-D2928CAEADC3}"/>
                </a:ext>
              </a:extLst>
            </p:cNvPr>
            <p:cNvCxnSpPr>
              <a:cxnSpLocks/>
            </p:cNvCxnSpPr>
            <p:nvPr/>
          </p:nvCxnSpPr>
          <p:spPr>
            <a:xfrm flipV="1">
              <a:off x="7324354" y="1246905"/>
              <a:ext cx="187559" cy="301317"/>
            </a:xfrm>
            <a:prstGeom prst="straightConnector1">
              <a:avLst/>
            </a:prstGeom>
            <a:ln w="25400">
              <a:solidFill>
                <a:srgbClr val="FF0000"/>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A669D5DE-48E9-114A-8A16-A731BC8AFBC7}"/>
                </a:ext>
              </a:extLst>
            </p:cNvPr>
            <p:cNvCxnSpPr>
              <a:cxnSpLocks/>
            </p:cNvCxnSpPr>
            <p:nvPr/>
          </p:nvCxnSpPr>
          <p:spPr>
            <a:xfrm>
              <a:off x="7511913" y="1246905"/>
              <a:ext cx="0" cy="397331"/>
            </a:xfrm>
            <a:prstGeom prst="line">
              <a:avLst/>
            </a:prstGeom>
            <a:ln w="6350">
              <a:solidFill>
                <a:schemeClr val="tx1">
                  <a:lumMod val="65000"/>
                  <a:lumOff val="3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FC97ECF5-AC41-9940-9C93-7889D84F264A}"/>
                </a:ext>
              </a:extLst>
            </p:cNvPr>
            <p:cNvCxnSpPr>
              <a:cxnSpLocks/>
            </p:cNvCxnSpPr>
            <p:nvPr/>
          </p:nvCxnSpPr>
          <p:spPr>
            <a:xfrm>
              <a:off x="7324354" y="1548222"/>
              <a:ext cx="187559" cy="96014"/>
            </a:xfrm>
            <a:prstGeom prst="line">
              <a:avLst/>
            </a:prstGeom>
            <a:ln w="6350">
              <a:solidFill>
                <a:schemeClr val="tx1">
                  <a:lumMod val="65000"/>
                  <a:lumOff val="35000"/>
                </a:schemeClr>
              </a:solidFill>
              <a:prstDash val="lgDash"/>
            </a:ln>
          </p:spPr>
          <p:style>
            <a:lnRef idx="1">
              <a:schemeClr val="accent1"/>
            </a:lnRef>
            <a:fillRef idx="0">
              <a:schemeClr val="accent1"/>
            </a:fillRef>
            <a:effectRef idx="0">
              <a:schemeClr val="accent1"/>
            </a:effectRef>
            <a:fontRef idx="minor">
              <a:schemeClr val="tx1"/>
            </a:fontRef>
          </p:style>
        </p:cxnSp>
      </p:grpSp>
      <p:grpSp>
        <p:nvGrpSpPr>
          <p:cNvPr id="3" name="Group 2">
            <a:extLst>
              <a:ext uri="{FF2B5EF4-FFF2-40B4-BE49-F238E27FC236}">
                <a16:creationId xmlns:a16="http://schemas.microsoft.com/office/drawing/2014/main" id="{41E5EA2C-B3E6-EC42-B852-1251D37FF9EF}"/>
              </a:ext>
            </a:extLst>
          </p:cNvPr>
          <p:cNvGrpSpPr/>
          <p:nvPr/>
        </p:nvGrpSpPr>
        <p:grpSpPr>
          <a:xfrm>
            <a:off x="135465" y="1001496"/>
            <a:ext cx="11751734" cy="5737971"/>
            <a:chOff x="135465" y="1001496"/>
            <a:chExt cx="11751734" cy="5737971"/>
          </a:xfrm>
        </p:grpSpPr>
        <p:sp>
          <p:nvSpPr>
            <p:cNvPr id="4" name="Rectangle 3">
              <a:extLst>
                <a:ext uri="{FF2B5EF4-FFF2-40B4-BE49-F238E27FC236}">
                  <a16:creationId xmlns:a16="http://schemas.microsoft.com/office/drawing/2014/main" id="{94A6C583-6C6E-C04E-8EA5-1BDEEE25BAD5}"/>
                </a:ext>
              </a:extLst>
            </p:cNvPr>
            <p:cNvSpPr/>
            <p:nvPr/>
          </p:nvSpPr>
          <p:spPr>
            <a:xfrm>
              <a:off x="135466" y="4316245"/>
              <a:ext cx="11751733" cy="2423222"/>
            </a:xfrm>
            <a:prstGeom prst="rect">
              <a:avLst/>
            </a:prstGeom>
            <a:solidFill>
              <a:schemeClr val="bg1">
                <a:lumMod val="95000"/>
                <a:alpha val="6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0DBE1480-0F47-AF4E-B29B-D85E6C6BD3C1}"/>
                </a:ext>
              </a:extLst>
            </p:cNvPr>
            <p:cNvSpPr/>
            <p:nvPr/>
          </p:nvSpPr>
          <p:spPr>
            <a:xfrm>
              <a:off x="135465" y="1001496"/>
              <a:ext cx="11751733" cy="1202039"/>
            </a:xfrm>
            <a:prstGeom prst="rect">
              <a:avLst/>
            </a:prstGeom>
            <a:solidFill>
              <a:schemeClr val="bg1">
                <a:lumMod val="95000"/>
                <a:alpha val="6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5251773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6C9113-B4F6-BA48-A996-579B47807B26}"/>
              </a:ext>
            </a:extLst>
          </p:cNvPr>
          <p:cNvSpPr>
            <a:spLocks noGrp="1"/>
          </p:cNvSpPr>
          <p:nvPr>
            <p:ph type="title"/>
          </p:nvPr>
        </p:nvSpPr>
        <p:spPr/>
        <p:txBody>
          <a:bodyPr/>
          <a:lstStyle/>
          <a:p>
            <a:r>
              <a:rPr lang="en-US" dirty="0" err="1"/>
              <a:t>MathBox</a:t>
            </a:r>
            <a:r>
              <a:rPr lang="en-US" dirty="0"/>
              <a:t>: Matrix</a:t>
            </a:r>
          </a:p>
        </p:txBody>
      </p:sp>
      <p:sp>
        <p:nvSpPr>
          <p:cNvPr id="3" name="Slide Number Placeholder 2">
            <a:extLst>
              <a:ext uri="{FF2B5EF4-FFF2-40B4-BE49-F238E27FC236}">
                <a16:creationId xmlns:a16="http://schemas.microsoft.com/office/drawing/2014/main" id="{FA9E3C27-BFBC-B441-98AC-04218442D711}"/>
              </a:ext>
            </a:extLst>
          </p:cNvPr>
          <p:cNvSpPr>
            <a:spLocks noGrp="1"/>
          </p:cNvSpPr>
          <p:nvPr>
            <p:ph type="sldNum" sz="quarter" idx="12"/>
          </p:nvPr>
        </p:nvSpPr>
        <p:spPr/>
        <p:txBody>
          <a:bodyPr/>
          <a:lstStyle/>
          <a:p>
            <a:fld id="{591A223C-FA10-BC46-A853-03BA373D023C}" type="slidenum">
              <a:rPr lang="en-US" smtClean="0"/>
              <a:t>3</a:t>
            </a:fld>
            <a:endParaRPr lang="en-US"/>
          </a:p>
        </p:txBody>
      </p:sp>
      <p:sp>
        <p:nvSpPr>
          <p:cNvPr id="4" name="Rectangle 3">
            <a:extLst>
              <a:ext uri="{FF2B5EF4-FFF2-40B4-BE49-F238E27FC236}">
                <a16:creationId xmlns:a16="http://schemas.microsoft.com/office/drawing/2014/main" id="{10C3A771-9E7B-0B47-A05F-51FF22147E4A}"/>
              </a:ext>
            </a:extLst>
          </p:cNvPr>
          <p:cNvSpPr/>
          <p:nvPr/>
        </p:nvSpPr>
        <p:spPr>
          <a:xfrm>
            <a:off x="178250" y="1094224"/>
            <a:ext cx="11440007" cy="830997"/>
          </a:xfrm>
          <a:prstGeom prst="rect">
            <a:avLst/>
          </a:prstGeom>
          <a:noFill/>
        </p:spPr>
        <p:txBody>
          <a:bodyPr wrap="square">
            <a:spAutoFit/>
          </a:bodyPr>
          <a:lstStyle/>
          <a:p>
            <a:pPr algn="ctr"/>
            <a:r>
              <a:rPr lang="en-ZA" sz="2400" dirty="0"/>
              <a:t>A matrix is a is a rectangular array or table of numbers, symbols or expressions organized into horizontal rows and vertical columns. </a:t>
            </a:r>
            <a:endParaRPr lang="en-US" sz="2400" dirty="0"/>
          </a:p>
        </p:txBody>
      </p:sp>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C44F483D-20E1-444C-A512-2EAC76B2934E}"/>
                  </a:ext>
                </a:extLst>
              </p:cNvPr>
              <p:cNvSpPr/>
              <p:nvPr/>
            </p:nvSpPr>
            <p:spPr>
              <a:xfrm>
                <a:off x="1279842" y="2448620"/>
                <a:ext cx="9823587" cy="170181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smtClean="0">
                          <a:latin typeface="Cambria Math" panose="02040503050406030204" pitchFamily="18" charset="0"/>
                        </a:rPr>
                        <m:t> </m:t>
                      </m:r>
                      <m:m>
                        <m:mPr>
                          <m:plcHide m:val="on"/>
                          <m:mcs>
                            <m:mc>
                              <m:mcPr>
                                <m:count m:val="2"/>
                                <m:mcJc m:val="center"/>
                              </m:mcPr>
                            </m:mc>
                          </m:mcs>
                          <m:ctrlPr>
                            <a:rPr lang="en-US" sz="2800" i="1">
                              <a:latin typeface="Cambria Math" panose="02040503050406030204" pitchFamily="18" charset="0"/>
                            </a:rPr>
                          </m:ctrlPr>
                        </m:mPr>
                        <m:mr>
                          <m:e>
                            <m:r>
                              <a:rPr lang="en-US" sz="2800" i="1">
                                <a:latin typeface="Cambria Math" panose="02040503050406030204" pitchFamily="18" charset="0"/>
                              </a:rPr>
                              <m:t>𝐴</m:t>
                            </m:r>
                            <m:r>
                              <a:rPr lang="en-US" sz="2800" i="0">
                                <a:latin typeface="Cambria Math" panose="02040503050406030204" pitchFamily="18" charset="0"/>
                              </a:rPr>
                              <m:t>=</m:t>
                            </m:r>
                            <m:d>
                              <m:dPr>
                                <m:ctrlPr>
                                  <a:rPr lang="en-US" sz="2800" i="1">
                                    <a:latin typeface="Cambria Math" panose="02040503050406030204" pitchFamily="18" charset="0"/>
                                  </a:rPr>
                                </m:ctrlPr>
                              </m:dPr>
                              <m:e>
                                <m:m>
                                  <m:mPr>
                                    <m:plcHide m:val="on"/>
                                    <m:mcs>
                                      <m:mc>
                                        <m:mcPr>
                                          <m:count m:val="4"/>
                                          <m:mcJc m:val="center"/>
                                        </m:mcPr>
                                      </m:mc>
                                    </m:mcs>
                                    <m:ctrlPr>
                                      <a:rPr lang="en-US" sz="2800" i="1">
                                        <a:latin typeface="Cambria Math" panose="02040503050406030204" pitchFamily="18" charset="0"/>
                                      </a:rPr>
                                    </m:ctrlPr>
                                  </m:mPr>
                                  <m:mr>
                                    <m:e>
                                      <m:sSub>
                                        <m:sSubPr>
                                          <m:ctrlPr>
                                            <a:rPr lang="en-US" sz="2800" i="1">
                                              <a:latin typeface="Cambria Math" panose="02040503050406030204" pitchFamily="18" charset="0"/>
                                            </a:rPr>
                                          </m:ctrlPr>
                                        </m:sSubPr>
                                        <m:e>
                                          <m:r>
                                            <a:rPr lang="en-US" sz="2800" i="1">
                                              <a:latin typeface="Cambria Math" panose="02040503050406030204" pitchFamily="18" charset="0"/>
                                            </a:rPr>
                                            <m:t>𝑎</m:t>
                                          </m:r>
                                        </m:e>
                                        <m:sub>
                                          <m:r>
                                            <a:rPr lang="en-US" sz="2800" i="0">
                                              <a:latin typeface="Cambria Math" panose="02040503050406030204" pitchFamily="18" charset="0"/>
                                            </a:rPr>
                                            <m:t>11</m:t>
                                          </m:r>
                                        </m:sub>
                                      </m:sSub>
                                    </m:e>
                                    <m:e>
                                      <m:sSub>
                                        <m:sSubPr>
                                          <m:ctrlPr>
                                            <a:rPr lang="en-US" sz="2800" i="1">
                                              <a:latin typeface="Cambria Math" panose="02040503050406030204" pitchFamily="18" charset="0"/>
                                            </a:rPr>
                                          </m:ctrlPr>
                                        </m:sSubPr>
                                        <m:e>
                                          <m:r>
                                            <a:rPr lang="en-US" sz="2800" i="1">
                                              <a:latin typeface="Cambria Math" panose="02040503050406030204" pitchFamily="18" charset="0"/>
                                            </a:rPr>
                                            <m:t>𝑎</m:t>
                                          </m:r>
                                        </m:e>
                                        <m:sub>
                                          <m:r>
                                            <a:rPr lang="en-US" sz="2800" i="0">
                                              <a:latin typeface="Cambria Math" panose="02040503050406030204" pitchFamily="18" charset="0"/>
                                            </a:rPr>
                                            <m:t>12</m:t>
                                          </m:r>
                                        </m:sub>
                                      </m:sSub>
                                    </m:e>
                                    <m:e>
                                      <m:r>
                                        <a:rPr lang="en-US" sz="2800" i="0">
                                          <a:latin typeface="Cambria Math" panose="02040503050406030204" pitchFamily="18" charset="0"/>
                                        </a:rPr>
                                        <m:t>⋯</m:t>
                                      </m:r>
                                    </m:e>
                                    <m:e>
                                      <m:sSub>
                                        <m:sSubPr>
                                          <m:ctrlPr>
                                            <a:rPr lang="en-US" sz="2800" i="1">
                                              <a:latin typeface="Cambria Math" panose="02040503050406030204" pitchFamily="18" charset="0"/>
                                            </a:rPr>
                                          </m:ctrlPr>
                                        </m:sSubPr>
                                        <m:e>
                                          <m:r>
                                            <a:rPr lang="en-US" sz="2800" i="1">
                                              <a:latin typeface="Cambria Math" panose="02040503050406030204" pitchFamily="18" charset="0"/>
                                            </a:rPr>
                                            <m:t>𝑎</m:t>
                                          </m:r>
                                        </m:e>
                                        <m:sub>
                                          <m:r>
                                            <a:rPr lang="en-US" sz="2800" i="0">
                                              <a:latin typeface="Cambria Math" panose="02040503050406030204" pitchFamily="18" charset="0"/>
                                            </a:rPr>
                                            <m:t>1</m:t>
                                          </m:r>
                                          <m:r>
                                            <a:rPr lang="en-US" sz="2800" i="1">
                                              <a:latin typeface="Cambria Math" panose="02040503050406030204" pitchFamily="18" charset="0"/>
                                            </a:rPr>
                                            <m:t>𝑛</m:t>
                                          </m:r>
                                        </m:sub>
                                      </m:sSub>
                                    </m:e>
                                  </m:mr>
                                  <m:mr>
                                    <m:e>
                                      <m:sSub>
                                        <m:sSubPr>
                                          <m:ctrlPr>
                                            <a:rPr lang="en-US" sz="2800" i="1">
                                              <a:latin typeface="Cambria Math" panose="02040503050406030204" pitchFamily="18" charset="0"/>
                                            </a:rPr>
                                          </m:ctrlPr>
                                        </m:sSubPr>
                                        <m:e>
                                          <m:r>
                                            <a:rPr lang="en-US" sz="2800" i="1">
                                              <a:latin typeface="Cambria Math" panose="02040503050406030204" pitchFamily="18" charset="0"/>
                                            </a:rPr>
                                            <m:t>𝑎</m:t>
                                          </m:r>
                                        </m:e>
                                        <m:sub>
                                          <m:r>
                                            <a:rPr lang="en-US" sz="2800" i="0">
                                              <a:latin typeface="Cambria Math" panose="02040503050406030204" pitchFamily="18" charset="0"/>
                                            </a:rPr>
                                            <m:t>21</m:t>
                                          </m:r>
                                        </m:sub>
                                      </m:sSub>
                                    </m:e>
                                    <m:e>
                                      <m:sSub>
                                        <m:sSubPr>
                                          <m:ctrlPr>
                                            <a:rPr lang="en-US" sz="2800" i="1">
                                              <a:latin typeface="Cambria Math" panose="02040503050406030204" pitchFamily="18" charset="0"/>
                                            </a:rPr>
                                          </m:ctrlPr>
                                        </m:sSubPr>
                                        <m:e>
                                          <m:r>
                                            <a:rPr lang="en-US" sz="2800" i="1">
                                              <a:latin typeface="Cambria Math" panose="02040503050406030204" pitchFamily="18" charset="0"/>
                                            </a:rPr>
                                            <m:t>𝑎</m:t>
                                          </m:r>
                                        </m:e>
                                        <m:sub>
                                          <m:r>
                                            <a:rPr lang="en-US" sz="2800" i="0">
                                              <a:latin typeface="Cambria Math" panose="02040503050406030204" pitchFamily="18" charset="0"/>
                                            </a:rPr>
                                            <m:t>22</m:t>
                                          </m:r>
                                        </m:sub>
                                      </m:sSub>
                                    </m:e>
                                    <m:e>
                                      <m:r>
                                        <a:rPr lang="en-US" sz="2800" i="0">
                                          <a:latin typeface="Cambria Math" panose="02040503050406030204" pitchFamily="18" charset="0"/>
                                        </a:rPr>
                                        <m:t>⋯</m:t>
                                      </m:r>
                                    </m:e>
                                    <m:e>
                                      <m:sSub>
                                        <m:sSubPr>
                                          <m:ctrlPr>
                                            <a:rPr lang="en-US" sz="2800" i="1">
                                              <a:latin typeface="Cambria Math" panose="02040503050406030204" pitchFamily="18" charset="0"/>
                                            </a:rPr>
                                          </m:ctrlPr>
                                        </m:sSubPr>
                                        <m:e>
                                          <m:r>
                                            <a:rPr lang="en-US" sz="2800" i="1">
                                              <a:latin typeface="Cambria Math" panose="02040503050406030204" pitchFamily="18" charset="0"/>
                                            </a:rPr>
                                            <m:t>𝑎</m:t>
                                          </m:r>
                                        </m:e>
                                        <m:sub>
                                          <m:r>
                                            <a:rPr lang="en-US" sz="2800" i="0">
                                              <a:latin typeface="Cambria Math" panose="02040503050406030204" pitchFamily="18" charset="0"/>
                                            </a:rPr>
                                            <m:t>2</m:t>
                                          </m:r>
                                          <m:r>
                                            <a:rPr lang="en-US" sz="2800" i="1">
                                              <a:latin typeface="Cambria Math" panose="02040503050406030204" pitchFamily="18" charset="0"/>
                                            </a:rPr>
                                            <m:t>𝑛</m:t>
                                          </m:r>
                                        </m:sub>
                                      </m:sSub>
                                    </m:e>
                                  </m:mr>
                                  <m:mr>
                                    <m:e>
                                      <m:r>
                                        <a:rPr lang="en-US" sz="2800" i="0">
                                          <a:latin typeface="Cambria Math" panose="02040503050406030204" pitchFamily="18" charset="0"/>
                                        </a:rPr>
                                        <m:t>⋮</m:t>
                                      </m:r>
                                    </m:e>
                                    <m:e>
                                      <m:r>
                                        <a:rPr lang="en-US" sz="2800" i="0">
                                          <a:latin typeface="Cambria Math" panose="02040503050406030204" pitchFamily="18" charset="0"/>
                                        </a:rPr>
                                        <m:t>⋮</m:t>
                                      </m:r>
                                    </m:e>
                                    <m:e>
                                      <m:sSub>
                                        <m:sSubPr>
                                          <m:ctrlPr>
                                            <a:rPr lang="en-US" sz="2800" i="1">
                                              <a:latin typeface="Cambria Math" panose="02040503050406030204" pitchFamily="18" charset="0"/>
                                            </a:rPr>
                                          </m:ctrlPr>
                                        </m:sSubPr>
                                        <m:e>
                                          <m:r>
                                            <a:rPr lang="en-US" sz="2800" b="1" i="1">
                                              <a:latin typeface="Cambria Math" panose="02040503050406030204" pitchFamily="18" charset="0"/>
                                            </a:rPr>
                                            <m:t>𝒂</m:t>
                                          </m:r>
                                        </m:e>
                                        <m:sub>
                                          <m:r>
                                            <a:rPr lang="en-US" sz="2800" b="1" i="1">
                                              <a:latin typeface="Cambria Math" panose="02040503050406030204" pitchFamily="18" charset="0"/>
                                            </a:rPr>
                                            <m:t>𝒊𝒋</m:t>
                                          </m:r>
                                        </m:sub>
                                      </m:sSub>
                                    </m:e>
                                    <m:e>
                                      <m:r>
                                        <a:rPr lang="en-US" sz="2800" b="0" i="0">
                                          <a:latin typeface="Cambria Math" panose="02040503050406030204" pitchFamily="18" charset="0"/>
                                        </a:rPr>
                                        <m:t>⋮</m:t>
                                      </m:r>
                                    </m:e>
                                  </m:mr>
                                  <m:mr>
                                    <m:e>
                                      <m:sSub>
                                        <m:sSubPr>
                                          <m:ctrlPr>
                                            <a:rPr lang="en-US" sz="2800" b="0" i="1">
                                              <a:latin typeface="Cambria Math" panose="02040503050406030204" pitchFamily="18" charset="0"/>
                                            </a:rPr>
                                          </m:ctrlPr>
                                        </m:sSubPr>
                                        <m:e>
                                          <m:r>
                                            <a:rPr lang="en-US" sz="2800" b="0" i="1">
                                              <a:latin typeface="Cambria Math" panose="02040503050406030204" pitchFamily="18" charset="0"/>
                                            </a:rPr>
                                            <m:t>𝑎</m:t>
                                          </m:r>
                                        </m:e>
                                        <m:sub>
                                          <m:r>
                                            <a:rPr lang="en-US" sz="2800" b="0" i="1">
                                              <a:latin typeface="Cambria Math" panose="02040503050406030204" pitchFamily="18" charset="0"/>
                                            </a:rPr>
                                            <m:t>𝑚</m:t>
                                          </m:r>
                                          <m:r>
                                            <a:rPr lang="en-US" sz="2800" b="0" i="0">
                                              <a:latin typeface="Cambria Math" panose="02040503050406030204" pitchFamily="18" charset="0"/>
                                            </a:rPr>
                                            <m:t>1</m:t>
                                          </m:r>
                                        </m:sub>
                                      </m:sSub>
                                    </m:e>
                                    <m:e>
                                      <m:sSub>
                                        <m:sSubPr>
                                          <m:ctrlPr>
                                            <a:rPr lang="en-US" sz="2800" b="0" i="1">
                                              <a:latin typeface="Cambria Math" panose="02040503050406030204" pitchFamily="18" charset="0"/>
                                            </a:rPr>
                                          </m:ctrlPr>
                                        </m:sSubPr>
                                        <m:e>
                                          <m:r>
                                            <a:rPr lang="en-US" sz="2800" b="0" i="1">
                                              <a:latin typeface="Cambria Math" panose="02040503050406030204" pitchFamily="18" charset="0"/>
                                            </a:rPr>
                                            <m:t>𝑎</m:t>
                                          </m:r>
                                        </m:e>
                                        <m:sub>
                                          <m:r>
                                            <a:rPr lang="en-US" sz="2800" b="0" i="1">
                                              <a:latin typeface="Cambria Math" panose="02040503050406030204" pitchFamily="18" charset="0"/>
                                            </a:rPr>
                                            <m:t>𝑚</m:t>
                                          </m:r>
                                          <m:r>
                                            <a:rPr lang="en-US" sz="2800" b="0" i="0">
                                              <a:latin typeface="Cambria Math" panose="02040503050406030204" pitchFamily="18" charset="0"/>
                                            </a:rPr>
                                            <m:t>2</m:t>
                                          </m:r>
                                        </m:sub>
                                      </m:sSub>
                                    </m:e>
                                    <m:e>
                                      <m:r>
                                        <a:rPr lang="en-US" sz="2800" b="0" i="0">
                                          <a:latin typeface="Cambria Math" panose="02040503050406030204" pitchFamily="18" charset="0"/>
                                        </a:rPr>
                                        <m:t>⋯</m:t>
                                      </m:r>
                                    </m:e>
                                    <m:e>
                                      <m:sSub>
                                        <m:sSubPr>
                                          <m:ctrlPr>
                                            <a:rPr lang="en-US" sz="2800" b="0" i="1">
                                              <a:latin typeface="Cambria Math" panose="02040503050406030204" pitchFamily="18" charset="0"/>
                                            </a:rPr>
                                          </m:ctrlPr>
                                        </m:sSubPr>
                                        <m:e>
                                          <m:r>
                                            <a:rPr lang="en-US" sz="2800" b="0" i="1">
                                              <a:latin typeface="Cambria Math" panose="02040503050406030204" pitchFamily="18" charset="0"/>
                                            </a:rPr>
                                            <m:t>𝑎</m:t>
                                          </m:r>
                                        </m:e>
                                        <m:sub>
                                          <m:r>
                                            <a:rPr lang="en-US" sz="2800" b="0" i="1">
                                              <a:latin typeface="Cambria Math" panose="02040503050406030204" pitchFamily="18" charset="0"/>
                                            </a:rPr>
                                            <m:t>𝑚𝑛</m:t>
                                          </m:r>
                                        </m:sub>
                                      </m:sSub>
                                    </m:e>
                                  </m:mr>
                                </m:m>
                              </m:e>
                            </m:d>
                            <m:r>
                              <a:rPr lang="en-US" sz="2800" b="0" i="0">
                                <a:latin typeface="Cambria Math" panose="02040503050406030204" pitchFamily="18" charset="0"/>
                              </a:rPr>
                              <m:t>,</m:t>
                            </m:r>
                          </m:e>
                          <m:e>
                            <m:r>
                              <a:rPr lang="en-US" sz="2800" b="0" i="1" smtClean="0">
                                <a:latin typeface="Cambria Math" panose="02040503050406030204" pitchFamily="18" charset="0"/>
                              </a:rPr>
                              <m:t> </m:t>
                            </m:r>
                            <m:sSub>
                              <m:sSubPr>
                                <m:ctrlPr>
                                  <a:rPr lang="en-US" sz="2800" b="0" i="1">
                                    <a:latin typeface="Cambria Math" panose="02040503050406030204" pitchFamily="18" charset="0"/>
                                  </a:rPr>
                                </m:ctrlPr>
                              </m:sSubPr>
                              <m:e>
                                <m:r>
                                  <a:rPr lang="en-US" sz="2800" b="1" i="1">
                                    <a:latin typeface="Cambria Math" panose="02040503050406030204" pitchFamily="18" charset="0"/>
                                  </a:rPr>
                                  <m:t>𝒂</m:t>
                                </m:r>
                              </m:e>
                              <m:sub>
                                <m:r>
                                  <a:rPr lang="en-US" sz="2800" b="1" i="1">
                                    <a:latin typeface="Cambria Math" panose="02040503050406030204" pitchFamily="18" charset="0"/>
                                  </a:rPr>
                                  <m:t>𝒊𝒋</m:t>
                                </m:r>
                              </m:sub>
                            </m:sSub>
                            <m:d>
                              <m:dPr>
                                <m:begChr m:val="{"/>
                                <m:endChr m:val=""/>
                                <m:ctrlPr>
                                  <a:rPr lang="en-US" sz="2800" b="0" i="1">
                                    <a:latin typeface="Cambria Math" panose="02040503050406030204" pitchFamily="18" charset="0"/>
                                  </a:rPr>
                                </m:ctrlPr>
                              </m:dPr>
                              <m:e>
                                <m:m>
                                  <m:mPr>
                                    <m:plcHide m:val="on"/>
                                    <m:mcs>
                                      <m:mc>
                                        <m:mcPr>
                                          <m:count m:val="1"/>
                                          <m:mcJc m:val="center"/>
                                        </m:mcPr>
                                      </m:mc>
                                    </m:mcs>
                                    <m:ctrlPr>
                                      <a:rPr lang="en-US" sz="2800" b="0" i="1">
                                        <a:latin typeface="Cambria Math" panose="02040503050406030204" pitchFamily="18" charset="0"/>
                                      </a:rPr>
                                    </m:ctrlPr>
                                  </m:mPr>
                                  <m:mr>
                                    <m:e>
                                      <m:r>
                                        <a:rPr lang="en-US" sz="2800" b="0" i="1" smtClean="0">
                                          <a:latin typeface="Cambria Math" panose="02040503050406030204" pitchFamily="18" charset="0"/>
                                        </a:rPr>
                                        <m:t>𝑖</m:t>
                                      </m:r>
                                      <m:r>
                                        <a:rPr lang="en-US" sz="2800" b="0" i="0">
                                          <a:latin typeface="Cambria Math" panose="02040503050406030204" pitchFamily="18" charset="0"/>
                                        </a:rPr>
                                        <m:t> =</m:t>
                                      </m:r>
                                      <m:r>
                                        <m:rPr>
                                          <m:nor/>
                                        </m:rPr>
                                        <a:rPr lang="en-ZA" sz="2800" dirty="0">
                                          <a:latin typeface="+mj-lt"/>
                                        </a:rPr>
                                        <m:t>the</m:t>
                                      </m:r>
                                      <m:r>
                                        <m:rPr>
                                          <m:nor/>
                                        </m:rPr>
                                        <a:rPr lang="en-ZA" sz="2800" dirty="0">
                                          <a:latin typeface="+mj-lt"/>
                                        </a:rPr>
                                        <m:t> </m:t>
                                      </m:r>
                                      <m:r>
                                        <m:rPr>
                                          <m:nor/>
                                        </m:rPr>
                                        <a:rPr lang="en-ZA" sz="2800" dirty="0">
                                          <a:latin typeface="+mj-lt"/>
                                        </a:rPr>
                                        <m:t>row</m:t>
                                      </m:r>
                                      <m:r>
                                        <m:rPr>
                                          <m:nor/>
                                        </m:rPr>
                                        <a:rPr lang="en-ZA" sz="2800" dirty="0">
                                          <a:latin typeface="+mj-lt"/>
                                        </a:rPr>
                                        <m:t> </m:t>
                                      </m:r>
                                      <m:r>
                                        <m:rPr>
                                          <m:nor/>
                                        </m:rPr>
                                        <a:rPr lang="en-ZA" sz="2800" dirty="0">
                                          <a:latin typeface="+mj-lt"/>
                                        </a:rPr>
                                        <m:t>number</m:t>
                                      </m:r>
                                      <m:r>
                                        <a:rPr lang="en-US" sz="2800" b="0" i="1" dirty="0" smtClean="0">
                                          <a:latin typeface="Cambria Math" panose="02040503050406030204" pitchFamily="18" charset="0"/>
                                        </a:rPr>
                                        <m:t>.       </m:t>
                                      </m:r>
                                    </m:e>
                                  </m:mr>
                                  <m:mr>
                                    <m:e>
                                      <m:r>
                                        <a:rPr lang="en-US" sz="2800" b="0" i="1">
                                          <a:latin typeface="Cambria Math" panose="02040503050406030204" pitchFamily="18" charset="0"/>
                                        </a:rPr>
                                        <m:t>𝑗</m:t>
                                      </m:r>
                                      <m:r>
                                        <a:rPr lang="en-US" sz="2800" b="0" i="0">
                                          <a:latin typeface="Cambria Math" panose="02040503050406030204" pitchFamily="18" charset="0"/>
                                        </a:rPr>
                                        <m:t> =</m:t>
                                      </m:r>
                                      <m:r>
                                        <m:rPr>
                                          <m:nor/>
                                        </m:rPr>
                                        <a:rPr lang="en-ZA" sz="2800" dirty="0">
                                          <a:latin typeface="+mj-lt"/>
                                        </a:rPr>
                                        <m:t>the</m:t>
                                      </m:r>
                                      <m:r>
                                        <m:rPr>
                                          <m:nor/>
                                        </m:rPr>
                                        <a:rPr lang="en-ZA" sz="2800" dirty="0">
                                          <a:latin typeface="+mj-lt"/>
                                        </a:rPr>
                                        <m:t> </m:t>
                                      </m:r>
                                      <m:r>
                                        <m:rPr>
                                          <m:nor/>
                                        </m:rPr>
                                        <a:rPr lang="en-ZA" sz="2800" dirty="0">
                                          <a:latin typeface="+mj-lt"/>
                                        </a:rPr>
                                        <m:t>column</m:t>
                                      </m:r>
                                      <m:r>
                                        <m:rPr>
                                          <m:nor/>
                                        </m:rPr>
                                        <a:rPr lang="en-ZA" sz="2800" dirty="0">
                                          <a:latin typeface="+mj-lt"/>
                                        </a:rPr>
                                        <m:t> </m:t>
                                      </m:r>
                                      <m:r>
                                        <m:rPr>
                                          <m:nor/>
                                        </m:rPr>
                                        <a:rPr lang="en-ZA" sz="2800" dirty="0">
                                          <a:latin typeface="+mj-lt"/>
                                        </a:rPr>
                                        <m:t>number</m:t>
                                      </m:r>
                                    </m:e>
                                  </m:mr>
                                </m:m>
                              </m:e>
                            </m:d>
                          </m:e>
                        </m:mr>
                      </m:m>
                      <m:r>
                        <a:rPr lang="en-US" sz="2800" b="0" i="0">
                          <a:latin typeface="Cambria Math" panose="02040503050406030204" pitchFamily="18" charset="0"/>
                        </a:rPr>
                        <m:t> </m:t>
                      </m:r>
                    </m:oMath>
                  </m:oMathPara>
                </a14:m>
                <a:endParaRPr lang="en-US" sz="2800" dirty="0">
                  <a:latin typeface="+mj-lt"/>
                </a:endParaRPr>
              </a:p>
            </p:txBody>
          </p:sp>
        </mc:Choice>
        <mc:Fallback xmlns="">
          <p:sp>
            <p:nvSpPr>
              <p:cNvPr id="5" name="Rectangle 4">
                <a:extLst>
                  <a:ext uri="{FF2B5EF4-FFF2-40B4-BE49-F238E27FC236}">
                    <a16:creationId xmlns:a16="http://schemas.microsoft.com/office/drawing/2014/main" id="{C44F483D-20E1-444C-A512-2EAC76B2934E}"/>
                  </a:ext>
                </a:extLst>
              </p:cNvPr>
              <p:cNvSpPr>
                <a:spLocks noRot="1" noChangeAspect="1" noMove="1" noResize="1" noEditPoints="1" noAdjustHandles="1" noChangeArrowheads="1" noChangeShapeType="1" noTextEdit="1"/>
              </p:cNvSpPr>
              <p:nvPr/>
            </p:nvSpPr>
            <p:spPr>
              <a:xfrm>
                <a:off x="1279842" y="2448620"/>
                <a:ext cx="9823587" cy="1701813"/>
              </a:xfrm>
              <a:prstGeom prst="rect">
                <a:avLst/>
              </a:prstGeom>
              <a:blipFill>
                <a:blip r:embed="rId3"/>
                <a:stretch>
                  <a:fillRect t="-106667" b="-16222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0" name="Table 9">
                <a:extLst>
                  <a:ext uri="{FF2B5EF4-FFF2-40B4-BE49-F238E27FC236}">
                    <a16:creationId xmlns:a16="http://schemas.microsoft.com/office/drawing/2014/main" id="{C3F462F5-9CCE-1A4A-8F03-5779CD540329}"/>
                  </a:ext>
                </a:extLst>
              </p:cNvPr>
              <p:cNvGraphicFramePr>
                <a:graphicFrameLocks noGrp="1"/>
              </p:cNvGraphicFramePr>
              <p:nvPr>
                <p:extLst/>
              </p:nvPr>
            </p:nvGraphicFramePr>
            <p:xfrm>
              <a:off x="2226748" y="5235285"/>
              <a:ext cx="7343013" cy="1097534"/>
            </p:xfrm>
            <a:graphic>
              <a:graphicData uri="http://schemas.openxmlformats.org/drawingml/2006/table">
                <a:tbl>
                  <a:tblPr firstRow="1" bandRow="1">
                    <a:tableStyleId>{D27102A9-8310-4765-A935-A1911B00CA55}</a:tableStyleId>
                  </a:tblPr>
                  <a:tblGrid>
                    <a:gridCol w="2535828">
                      <a:extLst>
                        <a:ext uri="{9D8B030D-6E8A-4147-A177-3AD203B41FA5}">
                          <a16:colId xmlns:a16="http://schemas.microsoft.com/office/drawing/2014/main" val="3814248003"/>
                        </a:ext>
                      </a:extLst>
                    </a:gridCol>
                    <a:gridCol w="3095890">
                      <a:extLst>
                        <a:ext uri="{9D8B030D-6E8A-4147-A177-3AD203B41FA5}">
                          <a16:colId xmlns:a16="http://schemas.microsoft.com/office/drawing/2014/main" val="1217244078"/>
                        </a:ext>
                      </a:extLst>
                    </a:gridCol>
                    <a:gridCol w="1711295">
                      <a:extLst>
                        <a:ext uri="{9D8B030D-6E8A-4147-A177-3AD203B41FA5}">
                          <a16:colId xmlns:a16="http://schemas.microsoft.com/office/drawing/2014/main" val="3626647742"/>
                        </a:ext>
                      </a:extLst>
                    </a:gridCol>
                  </a:tblGrid>
                  <a:tr h="370840">
                    <a:tc>
                      <a:txBody>
                        <a:bodyPr/>
                        <a:lstStyle/>
                        <a:p>
                          <a:pPr algn="ctr"/>
                          <a14:m>
                            <m:oMath xmlns:m="http://schemas.openxmlformats.org/officeDocument/2006/math">
                              <m:r>
                                <a:rPr lang="en-US" sz="2000" b="0" i="1" smtClean="0">
                                  <a:latin typeface="Cambria Math" panose="02040503050406030204" pitchFamily="18" charset="0"/>
                                </a:rPr>
                                <m:t>1× </m:t>
                              </m:r>
                              <m:r>
                                <a:rPr lang="en-US" sz="2000" b="0" i="1" smtClean="0">
                                  <a:latin typeface="Cambria Math" panose="02040503050406030204" pitchFamily="18" charset="0"/>
                                </a:rPr>
                                <m:t>𝑛</m:t>
                              </m:r>
                              <m:r>
                                <a:rPr lang="en-US" sz="2000" b="0" i="1" smtClean="0">
                                  <a:latin typeface="Cambria Math" panose="02040503050406030204" pitchFamily="18" charset="0"/>
                                </a:rPr>
                                <m:t>:</m:t>
                              </m:r>
                            </m:oMath>
                          </a14:m>
                          <a:r>
                            <a:rPr lang="en-US" sz="2000" b="0" dirty="0"/>
                            <a:t> </a:t>
                          </a:r>
                          <a:r>
                            <a:rPr lang="en-ZA" sz="2000" b="0" dirty="0"/>
                            <a:t>row vector</a:t>
                          </a:r>
                          <a:endParaRPr lang="en-US" sz="2000" b="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m:rPr>
                                  <m:sty m:val="p"/>
                                </m:rPr>
                                <a:rPr lang="en-US" sz="2000" b="0" i="1" smtClean="0">
                                  <a:latin typeface="Cambria Math" panose="02040503050406030204" pitchFamily="18" charset="0"/>
                                </a:rPr>
                                <m:t>m</m:t>
                              </m:r>
                              <m:r>
                                <a:rPr lang="en-US" sz="2000" b="0" i="1" smtClean="0">
                                  <a:latin typeface="Cambria Math" panose="02040503050406030204" pitchFamily="18" charset="0"/>
                                </a:rPr>
                                <m:t>× 1:</m:t>
                              </m:r>
                            </m:oMath>
                          </a14:m>
                          <a:r>
                            <a:rPr lang="en-US" sz="2000" b="0" dirty="0"/>
                            <a:t> </a:t>
                          </a:r>
                          <a:r>
                            <a:rPr lang="en-ZA" sz="2000" b="0" dirty="0"/>
                            <a:t>column vector</a:t>
                          </a:r>
                          <a:r>
                            <a:rPr lang="en-US" sz="2000" b="0" dirty="0">
                              <a:effectLst/>
                            </a:rPr>
                            <a:t> </a:t>
                          </a:r>
                          <a:endParaRPr lang="en-US" sz="2000" b="0" dirty="0"/>
                        </a:p>
                      </a:txBody>
                      <a:tcPr/>
                    </a:tc>
                    <a:tc>
                      <a:txBody>
                        <a:bodyPr/>
                        <a:lstStyle/>
                        <a:p>
                          <a:pPr algn="ctr"/>
                          <a:r>
                            <a:rPr lang="en-ZA" sz="2000" b="0" dirty="0"/>
                            <a:t>square matrix</a:t>
                          </a:r>
                          <a:endParaRPr lang="en-US" sz="2000" b="0" dirty="0"/>
                        </a:p>
                      </a:txBody>
                      <a:tcPr/>
                    </a:tc>
                    <a:extLst>
                      <a:ext uri="{0D108BD9-81ED-4DB2-BD59-A6C34878D82A}">
                        <a16:rowId xmlns:a16="http://schemas.microsoft.com/office/drawing/2014/main" val="3028873506"/>
                      </a:ext>
                    </a:extLst>
                  </a:tr>
                  <a:tr h="370840">
                    <a:tc>
                      <a:txBody>
                        <a:bodyPr/>
                        <a:lstStyle/>
                        <a:p>
                          <a:pPr/>
                          <a14:m>
                            <m:oMathPara xmlns:m="http://schemas.openxmlformats.org/officeDocument/2006/math">
                              <m:oMathParaPr>
                                <m:jc m:val="centerGroup"/>
                              </m:oMathParaPr>
                              <m:oMath xmlns:m="http://schemas.openxmlformats.org/officeDocument/2006/math">
                                <m:d>
                                  <m:dPr>
                                    <m:ctrlPr>
                                      <a:rPr lang="en-US" sz="2400" i="1" smtClean="0">
                                        <a:latin typeface="Cambria Math" panose="02040503050406030204" pitchFamily="18" charset="0"/>
                                      </a:rPr>
                                    </m:ctrlPr>
                                  </m:dPr>
                                  <m:e>
                                    <m:m>
                                      <m:mPr>
                                        <m:plcHide m:val="on"/>
                                        <m:mcs>
                                          <m:mc>
                                            <m:mcPr>
                                              <m:count m:val="2"/>
                                              <m:mcJc m:val="center"/>
                                            </m:mcPr>
                                          </m:mc>
                                        </m:mcs>
                                        <m:ctrlPr>
                                          <a:rPr lang="en-US" sz="2400" i="1">
                                            <a:latin typeface="Cambria Math" panose="02040503050406030204" pitchFamily="18" charset="0"/>
                                          </a:rPr>
                                        </m:ctrlPr>
                                      </m:mPr>
                                      <m:mr>
                                        <m:e>
                                          <m:r>
                                            <a:rPr lang="en-US" sz="2400">
                                              <a:latin typeface="Cambria Math" panose="02040503050406030204" pitchFamily="18" charset="0"/>
                                            </a:rPr>
                                            <m:t>0.6</m:t>
                                          </m:r>
                                        </m:e>
                                        <m:e>
                                          <m:r>
                                            <a:rPr lang="en-US" sz="2400">
                                              <a:latin typeface="Cambria Math" panose="02040503050406030204" pitchFamily="18" charset="0"/>
                                            </a:rPr>
                                            <m:t>0.8</m:t>
                                          </m:r>
                                        </m:e>
                                      </m:mr>
                                    </m:m>
                                  </m:e>
                                </m:d>
                              </m:oMath>
                            </m:oMathPara>
                          </a14:m>
                          <a:endParaRPr lang="en-US" sz="2400" dirty="0"/>
                        </a:p>
                      </a:txBody>
                      <a:tcPr/>
                    </a:tc>
                    <a:tc>
                      <a:txBody>
                        <a:bodyPr/>
                        <a:lstStyle/>
                        <a:p>
                          <a:pPr/>
                          <a14:m>
                            <m:oMathPara xmlns:m="http://schemas.openxmlformats.org/officeDocument/2006/math">
                              <m:oMathParaPr>
                                <m:jc m:val="centerGroup"/>
                              </m:oMathParaPr>
                              <m:oMath xmlns:m="http://schemas.openxmlformats.org/officeDocument/2006/math">
                                <m:d>
                                  <m:dPr>
                                    <m:ctrlPr>
                                      <a:rPr lang="en-US" sz="2400" i="1" smtClean="0">
                                        <a:latin typeface="Cambria Math" panose="02040503050406030204" pitchFamily="18" charset="0"/>
                                      </a:rPr>
                                    </m:ctrlPr>
                                  </m:dPr>
                                  <m:e>
                                    <m:m>
                                      <m:mPr>
                                        <m:plcHide m:val="on"/>
                                        <m:mcs>
                                          <m:mc>
                                            <m:mcPr>
                                              <m:count m:val="1"/>
                                              <m:mcJc m:val="center"/>
                                            </m:mcPr>
                                          </m:mc>
                                        </m:mcs>
                                        <m:ctrlPr>
                                          <a:rPr lang="en-US" sz="2400" i="1">
                                            <a:latin typeface="Cambria Math" panose="02040503050406030204" pitchFamily="18" charset="0"/>
                                          </a:rPr>
                                        </m:ctrlPr>
                                      </m:mPr>
                                      <m:mr>
                                        <m:e>
                                          <m:r>
                                            <a:rPr lang="en-US" sz="2400">
                                              <a:latin typeface="Cambria Math" panose="02040503050406030204" pitchFamily="18" charset="0"/>
                                            </a:rPr>
                                            <m:t>0.6</m:t>
                                          </m:r>
                                        </m:e>
                                      </m:mr>
                                      <m:mr>
                                        <m:e>
                                          <m:r>
                                            <a:rPr lang="en-US" sz="2400">
                                              <a:latin typeface="Cambria Math" panose="02040503050406030204" pitchFamily="18" charset="0"/>
                                            </a:rPr>
                                            <m:t>0.8</m:t>
                                          </m:r>
                                        </m:e>
                                      </m:mr>
                                    </m:m>
                                  </m:e>
                                </m:d>
                              </m:oMath>
                            </m:oMathPara>
                          </a14:m>
                          <a:endParaRPr lang="en-US" sz="2400" dirty="0"/>
                        </a:p>
                      </a:txBody>
                      <a:tcPr/>
                    </a:tc>
                    <a:tc>
                      <a:txBody>
                        <a:bodyPr/>
                        <a:lstStyle/>
                        <a:p>
                          <a:pPr/>
                          <a14:m>
                            <m:oMathPara xmlns:m="http://schemas.openxmlformats.org/officeDocument/2006/math">
                              <m:oMathParaPr>
                                <m:jc m:val="centerGroup"/>
                              </m:oMathParaPr>
                              <m:oMath xmlns:m="http://schemas.openxmlformats.org/officeDocument/2006/math">
                                <m:d>
                                  <m:dPr>
                                    <m:ctrlPr>
                                      <a:rPr lang="en-US" sz="2400" i="1" smtClean="0">
                                        <a:latin typeface="Cambria Math" panose="02040503050406030204" pitchFamily="18" charset="0"/>
                                      </a:rPr>
                                    </m:ctrlPr>
                                  </m:dPr>
                                  <m:e>
                                    <m:m>
                                      <m:mPr>
                                        <m:plcHide m:val="on"/>
                                        <m:mcs>
                                          <m:mc>
                                            <m:mcPr>
                                              <m:count m:val="2"/>
                                              <m:mcJc m:val="center"/>
                                            </m:mcPr>
                                          </m:mc>
                                        </m:mcs>
                                        <m:ctrlPr>
                                          <a:rPr lang="en-US" sz="2400" i="1">
                                            <a:latin typeface="Cambria Math" panose="02040503050406030204" pitchFamily="18" charset="0"/>
                                          </a:rPr>
                                        </m:ctrlPr>
                                      </m:mPr>
                                      <m:mr>
                                        <m:e>
                                          <m:r>
                                            <a:rPr lang="en-US" sz="2400">
                                              <a:latin typeface="Cambria Math" panose="02040503050406030204" pitchFamily="18" charset="0"/>
                                            </a:rPr>
                                            <m:t>1</m:t>
                                          </m:r>
                                        </m:e>
                                        <m:e>
                                          <m:r>
                                            <a:rPr lang="en-US" sz="2400">
                                              <a:latin typeface="Cambria Math" panose="02040503050406030204" pitchFamily="18" charset="0"/>
                                            </a:rPr>
                                            <m:t>2</m:t>
                                          </m:r>
                                        </m:e>
                                      </m:mr>
                                      <m:mr>
                                        <m:e>
                                          <m:r>
                                            <a:rPr lang="en-US" sz="2400">
                                              <a:latin typeface="Cambria Math" panose="02040503050406030204" pitchFamily="18" charset="0"/>
                                            </a:rPr>
                                            <m:t>3</m:t>
                                          </m:r>
                                        </m:e>
                                        <m:e>
                                          <m:r>
                                            <a:rPr lang="en-US" sz="2400">
                                              <a:latin typeface="Cambria Math" panose="02040503050406030204" pitchFamily="18" charset="0"/>
                                            </a:rPr>
                                            <m:t>4</m:t>
                                          </m:r>
                                        </m:e>
                                      </m:mr>
                                    </m:m>
                                  </m:e>
                                </m:d>
                              </m:oMath>
                            </m:oMathPara>
                          </a14:m>
                          <a:endParaRPr lang="en-US" sz="2400" dirty="0"/>
                        </a:p>
                      </a:txBody>
                      <a:tcPr/>
                    </a:tc>
                    <a:extLst>
                      <a:ext uri="{0D108BD9-81ED-4DB2-BD59-A6C34878D82A}">
                        <a16:rowId xmlns:a16="http://schemas.microsoft.com/office/drawing/2014/main" val="3538248918"/>
                      </a:ext>
                    </a:extLst>
                  </a:tr>
                </a:tbl>
              </a:graphicData>
            </a:graphic>
          </p:graphicFrame>
        </mc:Choice>
        <mc:Fallback xmlns="">
          <p:graphicFrame>
            <p:nvGraphicFramePr>
              <p:cNvPr id="10" name="Table 9">
                <a:extLst>
                  <a:ext uri="{FF2B5EF4-FFF2-40B4-BE49-F238E27FC236}">
                    <a16:creationId xmlns:a16="http://schemas.microsoft.com/office/drawing/2014/main" id="{C3F462F5-9CCE-1A4A-8F03-5779CD540329}"/>
                  </a:ext>
                </a:extLst>
              </p:cNvPr>
              <p:cNvGraphicFramePr>
                <a:graphicFrameLocks noGrp="1"/>
              </p:cNvGraphicFramePr>
              <p:nvPr>
                <p:extLst>
                  <p:ext uri="{D42A27DB-BD31-4B8C-83A1-F6EECF244321}">
                    <p14:modId xmlns:p14="http://schemas.microsoft.com/office/powerpoint/2010/main" val="3385972095"/>
                  </p:ext>
                </p:extLst>
              </p:nvPr>
            </p:nvGraphicFramePr>
            <p:xfrm>
              <a:off x="2226748" y="5235285"/>
              <a:ext cx="7343013" cy="1097534"/>
            </p:xfrm>
            <a:graphic>
              <a:graphicData uri="http://schemas.openxmlformats.org/drawingml/2006/table">
                <a:tbl>
                  <a:tblPr firstRow="1" bandRow="1">
                    <a:tableStyleId>{D27102A9-8310-4765-A935-A1911B00CA55}</a:tableStyleId>
                  </a:tblPr>
                  <a:tblGrid>
                    <a:gridCol w="2535828">
                      <a:extLst>
                        <a:ext uri="{9D8B030D-6E8A-4147-A177-3AD203B41FA5}">
                          <a16:colId xmlns:a16="http://schemas.microsoft.com/office/drawing/2014/main" val="3814248003"/>
                        </a:ext>
                      </a:extLst>
                    </a:gridCol>
                    <a:gridCol w="3095890">
                      <a:extLst>
                        <a:ext uri="{9D8B030D-6E8A-4147-A177-3AD203B41FA5}">
                          <a16:colId xmlns:a16="http://schemas.microsoft.com/office/drawing/2014/main" val="1217244078"/>
                        </a:ext>
                      </a:extLst>
                    </a:gridCol>
                    <a:gridCol w="1711295">
                      <a:extLst>
                        <a:ext uri="{9D8B030D-6E8A-4147-A177-3AD203B41FA5}">
                          <a16:colId xmlns:a16="http://schemas.microsoft.com/office/drawing/2014/main" val="3626647742"/>
                        </a:ext>
                      </a:extLst>
                    </a:gridCol>
                  </a:tblGrid>
                  <a:tr h="396240">
                    <a:tc>
                      <a:txBody>
                        <a:bodyPr/>
                        <a:lstStyle/>
                        <a:p>
                          <a:endParaRPr lang="en-US"/>
                        </a:p>
                      </a:txBody>
                      <a:tcPr>
                        <a:blipFill>
                          <a:blip r:embed="rId5"/>
                          <a:stretch>
                            <a:fillRect t="-9677" r="-189500" b="-193548"/>
                          </a:stretch>
                        </a:blipFill>
                      </a:tcPr>
                    </a:tc>
                    <a:tc>
                      <a:txBody>
                        <a:bodyPr/>
                        <a:lstStyle/>
                        <a:p>
                          <a:endParaRPr lang="en-US"/>
                        </a:p>
                      </a:txBody>
                      <a:tcPr>
                        <a:blipFill>
                          <a:blip r:embed="rId5"/>
                          <a:stretch>
                            <a:fillRect l="-81967" t="-9677" r="-55328" b="-193548"/>
                          </a:stretch>
                        </a:blipFill>
                      </a:tcPr>
                    </a:tc>
                    <a:tc>
                      <a:txBody>
                        <a:bodyPr/>
                        <a:lstStyle/>
                        <a:p>
                          <a:pPr algn="ctr"/>
                          <a:r>
                            <a:rPr lang="en-ZA" sz="2000" b="0" dirty="0"/>
                            <a:t>square matrix</a:t>
                          </a:r>
                          <a:endParaRPr lang="en-US" sz="2000" b="0" dirty="0"/>
                        </a:p>
                      </a:txBody>
                      <a:tcPr/>
                    </a:tc>
                    <a:extLst>
                      <a:ext uri="{0D108BD9-81ED-4DB2-BD59-A6C34878D82A}">
                        <a16:rowId xmlns:a16="http://schemas.microsoft.com/office/drawing/2014/main" val="3028873506"/>
                      </a:ext>
                    </a:extLst>
                  </a:tr>
                  <a:tr h="701294">
                    <a:tc>
                      <a:txBody>
                        <a:bodyPr/>
                        <a:lstStyle/>
                        <a:p>
                          <a:endParaRPr lang="en-US"/>
                        </a:p>
                      </a:txBody>
                      <a:tcPr>
                        <a:blipFill>
                          <a:blip r:embed="rId5"/>
                          <a:stretch>
                            <a:fillRect t="-60714" r="-189500" b="-7143"/>
                          </a:stretch>
                        </a:blipFill>
                      </a:tcPr>
                    </a:tc>
                    <a:tc>
                      <a:txBody>
                        <a:bodyPr/>
                        <a:lstStyle/>
                        <a:p>
                          <a:endParaRPr lang="en-US"/>
                        </a:p>
                      </a:txBody>
                      <a:tcPr>
                        <a:blipFill>
                          <a:blip r:embed="rId5"/>
                          <a:stretch>
                            <a:fillRect l="-81967" t="-60714" r="-55328" b="-7143"/>
                          </a:stretch>
                        </a:blipFill>
                      </a:tcPr>
                    </a:tc>
                    <a:tc>
                      <a:txBody>
                        <a:bodyPr/>
                        <a:lstStyle/>
                        <a:p>
                          <a:endParaRPr lang="en-US"/>
                        </a:p>
                      </a:txBody>
                      <a:tcPr>
                        <a:blipFill>
                          <a:blip r:embed="rId5"/>
                          <a:stretch>
                            <a:fillRect l="-328889" t="-60714" b="-7143"/>
                          </a:stretch>
                        </a:blipFill>
                      </a:tcPr>
                    </a:tc>
                    <a:extLst>
                      <a:ext uri="{0D108BD9-81ED-4DB2-BD59-A6C34878D82A}">
                        <a16:rowId xmlns:a16="http://schemas.microsoft.com/office/drawing/2014/main" val="3538248918"/>
                      </a:ext>
                    </a:extLst>
                  </a:tr>
                </a:tbl>
              </a:graphicData>
            </a:graphic>
          </p:graphicFrame>
        </mc:Fallback>
      </mc:AlternateContent>
      <p:sp>
        <p:nvSpPr>
          <p:cNvPr id="11" name="TextBox 10">
            <a:extLst>
              <a:ext uri="{FF2B5EF4-FFF2-40B4-BE49-F238E27FC236}">
                <a16:creationId xmlns:a16="http://schemas.microsoft.com/office/drawing/2014/main" id="{ACCBF541-C47B-5043-B2A0-374681C3B479}"/>
              </a:ext>
            </a:extLst>
          </p:cNvPr>
          <p:cNvSpPr txBox="1"/>
          <p:nvPr/>
        </p:nvSpPr>
        <p:spPr>
          <a:xfrm>
            <a:off x="355024" y="4595555"/>
            <a:ext cx="4942059" cy="461665"/>
          </a:xfrm>
          <a:prstGeom prst="rect">
            <a:avLst/>
          </a:prstGeom>
          <a:noFill/>
        </p:spPr>
        <p:txBody>
          <a:bodyPr wrap="none" rtlCol="0">
            <a:spAutoFit/>
          </a:bodyPr>
          <a:lstStyle/>
          <a:p>
            <a:r>
              <a:rPr lang="en-ZA" sz="2400" dirty="0"/>
              <a:t>Matrices used in quantum computing:</a:t>
            </a:r>
            <a:endParaRPr lang="en-US" sz="2400" b="1" dirty="0"/>
          </a:p>
        </p:txBody>
      </p:sp>
    </p:spTree>
    <p:extLst>
      <p:ext uri="{BB962C8B-B14F-4D97-AF65-F5344CB8AC3E}">
        <p14:creationId xmlns:p14="http://schemas.microsoft.com/office/powerpoint/2010/main" val="13137856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dissolve">
                                      <p:cBhvr>
                                        <p:cTn id="7" dur="500"/>
                                        <p:tgtEl>
                                          <p:spTgt spid="11"/>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dissolve">
                                      <p:cBhvr>
                                        <p:cTn id="1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0F5F32-8091-264E-8BEB-D0B1774BC638}"/>
              </a:ext>
            </a:extLst>
          </p:cNvPr>
          <p:cNvSpPr>
            <a:spLocks noGrp="1"/>
          </p:cNvSpPr>
          <p:nvPr>
            <p:ph type="title"/>
          </p:nvPr>
        </p:nvSpPr>
        <p:spPr/>
        <p:txBody>
          <a:bodyPr/>
          <a:lstStyle/>
          <a:p>
            <a:r>
              <a:rPr lang="en-US" dirty="0" err="1"/>
              <a:t>MathBox</a:t>
            </a:r>
            <a:r>
              <a:rPr lang="en-US" dirty="0"/>
              <a:t>: </a:t>
            </a:r>
            <a:r>
              <a:rPr lang="en-ZA" dirty="0"/>
              <a:t>Matrix Operations </a:t>
            </a:r>
            <a:endParaRPr lang="en-US" dirty="0"/>
          </a:p>
        </p:txBody>
      </p:sp>
      <p:sp>
        <p:nvSpPr>
          <p:cNvPr id="3" name="Slide Number Placeholder 2">
            <a:extLst>
              <a:ext uri="{FF2B5EF4-FFF2-40B4-BE49-F238E27FC236}">
                <a16:creationId xmlns:a16="http://schemas.microsoft.com/office/drawing/2014/main" id="{590AE14B-1409-2F41-BDFA-883EA98B4973}"/>
              </a:ext>
            </a:extLst>
          </p:cNvPr>
          <p:cNvSpPr>
            <a:spLocks noGrp="1"/>
          </p:cNvSpPr>
          <p:nvPr>
            <p:ph type="sldNum" sz="quarter" idx="12"/>
          </p:nvPr>
        </p:nvSpPr>
        <p:spPr/>
        <p:txBody>
          <a:bodyPr/>
          <a:lstStyle/>
          <a:p>
            <a:fld id="{591A223C-FA10-BC46-A853-03BA373D023C}" type="slidenum">
              <a:rPr lang="en-US" smtClean="0"/>
              <a:t>4</a:t>
            </a:fld>
            <a:endParaRPr lang="en-US"/>
          </a:p>
        </p:txBody>
      </p:sp>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D70383F4-093D-9846-A085-171C01AFA2B5}"/>
                  </a:ext>
                </a:extLst>
              </p:cNvPr>
              <p:cNvGraphicFramePr>
                <a:graphicFrameLocks noGrp="1"/>
              </p:cNvGraphicFramePr>
              <p:nvPr>
                <p:extLst/>
              </p:nvPr>
            </p:nvGraphicFramePr>
            <p:xfrm>
              <a:off x="346828" y="1353668"/>
              <a:ext cx="11440360" cy="4622380"/>
            </p:xfrm>
            <a:graphic>
              <a:graphicData uri="http://schemas.openxmlformats.org/drawingml/2006/table">
                <a:tbl>
                  <a:tblPr firstRow="1" bandRow="1">
                    <a:tableStyleId>{ED083AE6-46FA-4A59-8FB0-9F97EB10719F}</a:tableStyleId>
                  </a:tblPr>
                  <a:tblGrid>
                    <a:gridCol w="5380204">
                      <a:extLst>
                        <a:ext uri="{9D8B030D-6E8A-4147-A177-3AD203B41FA5}">
                          <a16:colId xmlns:a16="http://schemas.microsoft.com/office/drawing/2014/main" val="3579567803"/>
                        </a:ext>
                      </a:extLst>
                    </a:gridCol>
                    <a:gridCol w="6060156">
                      <a:extLst>
                        <a:ext uri="{9D8B030D-6E8A-4147-A177-3AD203B41FA5}">
                          <a16:colId xmlns:a16="http://schemas.microsoft.com/office/drawing/2014/main" val="4022472785"/>
                        </a:ext>
                      </a:extLst>
                    </a:gridCol>
                  </a:tblGrid>
                  <a:tr h="390271">
                    <a:tc>
                      <a:txBody>
                        <a:bodyPr/>
                        <a:lstStyle/>
                        <a:p>
                          <a:pPr algn="ctr"/>
                          <a:r>
                            <a:rPr lang="en-ZA" sz="2400" dirty="0"/>
                            <a:t>Operations</a:t>
                          </a:r>
                          <a:endParaRPr lang="en-US" sz="2100" dirty="0"/>
                        </a:p>
                      </a:txBody>
                      <a:tcPr/>
                    </a:tc>
                    <a:tc>
                      <a:txBody>
                        <a:bodyPr/>
                        <a:lstStyle/>
                        <a:p>
                          <a:pPr algn="ctr"/>
                          <a:r>
                            <a:rPr lang="en-US" sz="2100" dirty="0"/>
                            <a:t>Example</a:t>
                          </a:r>
                        </a:p>
                      </a:txBody>
                      <a:tcPr/>
                    </a:tc>
                    <a:extLst>
                      <a:ext uri="{0D108BD9-81ED-4DB2-BD59-A6C34878D82A}">
                        <a16:rowId xmlns:a16="http://schemas.microsoft.com/office/drawing/2014/main" val="2867364874"/>
                      </a:ext>
                    </a:extLst>
                  </a:tr>
                  <a:tr h="997359">
                    <a:tc>
                      <a:txBody>
                        <a:bodyPr/>
                        <a:lstStyle/>
                        <a:p>
                          <a:r>
                            <a:rPr lang="en-ZA" sz="2100" b="1" dirty="0"/>
                            <a:t>Addition and Subtraction</a:t>
                          </a:r>
                          <a:endParaRPr lang="en-US" sz="2100" b="1" kern="1200" dirty="0">
                            <a:effectLst/>
                          </a:endParaRPr>
                        </a:p>
                        <a:p>
                          <a:r>
                            <a:rPr lang="en-ZA" sz="2100" dirty="0"/>
                            <a:t>Add/subtract elements with the same indices.</a:t>
                          </a:r>
                          <a:endParaRPr lang="en-US" sz="2100" dirty="0"/>
                        </a:p>
                      </a:txBody>
                      <a:tcPr/>
                    </a:tc>
                    <a:tc>
                      <a:txBody>
                        <a:bodyPr/>
                        <a:lstStyle/>
                        <a:p>
                          <a:pPr algn="ctr"/>
                          <a14:m>
                            <m:oMath xmlns:m="http://schemas.openxmlformats.org/officeDocument/2006/math">
                              <m:d>
                                <m:dPr>
                                  <m:ctrlPr>
                                    <a:rPr lang="en-US" sz="2100" i="1" kern="1200" smtClean="0">
                                      <a:effectLst/>
                                      <a:latin typeface="Cambria Math" panose="02040503050406030204" pitchFamily="18" charset="0"/>
                                    </a:rPr>
                                  </m:ctrlPr>
                                </m:dPr>
                                <m:e>
                                  <m:m>
                                    <m:mPr>
                                      <m:mcs>
                                        <m:mc>
                                          <m:mcPr>
                                            <m:count m:val="2"/>
                                            <m:mcJc m:val="center"/>
                                          </m:mcPr>
                                        </m:mc>
                                      </m:mcs>
                                      <m:ctrlPr>
                                        <a:rPr lang="en-US" sz="2100" i="1" kern="1200">
                                          <a:effectLst/>
                                          <a:latin typeface="Cambria Math" panose="02040503050406030204" pitchFamily="18" charset="0"/>
                                        </a:rPr>
                                      </m:ctrlPr>
                                    </m:mPr>
                                    <m:mr>
                                      <m:e>
                                        <m:r>
                                          <a:rPr lang="en-US" sz="2100" kern="1200">
                                            <a:effectLst/>
                                            <a:latin typeface="Cambria Math" panose="02040503050406030204" pitchFamily="18" charset="0"/>
                                          </a:rPr>
                                          <m:t>𝑎</m:t>
                                        </m:r>
                                      </m:e>
                                      <m:e>
                                        <m:r>
                                          <a:rPr lang="en-US" sz="2100" kern="1200">
                                            <a:effectLst/>
                                            <a:latin typeface="Cambria Math" panose="02040503050406030204" pitchFamily="18" charset="0"/>
                                          </a:rPr>
                                          <m:t>𝑏</m:t>
                                        </m:r>
                                      </m:e>
                                    </m:mr>
                                    <m:mr>
                                      <m:e>
                                        <m:r>
                                          <a:rPr lang="en-US" sz="2100" kern="1200">
                                            <a:effectLst/>
                                            <a:latin typeface="Cambria Math" panose="02040503050406030204" pitchFamily="18" charset="0"/>
                                          </a:rPr>
                                          <m:t>𝑐</m:t>
                                        </m:r>
                                      </m:e>
                                      <m:e>
                                        <m:r>
                                          <a:rPr lang="en-US" sz="2100" kern="1200">
                                            <a:effectLst/>
                                            <a:latin typeface="Cambria Math" panose="02040503050406030204" pitchFamily="18" charset="0"/>
                                          </a:rPr>
                                          <m:t>𝑑</m:t>
                                        </m:r>
                                      </m:e>
                                    </m:mr>
                                  </m:m>
                                </m:e>
                              </m:d>
                              <m:r>
                                <a:rPr lang="en-US" sz="2100" kern="1200">
                                  <a:effectLst/>
                                  <a:latin typeface="Cambria Math" panose="02040503050406030204" pitchFamily="18" charset="0"/>
                                </a:rPr>
                                <m:t>+</m:t>
                              </m:r>
                              <m:d>
                                <m:dPr>
                                  <m:ctrlPr>
                                    <a:rPr lang="en-US" sz="2100" i="1" kern="1200">
                                      <a:effectLst/>
                                      <a:latin typeface="Cambria Math" panose="02040503050406030204" pitchFamily="18" charset="0"/>
                                    </a:rPr>
                                  </m:ctrlPr>
                                </m:dPr>
                                <m:e>
                                  <m:m>
                                    <m:mPr>
                                      <m:mcs>
                                        <m:mc>
                                          <m:mcPr>
                                            <m:count m:val="2"/>
                                            <m:mcJc m:val="center"/>
                                          </m:mcPr>
                                        </m:mc>
                                      </m:mcs>
                                      <m:ctrlPr>
                                        <a:rPr lang="en-US" sz="2100" i="1" kern="1200">
                                          <a:effectLst/>
                                          <a:latin typeface="Cambria Math" panose="02040503050406030204" pitchFamily="18" charset="0"/>
                                        </a:rPr>
                                      </m:ctrlPr>
                                    </m:mPr>
                                    <m:mr>
                                      <m:e>
                                        <m:r>
                                          <a:rPr lang="en-US" sz="2100" kern="1200">
                                            <a:effectLst/>
                                            <a:latin typeface="Cambria Math" panose="02040503050406030204" pitchFamily="18" charset="0"/>
                                          </a:rPr>
                                          <m:t>𝑤</m:t>
                                        </m:r>
                                      </m:e>
                                      <m:e>
                                        <m:r>
                                          <a:rPr lang="en-US" sz="2100" kern="1200">
                                            <a:effectLst/>
                                            <a:latin typeface="Cambria Math" panose="02040503050406030204" pitchFamily="18" charset="0"/>
                                          </a:rPr>
                                          <m:t>𝑥</m:t>
                                        </m:r>
                                      </m:e>
                                    </m:mr>
                                    <m:mr>
                                      <m:e>
                                        <m:r>
                                          <a:rPr lang="en-US" sz="2100" kern="1200">
                                            <a:effectLst/>
                                            <a:latin typeface="Cambria Math" panose="02040503050406030204" pitchFamily="18" charset="0"/>
                                          </a:rPr>
                                          <m:t>𝑦</m:t>
                                        </m:r>
                                      </m:e>
                                      <m:e>
                                        <m:r>
                                          <a:rPr lang="en-US" sz="2100" kern="1200">
                                            <a:effectLst/>
                                            <a:latin typeface="Cambria Math" panose="02040503050406030204" pitchFamily="18" charset="0"/>
                                          </a:rPr>
                                          <m:t>𝑧</m:t>
                                        </m:r>
                                      </m:e>
                                    </m:mr>
                                  </m:m>
                                </m:e>
                              </m:d>
                              <m:r>
                                <a:rPr lang="en-US" sz="2100" kern="1200">
                                  <a:effectLst/>
                                  <a:latin typeface="Cambria Math" panose="02040503050406030204" pitchFamily="18" charset="0"/>
                                </a:rPr>
                                <m:t>=</m:t>
                              </m:r>
                              <m:d>
                                <m:dPr>
                                  <m:ctrlPr>
                                    <a:rPr lang="en-US" sz="2100" i="1" kern="1200">
                                      <a:effectLst/>
                                      <a:latin typeface="Cambria Math" panose="02040503050406030204" pitchFamily="18" charset="0"/>
                                    </a:rPr>
                                  </m:ctrlPr>
                                </m:dPr>
                                <m:e>
                                  <m:m>
                                    <m:mPr>
                                      <m:mcs>
                                        <m:mc>
                                          <m:mcPr>
                                            <m:count m:val="2"/>
                                            <m:mcJc m:val="center"/>
                                          </m:mcPr>
                                        </m:mc>
                                      </m:mcs>
                                      <m:ctrlPr>
                                        <a:rPr lang="en-US" sz="2100" i="1" kern="1200">
                                          <a:effectLst/>
                                          <a:latin typeface="Cambria Math" panose="02040503050406030204" pitchFamily="18" charset="0"/>
                                        </a:rPr>
                                      </m:ctrlPr>
                                    </m:mPr>
                                    <m:mr>
                                      <m:e>
                                        <m:r>
                                          <a:rPr lang="en-US" sz="2100" kern="1200">
                                            <a:effectLst/>
                                            <a:latin typeface="Cambria Math" panose="02040503050406030204" pitchFamily="18" charset="0"/>
                                          </a:rPr>
                                          <m:t>𝑎</m:t>
                                        </m:r>
                                        <m:r>
                                          <a:rPr lang="en-US" sz="2100" kern="1200">
                                            <a:effectLst/>
                                            <a:latin typeface="Cambria Math" panose="02040503050406030204" pitchFamily="18" charset="0"/>
                                          </a:rPr>
                                          <m:t>+</m:t>
                                        </m:r>
                                        <m:r>
                                          <a:rPr lang="en-US" sz="2100" kern="1200">
                                            <a:effectLst/>
                                            <a:latin typeface="Cambria Math" panose="02040503050406030204" pitchFamily="18" charset="0"/>
                                          </a:rPr>
                                          <m:t>𝑤</m:t>
                                        </m:r>
                                      </m:e>
                                      <m:e>
                                        <m:r>
                                          <a:rPr lang="en-US" sz="2100" kern="1200">
                                            <a:effectLst/>
                                            <a:latin typeface="Cambria Math" panose="02040503050406030204" pitchFamily="18" charset="0"/>
                                          </a:rPr>
                                          <m:t>𝑏</m:t>
                                        </m:r>
                                        <m:r>
                                          <a:rPr lang="en-US" sz="2100" kern="1200">
                                            <a:effectLst/>
                                            <a:latin typeface="Cambria Math" panose="02040503050406030204" pitchFamily="18" charset="0"/>
                                          </a:rPr>
                                          <m:t>+</m:t>
                                        </m:r>
                                        <m:r>
                                          <a:rPr lang="en-US" sz="2100" kern="1200">
                                            <a:effectLst/>
                                            <a:latin typeface="Cambria Math" panose="02040503050406030204" pitchFamily="18" charset="0"/>
                                          </a:rPr>
                                          <m:t>𝑥</m:t>
                                        </m:r>
                                      </m:e>
                                    </m:mr>
                                    <m:mr>
                                      <m:e>
                                        <m:r>
                                          <a:rPr lang="en-US" sz="2100" kern="1200">
                                            <a:effectLst/>
                                            <a:latin typeface="Cambria Math" panose="02040503050406030204" pitchFamily="18" charset="0"/>
                                          </a:rPr>
                                          <m:t>𝑐</m:t>
                                        </m:r>
                                        <m:r>
                                          <a:rPr lang="en-US" sz="2100" kern="1200">
                                            <a:effectLst/>
                                            <a:latin typeface="Cambria Math" panose="02040503050406030204" pitchFamily="18" charset="0"/>
                                          </a:rPr>
                                          <m:t>+</m:t>
                                        </m:r>
                                        <m:r>
                                          <a:rPr lang="en-US" sz="2100" kern="1200">
                                            <a:effectLst/>
                                            <a:latin typeface="Cambria Math" panose="02040503050406030204" pitchFamily="18" charset="0"/>
                                          </a:rPr>
                                          <m:t>𝑦</m:t>
                                        </m:r>
                                      </m:e>
                                      <m:e>
                                        <m:r>
                                          <a:rPr lang="en-US" sz="2100" kern="1200">
                                            <a:effectLst/>
                                            <a:latin typeface="Cambria Math" panose="02040503050406030204" pitchFamily="18" charset="0"/>
                                          </a:rPr>
                                          <m:t>𝑑</m:t>
                                        </m:r>
                                        <m:r>
                                          <a:rPr lang="en-US" sz="2100" kern="1200">
                                            <a:effectLst/>
                                            <a:latin typeface="Cambria Math" panose="02040503050406030204" pitchFamily="18" charset="0"/>
                                          </a:rPr>
                                          <m:t>+</m:t>
                                        </m:r>
                                        <m:r>
                                          <a:rPr lang="en-US" sz="2100" kern="1200">
                                            <a:effectLst/>
                                            <a:latin typeface="Cambria Math" panose="02040503050406030204" pitchFamily="18" charset="0"/>
                                          </a:rPr>
                                          <m:t>𝑧</m:t>
                                        </m:r>
                                      </m:e>
                                    </m:mr>
                                  </m:m>
                                </m:e>
                              </m:d>
                            </m:oMath>
                          </a14:m>
                          <a:r>
                            <a:rPr lang="en-US" sz="2100" dirty="0">
                              <a:effectLst/>
                            </a:rPr>
                            <a:t> </a:t>
                          </a:r>
                          <a:endParaRPr lang="en-US" sz="2100" dirty="0"/>
                        </a:p>
                      </a:txBody>
                      <a:tcPr/>
                    </a:tc>
                    <a:extLst>
                      <a:ext uri="{0D108BD9-81ED-4DB2-BD59-A6C34878D82A}">
                        <a16:rowId xmlns:a16="http://schemas.microsoft.com/office/drawing/2014/main" val="1944794926"/>
                      </a:ext>
                    </a:extLst>
                  </a:tr>
                  <a:tr h="693815">
                    <a:tc>
                      <a:txBody>
                        <a:bodyPr/>
                        <a:lstStyle/>
                        <a:p>
                          <a:r>
                            <a:rPr lang="en-ZA" sz="2100" b="1" dirty="0"/>
                            <a:t>Multiplication by a scalar</a:t>
                          </a:r>
                        </a:p>
                        <a:p>
                          <a:r>
                            <a:rPr lang="en-ZA" sz="2100" dirty="0"/>
                            <a:t>Multiply each element by a scalar.</a:t>
                          </a:r>
                          <a:endParaRPr lang="en-US" sz="2100" dirty="0"/>
                        </a:p>
                      </a:txBody>
                      <a:tcPr/>
                    </a:tc>
                    <a:tc>
                      <a:txBody>
                        <a:bodyPr/>
                        <a:lstStyle/>
                        <a:p>
                          <a:pPr algn="ctr"/>
                          <a14:m>
                            <m:oMath xmlns:m="http://schemas.openxmlformats.org/officeDocument/2006/math">
                              <m:r>
                                <a:rPr lang="en-US" sz="2100" i="1" kern="1200" smtClean="0">
                                  <a:solidFill>
                                    <a:schemeClr val="tx1"/>
                                  </a:solidFill>
                                  <a:effectLst/>
                                  <a:latin typeface="Cambria Math" panose="02040503050406030204" pitchFamily="18" charset="0"/>
                                  <a:ea typeface="+mn-ea"/>
                                  <a:cs typeface="+mn-cs"/>
                                </a:rPr>
                                <m:t>2</m:t>
                              </m:r>
                              <m:d>
                                <m:dPr>
                                  <m:ctrlPr>
                                    <a:rPr lang="en-US" sz="2100" i="1" kern="1200">
                                      <a:solidFill>
                                        <a:schemeClr val="tx1"/>
                                      </a:solidFill>
                                      <a:effectLst/>
                                      <a:latin typeface="Cambria Math" panose="02040503050406030204" pitchFamily="18" charset="0"/>
                                      <a:ea typeface="+mn-ea"/>
                                      <a:cs typeface="+mn-cs"/>
                                    </a:rPr>
                                  </m:ctrlPr>
                                </m:dPr>
                                <m:e>
                                  <m:m>
                                    <m:mPr>
                                      <m:mcs>
                                        <m:mc>
                                          <m:mcPr>
                                            <m:count m:val="2"/>
                                            <m:mcJc m:val="center"/>
                                          </m:mcPr>
                                        </m:mc>
                                      </m:mcs>
                                      <m:ctrlPr>
                                        <a:rPr lang="en-US" sz="2100" i="1" kern="1200">
                                          <a:solidFill>
                                            <a:schemeClr val="tx1"/>
                                          </a:solidFill>
                                          <a:effectLst/>
                                          <a:latin typeface="Cambria Math" panose="02040503050406030204" pitchFamily="18" charset="0"/>
                                          <a:ea typeface="+mn-ea"/>
                                          <a:cs typeface="+mn-cs"/>
                                        </a:rPr>
                                      </m:ctrlPr>
                                    </m:mPr>
                                    <m:mr>
                                      <m:e>
                                        <m:r>
                                          <a:rPr lang="en-US" sz="2100" i="1" kern="1200">
                                            <a:solidFill>
                                              <a:schemeClr val="tx1"/>
                                            </a:solidFill>
                                            <a:effectLst/>
                                            <a:latin typeface="Cambria Math" panose="02040503050406030204" pitchFamily="18" charset="0"/>
                                            <a:ea typeface="+mn-ea"/>
                                            <a:cs typeface="+mn-cs"/>
                                          </a:rPr>
                                          <m:t>𝑎</m:t>
                                        </m:r>
                                      </m:e>
                                      <m:e>
                                        <m:r>
                                          <m:rPr>
                                            <m:sty m:val="p"/>
                                          </m:rPr>
                                          <a:rPr lang="en-US" sz="2100" kern="1200">
                                            <a:solidFill>
                                              <a:schemeClr val="tx1"/>
                                            </a:solidFill>
                                            <a:effectLst/>
                                            <a:latin typeface="Cambria Math" panose="02040503050406030204" pitchFamily="18" charset="0"/>
                                            <a:ea typeface="+mn-ea"/>
                                            <a:cs typeface="+mn-cs"/>
                                          </a:rPr>
                                          <m:t>b</m:t>
                                        </m:r>
                                      </m:e>
                                    </m:mr>
                                    <m:mr>
                                      <m:e>
                                        <m:r>
                                          <m:rPr>
                                            <m:sty m:val="p"/>
                                          </m:rPr>
                                          <a:rPr lang="en-US" sz="2100" kern="1200">
                                            <a:solidFill>
                                              <a:schemeClr val="tx1"/>
                                            </a:solidFill>
                                            <a:effectLst/>
                                            <a:latin typeface="Cambria Math" panose="02040503050406030204" pitchFamily="18" charset="0"/>
                                            <a:ea typeface="+mn-ea"/>
                                            <a:cs typeface="+mn-cs"/>
                                          </a:rPr>
                                          <m:t>c</m:t>
                                        </m:r>
                                      </m:e>
                                      <m:e>
                                        <m:r>
                                          <a:rPr lang="en-US" sz="2100" i="1" kern="1200">
                                            <a:solidFill>
                                              <a:schemeClr val="tx1"/>
                                            </a:solidFill>
                                            <a:effectLst/>
                                            <a:latin typeface="Cambria Math" panose="02040503050406030204" pitchFamily="18" charset="0"/>
                                            <a:ea typeface="+mn-ea"/>
                                            <a:cs typeface="+mn-cs"/>
                                          </a:rPr>
                                          <m:t>𝑑</m:t>
                                        </m:r>
                                      </m:e>
                                    </m:mr>
                                  </m:m>
                                </m:e>
                              </m:d>
                              <m:r>
                                <a:rPr lang="en-US" sz="2100" i="1" kern="1200">
                                  <a:solidFill>
                                    <a:schemeClr val="tx1"/>
                                  </a:solidFill>
                                  <a:effectLst/>
                                  <a:latin typeface="Cambria Math" panose="02040503050406030204" pitchFamily="18" charset="0"/>
                                  <a:ea typeface="+mn-ea"/>
                                  <a:cs typeface="+mn-cs"/>
                                </a:rPr>
                                <m:t>=</m:t>
                              </m:r>
                              <m:d>
                                <m:dPr>
                                  <m:ctrlPr>
                                    <a:rPr lang="en-US" sz="2100" i="1" kern="1200">
                                      <a:solidFill>
                                        <a:schemeClr val="tx1"/>
                                      </a:solidFill>
                                      <a:effectLst/>
                                      <a:latin typeface="Cambria Math" panose="02040503050406030204" pitchFamily="18" charset="0"/>
                                      <a:ea typeface="+mn-ea"/>
                                      <a:cs typeface="+mn-cs"/>
                                    </a:rPr>
                                  </m:ctrlPr>
                                </m:dPr>
                                <m:e>
                                  <m:m>
                                    <m:mPr>
                                      <m:mcs>
                                        <m:mc>
                                          <m:mcPr>
                                            <m:count m:val="2"/>
                                            <m:mcJc m:val="center"/>
                                          </m:mcPr>
                                        </m:mc>
                                      </m:mcs>
                                      <m:ctrlPr>
                                        <a:rPr lang="en-US" sz="2100" i="1" kern="1200">
                                          <a:solidFill>
                                            <a:schemeClr val="tx1"/>
                                          </a:solidFill>
                                          <a:effectLst/>
                                          <a:latin typeface="Cambria Math" panose="02040503050406030204" pitchFamily="18" charset="0"/>
                                          <a:ea typeface="+mn-ea"/>
                                          <a:cs typeface="+mn-cs"/>
                                        </a:rPr>
                                      </m:ctrlPr>
                                    </m:mPr>
                                    <m:mr>
                                      <m:e>
                                        <m:r>
                                          <a:rPr lang="en-US" sz="2100" i="1" kern="1200">
                                            <a:solidFill>
                                              <a:schemeClr val="tx1"/>
                                            </a:solidFill>
                                            <a:effectLst/>
                                            <a:latin typeface="Cambria Math" panose="02040503050406030204" pitchFamily="18" charset="0"/>
                                            <a:ea typeface="+mn-ea"/>
                                            <a:cs typeface="+mn-cs"/>
                                          </a:rPr>
                                          <m:t>2</m:t>
                                        </m:r>
                                        <m:r>
                                          <a:rPr lang="en-US" sz="2100" i="1" kern="1200">
                                            <a:solidFill>
                                              <a:schemeClr val="tx1"/>
                                            </a:solidFill>
                                            <a:effectLst/>
                                            <a:latin typeface="Cambria Math" panose="02040503050406030204" pitchFamily="18" charset="0"/>
                                            <a:ea typeface="+mn-ea"/>
                                            <a:cs typeface="+mn-cs"/>
                                          </a:rPr>
                                          <m:t>𝑎</m:t>
                                        </m:r>
                                      </m:e>
                                      <m:e>
                                        <m:r>
                                          <a:rPr lang="en-US" sz="2100" kern="1200">
                                            <a:solidFill>
                                              <a:schemeClr val="tx1"/>
                                            </a:solidFill>
                                            <a:effectLst/>
                                            <a:latin typeface="Cambria Math" panose="02040503050406030204" pitchFamily="18" charset="0"/>
                                            <a:ea typeface="+mn-ea"/>
                                            <a:cs typeface="+mn-cs"/>
                                          </a:rPr>
                                          <m:t>2</m:t>
                                        </m:r>
                                        <m:r>
                                          <m:rPr>
                                            <m:sty m:val="p"/>
                                          </m:rPr>
                                          <a:rPr lang="en-US" sz="2100" kern="1200">
                                            <a:solidFill>
                                              <a:schemeClr val="tx1"/>
                                            </a:solidFill>
                                            <a:effectLst/>
                                            <a:latin typeface="Cambria Math" panose="02040503050406030204" pitchFamily="18" charset="0"/>
                                            <a:ea typeface="+mn-ea"/>
                                            <a:cs typeface="+mn-cs"/>
                                          </a:rPr>
                                          <m:t>b</m:t>
                                        </m:r>
                                      </m:e>
                                    </m:mr>
                                    <m:mr>
                                      <m:e>
                                        <m:r>
                                          <a:rPr lang="en-US" sz="2100" kern="1200">
                                            <a:solidFill>
                                              <a:schemeClr val="tx1"/>
                                            </a:solidFill>
                                            <a:effectLst/>
                                            <a:latin typeface="Cambria Math" panose="02040503050406030204" pitchFamily="18" charset="0"/>
                                            <a:ea typeface="+mn-ea"/>
                                            <a:cs typeface="+mn-cs"/>
                                          </a:rPr>
                                          <m:t>2</m:t>
                                        </m:r>
                                        <m:r>
                                          <m:rPr>
                                            <m:sty m:val="p"/>
                                          </m:rPr>
                                          <a:rPr lang="en-US" sz="2100" kern="1200">
                                            <a:solidFill>
                                              <a:schemeClr val="tx1"/>
                                            </a:solidFill>
                                            <a:effectLst/>
                                            <a:latin typeface="Cambria Math" panose="02040503050406030204" pitchFamily="18" charset="0"/>
                                            <a:ea typeface="+mn-ea"/>
                                            <a:cs typeface="+mn-cs"/>
                                          </a:rPr>
                                          <m:t>c</m:t>
                                        </m:r>
                                      </m:e>
                                      <m:e>
                                        <m:r>
                                          <a:rPr lang="en-US" sz="2100" i="1" kern="1200">
                                            <a:solidFill>
                                              <a:schemeClr val="tx1"/>
                                            </a:solidFill>
                                            <a:effectLst/>
                                            <a:latin typeface="Cambria Math" panose="02040503050406030204" pitchFamily="18" charset="0"/>
                                            <a:ea typeface="+mn-ea"/>
                                            <a:cs typeface="+mn-cs"/>
                                          </a:rPr>
                                          <m:t>2</m:t>
                                        </m:r>
                                        <m:r>
                                          <a:rPr lang="en-US" sz="2100" i="1" kern="1200">
                                            <a:solidFill>
                                              <a:schemeClr val="tx1"/>
                                            </a:solidFill>
                                            <a:effectLst/>
                                            <a:latin typeface="Cambria Math" panose="02040503050406030204" pitchFamily="18" charset="0"/>
                                            <a:ea typeface="+mn-ea"/>
                                            <a:cs typeface="+mn-cs"/>
                                          </a:rPr>
                                          <m:t>𝑑</m:t>
                                        </m:r>
                                      </m:e>
                                    </m:mr>
                                  </m:m>
                                </m:e>
                              </m:d>
                            </m:oMath>
                          </a14:m>
                          <a:r>
                            <a:rPr lang="en-US" sz="2100" dirty="0">
                              <a:effectLst/>
                            </a:rPr>
                            <a:t> </a:t>
                          </a:r>
                          <a:endParaRPr lang="en-US" sz="2100" dirty="0"/>
                        </a:p>
                      </a:txBody>
                      <a:tcPr/>
                    </a:tc>
                    <a:extLst>
                      <a:ext uri="{0D108BD9-81ED-4DB2-BD59-A6C34878D82A}">
                        <a16:rowId xmlns:a16="http://schemas.microsoft.com/office/drawing/2014/main" val="1232007365"/>
                      </a:ext>
                    </a:extLst>
                  </a:tr>
                  <a:tr h="997359">
                    <a:tc>
                      <a:txBody>
                        <a:bodyPr/>
                        <a:lstStyle/>
                        <a:p>
                          <a:r>
                            <a:rPr lang="en-ZA" sz="2100" b="1" dirty="0"/>
                            <a:t>Transpose</a:t>
                          </a:r>
                          <a:r>
                            <a:rPr lang="en-US" sz="2100" dirty="0">
                              <a:effectLst/>
                            </a:rPr>
                            <a:t> </a:t>
                          </a:r>
                        </a:p>
                        <a:p>
                          <a:r>
                            <a:rPr lang="en-ZA" sz="2100" dirty="0"/>
                            <a:t>Swap rows and columns</a:t>
                          </a:r>
                          <a:r>
                            <a:rPr lang="en-US" sz="2100" kern="1200" baseline="0" dirty="0">
                              <a:solidFill>
                                <a:schemeClr val="tx1"/>
                              </a:solidFill>
                              <a:effectLst/>
                              <a:latin typeface="+mn-lt"/>
                              <a:ea typeface="+mn-ea"/>
                              <a:cs typeface="+mn-cs"/>
                            </a:rPr>
                            <a:t>.</a:t>
                          </a:r>
                          <a:endParaRPr lang="en-US" sz="2100" dirty="0"/>
                        </a:p>
                      </a:txBody>
                      <a:tcPr/>
                    </a:tc>
                    <a:tc>
                      <a:txBody>
                        <a:bodyPr/>
                        <a:lstStyle/>
                        <a:p>
                          <a:pPr algn="ctr"/>
                          <a14:m>
                            <m:oMath xmlns:m="http://schemas.openxmlformats.org/officeDocument/2006/math">
                              <m:sSup>
                                <m:sSupPr>
                                  <m:ctrlPr>
                                    <a:rPr lang="en-US" sz="2100" i="1" kern="1200" smtClean="0">
                                      <a:solidFill>
                                        <a:schemeClr val="tx1"/>
                                      </a:solidFill>
                                      <a:effectLst/>
                                      <a:latin typeface="Cambria Math" panose="02040503050406030204" pitchFamily="18" charset="0"/>
                                      <a:ea typeface="+mn-ea"/>
                                      <a:cs typeface="+mn-cs"/>
                                    </a:rPr>
                                  </m:ctrlPr>
                                </m:sSupPr>
                                <m:e>
                                  <m:d>
                                    <m:dPr>
                                      <m:ctrlPr>
                                        <a:rPr lang="en-US" sz="2100" i="1" kern="1200">
                                          <a:solidFill>
                                            <a:schemeClr val="tx1"/>
                                          </a:solidFill>
                                          <a:effectLst/>
                                          <a:latin typeface="Cambria Math" panose="02040503050406030204" pitchFamily="18" charset="0"/>
                                          <a:ea typeface="+mn-ea"/>
                                          <a:cs typeface="+mn-cs"/>
                                        </a:rPr>
                                      </m:ctrlPr>
                                    </m:dPr>
                                    <m:e>
                                      <m:m>
                                        <m:mPr>
                                          <m:mcs>
                                            <m:mc>
                                              <m:mcPr>
                                                <m:count m:val="2"/>
                                                <m:mcJc m:val="center"/>
                                              </m:mcPr>
                                            </m:mc>
                                          </m:mcs>
                                          <m:ctrlPr>
                                            <a:rPr lang="en-US" sz="2100" i="1" kern="1200">
                                              <a:solidFill>
                                                <a:schemeClr val="tx1"/>
                                              </a:solidFill>
                                              <a:effectLst/>
                                              <a:latin typeface="Cambria Math" panose="02040503050406030204" pitchFamily="18" charset="0"/>
                                              <a:ea typeface="+mn-ea"/>
                                              <a:cs typeface="+mn-cs"/>
                                            </a:rPr>
                                          </m:ctrlPr>
                                        </m:mPr>
                                        <m:mr>
                                          <m:e>
                                            <m:r>
                                              <a:rPr lang="en-US" sz="2100" i="1" kern="1200">
                                                <a:solidFill>
                                                  <a:schemeClr val="tx1"/>
                                                </a:solidFill>
                                                <a:effectLst/>
                                                <a:latin typeface="Cambria Math" panose="02040503050406030204" pitchFamily="18" charset="0"/>
                                                <a:ea typeface="+mn-ea"/>
                                                <a:cs typeface="+mn-cs"/>
                                              </a:rPr>
                                              <m:t>𝑎</m:t>
                                            </m:r>
                                          </m:e>
                                          <m:e>
                                            <m:r>
                                              <a:rPr lang="en-US" sz="2100" i="1" kern="1200">
                                                <a:solidFill>
                                                  <a:schemeClr val="tx1"/>
                                                </a:solidFill>
                                                <a:effectLst/>
                                                <a:latin typeface="Cambria Math" panose="02040503050406030204" pitchFamily="18" charset="0"/>
                                                <a:ea typeface="+mn-ea"/>
                                                <a:cs typeface="+mn-cs"/>
                                              </a:rPr>
                                              <m:t>𝑏</m:t>
                                            </m:r>
                                          </m:e>
                                        </m:mr>
                                        <m:mr>
                                          <m:e>
                                            <m:r>
                                              <m:rPr>
                                                <m:sty m:val="p"/>
                                              </m:rPr>
                                              <a:rPr lang="en-US" sz="2100" kern="1200">
                                                <a:solidFill>
                                                  <a:schemeClr val="tx1"/>
                                                </a:solidFill>
                                                <a:effectLst/>
                                                <a:latin typeface="Cambria Math" panose="02040503050406030204" pitchFamily="18" charset="0"/>
                                                <a:ea typeface="+mn-ea"/>
                                                <a:cs typeface="+mn-cs"/>
                                              </a:rPr>
                                              <m:t>c</m:t>
                                            </m:r>
                                          </m:e>
                                          <m:e>
                                            <m:r>
                                              <m:rPr>
                                                <m:sty m:val="p"/>
                                              </m:rPr>
                                              <a:rPr lang="en-US" sz="2100" kern="1200">
                                                <a:solidFill>
                                                  <a:schemeClr val="tx1"/>
                                                </a:solidFill>
                                                <a:effectLst/>
                                                <a:latin typeface="Cambria Math" panose="02040503050406030204" pitchFamily="18" charset="0"/>
                                                <a:ea typeface="+mn-ea"/>
                                                <a:cs typeface="+mn-cs"/>
                                              </a:rPr>
                                              <m:t>d</m:t>
                                            </m:r>
                                          </m:e>
                                        </m:mr>
                                        <m:mr>
                                          <m:e>
                                            <m:r>
                                              <m:rPr>
                                                <m:sty m:val="p"/>
                                              </m:rPr>
                                              <a:rPr lang="en-US" sz="2100" kern="1200">
                                                <a:solidFill>
                                                  <a:schemeClr val="tx1"/>
                                                </a:solidFill>
                                                <a:effectLst/>
                                                <a:latin typeface="Cambria Math" panose="02040503050406030204" pitchFamily="18" charset="0"/>
                                                <a:ea typeface="+mn-ea"/>
                                                <a:cs typeface="+mn-cs"/>
                                              </a:rPr>
                                              <m:t>e</m:t>
                                            </m:r>
                                          </m:e>
                                          <m:e>
                                            <m:r>
                                              <m:rPr>
                                                <m:sty m:val="p"/>
                                              </m:rPr>
                                              <a:rPr lang="en-US" sz="2100" kern="1200">
                                                <a:solidFill>
                                                  <a:schemeClr val="tx1"/>
                                                </a:solidFill>
                                                <a:effectLst/>
                                                <a:latin typeface="Cambria Math" panose="02040503050406030204" pitchFamily="18" charset="0"/>
                                                <a:ea typeface="+mn-ea"/>
                                                <a:cs typeface="+mn-cs"/>
                                              </a:rPr>
                                              <m:t>f</m:t>
                                            </m:r>
                                          </m:e>
                                        </m:mr>
                                      </m:m>
                                    </m:e>
                                  </m:d>
                                </m:e>
                                <m:sup>
                                  <m:r>
                                    <a:rPr lang="en-US" sz="2100" i="1" kern="1200">
                                      <a:solidFill>
                                        <a:schemeClr val="tx1"/>
                                      </a:solidFill>
                                      <a:effectLst/>
                                      <a:latin typeface="Cambria Math" panose="02040503050406030204" pitchFamily="18" charset="0"/>
                                      <a:ea typeface="+mn-ea"/>
                                      <a:cs typeface="+mn-cs"/>
                                    </a:rPr>
                                    <m:t>𝑇</m:t>
                                  </m:r>
                                </m:sup>
                              </m:sSup>
                              <m:r>
                                <a:rPr lang="en-US" sz="2100" i="1" kern="1200">
                                  <a:solidFill>
                                    <a:schemeClr val="tx1"/>
                                  </a:solidFill>
                                  <a:effectLst/>
                                  <a:latin typeface="Cambria Math" panose="02040503050406030204" pitchFamily="18" charset="0"/>
                                  <a:ea typeface="+mn-ea"/>
                                  <a:cs typeface="+mn-cs"/>
                                </a:rPr>
                                <m:t>= </m:t>
                              </m:r>
                              <m:d>
                                <m:dPr>
                                  <m:ctrlPr>
                                    <a:rPr lang="en-US" sz="2100" i="1" kern="1200">
                                      <a:solidFill>
                                        <a:schemeClr val="tx1"/>
                                      </a:solidFill>
                                      <a:effectLst/>
                                      <a:latin typeface="Cambria Math" panose="02040503050406030204" pitchFamily="18" charset="0"/>
                                      <a:ea typeface="+mn-ea"/>
                                      <a:cs typeface="+mn-cs"/>
                                    </a:rPr>
                                  </m:ctrlPr>
                                </m:dPr>
                                <m:e>
                                  <m:m>
                                    <m:mPr>
                                      <m:mcs>
                                        <m:mc>
                                          <m:mcPr>
                                            <m:count m:val="3"/>
                                            <m:mcJc m:val="center"/>
                                          </m:mcPr>
                                        </m:mc>
                                      </m:mcs>
                                      <m:ctrlPr>
                                        <a:rPr lang="en-US" sz="2100" i="1" kern="1200">
                                          <a:solidFill>
                                            <a:schemeClr val="tx1"/>
                                          </a:solidFill>
                                          <a:effectLst/>
                                          <a:latin typeface="Cambria Math" panose="02040503050406030204" pitchFamily="18" charset="0"/>
                                          <a:ea typeface="+mn-ea"/>
                                          <a:cs typeface="+mn-cs"/>
                                        </a:rPr>
                                      </m:ctrlPr>
                                    </m:mPr>
                                    <m:mr>
                                      <m:e>
                                        <m:r>
                                          <a:rPr lang="en-US" sz="2100" i="1" kern="1200">
                                            <a:solidFill>
                                              <a:schemeClr val="tx1"/>
                                            </a:solidFill>
                                            <a:effectLst/>
                                            <a:latin typeface="Cambria Math" panose="02040503050406030204" pitchFamily="18" charset="0"/>
                                            <a:ea typeface="+mn-ea"/>
                                            <a:cs typeface="+mn-cs"/>
                                          </a:rPr>
                                          <m:t>𝑎</m:t>
                                        </m:r>
                                      </m:e>
                                      <m:e>
                                        <m:r>
                                          <a:rPr lang="en-US" sz="2100" i="1" kern="1200">
                                            <a:solidFill>
                                              <a:schemeClr val="tx1"/>
                                            </a:solidFill>
                                            <a:effectLst/>
                                            <a:latin typeface="Cambria Math" panose="02040503050406030204" pitchFamily="18" charset="0"/>
                                            <a:ea typeface="+mn-ea"/>
                                            <a:cs typeface="+mn-cs"/>
                                          </a:rPr>
                                          <m:t>𝑐</m:t>
                                        </m:r>
                                      </m:e>
                                      <m:e>
                                        <m:r>
                                          <a:rPr lang="en-US" sz="2100" i="1" kern="1200">
                                            <a:solidFill>
                                              <a:schemeClr val="tx1"/>
                                            </a:solidFill>
                                            <a:effectLst/>
                                            <a:latin typeface="Cambria Math" panose="02040503050406030204" pitchFamily="18" charset="0"/>
                                            <a:ea typeface="+mn-ea"/>
                                            <a:cs typeface="+mn-cs"/>
                                          </a:rPr>
                                          <m:t>𝑒</m:t>
                                        </m:r>
                                      </m:e>
                                    </m:mr>
                                    <m:mr>
                                      <m:e>
                                        <m:r>
                                          <m:rPr>
                                            <m:sty m:val="p"/>
                                          </m:rPr>
                                          <a:rPr lang="en-US" sz="2100" kern="1200">
                                            <a:solidFill>
                                              <a:schemeClr val="tx1"/>
                                            </a:solidFill>
                                            <a:effectLst/>
                                            <a:latin typeface="Cambria Math" panose="02040503050406030204" pitchFamily="18" charset="0"/>
                                            <a:ea typeface="+mn-ea"/>
                                            <a:cs typeface="+mn-cs"/>
                                          </a:rPr>
                                          <m:t>b</m:t>
                                        </m:r>
                                      </m:e>
                                      <m:e>
                                        <m:r>
                                          <m:rPr>
                                            <m:sty m:val="p"/>
                                          </m:rPr>
                                          <a:rPr lang="en-US" sz="2100" kern="1200">
                                            <a:solidFill>
                                              <a:schemeClr val="tx1"/>
                                            </a:solidFill>
                                            <a:effectLst/>
                                            <a:latin typeface="Cambria Math" panose="02040503050406030204" pitchFamily="18" charset="0"/>
                                            <a:ea typeface="+mn-ea"/>
                                            <a:cs typeface="+mn-cs"/>
                                          </a:rPr>
                                          <m:t>d</m:t>
                                        </m:r>
                                      </m:e>
                                      <m:e>
                                        <m:r>
                                          <m:rPr>
                                            <m:sty m:val="p"/>
                                          </m:rPr>
                                          <a:rPr lang="en-US" sz="2100" kern="1200">
                                            <a:solidFill>
                                              <a:schemeClr val="tx1"/>
                                            </a:solidFill>
                                            <a:effectLst/>
                                            <a:latin typeface="Cambria Math" panose="02040503050406030204" pitchFamily="18" charset="0"/>
                                            <a:ea typeface="+mn-ea"/>
                                            <a:cs typeface="+mn-cs"/>
                                          </a:rPr>
                                          <m:t>f</m:t>
                                        </m:r>
                                      </m:e>
                                    </m:mr>
                                  </m:m>
                                </m:e>
                              </m:d>
                            </m:oMath>
                          </a14:m>
                          <a:r>
                            <a:rPr lang="en-US" sz="2100" dirty="0">
                              <a:effectLst/>
                            </a:rPr>
                            <a:t> </a:t>
                          </a:r>
                          <a:endParaRPr lang="en-US" sz="2100" dirty="0"/>
                        </a:p>
                      </a:txBody>
                      <a:tcPr/>
                    </a:tc>
                    <a:extLst>
                      <a:ext uri="{0D108BD9-81ED-4DB2-BD59-A6C34878D82A}">
                        <a16:rowId xmlns:a16="http://schemas.microsoft.com/office/drawing/2014/main" val="4003669842"/>
                      </a:ext>
                    </a:extLst>
                  </a:tr>
                  <a:tr h="1428683">
                    <a:tc>
                      <a:txBody>
                        <a:bodyPr/>
                        <a:lstStyle/>
                        <a:p>
                          <a:r>
                            <a:rPr lang="en-ZA" sz="2100" b="1" dirty="0"/>
                            <a:t>Conjugate Transpose</a:t>
                          </a:r>
                          <a:endParaRPr lang="en-US" sz="2100" b="1" kern="1200" dirty="0">
                            <a:solidFill>
                              <a:schemeClr val="tx1"/>
                            </a:solidFill>
                            <a:effectLst/>
                            <a:latin typeface="+mn-lt"/>
                            <a:ea typeface="+mn-ea"/>
                            <a:cs typeface="+mn-cs"/>
                          </a:endParaRPr>
                        </a:p>
                        <a:p>
                          <a:r>
                            <a:rPr lang="en-ZA" dirty="0"/>
                            <a:t>Take the complex conjugate of all elements, then transpose the matrix.</a:t>
                          </a:r>
                          <a:endParaRPr lang="en-US" sz="1800" b="0" kern="1200" dirty="0">
                            <a:solidFill>
                              <a:schemeClr val="tx1"/>
                            </a:solidFill>
                            <a:effectLst/>
                            <a:latin typeface="+mn-lt"/>
                            <a:ea typeface="+mn-ea"/>
                            <a:cs typeface="+mn-cs"/>
                          </a:endParaRPr>
                        </a:p>
                        <a:p>
                          <a:pPr/>
                          <a14:m>
                            <m:oMathPara xmlns:m="http://schemas.openxmlformats.org/officeDocument/2006/math">
                              <m:oMathParaPr>
                                <m:jc m:val="centerGroup"/>
                              </m:oMathParaPr>
                              <m:oMath xmlns:m="http://schemas.openxmlformats.org/officeDocument/2006/math">
                                <m:sSup>
                                  <m:sSupPr>
                                    <m:ctrlPr>
                                      <a:rPr lang="en-US" sz="2400" b="0" i="1" kern="1200" smtClean="0">
                                        <a:solidFill>
                                          <a:schemeClr val="tx1"/>
                                        </a:solidFill>
                                        <a:effectLst/>
                                        <a:latin typeface="Cambria Math" panose="02040503050406030204" pitchFamily="18" charset="0"/>
                                        <a:ea typeface="+mn-ea"/>
                                        <a:cs typeface="+mn-cs"/>
                                      </a:rPr>
                                    </m:ctrlPr>
                                  </m:sSupPr>
                                  <m:e>
                                    <m:r>
                                      <a:rPr lang="en-US" sz="2400" b="0" i="1" kern="1200" smtClean="0">
                                        <a:solidFill>
                                          <a:schemeClr val="tx1"/>
                                        </a:solidFill>
                                        <a:effectLst/>
                                        <a:latin typeface="Cambria Math" panose="02040503050406030204" pitchFamily="18" charset="0"/>
                                        <a:ea typeface="+mn-ea"/>
                                        <a:cs typeface="+mn-cs"/>
                                      </a:rPr>
                                      <m:t>𝐴</m:t>
                                    </m:r>
                                  </m:e>
                                  <m:sup>
                                    <m:r>
                                      <a:rPr lang="en-US" sz="2400" b="0" i="1" kern="1200">
                                        <a:solidFill>
                                          <a:schemeClr val="tx1"/>
                                        </a:solidFill>
                                        <a:effectLst/>
                                        <a:latin typeface="Cambria Math" panose="02040503050406030204" pitchFamily="18" charset="0"/>
                                        <a:ea typeface="+mn-ea"/>
                                        <a:cs typeface="+mn-cs"/>
                                      </a:rPr>
                                      <m:t>†</m:t>
                                    </m:r>
                                  </m:sup>
                                </m:sSup>
                                <m:r>
                                  <a:rPr lang="en-US" sz="2400" b="0" i="1" kern="1200" smtClean="0">
                                    <a:solidFill>
                                      <a:schemeClr val="tx1"/>
                                    </a:solidFill>
                                    <a:effectLst/>
                                    <a:latin typeface="Cambria Math" panose="02040503050406030204" pitchFamily="18" charset="0"/>
                                    <a:ea typeface="+mn-ea"/>
                                    <a:cs typeface="+mn-cs"/>
                                  </a:rPr>
                                  <m:t>=</m:t>
                                </m:r>
                                <m:sSup>
                                  <m:sSupPr>
                                    <m:ctrlPr>
                                      <a:rPr lang="en-US" sz="2400" b="0" i="1" kern="1200" smtClean="0">
                                        <a:solidFill>
                                          <a:schemeClr val="tx1"/>
                                        </a:solidFill>
                                        <a:effectLst/>
                                        <a:latin typeface="Cambria Math" panose="02040503050406030204" pitchFamily="18" charset="0"/>
                                        <a:ea typeface="+mn-ea"/>
                                        <a:cs typeface="+mn-cs"/>
                                      </a:rPr>
                                    </m:ctrlPr>
                                  </m:sSupPr>
                                  <m:e>
                                    <m:r>
                                      <a:rPr lang="en-US" sz="2400" b="0" i="1" kern="1200" smtClean="0">
                                        <a:solidFill>
                                          <a:schemeClr val="tx1"/>
                                        </a:solidFill>
                                        <a:effectLst/>
                                        <a:latin typeface="Cambria Math" panose="02040503050406030204" pitchFamily="18" charset="0"/>
                                        <a:ea typeface="+mn-ea"/>
                                        <a:cs typeface="+mn-cs"/>
                                      </a:rPr>
                                      <m:t>(</m:t>
                                    </m:r>
                                    <m:sSup>
                                      <m:sSupPr>
                                        <m:ctrlPr>
                                          <a:rPr lang="en-US" sz="2400" b="0" i="1" kern="1200" smtClean="0">
                                            <a:solidFill>
                                              <a:schemeClr val="tx1"/>
                                            </a:solidFill>
                                            <a:effectLst/>
                                            <a:latin typeface="Cambria Math" panose="02040503050406030204" pitchFamily="18" charset="0"/>
                                            <a:ea typeface="+mn-ea"/>
                                            <a:cs typeface="+mn-cs"/>
                                          </a:rPr>
                                        </m:ctrlPr>
                                      </m:sSupPr>
                                      <m:e>
                                        <m:r>
                                          <a:rPr lang="en-US" sz="2400" b="0" i="1" kern="1200" smtClean="0">
                                            <a:solidFill>
                                              <a:schemeClr val="tx1"/>
                                            </a:solidFill>
                                            <a:effectLst/>
                                            <a:latin typeface="Cambria Math" panose="02040503050406030204" pitchFamily="18" charset="0"/>
                                            <a:ea typeface="+mn-ea"/>
                                            <a:cs typeface="+mn-cs"/>
                                          </a:rPr>
                                          <m:t>𝐴</m:t>
                                        </m:r>
                                      </m:e>
                                      <m:sup>
                                        <m:r>
                                          <a:rPr lang="en-US" sz="2400" b="0" i="1" kern="1200" smtClean="0">
                                            <a:solidFill>
                                              <a:schemeClr val="tx1"/>
                                            </a:solidFill>
                                            <a:effectLst/>
                                            <a:latin typeface="Cambria Math" panose="02040503050406030204" pitchFamily="18" charset="0"/>
                                            <a:ea typeface="+mn-ea"/>
                                            <a:cs typeface="+mn-cs"/>
                                          </a:rPr>
                                          <m:t>∗</m:t>
                                        </m:r>
                                      </m:sup>
                                    </m:sSup>
                                    <m:r>
                                      <a:rPr lang="en-US" sz="2400" b="0" i="1" kern="1200" smtClean="0">
                                        <a:solidFill>
                                          <a:schemeClr val="tx1"/>
                                        </a:solidFill>
                                        <a:effectLst/>
                                        <a:latin typeface="Cambria Math" panose="02040503050406030204" pitchFamily="18" charset="0"/>
                                        <a:ea typeface="+mn-ea"/>
                                        <a:cs typeface="+mn-cs"/>
                                      </a:rPr>
                                      <m:t>)</m:t>
                                    </m:r>
                                  </m:e>
                                  <m:sup>
                                    <m:r>
                                      <a:rPr lang="en-US" sz="2400" b="0" i="1" kern="1200" smtClean="0">
                                        <a:solidFill>
                                          <a:schemeClr val="tx1"/>
                                        </a:solidFill>
                                        <a:effectLst/>
                                        <a:latin typeface="Cambria Math" panose="02040503050406030204" pitchFamily="18" charset="0"/>
                                        <a:ea typeface="+mn-ea"/>
                                        <a:cs typeface="+mn-cs"/>
                                      </a:rPr>
                                      <m:t>𝑇</m:t>
                                    </m:r>
                                  </m:sup>
                                </m:sSup>
                              </m:oMath>
                            </m:oMathPara>
                          </a14:m>
                          <a:endParaRPr lang="en-US" sz="2100" b="0" dirty="0"/>
                        </a:p>
                      </a:txBody>
                      <a:tcPr/>
                    </a:tc>
                    <a:tc>
                      <a:txBody>
                        <a:bodyPr/>
                        <a:lstStyle/>
                        <a:p>
                          <a:pPr algn="ctr"/>
                          <a:endParaRPr lang="en-US" sz="2100" b="0" i="1" kern="1200" dirty="0">
                            <a:solidFill>
                              <a:schemeClr val="tx1"/>
                            </a:solidFill>
                            <a:effectLst/>
                            <a:latin typeface="Cambria Math" panose="02040503050406030204" pitchFamily="18" charset="0"/>
                            <a:ea typeface="+mn-ea"/>
                            <a:cs typeface="+mn-cs"/>
                          </a:endParaRPr>
                        </a:p>
                        <a:p>
                          <a:pPr algn="ctr"/>
                          <a14:m>
                            <m:oMath xmlns:m="http://schemas.openxmlformats.org/officeDocument/2006/math">
                              <m:sSup>
                                <m:sSupPr>
                                  <m:ctrlPr>
                                    <a:rPr lang="en-US" sz="2100" b="0" i="1" kern="1200" smtClean="0">
                                      <a:solidFill>
                                        <a:schemeClr val="tx1"/>
                                      </a:solidFill>
                                      <a:effectLst/>
                                      <a:latin typeface="Cambria Math" panose="02040503050406030204" pitchFamily="18" charset="0"/>
                                      <a:ea typeface="+mn-ea"/>
                                      <a:cs typeface="+mn-cs"/>
                                    </a:rPr>
                                  </m:ctrlPr>
                                </m:sSupPr>
                                <m:e>
                                  <m:d>
                                    <m:dPr>
                                      <m:ctrlPr>
                                        <a:rPr lang="en-US" sz="2100" i="1" kern="1200" smtClean="0">
                                          <a:solidFill>
                                            <a:schemeClr val="tx1"/>
                                          </a:solidFill>
                                          <a:effectLst/>
                                          <a:latin typeface="Cambria Math" panose="02040503050406030204" pitchFamily="18" charset="0"/>
                                          <a:ea typeface="+mn-ea"/>
                                          <a:cs typeface="+mn-cs"/>
                                        </a:rPr>
                                      </m:ctrlPr>
                                    </m:dPr>
                                    <m:e>
                                      <m:m>
                                        <m:mPr>
                                          <m:mcs>
                                            <m:mc>
                                              <m:mcPr>
                                                <m:count m:val="1"/>
                                                <m:mcJc m:val="center"/>
                                              </m:mcPr>
                                            </m:mc>
                                          </m:mcs>
                                          <m:ctrlPr>
                                            <a:rPr lang="en-US" sz="2100" i="1" kern="1200">
                                              <a:solidFill>
                                                <a:schemeClr val="tx1"/>
                                              </a:solidFill>
                                              <a:effectLst/>
                                              <a:latin typeface="Cambria Math" panose="02040503050406030204" pitchFamily="18" charset="0"/>
                                              <a:ea typeface="+mn-ea"/>
                                              <a:cs typeface="+mn-cs"/>
                                            </a:rPr>
                                          </m:ctrlPr>
                                        </m:mPr>
                                        <m:mr>
                                          <m:e>
                                            <m:sSub>
                                              <m:sSubPr>
                                                <m:ctrlPr>
                                                  <a:rPr lang="en-US" sz="2100" i="1" kern="1200">
                                                    <a:solidFill>
                                                      <a:schemeClr val="tx1"/>
                                                    </a:solidFill>
                                                    <a:effectLst/>
                                                    <a:latin typeface="Cambria Math" panose="02040503050406030204" pitchFamily="18" charset="0"/>
                                                    <a:ea typeface="+mn-ea"/>
                                                    <a:cs typeface="+mn-cs"/>
                                                  </a:rPr>
                                                </m:ctrlPr>
                                              </m:sSubPr>
                                              <m:e>
                                                <m:r>
                                                  <a:rPr lang="en-US" sz="2100" i="1" kern="1200">
                                                    <a:solidFill>
                                                      <a:schemeClr val="tx1"/>
                                                    </a:solidFill>
                                                    <a:effectLst/>
                                                    <a:latin typeface="Cambria Math" panose="02040503050406030204" pitchFamily="18" charset="0"/>
                                                    <a:ea typeface="+mn-ea"/>
                                                    <a:cs typeface="+mn-cs"/>
                                                  </a:rPr>
                                                  <m:t>𝑎</m:t>
                                                </m:r>
                                              </m:e>
                                              <m:sub>
                                                <m:r>
                                                  <a:rPr lang="en-US" sz="2100" i="1" kern="1200">
                                                    <a:solidFill>
                                                      <a:schemeClr val="tx1"/>
                                                    </a:solidFill>
                                                    <a:effectLst/>
                                                    <a:latin typeface="Cambria Math" panose="02040503050406030204" pitchFamily="18" charset="0"/>
                                                    <a:ea typeface="+mn-ea"/>
                                                    <a:cs typeface="+mn-cs"/>
                                                  </a:rPr>
                                                  <m:t>1</m:t>
                                                </m:r>
                                              </m:sub>
                                            </m:sSub>
                                            <m:r>
                                              <a:rPr lang="en-US" sz="2100" i="1" kern="1200">
                                                <a:solidFill>
                                                  <a:schemeClr val="tx1"/>
                                                </a:solidFill>
                                                <a:effectLst/>
                                                <a:latin typeface="Cambria Math" panose="02040503050406030204" pitchFamily="18" charset="0"/>
                                                <a:ea typeface="+mn-ea"/>
                                                <a:cs typeface="+mn-cs"/>
                                              </a:rPr>
                                              <m:t>+</m:t>
                                            </m:r>
                                            <m:sSub>
                                              <m:sSubPr>
                                                <m:ctrlPr>
                                                  <a:rPr lang="en-US" sz="2100" i="1" kern="1200">
                                                    <a:solidFill>
                                                      <a:schemeClr val="tx1"/>
                                                    </a:solidFill>
                                                    <a:effectLst/>
                                                    <a:latin typeface="Cambria Math" panose="02040503050406030204" pitchFamily="18" charset="0"/>
                                                    <a:ea typeface="+mn-ea"/>
                                                    <a:cs typeface="+mn-cs"/>
                                                  </a:rPr>
                                                </m:ctrlPr>
                                              </m:sSubPr>
                                              <m:e>
                                                <m:r>
                                                  <a:rPr lang="en-US" sz="2100" i="1" kern="1200">
                                                    <a:solidFill>
                                                      <a:schemeClr val="tx1"/>
                                                    </a:solidFill>
                                                    <a:effectLst/>
                                                    <a:latin typeface="Cambria Math" panose="02040503050406030204" pitchFamily="18" charset="0"/>
                                                    <a:ea typeface="+mn-ea"/>
                                                    <a:cs typeface="+mn-cs"/>
                                                  </a:rPr>
                                                  <m:t>𝑖𝑏</m:t>
                                                </m:r>
                                              </m:e>
                                              <m:sub>
                                                <m:r>
                                                  <a:rPr lang="en-US" sz="2100" i="1" kern="1200">
                                                    <a:solidFill>
                                                      <a:schemeClr val="tx1"/>
                                                    </a:solidFill>
                                                    <a:effectLst/>
                                                    <a:latin typeface="Cambria Math" panose="02040503050406030204" pitchFamily="18" charset="0"/>
                                                    <a:ea typeface="+mn-ea"/>
                                                    <a:cs typeface="+mn-cs"/>
                                                  </a:rPr>
                                                  <m:t>1</m:t>
                                                </m:r>
                                              </m:sub>
                                            </m:sSub>
                                          </m:e>
                                        </m:mr>
                                        <m:mr>
                                          <m:e>
                                            <m:sSub>
                                              <m:sSubPr>
                                                <m:ctrlPr>
                                                  <a:rPr lang="en-US" sz="2100" i="1" kern="1200">
                                                    <a:solidFill>
                                                      <a:schemeClr val="tx1"/>
                                                    </a:solidFill>
                                                    <a:effectLst/>
                                                    <a:latin typeface="Cambria Math" panose="02040503050406030204" pitchFamily="18" charset="0"/>
                                                    <a:ea typeface="+mn-ea"/>
                                                    <a:cs typeface="+mn-cs"/>
                                                  </a:rPr>
                                                </m:ctrlPr>
                                              </m:sSubPr>
                                              <m:e>
                                                <m:r>
                                                  <a:rPr lang="en-US" sz="2100" i="1" kern="1200">
                                                    <a:solidFill>
                                                      <a:schemeClr val="tx1"/>
                                                    </a:solidFill>
                                                    <a:effectLst/>
                                                    <a:latin typeface="Cambria Math" panose="02040503050406030204" pitchFamily="18" charset="0"/>
                                                    <a:ea typeface="+mn-ea"/>
                                                    <a:cs typeface="+mn-cs"/>
                                                  </a:rPr>
                                                  <m:t>𝑎</m:t>
                                                </m:r>
                                              </m:e>
                                              <m:sub>
                                                <m:r>
                                                  <a:rPr lang="en-US" sz="2100" i="1" kern="1200">
                                                    <a:solidFill>
                                                      <a:schemeClr val="tx1"/>
                                                    </a:solidFill>
                                                    <a:effectLst/>
                                                    <a:latin typeface="Cambria Math" panose="02040503050406030204" pitchFamily="18" charset="0"/>
                                                    <a:ea typeface="+mn-ea"/>
                                                    <a:cs typeface="+mn-cs"/>
                                                  </a:rPr>
                                                  <m:t>2</m:t>
                                                </m:r>
                                              </m:sub>
                                            </m:sSub>
                                            <m:r>
                                              <a:rPr lang="en-US" sz="2100" i="1" kern="1200">
                                                <a:solidFill>
                                                  <a:schemeClr val="tx1"/>
                                                </a:solidFill>
                                                <a:effectLst/>
                                                <a:latin typeface="Cambria Math" panose="02040503050406030204" pitchFamily="18" charset="0"/>
                                                <a:ea typeface="+mn-ea"/>
                                                <a:cs typeface="+mn-cs"/>
                                              </a:rPr>
                                              <m:t>+</m:t>
                                            </m:r>
                                            <m:sSub>
                                              <m:sSubPr>
                                                <m:ctrlPr>
                                                  <a:rPr lang="en-US" sz="2100" i="1" kern="1200">
                                                    <a:solidFill>
                                                      <a:schemeClr val="tx1"/>
                                                    </a:solidFill>
                                                    <a:effectLst/>
                                                    <a:latin typeface="Cambria Math" panose="02040503050406030204" pitchFamily="18" charset="0"/>
                                                    <a:ea typeface="+mn-ea"/>
                                                    <a:cs typeface="+mn-cs"/>
                                                  </a:rPr>
                                                </m:ctrlPr>
                                              </m:sSubPr>
                                              <m:e>
                                                <m:r>
                                                  <a:rPr lang="en-US" sz="2100" i="1" kern="1200">
                                                    <a:solidFill>
                                                      <a:schemeClr val="tx1"/>
                                                    </a:solidFill>
                                                    <a:effectLst/>
                                                    <a:latin typeface="Cambria Math" panose="02040503050406030204" pitchFamily="18" charset="0"/>
                                                    <a:ea typeface="+mn-ea"/>
                                                    <a:cs typeface="+mn-cs"/>
                                                  </a:rPr>
                                                  <m:t>𝑖𝑏</m:t>
                                                </m:r>
                                              </m:e>
                                              <m:sub>
                                                <m:r>
                                                  <a:rPr lang="en-US" sz="2100" i="1" kern="1200">
                                                    <a:solidFill>
                                                      <a:schemeClr val="tx1"/>
                                                    </a:solidFill>
                                                    <a:effectLst/>
                                                    <a:latin typeface="Cambria Math" panose="02040503050406030204" pitchFamily="18" charset="0"/>
                                                    <a:ea typeface="+mn-ea"/>
                                                    <a:cs typeface="+mn-cs"/>
                                                  </a:rPr>
                                                  <m:t>2</m:t>
                                                </m:r>
                                              </m:sub>
                                            </m:sSub>
                                          </m:e>
                                        </m:mr>
                                      </m:m>
                                    </m:e>
                                  </m:d>
                                </m:e>
                                <m:sup>
                                  <m:r>
                                    <a:rPr lang="en-US" sz="2100" b="0" i="1" kern="1200">
                                      <a:solidFill>
                                        <a:schemeClr val="tx1"/>
                                      </a:solidFill>
                                      <a:effectLst/>
                                      <a:latin typeface="Cambria Math" panose="02040503050406030204" pitchFamily="18" charset="0"/>
                                      <a:ea typeface="+mn-ea"/>
                                      <a:cs typeface="+mn-cs"/>
                                    </a:rPr>
                                    <m:t>†</m:t>
                                  </m:r>
                                </m:sup>
                              </m:sSup>
                              <m:r>
                                <a:rPr lang="en-US" sz="2100" b="0" i="1" kern="1200" smtClean="0">
                                  <a:solidFill>
                                    <a:schemeClr val="tx1"/>
                                  </a:solidFill>
                                  <a:effectLst/>
                                  <a:latin typeface="Cambria Math" panose="02040503050406030204" pitchFamily="18" charset="0"/>
                                  <a:ea typeface="+mn-ea"/>
                                  <a:cs typeface="+mn-cs"/>
                                </a:rPr>
                                <m:t>=</m:t>
                              </m:r>
                              <m:sSup>
                                <m:sSupPr>
                                  <m:ctrlPr>
                                    <a:rPr lang="en-US" sz="2100" b="0" i="1" kern="1200" smtClean="0">
                                      <a:solidFill>
                                        <a:schemeClr val="tx1"/>
                                      </a:solidFill>
                                      <a:effectLst/>
                                      <a:latin typeface="Cambria Math" panose="02040503050406030204" pitchFamily="18" charset="0"/>
                                      <a:ea typeface="+mn-ea"/>
                                      <a:cs typeface="+mn-cs"/>
                                    </a:rPr>
                                  </m:ctrlPr>
                                </m:sSupPr>
                                <m:e>
                                  <m:d>
                                    <m:dPr>
                                      <m:ctrlPr>
                                        <a:rPr lang="en-US" sz="2100" i="1" kern="1200" smtClean="0">
                                          <a:solidFill>
                                            <a:schemeClr val="tx1"/>
                                          </a:solidFill>
                                          <a:effectLst/>
                                          <a:latin typeface="Cambria Math" panose="02040503050406030204" pitchFamily="18" charset="0"/>
                                          <a:ea typeface="+mn-ea"/>
                                          <a:cs typeface="+mn-cs"/>
                                        </a:rPr>
                                      </m:ctrlPr>
                                    </m:dPr>
                                    <m:e>
                                      <m:m>
                                        <m:mPr>
                                          <m:mcs>
                                            <m:mc>
                                              <m:mcPr>
                                                <m:count m:val="1"/>
                                                <m:mcJc m:val="center"/>
                                              </m:mcPr>
                                            </m:mc>
                                          </m:mcs>
                                          <m:ctrlPr>
                                            <a:rPr lang="en-US" sz="2100" i="1" kern="1200">
                                              <a:solidFill>
                                                <a:schemeClr val="tx1"/>
                                              </a:solidFill>
                                              <a:effectLst/>
                                              <a:latin typeface="Cambria Math" panose="02040503050406030204" pitchFamily="18" charset="0"/>
                                              <a:ea typeface="+mn-ea"/>
                                              <a:cs typeface="+mn-cs"/>
                                            </a:rPr>
                                          </m:ctrlPr>
                                        </m:mPr>
                                        <m:mr>
                                          <m:e>
                                            <m:sSub>
                                              <m:sSubPr>
                                                <m:ctrlPr>
                                                  <a:rPr lang="en-US" sz="2100" i="1" kern="1200">
                                                    <a:solidFill>
                                                      <a:schemeClr val="tx1"/>
                                                    </a:solidFill>
                                                    <a:effectLst/>
                                                    <a:latin typeface="Cambria Math" panose="02040503050406030204" pitchFamily="18" charset="0"/>
                                                    <a:ea typeface="+mn-ea"/>
                                                    <a:cs typeface="+mn-cs"/>
                                                  </a:rPr>
                                                </m:ctrlPr>
                                              </m:sSubPr>
                                              <m:e>
                                                <m:r>
                                                  <a:rPr lang="en-US" sz="2100" i="1" kern="1200">
                                                    <a:solidFill>
                                                      <a:schemeClr val="tx1"/>
                                                    </a:solidFill>
                                                    <a:effectLst/>
                                                    <a:latin typeface="Cambria Math" panose="02040503050406030204" pitchFamily="18" charset="0"/>
                                                    <a:ea typeface="+mn-ea"/>
                                                    <a:cs typeface="+mn-cs"/>
                                                  </a:rPr>
                                                  <m:t>𝑎</m:t>
                                                </m:r>
                                              </m:e>
                                              <m:sub>
                                                <m:r>
                                                  <a:rPr lang="en-US" sz="2100" i="1" kern="1200">
                                                    <a:solidFill>
                                                      <a:schemeClr val="tx1"/>
                                                    </a:solidFill>
                                                    <a:effectLst/>
                                                    <a:latin typeface="Cambria Math" panose="02040503050406030204" pitchFamily="18" charset="0"/>
                                                    <a:ea typeface="+mn-ea"/>
                                                    <a:cs typeface="+mn-cs"/>
                                                  </a:rPr>
                                                  <m:t>1</m:t>
                                                </m:r>
                                              </m:sub>
                                            </m:sSub>
                                            <m:r>
                                              <a:rPr lang="en-US" sz="2100" b="0" i="1" kern="1200" smtClean="0">
                                                <a:solidFill>
                                                  <a:schemeClr val="tx1"/>
                                                </a:solidFill>
                                                <a:effectLst/>
                                                <a:latin typeface="Cambria Math" panose="02040503050406030204" pitchFamily="18" charset="0"/>
                                                <a:ea typeface="+mn-ea"/>
                                                <a:cs typeface="+mn-cs"/>
                                              </a:rPr>
                                              <m:t>−</m:t>
                                            </m:r>
                                            <m:sSub>
                                              <m:sSubPr>
                                                <m:ctrlPr>
                                                  <a:rPr lang="en-US" sz="2100" i="1" kern="1200">
                                                    <a:solidFill>
                                                      <a:schemeClr val="tx1"/>
                                                    </a:solidFill>
                                                    <a:effectLst/>
                                                    <a:latin typeface="Cambria Math" panose="02040503050406030204" pitchFamily="18" charset="0"/>
                                                    <a:ea typeface="+mn-ea"/>
                                                    <a:cs typeface="+mn-cs"/>
                                                  </a:rPr>
                                                </m:ctrlPr>
                                              </m:sSubPr>
                                              <m:e>
                                                <m:r>
                                                  <a:rPr lang="en-US" sz="2100" i="1" kern="1200">
                                                    <a:solidFill>
                                                      <a:schemeClr val="tx1"/>
                                                    </a:solidFill>
                                                    <a:effectLst/>
                                                    <a:latin typeface="Cambria Math" panose="02040503050406030204" pitchFamily="18" charset="0"/>
                                                    <a:ea typeface="+mn-ea"/>
                                                    <a:cs typeface="+mn-cs"/>
                                                  </a:rPr>
                                                  <m:t>𝑖𝑏</m:t>
                                                </m:r>
                                              </m:e>
                                              <m:sub>
                                                <m:r>
                                                  <a:rPr lang="en-US" sz="2100" i="1" kern="1200">
                                                    <a:solidFill>
                                                      <a:schemeClr val="tx1"/>
                                                    </a:solidFill>
                                                    <a:effectLst/>
                                                    <a:latin typeface="Cambria Math" panose="02040503050406030204" pitchFamily="18" charset="0"/>
                                                    <a:ea typeface="+mn-ea"/>
                                                    <a:cs typeface="+mn-cs"/>
                                                  </a:rPr>
                                                  <m:t>1</m:t>
                                                </m:r>
                                              </m:sub>
                                            </m:sSub>
                                          </m:e>
                                        </m:mr>
                                        <m:mr>
                                          <m:e>
                                            <m:sSub>
                                              <m:sSubPr>
                                                <m:ctrlPr>
                                                  <a:rPr lang="en-US" sz="2100" i="1" kern="1200">
                                                    <a:solidFill>
                                                      <a:schemeClr val="tx1"/>
                                                    </a:solidFill>
                                                    <a:effectLst/>
                                                    <a:latin typeface="Cambria Math" panose="02040503050406030204" pitchFamily="18" charset="0"/>
                                                    <a:ea typeface="+mn-ea"/>
                                                    <a:cs typeface="+mn-cs"/>
                                                  </a:rPr>
                                                </m:ctrlPr>
                                              </m:sSubPr>
                                              <m:e>
                                                <m:r>
                                                  <a:rPr lang="en-US" sz="2100" i="1" kern="1200">
                                                    <a:solidFill>
                                                      <a:schemeClr val="tx1"/>
                                                    </a:solidFill>
                                                    <a:effectLst/>
                                                    <a:latin typeface="Cambria Math" panose="02040503050406030204" pitchFamily="18" charset="0"/>
                                                    <a:ea typeface="+mn-ea"/>
                                                    <a:cs typeface="+mn-cs"/>
                                                  </a:rPr>
                                                  <m:t>𝑎</m:t>
                                                </m:r>
                                              </m:e>
                                              <m:sub>
                                                <m:r>
                                                  <a:rPr lang="en-US" sz="2100" i="1" kern="1200">
                                                    <a:solidFill>
                                                      <a:schemeClr val="tx1"/>
                                                    </a:solidFill>
                                                    <a:effectLst/>
                                                    <a:latin typeface="Cambria Math" panose="02040503050406030204" pitchFamily="18" charset="0"/>
                                                    <a:ea typeface="+mn-ea"/>
                                                    <a:cs typeface="+mn-cs"/>
                                                  </a:rPr>
                                                  <m:t>2</m:t>
                                                </m:r>
                                              </m:sub>
                                            </m:sSub>
                                            <m:r>
                                              <a:rPr lang="en-US" sz="2100" b="0" i="1" kern="1200" smtClean="0">
                                                <a:solidFill>
                                                  <a:schemeClr val="tx1"/>
                                                </a:solidFill>
                                                <a:effectLst/>
                                                <a:latin typeface="Cambria Math" panose="02040503050406030204" pitchFamily="18" charset="0"/>
                                                <a:ea typeface="+mn-ea"/>
                                                <a:cs typeface="+mn-cs"/>
                                              </a:rPr>
                                              <m:t>−</m:t>
                                            </m:r>
                                            <m:sSub>
                                              <m:sSubPr>
                                                <m:ctrlPr>
                                                  <a:rPr lang="en-US" sz="2100" i="1" kern="1200">
                                                    <a:solidFill>
                                                      <a:schemeClr val="tx1"/>
                                                    </a:solidFill>
                                                    <a:effectLst/>
                                                    <a:latin typeface="Cambria Math" panose="02040503050406030204" pitchFamily="18" charset="0"/>
                                                    <a:ea typeface="+mn-ea"/>
                                                    <a:cs typeface="+mn-cs"/>
                                                  </a:rPr>
                                                </m:ctrlPr>
                                              </m:sSubPr>
                                              <m:e>
                                                <m:r>
                                                  <a:rPr lang="en-US" sz="2100" i="1" kern="1200">
                                                    <a:solidFill>
                                                      <a:schemeClr val="tx1"/>
                                                    </a:solidFill>
                                                    <a:effectLst/>
                                                    <a:latin typeface="Cambria Math" panose="02040503050406030204" pitchFamily="18" charset="0"/>
                                                    <a:ea typeface="+mn-ea"/>
                                                    <a:cs typeface="+mn-cs"/>
                                                  </a:rPr>
                                                  <m:t>𝑖𝑏</m:t>
                                                </m:r>
                                              </m:e>
                                              <m:sub>
                                                <m:r>
                                                  <a:rPr lang="en-US" sz="2100" i="1" kern="1200">
                                                    <a:solidFill>
                                                      <a:schemeClr val="tx1"/>
                                                    </a:solidFill>
                                                    <a:effectLst/>
                                                    <a:latin typeface="Cambria Math" panose="02040503050406030204" pitchFamily="18" charset="0"/>
                                                    <a:ea typeface="+mn-ea"/>
                                                    <a:cs typeface="+mn-cs"/>
                                                  </a:rPr>
                                                  <m:t>2</m:t>
                                                </m:r>
                                              </m:sub>
                                            </m:sSub>
                                          </m:e>
                                        </m:mr>
                                      </m:m>
                                    </m:e>
                                  </m:d>
                                </m:e>
                                <m:sup>
                                  <m:r>
                                    <a:rPr lang="en-US" sz="2100" b="0" i="1" kern="1200" smtClean="0">
                                      <a:solidFill>
                                        <a:schemeClr val="tx1"/>
                                      </a:solidFill>
                                      <a:effectLst/>
                                      <a:latin typeface="Cambria Math" panose="02040503050406030204" pitchFamily="18" charset="0"/>
                                      <a:ea typeface="+mn-ea"/>
                                      <a:cs typeface="+mn-cs"/>
                                    </a:rPr>
                                    <m:t>𝑇</m:t>
                                  </m:r>
                                </m:sup>
                              </m:sSup>
                            </m:oMath>
                          </a14:m>
                          <a:r>
                            <a:rPr lang="en-US" sz="2100" dirty="0"/>
                            <a:t>=</a:t>
                          </a:r>
                          <a14:m>
                            <m:oMath xmlns:m="http://schemas.openxmlformats.org/officeDocument/2006/math">
                              <m:d>
                                <m:dPr>
                                  <m:ctrlPr>
                                    <a:rPr lang="en-US" sz="2100" i="1" kern="1200" smtClean="0">
                                      <a:solidFill>
                                        <a:schemeClr val="tx1"/>
                                      </a:solidFill>
                                      <a:effectLst/>
                                      <a:latin typeface="Cambria Math" panose="02040503050406030204" pitchFamily="18" charset="0"/>
                                      <a:ea typeface="+mn-ea"/>
                                      <a:cs typeface="+mn-cs"/>
                                    </a:rPr>
                                  </m:ctrlPr>
                                </m:dPr>
                                <m:e>
                                  <m:m>
                                    <m:mPr>
                                      <m:mcs>
                                        <m:mc>
                                          <m:mcPr>
                                            <m:count m:val="2"/>
                                            <m:mcJc m:val="center"/>
                                          </m:mcPr>
                                        </m:mc>
                                      </m:mcs>
                                      <m:ctrlPr>
                                        <a:rPr lang="en-US" sz="2100" i="1" kern="1200">
                                          <a:solidFill>
                                            <a:schemeClr val="tx1"/>
                                          </a:solidFill>
                                          <a:effectLst/>
                                          <a:latin typeface="Cambria Math" panose="02040503050406030204" pitchFamily="18" charset="0"/>
                                          <a:ea typeface="+mn-ea"/>
                                          <a:cs typeface="+mn-cs"/>
                                        </a:rPr>
                                      </m:ctrlPr>
                                    </m:mPr>
                                    <m:mr>
                                      <m:e>
                                        <m:sSub>
                                          <m:sSubPr>
                                            <m:ctrlPr>
                                              <a:rPr lang="en-US" sz="2100" i="1" kern="1200">
                                                <a:solidFill>
                                                  <a:schemeClr val="tx1"/>
                                                </a:solidFill>
                                                <a:effectLst/>
                                                <a:latin typeface="Cambria Math" panose="02040503050406030204" pitchFamily="18" charset="0"/>
                                                <a:ea typeface="+mn-ea"/>
                                                <a:cs typeface="+mn-cs"/>
                                              </a:rPr>
                                            </m:ctrlPr>
                                          </m:sSubPr>
                                          <m:e>
                                            <m:r>
                                              <a:rPr lang="en-US" sz="2100" i="1" kern="1200">
                                                <a:solidFill>
                                                  <a:schemeClr val="tx1"/>
                                                </a:solidFill>
                                                <a:effectLst/>
                                                <a:latin typeface="Cambria Math" panose="02040503050406030204" pitchFamily="18" charset="0"/>
                                                <a:ea typeface="+mn-ea"/>
                                                <a:cs typeface="+mn-cs"/>
                                              </a:rPr>
                                              <m:t>𝑎</m:t>
                                            </m:r>
                                          </m:e>
                                          <m:sub>
                                            <m:r>
                                              <a:rPr lang="en-US" sz="2100" i="1" kern="1200">
                                                <a:solidFill>
                                                  <a:schemeClr val="tx1"/>
                                                </a:solidFill>
                                                <a:effectLst/>
                                                <a:latin typeface="Cambria Math" panose="02040503050406030204" pitchFamily="18" charset="0"/>
                                                <a:ea typeface="+mn-ea"/>
                                                <a:cs typeface="+mn-cs"/>
                                              </a:rPr>
                                              <m:t>1</m:t>
                                            </m:r>
                                          </m:sub>
                                        </m:sSub>
                                        <m:r>
                                          <a:rPr lang="en-US" sz="2100" i="1" kern="1200">
                                            <a:solidFill>
                                              <a:schemeClr val="tx1"/>
                                            </a:solidFill>
                                            <a:effectLst/>
                                            <a:latin typeface="Cambria Math" panose="02040503050406030204" pitchFamily="18" charset="0"/>
                                            <a:ea typeface="+mn-ea"/>
                                            <a:cs typeface="+mn-cs"/>
                                          </a:rPr>
                                          <m:t>−</m:t>
                                        </m:r>
                                        <m:r>
                                          <a:rPr lang="en-US" sz="2100" i="1" kern="1200">
                                            <a:solidFill>
                                              <a:schemeClr val="tx1"/>
                                            </a:solidFill>
                                            <a:effectLst/>
                                            <a:latin typeface="Cambria Math" panose="02040503050406030204" pitchFamily="18" charset="0"/>
                                            <a:ea typeface="+mn-ea"/>
                                            <a:cs typeface="+mn-cs"/>
                                          </a:rPr>
                                          <m:t>𝑖</m:t>
                                        </m:r>
                                        <m:sSub>
                                          <m:sSubPr>
                                            <m:ctrlPr>
                                              <a:rPr lang="en-US" sz="2100" i="1" kern="1200">
                                                <a:solidFill>
                                                  <a:schemeClr val="tx1"/>
                                                </a:solidFill>
                                                <a:effectLst/>
                                                <a:latin typeface="Cambria Math" panose="02040503050406030204" pitchFamily="18" charset="0"/>
                                                <a:ea typeface="+mn-ea"/>
                                                <a:cs typeface="+mn-cs"/>
                                              </a:rPr>
                                            </m:ctrlPr>
                                          </m:sSubPr>
                                          <m:e>
                                            <m:r>
                                              <a:rPr lang="en-US" sz="2100" i="1" kern="1200">
                                                <a:solidFill>
                                                  <a:schemeClr val="tx1"/>
                                                </a:solidFill>
                                                <a:effectLst/>
                                                <a:latin typeface="Cambria Math" panose="02040503050406030204" pitchFamily="18" charset="0"/>
                                                <a:ea typeface="+mn-ea"/>
                                                <a:cs typeface="+mn-cs"/>
                                              </a:rPr>
                                              <m:t>𝑏</m:t>
                                            </m:r>
                                          </m:e>
                                          <m:sub>
                                            <m:r>
                                              <a:rPr lang="en-US" sz="2100" i="1" kern="1200">
                                                <a:solidFill>
                                                  <a:schemeClr val="tx1"/>
                                                </a:solidFill>
                                                <a:effectLst/>
                                                <a:latin typeface="Cambria Math" panose="02040503050406030204" pitchFamily="18" charset="0"/>
                                                <a:ea typeface="+mn-ea"/>
                                                <a:cs typeface="+mn-cs"/>
                                              </a:rPr>
                                              <m:t>1</m:t>
                                            </m:r>
                                          </m:sub>
                                        </m:sSub>
                                      </m:e>
                                      <m:e>
                                        <m:sSub>
                                          <m:sSubPr>
                                            <m:ctrlPr>
                                              <a:rPr lang="en-US" sz="2100" i="1" kern="1200">
                                                <a:solidFill>
                                                  <a:schemeClr val="tx1"/>
                                                </a:solidFill>
                                                <a:effectLst/>
                                                <a:latin typeface="Cambria Math" panose="02040503050406030204" pitchFamily="18" charset="0"/>
                                                <a:ea typeface="+mn-ea"/>
                                                <a:cs typeface="+mn-cs"/>
                                              </a:rPr>
                                            </m:ctrlPr>
                                          </m:sSubPr>
                                          <m:e>
                                            <m:r>
                                              <a:rPr lang="en-US" sz="2100" i="1" kern="1200">
                                                <a:solidFill>
                                                  <a:schemeClr val="tx1"/>
                                                </a:solidFill>
                                                <a:effectLst/>
                                                <a:latin typeface="Cambria Math" panose="02040503050406030204" pitchFamily="18" charset="0"/>
                                                <a:ea typeface="+mn-ea"/>
                                                <a:cs typeface="+mn-cs"/>
                                              </a:rPr>
                                              <m:t>𝑎</m:t>
                                            </m:r>
                                          </m:e>
                                          <m:sub>
                                            <m:r>
                                              <a:rPr lang="en-US" sz="2100" i="1" kern="1200">
                                                <a:solidFill>
                                                  <a:schemeClr val="tx1"/>
                                                </a:solidFill>
                                                <a:effectLst/>
                                                <a:latin typeface="Cambria Math" panose="02040503050406030204" pitchFamily="18" charset="0"/>
                                                <a:ea typeface="+mn-ea"/>
                                                <a:cs typeface="+mn-cs"/>
                                              </a:rPr>
                                              <m:t>2</m:t>
                                            </m:r>
                                          </m:sub>
                                        </m:sSub>
                                        <m:r>
                                          <a:rPr lang="en-US" sz="2100" i="1" kern="1200">
                                            <a:solidFill>
                                              <a:schemeClr val="tx1"/>
                                            </a:solidFill>
                                            <a:effectLst/>
                                            <a:latin typeface="Cambria Math" panose="02040503050406030204" pitchFamily="18" charset="0"/>
                                            <a:ea typeface="+mn-ea"/>
                                            <a:cs typeface="+mn-cs"/>
                                          </a:rPr>
                                          <m:t>−</m:t>
                                        </m:r>
                                        <m:sSub>
                                          <m:sSubPr>
                                            <m:ctrlPr>
                                              <a:rPr lang="en-US" sz="2100" i="1" kern="1200">
                                                <a:solidFill>
                                                  <a:schemeClr val="tx1"/>
                                                </a:solidFill>
                                                <a:effectLst/>
                                                <a:latin typeface="Cambria Math" panose="02040503050406030204" pitchFamily="18" charset="0"/>
                                                <a:ea typeface="+mn-ea"/>
                                                <a:cs typeface="+mn-cs"/>
                                              </a:rPr>
                                            </m:ctrlPr>
                                          </m:sSubPr>
                                          <m:e>
                                            <m:r>
                                              <a:rPr lang="en-US" sz="2100" i="1" kern="1200">
                                                <a:solidFill>
                                                  <a:schemeClr val="tx1"/>
                                                </a:solidFill>
                                                <a:effectLst/>
                                                <a:latin typeface="Cambria Math" panose="02040503050406030204" pitchFamily="18" charset="0"/>
                                                <a:ea typeface="+mn-ea"/>
                                                <a:cs typeface="+mn-cs"/>
                                              </a:rPr>
                                              <m:t>𝑖𝑏</m:t>
                                            </m:r>
                                          </m:e>
                                          <m:sub>
                                            <m:r>
                                              <a:rPr lang="en-US" sz="2100" i="1" kern="1200">
                                                <a:solidFill>
                                                  <a:schemeClr val="tx1"/>
                                                </a:solidFill>
                                                <a:effectLst/>
                                                <a:latin typeface="Cambria Math" panose="02040503050406030204" pitchFamily="18" charset="0"/>
                                                <a:ea typeface="+mn-ea"/>
                                                <a:cs typeface="+mn-cs"/>
                                              </a:rPr>
                                              <m:t>2</m:t>
                                            </m:r>
                                          </m:sub>
                                        </m:sSub>
                                      </m:e>
                                    </m:mr>
                                  </m:m>
                                </m:e>
                              </m:d>
                            </m:oMath>
                          </a14:m>
                          <a:r>
                            <a:rPr lang="en-US" sz="2400" dirty="0">
                              <a:effectLst/>
                            </a:rPr>
                            <a:t> </a:t>
                          </a:r>
                          <a:endParaRPr lang="en-US" sz="2100" dirty="0"/>
                        </a:p>
                      </a:txBody>
                      <a:tcPr/>
                    </a:tc>
                    <a:extLst>
                      <a:ext uri="{0D108BD9-81ED-4DB2-BD59-A6C34878D82A}">
                        <a16:rowId xmlns:a16="http://schemas.microsoft.com/office/drawing/2014/main" val="1420520835"/>
                      </a:ext>
                    </a:extLst>
                  </a:tr>
                </a:tbl>
              </a:graphicData>
            </a:graphic>
          </p:graphicFrame>
        </mc:Choice>
        <mc:Fallback xmlns="">
          <p:graphicFrame>
            <p:nvGraphicFramePr>
              <p:cNvPr id="5" name="Table 4">
                <a:extLst>
                  <a:ext uri="{FF2B5EF4-FFF2-40B4-BE49-F238E27FC236}">
                    <a16:creationId xmlns:a16="http://schemas.microsoft.com/office/drawing/2014/main" id="{D70383F4-093D-9846-A085-171C01AFA2B5}"/>
                  </a:ext>
                </a:extLst>
              </p:cNvPr>
              <p:cNvGraphicFramePr>
                <a:graphicFrameLocks noGrp="1"/>
              </p:cNvGraphicFramePr>
              <p:nvPr>
                <p:extLst>
                  <p:ext uri="{D42A27DB-BD31-4B8C-83A1-F6EECF244321}">
                    <p14:modId xmlns:p14="http://schemas.microsoft.com/office/powerpoint/2010/main" val="1185796844"/>
                  </p:ext>
                </p:extLst>
              </p:nvPr>
            </p:nvGraphicFramePr>
            <p:xfrm>
              <a:off x="346828" y="1353668"/>
              <a:ext cx="11440360" cy="4622380"/>
            </p:xfrm>
            <a:graphic>
              <a:graphicData uri="http://schemas.openxmlformats.org/drawingml/2006/table">
                <a:tbl>
                  <a:tblPr firstRow="1" bandRow="1">
                    <a:tableStyleId>{ED083AE6-46FA-4A59-8FB0-9F97EB10719F}</a:tableStyleId>
                  </a:tblPr>
                  <a:tblGrid>
                    <a:gridCol w="5380204">
                      <a:extLst>
                        <a:ext uri="{9D8B030D-6E8A-4147-A177-3AD203B41FA5}">
                          <a16:colId xmlns:a16="http://schemas.microsoft.com/office/drawing/2014/main" val="3579567803"/>
                        </a:ext>
                      </a:extLst>
                    </a:gridCol>
                    <a:gridCol w="6060156">
                      <a:extLst>
                        <a:ext uri="{9D8B030D-6E8A-4147-A177-3AD203B41FA5}">
                          <a16:colId xmlns:a16="http://schemas.microsoft.com/office/drawing/2014/main" val="4022472785"/>
                        </a:ext>
                      </a:extLst>
                    </a:gridCol>
                  </a:tblGrid>
                  <a:tr h="457200">
                    <a:tc>
                      <a:txBody>
                        <a:bodyPr/>
                        <a:lstStyle/>
                        <a:p>
                          <a:pPr algn="ctr"/>
                          <a:r>
                            <a:rPr lang="en-ZA" sz="2400" dirty="0"/>
                            <a:t>Operations</a:t>
                          </a:r>
                          <a:endParaRPr lang="en-US" sz="2100" dirty="0"/>
                        </a:p>
                      </a:txBody>
                      <a:tcPr/>
                    </a:tc>
                    <a:tc>
                      <a:txBody>
                        <a:bodyPr/>
                        <a:lstStyle/>
                        <a:p>
                          <a:pPr algn="ctr"/>
                          <a:r>
                            <a:rPr lang="en-US" sz="2100" dirty="0"/>
                            <a:t>Example</a:t>
                          </a:r>
                        </a:p>
                      </a:txBody>
                      <a:tcPr/>
                    </a:tc>
                    <a:extLst>
                      <a:ext uri="{0D108BD9-81ED-4DB2-BD59-A6C34878D82A}">
                        <a16:rowId xmlns:a16="http://schemas.microsoft.com/office/drawing/2014/main" val="2867364874"/>
                      </a:ext>
                    </a:extLst>
                  </a:tr>
                  <a:tr h="997359">
                    <a:tc>
                      <a:txBody>
                        <a:bodyPr/>
                        <a:lstStyle/>
                        <a:p>
                          <a:r>
                            <a:rPr lang="en-ZA" sz="2100" b="1" dirty="0"/>
                            <a:t>Addition and Subtraction</a:t>
                          </a:r>
                          <a:endParaRPr lang="en-US" sz="2100" b="1" kern="1200" dirty="0">
                            <a:effectLst/>
                          </a:endParaRPr>
                        </a:p>
                        <a:p>
                          <a:r>
                            <a:rPr lang="en-ZA" sz="2100" dirty="0"/>
                            <a:t>Add/subtract elements with the same indices.</a:t>
                          </a:r>
                          <a:endParaRPr lang="en-US" sz="2100" dirty="0"/>
                        </a:p>
                      </a:txBody>
                      <a:tcPr/>
                    </a:tc>
                    <a:tc>
                      <a:txBody>
                        <a:bodyPr/>
                        <a:lstStyle/>
                        <a:p>
                          <a:endParaRPr lang="en-US"/>
                        </a:p>
                      </a:txBody>
                      <a:tcPr>
                        <a:blipFill>
                          <a:blip r:embed="rId3"/>
                          <a:stretch>
                            <a:fillRect l="-88912" t="-50633" b="-316456"/>
                          </a:stretch>
                        </a:blipFill>
                      </a:tcPr>
                    </a:tc>
                    <a:extLst>
                      <a:ext uri="{0D108BD9-81ED-4DB2-BD59-A6C34878D82A}">
                        <a16:rowId xmlns:a16="http://schemas.microsoft.com/office/drawing/2014/main" val="1944794926"/>
                      </a:ext>
                    </a:extLst>
                  </a:tr>
                  <a:tr h="731520">
                    <a:tc>
                      <a:txBody>
                        <a:bodyPr/>
                        <a:lstStyle/>
                        <a:p>
                          <a:r>
                            <a:rPr lang="en-ZA" sz="2100" b="1" dirty="0"/>
                            <a:t>Multiplication by a scalar</a:t>
                          </a:r>
                        </a:p>
                        <a:p>
                          <a:r>
                            <a:rPr lang="en-ZA" sz="2100" dirty="0"/>
                            <a:t>Multiply each element by a scalar.</a:t>
                          </a:r>
                          <a:endParaRPr lang="en-US" sz="2100" dirty="0"/>
                        </a:p>
                      </a:txBody>
                      <a:tcPr/>
                    </a:tc>
                    <a:tc>
                      <a:txBody>
                        <a:bodyPr/>
                        <a:lstStyle/>
                        <a:p>
                          <a:endParaRPr lang="en-US"/>
                        </a:p>
                      </a:txBody>
                      <a:tcPr>
                        <a:blipFill>
                          <a:blip r:embed="rId3"/>
                          <a:stretch>
                            <a:fillRect l="-88912" t="-205172" b="-331034"/>
                          </a:stretch>
                        </a:blipFill>
                      </a:tcPr>
                    </a:tc>
                    <a:extLst>
                      <a:ext uri="{0D108BD9-81ED-4DB2-BD59-A6C34878D82A}">
                        <a16:rowId xmlns:a16="http://schemas.microsoft.com/office/drawing/2014/main" val="1232007365"/>
                      </a:ext>
                    </a:extLst>
                  </a:tr>
                  <a:tr h="1007618">
                    <a:tc>
                      <a:txBody>
                        <a:bodyPr/>
                        <a:lstStyle/>
                        <a:p>
                          <a:r>
                            <a:rPr lang="en-ZA" sz="2100" b="1" dirty="0"/>
                            <a:t>Transpose</a:t>
                          </a:r>
                          <a:r>
                            <a:rPr lang="en-US" sz="2100" dirty="0">
                              <a:effectLst/>
                            </a:rPr>
                            <a:t> </a:t>
                          </a:r>
                        </a:p>
                        <a:p>
                          <a:r>
                            <a:rPr lang="en-ZA" sz="2100" dirty="0"/>
                            <a:t>Swap rows and columns</a:t>
                          </a:r>
                          <a:r>
                            <a:rPr lang="en-US" sz="2100" kern="1200" baseline="0" dirty="0">
                              <a:solidFill>
                                <a:schemeClr val="tx1"/>
                              </a:solidFill>
                              <a:effectLst/>
                              <a:latin typeface="+mn-lt"/>
                              <a:ea typeface="+mn-ea"/>
                              <a:cs typeface="+mn-cs"/>
                            </a:rPr>
                            <a:t>.</a:t>
                          </a:r>
                          <a:endParaRPr lang="en-US" sz="2100" dirty="0"/>
                        </a:p>
                      </a:txBody>
                      <a:tcPr/>
                    </a:tc>
                    <a:tc>
                      <a:txBody>
                        <a:bodyPr/>
                        <a:lstStyle/>
                        <a:p>
                          <a:endParaRPr lang="en-US"/>
                        </a:p>
                      </a:txBody>
                      <a:tcPr>
                        <a:blipFill>
                          <a:blip r:embed="rId3"/>
                          <a:stretch>
                            <a:fillRect l="-88912" t="-224051" b="-143038"/>
                          </a:stretch>
                        </a:blipFill>
                      </a:tcPr>
                    </a:tc>
                    <a:extLst>
                      <a:ext uri="{0D108BD9-81ED-4DB2-BD59-A6C34878D82A}">
                        <a16:rowId xmlns:a16="http://schemas.microsoft.com/office/drawing/2014/main" val="4003669842"/>
                      </a:ext>
                    </a:extLst>
                  </a:tr>
                  <a:tr h="1428683">
                    <a:tc>
                      <a:txBody>
                        <a:bodyPr/>
                        <a:lstStyle/>
                        <a:p>
                          <a:endParaRPr lang="en-US"/>
                        </a:p>
                      </a:txBody>
                      <a:tcPr>
                        <a:blipFill>
                          <a:blip r:embed="rId3"/>
                          <a:stretch>
                            <a:fillRect l="-236" t="-226549" r="-112736"/>
                          </a:stretch>
                        </a:blipFill>
                      </a:tcPr>
                    </a:tc>
                    <a:tc>
                      <a:txBody>
                        <a:bodyPr/>
                        <a:lstStyle/>
                        <a:p>
                          <a:endParaRPr lang="en-US"/>
                        </a:p>
                      </a:txBody>
                      <a:tcPr>
                        <a:blipFill>
                          <a:blip r:embed="rId3"/>
                          <a:stretch>
                            <a:fillRect l="-88912" t="-226549"/>
                          </a:stretch>
                        </a:blipFill>
                      </a:tcPr>
                    </a:tc>
                    <a:extLst>
                      <a:ext uri="{0D108BD9-81ED-4DB2-BD59-A6C34878D82A}">
                        <a16:rowId xmlns:a16="http://schemas.microsoft.com/office/drawing/2014/main" val="1420520835"/>
                      </a:ext>
                    </a:extLst>
                  </a:tr>
                </a:tbl>
              </a:graphicData>
            </a:graphic>
          </p:graphicFrame>
        </mc:Fallback>
      </mc:AlternateContent>
    </p:spTree>
    <p:extLst>
      <p:ext uri="{BB962C8B-B14F-4D97-AF65-F5344CB8AC3E}">
        <p14:creationId xmlns:p14="http://schemas.microsoft.com/office/powerpoint/2010/main" val="28927155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45C156-6254-6A45-946D-996BD923C955}"/>
              </a:ext>
            </a:extLst>
          </p:cNvPr>
          <p:cNvSpPr>
            <a:spLocks noGrp="1"/>
          </p:cNvSpPr>
          <p:nvPr>
            <p:ph type="title"/>
          </p:nvPr>
        </p:nvSpPr>
        <p:spPr/>
        <p:txBody>
          <a:bodyPr/>
          <a:lstStyle/>
          <a:p>
            <a:r>
              <a:rPr lang="en-US" dirty="0" err="1"/>
              <a:t>MathBox</a:t>
            </a:r>
            <a:r>
              <a:rPr lang="en-US" dirty="0"/>
              <a:t>: </a:t>
            </a:r>
            <a:r>
              <a:rPr lang="en-ZA" dirty="0"/>
              <a:t>Matrix Multiplication</a:t>
            </a:r>
            <a:endParaRPr lang="en-US" dirty="0"/>
          </a:p>
        </p:txBody>
      </p:sp>
      <p:sp>
        <p:nvSpPr>
          <p:cNvPr id="3" name="Slide Number Placeholder 2">
            <a:extLst>
              <a:ext uri="{FF2B5EF4-FFF2-40B4-BE49-F238E27FC236}">
                <a16:creationId xmlns:a16="http://schemas.microsoft.com/office/drawing/2014/main" id="{0C49020C-95E8-6847-866E-07F0A5A3BB19}"/>
              </a:ext>
            </a:extLst>
          </p:cNvPr>
          <p:cNvSpPr>
            <a:spLocks noGrp="1"/>
          </p:cNvSpPr>
          <p:nvPr>
            <p:ph type="sldNum" sz="quarter" idx="12"/>
          </p:nvPr>
        </p:nvSpPr>
        <p:spPr/>
        <p:txBody>
          <a:bodyPr/>
          <a:lstStyle/>
          <a:p>
            <a:fld id="{591A223C-FA10-BC46-A853-03BA373D023C}" type="slidenum">
              <a:rPr lang="en-US" smtClean="0"/>
              <a:t>5</a:t>
            </a:fld>
            <a:endParaRPr lang="en-US"/>
          </a:p>
        </p:txBody>
      </p:sp>
      <p:pic>
        <p:nvPicPr>
          <p:cNvPr id="5" name="Picture 4">
            <a:extLst>
              <a:ext uri="{FF2B5EF4-FFF2-40B4-BE49-F238E27FC236}">
                <a16:creationId xmlns:a16="http://schemas.microsoft.com/office/drawing/2014/main" id="{6611557E-E1DE-AC4B-AEEF-6F6000F34F0C}"/>
              </a:ext>
            </a:extLst>
          </p:cNvPr>
          <p:cNvPicPr>
            <a:picLocks noChangeAspect="1"/>
          </p:cNvPicPr>
          <p:nvPr/>
        </p:nvPicPr>
        <p:blipFill>
          <a:blip r:embed="rId3"/>
          <a:stretch>
            <a:fillRect/>
          </a:stretch>
        </p:blipFill>
        <p:spPr>
          <a:xfrm>
            <a:off x="6681341" y="2981626"/>
            <a:ext cx="5340769" cy="2601913"/>
          </a:xfrm>
          <a:prstGeom prst="rect">
            <a:avLst/>
          </a:prstGeom>
        </p:spPr>
      </p:pic>
      <p:sp>
        <p:nvSpPr>
          <p:cNvPr id="6" name="Rectangle 5">
            <a:extLst>
              <a:ext uri="{FF2B5EF4-FFF2-40B4-BE49-F238E27FC236}">
                <a16:creationId xmlns:a16="http://schemas.microsoft.com/office/drawing/2014/main" id="{1C54850B-746C-2B4B-95F5-2A7CDDC75CDB}"/>
              </a:ext>
            </a:extLst>
          </p:cNvPr>
          <p:cNvSpPr/>
          <p:nvPr/>
        </p:nvSpPr>
        <p:spPr>
          <a:xfrm>
            <a:off x="104930" y="1280463"/>
            <a:ext cx="11917180" cy="830997"/>
          </a:xfrm>
          <a:prstGeom prst="rect">
            <a:avLst/>
          </a:prstGeom>
        </p:spPr>
        <p:txBody>
          <a:bodyPr wrap="square">
            <a:spAutoFit/>
          </a:bodyPr>
          <a:lstStyle/>
          <a:p>
            <a:pPr algn="ctr"/>
            <a:r>
              <a:rPr lang="en-ZA" sz="2400" dirty="0"/>
              <a:t>Matrices can be multiplied only if the number of columns in the left matrix equals the number of rows in the right matrix.</a:t>
            </a:r>
            <a:r>
              <a:rPr lang="en-US" sz="2400" dirty="0"/>
              <a:t> </a:t>
            </a:r>
          </a:p>
        </p:txBody>
      </p:sp>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97AECCF4-E224-A249-B38C-75FC5E0442E3}"/>
                  </a:ext>
                </a:extLst>
              </p:cNvPr>
              <p:cNvSpPr/>
              <p:nvPr/>
            </p:nvSpPr>
            <p:spPr>
              <a:xfrm>
                <a:off x="0" y="2794099"/>
                <a:ext cx="6448270" cy="3715633"/>
              </a:xfrm>
              <a:prstGeom prst="rect">
                <a:avLst/>
              </a:prstGeom>
              <a:solidFill>
                <a:schemeClr val="accent4">
                  <a:lumMod val="20000"/>
                  <a:lumOff val="80000"/>
                </a:schemeClr>
              </a:solidFill>
            </p:spPr>
            <p:txBody>
              <a:bodyPr wrap="square">
                <a:spAutoFit/>
              </a:bodyPr>
              <a:lstStyle/>
              <a:p>
                <a:pPr algn="just"/>
                <a:r>
                  <a:rPr lang="en-ZA" sz="2400" b="1" dirty="0"/>
                  <a:t>1.</a:t>
                </a:r>
                <a:r>
                  <a:rPr lang="en-ZA" sz="2400" dirty="0"/>
                  <a:t> Each element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𝑐</m:t>
                        </m:r>
                      </m:e>
                      <m:sub>
                        <m:r>
                          <a:rPr lang="en-US" sz="2400" i="1">
                            <a:latin typeface="Cambria Math" panose="02040503050406030204" pitchFamily="18" charset="0"/>
                          </a:rPr>
                          <m:t>𝑖𝑗</m:t>
                        </m:r>
                      </m:sub>
                    </m:sSub>
                  </m:oMath>
                </a14:m>
                <a:r>
                  <a:rPr lang="en-ZA" sz="2400" dirty="0"/>
                  <a:t> is obtained by multiplying the corresponding elements of </a:t>
                </a:r>
                <a:r>
                  <a:rPr lang="en-ZA" sz="2400" b="1" dirty="0"/>
                  <a:t>row </a:t>
                </a:r>
                <a14:m>
                  <m:oMath xmlns:m="http://schemas.openxmlformats.org/officeDocument/2006/math">
                    <m:r>
                      <a:rPr lang="en-US" sz="2400" i="1">
                        <a:latin typeface="Cambria Math" panose="02040503050406030204" pitchFamily="18" charset="0"/>
                      </a:rPr>
                      <m:t>𝑖</m:t>
                    </m:r>
                  </m:oMath>
                </a14:m>
                <a:r>
                  <a:rPr lang="en-ZA" sz="2400" dirty="0"/>
                  <a:t> of the first matrix and </a:t>
                </a:r>
                <a:r>
                  <a:rPr lang="en-ZA" sz="2400" b="1" dirty="0"/>
                  <a:t>column </a:t>
                </a:r>
                <a14:m>
                  <m:oMath xmlns:m="http://schemas.openxmlformats.org/officeDocument/2006/math">
                    <m:r>
                      <a:rPr lang="en-US" sz="2400" b="0" i="1" smtClean="0">
                        <a:latin typeface="Cambria Math" panose="02040503050406030204" pitchFamily="18" charset="0"/>
                      </a:rPr>
                      <m:t>𝑗</m:t>
                    </m:r>
                  </m:oMath>
                </a14:m>
                <a:r>
                  <a:rPr lang="en-ZA" sz="2400" dirty="0"/>
                  <a:t> of the second matrix, and then summing the products:</a:t>
                </a:r>
              </a:p>
              <a:p>
                <a:pPr algn="just"/>
                <a14:m>
                  <m:oMathPara xmlns:m="http://schemas.openxmlformats.org/officeDocument/2006/math">
                    <m:oMathParaPr>
                      <m:jc m:val="centerGroup"/>
                    </m:oMathParaPr>
                    <m:oMath xmlns:m="http://schemas.openxmlformats.org/officeDocument/2006/math">
                      <m:m>
                        <m:mPr>
                          <m:mcs>
                            <m:mc>
                              <m:mcPr>
                                <m:count m:val="1"/>
                                <m:mcJc m:val="center"/>
                              </m:mcPr>
                            </m:mc>
                          </m:mcs>
                          <m:ctrlPr>
                            <a:rPr lang="en-US" sz="2400" i="1">
                              <a:latin typeface="Cambria Math" panose="02040503050406030204" pitchFamily="18" charset="0"/>
                            </a:rPr>
                          </m:ctrlPr>
                        </m:mPr>
                        <m:mr>
                          <m:e>
                            <m:sSub>
                              <m:sSubPr>
                                <m:ctrlPr>
                                  <a:rPr lang="en-US" sz="2400" i="1">
                                    <a:latin typeface="Cambria Math" panose="02040503050406030204" pitchFamily="18" charset="0"/>
                                  </a:rPr>
                                </m:ctrlPr>
                              </m:sSubPr>
                              <m:e>
                                <m:r>
                                  <a:rPr lang="en-US" sz="2400" b="0" i="1">
                                    <a:latin typeface="Cambria Math" panose="02040503050406030204" pitchFamily="18" charset="0"/>
                                  </a:rPr>
                                  <m:t>𝑐</m:t>
                                </m:r>
                              </m:e>
                              <m:sub>
                                <m:r>
                                  <a:rPr lang="en-US" sz="2400" b="0" i="1">
                                    <a:latin typeface="Cambria Math" panose="02040503050406030204" pitchFamily="18" charset="0"/>
                                  </a:rPr>
                                  <m:t>𝑖𝑗</m:t>
                                </m:r>
                              </m:sub>
                            </m:sSub>
                            <m:r>
                              <a:rPr lang="en-US" sz="2400" b="0" i="1">
                                <a:latin typeface="Cambria Math" panose="02040503050406030204" pitchFamily="18" charset="0"/>
                              </a:rPr>
                              <m:t>=</m:t>
                            </m:r>
                            <m:sSub>
                              <m:sSubPr>
                                <m:ctrlPr>
                                  <a:rPr lang="en-US" sz="2400" i="1">
                                    <a:latin typeface="Cambria Math" panose="02040503050406030204" pitchFamily="18" charset="0"/>
                                  </a:rPr>
                                </m:ctrlPr>
                              </m:sSubPr>
                              <m:e>
                                <m:r>
                                  <a:rPr lang="en-US" sz="2400" b="0" i="1">
                                    <a:latin typeface="Cambria Math" panose="02040503050406030204" pitchFamily="18" charset="0"/>
                                  </a:rPr>
                                  <m:t>𝑎</m:t>
                                </m:r>
                              </m:e>
                              <m:sub>
                                <m:r>
                                  <a:rPr lang="en-US" sz="2400" b="0" i="1">
                                    <a:latin typeface="Cambria Math" panose="02040503050406030204" pitchFamily="18" charset="0"/>
                                  </a:rPr>
                                  <m:t>𝑖</m:t>
                                </m:r>
                                <m:r>
                                  <a:rPr lang="en-US" sz="2400" b="0" i="1">
                                    <a:latin typeface="Cambria Math" panose="02040503050406030204" pitchFamily="18" charset="0"/>
                                  </a:rPr>
                                  <m:t>1</m:t>
                                </m:r>
                              </m:sub>
                            </m:sSub>
                            <m:sSub>
                              <m:sSubPr>
                                <m:ctrlPr>
                                  <a:rPr lang="en-US" sz="2400" i="1">
                                    <a:latin typeface="Cambria Math" panose="02040503050406030204" pitchFamily="18" charset="0"/>
                                  </a:rPr>
                                </m:ctrlPr>
                              </m:sSubPr>
                              <m:e>
                                <m:r>
                                  <a:rPr lang="en-US" sz="2400" b="0" i="1">
                                    <a:latin typeface="Cambria Math" panose="02040503050406030204" pitchFamily="18" charset="0"/>
                                  </a:rPr>
                                  <m:t>𝑏</m:t>
                                </m:r>
                              </m:e>
                              <m:sub>
                                <m:r>
                                  <a:rPr lang="en-US" sz="2400" b="0" i="1">
                                    <a:latin typeface="Cambria Math" panose="02040503050406030204" pitchFamily="18" charset="0"/>
                                  </a:rPr>
                                  <m:t>1</m:t>
                                </m:r>
                                <m:r>
                                  <a:rPr lang="en-US" sz="2400" b="0" i="1">
                                    <a:latin typeface="Cambria Math" panose="02040503050406030204" pitchFamily="18" charset="0"/>
                                  </a:rPr>
                                  <m:t>𝑗</m:t>
                                </m:r>
                              </m:sub>
                            </m:sSub>
                            <m:r>
                              <a:rPr lang="en-US" sz="2400" b="0" i="1">
                                <a:latin typeface="Cambria Math" panose="02040503050406030204" pitchFamily="18" charset="0"/>
                              </a:rPr>
                              <m:t>+</m:t>
                            </m:r>
                            <m:sSub>
                              <m:sSubPr>
                                <m:ctrlPr>
                                  <a:rPr lang="en-US" sz="2400" i="1">
                                    <a:latin typeface="Cambria Math" panose="02040503050406030204" pitchFamily="18" charset="0"/>
                                  </a:rPr>
                                </m:ctrlPr>
                              </m:sSubPr>
                              <m:e>
                                <m:r>
                                  <a:rPr lang="en-US" sz="2400" b="0" i="1">
                                    <a:latin typeface="Cambria Math" panose="02040503050406030204" pitchFamily="18" charset="0"/>
                                  </a:rPr>
                                  <m:t>𝑎</m:t>
                                </m:r>
                              </m:e>
                              <m:sub>
                                <m:r>
                                  <a:rPr lang="en-US" sz="2400" b="0" i="1">
                                    <a:latin typeface="Cambria Math" panose="02040503050406030204" pitchFamily="18" charset="0"/>
                                  </a:rPr>
                                  <m:t>𝑖</m:t>
                                </m:r>
                                <m:r>
                                  <a:rPr lang="en-US" sz="2400" b="0" i="1">
                                    <a:latin typeface="Cambria Math" panose="02040503050406030204" pitchFamily="18" charset="0"/>
                                  </a:rPr>
                                  <m:t>2</m:t>
                                </m:r>
                              </m:sub>
                            </m:sSub>
                            <m:sSub>
                              <m:sSubPr>
                                <m:ctrlPr>
                                  <a:rPr lang="en-US" sz="2400" i="1">
                                    <a:latin typeface="Cambria Math" panose="02040503050406030204" pitchFamily="18" charset="0"/>
                                  </a:rPr>
                                </m:ctrlPr>
                              </m:sSubPr>
                              <m:e>
                                <m:r>
                                  <a:rPr lang="en-US" sz="2400" b="0" i="1">
                                    <a:latin typeface="Cambria Math" panose="02040503050406030204" pitchFamily="18" charset="0"/>
                                  </a:rPr>
                                  <m:t>𝑏</m:t>
                                </m:r>
                              </m:e>
                              <m:sub>
                                <m:r>
                                  <a:rPr lang="en-US" sz="2400" b="0" i="1">
                                    <a:latin typeface="Cambria Math" panose="02040503050406030204" pitchFamily="18" charset="0"/>
                                  </a:rPr>
                                  <m:t>2</m:t>
                                </m:r>
                                <m:r>
                                  <a:rPr lang="en-US" sz="2400" b="0" i="1">
                                    <a:latin typeface="Cambria Math" panose="02040503050406030204" pitchFamily="18" charset="0"/>
                                  </a:rPr>
                                  <m:t>𝑗</m:t>
                                </m:r>
                              </m:sub>
                            </m:sSub>
                            <m:r>
                              <a:rPr lang="en-US" sz="2400" b="0" i="1">
                                <a:latin typeface="Cambria Math" panose="02040503050406030204" pitchFamily="18" charset="0"/>
                              </a:rPr>
                              <m:t>+⋯+</m:t>
                            </m:r>
                            <m:sSub>
                              <m:sSubPr>
                                <m:ctrlPr>
                                  <a:rPr lang="en-US" sz="2400" i="1">
                                    <a:latin typeface="Cambria Math" panose="02040503050406030204" pitchFamily="18" charset="0"/>
                                  </a:rPr>
                                </m:ctrlPr>
                              </m:sSubPr>
                              <m:e>
                                <m:r>
                                  <a:rPr lang="en-US" sz="2400" b="0" i="1">
                                    <a:latin typeface="Cambria Math" panose="02040503050406030204" pitchFamily="18" charset="0"/>
                                  </a:rPr>
                                  <m:t>𝑎</m:t>
                                </m:r>
                              </m:e>
                              <m:sub>
                                <m:r>
                                  <a:rPr lang="en-US" sz="2400" b="0" i="1">
                                    <a:latin typeface="Cambria Math" panose="02040503050406030204" pitchFamily="18" charset="0"/>
                                  </a:rPr>
                                  <m:t>𝑖𝑛</m:t>
                                </m:r>
                              </m:sub>
                            </m:sSub>
                            <m:sSub>
                              <m:sSubPr>
                                <m:ctrlPr>
                                  <a:rPr lang="en-US" sz="2400" i="1">
                                    <a:latin typeface="Cambria Math" panose="02040503050406030204" pitchFamily="18" charset="0"/>
                                  </a:rPr>
                                </m:ctrlPr>
                              </m:sSubPr>
                              <m:e>
                                <m:r>
                                  <a:rPr lang="en-US" sz="2400" b="0" i="1">
                                    <a:latin typeface="Cambria Math" panose="02040503050406030204" pitchFamily="18" charset="0"/>
                                  </a:rPr>
                                  <m:t>𝑏</m:t>
                                </m:r>
                              </m:e>
                              <m:sub>
                                <m:r>
                                  <a:rPr lang="en-US" sz="2400" b="0" i="1">
                                    <a:latin typeface="Cambria Math" panose="02040503050406030204" pitchFamily="18" charset="0"/>
                                  </a:rPr>
                                  <m:t>𝑛𝑗</m:t>
                                </m:r>
                              </m:sub>
                            </m:sSub>
                            <m:r>
                              <a:rPr lang="en-US" sz="2400" b="0" i="1">
                                <a:latin typeface="Cambria Math" panose="02040503050406030204" pitchFamily="18" charset="0"/>
                              </a:rPr>
                              <m:t>=</m:t>
                            </m:r>
                            <m:nary>
                              <m:naryPr>
                                <m:chr m:val="∑"/>
                                <m:limLoc m:val="undOvr"/>
                                <m:ctrlPr>
                                  <a:rPr lang="en-US" sz="2400" i="1">
                                    <a:latin typeface="Cambria Math" panose="02040503050406030204" pitchFamily="18" charset="0"/>
                                  </a:rPr>
                                </m:ctrlPr>
                              </m:naryPr>
                              <m:sub>
                                <m:r>
                                  <a:rPr lang="en-US" sz="2400" b="0" i="1">
                                    <a:latin typeface="Cambria Math" panose="02040503050406030204" pitchFamily="18" charset="0"/>
                                  </a:rPr>
                                  <m:t>𝑘</m:t>
                                </m:r>
                                <m:r>
                                  <a:rPr lang="en-US" sz="2400" b="0" i="1">
                                    <a:latin typeface="Cambria Math" panose="02040503050406030204" pitchFamily="18" charset="0"/>
                                  </a:rPr>
                                  <m:t>=1</m:t>
                                </m:r>
                              </m:sub>
                              <m:sup>
                                <m:r>
                                  <a:rPr lang="en-US" sz="2400" b="0" i="1">
                                    <a:latin typeface="Cambria Math" panose="02040503050406030204" pitchFamily="18" charset="0"/>
                                  </a:rPr>
                                  <m:t>𝑛</m:t>
                                </m:r>
                              </m:sup>
                              <m:e>
                                <m:sSub>
                                  <m:sSubPr>
                                    <m:ctrlPr>
                                      <a:rPr lang="en-US" sz="2400" i="1">
                                        <a:latin typeface="Cambria Math" panose="02040503050406030204" pitchFamily="18" charset="0"/>
                                      </a:rPr>
                                    </m:ctrlPr>
                                  </m:sSubPr>
                                  <m:e>
                                    <m:r>
                                      <a:rPr lang="en-US" sz="2400" b="0" i="1">
                                        <a:latin typeface="Cambria Math" panose="02040503050406030204" pitchFamily="18" charset="0"/>
                                      </a:rPr>
                                      <m:t>𝑎</m:t>
                                    </m:r>
                                  </m:e>
                                  <m:sub>
                                    <m:r>
                                      <a:rPr lang="en-US" sz="2400" b="0" i="1">
                                        <a:latin typeface="Cambria Math" panose="02040503050406030204" pitchFamily="18" charset="0"/>
                                      </a:rPr>
                                      <m:t>𝑖𝑘</m:t>
                                    </m:r>
                                  </m:sub>
                                </m:sSub>
                                <m:sSub>
                                  <m:sSubPr>
                                    <m:ctrlPr>
                                      <a:rPr lang="en-US" sz="2400" i="1">
                                        <a:latin typeface="Cambria Math" panose="02040503050406030204" pitchFamily="18" charset="0"/>
                                      </a:rPr>
                                    </m:ctrlPr>
                                  </m:sSubPr>
                                  <m:e>
                                    <m:r>
                                      <a:rPr lang="en-US" sz="2400" b="0" i="1">
                                        <a:latin typeface="Cambria Math" panose="02040503050406030204" pitchFamily="18" charset="0"/>
                                      </a:rPr>
                                      <m:t>𝑏</m:t>
                                    </m:r>
                                  </m:e>
                                  <m:sub>
                                    <m:r>
                                      <a:rPr lang="en-US" sz="2400" b="0" i="1">
                                        <a:latin typeface="Cambria Math" panose="02040503050406030204" pitchFamily="18" charset="0"/>
                                      </a:rPr>
                                      <m:t>𝑘𝑗</m:t>
                                    </m:r>
                                  </m:sub>
                                </m:sSub>
                              </m:e>
                            </m:nary>
                          </m:e>
                        </m:mr>
                      </m:m>
                    </m:oMath>
                  </m:oMathPara>
                </a14:m>
                <a:endParaRPr lang="en-US" sz="2400" dirty="0"/>
              </a:p>
              <a:p>
                <a:pPr algn="just"/>
                <a:endParaRPr lang="en-ZA" sz="2400" dirty="0"/>
              </a:p>
              <a:p>
                <a:pPr algn="just"/>
                <a:r>
                  <a:rPr lang="en-ZA" sz="2400" b="1" dirty="0"/>
                  <a:t>2. </a:t>
                </a:r>
                <a:r>
                  <a:rPr lang="en-ZA" sz="2400" dirty="0"/>
                  <a:t>This process is repeated for each row and column combination.</a:t>
                </a:r>
                <a:endParaRPr lang="en-US" sz="2400" dirty="0"/>
              </a:p>
            </p:txBody>
          </p:sp>
        </mc:Choice>
        <mc:Fallback xmlns="">
          <p:sp>
            <p:nvSpPr>
              <p:cNvPr id="7" name="Rectangle 6">
                <a:extLst>
                  <a:ext uri="{FF2B5EF4-FFF2-40B4-BE49-F238E27FC236}">
                    <a16:creationId xmlns:a16="http://schemas.microsoft.com/office/drawing/2014/main" id="{97AECCF4-E224-A249-B38C-75FC5E0442E3}"/>
                  </a:ext>
                </a:extLst>
              </p:cNvPr>
              <p:cNvSpPr>
                <a:spLocks noRot="1" noChangeAspect="1" noMove="1" noResize="1" noEditPoints="1" noAdjustHandles="1" noChangeArrowheads="1" noChangeShapeType="1" noTextEdit="1"/>
              </p:cNvSpPr>
              <p:nvPr/>
            </p:nvSpPr>
            <p:spPr>
              <a:xfrm>
                <a:off x="0" y="2794099"/>
                <a:ext cx="6448270" cy="3715633"/>
              </a:xfrm>
              <a:prstGeom prst="rect">
                <a:avLst/>
              </a:prstGeom>
              <a:blipFill>
                <a:blip r:embed="rId4"/>
                <a:stretch>
                  <a:fillRect l="-1378" t="-1020" r="-1378" b="-17687"/>
                </a:stretch>
              </a:blipFill>
            </p:spPr>
            <p:txBody>
              <a:bodyPr/>
              <a:lstStyle/>
              <a:p>
                <a:r>
                  <a:rPr lang="en-US">
                    <a:noFill/>
                  </a:rPr>
                  <a:t> </a:t>
                </a:r>
              </a:p>
            </p:txBody>
          </p:sp>
        </mc:Fallback>
      </mc:AlternateContent>
    </p:spTree>
    <p:extLst>
      <p:ext uri="{BB962C8B-B14F-4D97-AF65-F5344CB8AC3E}">
        <p14:creationId xmlns:p14="http://schemas.microsoft.com/office/powerpoint/2010/main" val="37180019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B8C54A-77D3-5B45-9B34-89B0FF8A3EB0}"/>
              </a:ext>
            </a:extLst>
          </p:cNvPr>
          <p:cNvSpPr>
            <a:spLocks noGrp="1"/>
          </p:cNvSpPr>
          <p:nvPr>
            <p:ph type="title"/>
          </p:nvPr>
        </p:nvSpPr>
        <p:spPr/>
        <p:txBody>
          <a:bodyPr/>
          <a:lstStyle/>
          <a:p>
            <a:r>
              <a:rPr lang="en-US" dirty="0" err="1"/>
              <a:t>MathBox</a:t>
            </a:r>
            <a:r>
              <a:rPr lang="en-US" dirty="0"/>
              <a:t>: </a:t>
            </a:r>
            <a:r>
              <a:rPr lang="en-ZA" dirty="0"/>
              <a:t>Key Matrix Types Used in Quantum Computing</a:t>
            </a:r>
            <a:endParaRPr lang="en-US" dirty="0"/>
          </a:p>
        </p:txBody>
      </p:sp>
      <p:sp>
        <p:nvSpPr>
          <p:cNvPr id="3" name="Slide Number Placeholder 2">
            <a:extLst>
              <a:ext uri="{FF2B5EF4-FFF2-40B4-BE49-F238E27FC236}">
                <a16:creationId xmlns:a16="http://schemas.microsoft.com/office/drawing/2014/main" id="{7F5EB73F-4C89-0148-B942-52FE0A2CF62B}"/>
              </a:ext>
            </a:extLst>
          </p:cNvPr>
          <p:cNvSpPr>
            <a:spLocks noGrp="1"/>
          </p:cNvSpPr>
          <p:nvPr>
            <p:ph type="sldNum" sz="quarter" idx="12"/>
          </p:nvPr>
        </p:nvSpPr>
        <p:spPr/>
        <p:txBody>
          <a:bodyPr/>
          <a:lstStyle/>
          <a:p>
            <a:fld id="{591A223C-FA10-BC46-A853-03BA373D023C}" type="slidenum">
              <a:rPr lang="en-US" smtClean="0"/>
              <a:t>6</a:t>
            </a:fld>
            <a:endParaRPr lang="en-US"/>
          </a:p>
        </p:txBody>
      </p:sp>
      <mc:AlternateContent xmlns:mc="http://schemas.openxmlformats.org/markup-compatibility/2006" xmlns:a14="http://schemas.microsoft.com/office/drawing/2010/main">
        <mc:Choice Requires="a14">
          <p:graphicFrame>
            <p:nvGraphicFramePr>
              <p:cNvPr id="6" name="Diagram 5">
                <a:extLst>
                  <a:ext uri="{FF2B5EF4-FFF2-40B4-BE49-F238E27FC236}">
                    <a16:creationId xmlns:a16="http://schemas.microsoft.com/office/drawing/2014/main" id="{2A4671B4-526C-2D4F-B18D-0A2DB732C9F5}"/>
                  </a:ext>
                </a:extLst>
              </p:cNvPr>
              <p:cNvGraphicFramePr/>
              <p:nvPr>
                <p:extLst>
                  <p:ext uri="{D42A27DB-BD31-4B8C-83A1-F6EECF244321}">
                    <p14:modId xmlns:p14="http://schemas.microsoft.com/office/powerpoint/2010/main" val="2036364522"/>
                  </p:ext>
                </p:extLst>
              </p:nvPr>
            </p:nvGraphicFramePr>
            <p:xfrm>
              <a:off x="108488" y="1001448"/>
              <a:ext cx="12083511" cy="567832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mc:Choice>
        <mc:Fallback xmlns="">
          <p:graphicFrame>
            <p:nvGraphicFramePr>
              <p:cNvPr id="6" name="Diagram 5">
                <a:extLst>
                  <a:ext uri="{FF2B5EF4-FFF2-40B4-BE49-F238E27FC236}">
                    <a16:creationId xmlns:a16="http://schemas.microsoft.com/office/drawing/2014/main" id="{2A4671B4-526C-2D4F-B18D-0A2DB732C9F5}"/>
                  </a:ext>
                </a:extLst>
              </p:cNvPr>
              <p:cNvGraphicFramePr/>
              <p:nvPr>
                <p:extLst>
                  <p:ext uri="{D42A27DB-BD31-4B8C-83A1-F6EECF244321}">
                    <p14:modId xmlns:p14="http://schemas.microsoft.com/office/powerpoint/2010/main" val="2036364522"/>
                  </p:ext>
                </p:extLst>
              </p:nvPr>
            </p:nvGraphicFramePr>
            <p:xfrm>
              <a:off x="108488" y="1001448"/>
              <a:ext cx="12083511" cy="5678321"/>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mc:Fallback>
      </mc:AlternateContent>
    </p:spTree>
    <p:extLst>
      <p:ext uri="{BB962C8B-B14F-4D97-AF65-F5344CB8AC3E}">
        <p14:creationId xmlns:p14="http://schemas.microsoft.com/office/powerpoint/2010/main" val="11390437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309E2DE-DC23-A64B-A2AB-6FCE911DD66F}"/>
              </a:ext>
            </a:extLst>
          </p:cNvPr>
          <p:cNvSpPr>
            <a:spLocks noGrp="1"/>
          </p:cNvSpPr>
          <p:nvPr>
            <p:ph type="title"/>
          </p:nvPr>
        </p:nvSpPr>
        <p:spPr>
          <a:xfrm>
            <a:off x="0" y="0"/>
            <a:ext cx="12192000" cy="928688"/>
          </a:xfrm>
        </p:spPr>
        <p:txBody>
          <a:bodyPr/>
          <a:lstStyle/>
          <a:p>
            <a:r>
              <a:rPr lang="en-ZA" dirty="0"/>
              <a:t>From Matrices to Quantum Gates</a:t>
            </a:r>
            <a:endParaRPr lang="en-US" dirty="0"/>
          </a:p>
        </p:txBody>
      </p:sp>
      <p:sp>
        <p:nvSpPr>
          <p:cNvPr id="3" name="Slide Number Placeholder 2">
            <a:extLst>
              <a:ext uri="{FF2B5EF4-FFF2-40B4-BE49-F238E27FC236}">
                <a16:creationId xmlns:a16="http://schemas.microsoft.com/office/drawing/2014/main" id="{F5F9CB3A-A0FC-AA4C-B7B7-58CC02F2B9CE}"/>
              </a:ext>
            </a:extLst>
          </p:cNvPr>
          <p:cNvSpPr>
            <a:spLocks noGrp="1"/>
          </p:cNvSpPr>
          <p:nvPr>
            <p:ph type="sldNum" sz="quarter" idx="12"/>
          </p:nvPr>
        </p:nvSpPr>
        <p:spPr/>
        <p:txBody>
          <a:bodyPr/>
          <a:lstStyle/>
          <a:p>
            <a:fld id="{591A223C-FA10-BC46-A853-03BA373D023C}" type="slidenum">
              <a:rPr lang="en-US" smtClean="0"/>
              <a:t>7</a:t>
            </a:fld>
            <a:endParaRPr lang="en-US"/>
          </a:p>
        </p:txBody>
      </p:sp>
      <p:sp>
        <p:nvSpPr>
          <p:cNvPr id="5" name="TextBox 4">
            <a:extLst>
              <a:ext uri="{FF2B5EF4-FFF2-40B4-BE49-F238E27FC236}">
                <a16:creationId xmlns:a16="http://schemas.microsoft.com/office/drawing/2014/main" id="{BB01E6F1-E33B-5C49-9D37-31DF9580B002}"/>
              </a:ext>
            </a:extLst>
          </p:cNvPr>
          <p:cNvSpPr txBox="1"/>
          <p:nvPr/>
        </p:nvSpPr>
        <p:spPr>
          <a:xfrm>
            <a:off x="2078181" y="1572066"/>
            <a:ext cx="8159670" cy="461665"/>
          </a:xfrm>
          <a:prstGeom prst="rect">
            <a:avLst/>
          </a:prstGeom>
          <a:solidFill>
            <a:schemeClr val="accent4">
              <a:lumMod val="20000"/>
              <a:lumOff val="80000"/>
            </a:schemeClr>
          </a:solidFill>
        </p:spPr>
        <p:txBody>
          <a:bodyPr wrap="none" rtlCol="0">
            <a:spAutoFit/>
          </a:bodyPr>
          <a:lstStyle/>
          <a:p>
            <a:r>
              <a:rPr lang="en-ZA" sz="2400" dirty="0"/>
              <a:t>Quantum gates are unitary matrices that transform qubit states.</a:t>
            </a:r>
            <a:endParaRPr lang="en-US" sz="2400" dirty="0"/>
          </a:p>
        </p:txBody>
      </p:sp>
      <p:sp>
        <p:nvSpPr>
          <p:cNvPr id="8" name="Right Arrow 7">
            <a:extLst>
              <a:ext uri="{FF2B5EF4-FFF2-40B4-BE49-F238E27FC236}">
                <a16:creationId xmlns:a16="http://schemas.microsoft.com/office/drawing/2014/main" id="{D33FBB1F-D3FD-0345-8ECD-D0F86CB7DD85}"/>
              </a:ext>
            </a:extLst>
          </p:cNvPr>
          <p:cNvSpPr/>
          <p:nvPr/>
        </p:nvSpPr>
        <p:spPr>
          <a:xfrm>
            <a:off x="4389205" y="3526977"/>
            <a:ext cx="3331972" cy="1147049"/>
          </a:xfrm>
          <a:prstGeom prst="rightArrow">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9" name="Oval 8">
            <a:extLst>
              <a:ext uri="{FF2B5EF4-FFF2-40B4-BE49-F238E27FC236}">
                <a16:creationId xmlns:a16="http://schemas.microsoft.com/office/drawing/2014/main" id="{B1ED7E5E-803C-B845-AAA4-49BDAA773C82}"/>
              </a:ext>
            </a:extLst>
          </p:cNvPr>
          <p:cNvSpPr>
            <a:spLocks noChangeAspect="1"/>
          </p:cNvSpPr>
          <p:nvPr/>
        </p:nvSpPr>
        <p:spPr>
          <a:xfrm>
            <a:off x="1760681" y="2825758"/>
            <a:ext cx="2385685" cy="2385685"/>
          </a:xfrm>
          <a:prstGeom prst="ellipse">
            <a:avLst/>
          </a:prstGeom>
          <a:gradFill>
            <a:gsLst>
              <a:gs pos="0">
                <a:schemeClr val="accent1">
                  <a:lumMod val="5000"/>
                  <a:lumOff val="95000"/>
                </a:schemeClr>
              </a:gs>
              <a:gs pos="100000">
                <a:schemeClr val="accent5">
                  <a:lumMod val="20000"/>
                  <a:lumOff val="8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10" name="Oval 9">
            <a:extLst>
              <a:ext uri="{FF2B5EF4-FFF2-40B4-BE49-F238E27FC236}">
                <a16:creationId xmlns:a16="http://schemas.microsoft.com/office/drawing/2014/main" id="{F6ED02B1-2323-AB46-94A5-552B6193C505}"/>
              </a:ext>
            </a:extLst>
          </p:cNvPr>
          <p:cNvSpPr/>
          <p:nvPr/>
        </p:nvSpPr>
        <p:spPr>
          <a:xfrm>
            <a:off x="1760679" y="3700178"/>
            <a:ext cx="2385686" cy="767000"/>
          </a:xfrm>
          <a:prstGeom prst="ellipse">
            <a:avLst/>
          </a:prstGeom>
          <a:solidFill>
            <a:schemeClr val="bg1">
              <a:lumMod val="85000"/>
              <a:alpha val="2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p>
        </p:txBody>
      </p:sp>
      <p:cxnSp>
        <p:nvCxnSpPr>
          <p:cNvPr id="11" name="Straight Arrow Connector 10">
            <a:extLst>
              <a:ext uri="{FF2B5EF4-FFF2-40B4-BE49-F238E27FC236}">
                <a16:creationId xmlns:a16="http://schemas.microsoft.com/office/drawing/2014/main" id="{CDD1B50B-0807-0348-9D50-83B7307C51E6}"/>
              </a:ext>
            </a:extLst>
          </p:cNvPr>
          <p:cNvCxnSpPr>
            <a:cxnSpLocks/>
          </p:cNvCxnSpPr>
          <p:nvPr/>
        </p:nvCxnSpPr>
        <p:spPr>
          <a:xfrm>
            <a:off x="2914434" y="3986654"/>
            <a:ext cx="912577" cy="687372"/>
          </a:xfrm>
          <a:prstGeom prst="straightConnector1">
            <a:avLst/>
          </a:prstGeom>
          <a:ln w="254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59D240FE-4E18-D94E-8854-A29623FA0F96}"/>
              </a:ext>
            </a:extLst>
          </p:cNvPr>
          <p:cNvCxnSpPr>
            <a:cxnSpLocks/>
          </p:cNvCxnSpPr>
          <p:nvPr/>
        </p:nvCxnSpPr>
        <p:spPr>
          <a:xfrm flipH="1">
            <a:off x="1636906" y="3990410"/>
            <a:ext cx="1287976" cy="580127"/>
          </a:xfrm>
          <a:prstGeom prst="straightConnector1">
            <a:avLst/>
          </a:prstGeom>
          <a:ln w="254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3C4A13D6-1A8E-254A-A033-1B3B77AA6345}"/>
              </a:ext>
            </a:extLst>
          </p:cNvPr>
          <p:cNvCxnSpPr>
            <a:cxnSpLocks/>
          </p:cNvCxnSpPr>
          <p:nvPr/>
        </p:nvCxnSpPr>
        <p:spPr>
          <a:xfrm flipV="1">
            <a:off x="2924907" y="2748459"/>
            <a:ext cx="0" cy="1238636"/>
          </a:xfrm>
          <a:prstGeom prst="straightConnector1">
            <a:avLst/>
          </a:prstGeom>
          <a:ln w="254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976868F9-4852-924A-AA38-CBDB418E518D}"/>
              </a:ext>
            </a:extLst>
          </p:cNvPr>
          <p:cNvCxnSpPr>
            <a:cxnSpLocks/>
          </p:cNvCxnSpPr>
          <p:nvPr/>
        </p:nvCxnSpPr>
        <p:spPr>
          <a:xfrm flipH="1" flipV="1">
            <a:off x="2530888" y="3144391"/>
            <a:ext cx="393980" cy="838923"/>
          </a:xfrm>
          <a:prstGeom prst="straightConnector1">
            <a:avLst/>
          </a:prstGeom>
          <a:ln w="50800" cap="rnd">
            <a:solidFill>
              <a:srgbClr val="CA251F"/>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5" name="Rectangle 14">
                <a:extLst>
                  <a:ext uri="{FF2B5EF4-FFF2-40B4-BE49-F238E27FC236}">
                    <a16:creationId xmlns:a16="http://schemas.microsoft.com/office/drawing/2014/main" id="{76492238-0975-8644-A7F6-E6117B898AC5}"/>
                  </a:ext>
                </a:extLst>
              </p:cNvPr>
              <p:cNvSpPr/>
              <p:nvPr/>
            </p:nvSpPr>
            <p:spPr>
              <a:xfrm>
                <a:off x="4945913" y="5084796"/>
                <a:ext cx="1848326" cy="68364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m>
                        <m:mPr>
                          <m:mcs>
                            <m:mc>
                              <m:mcPr>
                                <m:count m:val="1"/>
                                <m:mcJc m:val="center"/>
                              </m:mcPr>
                            </m:mc>
                          </m:mcs>
                          <m:ctrlPr>
                            <a:rPr lang="en-US" sz="2800" i="1" smtClean="0">
                              <a:solidFill>
                                <a:schemeClr val="tx1"/>
                              </a:solidFill>
                              <a:latin typeface="Cambria Math" panose="02040503050406030204" pitchFamily="18" charset="0"/>
                            </a:rPr>
                          </m:ctrlPr>
                        </m:mPr>
                        <m:mr>
                          <m:e>
                            <m:d>
                              <m:dPr>
                                <m:begChr m:val="|"/>
                                <m:endChr m:val="⟩"/>
                                <m:ctrlPr>
                                  <a:rPr lang="en-US" sz="2800" i="1">
                                    <a:solidFill>
                                      <a:schemeClr val="tx1"/>
                                    </a:solidFill>
                                    <a:latin typeface="Cambria Math" panose="02040503050406030204" pitchFamily="18" charset="0"/>
                                  </a:rPr>
                                </m:ctrlPr>
                              </m:dPr>
                              <m:e>
                                <m:sSub>
                                  <m:sSubPr>
                                    <m:ctrlPr>
                                      <a:rPr lang="en-US" sz="2800" i="1" smtClean="0">
                                        <a:solidFill>
                                          <a:schemeClr val="tx1"/>
                                        </a:solidFill>
                                        <a:latin typeface="Cambria Math" panose="02040503050406030204" pitchFamily="18" charset="0"/>
                                      </a:rPr>
                                    </m:ctrlPr>
                                  </m:sSubPr>
                                  <m:e>
                                    <m:r>
                                      <a:rPr lang="en-US" sz="2800" b="0" i="1" smtClean="0">
                                        <a:solidFill>
                                          <a:schemeClr val="tx1"/>
                                        </a:solidFill>
                                        <a:latin typeface="Cambria Math" panose="02040503050406030204" pitchFamily="18" charset="0"/>
                                      </a:rPr>
                                      <m:t>𝑆</m:t>
                                    </m:r>
                                  </m:e>
                                  <m:sub>
                                    <m:r>
                                      <a:rPr lang="en-US" sz="2800" b="0" i="1" smtClean="0">
                                        <a:solidFill>
                                          <a:schemeClr val="tx1"/>
                                        </a:solidFill>
                                        <a:latin typeface="Cambria Math" panose="02040503050406030204" pitchFamily="18" charset="0"/>
                                      </a:rPr>
                                      <m:t>1</m:t>
                                    </m:r>
                                  </m:sub>
                                </m:sSub>
                              </m:e>
                            </m:d>
                            <m:groupChr>
                              <m:groupChrPr>
                                <m:chr m:val="→"/>
                                <m:vertJc m:val="bot"/>
                                <m:ctrlPr>
                                  <a:rPr lang="en-US" sz="2800" i="1" smtClean="0">
                                    <a:solidFill>
                                      <a:schemeClr val="tx1"/>
                                    </a:solidFill>
                                    <a:latin typeface="Cambria Math" panose="02040503050406030204" pitchFamily="18" charset="0"/>
                                  </a:rPr>
                                </m:ctrlPr>
                              </m:groupChrPr>
                              <m:e>
                                <m:r>
                                  <m:rPr>
                                    <m:sty m:val="p"/>
                                  </m:rPr>
                                  <a:rPr lang="en-US" sz="2800">
                                    <a:latin typeface="Cambria Math" panose="02040503050406030204" pitchFamily="18" charset="0"/>
                                  </a:rPr>
                                  <m:t>U</m:t>
                                </m:r>
                              </m:e>
                            </m:groupChr>
                            <m:d>
                              <m:dPr>
                                <m:begChr m:val="|"/>
                                <m:endChr m:val="⟩"/>
                                <m:ctrlPr>
                                  <a:rPr lang="en-US" sz="2800" i="1">
                                    <a:solidFill>
                                      <a:schemeClr val="tx1"/>
                                    </a:solidFill>
                                    <a:latin typeface="Cambria Math" panose="02040503050406030204" pitchFamily="18" charset="0"/>
                                  </a:rPr>
                                </m:ctrlPr>
                              </m:dPr>
                              <m:e>
                                <m:sSub>
                                  <m:sSubPr>
                                    <m:ctrlPr>
                                      <a:rPr lang="en-US" sz="2800" i="1">
                                        <a:solidFill>
                                          <a:schemeClr val="tx1"/>
                                        </a:solidFill>
                                        <a:latin typeface="Cambria Math" panose="02040503050406030204" pitchFamily="18" charset="0"/>
                                      </a:rPr>
                                    </m:ctrlPr>
                                  </m:sSubPr>
                                  <m:e>
                                    <m:r>
                                      <a:rPr lang="en-US" sz="2800" i="1">
                                        <a:solidFill>
                                          <a:schemeClr val="tx1"/>
                                        </a:solidFill>
                                        <a:latin typeface="Cambria Math" panose="02040503050406030204" pitchFamily="18" charset="0"/>
                                      </a:rPr>
                                      <m:t>𝑆</m:t>
                                    </m:r>
                                  </m:e>
                                  <m:sub>
                                    <m:r>
                                      <a:rPr lang="en-US" sz="2800" b="0" i="1" smtClean="0">
                                        <a:solidFill>
                                          <a:schemeClr val="tx1"/>
                                        </a:solidFill>
                                        <a:latin typeface="Cambria Math" panose="02040503050406030204" pitchFamily="18" charset="0"/>
                                      </a:rPr>
                                      <m:t>2</m:t>
                                    </m:r>
                                  </m:sub>
                                </m:sSub>
                              </m:e>
                            </m:d>
                          </m:e>
                        </m:mr>
                      </m:m>
                    </m:oMath>
                  </m:oMathPara>
                </a14:m>
                <a:endParaRPr lang="en-US" sz="2800" dirty="0">
                  <a:solidFill>
                    <a:schemeClr val="tx1"/>
                  </a:solidFill>
                </a:endParaRPr>
              </a:p>
            </p:txBody>
          </p:sp>
        </mc:Choice>
        <mc:Fallback>
          <p:sp>
            <p:nvSpPr>
              <p:cNvPr id="15" name="Rectangle 14">
                <a:extLst>
                  <a:ext uri="{FF2B5EF4-FFF2-40B4-BE49-F238E27FC236}">
                    <a16:creationId xmlns:a16="http://schemas.microsoft.com/office/drawing/2014/main" id="{76492238-0975-8644-A7F6-E6117B898AC5}"/>
                  </a:ext>
                </a:extLst>
              </p:cNvPr>
              <p:cNvSpPr>
                <a:spLocks noRot="1" noChangeAspect="1" noMove="1" noResize="1" noEditPoints="1" noAdjustHandles="1" noChangeArrowheads="1" noChangeShapeType="1" noTextEdit="1"/>
              </p:cNvSpPr>
              <p:nvPr/>
            </p:nvSpPr>
            <p:spPr>
              <a:xfrm>
                <a:off x="4945913" y="5084796"/>
                <a:ext cx="1848326" cy="683649"/>
              </a:xfrm>
              <a:prstGeom prst="rect">
                <a:avLst/>
              </a:prstGeom>
              <a:blipFill>
                <a:blip r:embed="rId3"/>
                <a:stretch>
                  <a:fillRect b="-47273"/>
                </a:stretch>
              </a:blipFill>
            </p:spPr>
            <p:txBody>
              <a:bodyPr/>
              <a:lstStyle/>
              <a:p>
                <a:r>
                  <a:rPr lang="en-US">
                    <a:noFill/>
                  </a:rPr>
                  <a:t> </a:t>
                </a:r>
              </a:p>
            </p:txBody>
          </p:sp>
        </mc:Fallback>
      </mc:AlternateContent>
      <p:sp>
        <p:nvSpPr>
          <p:cNvPr id="16" name="Oval 15">
            <a:extLst>
              <a:ext uri="{FF2B5EF4-FFF2-40B4-BE49-F238E27FC236}">
                <a16:creationId xmlns:a16="http://schemas.microsoft.com/office/drawing/2014/main" id="{B0C450B9-BABA-DD4F-99EF-3EC390F29601}"/>
              </a:ext>
            </a:extLst>
          </p:cNvPr>
          <p:cNvSpPr>
            <a:spLocks noChangeAspect="1"/>
          </p:cNvSpPr>
          <p:nvPr/>
        </p:nvSpPr>
        <p:spPr>
          <a:xfrm>
            <a:off x="8022618" y="2750033"/>
            <a:ext cx="2251871" cy="2250657"/>
          </a:xfrm>
          <a:prstGeom prst="ellipse">
            <a:avLst/>
          </a:prstGeom>
          <a:gradFill>
            <a:gsLst>
              <a:gs pos="0">
                <a:schemeClr val="accent1">
                  <a:lumMod val="5000"/>
                  <a:lumOff val="95000"/>
                </a:schemeClr>
              </a:gs>
              <a:gs pos="100000">
                <a:schemeClr val="accent5">
                  <a:lumMod val="20000"/>
                  <a:lumOff val="8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17" name="Oval 16">
            <a:extLst>
              <a:ext uri="{FF2B5EF4-FFF2-40B4-BE49-F238E27FC236}">
                <a16:creationId xmlns:a16="http://schemas.microsoft.com/office/drawing/2014/main" id="{6C30052E-34EF-C544-99C9-21DB29292E90}"/>
              </a:ext>
            </a:extLst>
          </p:cNvPr>
          <p:cNvSpPr/>
          <p:nvPr/>
        </p:nvSpPr>
        <p:spPr>
          <a:xfrm>
            <a:off x="8022618" y="3574961"/>
            <a:ext cx="2251871" cy="723587"/>
          </a:xfrm>
          <a:prstGeom prst="ellipse">
            <a:avLst/>
          </a:prstGeom>
          <a:solidFill>
            <a:schemeClr val="bg1">
              <a:lumMod val="85000"/>
              <a:alpha val="2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p>
        </p:txBody>
      </p:sp>
      <p:cxnSp>
        <p:nvCxnSpPr>
          <p:cNvPr id="18" name="Straight Arrow Connector 17">
            <a:extLst>
              <a:ext uri="{FF2B5EF4-FFF2-40B4-BE49-F238E27FC236}">
                <a16:creationId xmlns:a16="http://schemas.microsoft.com/office/drawing/2014/main" id="{4424C70B-5417-D845-9837-36DEAC67D2C2}"/>
              </a:ext>
            </a:extLst>
          </p:cNvPr>
          <p:cNvCxnSpPr>
            <a:cxnSpLocks/>
          </p:cNvCxnSpPr>
          <p:nvPr/>
        </p:nvCxnSpPr>
        <p:spPr>
          <a:xfrm>
            <a:off x="9111657" y="3845224"/>
            <a:ext cx="861391" cy="648466"/>
          </a:xfrm>
          <a:prstGeom prst="straightConnector1">
            <a:avLst/>
          </a:prstGeom>
          <a:ln w="254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83139639-BE6A-DB4C-B676-4BAB4EE80C73}"/>
              </a:ext>
            </a:extLst>
          </p:cNvPr>
          <p:cNvCxnSpPr>
            <a:cxnSpLocks/>
          </p:cNvCxnSpPr>
          <p:nvPr/>
        </p:nvCxnSpPr>
        <p:spPr>
          <a:xfrm flipH="1">
            <a:off x="7905786" y="3848767"/>
            <a:ext cx="1215731" cy="547292"/>
          </a:xfrm>
          <a:prstGeom prst="straightConnector1">
            <a:avLst/>
          </a:prstGeom>
          <a:ln w="254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0EB19D81-00AA-FE47-A383-0E8862CD2236}"/>
              </a:ext>
            </a:extLst>
          </p:cNvPr>
          <p:cNvCxnSpPr>
            <a:cxnSpLocks/>
          </p:cNvCxnSpPr>
          <p:nvPr/>
        </p:nvCxnSpPr>
        <p:spPr>
          <a:xfrm flipV="1">
            <a:off x="9121543" y="2677109"/>
            <a:ext cx="0" cy="1168529"/>
          </a:xfrm>
          <a:prstGeom prst="straightConnector1">
            <a:avLst/>
          </a:prstGeom>
          <a:ln w="254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E5639914-08BB-0A4E-A65C-53C453C7913B}"/>
              </a:ext>
            </a:extLst>
          </p:cNvPr>
          <p:cNvCxnSpPr>
            <a:cxnSpLocks/>
          </p:cNvCxnSpPr>
          <p:nvPr/>
        </p:nvCxnSpPr>
        <p:spPr>
          <a:xfrm flipV="1">
            <a:off x="9121518" y="3400384"/>
            <a:ext cx="851531" cy="445258"/>
          </a:xfrm>
          <a:prstGeom prst="straightConnector1">
            <a:avLst/>
          </a:prstGeom>
          <a:ln w="50800" cap="rnd">
            <a:solidFill>
              <a:srgbClr val="CA251F"/>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22" name="Rectangle 21">
                <a:extLst>
                  <a:ext uri="{FF2B5EF4-FFF2-40B4-BE49-F238E27FC236}">
                    <a16:creationId xmlns:a16="http://schemas.microsoft.com/office/drawing/2014/main" id="{24F41906-4C60-924B-8AD1-058216FE4591}"/>
                  </a:ext>
                </a:extLst>
              </p:cNvPr>
              <p:cNvSpPr/>
              <p:nvPr/>
            </p:nvSpPr>
            <p:spPr>
              <a:xfrm>
                <a:off x="4702901" y="3683056"/>
                <a:ext cx="921060" cy="820994"/>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sr-Latn-RS" sz="2800" b="0" i="0" smtClean="0">
                          <a:solidFill>
                            <a:schemeClr val="tx1"/>
                          </a:solidFill>
                          <a:latin typeface="Cambria Math" panose="02040503050406030204" pitchFamily="18" charset="0"/>
                        </a:rPr>
                        <m:t> </m:t>
                      </m:r>
                      <m:r>
                        <m:rPr>
                          <m:sty m:val="p"/>
                        </m:rPr>
                        <a:rPr lang="en-US" sz="2800" i="0">
                          <a:solidFill>
                            <a:schemeClr val="tx1"/>
                          </a:solidFill>
                          <a:latin typeface="Cambria Math" panose="02040503050406030204" pitchFamily="18" charset="0"/>
                        </a:rPr>
                        <m:t>U</m:t>
                      </m:r>
                    </m:oMath>
                  </m:oMathPara>
                </a14:m>
                <a:endParaRPr lang="en-US" sz="2800" dirty="0">
                  <a:solidFill>
                    <a:schemeClr val="tx1"/>
                  </a:solidFill>
                  <a:latin typeface="Times" pitchFamily="2" charset="0"/>
                </a:endParaRPr>
              </a:p>
            </p:txBody>
          </p:sp>
        </mc:Choice>
        <mc:Fallback>
          <p:sp>
            <p:nvSpPr>
              <p:cNvPr id="22" name="Rectangle 21">
                <a:extLst>
                  <a:ext uri="{FF2B5EF4-FFF2-40B4-BE49-F238E27FC236}">
                    <a16:creationId xmlns:a16="http://schemas.microsoft.com/office/drawing/2014/main" id="{24F41906-4C60-924B-8AD1-058216FE4591}"/>
                  </a:ext>
                </a:extLst>
              </p:cNvPr>
              <p:cNvSpPr>
                <a:spLocks noRot="1" noChangeAspect="1" noMove="1" noResize="1" noEditPoints="1" noAdjustHandles="1" noChangeArrowheads="1" noChangeShapeType="1" noTextEdit="1"/>
              </p:cNvSpPr>
              <p:nvPr/>
            </p:nvSpPr>
            <p:spPr>
              <a:xfrm>
                <a:off x="4702901" y="3683056"/>
                <a:ext cx="921060" cy="820994"/>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3" name="Rectangle 22">
                <a:extLst>
                  <a:ext uri="{FF2B5EF4-FFF2-40B4-BE49-F238E27FC236}">
                    <a16:creationId xmlns:a16="http://schemas.microsoft.com/office/drawing/2014/main" id="{09E5505B-ABA7-934E-907B-E1C6A17BC07A}"/>
                  </a:ext>
                </a:extLst>
              </p:cNvPr>
              <p:cNvSpPr/>
              <p:nvPr/>
            </p:nvSpPr>
            <p:spPr>
              <a:xfrm>
                <a:off x="560126" y="3218126"/>
                <a:ext cx="2029786" cy="80977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i="1" smtClean="0">
                              <a:latin typeface="Cambria Math" panose="02040503050406030204" pitchFamily="18" charset="0"/>
                            </a:rPr>
                          </m:ctrlPr>
                        </m:dPr>
                        <m:e>
                          <m:sSub>
                            <m:sSubPr>
                              <m:ctrlPr>
                                <a:rPr lang="en-US" sz="2800" i="1">
                                  <a:latin typeface="Cambria Math" panose="02040503050406030204" pitchFamily="18" charset="0"/>
                                </a:rPr>
                              </m:ctrlPr>
                            </m:sSubPr>
                            <m:e>
                              <m:r>
                                <a:rPr lang="en-US" sz="2800" i="1">
                                  <a:latin typeface="Cambria Math" panose="02040503050406030204" pitchFamily="18" charset="0"/>
                                </a:rPr>
                                <m:t>𝑆</m:t>
                              </m:r>
                            </m:e>
                            <m:sub>
                              <m:r>
                                <a:rPr lang="en-US" sz="2800" b="0" i="1" smtClean="0">
                                  <a:latin typeface="Cambria Math" panose="02040503050406030204" pitchFamily="18" charset="0"/>
                                </a:rPr>
                                <m:t>1</m:t>
                              </m:r>
                            </m:sub>
                          </m:sSub>
                        </m:e>
                      </m:d>
                      <m:r>
                        <a:rPr lang="en-US" sz="2800" i="1">
                          <a:latin typeface="Cambria Math" panose="02040503050406030204" pitchFamily="18" charset="0"/>
                        </a:rPr>
                        <m:t>=</m:t>
                      </m:r>
                      <m:d>
                        <m:dPr>
                          <m:ctrlPr>
                            <a:rPr lang="en-US" sz="2800" i="1">
                              <a:latin typeface="Cambria Math" panose="02040503050406030204" pitchFamily="18" charset="0"/>
                            </a:rPr>
                          </m:ctrlPr>
                        </m:dPr>
                        <m:e>
                          <m:m>
                            <m:mPr>
                              <m:mcs>
                                <m:mc>
                                  <m:mcPr>
                                    <m:count m:val="1"/>
                                    <m:mcJc m:val="center"/>
                                  </m:mcPr>
                                </m:mc>
                              </m:mcs>
                              <m:ctrlPr>
                                <a:rPr lang="en-US" sz="2800" i="1">
                                  <a:latin typeface="Cambria Math" panose="02040503050406030204" pitchFamily="18" charset="0"/>
                                </a:rPr>
                              </m:ctrlPr>
                            </m:mPr>
                            <m:mr>
                              <m:e>
                                <m:sSub>
                                  <m:sSubPr>
                                    <m:ctrlPr>
                                      <a:rPr lang="en-US" sz="2800" i="1">
                                        <a:latin typeface="Cambria Math" panose="02040503050406030204" pitchFamily="18" charset="0"/>
                                      </a:rPr>
                                    </m:ctrlPr>
                                  </m:sSubPr>
                                  <m:e>
                                    <m:r>
                                      <a:rPr lang="en-US" sz="2800" i="1">
                                        <a:latin typeface="Cambria Math" panose="02040503050406030204" pitchFamily="18" charset="0"/>
                                      </a:rPr>
                                      <m:t>𝑎</m:t>
                                    </m:r>
                                  </m:e>
                                  <m:sub>
                                    <m:r>
                                      <a:rPr lang="en-US" sz="2800" i="1">
                                        <a:latin typeface="Cambria Math" panose="02040503050406030204" pitchFamily="18" charset="0"/>
                                      </a:rPr>
                                      <m:t>0</m:t>
                                    </m:r>
                                  </m:sub>
                                </m:sSub>
                              </m:e>
                            </m:mr>
                            <m:mr>
                              <m:e>
                                <m:sSub>
                                  <m:sSubPr>
                                    <m:ctrlPr>
                                      <a:rPr lang="en-US" sz="2800" i="1">
                                        <a:latin typeface="Cambria Math" panose="02040503050406030204" pitchFamily="18" charset="0"/>
                                      </a:rPr>
                                    </m:ctrlPr>
                                  </m:sSubPr>
                                  <m:e>
                                    <m:r>
                                      <a:rPr lang="en-US" sz="2800" i="1">
                                        <a:latin typeface="Cambria Math" panose="02040503050406030204" pitchFamily="18" charset="0"/>
                                      </a:rPr>
                                      <m:t>𝑎</m:t>
                                    </m:r>
                                  </m:e>
                                  <m:sub>
                                    <m:r>
                                      <a:rPr lang="en-US" sz="2800" i="1">
                                        <a:latin typeface="Cambria Math" panose="02040503050406030204" pitchFamily="18" charset="0"/>
                                      </a:rPr>
                                      <m:t>1</m:t>
                                    </m:r>
                                  </m:sub>
                                </m:sSub>
                              </m:e>
                            </m:mr>
                          </m:m>
                        </m:e>
                      </m:d>
                    </m:oMath>
                  </m:oMathPara>
                </a14:m>
                <a:endParaRPr lang="en-US" sz="2800" dirty="0"/>
              </a:p>
            </p:txBody>
          </p:sp>
        </mc:Choice>
        <mc:Fallback>
          <p:sp>
            <p:nvSpPr>
              <p:cNvPr id="23" name="Rectangle 22">
                <a:extLst>
                  <a:ext uri="{FF2B5EF4-FFF2-40B4-BE49-F238E27FC236}">
                    <a16:creationId xmlns:a16="http://schemas.microsoft.com/office/drawing/2014/main" id="{09E5505B-ABA7-934E-907B-E1C6A17BC07A}"/>
                  </a:ext>
                </a:extLst>
              </p:cNvPr>
              <p:cNvSpPr>
                <a:spLocks noRot="1" noChangeAspect="1" noMove="1" noResize="1" noEditPoints="1" noAdjustHandles="1" noChangeArrowheads="1" noChangeShapeType="1" noTextEdit="1"/>
              </p:cNvSpPr>
              <p:nvPr/>
            </p:nvSpPr>
            <p:spPr>
              <a:xfrm>
                <a:off x="560126" y="3218126"/>
                <a:ext cx="2029786" cy="809773"/>
              </a:xfrm>
              <a:prstGeom prst="rect">
                <a:avLst/>
              </a:prstGeom>
              <a:blipFill>
                <a:blip r:embed="rId5"/>
                <a:stretch>
                  <a:fillRect b="-307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8E431C8B-A658-5147-9C35-CDB03299BFA5}"/>
                  </a:ext>
                </a:extLst>
              </p:cNvPr>
              <p:cNvSpPr txBox="1"/>
              <p:nvPr/>
            </p:nvSpPr>
            <p:spPr>
              <a:xfrm>
                <a:off x="4757857" y="2586472"/>
                <a:ext cx="2359620" cy="709553"/>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rPr>
                        <m:t>𝑈</m:t>
                      </m:r>
                      <m:r>
                        <a:rPr lang="en-US" sz="2400" b="0" i="0" smtClean="0">
                          <a:latin typeface="Cambria Math" panose="02040503050406030204" pitchFamily="18" charset="0"/>
                        </a:rPr>
                        <m:t>=</m:t>
                      </m:r>
                      <m:d>
                        <m:dPr>
                          <m:ctrlPr>
                            <a:rPr lang="en-US" sz="2400" b="0" i="1" smtClean="0">
                              <a:latin typeface="Cambria Math" panose="02040503050406030204" pitchFamily="18" charset="0"/>
                            </a:rPr>
                          </m:ctrlPr>
                        </m:dPr>
                        <m:e>
                          <m:m>
                            <m:mPr>
                              <m:mcs>
                                <m:mc>
                                  <m:mcPr>
                                    <m:count m:val="2"/>
                                    <m:mcJc m:val="center"/>
                                  </m:mcPr>
                                </m:mc>
                              </m:mcs>
                              <m:ctrlPr>
                                <a:rPr lang="en-US" sz="2400" b="0" i="1" smtClean="0">
                                  <a:latin typeface="Cambria Math" panose="02040503050406030204" pitchFamily="18" charset="0"/>
                                </a:rPr>
                              </m:ctrlPr>
                            </m:mPr>
                            <m:mr>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𝑢</m:t>
                                    </m:r>
                                  </m:e>
                                  <m:sub>
                                    <m:r>
                                      <a:rPr lang="en-US" sz="2400" b="0" i="1" smtClean="0">
                                        <a:latin typeface="Cambria Math" panose="02040503050406030204" pitchFamily="18" charset="0"/>
                                      </a:rPr>
                                      <m:t>11</m:t>
                                    </m:r>
                                  </m:sub>
                                </m:sSub>
                              </m:e>
                              <m:e>
                                <m:sSub>
                                  <m:sSubPr>
                                    <m:ctrlPr>
                                      <a:rPr lang="en-US" sz="2400" i="1">
                                        <a:latin typeface="Cambria Math" panose="02040503050406030204" pitchFamily="18" charset="0"/>
                                      </a:rPr>
                                    </m:ctrlPr>
                                  </m:sSubPr>
                                  <m:e>
                                    <m:r>
                                      <a:rPr lang="en-US" sz="2400" i="1">
                                        <a:latin typeface="Cambria Math" panose="02040503050406030204" pitchFamily="18" charset="0"/>
                                      </a:rPr>
                                      <m:t>𝑢</m:t>
                                    </m:r>
                                  </m:e>
                                  <m:sub>
                                    <m:r>
                                      <a:rPr lang="en-US" sz="2400" b="0" i="1" smtClean="0">
                                        <a:latin typeface="Cambria Math" panose="02040503050406030204" pitchFamily="18" charset="0"/>
                                      </a:rPr>
                                      <m:t>12</m:t>
                                    </m:r>
                                  </m:sub>
                                </m:sSub>
                              </m:e>
                            </m:mr>
                            <m:mr>
                              <m:e>
                                <m:sSub>
                                  <m:sSubPr>
                                    <m:ctrlPr>
                                      <a:rPr lang="en-US" sz="2400" i="1">
                                        <a:latin typeface="Cambria Math" panose="02040503050406030204" pitchFamily="18" charset="0"/>
                                      </a:rPr>
                                    </m:ctrlPr>
                                  </m:sSubPr>
                                  <m:e>
                                    <m:r>
                                      <a:rPr lang="en-US" sz="2400" i="1">
                                        <a:latin typeface="Cambria Math" panose="02040503050406030204" pitchFamily="18" charset="0"/>
                                      </a:rPr>
                                      <m:t>𝑢</m:t>
                                    </m:r>
                                  </m:e>
                                  <m:sub>
                                    <m:r>
                                      <a:rPr lang="en-US" sz="2400" b="0" i="1" smtClean="0">
                                        <a:latin typeface="Cambria Math" panose="02040503050406030204" pitchFamily="18" charset="0"/>
                                      </a:rPr>
                                      <m:t>21</m:t>
                                    </m:r>
                                  </m:sub>
                                </m:sSub>
                              </m:e>
                              <m:e>
                                <m:sSub>
                                  <m:sSubPr>
                                    <m:ctrlPr>
                                      <a:rPr lang="en-US" sz="2400" i="1">
                                        <a:latin typeface="Cambria Math" panose="02040503050406030204" pitchFamily="18" charset="0"/>
                                      </a:rPr>
                                    </m:ctrlPr>
                                  </m:sSubPr>
                                  <m:e>
                                    <m:r>
                                      <a:rPr lang="en-US" sz="2400" i="1">
                                        <a:latin typeface="Cambria Math" panose="02040503050406030204" pitchFamily="18" charset="0"/>
                                      </a:rPr>
                                      <m:t>𝑢</m:t>
                                    </m:r>
                                  </m:e>
                                  <m:sub>
                                    <m:r>
                                      <a:rPr lang="en-US" sz="2400" b="0" i="1" smtClean="0">
                                        <a:latin typeface="Cambria Math" panose="02040503050406030204" pitchFamily="18" charset="0"/>
                                      </a:rPr>
                                      <m:t>22</m:t>
                                    </m:r>
                                  </m:sub>
                                </m:sSub>
                              </m:e>
                            </m:mr>
                          </m:m>
                        </m:e>
                      </m:d>
                    </m:oMath>
                  </m:oMathPara>
                </a14:m>
                <a:endParaRPr lang="en-US" sz="2400" dirty="0"/>
              </a:p>
            </p:txBody>
          </p:sp>
        </mc:Choice>
        <mc:Fallback>
          <p:sp>
            <p:nvSpPr>
              <p:cNvPr id="2" name="TextBox 1">
                <a:extLst>
                  <a:ext uri="{FF2B5EF4-FFF2-40B4-BE49-F238E27FC236}">
                    <a16:creationId xmlns:a16="http://schemas.microsoft.com/office/drawing/2014/main" id="{8E431C8B-A658-5147-9C35-CDB03299BFA5}"/>
                  </a:ext>
                </a:extLst>
              </p:cNvPr>
              <p:cNvSpPr txBox="1">
                <a:spLocks noRot="1" noChangeAspect="1" noMove="1" noResize="1" noEditPoints="1" noAdjustHandles="1" noChangeArrowheads="1" noChangeShapeType="1" noTextEdit="1"/>
              </p:cNvSpPr>
              <p:nvPr/>
            </p:nvSpPr>
            <p:spPr>
              <a:xfrm>
                <a:off x="4757857" y="2586472"/>
                <a:ext cx="2359620" cy="709553"/>
              </a:xfrm>
              <a:prstGeom prst="rect">
                <a:avLst/>
              </a:prstGeom>
              <a:blipFill>
                <a:blip r:embed="rId6"/>
                <a:stretch>
                  <a:fillRect b="-178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6" name="Rectangle 25">
                <a:extLst>
                  <a:ext uri="{FF2B5EF4-FFF2-40B4-BE49-F238E27FC236}">
                    <a16:creationId xmlns:a16="http://schemas.microsoft.com/office/drawing/2014/main" id="{2AF9A141-1DCA-2543-8C07-9B75E8F7EE8C}"/>
                  </a:ext>
                </a:extLst>
              </p:cNvPr>
              <p:cNvSpPr/>
              <p:nvPr/>
            </p:nvSpPr>
            <p:spPr>
              <a:xfrm>
                <a:off x="9797154" y="2586472"/>
                <a:ext cx="2023053" cy="91005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i="1" smtClean="0">
                              <a:latin typeface="Cambria Math" panose="02040503050406030204" pitchFamily="18" charset="0"/>
                            </a:rPr>
                          </m:ctrlPr>
                        </m:dPr>
                        <m:e>
                          <m:sSub>
                            <m:sSubPr>
                              <m:ctrlPr>
                                <a:rPr lang="en-US" sz="2800" i="1">
                                  <a:latin typeface="Cambria Math" panose="02040503050406030204" pitchFamily="18" charset="0"/>
                                </a:rPr>
                              </m:ctrlPr>
                            </m:sSubPr>
                            <m:e>
                              <m:r>
                                <a:rPr lang="en-US" sz="2800" i="1">
                                  <a:latin typeface="Cambria Math" panose="02040503050406030204" pitchFamily="18" charset="0"/>
                                </a:rPr>
                                <m:t>𝑆</m:t>
                              </m:r>
                            </m:e>
                            <m:sub>
                              <m:r>
                                <a:rPr lang="en-US" sz="2800" b="0" i="1" smtClean="0">
                                  <a:latin typeface="Cambria Math" panose="02040503050406030204" pitchFamily="18" charset="0"/>
                                </a:rPr>
                                <m:t>2</m:t>
                              </m:r>
                            </m:sub>
                          </m:sSub>
                        </m:e>
                      </m:d>
                      <m:r>
                        <a:rPr lang="en-US" sz="2800" i="1">
                          <a:latin typeface="Cambria Math" panose="02040503050406030204" pitchFamily="18" charset="0"/>
                        </a:rPr>
                        <m:t>=</m:t>
                      </m:r>
                      <m:d>
                        <m:dPr>
                          <m:ctrlPr>
                            <a:rPr lang="en-US" sz="2800" i="1">
                              <a:latin typeface="Cambria Math" panose="02040503050406030204" pitchFamily="18" charset="0"/>
                            </a:rPr>
                          </m:ctrlPr>
                        </m:dPr>
                        <m:e>
                          <m:m>
                            <m:mPr>
                              <m:mcs>
                                <m:mc>
                                  <m:mcPr>
                                    <m:count m:val="1"/>
                                    <m:mcJc m:val="center"/>
                                  </m:mcPr>
                                </m:mc>
                              </m:mcs>
                              <m:ctrlPr>
                                <a:rPr lang="en-US" sz="2800" i="1">
                                  <a:latin typeface="Cambria Math" panose="02040503050406030204" pitchFamily="18" charset="0"/>
                                </a:rPr>
                              </m:ctrlPr>
                            </m:mPr>
                            <m:mr>
                              <m:e>
                                <m:sSub>
                                  <m:sSubPr>
                                    <m:ctrlPr>
                                      <a:rPr lang="en-US" sz="2800" i="1">
                                        <a:latin typeface="Cambria Math" panose="02040503050406030204" pitchFamily="18" charset="0"/>
                                      </a:rPr>
                                    </m:ctrlPr>
                                  </m:sSubPr>
                                  <m:e>
                                    <m:r>
                                      <a:rPr lang="en-US" sz="2800" b="0" i="1" smtClean="0">
                                        <a:latin typeface="Cambria Math" panose="02040503050406030204" pitchFamily="18" charset="0"/>
                                      </a:rPr>
                                      <m:t>𝑏</m:t>
                                    </m:r>
                                  </m:e>
                                  <m:sub>
                                    <m:r>
                                      <a:rPr lang="en-US" sz="2800" i="1">
                                        <a:latin typeface="Cambria Math" panose="02040503050406030204" pitchFamily="18" charset="0"/>
                                      </a:rPr>
                                      <m:t>0</m:t>
                                    </m:r>
                                  </m:sub>
                                </m:sSub>
                              </m:e>
                            </m:mr>
                            <m:mr>
                              <m:e>
                                <m:sSub>
                                  <m:sSubPr>
                                    <m:ctrlPr>
                                      <a:rPr lang="en-US" sz="2800" i="1">
                                        <a:latin typeface="Cambria Math" panose="02040503050406030204" pitchFamily="18" charset="0"/>
                                      </a:rPr>
                                    </m:ctrlPr>
                                  </m:sSubPr>
                                  <m:e>
                                    <m:r>
                                      <a:rPr lang="en-US" sz="2800" b="0" i="1" smtClean="0">
                                        <a:latin typeface="Cambria Math" panose="02040503050406030204" pitchFamily="18" charset="0"/>
                                      </a:rPr>
                                      <m:t>𝑏</m:t>
                                    </m:r>
                                  </m:e>
                                  <m:sub>
                                    <m:r>
                                      <a:rPr lang="en-US" sz="2800" i="1">
                                        <a:latin typeface="Cambria Math" panose="02040503050406030204" pitchFamily="18" charset="0"/>
                                      </a:rPr>
                                      <m:t>1</m:t>
                                    </m:r>
                                  </m:sub>
                                </m:sSub>
                              </m:e>
                            </m:mr>
                          </m:m>
                        </m:e>
                      </m:d>
                    </m:oMath>
                  </m:oMathPara>
                </a14:m>
                <a:endParaRPr lang="en-US" sz="2800" dirty="0"/>
              </a:p>
            </p:txBody>
          </p:sp>
        </mc:Choice>
        <mc:Fallback>
          <p:sp>
            <p:nvSpPr>
              <p:cNvPr id="26" name="Rectangle 25">
                <a:extLst>
                  <a:ext uri="{FF2B5EF4-FFF2-40B4-BE49-F238E27FC236}">
                    <a16:creationId xmlns:a16="http://schemas.microsoft.com/office/drawing/2014/main" id="{2AF9A141-1DCA-2543-8C07-9B75E8F7EE8C}"/>
                  </a:ext>
                </a:extLst>
              </p:cNvPr>
              <p:cNvSpPr>
                <a:spLocks noRot="1" noChangeAspect="1" noMove="1" noResize="1" noEditPoints="1" noAdjustHandles="1" noChangeArrowheads="1" noChangeShapeType="1" noTextEdit="1"/>
              </p:cNvSpPr>
              <p:nvPr/>
            </p:nvSpPr>
            <p:spPr>
              <a:xfrm>
                <a:off x="9797154" y="2586472"/>
                <a:ext cx="2023053" cy="910057"/>
              </a:xfrm>
              <a:prstGeom prst="rect">
                <a:avLst/>
              </a:prstGeom>
              <a:blipFill>
                <a:blip r:embed="rId7"/>
                <a:stretch>
                  <a:fillRect b="-281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7" name="Rectangle 26">
                <a:extLst>
                  <a:ext uri="{FF2B5EF4-FFF2-40B4-BE49-F238E27FC236}">
                    <a16:creationId xmlns:a16="http://schemas.microsoft.com/office/drawing/2014/main" id="{3BD732CE-C82B-8F48-B122-7E594971A000}"/>
                  </a:ext>
                </a:extLst>
              </p:cNvPr>
              <p:cNvSpPr/>
              <p:nvPr/>
            </p:nvSpPr>
            <p:spPr>
              <a:xfrm>
                <a:off x="6059853" y="3700178"/>
                <a:ext cx="921060" cy="820994"/>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d>
                        <m:dPr>
                          <m:begChr m:val="|"/>
                          <m:endChr m:val="⟩"/>
                          <m:ctrlPr>
                            <a:rPr lang="en-US" sz="2800" i="1">
                              <a:solidFill>
                                <a:schemeClr val="tx1"/>
                              </a:solidFill>
                              <a:latin typeface="Cambria Math" panose="02040503050406030204" pitchFamily="18" charset="0"/>
                            </a:rPr>
                          </m:ctrlPr>
                        </m:dPr>
                        <m:e>
                          <m:sSub>
                            <m:sSubPr>
                              <m:ctrlPr>
                                <a:rPr lang="en-US" sz="2800" i="1">
                                  <a:solidFill>
                                    <a:schemeClr val="tx1"/>
                                  </a:solidFill>
                                  <a:latin typeface="Cambria Math" panose="02040503050406030204" pitchFamily="18" charset="0"/>
                                </a:rPr>
                              </m:ctrlPr>
                            </m:sSubPr>
                            <m:e>
                              <m:r>
                                <a:rPr lang="en-US" sz="2800" i="1">
                                  <a:solidFill>
                                    <a:schemeClr val="tx1"/>
                                  </a:solidFill>
                                  <a:latin typeface="Cambria Math" panose="02040503050406030204" pitchFamily="18" charset="0"/>
                                </a:rPr>
                                <m:t>𝑆</m:t>
                              </m:r>
                            </m:e>
                            <m:sub>
                              <m:r>
                                <a:rPr lang="en-US" sz="2800" i="1">
                                  <a:solidFill>
                                    <a:schemeClr val="tx1"/>
                                  </a:solidFill>
                                  <a:latin typeface="Cambria Math" panose="02040503050406030204" pitchFamily="18" charset="0"/>
                                </a:rPr>
                                <m:t>1</m:t>
                              </m:r>
                            </m:sub>
                          </m:sSub>
                        </m:e>
                      </m:d>
                    </m:oMath>
                  </m:oMathPara>
                </a14:m>
                <a:endParaRPr lang="en-US" sz="2800" dirty="0">
                  <a:solidFill>
                    <a:schemeClr val="tx1"/>
                  </a:solidFill>
                  <a:latin typeface="Times" pitchFamily="2" charset="0"/>
                </a:endParaRPr>
              </a:p>
            </p:txBody>
          </p:sp>
        </mc:Choice>
        <mc:Fallback>
          <p:sp>
            <p:nvSpPr>
              <p:cNvPr id="27" name="Rectangle 26">
                <a:extLst>
                  <a:ext uri="{FF2B5EF4-FFF2-40B4-BE49-F238E27FC236}">
                    <a16:creationId xmlns:a16="http://schemas.microsoft.com/office/drawing/2014/main" id="{3BD732CE-C82B-8F48-B122-7E594971A000}"/>
                  </a:ext>
                </a:extLst>
              </p:cNvPr>
              <p:cNvSpPr>
                <a:spLocks noRot="1" noChangeAspect="1" noMove="1" noResize="1" noEditPoints="1" noAdjustHandles="1" noChangeArrowheads="1" noChangeShapeType="1" noTextEdit="1"/>
              </p:cNvSpPr>
              <p:nvPr/>
            </p:nvSpPr>
            <p:spPr>
              <a:xfrm>
                <a:off x="6059853" y="3700178"/>
                <a:ext cx="921060" cy="820994"/>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8" name="TextBox 27">
                <a:extLst>
                  <a:ext uri="{FF2B5EF4-FFF2-40B4-BE49-F238E27FC236}">
                    <a16:creationId xmlns:a16="http://schemas.microsoft.com/office/drawing/2014/main" id="{18525A94-8AE5-8D4B-8399-2428F28B636A}"/>
                  </a:ext>
                </a:extLst>
              </p:cNvPr>
              <p:cNvSpPr txBox="1"/>
              <p:nvPr/>
            </p:nvSpPr>
            <p:spPr>
              <a:xfrm>
                <a:off x="5604427" y="3905053"/>
                <a:ext cx="450764" cy="430887"/>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sz="2200" i="1" smtClean="0">
                          <a:latin typeface="Cambria Math" panose="02040503050406030204" pitchFamily="18" charset="0"/>
                          <a:ea typeface="Cambria Math" panose="02040503050406030204" pitchFamily="18" charset="0"/>
                        </a:rPr>
                        <m:t>×</m:t>
                      </m:r>
                    </m:oMath>
                  </m:oMathPara>
                </a14:m>
                <a:endParaRPr lang="en-US" sz="2200" dirty="0"/>
              </a:p>
            </p:txBody>
          </p:sp>
        </mc:Choice>
        <mc:Fallback>
          <p:sp>
            <p:nvSpPr>
              <p:cNvPr id="28" name="TextBox 27">
                <a:extLst>
                  <a:ext uri="{FF2B5EF4-FFF2-40B4-BE49-F238E27FC236}">
                    <a16:creationId xmlns:a16="http://schemas.microsoft.com/office/drawing/2014/main" id="{18525A94-8AE5-8D4B-8399-2428F28B636A}"/>
                  </a:ext>
                </a:extLst>
              </p:cNvPr>
              <p:cNvSpPr txBox="1">
                <a:spLocks noRot="1" noChangeAspect="1" noMove="1" noResize="1" noEditPoints="1" noAdjustHandles="1" noChangeArrowheads="1" noChangeShapeType="1" noTextEdit="1"/>
              </p:cNvSpPr>
              <p:nvPr/>
            </p:nvSpPr>
            <p:spPr>
              <a:xfrm>
                <a:off x="5604427" y="3905053"/>
                <a:ext cx="450764" cy="430887"/>
              </a:xfrm>
              <a:prstGeom prst="rect">
                <a:avLst/>
              </a:prstGeom>
              <a:blipFill>
                <a:blip r:embed="rId9"/>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5232159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5038D64-0DAD-9741-9894-C66FBA043F19}"/>
              </a:ext>
            </a:extLst>
          </p:cNvPr>
          <p:cNvSpPr>
            <a:spLocks noGrp="1"/>
          </p:cNvSpPr>
          <p:nvPr>
            <p:ph type="title"/>
          </p:nvPr>
        </p:nvSpPr>
        <p:spPr/>
        <p:txBody>
          <a:bodyPr/>
          <a:lstStyle/>
          <a:p>
            <a:r>
              <a:rPr lang="en-ZA" dirty="0"/>
              <a:t>The Evolution Postulate</a:t>
            </a:r>
            <a:endParaRPr lang="en-US" dirty="0"/>
          </a:p>
        </p:txBody>
      </p:sp>
      <p:sp>
        <p:nvSpPr>
          <p:cNvPr id="2" name="Slide Number Placeholder 1">
            <a:extLst>
              <a:ext uri="{FF2B5EF4-FFF2-40B4-BE49-F238E27FC236}">
                <a16:creationId xmlns:a16="http://schemas.microsoft.com/office/drawing/2014/main" id="{61A63606-B702-8546-97EF-792A3CB91B14}"/>
              </a:ext>
            </a:extLst>
          </p:cNvPr>
          <p:cNvSpPr>
            <a:spLocks noGrp="1"/>
          </p:cNvSpPr>
          <p:nvPr>
            <p:ph type="sldNum" sz="quarter" idx="12"/>
          </p:nvPr>
        </p:nvSpPr>
        <p:spPr/>
        <p:txBody>
          <a:bodyPr/>
          <a:lstStyle/>
          <a:p>
            <a:fld id="{591A223C-FA10-BC46-A853-03BA373D023C}" type="slidenum">
              <a:rPr lang="en-US" smtClean="0"/>
              <a:t>8</a:t>
            </a:fld>
            <a:endParaRPr lang="en-US"/>
          </a:p>
        </p:txBody>
      </p:sp>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23BF3C67-8443-2D42-81CE-7082D70B1452}"/>
                  </a:ext>
                </a:extLst>
              </p:cNvPr>
              <p:cNvSpPr txBox="1"/>
              <p:nvPr/>
            </p:nvSpPr>
            <p:spPr>
              <a:xfrm>
                <a:off x="216977" y="1116188"/>
                <a:ext cx="11691005" cy="3365921"/>
              </a:xfrm>
              <a:prstGeom prst="rect">
                <a:avLst/>
              </a:prstGeom>
              <a:solidFill>
                <a:schemeClr val="accent4">
                  <a:lumMod val="20000"/>
                  <a:lumOff val="80000"/>
                </a:schemeClr>
              </a:solidFill>
            </p:spPr>
            <p:txBody>
              <a:bodyPr wrap="square" rtlCol="0">
                <a:spAutoFit/>
              </a:bodyPr>
              <a:lstStyle/>
              <a:p>
                <a:pPr algn="just"/>
                <a:endParaRPr lang="en-ZA" sz="1200" dirty="0"/>
              </a:p>
              <a:p>
                <a:pPr algn="just"/>
                <a:r>
                  <a:rPr lang="en-ZA" sz="2400" dirty="0"/>
                  <a:t>The time evolution of the state of a closed quantum system is described by a unitary transformation. The state </a:t>
                </a:r>
                <a14:m>
                  <m:oMath xmlns:m="http://schemas.openxmlformats.org/officeDocument/2006/math">
                    <m:d>
                      <m:dPr>
                        <m:begChr m:val="|"/>
                        <m:endChr m:val="⟩"/>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𝑆</m:t>
                            </m:r>
                          </m:e>
                          <m:sub>
                            <m:r>
                              <a:rPr lang="en-US" sz="2400" b="0" i="1" smtClean="0">
                                <a:latin typeface="Cambria Math" panose="02040503050406030204" pitchFamily="18" charset="0"/>
                              </a:rPr>
                              <m:t>1</m:t>
                            </m:r>
                          </m:sub>
                        </m:sSub>
                      </m:e>
                    </m:d>
                    <m:r>
                      <a:rPr lang="en-US" sz="2400" i="1">
                        <a:latin typeface="Cambria Math" panose="02040503050406030204" pitchFamily="18" charset="0"/>
                      </a:rPr>
                      <m:t> </m:t>
                    </m:r>
                  </m:oMath>
                </a14:m>
                <a:r>
                  <a:rPr lang="en-ZA" sz="2400" dirty="0"/>
                  <a:t>of the system at time</a:t>
                </a:r>
                <a:r>
                  <a:rPr lang="en-US" sz="2400" dirty="0"/>
                  <a:t>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𝑡</m:t>
                        </m:r>
                      </m:e>
                      <m:sub>
                        <m:r>
                          <a:rPr lang="en-US" sz="2400" i="1">
                            <a:latin typeface="Cambria Math" panose="02040503050406030204" pitchFamily="18" charset="0"/>
                          </a:rPr>
                          <m:t>1</m:t>
                        </m:r>
                      </m:sub>
                    </m:sSub>
                    <m:r>
                      <a:rPr lang="en-US" sz="2400" i="1">
                        <a:latin typeface="Cambria Math" panose="02040503050406030204" pitchFamily="18" charset="0"/>
                      </a:rPr>
                      <m:t> </m:t>
                    </m:r>
                  </m:oMath>
                </a14:m>
                <a:r>
                  <a:rPr lang="en-ZA" sz="2400" dirty="0"/>
                  <a:t>​evolves to the state </a:t>
                </a:r>
                <a14:m>
                  <m:oMath xmlns:m="http://schemas.openxmlformats.org/officeDocument/2006/math">
                    <m:d>
                      <m:dPr>
                        <m:begChr m:val="|"/>
                        <m:endChr m:val="⟩"/>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𝑆</m:t>
                            </m:r>
                          </m:e>
                          <m:sub>
                            <m:r>
                              <a:rPr lang="en-US" sz="2400" b="0" i="1" smtClean="0">
                                <a:latin typeface="Cambria Math" panose="02040503050406030204" pitchFamily="18" charset="0"/>
                              </a:rPr>
                              <m:t>2</m:t>
                            </m:r>
                          </m:sub>
                        </m:sSub>
                      </m:e>
                    </m:d>
                  </m:oMath>
                </a14:m>
                <a:r>
                  <a:rPr lang="el-GR" sz="2400" dirty="0"/>
                  <a:t> </a:t>
                </a:r>
                <a:r>
                  <a:rPr lang="en-ZA" sz="2400" dirty="0"/>
                  <a:t>at time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𝑡</m:t>
                        </m:r>
                      </m:e>
                      <m:sub>
                        <m:r>
                          <a:rPr lang="en-US" sz="2400" b="0" i="1" smtClean="0">
                            <a:latin typeface="Cambria Math" panose="02040503050406030204" pitchFamily="18" charset="0"/>
                          </a:rPr>
                          <m:t>2</m:t>
                        </m:r>
                      </m:sub>
                    </m:sSub>
                    <m:r>
                      <a:rPr lang="en-US" sz="2400" i="1">
                        <a:latin typeface="Cambria Math" panose="02040503050406030204" pitchFamily="18" charset="0"/>
                      </a:rPr>
                      <m:t> </m:t>
                    </m:r>
                  </m:oMath>
                </a14:m>
                <a:r>
                  <a:rPr lang="en-ZA" sz="2400" dirty="0"/>
                  <a:t>​ under a unitary operator </a:t>
                </a:r>
                <a14:m>
                  <m:oMath xmlns:m="http://schemas.openxmlformats.org/officeDocument/2006/math">
                    <m:r>
                      <a:rPr lang="en-US" sz="2400" b="0" i="1" smtClean="0">
                        <a:latin typeface="Cambria Math" panose="02040503050406030204" pitchFamily="18" charset="0"/>
                      </a:rPr>
                      <m:t>𝑈</m:t>
                    </m:r>
                  </m:oMath>
                </a14:m>
                <a:r>
                  <a:rPr lang="en-ZA" sz="2400" dirty="0"/>
                  <a:t> that depends only on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𝑡</m:t>
                        </m:r>
                      </m:e>
                      <m:sub>
                        <m:r>
                          <a:rPr lang="en-US" sz="2400" i="1">
                            <a:latin typeface="Cambria Math" panose="02040503050406030204" pitchFamily="18" charset="0"/>
                          </a:rPr>
                          <m:t>1</m:t>
                        </m:r>
                      </m:sub>
                    </m:sSub>
                    <m:r>
                      <a:rPr lang="en-US" sz="2400" i="1">
                        <a:latin typeface="Cambria Math" panose="02040503050406030204" pitchFamily="18" charset="0"/>
                      </a:rPr>
                      <m:t> </m:t>
                    </m:r>
                  </m:oMath>
                </a14:m>
                <a:r>
                  <a:rPr lang="en-ZA" sz="2400" dirty="0"/>
                  <a:t>​ and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𝑡</m:t>
                        </m:r>
                      </m:e>
                      <m:sub>
                        <m:r>
                          <a:rPr lang="en-US" sz="2400" b="0" i="1" smtClean="0">
                            <a:latin typeface="Cambria Math" panose="02040503050406030204" pitchFamily="18" charset="0"/>
                          </a:rPr>
                          <m:t>2</m:t>
                        </m:r>
                      </m:sub>
                    </m:sSub>
                  </m:oMath>
                </a14:m>
                <a:r>
                  <a:rPr lang="en-ZA" sz="2400" dirty="0"/>
                  <a:t>:</a:t>
                </a:r>
              </a:p>
              <a:p>
                <a:pPr algn="just"/>
                <a:endParaRPr lang="en-ZA" sz="1200" dirty="0"/>
              </a:p>
              <a:p>
                <a:pPr algn="just"/>
                <a14:m>
                  <m:oMathPara xmlns:m="http://schemas.openxmlformats.org/officeDocument/2006/math">
                    <m:oMathParaPr>
                      <m:jc m:val="centerGroup"/>
                    </m:oMathParaPr>
                    <m:oMath xmlns:m="http://schemas.openxmlformats.org/officeDocument/2006/math">
                      <m:d>
                        <m:dPr>
                          <m:begChr m:val="|"/>
                          <m:endChr m:val="⟩"/>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i="1">
                                  <a:latin typeface="Cambria Math" panose="02040503050406030204" pitchFamily="18" charset="0"/>
                                </a:rPr>
                                <m:t>𝑆</m:t>
                              </m:r>
                            </m:e>
                            <m:sub>
                              <m:r>
                                <a:rPr lang="en-US" sz="2800" i="1">
                                  <a:latin typeface="Cambria Math" panose="02040503050406030204" pitchFamily="18" charset="0"/>
                                </a:rPr>
                                <m:t>2</m:t>
                              </m:r>
                            </m:sub>
                          </m:sSub>
                        </m:e>
                      </m:d>
                      <m:r>
                        <a:rPr lang="en-US" sz="2800" b="0" i="1" smtClean="0">
                          <a:latin typeface="Cambria Math" panose="02040503050406030204" pitchFamily="18" charset="0"/>
                        </a:rPr>
                        <m:t>=</m:t>
                      </m:r>
                      <m:r>
                        <a:rPr lang="en-US" sz="2800" b="0" i="1" smtClean="0">
                          <a:latin typeface="Cambria Math" panose="02040503050406030204" pitchFamily="18" charset="0"/>
                        </a:rPr>
                        <m:t>𝑈</m:t>
                      </m:r>
                      <m:d>
                        <m:dPr>
                          <m:begChr m:val="|"/>
                          <m:endChr m:val="⟩"/>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i="1">
                                  <a:latin typeface="Cambria Math" panose="02040503050406030204" pitchFamily="18" charset="0"/>
                                </a:rPr>
                                <m:t>𝑆</m:t>
                              </m:r>
                            </m:e>
                            <m:sub>
                              <m:r>
                                <a:rPr lang="en-US" sz="2800" b="0" i="1" smtClean="0">
                                  <a:latin typeface="Cambria Math" panose="02040503050406030204" pitchFamily="18" charset="0"/>
                                </a:rPr>
                                <m:t>1</m:t>
                              </m:r>
                            </m:sub>
                          </m:sSub>
                        </m:e>
                      </m:d>
                    </m:oMath>
                  </m:oMathPara>
                </a14:m>
                <a:endParaRPr lang="en-ZA" sz="2800" dirty="0"/>
              </a:p>
              <a:p>
                <a:pPr algn="just"/>
                <a:endParaRPr lang="en-ZA" sz="1200" dirty="0"/>
              </a:p>
              <a:p>
                <a:pPr algn="just"/>
                <a:r>
                  <a:rPr lang="en-ZA" sz="2400" dirty="0"/>
                  <a:t>In the density operator formulation, the evolution is expressed as</a:t>
                </a:r>
              </a:p>
              <a:p>
                <a:pPr algn="just"/>
                <a:endParaRPr lang="en-ZA" sz="1200" dirty="0"/>
              </a:p>
              <a:p>
                <a:pPr algn="just"/>
                <a14:m>
                  <m:oMathPara xmlns:m="http://schemas.openxmlformats.org/officeDocument/2006/math">
                    <m:oMathParaPr>
                      <m:jc m:val="centerGroup"/>
                    </m:oMathParaPr>
                    <m:oMath xmlns:m="http://schemas.openxmlformats.org/officeDocument/2006/math">
                      <m:sSub>
                        <m:sSubPr>
                          <m:ctrlPr>
                            <a:rPr lang="en-US" sz="2800" i="1">
                              <a:latin typeface="Cambria Math" panose="02040503050406030204" pitchFamily="18" charset="0"/>
                            </a:rPr>
                          </m:ctrlPr>
                        </m:sSubPr>
                        <m:e>
                          <m:r>
                            <a:rPr lang="en-US" sz="2800" i="1" smtClean="0">
                              <a:latin typeface="Cambria Math" panose="02040503050406030204" pitchFamily="18" charset="0"/>
                              <a:ea typeface="Cambria Math" panose="02040503050406030204" pitchFamily="18" charset="0"/>
                            </a:rPr>
                            <m:t>𝜌</m:t>
                          </m:r>
                        </m:e>
                        <m:sub>
                          <m:r>
                            <a:rPr lang="en-US" sz="2800" i="1">
                              <a:latin typeface="Cambria Math" panose="02040503050406030204" pitchFamily="18" charset="0"/>
                            </a:rPr>
                            <m:t>2</m:t>
                          </m:r>
                        </m:sub>
                      </m:sSub>
                      <m:r>
                        <a:rPr lang="en-US" sz="2800" b="0" i="1" smtClean="0">
                          <a:latin typeface="Cambria Math" panose="02040503050406030204" pitchFamily="18" charset="0"/>
                        </a:rPr>
                        <m:t>=</m:t>
                      </m:r>
                      <m:r>
                        <a:rPr lang="en-US" sz="2800" b="0" i="1" smtClean="0">
                          <a:latin typeface="Cambria Math" panose="02040503050406030204" pitchFamily="18" charset="0"/>
                        </a:rPr>
                        <m:t>𝑈</m:t>
                      </m:r>
                      <m:sSub>
                        <m:sSubPr>
                          <m:ctrlPr>
                            <a:rPr lang="en-US" sz="2800" i="1">
                              <a:latin typeface="Cambria Math" panose="02040503050406030204" pitchFamily="18" charset="0"/>
                            </a:rPr>
                          </m:ctrlPr>
                        </m:sSubPr>
                        <m:e>
                          <m:r>
                            <a:rPr lang="en-US" sz="2800" i="1">
                              <a:latin typeface="Cambria Math" panose="02040503050406030204" pitchFamily="18" charset="0"/>
                              <a:ea typeface="Cambria Math" panose="02040503050406030204" pitchFamily="18" charset="0"/>
                            </a:rPr>
                            <m:t>𝜌</m:t>
                          </m:r>
                        </m:e>
                        <m:sub>
                          <m:r>
                            <a:rPr lang="en-US" sz="2800" b="0" i="1" smtClean="0">
                              <a:latin typeface="Cambria Math" panose="02040503050406030204" pitchFamily="18" charset="0"/>
                              <a:ea typeface="Cambria Math" panose="02040503050406030204" pitchFamily="18" charset="0"/>
                            </a:rPr>
                            <m:t>1</m:t>
                          </m:r>
                        </m:sub>
                      </m:sSub>
                      <m:sSup>
                        <m:sSupPr>
                          <m:ctrlPr>
                            <a:rPr lang="en-US" sz="2800" i="1">
                              <a:latin typeface="Cambria Math" panose="02040503050406030204" pitchFamily="18" charset="0"/>
                            </a:rPr>
                          </m:ctrlPr>
                        </m:sSupPr>
                        <m:e>
                          <m:r>
                            <a:rPr lang="en-US" sz="2800" i="1">
                              <a:latin typeface="Cambria Math" panose="02040503050406030204" pitchFamily="18" charset="0"/>
                            </a:rPr>
                            <m:t>𝑈</m:t>
                          </m:r>
                        </m:e>
                        <m:sup>
                          <m:r>
                            <a:rPr lang="en-US" sz="2800" i="1">
                              <a:latin typeface="Cambria Math" panose="02040503050406030204" pitchFamily="18" charset="0"/>
                              <a:ea typeface="Cambria Math" panose="02040503050406030204" pitchFamily="18" charset="0"/>
                            </a:rPr>
                            <m:t>†</m:t>
                          </m:r>
                        </m:sup>
                      </m:sSup>
                    </m:oMath>
                  </m:oMathPara>
                </a14:m>
                <a:endParaRPr lang="en-ZA" sz="2800" dirty="0"/>
              </a:p>
              <a:p>
                <a:pPr algn="just"/>
                <a:endParaRPr lang="en-ZA" sz="1200" dirty="0"/>
              </a:p>
            </p:txBody>
          </p:sp>
        </mc:Choice>
        <mc:Fallback>
          <p:sp>
            <p:nvSpPr>
              <p:cNvPr id="4" name="TextBox 3">
                <a:extLst>
                  <a:ext uri="{FF2B5EF4-FFF2-40B4-BE49-F238E27FC236}">
                    <a16:creationId xmlns:a16="http://schemas.microsoft.com/office/drawing/2014/main" id="{23BF3C67-8443-2D42-81CE-7082D70B1452}"/>
                  </a:ext>
                </a:extLst>
              </p:cNvPr>
              <p:cNvSpPr txBox="1">
                <a:spLocks noRot="1" noChangeAspect="1" noMove="1" noResize="1" noEditPoints="1" noAdjustHandles="1" noChangeArrowheads="1" noChangeShapeType="1" noTextEdit="1"/>
              </p:cNvSpPr>
              <p:nvPr/>
            </p:nvSpPr>
            <p:spPr>
              <a:xfrm>
                <a:off x="216977" y="1116188"/>
                <a:ext cx="11691005" cy="3365921"/>
              </a:xfrm>
              <a:prstGeom prst="rect">
                <a:avLst/>
              </a:prstGeom>
              <a:blipFill>
                <a:blip r:embed="rId3"/>
                <a:stretch>
                  <a:fillRect l="-759" r="-759"/>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7E47697C-82DF-AE43-99B0-551F88C5A405}"/>
              </a:ext>
            </a:extLst>
          </p:cNvPr>
          <p:cNvSpPr txBox="1"/>
          <p:nvPr/>
        </p:nvSpPr>
        <p:spPr>
          <a:xfrm>
            <a:off x="216976" y="4529829"/>
            <a:ext cx="6960047" cy="369332"/>
          </a:xfrm>
          <a:prstGeom prst="rect">
            <a:avLst/>
          </a:prstGeom>
          <a:noFill/>
        </p:spPr>
        <p:txBody>
          <a:bodyPr wrap="none" rtlCol="0">
            <a:spAutoFit/>
          </a:bodyPr>
          <a:lstStyle/>
          <a:p>
            <a:r>
              <a:rPr lang="en-ZA" dirty="0"/>
              <a:t>closed system: at a given moment does not interact with other systems.</a:t>
            </a:r>
            <a:endParaRPr lang="en-US" dirty="0"/>
          </a:p>
        </p:txBody>
      </p:sp>
      <p:grpSp>
        <p:nvGrpSpPr>
          <p:cNvPr id="18" name="Group 17">
            <a:extLst>
              <a:ext uri="{FF2B5EF4-FFF2-40B4-BE49-F238E27FC236}">
                <a16:creationId xmlns:a16="http://schemas.microsoft.com/office/drawing/2014/main" id="{AFC35C53-0494-584B-8F62-013438A45CE1}"/>
              </a:ext>
            </a:extLst>
          </p:cNvPr>
          <p:cNvGrpSpPr/>
          <p:nvPr/>
        </p:nvGrpSpPr>
        <p:grpSpPr>
          <a:xfrm>
            <a:off x="3848978" y="5075017"/>
            <a:ext cx="5503714" cy="1648612"/>
            <a:chOff x="3848979" y="5121967"/>
            <a:chExt cx="5503714" cy="1648612"/>
          </a:xfrm>
        </p:grpSpPr>
        <p:sp>
          <p:nvSpPr>
            <p:cNvPr id="28" name="Right Arrow 27">
              <a:extLst>
                <a:ext uri="{FF2B5EF4-FFF2-40B4-BE49-F238E27FC236}">
                  <a16:creationId xmlns:a16="http://schemas.microsoft.com/office/drawing/2014/main" id="{FFF146E1-69CB-8241-907A-7066ACC974B1}"/>
                </a:ext>
              </a:extLst>
            </p:cNvPr>
            <p:cNvSpPr/>
            <p:nvPr/>
          </p:nvSpPr>
          <p:spPr>
            <a:xfrm>
              <a:off x="5540016" y="5622481"/>
              <a:ext cx="1962302" cy="675533"/>
            </a:xfrm>
            <a:prstGeom prst="rightArrow">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99F51276-8CE8-8048-B931-275F9B440442}"/>
                </a:ext>
              </a:extLst>
            </p:cNvPr>
            <p:cNvSpPr>
              <a:spLocks noChangeAspect="1"/>
            </p:cNvSpPr>
            <p:nvPr/>
          </p:nvSpPr>
          <p:spPr>
            <a:xfrm>
              <a:off x="3991996" y="5209511"/>
              <a:ext cx="1405004" cy="1405004"/>
            </a:xfrm>
            <a:prstGeom prst="ellipse">
              <a:avLst/>
            </a:prstGeom>
            <a:gradFill>
              <a:gsLst>
                <a:gs pos="0">
                  <a:schemeClr val="accent1">
                    <a:lumMod val="5000"/>
                    <a:lumOff val="95000"/>
                  </a:schemeClr>
                </a:gs>
                <a:gs pos="100000">
                  <a:schemeClr val="accent5">
                    <a:lumMod val="20000"/>
                    <a:lumOff val="8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109B20F3-E43D-D244-9E4E-1AB856358D27}"/>
                </a:ext>
              </a:extLst>
            </p:cNvPr>
            <p:cNvSpPr/>
            <p:nvPr/>
          </p:nvSpPr>
          <p:spPr>
            <a:xfrm>
              <a:off x="3991995" y="5724484"/>
              <a:ext cx="1405005" cy="451710"/>
            </a:xfrm>
            <a:prstGeom prst="ellipse">
              <a:avLst/>
            </a:prstGeom>
            <a:solidFill>
              <a:schemeClr val="bg1">
                <a:lumMod val="85000"/>
                <a:alpha val="2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7" name="Straight Arrow Connector 36">
              <a:extLst>
                <a:ext uri="{FF2B5EF4-FFF2-40B4-BE49-F238E27FC236}">
                  <a16:creationId xmlns:a16="http://schemas.microsoft.com/office/drawing/2014/main" id="{AA751027-5A2B-5B4E-9D53-FBC6D8799504}"/>
                </a:ext>
              </a:extLst>
            </p:cNvPr>
            <p:cNvCxnSpPr>
              <a:cxnSpLocks/>
            </p:cNvCxnSpPr>
            <p:nvPr/>
          </p:nvCxnSpPr>
          <p:spPr>
            <a:xfrm>
              <a:off x="4671477" y="5893199"/>
              <a:ext cx="537445" cy="404815"/>
            </a:xfrm>
            <a:prstGeom prst="straightConnector1">
              <a:avLst/>
            </a:prstGeom>
            <a:ln w="254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9A5BD993-3DD6-3649-B17E-847AE04BE2E2}"/>
                </a:ext>
              </a:extLst>
            </p:cNvPr>
            <p:cNvCxnSpPr>
              <a:cxnSpLocks/>
            </p:cNvCxnSpPr>
            <p:nvPr/>
          </p:nvCxnSpPr>
          <p:spPr>
            <a:xfrm flipH="1">
              <a:off x="3919101" y="5895411"/>
              <a:ext cx="758529" cy="341655"/>
            </a:xfrm>
            <a:prstGeom prst="straightConnector1">
              <a:avLst/>
            </a:prstGeom>
            <a:ln w="254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8B51D996-DDC4-E242-93E6-3660C86C1CC2}"/>
                </a:ext>
              </a:extLst>
            </p:cNvPr>
            <p:cNvCxnSpPr>
              <a:cxnSpLocks/>
            </p:cNvCxnSpPr>
            <p:nvPr/>
          </p:nvCxnSpPr>
          <p:spPr>
            <a:xfrm flipV="1">
              <a:off x="4677645" y="5163987"/>
              <a:ext cx="0" cy="729471"/>
            </a:xfrm>
            <a:prstGeom prst="straightConnector1">
              <a:avLst/>
            </a:prstGeom>
            <a:ln w="254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52E583E4-CA7A-254C-A63D-0D9AB85BFB1C}"/>
                </a:ext>
              </a:extLst>
            </p:cNvPr>
            <p:cNvCxnSpPr>
              <a:cxnSpLocks/>
            </p:cNvCxnSpPr>
            <p:nvPr/>
          </p:nvCxnSpPr>
          <p:spPr>
            <a:xfrm flipH="1" flipV="1">
              <a:off x="4445595" y="5397164"/>
              <a:ext cx="232027" cy="494068"/>
            </a:xfrm>
            <a:prstGeom prst="straightConnector1">
              <a:avLst/>
            </a:prstGeom>
            <a:ln w="50800" cap="rnd">
              <a:solidFill>
                <a:srgbClr val="CA251F"/>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41" name="Rectangle 40">
                  <a:extLst>
                    <a:ext uri="{FF2B5EF4-FFF2-40B4-BE49-F238E27FC236}">
                      <a16:creationId xmlns:a16="http://schemas.microsoft.com/office/drawing/2014/main" id="{A21D20B7-C65F-8A48-8A1C-7398AE70E814}"/>
                    </a:ext>
                  </a:extLst>
                </p:cNvPr>
                <p:cNvSpPr/>
                <p:nvPr/>
              </p:nvSpPr>
              <p:spPr>
                <a:xfrm>
                  <a:off x="5523045" y="6298014"/>
                  <a:ext cx="1765740" cy="4725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m>
                          <m:mPr>
                            <m:mcs>
                              <m:mc>
                                <m:mcPr>
                                  <m:count m:val="1"/>
                                  <m:mcJc m:val="center"/>
                                </m:mcPr>
                              </m:mc>
                            </m:mcs>
                            <m:ctrlPr>
                              <a:rPr lang="en-US" i="1" smtClean="0">
                                <a:solidFill>
                                  <a:schemeClr val="tx1"/>
                                </a:solidFill>
                                <a:latin typeface="Cambria Math" panose="02040503050406030204" pitchFamily="18" charset="0"/>
                              </a:rPr>
                            </m:ctrlPr>
                          </m:mPr>
                          <m:mr>
                            <m:e>
                              <m:d>
                                <m:dPr>
                                  <m:begChr m:val="|"/>
                                  <m:endChr m:val="⟩"/>
                                  <m:ctrlPr>
                                    <a:rPr lang="en-US" i="1">
                                      <a:solidFill>
                                        <a:schemeClr val="tx1"/>
                                      </a:solidFill>
                                      <a:latin typeface="Cambria Math" panose="02040503050406030204" pitchFamily="18" charset="0"/>
                                    </a:rPr>
                                  </m:ctrlPr>
                                </m:dPr>
                                <m:e>
                                  <m:sSub>
                                    <m:sSubPr>
                                      <m:ctrlPr>
                                        <a:rPr lang="en-US"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𝑆</m:t>
                                      </m:r>
                                    </m:e>
                                    <m:sub>
                                      <m:r>
                                        <a:rPr lang="en-US" b="0" i="1" smtClean="0">
                                          <a:solidFill>
                                            <a:schemeClr val="tx1"/>
                                          </a:solidFill>
                                          <a:latin typeface="Cambria Math" panose="02040503050406030204" pitchFamily="18" charset="0"/>
                                        </a:rPr>
                                        <m:t>1</m:t>
                                      </m:r>
                                    </m:sub>
                                  </m:sSub>
                                </m:e>
                              </m:d>
                              <m:groupChr>
                                <m:groupChrPr>
                                  <m:chr m:val="→"/>
                                  <m:vertJc m:val="bot"/>
                                  <m:ctrlPr>
                                    <a:rPr lang="en-US" i="1" smtClean="0">
                                      <a:solidFill>
                                        <a:schemeClr val="tx1"/>
                                      </a:solidFill>
                                      <a:latin typeface="Cambria Math" panose="02040503050406030204" pitchFamily="18" charset="0"/>
                                    </a:rPr>
                                  </m:ctrlPr>
                                </m:groupChrPr>
                                <m:e>
                                  <m:r>
                                    <m:rPr>
                                      <m:sty m:val="p"/>
                                    </m:rPr>
                                    <a:rPr lang="en-US">
                                      <a:latin typeface="Cambria Math" panose="02040503050406030204" pitchFamily="18" charset="0"/>
                                    </a:rPr>
                                    <m:t>U</m:t>
                                  </m:r>
                                  <m:r>
                                    <a:rPr lang="en-US">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1</m:t>
                                      </m:r>
                                      <m:r>
                                        <a:rPr lang="en-US" i="1">
                                          <a:latin typeface="Cambria Math" panose="02040503050406030204" pitchFamily="18" charset="0"/>
                                        </a:rPr>
                                        <m:t>,</m:t>
                                      </m:r>
                                    </m:sub>
                                  </m:sSub>
                                  <m:r>
                                    <a:rPr lang="en-US" i="1">
                                      <a:latin typeface="Cambria Math" panose="02040503050406030204" pitchFamily="18" charset="0"/>
                                    </a:rPr>
                                    <m:t> </m:t>
                                  </m:r>
                                  <m:r>
                                    <m:rPr>
                                      <m:nor/>
                                    </m:rPr>
                                    <a:rPr lang="en-ZA" dirty="0"/>
                                    <m:t>​ </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2</m:t>
                                      </m:r>
                                    </m:sub>
                                  </m:sSub>
                                  <m:r>
                                    <a:rPr lang="en-US">
                                      <a:latin typeface="Cambria Math" panose="02040503050406030204" pitchFamily="18" charset="0"/>
                                    </a:rPr>
                                    <m:t>)</m:t>
                                  </m:r>
                                </m:e>
                              </m:groupChr>
                              <m:d>
                                <m:dPr>
                                  <m:begChr m:val="|"/>
                                  <m:endChr m:val="⟩"/>
                                  <m:ctrlPr>
                                    <a:rPr lang="en-US" i="1">
                                      <a:solidFill>
                                        <a:schemeClr val="tx1"/>
                                      </a:solidFill>
                                      <a:latin typeface="Cambria Math" panose="02040503050406030204" pitchFamily="18" charset="0"/>
                                    </a:rPr>
                                  </m:ctrlPr>
                                </m:dPr>
                                <m:e>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𝑆</m:t>
                                      </m:r>
                                    </m:e>
                                    <m:sub>
                                      <m:r>
                                        <a:rPr lang="en-US" b="0" i="1" smtClean="0">
                                          <a:solidFill>
                                            <a:schemeClr val="tx1"/>
                                          </a:solidFill>
                                          <a:latin typeface="Cambria Math" panose="02040503050406030204" pitchFamily="18" charset="0"/>
                                        </a:rPr>
                                        <m:t>2</m:t>
                                      </m:r>
                                    </m:sub>
                                  </m:sSub>
                                </m:e>
                              </m:d>
                            </m:e>
                          </m:mr>
                        </m:m>
                      </m:oMath>
                    </m:oMathPara>
                  </a14:m>
                  <a:endParaRPr lang="en-US" dirty="0">
                    <a:solidFill>
                      <a:schemeClr val="tx1"/>
                    </a:solidFill>
                  </a:endParaRPr>
                </a:p>
              </p:txBody>
            </p:sp>
          </mc:Choice>
          <mc:Fallback>
            <p:sp>
              <p:nvSpPr>
                <p:cNvPr id="41" name="Rectangle 40">
                  <a:extLst>
                    <a:ext uri="{FF2B5EF4-FFF2-40B4-BE49-F238E27FC236}">
                      <a16:creationId xmlns:a16="http://schemas.microsoft.com/office/drawing/2014/main" id="{A21D20B7-C65F-8A48-8A1C-7398AE70E814}"/>
                    </a:ext>
                  </a:extLst>
                </p:cNvPr>
                <p:cNvSpPr>
                  <a:spLocks noRot="1" noChangeAspect="1" noMove="1" noResize="1" noEditPoints="1" noAdjustHandles="1" noChangeArrowheads="1" noChangeShapeType="1" noTextEdit="1"/>
                </p:cNvSpPr>
                <p:nvPr/>
              </p:nvSpPr>
              <p:spPr>
                <a:xfrm>
                  <a:off x="5523045" y="6298014"/>
                  <a:ext cx="1765740" cy="472565"/>
                </a:xfrm>
                <a:prstGeom prst="rect">
                  <a:avLst/>
                </a:prstGeom>
                <a:blipFill>
                  <a:blip r:embed="rId4"/>
                  <a:stretch>
                    <a:fillRect t="-18919"/>
                  </a:stretch>
                </a:blipFill>
              </p:spPr>
              <p:txBody>
                <a:bodyPr/>
                <a:lstStyle/>
                <a:p>
                  <a:r>
                    <a:rPr lang="en-US">
                      <a:noFill/>
                    </a:rPr>
                    <a:t> </a:t>
                  </a:r>
                </a:p>
              </p:txBody>
            </p:sp>
          </mc:Fallback>
        </mc:AlternateContent>
        <p:sp>
          <p:nvSpPr>
            <p:cNvPr id="43" name="Oval 42">
              <a:extLst>
                <a:ext uri="{FF2B5EF4-FFF2-40B4-BE49-F238E27FC236}">
                  <a16:creationId xmlns:a16="http://schemas.microsoft.com/office/drawing/2014/main" id="{A256D78F-E939-784A-933E-CC8368AC34C5}"/>
                </a:ext>
              </a:extLst>
            </p:cNvPr>
            <p:cNvSpPr>
              <a:spLocks noChangeAspect="1"/>
            </p:cNvSpPr>
            <p:nvPr/>
          </p:nvSpPr>
          <p:spPr>
            <a:xfrm>
              <a:off x="7679846" y="5164914"/>
              <a:ext cx="1326197" cy="1325482"/>
            </a:xfrm>
            <a:prstGeom prst="ellipse">
              <a:avLst/>
            </a:prstGeom>
            <a:gradFill>
              <a:gsLst>
                <a:gs pos="0">
                  <a:schemeClr val="accent1">
                    <a:lumMod val="5000"/>
                    <a:lumOff val="95000"/>
                  </a:schemeClr>
                </a:gs>
                <a:gs pos="100000">
                  <a:schemeClr val="accent5">
                    <a:lumMod val="20000"/>
                    <a:lumOff val="8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615055BA-1933-9F49-AF45-B422C4C088F6}"/>
                </a:ext>
              </a:extLst>
            </p:cNvPr>
            <p:cNvSpPr/>
            <p:nvPr/>
          </p:nvSpPr>
          <p:spPr>
            <a:xfrm>
              <a:off x="7679846" y="5650740"/>
              <a:ext cx="1326197" cy="426143"/>
            </a:xfrm>
            <a:prstGeom prst="ellipse">
              <a:avLst/>
            </a:prstGeom>
            <a:solidFill>
              <a:schemeClr val="bg1">
                <a:lumMod val="85000"/>
                <a:alpha val="2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5" name="Straight Arrow Connector 44">
              <a:extLst>
                <a:ext uri="{FF2B5EF4-FFF2-40B4-BE49-F238E27FC236}">
                  <a16:creationId xmlns:a16="http://schemas.microsoft.com/office/drawing/2014/main" id="{D05886FB-2360-FF47-90D7-1116B0EFC55A}"/>
                </a:ext>
              </a:extLst>
            </p:cNvPr>
            <p:cNvCxnSpPr>
              <a:cxnSpLocks/>
            </p:cNvCxnSpPr>
            <p:nvPr/>
          </p:nvCxnSpPr>
          <p:spPr>
            <a:xfrm>
              <a:off x="8321215" y="5809906"/>
              <a:ext cx="507300" cy="381902"/>
            </a:xfrm>
            <a:prstGeom prst="straightConnector1">
              <a:avLst/>
            </a:prstGeom>
            <a:ln w="254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4380ADE2-4B5F-EF4E-9590-B3FF96B03F7E}"/>
                </a:ext>
              </a:extLst>
            </p:cNvPr>
            <p:cNvCxnSpPr>
              <a:cxnSpLocks/>
            </p:cNvCxnSpPr>
            <p:nvPr/>
          </p:nvCxnSpPr>
          <p:spPr>
            <a:xfrm flipH="1">
              <a:off x="7611040" y="5811993"/>
              <a:ext cx="715982" cy="322317"/>
            </a:xfrm>
            <a:prstGeom prst="straightConnector1">
              <a:avLst/>
            </a:prstGeom>
            <a:ln w="254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4B223CF7-450D-A24B-AD77-C79EC99447B2}"/>
                </a:ext>
              </a:extLst>
            </p:cNvPr>
            <p:cNvCxnSpPr>
              <a:cxnSpLocks/>
            </p:cNvCxnSpPr>
            <p:nvPr/>
          </p:nvCxnSpPr>
          <p:spPr>
            <a:xfrm flipV="1">
              <a:off x="8327037" y="5121967"/>
              <a:ext cx="0" cy="688183"/>
            </a:xfrm>
            <a:prstGeom prst="straightConnector1">
              <a:avLst/>
            </a:prstGeom>
            <a:ln w="254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A38877CA-ECD2-804C-BA08-CEB081F73ECD}"/>
                </a:ext>
              </a:extLst>
            </p:cNvPr>
            <p:cNvCxnSpPr>
              <a:cxnSpLocks/>
            </p:cNvCxnSpPr>
            <p:nvPr/>
          </p:nvCxnSpPr>
          <p:spPr>
            <a:xfrm flipV="1">
              <a:off x="8327022" y="5547926"/>
              <a:ext cx="501493" cy="262226"/>
            </a:xfrm>
            <a:prstGeom prst="straightConnector1">
              <a:avLst/>
            </a:prstGeom>
            <a:ln w="50800" cap="rnd">
              <a:solidFill>
                <a:srgbClr val="CA251F"/>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50" name="Rectangle 49">
                  <a:extLst>
                    <a:ext uri="{FF2B5EF4-FFF2-40B4-BE49-F238E27FC236}">
                      <a16:creationId xmlns:a16="http://schemas.microsoft.com/office/drawing/2014/main" id="{E216F148-F68C-C64B-83F5-C5E2717487D1}"/>
                    </a:ext>
                  </a:extLst>
                </p:cNvPr>
                <p:cNvSpPr/>
                <p:nvPr/>
              </p:nvSpPr>
              <p:spPr>
                <a:xfrm>
                  <a:off x="5846738" y="5736003"/>
                  <a:ext cx="1139961" cy="483509"/>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sr-Latn-RS" b="0" i="0" smtClean="0">
                            <a:solidFill>
                              <a:schemeClr val="tx1"/>
                            </a:solidFill>
                            <a:latin typeface="Cambria Math" panose="02040503050406030204" pitchFamily="18" charset="0"/>
                          </a:rPr>
                          <m:t> </m:t>
                        </m:r>
                        <m:r>
                          <m:rPr>
                            <m:sty m:val="p"/>
                          </m:rPr>
                          <a:rPr lang="en-US" i="0">
                            <a:solidFill>
                              <a:schemeClr val="tx1"/>
                            </a:solidFill>
                            <a:latin typeface="Cambria Math" panose="02040503050406030204" pitchFamily="18" charset="0"/>
                          </a:rPr>
                          <m:t>U</m:t>
                        </m:r>
                        <m:r>
                          <a:rPr lang="en-US" b="0" i="0" smtClean="0">
                            <a:solidFill>
                              <a:schemeClr val="tx1"/>
                            </a:solidFill>
                            <a:latin typeface="Cambria Math" panose="02040503050406030204" pitchFamily="18" charset="0"/>
                          </a:rPr>
                          <m:t>(</m:t>
                        </m:r>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𝑡</m:t>
                            </m:r>
                          </m:e>
                          <m:sub>
                            <m:r>
                              <a:rPr lang="en-US" i="1">
                                <a:solidFill>
                                  <a:schemeClr val="tx1"/>
                                </a:solidFill>
                                <a:latin typeface="Cambria Math" panose="02040503050406030204" pitchFamily="18" charset="0"/>
                              </a:rPr>
                              <m:t>1</m:t>
                            </m:r>
                            <m:r>
                              <a:rPr lang="en-US" b="0" i="1" smtClean="0">
                                <a:solidFill>
                                  <a:schemeClr val="tx1"/>
                                </a:solidFill>
                                <a:latin typeface="Cambria Math" panose="02040503050406030204" pitchFamily="18" charset="0"/>
                              </a:rPr>
                              <m:t>,</m:t>
                            </m:r>
                          </m:sub>
                        </m:sSub>
                        <m:r>
                          <a:rPr lang="en-US" i="1">
                            <a:solidFill>
                              <a:schemeClr val="tx1"/>
                            </a:solidFill>
                            <a:latin typeface="Cambria Math" panose="02040503050406030204" pitchFamily="18" charset="0"/>
                          </a:rPr>
                          <m:t> </m:t>
                        </m:r>
                        <m:r>
                          <m:rPr>
                            <m:nor/>
                          </m:rPr>
                          <a:rPr lang="en-ZA" dirty="0">
                            <a:solidFill>
                              <a:schemeClr val="tx1"/>
                            </a:solidFill>
                          </a:rPr>
                          <m:t>​ </m:t>
                        </m:r>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𝑡</m:t>
                            </m:r>
                          </m:e>
                          <m:sub>
                            <m:r>
                              <a:rPr lang="en-US" i="1">
                                <a:solidFill>
                                  <a:schemeClr val="tx1"/>
                                </a:solidFill>
                                <a:latin typeface="Cambria Math" panose="02040503050406030204" pitchFamily="18" charset="0"/>
                              </a:rPr>
                              <m:t>2</m:t>
                            </m:r>
                          </m:sub>
                        </m:sSub>
                        <m:r>
                          <a:rPr lang="en-US" b="0" i="0" smtClean="0">
                            <a:solidFill>
                              <a:schemeClr val="tx1"/>
                            </a:solidFill>
                            <a:latin typeface="Cambria Math" panose="02040503050406030204" pitchFamily="18" charset="0"/>
                          </a:rPr>
                          <m:t>)</m:t>
                        </m:r>
                      </m:oMath>
                    </m:oMathPara>
                  </a14:m>
                  <a:endParaRPr lang="en-US" dirty="0">
                    <a:solidFill>
                      <a:schemeClr val="tx1"/>
                    </a:solidFill>
                    <a:latin typeface="Times" pitchFamily="2" charset="0"/>
                  </a:endParaRPr>
                </a:p>
              </p:txBody>
            </p:sp>
          </mc:Choice>
          <mc:Fallback>
            <p:sp>
              <p:nvSpPr>
                <p:cNvPr id="50" name="Rectangle 49">
                  <a:extLst>
                    <a:ext uri="{FF2B5EF4-FFF2-40B4-BE49-F238E27FC236}">
                      <a16:creationId xmlns:a16="http://schemas.microsoft.com/office/drawing/2014/main" id="{E216F148-F68C-C64B-83F5-C5E2717487D1}"/>
                    </a:ext>
                  </a:extLst>
                </p:cNvPr>
                <p:cNvSpPr>
                  <a:spLocks noRot="1" noChangeAspect="1" noMove="1" noResize="1" noEditPoints="1" noAdjustHandles="1" noChangeArrowheads="1" noChangeShapeType="1" noTextEdit="1"/>
                </p:cNvSpPr>
                <p:nvPr/>
              </p:nvSpPr>
              <p:spPr>
                <a:xfrm>
                  <a:off x="5846738" y="5736003"/>
                  <a:ext cx="1139961" cy="483509"/>
                </a:xfrm>
                <a:prstGeom prst="rect">
                  <a:avLst/>
                </a:prstGeom>
                <a:blipFill>
                  <a:blip r:embed="rId5"/>
                  <a:stretch>
                    <a:fillRect l="-2174"/>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1" name="Rectangle 50">
                  <a:extLst>
                    <a:ext uri="{FF2B5EF4-FFF2-40B4-BE49-F238E27FC236}">
                      <a16:creationId xmlns:a16="http://schemas.microsoft.com/office/drawing/2014/main" id="{4978E3BC-B385-3D4A-95AE-1DBD67723B4A}"/>
                    </a:ext>
                  </a:extLst>
                </p:cNvPr>
                <p:cNvSpPr/>
                <p:nvPr/>
              </p:nvSpPr>
              <p:spPr>
                <a:xfrm>
                  <a:off x="3848979" y="5398144"/>
                  <a:ext cx="60728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i="1" smtClean="0">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b="0" i="1" smtClean="0">
                                    <a:latin typeface="Cambria Math" panose="02040503050406030204" pitchFamily="18" charset="0"/>
                                  </a:rPr>
                                  <m:t>1</m:t>
                                </m:r>
                              </m:sub>
                            </m:sSub>
                          </m:e>
                        </m:d>
                      </m:oMath>
                    </m:oMathPara>
                  </a14:m>
                  <a:endParaRPr lang="en-US" dirty="0"/>
                </a:p>
              </p:txBody>
            </p:sp>
          </mc:Choice>
          <mc:Fallback>
            <p:sp>
              <p:nvSpPr>
                <p:cNvPr id="51" name="Rectangle 50">
                  <a:extLst>
                    <a:ext uri="{FF2B5EF4-FFF2-40B4-BE49-F238E27FC236}">
                      <a16:creationId xmlns:a16="http://schemas.microsoft.com/office/drawing/2014/main" id="{4978E3BC-B385-3D4A-95AE-1DBD67723B4A}"/>
                    </a:ext>
                  </a:extLst>
                </p:cNvPr>
                <p:cNvSpPr>
                  <a:spLocks noRot="1" noChangeAspect="1" noMove="1" noResize="1" noEditPoints="1" noAdjustHandles="1" noChangeArrowheads="1" noChangeShapeType="1" noTextEdit="1"/>
                </p:cNvSpPr>
                <p:nvPr/>
              </p:nvSpPr>
              <p:spPr>
                <a:xfrm>
                  <a:off x="3848979" y="5398144"/>
                  <a:ext cx="607281"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2" name="Rectangle 51">
                  <a:extLst>
                    <a:ext uri="{FF2B5EF4-FFF2-40B4-BE49-F238E27FC236}">
                      <a16:creationId xmlns:a16="http://schemas.microsoft.com/office/drawing/2014/main" id="{C80B034E-BF68-3A42-B50C-87332B957B82}"/>
                    </a:ext>
                  </a:extLst>
                </p:cNvPr>
                <p:cNvSpPr/>
                <p:nvPr/>
              </p:nvSpPr>
              <p:spPr>
                <a:xfrm>
                  <a:off x="8740089" y="5593313"/>
                  <a:ext cx="612604"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i="1" smtClean="0">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b="0" i="1" smtClean="0">
                                    <a:latin typeface="Cambria Math" panose="02040503050406030204" pitchFamily="18" charset="0"/>
                                  </a:rPr>
                                  <m:t>2</m:t>
                                </m:r>
                              </m:sub>
                            </m:sSub>
                          </m:e>
                        </m:d>
                      </m:oMath>
                    </m:oMathPara>
                  </a14:m>
                  <a:endParaRPr lang="en-US" dirty="0"/>
                </a:p>
              </p:txBody>
            </p:sp>
          </mc:Choice>
          <mc:Fallback>
            <p:sp>
              <p:nvSpPr>
                <p:cNvPr id="52" name="Rectangle 51">
                  <a:extLst>
                    <a:ext uri="{FF2B5EF4-FFF2-40B4-BE49-F238E27FC236}">
                      <a16:creationId xmlns:a16="http://schemas.microsoft.com/office/drawing/2014/main" id="{C80B034E-BF68-3A42-B50C-87332B957B82}"/>
                    </a:ext>
                  </a:extLst>
                </p:cNvPr>
                <p:cNvSpPr>
                  <a:spLocks noRot="1" noChangeAspect="1" noMove="1" noResize="1" noEditPoints="1" noAdjustHandles="1" noChangeArrowheads="1" noChangeShapeType="1" noTextEdit="1"/>
                </p:cNvSpPr>
                <p:nvPr/>
              </p:nvSpPr>
              <p:spPr>
                <a:xfrm>
                  <a:off x="8740089" y="5593313"/>
                  <a:ext cx="612604" cy="369332"/>
                </a:xfrm>
                <a:prstGeom prst="rect">
                  <a:avLst/>
                </a:prstGeom>
                <a:blipFill>
                  <a:blip r:embed="rId7"/>
                  <a:stretch>
                    <a:fillRect/>
                  </a:stretch>
                </a:blipFill>
              </p:spPr>
              <p:txBody>
                <a:bodyPr/>
                <a:lstStyle/>
                <a:p>
                  <a:r>
                    <a:rPr lang="en-US">
                      <a:noFill/>
                    </a:rPr>
                    <a:t> </a:t>
                  </a:r>
                </a:p>
              </p:txBody>
            </p:sp>
          </mc:Fallback>
        </mc:AlternateContent>
      </p:grpSp>
    </p:spTree>
    <p:extLst>
      <p:ext uri="{BB962C8B-B14F-4D97-AF65-F5344CB8AC3E}">
        <p14:creationId xmlns:p14="http://schemas.microsoft.com/office/powerpoint/2010/main" val="8692091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Right Arrow 68">
            <a:extLst>
              <a:ext uri="{FF2B5EF4-FFF2-40B4-BE49-F238E27FC236}">
                <a16:creationId xmlns:a16="http://schemas.microsoft.com/office/drawing/2014/main" id="{4B4402EE-90DA-D344-8E69-8FFDBDBBEEF1}"/>
              </a:ext>
            </a:extLst>
          </p:cNvPr>
          <p:cNvSpPr/>
          <p:nvPr/>
        </p:nvSpPr>
        <p:spPr>
          <a:xfrm>
            <a:off x="7392985" y="2808408"/>
            <a:ext cx="1940207" cy="1005945"/>
          </a:xfrm>
          <a:prstGeom prst="rightArrow">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ight Arrow 8">
            <a:extLst>
              <a:ext uri="{FF2B5EF4-FFF2-40B4-BE49-F238E27FC236}">
                <a16:creationId xmlns:a16="http://schemas.microsoft.com/office/drawing/2014/main" id="{EB1FA2EF-9DDE-6548-881E-F197122C29A8}"/>
              </a:ext>
            </a:extLst>
          </p:cNvPr>
          <p:cNvSpPr/>
          <p:nvPr/>
        </p:nvSpPr>
        <p:spPr>
          <a:xfrm>
            <a:off x="2951228" y="2899167"/>
            <a:ext cx="1940207" cy="1005945"/>
          </a:xfrm>
          <a:prstGeom prst="rightArrow">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 3">
            <a:extLst>
              <a:ext uri="{FF2B5EF4-FFF2-40B4-BE49-F238E27FC236}">
                <a16:creationId xmlns:a16="http://schemas.microsoft.com/office/drawing/2014/main" id="{0F921DFA-682E-C84F-86FA-02BF1F76994A}"/>
              </a:ext>
            </a:extLst>
          </p:cNvPr>
          <p:cNvGrpSpPr>
            <a:grpSpLocks noChangeAspect="1"/>
          </p:cNvGrpSpPr>
          <p:nvPr/>
        </p:nvGrpSpPr>
        <p:grpSpPr>
          <a:xfrm>
            <a:off x="537503" y="2216418"/>
            <a:ext cx="2200758" cy="2160000"/>
            <a:chOff x="316477" y="1599032"/>
            <a:chExt cx="3029421" cy="2973316"/>
          </a:xfrm>
        </p:grpSpPr>
        <p:sp>
          <p:nvSpPr>
            <p:cNvPr id="8" name="Oval 7">
              <a:extLst>
                <a:ext uri="{FF2B5EF4-FFF2-40B4-BE49-F238E27FC236}">
                  <a16:creationId xmlns:a16="http://schemas.microsoft.com/office/drawing/2014/main" id="{5637E2A5-D3EE-ED4D-A804-4AF57BEC2583}"/>
                </a:ext>
              </a:extLst>
            </p:cNvPr>
            <p:cNvSpPr>
              <a:spLocks noChangeAspect="1"/>
            </p:cNvSpPr>
            <p:nvPr/>
          </p:nvSpPr>
          <p:spPr>
            <a:xfrm>
              <a:off x="465898" y="1692347"/>
              <a:ext cx="2880000" cy="2880001"/>
            </a:xfrm>
            <a:prstGeom prst="ellipse">
              <a:avLst/>
            </a:prstGeom>
            <a:gradFill>
              <a:gsLst>
                <a:gs pos="0">
                  <a:schemeClr val="accent1">
                    <a:lumMod val="5000"/>
                    <a:lumOff val="95000"/>
                  </a:schemeClr>
                </a:gs>
                <a:gs pos="100000">
                  <a:schemeClr val="accent5">
                    <a:lumMod val="20000"/>
                    <a:lumOff val="8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0729375F-3F96-BF47-8296-8FDCE2AA8593}"/>
                </a:ext>
              </a:extLst>
            </p:cNvPr>
            <p:cNvSpPr/>
            <p:nvPr/>
          </p:nvSpPr>
          <p:spPr>
            <a:xfrm>
              <a:off x="465897" y="2747947"/>
              <a:ext cx="2880001" cy="925922"/>
            </a:xfrm>
            <a:prstGeom prst="ellipse">
              <a:avLst/>
            </a:prstGeom>
            <a:solidFill>
              <a:schemeClr val="bg1">
                <a:lumMod val="85000"/>
                <a:alpha val="2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Arrow Connector 13">
              <a:extLst>
                <a:ext uri="{FF2B5EF4-FFF2-40B4-BE49-F238E27FC236}">
                  <a16:creationId xmlns:a16="http://schemas.microsoft.com/office/drawing/2014/main" id="{DFEFECD0-77A4-D042-90F0-C7FE7D39B97A}"/>
                </a:ext>
              </a:extLst>
            </p:cNvPr>
            <p:cNvCxnSpPr>
              <a:cxnSpLocks/>
            </p:cNvCxnSpPr>
            <p:nvPr/>
          </p:nvCxnSpPr>
          <p:spPr>
            <a:xfrm>
              <a:off x="1858710" y="3093783"/>
              <a:ext cx="1101664" cy="829796"/>
            </a:xfrm>
            <a:prstGeom prst="straightConnector1">
              <a:avLst/>
            </a:prstGeom>
            <a:ln w="254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1FCB9D7B-56E3-824D-9A62-CD41BE431211}"/>
                </a:ext>
              </a:extLst>
            </p:cNvPr>
            <p:cNvCxnSpPr>
              <a:cxnSpLocks/>
            </p:cNvCxnSpPr>
            <p:nvPr/>
          </p:nvCxnSpPr>
          <p:spPr>
            <a:xfrm flipH="1">
              <a:off x="316477" y="3098317"/>
              <a:ext cx="1554844" cy="700329"/>
            </a:xfrm>
            <a:prstGeom prst="straightConnector1">
              <a:avLst/>
            </a:prstGeom>
            <a:ln w="254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0FB1C61E-0DE2-BB4E-97DA-3B740F680A8D}"/>
                </a:ext>
              </a:extLst>
            </p:cNvPr>
            <p:cNvCxnSpPr>
              <a:cxnSpLocks/>
            </p:cNvCxnSpPr>
            <p:nvPr/>
          </p:nvCxnSpPr>
          <p:spPr>
            <a:xfrm flipV="1">
              <a:off x="1871353" y="1599032"/>
              <a:ext cx="0" cy="1495282"/>
            </a:xfrm>
            <a:prstGeom prst="straightConnector1">
              <a:avLst/>
            </a:prstGeom>
            <a:ln w="254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9C1C9201-0825-0746-A00A-69E563369970}"/>
                </a:ext>
              </a:extLst>
            </p:cNvPr>
            <p:cNvCxnSpPr>
              <a:cxnSpLocks/>
            </p:cNvCxnSpPr>
            <p:nvPr/>
          </p:nvCxnSpPr>
          <p:spPr>
            <a:xfrm flipH="1" flipV="1">
              <a:off x="1103518" y="2334159"/>
              <a:ext cx="767787" cy="755589"/>
            </a:xfrm>
            <a:prstGeom prst="straightConnector1">
              <a:avLst/>
            </a:prstGeom>
            <a:ln w="50800" cap="rnd">
              <a:solidFill>
                <a:srgbClr val="CA251F"/>
              </a:solidFill>
              <a:tailEnd type="triangle"/>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5E36CBEA-D5FF-234E-8BDB-0D6CFAD2E15F}"/>
              </a:ext>
            </a:extLst>
          </p:cNvPr>
          <p:cNvSpPr>
            <a:spLocks noGrp="1"/>
          </p:cNvSpPr>
          <p:nvPr>
            <p:ph type="title"/>
          </p:nvPr>
        </p:nvSpPr>
        <p:spPr>
          <a:xfrm>
            <a:off x="0" y="0"/>
            <a:ext cx="12192000" cy="928688"/>
          </a:xfrm>
        </p:spPr>
        <p:txBody>
          <a:bodyPr/>
          <a:lstStyle/>
          <a:p>
            <a:r>
              <a:rPr lang="en-ZA" dirty="0"/>
              <a:t>Reversibility of Quantum Operations</a:t>
            </a:r>
            <a:endParaRPr lang="en-US" dirty="0"/>
          </a:p>
        </p:txBody>
      </p:sp>
      <p:sp>
        <p:nvSpPr>
          <p:cNvPr id="3" name="Slide Number Placeholder 2">
            <a:extLst>
              <a:ext uri="{FF2B5EF4-FFF2-40B4-BE49-F238E27FC236}">
                <a16:creationId xmlns:a16="http://schemas.microsoft.com/office/drawing/2014/main" id="{A2E09BC1-BD91-374F-B952-6FB7BE7B3248}"/>
              </a:ext>
            </a:extLst>
          </p:cNvPr>
          <p:cNvSpPr>
            <a:spLocks noGrp="1"/>
          </p:cNvSpPr>
          <p:nvPr>
            <p:ph type="sldNum" sz="quarter" idx="12"/>
          </p:nvPr>
        </p:nvSpPr>
        <p:spPr/>
        <p:txBody>
          <a:bodyPr/>
          <a:lstStyle/>
          <a:p>
            <a:fld id="{591A223C-FA10-BC46-A853-03BA373D023C}" type="slidenum">
              <a:rPr lang="en-US" smtClean="0"/>
              <a:t>9</a:t>
            </a:fld>
            <a:endParaRPr lang="en-US" dirty="0"/>
          </a:p>
        </p:txBody>
      </p:sp>
      <mc:AlternateContent xmlns:mc="http://schemas.openxmlformats.org/markup-compatibility/2006">
        <mc:Choice xmlns:a14="http://schemas.microsoft.com/office/drawing/2010/main" Requires="a14">
          <p:sp>
            <p:nvSpPr>
              <p:cNvPr id="6" name="Rectangle 5">
                <a:extLst>
                  <a:ext uri="{FF2B5EF4-FFF2-40B4-BE49-F238E27FC236}">
                    <a16:creationId xmlns:a16="http://schemas.microsoft.com/office/drawing/2014/main" id="{2A813396-A704-7041-8395-E9F9C895F994}"/>
                  </a:ext>
                </a:extLst>
              </p:cNvPr>
              <p:cNvSpPr/>
              <p:nvPr/>
            </p:nvSpPr>
            <p:spPr>
              <a:xfrm>
                <a:off x="2881014" y="4269308"/>
                <a:ext cx="2080634" cy="74655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m>
                        <m:mPr>
                          <m:mcs>
                            <m:mc>
                              <m:mcPr>
                                <m:count m:val="1"/>
                                <m:mcJc m:val="center"/>
                              </m:mcPr>
                            </m:mc>
                          </m:mcs>
                          <m:ctrlPr>
                            <a:rPr lang="en-US" sz="3200" i="1" smtClean="0">
                              <a:solidFill>
                                <a:schemeClr val="tx1"/>
                              </a:solidFill>
                              <a:latin typeface="Cambria Math" panose="02040503050406030204" pitchFamily="18" charset="0"/>
                            </a:rPr>
                          </m:ctrlPr>
                        </m:mPr>
                        <m:mr>
                          <m:e>
                            <m:d>
                              <m:dPr>
                                <m:begChr m:val="|"/>
                                <m:endChr m:val="⟩"/>
                                <m:ctrlPr>
                                  <a:rPr lang="en-US" sz="3200" i="1">
                                    <a:solidFill>
                                      <a:schemeClr val="tx1"/>
                                    </a:solidFill>
                                    <a:latin typeface="Cambria Math" panose="02040503050406030204" pitchFamily="18" charset="0"/>
                                  </a:rPr>
                                </m:ctrlPr>
                              </m:dPr>
                              <m:e>
                                <m:sSub>
                                  <m:sSubPr>
                                    <m:ctrlPr>
                                      <a:rPr lang="en-US" sz="3200" i="1" smtClean="0">
                                        <a:solidFill>
                                          <a:schemeClr val="tx1"/>
                                        </a:solidFill>
                                        <a:latin typeface="Cambria Math" panose="02040503050406030204" pitchFamily="18" charset="0"/>
                                      </a:rPr>
                                    </m:ctrlPr>
                                  </m:sSubPr>
                                  <m:e>
                                    <m:r>
                                      <a:rPr lang="en-US" sz="3200" b="0" i="1" smtClean="0">
                                        <a:solidFill>
                                          <a:schemeClr val="tx1"/>
                                        </a:solidFill>
                                        <a:latin typeface="Cambria Math" panose="02040503050406030204" pitchFamily="18" charset="0"/>
                                      </a:rPr>
                                      <m:t>𝑆</m:t>
                                    </m:r>
                                  </m:e>
                                  <m:sub>
                                    <m:r>
                                      <a:rPr lang="en-US" sz="3200" b="0" i="1" smtClean="0">
                                        <a:solidFill>
                                          <a:schemeClr val="tx1"/>
                                        </a:solidFill>
                                        <a:latin typeface="Cambria Math" panose="02040503050406030204" pitchFamily="18" charset="0"/>
                                      </a:rPr>
                                      <m:t>1</m:t>
                                    </m:r>
                                  </m:sub>
                                </m:sSub>
                              </m:e>
                            </m:d>
                            <m:groupChr>
                              <m:groupChrPr>
                                <m:chr m:val="→"/>
                                <m:vertJc m:val="bot"/>
                                <m:ctrlPr>
                                  <a:rPr lang="en-US" sz="3200" i="1" smtClean="0">
                                    <a:solidFill>
                                      <a:schemeClr val="tx1"/>
                                    </a:solidFill>
                                    <a:latin typeface="Cambria Math" panose="02040503050406030204" pitchFamily="18" charset="0"/>
                                  </a:rPr>
                                </m:ctrlPr>
                              </m:groupChrPr>
                              <m:e>
                                <m:r>
                                  <m:rPr>
                                    <m:brk m:alnAt="2"/>
                                  </m:rPr>
                                  <a:rPr lang="en-US" sz="3200" b="0" i="1" smtClean="0">
                                    <a:solidFill>
                                      <a:schemeClr val="tx1"/>
                                    </a:solidFill>
                                    <a:latin typeface="Cambria Math" panose="02040503050406030204" pitchFamily="18" charset="0"/>
                                  </a:rPr>
                                  <m:t>𝑈</m:t>
                                </m:r>
                              </m:e>
                            </m:groupChr>
                            <m:d>
                              <m:dPr>
                                <m:begChr m:val="|"/>
                                <m:endChr m:val="⟩"/>
                                <m:ctrlPr>
                                  <a:rPr lang="en-US" sz="3200" i="1">
                                    <a:solidFill>
                                      <a:schemeClr val="tx1"/>
                                    </a:solidFill>
                                    <a:latin typeface="Cambria Math" panose="02040503050406030204" pitchFamily="18" charset="0"/>
                                  </a:rPr>
                                </m:ctrlPr>
                              </m:dPr>
                              <m:e>
                                <m:sSub>
                                  <m:sSubPr>
                                    <m:ctrlPr>
                                      <a:rPr lang="en-US" sz="3200" i="1">
                                        <a:solidFill>
                                          <a:schemeClr val="tx1"/>
                                        </a:solidFill>
                                        <a:latin typeface="Cambria Math" panose="02040503050406030204" pitchFamily="18" charset="0"/>
                                      </a:rPr>
                                    </m:ctrlPr>
                                  </m:sSubPr>
                                  <m:e>
                                    <m:r>
                                      <a:rPr lang="en-US" sz="3200" i="1">
                                        <a:solidFill>
                                          <a:schemeClr val="tx1"/>
                                        </a:solidFill>
                                        <a:latin typeface="Cambria Math" panose="02040503050406030204" pitchFamily="18" charset="0"/>
                                      </a:rPr>
                                      <m:t>𝑆</m:t>
                                    </m:r>
                                  </m:e>
                                  <m:sub>
                                    <m:r>
                                      <a:rPr lang="en-US" sz="3200" b="0" i="1" smtClean="0">
                                        <a:solidFill>
                                          <a:schemeClr val="tx1"/>
                                        </a:solidFill>
                                        <a:latin typeface="Cambria Math" panose="02040503050406030204" pitchFamily="18" charset="0"/>
                                      </a:rPr>
                                      <m:t>2</m:t>
                                    </m:r>
                                  </m:sub>
                                </m:sSub>
                              </m:e>
                            </m:d>
                          </m:e>
                        </m:mr>
                      </m:m>
                    </m:oMath>
                  </m:oMathPara>
                </a14:m>
                <a:endParaRPr lang="en-US" sz="3200" dirty="0">
                  <a:solidFill>
                    <a:schemeClr val="tx1"/>
                  </a:solidFill>
                </a:endParaRPr>
              </a:p>
            </p:txBody>
          </p:sp>
        </mc:Choice>
        <mc:Fallback>
          <p:sp>
            <p:nvSpPr>
              <p:cNvPr id="6" name="Rectangle 5">
                <a:extLst>
                  <a:ext uri="{FF2B5EF4-FFF2-40B4-BE49-F238E27FC236}">
                    <a16:creationId xmlns:a16="http://schemas.microsoft.com/office/drawing/2014/main" id="{2A813396-A704-7041-8395-E9F9C895F994}"/>
                  </a:ext>
                </a:extLst>
              </p:cNvPr>
              <p:cNvSpPr>
                <a:spLocks noRot="1" noChangeAspect="1" noMove="1" noResize="1" noEditPoints="1" noAdjustHandles="1" noChangeArrowheads="1" noChangeShapeType="1" noTextEdit="1"/>
              </p:cNvSpPr>
              <p:nvPr/>
            </p:nvSpPr>
            <p:spPr>
              <a:xfrm>
                <a:off x="2881014" y="4269308"/>
                <a:ext cx="2080634" cy="746551"/>
              </a:xfrm>
              <a:prstGeom prst="rect">
                <a:avLst/>
              </a:prstGeom>
              <a:blipFill>
                <a:blip r:embed="rId3"/>
                <a:stretch>
                  <a:fillRect b="-54237"/>
                </a:stretch>
              </a:blipFill>
            </p:spPr>
            <p:txBody>
              <a:bodyPr/>
              <a:lstStyle/>
              <a:p>
                <a:r>
                  <a:rPr lang="en-US">
                    <a:noFill/>
                  </a:rPr>
                  <a:t> </a:t>
                </a:r>
              </a:p>
            </p:txBody>
          </p:sp>
        </mc:Fallback>
      </mc:AlternateContent>
      <p:grpSp>
        <p:nvGrpSpPr>
          <p:cNvPr id="7" name="Group 6">
            <a:extLst>
              <a:ext uri="{FF2B5EF4-FFF2-40B4-BE49-F238E27FC236}">
                <a16:creationId xmlns:a16="http://schemas.microsoft.com/office/drawing/2014/main" id="{60824AB2-0F51-F34D-8E9D-D956E4AAB1A1}"/>
              </a:ext>
            </a:extLst>
          </p:cNvPr>
          <p:cNvGrpSpPr>
            <a:grpSpLocks noChangeAspect="1"/>
          </p:cNvGrpSpPr>
          <p:nvPr/>
        </p:nvGrpSpPr>
        <p:grpSpPr>
          <a:xfrm>
            <a:off x="4945838" y="2030210"/>
            <a:ext cx="2077317" cy="2160000"/>
            <a:chOff x="4542307" y="1420647"/>
            <a:chExt cx="3029421" cy="3151701"/>
          </a:xfrm>
        </p:grpSpPr>
        <p:sp>
          <p:nvSpPr>
            <p:cNvPr id="35" name="Oval 34">
              <a:extLst>
                <a:ext uri="{FF2B5EF4-FFF2-40B4-BE49-F238E27FC236}">
                  <a16:creationId xmlns:a16="http://schemas.microsoft.com/office/drawing/2014/main" id="{D1C4D7C7-53CB-FA47-91FF-BC73E76D5C60}"/>
                </a:ext>
              </a:extLst>
            </p:cNvPr>
            <p:cNvSpPr>
              <a:spLocks noChangeAspect="1"/>
            </p:cNvSpPr>
            <p:nvPr/>
          </p:nvSpPr>
          <p:spPr>
            <a:xfrm>
              <a:off x="4691728" y="1692347"/>
              <a:ext cx="2880000" cy="2880001"/>
            </a:xfrm>
            <a:prstGeom prst="ellipse">
              <a:avLst/>
            </a:prstGeom>
            <a:gradFill>
              <a:gsLst>
                <a:gs pos="0">
                  <a:schemeClr val="accent1">
                    <a:lumMod val="5000"/>
                    <a:lumOff val="95000"/>
                  </a:schemeClr>
                </a:gs>
                <a:gs pos="100000">
                  <a:schemeClr val="accent5">
                    <a:lumMod val="20000"/>
                    <a:lumOff val="8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F12718E4-62C9-B04E-99F1-3641216C136B}"/>
                </a:ext>
              </a:extLst>
            </p:cNvPr>
            <p:cNvSpPr/>
            <p:nvPr/>
          </p:nvSpPr>
          <p:spPr>
            <a:xfrm>
              <a:off x="4691727" y="2747947"/>
              <a:ext cx="2880001" cy="925922"/>
            </a:xfrm>
            <a:prstGeom prst="ellipse">
              <a:avLst/>
            </a:prstGeom>
            <a:solidFill>
              <a:schemeClr val="bg1">
                <a:lumMod val="85000"/>
                <a:alpha val="2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0" name="Straight Arrow Connector 39">
              <a:extLst>
                <a:ext uri="{FF2B5EF4-FFF2-40B4-BE49-F238E27FC236}">
                  <a16:creationId xmlns:a16="http://schemas.microsoft.com/office/drawing/2014/main" id="{D0DC522A-2C12-2D4D-911F-0D442D1FCC69}"/>
                </a:ext>
              </a:extLst>
            </p:cNvPr>
            <p:cNvCxnSpPr>
              <a:cxnSpLocks/>
            </p:cNvCxnSpPr>
            <p:nvPr/>
          </p:nvCxnSpPr>
          <p:spPr>
            <a:xfrm>
              <a:off x="6084540" y="3093783"/>
              <a:ext cx="1101664" cy="829796"/>
            </a:xfrm>
            <a:prstGeom prst="straightConnector1">
              <a:avLst/>
            </a:prstGeom>
            <a:ln w="254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26D905A3-DF91-074D-8D0F-D184A7C3EE85}"/>
                </a:ext>
              </a:extLst>
            </p:cNvPr>
            <p:cNvCxnSpPr>
              <a:cxnSpLocks/>
            </p:cNvCxnSpPr>
            <p:nvPr/>
          </p:nvCxnSpPr>
          <p:spPr>
            <a:xfrm flipH="1">
              <a:off x="4542307" y="3098317"/>
              <a:ext cx="1554844" cy="700329"/>
            </a:xfrm>
            <a:prstGeom prst="straightConnector1">
              <a:avLst/>
            </a:prstGeom>
            <a:ln w="254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F592CD5B-5869-094E-8F90-85337E9ABB2C}"/>
                </a:ext>
              </a:extLst>
            </p:cNvPr>
            <p:cNvCxnSpPr>
              <a:cxnSpLocks/>
            </p:cNvCxnSpPr>
            <p:nvPr/>
          </p:nvCxnSpPr>
          <p:spPr>
            <a:xfrm flipV="1">
              <a:off x="6097183" y="1599032"/>
              <a:ext cx="0" cy="1495282"/>
            </a:xfrm>
            <a:prstGeom prst="straightConnector1">
              <a:avLst/>
            </a:prstGeom>
            <a:ln w="254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BD8C4717-271B-CD41-8ED3-FB8DEFCB26B4}"/>
                </a:ext>
              </a:extLst>
            </p:cNvPr>
            <p:cNvCxnSpPr>
              <a:cxnSpLocks/>
            </p:cNvCxnSpPr>
            <p:nvPr/>
          </p:nvCxnSpPr>
          <p:spPr>
            <a:xfrm flipV="1">
              <a:off x="6097151" y="2338727"/>
              <a:ext cx="767787" cy="755589"/>
            </a:xfrm>
            <a:prstGeom prst="straightConnector1">
              <a:avLst/>
            </a:prstGeom>
            <a:ln w="50800" cap="rnd">
              <a:solidFill>
                <a:srgbClr val="CA251F"/>
              </a:solidFill>
              <a:tailEnd type="triangle"/>
            </a:ln>
          </p:spPr>
          <p:style>
            <a:lnRef idx="1">
              <a:schemeClr val="accent1"/>
            </a:lnRef>
            <a:fillRef idx="0">
              <a:schemeClr val="accent1"/>
            </a:fillRef>
            <a:effectRef idx="0">
              <a:schemeClr val="accent1"/>
            </a:effectRef>
            <a:fontRef idx="minor">
              <a:schemeClr val="tx1"/>
            </a:fontRef>
          </p:style>
        </p:cxnSp>
        <p:sp>
          <p:nvSpPr>
            <p:cNvPr id="45" name="Arc 44">
              <a:extLst>
                <a:ext uri="{FF2B5EF4-FFF2-40B4-BE49-F238E27FC236}">
                  <a16:creationId xmlns:a16="http://schemas.microsoft.com/office/drawing/2014/main" id="{E5785E47-BA57-5540-9C95-F5D7184C387E}"/>
                </a:ext>
              </a:extLst>
            </p:cNvPr>
            <p:cNvSpPr/>
            <p:nvPr/>
          </p:nvSpPr>
          <p:spPr>
            <a:xfrm rot="14912671" flipH="1">
              <a:off x="5669455" y="1315487"/>
              <a:ext cx="1051939" cy="1262260"/>
            </a:xfrm>
            <a:prstGeom prst="arc">
              <a:avLst>
                <a:gd name="adj1" fmla="val 16877940"/>
                <a:gd name="adj2" fmla="val 1537843"/>
              </a:avLst>
            </a:prstGeom>
            <a:ln w="381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mc:AlternateContent xmlns:mc="http://schemas.openxmlformats.org/markup-compatibility/2006">
        <mc:Choice xmlns:a14="http://schemas.microsoft.com/office/drawing/2010/main" Requires="a14">
          <p:sp>
            <p:nvSpPr>
              <p:cNvPr id="48" name="Rectangle 47">
                <a:extLst>
                  <a:ext uri="{FF2B5EF4-FFF2-40B4-BE49-F238E27FC236}">
                    <a16:creationId xmlns:a16="http://schemas.microsoft.com/office/drawing/2014/main" id="{871C7EDA-E077-E844-9F81-34E7E21091E9}"/>
                  </a:ext>
                </a:extLst>
              </p:cNvPr>
              <p:cNvSpPr/>
              <p:nvPr/>
            </p:nvSpPr>
            <p:spPr>
              <a:xfrm>
                <a:off x="3470017" y="3051061"/>
                <a:ext cx="720000" cy="720000"/>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sr-Latn-RS" sz="3600" b="0" i="0" smtClean="0">
                          <a:solidFill>
                            <a:schemeClr val="tx1"/>
                          </a:solidFill>
                          <a:latin typeface="Cambria Math" panose="02040503050406030204" pitchFamily="18" charset="0"/>
                        </a:rPr>
                        <m:t> </m:t>
                      </m:r>
                      <m:r>
                        <a:rPr lang="en-US" sz="3600" i="1">
                          <a:solidFill>
                            <a:schemeClr val="tx1"/>
                          </a:solidFill>
                          <a:latin typeface="Cambria Math" panose="02040503050406030204" pitchFamily="18" charset="0"/>
                        </a:rPr>
                        <m:t>𝑈</m:t>
                      </m:r>
                    </m:oMath>
                  </m:oMathPara>
                </a14:m>
                <a:endParaRPr lang="en-US" sz="3600" i="1" dirty="0">
                  <a:solidFill>
                    <a:schemeClr val="tx1"/>
                  </a:solidFill>
                  <a:latin typeface="Times" pitchFamily="2" charset="0"/>
                </a:endParaRPr>
              </a:p>
            </p:txBody>
          </p:sp>
        </mc:Choice>
        <mc:Fallback>
          <p:sp>
            <p:nvSpPr>
              <p:cNvPr id="48" name="Rectangle 47">
                <a:extLst>
                  <a:ext uri="{FF2B5EF4-FFF2-40B4-BE49-F238E27FC236}">
                    <a16:creationId xmlns:a16="http://schemas.microsoft.com/office/drawing/2014/main" id="{871C7EDA-E077-E844-9F81-34E7E21091E9}"/>
                  </a:ext>
                </a:extLst>
              </p:cNvPr>
              <p:cNvSpPr>
                <a:spLocks noRot="1" noChangeAspect="1" noMove="1" noResize="1" noEditPoints="1" noAdjustHandles="1" noChangeArrowheads="1" noChangeShapeType="1" noTextEdit="1"/>
              </p:cNvSpPr>
              <p:nvPr/>
            </p:nvSpPr>
            <p:spPr>
              <a:xfrm>
                <a:off x="3470017" y="3051061"/>
                <a:ext cx="720000" cy="720000"/>
              </a:xfrm>
              <a:prstGeom prst="rect">
                <a:avLst/>
              </a:prstGeom>
              <a:blipFill>
                <a:blip r:embed="rId4"/>
                <a:stretch>
                  <a:fillRect l="-16949" b="-1379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9" name="Rectangle 48">
                <a:extLst>
                  <a:ext uri="{FF2B5EF4-FFF2-40B4-BE49-F238E27FC236}">
                    <a16:creationId xmlns:a16="http://schemas.microsoft.com/office/drawing/2014/main" id="{751AC6C7-BBE8-CC49-9490-7CB94A0A0C10}"/>
                  </a:ext>
                </a:extLst>
              </p:cNvPr>
              <p:cNvSpPr/>
              <p:nvPr/>
            </p:nvSpPr>
            <p:spPr>
              <a:xfrm>
                <a:off x="7865484" y="2921054"/>
                <a:ext cx="720000" cy="720000"/>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p>
                        <m:sSupPr>
                          <m:ctrlPr>
                            <a:rPr lang="en-US" sz="3600" i="1" smtClean="0">
                              <a:solidFill>
                                <a:schemeClr val="tx1"/>
                              </a:solidFill>
                              <a:latin typeface="Cambria Math" panose="02040503050406030204" pitchFamily="18" charset="0"/>
                            </a:rPr>
                          </m:ctrlPr>
                        </m:sSupPr>
                        <m:e>
                          <m:r>
                            <a:rPr lang="sr-Latn-RS" sz="3600" b="0" i="0" smtClean="0">
                              <a:solidFill>
                                <a:schemeClr val="tx1"/>
                              </a:solidFill>
                              <a:latin typeface="Cambria Math" panose="02040503050406030204" pitchFamily="18" charset="0"/>
                            </a:rPr>
                            <m:t> </m:t>
                          </m:r>
                          <m:r>
                            <a:rPr lang="en-US" sz="3600" i="1">
                              <a:solidFill>
                                <a:schemeClr val="tx1"/>
                              </a:solidFill>
                              <a:latin typeface="Cambria Math" panose="02040503050406030204" pitchFamily="18" charset="0"/>
                            </a:rPr>
                            <m:t>𝑈</m:t>
                          </m:r>
                        </m:e>
                        <m:sup>
                          <m:r>
                            <a:rPr lang="en-US" sz="3600" i="1">
                              <a:solidFill>
                                <a:schemeClr val="tx1"/>
                              </a:solidFill>
                              <a:latin typeface="Cambria Math" panose="02040503050406030204" pitchFamily="18" charset="0"/>
                              <a:ea typeface="Cambria Math" panose="02040503050406030204" pitchFamily="18" charset="0"/>
                            </a:rPr>
                            <m:t>†</m:t>
                          </m:r>
                        </m:sup>
                      </m:sSup>
                    </m:oMath>
                  </m:oMathPara>
                </a14:m>
                <a:endParaRPr lang="en-US" sz="3600" dirty="0">
                  <a:solidFill>
                    <a:schemeClr val="tx1"/>
                  </a:solidFill>
                  <a:latin typeface="Times" pitchFamily="2" charset="0"/>
                </a:endParaRPr>
              </a:p>
            </p:txBody>
          </p:sp>
        </mc:Choice>
        <mc:Fallback>
          <p:sp>
            <p:nvSpPr>
              <p:cNvPr id="49" name="Rectangle 48">
                <a:extLst>
                  <a:ext uri="{FF2B5EF4-FFF2-40B4-BE49-F238E27FC236}">
                    <a16:creationId xmlns:a16="http://schemas.microsoft.com/office/drawing/2014/main" id="{751AC6C7-BBE8-CC49-9490-7CB94A0A0C10}"/>
                  </a:ext>
                </a:extLst>
              </p:cNvPr>
              <p:cNvSpPr>
                <a:spLocks noRot="1" noChangeAspect="1" noMove="1" noResize="1" noEditPoints="1" noAdjustHandles="1" noChangeArrowheads="1" noChangeShapeType="1" noTextEdit="1"/>
              </p:cNvSpPr>
              <p:nvPr/>
            </p:nvSpPr>
            <p:spPr>
              <a:xfrm>
                <a:off x="7865484" y="2921054"/>
                <a:ext cx="720000" cy="720000"/>
              </a:xfrm>
              <a:prstGeom prst="rect">
                <a:avLst/>
              </a:prstGeom>
              <a:blipFill>
                <a:blip r:embed="rId5"/>
                <a:stretch>
                  <a:fillRect l="-32203" r="-1695" b="-13559"/>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0" name="Rectangle 49">
                <a:extLst>
                  <a:ext uri="{FF2B5EF4-FFF2-40B4-BE49-F238E27FC236}">
                    <a16:creationId xmlns:a16="http://schemas.microsoft.com/office/drawing/2014/main" id="{C3EF324F-FE1E-A044-B9ED-F3A4B3CBD651}"/>
                  </a:ext>
                </a:extLst>
              </p:cNvPr>
              <p:cNvSpPr/>
              <p:nvPr/>
            </p:nvSpPr>
            <p:spPr>
              <a:xfrm>
                <a:off x="206769" y="2391271"/>
                <a:ext cx="842987"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i="1" smtClean="0">
                              <a:latin typeface="Cambria Math" panose="02040503050406030204" pitchFamily="18" charset="0"/>
                            </a:rPr>
                          </m:ctrlPr>
                        </m:dPr>
                        <m:e>
                          <m:sSub>
                            <m:sSubPr>
                              <m:ctrlPr>
                                <a:rPr lang="en-US" sz="2800" i="1">
                                  <a:latin typeface="Cambria Math" panose="02040503050406030204" pitchFamily="18" charset="0"/>
                                </a:rPr>
                              </m:ctrlPr>
                            </m:sSubPr>
                            <m:e>
                              <m:r>
                                <a:rPr lang="en-US" sz="2800" i="1">
                                  <a:latin typeface="Cambria Math" panose="02040503050406030204" pitchFamily="18" charset="0"/>
                                </a:rPr>
                                <m:t>𝑆</m:t>
                              </m:r>
                            </m:e>
                            <m:sub>
                              <m:r>
                                <a:rPr lang="en-US" sz="2800" b="0" i="1" smtClean="0">
                                  <a:latin typeface="Cambria Math" panose="02040503050406030204" pitchFamily="18" charset="0"/>
                                </a:rPr>
                                <m:t>1</m:t>
                              </m:r>
                            </m:sub>
                          </m:sSub>
                        </m:e>
                      </m:d>
                    </m:oMath>
                  </m:oMathPara>
                </a14:m>
                <a:endParaRPr lang="en-US" sz="2800" dirty="0"/>
              </a:p>
            </p:txBody>
          </p:sp>
        </mc:Choice>
        <mc:Fallback>
          <p:sp>
            <p:nvSpPr>
              <p:cNvPr id="50" name="Rectangle 49">
                <a:extLst>
                  <a:ext uri="{FF2B5EF4-FFF2-40B4-BE49-F238E27FC236}">
                    <a16:creationId xmlns:a16="http://schemas.microsoft.com/office/drawing/2014/main" id="{C3EF324F-FE1E-A044-B9ED-F3A4B3CBD651}"/>
                  </a:ext>
                </a:extLst>
              </p:cNvPr>
              <p:cNvSpPr>
                <a:spLocks noRot="1" noChangeAspect="1" noMove="1" noResize="1" noEditPoints="1" noAdjustHandles="1" noChangeArrowheads="1" noChangeShapeType="1" noTextEdit="1"/>
              </p:cNvSpPr>
              <p:nvPr/>
            </p:nvSpPr>
            <p:spPr>
              <a:xfrm>
                <a:off x="206769" y="2391271"/>
                <a:ext cx="842987" cy="523220"/>
              </a:xfrm>
              <a:prstGeom prst="rect">
                <a:avLst/>
              </a:prstGeom>
              <a:blipFill>
                <a:blip r:embed="rId6"/>
                <a:stretch>
                  <a:fillRect b="-238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6" name="Rectangle 55">
                <a:extLst>
                  <a:ext uri="{FF2B5EF4-FFF2-40B4-BE49-F238E27FC236}">
                    <a16:creationId xmlns:a16="http://schemas.microsoft.com/office/drawing/2014/main" id="{8154DA65-38DE-9541-9131-3CFF4C1F7CC2}"/>
                  </a:ext>
                </a:extLst>
              </p:cNvPr>
              <p:cNvSpPr/>
              <p:nvPr/>
            </p:nvSpPr>
            <p:spPr>
              <a:xfrm>
                <a:off x="6601661" y="2415517"/>
                <a:ext cx="851259"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i="1" smtClean="0">
                              <a:latin typeface="Cambria Math" panose="02040503050406030204" pitchFamily="18" charset="0"/>
                            </a:rPr>
                          </m:ctrlPr>
                        </m:dPr>
                        <m:e>
                          <m:sSub>
                            <m:sSubPr>
                              <m:ctrlPr>
                                <a:rPr lang="en-US" sz="2800" i="1">
                                  <a:latin typeface="Cambria Math" panose="02040503050406030204" pitchFamily="18" charset="0"/>
                                </a:rPr>
                              </m:ctrlPr>
                            </m:sSubPr>
                            <m:e>
                              <m:r>
                                <a:rPr lang="en-US" sz="2800" i="1">
                                  <a:latin typeface="Cambria Math" panose="02040503050406030204" pitchFamily="18" charset="0"/>
                                </a:rPr>
                                <m:t>𝑆</m:t>
                              </m:r>
                            </m:e>
                            <m:sub>
                              <m:r>
                                <a:rPr lang="en-US" sz="2800" b="0" i="1" smtClean="0">
                                  <a:latin typeface="Cambria Math" panose="02040503050406030204" pitchFamily="18" charset="0"/>
                                </a:rPr>
                                <m:t>2</m:t>
                              </m:r>
                            </m:sub>
                          </m:sSub>
                        </m:e>
                      </m:d>
                    </m:oMath>
                  </m:oMathPara>
                </a14:m>
                <a:endParaRPr lang="en-US" sz="2800" dirty="0"/>
              </a:p>
            </p:txBody>
          </p:sp>
        </mc:Choice>
        <mc:Fallback>
          <p:sp>
            <p:nvSpPr>
              <p:cNvPr id="56" name="Rectangle 55">
                <a:extLst>
                  <a:ext uri="{FF2B5EF4-FFF2-40B4-BE49-F238E27FC236}">
                    <a16:creationId xmlns:a16="http://schemas.microsoft.com/office/drawing/2014/main" id="{8154DA65-38DE-9541-9131-3CFF4C1F7CC2}"/>
                  </a:ext>
                </a:extLst>
              </p:cNvPr>
              <p:cNvSpPr>
                <a:spLocks noRot="1" noChangeAspect="1" noMove="1" noResize="1" noEditPoints="1" noAdjustHandles="1" noChangeArrowheads="1" noChangeShapeType="1" noTextEdit="1"/>
              </p:cNvSpPr>
              <p:nvPr/>
            </p:nvSpPr>
            <p:spPr>
              <a:xfrm>
                <a:off x="6601661" y="2415517"/>
                <a:ext cx="851259" cy="523220"/>
              </a:xfrm>
              <a:prstGeom prst="rect">
                <a:avLst/>
              </a:prstGeom>
              <a:blipFill>
                <a:blip r:embed="rId7"/>
                <a:stretch>
                  <a:fillRect b="-2381"/>
                </a:stretch>
              </a:blipFill>
            </p:spPr>
            <p:txBody>
              <a:bodyPr/>
              <a:lstStyle/>
              <a:p>
                <a:r>
                  <a:rPr lang="en-US">
                    <a:noFill/>
                  </a:rPr>
                  <a:t> </a:t>
                </a:r>
              </a:p>
            </p:txBody>
          </p:sp>
        </mc:Fallback>
      </mc:AlternateContent>
      <p:grpSp>
        <p:nvGrpSpPr>
          <p:cNvPr id="33" name="Group 32">
            <a:extLst>
              <a:ext uri="{FF2B5EF4-FFF2-40B4-BE49-F238E27FC236}">
                <a16:creationId xmlns:a16="http://schemas.microsoft.com/office/drawing/2014/main" id="{84F93101-B9B6-0F48-8B0C-32D258AF36A9}"/>
              </a:ext>
            </a:extLst>
          </p:cNvPr>
          <p:cNvGrpSpPr>
            <a:grpSpLocks noChangeAspect="1"/>
          </p:cNvGrpSpPr>
          <p:nvPr/>
        </p:nvGrpSpPr>
        <p:grpSpPr>
          <a:xfrm>
            <a:off x="9520138" y="2096884"/>
            <a:ext cx="2200758" cy="2160000"/>
            <a:chOff x="316477" y="1599032"/>
            <a:chExt cx="3029421" cy="2973316"/>
          </a:xfrm>
        </p:grpSpPr>
        <p:sp>
          <p:nvSpPr>
            <p:cNvPr id="34" name="Oval 33">
              <a:extLst>
                <a:ext uri="{FF2B5EF4-FFF2-40B4-BE49-F238E27FC236}">
                  <a16:creationId xmlns:a16="http://schemas.microsoft.com/office/drawing/2014/main" id="{487FF12B-E03B-6D4D-9194-DB06E26F7A1B}"/>
                </a:ext>
              </a:extLst>
            </p:cNvPr>
            <p:cNvSpPr>
              <a:spLocks noChangeAspect="1"/>
            </p:cNvSpPr>
            <p:nvPr/>
          </p:nvSpPr>
          <p:spPr>
            <a:xfrm>
              <a:off x="465898" y="1692347"/>
              <a:ext cx="2880000" cy="2880001"/>
            </a:xfrm>
            <a:prstGeom prst="ellipse">
              <a:avLst/>
            </a:prstGeom>
            <a:gradFill>
              <a:gsLst>
                <a:gs pos="0">
                  <a:schemeClr val="accent1">
                    <a:lumMod val="5000"/>
                    <a:lumOff val="95000"/>
                  </a:schemeClr>
                </a:gs>
                <a:gs pos="100000">
                  <a:schemeClr val="accent5">
                    <a:lumMod val="20000"/>
                    <a:lumOff val="8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E8564171-3FFA-A64C-8737-9CC09E65E65A}"/>
                </a:ext>
              </a:extLst>
            </p:cNvPr>
            <p:cNvSpPr/>
            <p:nvPr/>
          </p:nvSpPr>
          <p:spPr>
            <a:xfrm>
              <a:off x="465897" y="2747947"/>
              <a:ext cx="2880001" cy="925922"/>
            </a:xfrm>
            <a:prstGeom prst="ellipse">
              <a:avLst/>
            </a:prstGeom>
            <a:solidFill>
              <a:schemeClr val="bg1">
                <a:lumMod val="85000"/>
                <a:alpha val="2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7" name="Straight Arrow Connector 36">
              <a:extLst>
                <a:ext uri="{FF2B5EF4-FFF2-40B4-BE49-F238E27FC236}">
                  <a16:creationId xmlns:a16="http://schemas.microsoft.com/office/drawing/2014/main" id="{A1329E37-2B16-4B4E-818F-156940A12312}"/>
                </a:ext>
              </a:extLst>
            </p:cNvPr>
            <p:cNvCxnSpPr>
              <a:cxnSpLocks/>
            </p:cNvCxnSpPr>
            <p:nvPr/>
          </p:nvCxnSpPr>
          <p:spPr>
            <a:xfrm>
              <a:off x="1858710" y="3093783"/>
              <a:ext cx="1101664" cy="829796"/>
            </a:xfrm>
            <a:prstGeom prst="straightConnector1">
              <a:avLst/>
            </a:prstGeom>
            <a:ln w="254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D6DBF06F-3C48-324E-80A9-B1F4765C46A2}"/>
                </a:ext>
              </a:extLst>
            </p:cNvPr>
            <p:cNvCxnSpPr>
              <a:cxnSpLocks/>
            </p:cNvCxnSpPr>
            <p:nvPr/>
          </p:nvCxnSpPr>
          <p:spPr>
            <a:xfrm flipH="1">
              <a:off x="316477" y="3098317"/>
              <a:ext cx="1554844" cy="700329"/>
            </a:xfrm>
            <a:prstGeom prst="straightConnector1">
              <a:avLst/>
            </a:prstGeom>
            <a:ln w="254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764186C5-8F6E-AC48-A2F6-484648DBA93C}"/>
                </a:ext>
              </a:extLst>
            </p:cNvPr>
            <p:cNvCxnSpPr>
              <a:cxnSpLocks/>
            </p:cNvCxnSpPr>
            <p:nvPr/>
          </p:nvCxnSpPr>
          <p:spPr>
            <a:xfrm flipV="1">
              <a:off x="1871353" y="1599032"/>
              <a:ext cx="0" cy="1495282"/>
            </a:xfrm>
            <a:prstGeom prst="straightConnector1">
              <a:avLst/>
            </a:prstGeom>
            <a:ln w="254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C7830B72-830B-7F46-A97B-854E8EBA4D4D}"/>
                </a:ext>
              </a:extLst>
            </p:cNvPr>
            <p:cNvCxnSpPr>
              <a:cxnSpLocks/>
            </p:cNvCxnSpPr>
            <p:nvPr/>
          </p:nvCxnSpPr>
          <p:spPr>
            <a:xfrm flipH="1" flipV="1">
              <a:off x="1103518" y="2334159"/>
              <a:ext cx="767787" cy="755589"/>
            </a:xfrm>
            <a:prstGeom prst="straightConnector1">
              <a:avLst/>
            </a:prstGeom>
            <a:ln w="50800" cap="rnd">
              <a:solidFill>
                <a:srgbClr val="CA251F"/>
              </a:solidFill>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a14="http://schemas.microsoft.com/office/drawing/2010/main" Requires="a14">
          <p:sp>
            <p:nvSpPr>
              <p:cNvPr id="52" name="Rectangle 51">
                <a:extLst>
                  <a:ext uri="{FF2B5EF4-FFF2-40B4-BE49-F238E27FC236}">
                    <a16:creationId xmlns:a16="http://schemas.microsoft.com/office/drawing/2014/main" id="{CDA4B6E0-6E1C-F14F-8B4A-0637D85D0822}"/>
                  </a:ext>
                </a:extLst>
              </p:cNvPr>
              <p:cNvSpPr/>
              <p:nvPr/>
            </p:nvSpPr>
            <p:spPr>
              <a:xfrm>
                <a:off x="9519503" y="2107706"/>
                <a:ext cx="842987"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i="1" smtClean="0">
                              <a:latin typeface="Cambria Math" panose="02040503050406030204" pitchFamily="18" charset="0"/>
                            </a:rPr>
                          </m:ctrlPr>
                        </m:dPr>
                        <m:e>
                          <m:sSub>
                            <m:sSubPr>
                              <m:ctrlPr>
                                <a:rPr lang="en-US" sz="2800" i="1">
                                  <a:latin typeface="Cambria Math" panose="02040503050406030204" pitchFamily="18" charset="0"/>
                                </a:rPr>
                              </m:ctrlPr>
                            </m:sSubPr>
                            <m:e>
                              <m:r>
                                <a:rPr lang="en-US" sz="2800" i="1">
                                  <a:latin typeface="Cambria Math" panose="02040503050406030204" pitchFamily="18" charset="0"/>
                                </a:rPr>
                                <m:t>𝑆</m:t>
                              </m:r>
                            </m:e>
                            <m:sub>
                              <m:r>
                                <a:rPr lang="en-US" sz="2800" b="0" i="1" smtClean="0">
                                  <a:latin typeface="Cambria Math" panose="02040503050406030204" pitchFamily="18" charset="0"/>
                                </a:rPr>
                                <m:t>1</m:t>
                              </m:r>
                            </m:sub>
                          </m:sSub>
                        </m:e>
                      </m:d>
                    </m:oMath>
                  </m:oMathPara>
                </a14:m>
                <a:endParaRPr lang="en-US" sz="2800" dirty="0"/>
              </a:p>
            </p:txBody>
          </p:sp>
        </mc:Choice>
        <mc:Fallback>
          <p:sp>
            <p:nvSpPr>
              <p:cNvPr id="52" name="Rectangle 51">
                <a:extLst>
                  <a:ext uri="{FF2B5EF4-FFF2-40B4-BE49-F238E27FC236}">
                    <a16:creationId xmlns:a16="http://schemas.microsoft.com/office/drawing/2014/main" id="{CDA4B6E0-6E1C-F14F-8B4A-0637D85D0822}"/>
                  </a:ext>
                </a:extLst>
              </p:cNvPr>
              <p:cNvSpPr>
                <a:spLocks noRot="1" noChangeAspect="1" noMove="1" noResize="1" noEditPoints="1" noAdjustHandles="1" noChangeArrowheads="1" noChangeShapeType="1" noTextEdit="1"/>
              </p:cNvSpPr>
              <p:nvPr/>
            </p:nvSpPr>
            <p:spPr>
              <a:xfrm>
                <a:off x="9519503" y="2107706"/>
                <a:ext cx="842987" cy="523220"/>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7" name="Rectangle 66">
                <a:extLst>
                  <a:ext uri="{FF2B5EF4-FFF2-40B4-BE49-F238E27FC236}">
                    <a16:creationId xmlns:a16="http://schemas.microsoft.com/office/drawing/2014/main" id="{D9218BBB-8E49-E946-925E-79A168EC7B14}"/>
                  </a:ext>
                </a:extLst>
              </p:cNvPr>
              <p:cNvSpPr/>
              <p:nvPr/>
            </p:nvSpPr>
            <p:spPr>
              <a:xfrm>
                <a:off x="7250540" y="4180951"/>
                <a:ext cx="2225096" cy="83490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m>
                        <m:mPr>
                          <m:mcs>
                            <m:mc>
                              <m:mcPr>
                                <m:count m:val="1"/>
                                <m:mcJc m:val="center"/>
                              </m:mcPr>
                            </m:mc>
                          </m:mcs>
                          <m:ctrlPr>
                            <a:rPr lang="en-US" sz="3200" i="1" smtClean="0">
                              <a:solidFill>
                                <a:schemeClr val="tx1"/>
                              </a:solidFill>
                              <a:latin typeface="Cambria Math" panose="02040503050406030204" pitchFamily="18" charset="0"/>
                            </a:rPr>
                          </m:ctrlPr>
                        </m:mPr>
                        <m:mr>
                          <m:e>
                            <m:d>
                              <m:dPr>
                                <m:begChr m:val="|"/>
                                <m:endChr m:val="⟩"/>
                                <m:ctrlPr>
                                  <a:rPr lang="en-US" sz="3200" i="1">
                                    <a:solidFill>
                                      <a:schemeClr val="tx1"/>
                                    </a:solidFill>
                                    <a:latin typeface="Cambria Math" panose="02040503050406030204" pitchFamily="18" charset="0"/>
                                  </a:rPr>
                                </m:ctrlPr>
                              </m:dPr>
                              <m:e>
                                <m:sSub>
                                  <m:sSubPr>
                                    <m:ctrlPr>
                                      <a:rPr lang="en-US" sz="3200" i="1">
                                        <a:solidFill>
                                          <a:schemeClr val="tx1"/>
                                        </a:solidFill>
                                        <a:latin typeface="Cambria Math" panose="02040503050406030204" pitchFamily="18" charset="0"/>
                                      </a:rPr>
                                    </m:ctrlPr>
                                  </m:sSubPr>
                                  <m:e>
                                    <m:r>
                                      <a:rPr lang="en-US" sz="3200" i="1">
                                        <a:solidFill>
                                          <a:schemeClr val="tx1"/>
                                        </a:solidFill>
                                        <a:latin typeface="Cambria Math" panose="02040503050406030204" pitchFamily="18" charset="0"/>
                                      </a:rPr>
                                      <m:t>𝑆</m:t>
                                    </m:r>
                                  </m:e>
                                  <m:sub>
                                    <m:r>
                                      <a:rPr lang="en-US" sz="3200" b="0" i="1" smtClean="0">
                                        <a:solidFill>
                                          <a:schemeClr val="tx1"/>
                                        </a:solidFill>
                                        <a:latin typeface="Cambria Math" panose="02040503050406030204" pitchFamily="18" charset="0"/>
                                      </a:rPr>
                                      <m:t>2</m:t>
                                    </m:r>
                                  </m:sub>
                                </m:sSub>
                              </m:e>
                            </m:d>
                            <m:groupChr>
                              <m:groupChrPr>
                                <m:chr m:val="→"/>
                                <m:vertJc m:val="bot"/>
                                <m:ctrlPr>
                                  <a:rPr lang="en-US" sz="3200" i="1">
                                    <a:solidFill>
                                      <a:schemeClr val="tx1"/>
                                    </a:solidFill>
                                    <a:latin typeface="Cambria Math" panose="02040503050406030204" pitchFamily="18" charset="0"/>
                                  </a:rPr>
                                </m:ctrlPr>
                              </m:groupChrPr>
                              <m:e>
                                <m:sSup>
                                  <m:sSupPr>
                                    <m:ctrlPr>
                                      <a:rPr lang="en-US" sz="3200" i="1">
                                        <a:solidFill>
                                          <a:schemeClr val="tx1"/>
                                        </a:solidFill>
                                        <a:latin typeface="Cambria Math" panose="02040503050406030204" pitchFamily="18" charset="0"/>
                                      </a:rPr>
                                    </m:ctrlPr>
                                  </m:sSupPr>
                                  <m:e>
                                    <m:r>
                                      <a:rPr lang="en-US" sz="3200" i="1">
                                        <a:solidFill>
                                          <a:schemeClr val="tx1"/>
                                        </a:solidFill>
                                        <a:latin typeface="Cambria Math" panose="02040503050406030204" pitchFamily="18" charset="0"/>
                                      </a:rPr>
                                      <m:t>𝑈</m:t>
                                    </m:r>
                                  </m:e>
                                  <m:sup>
                                    <m:r>
                                      <a:rPr lang="en-US" sz="3200" i="1">
                                        <a:solidFill>
                                          <a:schemeClr val="tx1"/>
                                        </a:solidFill>
                                        <a:latin typeface="Cambria Math" panose="02040503050406030204" pitchFamily="18" charset="0"/>
                                        <a:ea typeface="Cambria Math" panose="02040503050406030204" pitchFamily="18" charset="0"/>
                                      </a:rPr>
                                      <m:t>†</m:t>
                                    </m:r>
                                  </m:sup>
                                </m:sSup>
                              </m:e>
                            </m:groupChr>
                            <m:d>
                              <m:dPr>
                                <m:begChr m:val="|"/>
                                <m:endChr m:val="⟩"/>
                                <m:ctrlPr>
                                  <a:rPr lang="en-US" sz="3200" i="1">
                                    <a:solidFill>
                                      <a:schemeClr val="tx1"/>
                                    </a:solidFill>
                                    <a:latin typeface="Cambria Math" panose="02040503050406030204" pitchFamily="18" charset="0"/>
                                  </a:rPr>
                                </m:ctrlPr>
                              </m:dPr>
                              <m:e>
                                <m:sSub>
                                  <m:sSubPr>
                                    <m:ctrlPr>
                                      <a:rPr lang="en-US" sz="3200" i="1">
                                        <a:solidFill>
                                          <a:schemeClr val="tx1"/>
                                        </a:solidFill>
                                        <a:latin typeface="Cambria Math" panose="02040503050406030204" pitchFamily="18" charset="0"/>
                                      </a:rPr>
                                    </m:ctrlPr>
                                  </m:sSubPr>
                                  <m:e>
                                    <m:r>
                                      <a:rPr lang="en-US" sz="3200" i="1">
                                        <a:solidFill>
                                          <a:schemeClr val="tx1"/>
                                        </a:solidFill>
                                        <a:latin typeface="Cambria Math" panose="02040503050406030204" pitchFamily="18" charset="0"/>
                                      </a:rPr>
                                      <m:t>𝑆</m:t>
                                    </m:r>
                                  </m:e>
                                  <m:sub>
                                    <m:r>
                                      <a:rPr lang="en-US" sz="3200" b="0" i="1" smtClean="0">
                                        <a:solidFill>
                                          <a:schemeClr val="tx1"/>
                                        </a:solidFill>
                                        <a:latin typeface="Cambria Math" panose="02040503050406030204" pitchFamily="18" charset="0"/>
                                      </a:rPr>
                                      <m:t>1</m:t>
                                    </m:r>
                                  </m:sub>
                                </m:sSub>
                              </m:e>
                            </m:d>
                            <m:r>
                              <a:rPr lang="en-US" sz="3200" b="0" i="1" smtClean="0">
                                <a:solidFill>
                                  <a:schemeClr val="tx1"/>
                                </a:solidFill>
                                <a:latin typeface="Cambria Math" panose="02040503050406030204" pitchFamily="18" charset="0"/>
                              </a:rPr>
                              <m:t> </m:t>
                            </m:r>
                          </m:e>
                        </m:mr>
                      </m:m>
                    </m:oMath>
                  </m:oMathPara>
                </a14:m>
                <a:endParaRPr lang="en-US" sz="3200" dirty="0">
                  <a:solidFill>
                    <a:schemeClr val="tx1"/>
                  </a:solidFill>
                </a:endParaRPr>
              </a:p>
            </p:txBody>
          </p:sp>
        </mc:Choice>
        <mc:Fallback>
          <p:sp>
            <p:nvSpPr>
              <p:cNvPr id="67" name="Rectangle 66">
                <a:extLst>
                  <a:ext uri="{FF2B5EF4-FFF2-40B4-BE49-F238E27FC236}">
                    <a16:creationId xmlns:a16="http://schemas.microsoft.com/office/drawing/2014/main" id="{D9218BBB-8E49-E946-925E-79A168EC7B14}"/>
                  </a:ext>
                </a:extLst>
              </p:cNvPr>
              <p:cNvSpPr>
                <a:spLocks noRot="1" noChangeAspect="1" noMove="1" noResize="1" noEditPoints="1" noAdjustHandles="1" noChangeArrowheads="1" noChangeShapeType="1" noTextEdit="1"/>
              </p:cNvSpPr>
              <p:nvPr/>
            </p:nvSpPr>
            <p:spPr>
              <a:xfrm>
                <a:off x="7250540" y="4180951"/>
                <a:ext cx="2225096" cy="834909"/>
              </a:xfrm>
              <a:prstGeom prst="rect">
                <a:avLst/>
              </a:prstGeom>
              <a:blipFill>
                <a:blip r:embed="rId9"/>
                <a:stretch>
                  <a:fillRect r="-2273" b="-1791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FC2C22C-3D8C-864C-870A-D519C389D7BE}"/>
                  </a:ext>
                </a:extLst>
              </p:cNvPr>
              <p:cNvSpPr txBox="1"/>
              <p:nvPr/>
            </p:nvSpPr>
            <p:spPr>
              <a:xfrm>
                <a:off x="9997959" y="4437883"/>
                <a:ext cx="1562351" cy="5343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sz="2800" i="1" smtClean="0">
                              <a:latin typeface="Cambria Math" panose="02040503050406030204" pitchFamily="18" charset="0"/>
                            </a:rPr>
                          </m:ctrlPr>
                        </m:sSupPr>
                        <m:e>
                          <m:r>
                            <a:rPr lang="en-US" sz="2800" i="1">
                              <a:latin typeface="Cambria Math" panose="02040503050406030204" pitchFamily="18" charset="0"/>
                            </a:rPr>
                            <m:t>𝑈</m:t>
                          </m:r>
                        </m:e>
                        <m:sup>
                          <m:r>
                            <a:rPr lang="en-US" sz="2800" i="1">
                              <a:latin typeface="Cambria Math" panose="02040503050406030204" pitchFamily="18" charset="0"/>
                              <a:ea typeface="Cambria Math" panose="02040503050406030204" pitchFamily="18" charset="0"/>
                            </a:rPr>
                            <m:t>†</m:t>
                          </m:r>
                        </m:sup>
                      </m:sSup>
                      <m:r>
                        <a:rPr lang="en-US" sz="2800" i="1">
                          <a:latin typeface="Cambria Math" panose="02040503050406030204" pitchFamily="18" charset="0"/>
                          <a:ea typeface="Cambria Math" panose="02040503050406030204" pitchFamily="18" charset="0"/>
                        </a:rPr>
                        <m:t>𝑈</m:t>
                      </m:r>
                      <m:r>
                        <a:rPr lang="en-US" sz="2800" i="1">
                          <a:latin typeface="Cambria Math" panose="02040503050406030204" pitchFamily="18" charset="0"/>
                          <a:ea typeface="Cambria Math" panose="02040503050406030204" pitchFamily="18" charset="0"/>
                        </a:rPr>
                        <m:t>=</m:t>
                      </m:r>
                      <m:r>
                        <a:rPr lang="sr-Latn-RS" sz="2800" b="0" i="1" smtClean="0">
                          <a:latin typeface="Cambria Math" panose="02040503050406030204" pitchFamily="18" charset="0"/>
                          <a:ea typeface="Cambria Math" panose="02040503050406030204" pitchFamily="18" charset="0"/>
                        </a:rPr>
                        <m:t>𝐼</m:t>
                      </m:r>
                    </m:oMath>
                  </m:oMathPara>
                </a14:m>
                <a:endParaRPr lang="en-US" sz="2800" dirty="0"/>
              </a:p>
            </p:txBody>
          </p:sp>
        </mc:Choice>
        <mc:Fallback xmlns="">
          <p:sp>
            <p:nvSpPr>
              <p:cNvPr id="10" name="TextBox 9">
                <a:extLst>
                  <a:ext uri="{FF2B5EF4-FFF2-40B4-BE49-F238E27FC236}">
                    <a16:creationId xmlns:a16="http://schemas.microsoft.com/office/drawing/2014/main" id="{3FC2C22C-3D8C-864C-870A-D519C389D7BE}"/>
                  </a:ext>
                </a:extLst>
              </p:cNvPr>
              <p:cNvSpPr txBox="1">
                <a:spLocks noRot="1" noChangeAspect="1" noMove="1" noResize="1" noEditPoints="1" noAdjustHandles="1" noChangeArrowheads="1" noChangeShapeType="1" noTextEdit="1"/>
              </p:cNvSpPr>
              <p:nvPr/>
            </p:nvSpPr>
            <p:spPr>
              <a:xfrm>
                <a:off x="9997959" y="4437883"/>
                <a:ext cx="1562351" cy="534377"/>
              </a:xfrm>
              <a:prstGeom prst="rect">
                <a:avLst/>
              </a:prstGeom>
              <a:blipFill>
                <a:blip r:embed="rId10"/>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2681409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B12C6C2-B945-2245-BFCB-2C3925BFDAD7}"/>
              </a:ext>
            </a:extLst>
          </p:cNvPr>
          <p:cNvSpPr>
            <a:spLocks noGrp="1"/>
          </p:cNvSpPr>
          <p:nvPr>
            <p:ph type="title"/>
          </p:nvPr>
        </p:nvSpPr>
        <p:spPr/>
        <p:txBody>
          <a:bodyPr/>
          <a:lstStyle/>
          <a:p>
            <a:r>
              <a:rPr lang="en-ZA" dirty="0"/>
              <a:t>Quantum Gates by Number of Qubits</a:t>
            </a:r>
            <a:endParaRPr lang="en-US" dirty="0"/>
          </a:p>
        </p:txBody>
      </p:sp>
      <p:sp>
        <p:nvSpPr>
          <p:cNvPr id="23" name="TextBox 22">
            <a:extLst>
              <a:ext uri="{FF2B5EF4-FFF2-40B4-BE49-F238E27FC236}">
                <a16:creationId xmlns:a16="http://schemas.microsoft.com/office/drawing/2014/main" id="{5C8E93FE-4046-444F-AA98-945B78CE3BB4}"/>
              </a:ext>
            </a:extLst>
          </p:cNvPr>
          <p:cNvSpPr txBox="1"/>
          <p:nvPr/>
        </p:nvSpPr>
        <p:spPr>
          <a:xfrm>
            <a:off x="996087" y="1170193"/>
            <a:ext cx="1904688" cy="954107"/>
          </a:xfrm>
          <a:prstGeom prst="rect">
            <a:avLst/>
          </a:prstGeom>
          <a:noFill/>
        </p:spPr>
        <p:txBody>
          <a:bodyPr wrap="none" rtlCol="0">
            <a:spAutoFit/>
          </a:bodyPr>
          <a:lstStyle/>
          <a:p>
            <a:pPr algn="ctr"/>
            <a:r>
              <a:rPr lang="en-US" sz="2800" dirty="0"/>
              <a:t>single-qubit</a:t>
            </a:r>
          </a:p>
          <a:p>
            <a:pPr algn="ctr"/>
            <a:r>
              <a:rPr lang="en-US" sz="2800" dirty="0"/>
              <a:t> (~ 20 )</a:t>
            </a:r>
          </a:p>
        </p:txBody>
      </p:sp>
      <p:sp>
        <p:nvSpPr>
          <p:cNvPr id="24" name="TextBox 23">
            <a:extLst>
              <a:ext uri="{FF2B5EF4-FFF2-40B4-BE49-F238E27FC236}">
                <a16:creationId xmlns:a16="http://schemas.microsoft.com/office/drawing/2014/main" id="{2AA84996-2A56-EB4D-BB3B-B09EFCA2BABC}"/>
              </a:ext>
            </a:extLst>
          </p:cNvPr>
          <p:cNvSpPr txBox="1"/>
          <p:nvPr/>
        </p:nvSpPr>
        <p:spPr>
          <a:xfrm>
            <a:off x="4860718" y="1193940"/>
            <a:ext cx="1627240" cy="954107"/>
          </a:xfrm>
          <a:prstGeom prst="rect">
            <a:avLst/>
          </a:prstGeom>
          <a:noFill/>
        </p:spPr>
        <p:txBody>
          <a:bodyPr wrap="none" rtlCol="0">
            <a:spAutoFit/>
          </a:bodyPr>
          <a:lstStyle/>
          <a:p>
            <a:pPr algn="ctr"/>
            <a:r>
              <a:rPr lang="en-US" sz="2800" dirty="0"/>
              <a:t>two-qubit</a:t>
            </a:r>
          </a:p>
          <a:p>
            <a:pPr algn="ctr"/>
            <a:r>
              <a:rPr lang="en-US" sz="2800" dirty="0"/>
              <a:t> (~ 5 )</a:t>
            </a:r>
          </a:p>
        </p:txBody>
      </p:sp>
      <p:sp>
        <p:nvSpPr>
          <p:cNvPr id="25" name="TextBox 24">
            <a:extLst>
              <a:ext uri="{FF2B5EF4-FFF2-40B4-BE49-F238E27FC236}">
                <a16:creationId xmlns:a16="http://schemas.microsoft.com/office/drawing/2014/main" id="{623F7418-2A41-A14B-BD9C-C68DF08AC00D}"/>
              </a:ext>
            </a:extLst>
          </p:cNvPr>
          <p:cNvSpPr txBox="1"/>
          <p:nvPr/>
        </p:nvSpPr>
        <p:spPr>
          <a:xfrm>
            <a:off x="9051926" y="1193940"/>
            <a:ext cx="1850250" cy="954107"/>
          </a:xfrm>
          <a:prstGeom prst="rect">
            <a:avLst/>
          </a:prstGeom>
          <a:noFill/>
        </p:spPr>
        <p:txBody>
          <a:bodyPr wrap="none" rtlCol="0">
            <a:spAutoFit/>
          </a:bodyPr>
          <a:lstStyle/>
          <a:p>
            <a:pPr algn="ctr"/>
            <a:r>
              <a:rPr lang="en-US" sz="2800" dirty="0"/>
              <a:t>three-qubit</a:t>
            </a:r>
          </a:p>
          <a:p>
            <a:pPr algn="ctr"/>
            <a:r>
              <a:rPr lang="en-US" sz="2800" dirty="0"/>
              <a:t> ( ~ 2 )</a:t>
            </a:r>
          </a:p>
        </p:txBody>
      </p:sp>
      <p:cxnSp>
        <p:nvCxnSpPr>
          <p:cNvPr id="21" name="Straight Connector 20">
            <a:extLst>
              <a:ext uri="{FF2B5EF4-FFF2-40B4-BE49-F238E27FC236}">
                <a16:creationId xmlns:a16="http://schemas.microsoft.com/office/drawing/2014/main" id="{4E245626-289B-014C-9917-BCD2140EADA9}"/>
              </a:ext>
            </a:extLst>
          </p:cNvPr>
          <p:cNvCxnSpPr>
            <a:cxnSpLocks/>
          </p:cNvCxnSpPr>
          <p:nvPr/>
        </p:nvCxnSpPr>
        <p:spPr>
          <a:xfrm>
            <a:off x="491803" y="3005648"/>
            <a:ext cx="106299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BA2C64-E48A-1D43-866E-F3066373CC9F}"/>
              </a:ext>
            </a:extLst>
          </p:cNvPr>
          <p:cNvCxnSpPr>
            <a:cxnSpLocks/>
          </p:cNvCxnSpPr>
          <p:nvPr/>
        </p:nvCxnSpPr>
        <p:spPr>
          <a:xfrm>
            <a:off x="491803" y="4432914"/>
            <a:ext cx="106299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9AC76142-BF81-1640-8542-EE6BCF3D44AA}"/>
              </a:ext>
            </a:extLst>
          </p:cNvPr>
          <p:cNvCxnSpPr>
            <a:cxnSpLocks/>
          </p:cNvCxnSpPr>
          <p:nvPr/>
        </p:nvCxnSpPr>
        <p:spPr>
          <a:xfrm>
            <a:off x="491803" y="5860180"/>
            <a:ext cx="106299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32" name="Rectangle 31">
                <a:extLst>
                  <a:ext uri="{FF2B5EF4-FFF2-40B4-BE49-F238E27FC236}">
                    <a16:creationId xmlns:a16="http://schemas.microsoft.com/office/drawing/2014/main" id="{A57C7A70-68C5-0846-838B-FDABBB6B70DD}"/>
                  </a:ext>
                </a:extLst>
              </p:cNvPr>
              <p:cNvSpPr/>
              <p:nvPr/>
            </p:nvSpPr>
            <p:spPr>
              <a:xfrm>
                <a:off x="3526610" y="3074512"/>
                <a:ext cx="1958741" cy="124200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ctrlPr>
                            <a:rPr lang="en-US" sz="2000" i="1">
                              <a:latin typeface="Cambria Math" panose="02040503050406030204" pitchFamily="18" charset="0"/>
                            </a:rPr>
                          </m:ctrlPr>
                        </m:dPr>
                        <m:e>
                          <m:m>
                            <m:mPr>
                              <m:mcs>
                                <m:mc>
                                  <m:mcPr>
                                    <m:count m:val="4"/>
                                    <m:mcJc m:val="center"/>
                                  </m:mcPr>
                                </m:mc>
                              </m:mcs>
                              <m:ctrlPr>
                                <a:rPr lang="en-US" sz="2000" i="1">
                                  <a:latin typeface="Cambria Math" panose="02040503050406030204" pitchFamily="18" charset="0"/>
                                </a:rPr>
                              </m:ctrlPr>
                            </m:mPr>
                            <m:mr>
                              <m:e>
                                <m:r>
                                  <m:rPr>
                                    <m:brk m:alnAt="7"/>
                                  </m:rPr>
                                  <a:rPr lang="en-US" sz="2000" i="1">
                                    <a:latin typeface="Cambria Math" panose="02040503050406030204" pitchFamily="18" charset="0"/>
                                  </a:rPr>
                                  <m:t>1</m:t>
                                </m:r>
                              </m:e>
                              <m:e>
                                <m:r>
                                  <a:rPr lang="en-US" sz="2000" i="1">
                                    <a:latin typeface="Cambria Math" panose="02040503050406030204" pitchFamily="18" charset="0"/>
                                  </a:rPr>
                                  <m:t>0</m:t>
                                </m:r>
                              </m:e>
                              <m:e>
                                <m:r>
                                  <a:rPr lang="en-US" sz="2000" i="1">
                                    <a:latin typeface="Cambria Math" panose="02040503050406030204" pitchFamily="18" charset="0"/>
                                  </a:rPr>
                                  <m:t>0</m:t>
                                </m:r>
                              </m:e>
                              <m:e>
                                <m:r>
                                  <a:rPr lang="en-US" sz="2000" i="1">
                                    <a:latin typeface="Cambria Math" panose="02040503050406030204" pitchFamily="18" charset="0"/>
                                  </a:rPr>
                                  <m:t>0</m:t>
                                </m:r>
                              </m:e>
                            </m:mr>
                            <m:mr>
                              <m:e>
                                <m:r>
                                  <a:rPr lang="en-US" sz="2000" i="1">
                                    <a:latin typeface="Cambria Math" panose="02040503050406030204" pitchFamily="18" charset="0"/>
                                  </a:rPr>
                                  <m:t>0</m:t>
                                </m:r>
                              </m:e>
                              <m:e>
                                <m:r>
                                  <a:rPr lang="en-US" sz="2000" i="1">
                                    <a:latin typeface="Cambria Math" panose="02040503050406030204" pitchFamily="18" charset="0"/>
                                  </a:rPr>
                                  <m:t>1</m:t>
                                </m:r>
                              </m:e>
                              <m:e>
                                <m:r>
                                  <a:rPr lang="en-US" sz="2000" i="1">
                                    <a:latin typeface="Cambria Math" panose="02040503050406030204" pitchFamily="18" charset="0"/>
                                  </a:rPr>
                                  <m:t>0</m:t>
                                </m:r>
                              </m:e>
                              <m:e>
                                <m:r>
                                  <a:rPr lang="en-US" sz="2000" i="1">
                                    <a:latin typeface="Cambria Math" panose="02040503050406030204" pitchFamily="18" charset="0"/>
                                  </a:rPr>
                                  <m:t>0</m:t>
                                </m:r>
                              </m:e>
                            </m:mr>
                            <m:mr>
                              <m:e>
                                <m:r>
                                  <a:rPr lang="en-US" sz="2000" i="1">
                                    <a:latin typeface="Cambria Math" panose="02040503050406030204" pitchFamily="18" charset="0"/>
                                  </a:rPr>
                                  <m:t>0</m:t>
                                </m:r>
                              </m:e>
                              <m:e>
                                <m:r>
                                  <a:rPr lang="en-US" sz="2000" i="1">
                                    <a:latin typeface="Cambria Math" panose="02040503050406030204" pitchFamily="18" charset="0"/>
                                  </a:rPr>
                                  <m:t>0</m:t>
                                </m:r>
                              </m:e>
                              <m:e>
                                <m:r>
                                  <a:rPr lang="en-US" sz="2000" i="1">
                                    <a:latin typeface="Cambria Math" panose="02040503050406030204" pitchFamily="18" charset="0"/>
                                  </a:rPr>
                                  <m:t>0</m:t>
                                </m:r>
                              </m:e>
                              <m:e>
                                <m:r>
                                  <a:rPr lang="en-US" sz="2000" i="1">
                                    <a:latin typeface="Cambria Math" panose="02040503050406030204" pitchFamily="18" charset="0"/>
                                  </a:rPr>
                                  <m:t>1</m:t>
                                </m:r>
                              </m:e>
                            </m:mr>
                            <m:mr>
                              <m:e>
                                <m:r>
                                  <a:rPr lang="en-US" sz="2000" i="1">
                                    <a:latin typeface="Cambria Math" panose="02040503050406030204" pitchFamily="18" charset="0"/>
                                  </a:rPr>
                                  <m:t>0</m:t>
                                </m:r>
                              </m:e>
                              <m:e>
                                <m:r>
                                  <a:rPr lang="en-US" sz="2000" i="1">
                                    <a:latin typeface="Cambria Math" panose="02040503050406030204" pitchFamily="18" charset="0"/>
                                  </a:rPr>
                                  <m:t>0</m:t>
                                </m:r>
                              </m:e>
                              <m:e>
                                <m:r>
                                  <a:rPr lang="en-US" sz="2000" i="1">
                                    <a:latin typeface="Cambria Math" panose="02040503050406030204" pitchFamily="18" charset="0"/>
                                  </a:rPr>
                                  <m:t>1</m:t>
                                </m:r>
                              </m:e>
                              <m:e>
                                <m:r>
                                  <a:rPr lang="en-US" sz="2000" i="1">
                                    <a:latin typeface="Cambria Math" panose="02040503050406030204" pitchFamily="18" charset="0"/>
                                  </a:rPr>
                                  <m:t>0</m:t>
                                </m:r>
                              </m:e>
                            </m:mr>
                          </m:m>
                        </m:e>
                      </m:d>
                    </m:oMath>
                  </m:oMathPara>
                </a14:m>
                <a:endParaRPr lang="en-US" sz="2000" dirty="0"/>
              </a:p>
            </p:txBody>
          </p:sp>
        </mc:Choice>
        <mc:Fallback>
          <p:sp>
            <p:nvSpPr>
              <p:cNvPr id="32" name="Rectangle 31">
                <a:extLst>
                  <a:ext uri="{FF2B5EF4-FFF2-40B4-BE49-F238E27FC236}">
                    <a16:creationId xmlns:a16="http://schemas.microsoft.com/office/drawing/2014/main" id="{A57C7A70-68C5-0846-838B-FDABBB6B70DD}"/>
                  </a:ext>
                </a:extLst>
              </p:cNvPr>
              <p:cNvSpPr>
                <a:spLocks noRot="1" noChangeAspect="1" noMove="1" noResize="1" noEditPoints="1" noAdjustHandles="1" noChangeArrowheads="1" noChangeShapeType="1" noTextEdit="1"/>
              </p:cNvSpPr>
              <p:nvPr/>
            </p:nvSpPr>
            <p:spPr>
              <a:xfrm>
                <a:off x="3526610" y="3074512"/>
                <a:ext cx="1958741" cy="1242007"/>
              </a:xfrm>
              <a:prstGeom prst="rect">
                <a:avLst/>
              </a:prstGeom>
              <a:blipFill>
                <a:blip r:embed="rId3"/>
                <a:stretch>
                  <a:fillRect b="-101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3" name="Rectangle 32">
                <a:extLst>
                  <a:ext uri="{FF2B5EF4-FFF2-40B4-BE49-F238E27FC236}">
                    <a16:creationId xmlns:a16="http://schemas.microsoft.com/office/drawing/2014/main" id="{93A92C67-D85C-504F-A3D5-49F2E4E8AC4A}"/>
                  </a:ext>
                </a:extLst>
              </p:cNvPr>
              <p:cNvSpPr/>
              <p:nvPr/>
            </p:nvSpPr>
            <p:spPr>
              <a:xfrm>
                <a:off x="6293834" y="3037176"/>
                <a:ext cx="3731791" cy="252556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ctrlPr>
                            <a:rPr lang="en-US" sz="2100" i="1">
                              <a:latin typeface="Cambria Math" panose="02040503050406030204" pitchFamily="18" charset="0"/>
                            </a:rPr>
                          </m:ctrlPr>
                        </m:dPr>
                        <m:e>
                          <m:m>
                            <m:mPr>
                              <m:mcs>
                                <m:mc>
                                  <m:mcPr>
                                    <m:count m:val="8"/>
                                    <m:mcJc m:val="center"/>
                                  </m:mcPr>
                                </m:mc>
                              </m:mcs>
                              <m:ctrlPr>
                                <a:rPr lang="en-US" sz="2100" i="1">
                                  <a:latin typeface="Cambria Math" panose="02040503050406030204" pitchFamily="18" charset="0"/>
                                </a:rPr>
                              </m:ctrlPr>
                            </m:mPr>
                            <m:mr>
                              <m:e>
                                <m:r>
                                  <m:rPr>
                                    <m:brk m:alnAt="7"/>
                                  </m:rPr>
                                  <a:rPr lang="en-US" sz="2100" i="1">
                                    <a:latin typeface="Cambria Math" panose="02040503050406030204" pitchFamily="18" charset="0"/>
                                  </a:rPr>
                                  <m:t>1</m:t>
                                </m:r>
                              </m:e>
                              <m:e>
                                <m:r>
                                  <a:rPr lang="en-US" sz="2100" i="1">
                                    <a:latin typeface="Cambria Math" panose="02040503050406030204" pitchFamily="18" charset="0"/>
                                  </a:rPr>
                                  <m:t>0</m:t>
                                </m:r>
                              </m:e>
                              <m:e>
                                <m:r>
                                  <a:rPr lang="en-US" sz="2100" i="1">
                                    <a:latin typeface="Cambria Math" panose="02040503050406030204" pitchFamily="18" charset="0"/>
                                  </a:rPr>
                                  <m:t>0</m:t>
                                </m:r>
                              </m:e>
                              <m:e>
                                <m:r>
                                  <a:rPr lang="en-US" sz="2100" i="1">
                                    <a:latin typeface="Cambria Math" panose="02040503050406030204" pitchFamily="18" charset="0"/>
                                  </a:rPr>
                                  <m:t>0</m:t>
                                </m:r>
                              </m:e>
                              <m:e>
                                <m:r>
                                  <a:rPr lang="en-US" sz="2100" i="1">
                                    <a:latin typeface="Cambria Math" panose="02040503050406030204" pitchFamily="18" charset="0"/>
                                  </a:rPr>
                                  <m:t>0</m:t>
                                </m:r>
                              </m:e>
                              <m:e>
                                <m:r>
                                  <a:rPr lang="en-US" sz="2100" i="1">
                                    <a:latin typeface="Cambria Math" panose="02040503050406030204" pitchFamily="18" charset="0"/>
                                  </a:rPr>
                                  <m:t>0</m:t>
                                </m:r>
                              </m:e>
                              <m:e>
                                <m:r>
                                  <a:rPr lang="en-US" sz="2100" i="1">
                                    <a:latin typeface="Cambria Math" panose="02040503050406030204" pitchFamily="18" charset="0"/>
                                  </a:rPr>
                                  <m:t>0</m:t>
                                </m:r>
                              </m:e>
                              <m:e>
                                <m:r>
                                  <a:rPr lang="en-US" sz="2100" i="1">
                                    <a:latin typeface="Cambria Math" panose="02040503050406030204" pitchFamily="18" charset="0"/>
                                  </a:rPr>
                                  <m:t>0</m:t>
                                </m:r>
                              </m:e>
                            </m:mr>
                            <m:mr>
                              <m:e>
                                <m:r>
                                  <a:rPr lang="en-US" sz="2100" i="1">
                                    <a:latin typeface="Cambria Math" panose="02040503050406030204" pitchFamily="18" charset="0"/>
                                  </a:rPr>
                                  <m:t>0</m:t>
                                </m:r>
                              </m:e>
                              <m:e>
                                <m:r>
                                  <a:rPr lang="en-US" sz="2100" i="1">
                                    <a:latin typeface="Cambria Math" panose="02040503050406030204" pitchFamily="18" charset="0"/>
                                  </a:rPr>
                                  <m:t>1</m:t>
                                </m:r>
                              </m:e>
                              <m:e>
                                <m:r>
                                  <a:rPr lang="en-US" sz="2100" i="1">
                                    <a:latin typeface="Cambria Math" panose="02040503050406030204" pitchFamily="18" charset="0"/>
                                  </a:rPr>
                                  <m:t>0</m:t>
                                </m:r>
                              </m:e>
                              <m:e>
                                <m:r>
                                  <a:rPr lang="en-US" sz="2100" i="1">
                                    <a:latin typeface="Cambria Math" panose="02040503050406030204" pitchFamily="18" charset="0"/>
                                  </a:rPr>
                                  <m:t>0</m:t>
                                </m:r>
                              </m:e>
                              <m:e>
                                <m:r>
                                  <a:rPr lang="en-US" sz="2100" i="1">
                                    <a:latin typeface="Cambria Math" panose="02040503050406030204" pitchFamily="18" charset="0"/>
                                  </a:rPr>
                                  <m:t>0</m:t>
                                </m:r>
                              </m:e>
                              <m:e>
                                <m:r>
                                  <a:rPr lang="en-US" sz="2100" i="1">
                                    <a:latin typeface="Cambria Math" panose="02040503050406030204" pitchFamily="18" charset="0"/>
                                  </a:rPr>
                                  <m:t>0</m:t>
                                </m:r>
                              </m:e>
                              <m:e>
                                <m:r>
                                  <a:rPr lang="en-US" sz="2100" i="1">
                                    <a:latin typeface="Cambria Math" panose="02040503050406030204" pitchFamily="18" charset="0"/>
                                  </a:rPr>
                                  <m:t>0</m:t>
                                </m:r>
                              </m:e>
                              <m:e>
                                <m:r>
                                  <a:rPr lang="en-US" sz="2100" i="1">
                                    <a:latin typeface="Cambria Math" panose="02040503050406030204" pitchFamily="18" charset="0"/>
                                  </a:rPr>
                                  <m:t>0</m:t>
                                </m:r>
                              </m:e>
                            </m:mr>
                            <m:mr>
                              <m:e>
                                <m:r>
                                  <a:rPr lang="en-US" sz="2100" i="1">
                                    <a:latin typeface="Cambria Math" panose="02040503050406030204" pitchFamily="18" charset="0"/>
                                  </a:rPr>
                                  <m:t>0</m:t>
                                </m:r>
                              </m:e>
                              <m:e>
                                <m:r>
                                  <a:rPr lang="en-US" sz="2100" i="1">
                                    <a:latin typeface="Cambria Math" panose="02040503050406030204" pitchFamily="18" charset="0"/>
                                  </a:rPr>
                                  <m:t>0</m:t>
                                </m:r>
                              </m:e>
                              <m:e>
                                <m:r>
                                  <a:rPr lang="en-US" sz="2100" i="1">
                                    <a:latin typeface="Cambria Math" panose="02040503050406030204" pitchFamily="18" charset="0"/>
                                  </a:rPr>
                                  <m:t>1</m:t>
                                </m:r>
                              </m:e>
                              <m:e>
                                <m:r>
                                  <a:rPr lang="en-US" sz="2100" i="1">
                                    <a:latin typeface="Cambria Math" panose="02040503050406030204" pitchFamily="18" charset="0"/>
                                  </a:rPr>
                                  <m:t>0</m:t>
                                </m:r>
                              </m:e>
                              <m:e>
                                <m:r>
                                  <a:rPr lang="en-US" sz="2100" i="1">
                                    <a:latin typeface="Cambria Math" panose="02040503050406030204" pitchFamily="18" charset="0"/>
                                  </a:rPr>
                                  <m:t>0</m:t>
                                </m:r>
                              </m:e>
                              <m:e>
                                <m:r>
                                  <a:rPr lang="en-US" sz="2100" i="1">
                                    <a:latin typeface="Cambria Math" panose="02040503050406030204" pitchFamily="18" charset="0"/>
                                  </a:rPr>
                                  <m:t>0</m:t>
                                </m:r>
                              </m:e>
                              <m:e>
                                <m:r>
                                  <a:rPr lang="en-US" sz="2100" i="1">
                                    <a:latin typeface="Cambria Math" panose="02040503050406030204" pitchFamily="18" charset="0"/>
                                  </a:rPr>
                                  <m:t>0</m:t>
                                </m:r>
                              </m:e>
                              <m:e>
                                <m:r>
                                  <a:rPr lang="en-US" sz="2100" i="1">
                                    <a:latin typeface="Cambria Math" panose="02040503050406030204" pitchFamily="18" charset="0"/>
                                  </a:rPr>
                                  <m:t>0</m:t>
                                </m:r>
                              </m:e>
                            </m:mr>
                            <m:mr>
                              <m:e>
                                <m:r>
                                  <a:rPr lang="en-US" sz="2100" i="1">
                                    <a:latin typeface="Cambria Math" panose="02040503050406030204" pitchFamily="18" charset="0"/>
                                  </a:rPr>
                                  <m:t>0</m:t>
                                </m:r>
                              </m:e>
                              <m:e>
                                <m:r>
                                  <a:rPr lang="en-US" sz="2100" i="1">
                                    <a:latin typeface="Cambria Math" panose="02040503050406030204" pitchFamily="18" charset="0"/>
                                  </a:rPr>
                                  <m:t>0</m:t>
                                </m:r>
                              </m:e>
                              <m:e>
                                <m:r>
                                  <a:rPr lang="en-US" sz="2100" i="1">
                                    <a:latin typeface="Cambria Math" panose="02040503050406030204" pitchFamily="18" charset="0"/>
                                  </a:rPr>
                                  <m:t>0</m:t>
                                </m:r>
                              </m:e>
                              <m:e>
                                <m:r>
                                  <a:rPr lang="en-US" sz="2100" i="1">
                                    <a:latin typeface="Cambria Math" panose="02040503050406030204" pitchFamily="18" charset="0"/>
                                  </a:rPr>
                                  <m:t>1</m:t>
                                </m:r>
                              </m:e>
                              <m:e>
                                <m:r>
                                  <a:rPr lang="en-US" sz="2100" i="1">
                                    <a:latin typeface="Cambria Math" panose="02040503050406030204" pitchFamily="18" charset="0"/>
                                  </a:rPr>
                                  <m:t>0</m:t>
                                </m:r>
                              </m:e>
                              <m:e>
                                <m:r>
                                  <a:rPr lang="en-US" sz="2100" i="1">
                                    <a:latin typeface="Cambria Math" panose="02040503050406030204" pitchFamily="18" charset="0"/>
                                  </a:rPr>
                                  <m:t>0</m:t>
                                </m:r>
                              </m:e>
                              <m:e>
                                <m:r>
                                  <a:rPr lang="en-US" sz="2100" i="1">
                                    <a:latin typeface="Cambria Math" panose="02040503050406030204" pitchFamily="18" charset="0"/>
                                  </a:rPr>
                                  <m:t>0</m:t>
                                </m:r>
                              </m:e>
                              <m:e>
                                <m:r>
                                  <a:rPr lang="en-US" sz="2100" i="1">
                                    <a:latin typeface="Cambria Math" panose="02040503050406030204" pitchFamily="18" charset="0"/>
                                  </a:rPr>
                                  <m:t>0</m:t>
                                </m:r>
                              </m:e>
                            </m:mr>
                            <m:mr>
                              <m:e>
                                <m:r>
                                  <m:rPr>
                                    <m:brk m:alnAt="7"/>
                                  </m:rPr>
                                  <a:rPr lang="en-US" sz="2100" i="1">
                                    <a:latin typeface="Cambria Math" panose="02040503050406030204" pitchFamily="18" charset="0"/>
                                  </a:rPr>
                                  <m:t>0</m:t>
                                </m:r>
                              </m:e>
                              <m:e>
                                <m:r>
                                  <a:rPr lang="en-US" sz="2100" i="1">
                                    <a:latin typeface="Cambria Math" panose="02040503050406030204" pitchFamily="18" charset="0"/>
                                  </a:rPr>
                                  <m:t>0</m:t>
                                </m:r>
                              </m:e>
                              <m:e>
                                <m:r>
                                  <a:rPr lang="en-US" sz="2100" i="1">
                                    <a:latin typeface="Cambria Math" panose="02040503050406030204" pitchFamily="18" charset="0"/>
                                  </a:rPr>
                                  <m:t>0</m:t>
                                </m:r>
                              </m:e>
                              <m:e>
                                <m:r>
                                  <a:rPr lang="en-US" sz="2100" i="1">
                                    <a:latin typeface="Cambria Math" panose="02040503050406030204" pitchFamily="18" charset="0"/>
                                  </a:rPr>
                                  <m:t>0</m:t>
                                </m:r>
                              </m:e>
                              <m:e>
                                <m:r>
                                  <a:rPr lang="en-US" sz="2100" i="1">
                                    <a:latin typeface="Cambria Math" panose="02040503050406030204" pitchFamily="18" charset="0"/>
                                  </a:rPr>
                                  <m:t>1</m:t>
                                </m:r>
                              </m:e>
                              <m:e>
                                <m:r>
                                  <a:rPr lang="en-US" sz="2100" i="1">
                                    <a:latin typeface="Cambria Math" panose="02040503050406030204" pitchFamily="18" charset="0"/>
                                  </a:rPr>
                                  <m:t>0</m:t>
                                </m:r>
                              </m:e>
                              <m:e>
                                <m:r>
                                  <a:rPr lang="en-US" sz="2100" i="1">
                                    <a:latin typeface="Cambria Math" panose="02040503050406030204" pitchFamily="18" charset="0"/>
                                  </a:rPr>
                                  <m:t>0</m:t>
                                </m:r>
                              </m:e>
                              <m:e>
                                <m:r>
                                  <a:rPr lang="en-US" sz="2100" i="1">
                                    <a:latin typeface="Cambria Math" panose="02040503050406030204" pitchFamily="18" charset="0"/>
                                  </a:rPr>
                                  <m:t>0</m:t>
                                </m:r>
                              </m:e>
                            </m:mr>
                            <m:mr>
                              <m:e>
                                <m:r>
                                  <a:rPr lang="en-US" sz="2100" i="1">
                                    <a:latin typeface="Cambria Math" panose="02040503050406030204" pitchFamily="18" charset="0"/>
                                  </a:rPr>
                                  <m:t>0</m:t>
                                </m:r>
                              </m:e>
                              <m:e>
                                <m:r>
                                  <a:rPr lang="en-US" sz="2100" i="1">
                                    <a:latin typeface="Cambria Math" panose="02040503050406030204" pitchFamily="18" charset="0"/>
                                  </a:rPr>
                                  <m:t>0</m:t>
                                </m:r>
                              </m:e>
                              <m:e>
                                <m:r>
                                  <a:rPr lang="en-US" sz="2100" i="1">
                                    <a:latin typeface="Cambria Math" panose="02040503050406030204" pitchFamily="18" charset="0"/>
                                  </a:rPr>
                                  <m:t>0</m:t>
                                </m:r>
                              </m:e>
                              <m:e>
                                <m:r>
                                  <a:rPr lang="en-US" sz="2100" i="1">
                                    <a:latin typeface="Cambria Math" panose="02040503050406030204" pitchFamily="18" charset="0"/>
                                  </a:rPr>
                                  <m:t>0</m:t>
                                </m:r>
                              </m:e>
                              <m:e>
                                <m:r>
                                  <a:rPr lang="en-US" sz="2100" i="1">
                                    <a:latin typeface="Cambria Math" panose="02040503050406030204" pitchFamily="18" charset="0"/>
                                  </a:rPr>
                                  <m:t>0</m:t>
                                </m:r>
                              </m:e>
                              <m:e>
                                <m:r>
                                  <a:rPr lang="en-US" sz="2100" i="1">
                                    <a:latin typeface="Cambria Math" panose="02040503050406030204" pitchFamily="18" charset="0"/>
                                  </a:rPr>
                                  <m:t>1</m:t>
                                </m:r>
                              </m:e>
                              <m:e>
                                <m:r>
                                  <a:rPr lang="en-US" sz="2100" i="1">
                                    <a:latin typeface="Cambria Math" panose="02040503050406030204" pitchFamily="18" charset="0"/>
                                  </a:rPr>
                                  <m:t>0</m:t>
                                </m:r>
                              </m:e>
                              <m:e>
                                <m:r>
                                  <a:rPr lang="en-US" sz="2100" i="1">
                                    <a:latin typeface="Cambria Math" panose="02040503050406030204" pitchFamily="18" charset="0"/>
                                  </a:rPr>
                                  <m:t>0</m:t>
                                </m:r>
                              </m:e>
                            </m:mr>
                            <m:mr>
                              <m:e>
                                <m:r>
                                  <a:rPr lang="en-US" sz="2100" i="1">
                                    <a:latin typeface="Cambria Math" panose="02040503050406030204" pitchFamily="18" charset="0"/>
                                  </a:rPr>
                                  <m:t>0</m:t>
                                </m:r>
                              </m:e>
                              <m:e>
                                <m:r>
                                  <a:rPr lang="en-US" sz="2100" i="1">
                                    <a:latin typeface="Cambria Math" panose="02040503050406030204" pitchFamily="18" charset="0"/>
                                  </a:rPr>
                                  <m:t>0</m:t>
                                </m:r>
                              </m:e>
                              <m:e>
                                <m:r>
                                  <a:rPr lang="en-US" sz="2100" i="1">
                                    <a:latin typeface="Cambria Math" panose="02040503050406030204" pitchFamily="18" charset="0"/>
                                  </a:rPr>
                                  <m:t>0</m:t>
                                </m:r>
                              </m:e>
                              <m:e>
                                <m:r>
                                  <a:rPr lang="en-US" sz="2100" i="1">
                                    <a:latin typeface="Cambria Math" panose="02040503050406030204" pitchFamily="18" charset="0"/>
                                  </a:rPr>
                                  <m:t>0</m:t>
                                </m:r>
                              </m:e>
                              <m:e>
                                <m:r>
                                  <a:rPr lang="en-US" sz="2100" i="1">
                                    <a:latin typeface="Cambria Math" panose="02040503050406030204" pitchFamily="18" charset="0"/>
                                  </a:rPr>
                                  <m:t>0</m:t>
                                </m:r>
                              </m:e>
                              <m:e>
                                <m:r>
                                  <a:rPr lang="en-US" sz="2100" i="1">
                                    <a:latin typeface="Cambria Math" panose="02040503050406030204" pitchFamily="18" charset="0"/>
                                  </a:rPr>
                                  <m:t>0</m:t>
                                </m:r>
                              </m:e>
                              <m:e>
                                <m:r>
                                  <a:rPr lang="en-US" sz="2100" i="1">
                                    <a:latin typeface="Cambria Math" panose="02040503050406030204" pitchFamily="18" charset="0"/>
                                  </a:rPr>
                                  <m:t>0</m:t>
                                </m:r>
                              </m:e>
                              <m:e>
                                <m:r>
                                  <a:rPr lang="en-US" sz="2100" i="1">
                                    <a:latin typeface="Cambria Math" panose="02040503050406030204" pitchFamily="18" charset="0"/>
                                  </a:rPr>
                                  <m:t>1</m:t>
                                </m:r>
                              </m:e>
                            </m:mr>
                            <m:mr>
                              <m:e>
                                <m:r>
                                  <a:rPr lang="en-US" sz="2100" i="1">
                                    <a:latin typeface="Cambria Math" panose="02040503050406030204" pitchFamily="18" charset="0"/>
                                  </a:rPr>
                                  <m:t>0</m:t>
                                </m:r>
                              </m:e>
                              <m:e>
                                <m:r>
                                  <a:rPr lang="en-US" sz="2100" i="1">
                                    <a:latin typeface="Cambria Math" panose="02040503050406030204" pitchFamily="18" charset="0"/>
                                  </a:rPr>
                                  <m:t>0</m:t>
                                </m:r>
                              </m:e>
                              <m:e>
                                <m:r>
                                  <a:rPr lang="en-US" sz="2100" i="1">
                                    <a:latin typeface="Cambria Math" panose="02040503050406030204" pitchFamily="18" charset="0"/>
                                  </a:rPr>
                                  <m:t>0</m:t>
                                </m:r>
                              </m:e>
                              <m:e>
                                <m:r>
                                  <a:rPr lang="en-US" sz="2100" i="1">
                                    <a:latin typeface="Cambria Math" panose="02040503050406030204" pitchFamily="18" charset="0"/>
                                  </a:rPr>
                                  <m:t>1</m:t>
                                </m:r>
                              </m:e>
                              <m:e>
                                <m:r>
                                  <a:rPr lang="en-US" sz="2100" i="1">
                                    <a:latin typeface="Cambria Math" panose="02040503050406030204" pitchFamily="18" charset="0"/>
                                  </a:rPr>
                                  <m:t>0</m:t>
                                </m:r>
                              </m:e>
                              <m:e>
                                <m:r>
                                  <a:rPr lang="en-US" sz="2100" i="1">
                                    <a:latin typeface="Cambria Math" panose="02040503050406030204" pitchFamily="18" charset="0"/>
                                  </a:rPr>
                                  <m:t>0</m:t>
                                </m:r>
                              </m:e>
                              <m:e>
                                <m:r>
                                  <a:rPr lang="en-US" sz="2100" i="1">
                                    <a:latin typeface="Cambria Math" panose="02040503050406030204" pitchFamily="18" charset="0"/>
                                  </a:rPr>
                                  <m:t>1</m:t>
                                </m:r>
                              </m:e>
                              <m:e>
                                <m:r>
                                  <a:rPr lang="en-US" sz="2100" i="1">
                                    <a:latin typeface="Cambria Math" panose="02040503050406030204" pitchFamily="18" charset="0"/>
                                  </a:rPr>
                                  <m:t>0</m:t>
                                </m:r>
                              </m:e>
                            </m:mr>
                          </m:m>
                        </m:e>
                      </m:d>
                    </m:oMath>
                  </m:oMathPara>
                </a14:m>
                <a:endParaRPr lang="en-US" sz="2100" dirty="0"/>
              </a:p>
            </p:txBody>
          </p:sp>
        </mc:Choice>
        <mc:Fallback>
          <p:sp>
            <p:nvSpPr>
              <p:cNvPr id="33" name="Rectangle 32">
                <a:extLst>
                  <a:ext uri="{FF2B5EF4-FFF2-40B4-BE49-F238E27FC236}">
                    <a16:creationId xmlns:a16="http://schemas.microsoft.com/office/drawing/2014/main" id="{93A92C67-D85C-504F-A3D5-49F2E4E8AC4A}"/>
                  </a:ext>
                </a:extLst>
              </p:cNvPr>
              <p:cNvSpPr>
                <a:spLocks noRot="1" noChangeAspect="1" noMove="1" noResize="1" noEditPoints="1" noAdjustHandles="1" noChangeArrowheads="1" noChangeShapeType="1" noTextEdit="1"/>
              </p:cNvSpPr>
              <p:nvPr/>
            </p:nvSpPr>
            <p:spPr>
              <a:xfrm>
                <a:off x="6293834" y="3037176"/>
                <a:ext cx="3731791" cy="2525563"/>
              </a:xfrm>
              <a:prstGeom prst="rect">
                <a:avLst/>
              </a:prstGeom>
              <a:blipFill>
                <a:blip r:embed="rId4"/>
                <a:stretch>
                  <a:fillRect b="-500"/>
                </a:stretch>
              </a:blipFill>
            </p:spPr>
            <p:txBody>
              <a:bodyPr/>
              <a:lstStyle/>
              <a:p>
                <a:r>
                  <a:rPr lang="en-US">
                    <a:noFill/>
                  </a:rPr>
                  <a:t> </a:t>
                </a:r>
              </a:p>
            </p:txBody>
          </p:sp>
        </mc:Fallback>
      </mc:AlternateContent>
      <p:sp>
        <p:nvSpPr>
          <p:cNvPr id="34" name="Rectangle 33">
            <a:extLst>
              <a:ext uri="{FF2B5EF4-FFF2-40B4-BE49-F238E27FC236}">
                <a16:creationId xmlns:a16="http://schemas.microsoft.com/office/drawing/2014/main" id="{6B61C813-8512-B94D-9B4A-433FF40EF96C}"/>
              </a:ext>
            </a:extLst>
          </p:cNvPr>
          <p:cNvSpPr/>
          <p:nvPr/>
        </p:nvSpPr>
        <p:spPr>
          <a:xfrm>
            <a:off x="1364761" y="2315781"/>
            <a:ext cx="1443295" cy="1400233"/>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latin typeface="Times" pitchFamily="2" charset="0"/>
            </a:endParaRPr>
          </a:p>
        </p:txBody>
      </p:sp>
      <p:sp>
        <p:nvSpPr>
          <p:cNvPr id="35" name="Oval 34">
            <a:extLst>
              <a:ext uri="{FF2B5EF4-FFF2-40B4-BE49-F238E27FC236}">
                <a16:creationId xmlns:a16="http://schemas.microsoft.com/office/drawing/2014/main" id="{FC20E9C4-18A1-384E-B68F-5A6D94FFEA02}"/>
              </a:ext>
            </a:extLst>
          </p:cNvPr>
          <p:cNvSpPr/>
          <p:nvPr/>
        </p:nvSpPr>
        <p:spPr>
          <a:xfrm>
            <a:off x="5397138" y="4001815"/>
            <a:ext cx="914400" cy="914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sp>
        <p:nvSpPr>
          <p:cNvPr id="36" name="Oval 35">
            <a:extLst>
              <a:ext uri="{FF2B5EF4-FFF2-40B4-BE49-F238E27FC236}">
                <a16:creationId xmlns:a16="http://schemas.microsoft.com/office/drawing/2014/main" id="{ABCA0ACB-60D2-904F-BCAD-6C978B9241CE}"/>
              </a:ext>
            </a:extLst>
          </p:cNvPr>
          <p:cNvSpPr/>
          <p:nvPr/>
        </p:nvSpPr>
        <p:spPr>
          <a:xfrm>
            <a:off x="5674338" y="2840650"/>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cxnSp>
        <p:nvCxnSpPr>
          <p:cNvPr id="37" name="Straight Connector 36">
            <a:extLst>
              <a:ext uri="{FF2B5EF4-FFF2-40B4-BE49-F238E27FC236}">
                <a16:creationId xmlns:a16="http://schemas.microsoft.com/office/drawing/2014/main" id="{0D744CD8-6A18-EE4C-B8C5-AD48BC967FF1}"/>
              </a:ext>
            </a:extLst>
          </p:cNvPr>
          <p:cNvCxnSpPr>
            <a:cxnSpLocks/>
            <a:stCxn id="36" idx="4"/>
            <a:endCxn id="35" idx="0"/>
          </p:cNvCxnSpPr>
          <p:nvPr/>
        </p:nvCxnSpPr>
        <p:spPr>
          <a:xfrm>
            <a:off x="5854338" y="3200650"/>
            <a:ext cx="0" cy="80116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8" name="Oval 37">
            <a:extLst>
              <a:ext uri="{FF2B5EF4-FFF2-40B4-BE49-F238E27FC236}">
                <a16:creationId xmlns:a16="http://schemas.microsoft.com/office/drawing/2014/main" id="{0425FBB3-C8F7-AB4D-B0D8-5AE6F32BAA22}"/>
              </a:ext>
            </a:extLst>
          </p:cNvPr>
          <p:cNvSpPr/>
          <p:nvPr/>
        </p:nvSpPr>
        <p:spPr>
          <a:xfrm>
            <a:off x="9746023" y="5372239"/>
            <a:ext cx="914400" cy="914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sp>
        <p:nvSpPr>
          <p:cNvPr id="39" name="Oval 38">
            <a:extLst>
              <a:ext uri="{FF2B5EF4-FFF2-40B4-BE49-F238E27FC236}">
                <a16:creationId xmlns:a16="http://schemas.microsoft.com/office/drawing/2014/main" id="{6D3CA0C2-42E9-9F4C-9FCA-1F6F8EBDE83E}"/>
              </a:ext>
            </a:extLst>
          </p:cNvPr>
          <p:cNvSpPr/>
          <p:nvPr/>
        </p:nvSpPr>
        <p:spPr>
          <a:xfrm>
            <a:off x="10023223" y="2840650"/>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cxnSp>
        <p:nvCxnSpPr>
          <p:cNvPr id="40" name="Straight Connector 39">
            <a:extLst>
              <a:ext uri="{FF2B5EF4-FFF2-40B4-BE49-F238E27FC236}">
                <a16:creationId xmlns:a16="http://schemas.microsoft.com/office/drawing/2014/main" id="{D1F037A3-BC91-234A-82A2-487763FDDCC4}"/>
              </a:ext>
            </a:extLst>
          </p:cNvPr>
          <p:cNvCxnSpPr>
            <a:cxnSpLocks/>
            <a:stCxn id="39" idx="4"/>
            <a:endCxn id="38" idx="0"/>
          </p:cNvCxnSpPr>
          <p:nvPr/>
        </p:nvCxnSpPr>
        <p:spPr>
          <a:xfrm>
            <a:off x="10203223" y="3200650"/>
            <a:ext cx="0" cy="217158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41" name="Oval 40">
            <a:extLst>
              <a:ext uri="{FF2B5EF4-FFF2-40B4-BE49-F238E27FC236}">
                <a16:creationId xmlns:a16="http://schemas.microsoft.com/office/drawing/2014/main" id="{2FD003E2-DC8C-CD46-8653-7A67207DBD86}"/>
              </a:ext>
            </a:extLst>
          </p:cNvPr>
          <p:cNvSpPr/>
          <p:nvPr/>
        </p:nvSpPr>
        <p:spPr>
          <a:xfrm>
            <a:off x="10023223" y="4252914"/>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mc:AlternateContent xmlns:mc="http://schemas.openxmlformats.org/markup-compatibility/2006">
        <mc:Choice xmlns:a14="http://schemas.microsoft.com/office/drawing/2010/main" Requires="a14">
          <p:sp>
            <p:nvSpPr>
              <p:cNvPr id="42" name="TextBox 41">
                <a:extLst>
                  <a:ext uri="{FF2B5EF4-FFF2-40B4-BE49-F238E27FC236}">
                    <a16:creationId xmlns:a16="http://schemas.microsoft.com/office/drawing/2014/main" id="{2C578579-7A2A-8C43-BE98-135EB62558EB}"/>
                  </a:ext>
                </a:extLst>
              </p:cNvPr>
              <p:cNvSpPr txBox="1"/>
              <p:nvPr/>
            </p:nvSpPr>
            <p:spPr>
              <a:xfrm>
                <a:off x="1472394" y="3792740"/>
                <a:ext cx="1228028" cy="60555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ctrlPr>
                            <a:rPr lang="en-US" sz="2000" i="1">
                              <a:latin typeface="Cambria Math" panose="02040503050406030204" pitchFamily="18" charset="0"/>
                            </a:rPr>
                          </m:ctrlPr>
                        </m:dPr>
                        <m:e>
                          <m:m>
                            <m:mPr>
                              <m:plcHide m:val="on"/>
                              <m:mcs>
                                <m:mc>
                                  <m:mcPr>
                                    <m:count m:val="2"/>
                                    <m:mcJc m:val="center"/>
                                  </m:mcPr>
                                </m:mc>
                              </m:mcs>
                              <m:ctrlPr>
                                <a:rPr lang="en-US" sz="2000" i="1">
                                  <a:latin typeface="Cambria Math" panose="02040503050406030204" pitchFamily="18" charset="0"/>
                                </a:rPr>
                              </m:ctrlPr>
                            </m:mPr>
                            <m:mr>
                              <m:e>
                                <m:r>
                                  <a:rPr lang="en-US" sz="2000">
                                    <a:latin typeface="Cambria Math" panose="02040503050406030204" pitchFamily="18" charset="0"/>
                                  </a:rPr>
                                  <m:t>1</m:t>
                                </m:r>
                              </m:e>
                              <m:e>
                                <m:r>
                                  <a:rPr lang="en-US" sz="2000">
                                    <a:latin typeface="Cambria Math" panose="02040503050406030204" pitchFamily="18" charset="0"/>
                                  </a:rPr>
                                  <m:t>0</m:t>
                                </m:r>
                              </m:e>
                            </m:mr>
                            <m:mr>
                              <m:e>
                                <m:r>
                                  <a:rPr lang="en-US" sz="2000">
                                    <a:latin typeface="Cambria Math" panose="02040503050406030204" pitchFamily="18" charset="0"/>
                                  </a:rPr>
                                  <m:t>0</m:t>
                                </m:r>
                              </m:e>
                              <m:e>
                                <m:r>
                                  <a:rPr lang="en-US" sz="2000">
                                    <a:latin typeface="Cambria Math" panose="02040503050406030204" pitchFamily="18" charset="0"/>
                                  </a:rPr>
                                  <m:t>−1</m:t>
                                </m:r>
                              </m:e>
                            </m:mr>
                          </m:m>
                        </m:e>
                      </m:d>
                    </m:oMath>
                  </m:oMathPara>
                </a14:m>
                <a:endParaRPr lang="en-US" sz="2000" dirty="0"/>
              </a:p>
            </p:txBody>
          </p:sp>
        </mc:Choice>
        <mc:Fallback>
          <p:sp>
            <p:nvSpPr>
              <p:cNvPr id="42" name="TextBox 41">
                <a:extLst>
                  <a:ext uri="{FF2B5EF4-FFF2-40B4-BE49-F238E27FC236}">
                    <a16:creationId xmlns:a16="http://schemas.microsoft.com/office/drawing/2014/main" id="{2C578579-7A2A-8C43-BE98-135EB62558EB}"/>
                  </a:ext>
                </a:extLst>
              </p:cNvPr>
              <p:cNvSpPr txBox="1">
                <a:spLocks noRot="1" noChangeAspect="1" noMove="1" noResize="1" noEditPoints="1" noAdjustHandles="1" noChangeArrowheads="1" noChangeShapeType="1" noTextEdit="1"/>
              </p:cNvSpPr>
              <p:nvPr/>
            </p:nvSpPr>
            <p:spPr>
              <a:xfrm>
                <a:off x="1472394" y="3792740"/>
                <a:ext cx="1228028" cy="605550"/>
              </a:xfrm>
              <a:prstGeom prst="rect">
                <a:avLst/>
              </a:prstGeom>
              <a:blipFill>
                <a:blip r:embed="rId5"/>
                <a:stretch>
                  <a:fillRect b="-4167"/>
                </a:stretch>
              </a:blipFill>
            </p:spPr>
            <p:txBody>
              <a:bodyPr/>
              <a:lstStyle/>
              <a:p>
                <a:r>
                  <a:rPr lang="en-US">
                    <a:noFill/>
                  </a:rPr>
                  <a:t> </a:t>
                </a:r>
              </a:p>
            </p:txBody>
          </p:sp>
        </mc:Fallback>
      </mc:AlternateContent>
      <p:sp>
        <p:nvSpPr>
          <p:cNvPr id="43" name="Slide Number Placeholder 2">
            <a:extLst>
              <a:ext uri="{FF2B5EF4-FFF2-40B4-BE49-F238E27FC236}">
                <a16:creationId xmlns:a16="http://schemas.microsoft.com/office/drawing/2014/main" id="{09B8B9B0-A19E-B542-8D2A-522711B61DD5}"/>
              </a:ext>
            </a:extLst>
          </p:cNvPr>
          <p:cNvSpPr>
            <a:spLocks noGrp="1"/>
          </p:cNvSpPr>
          <p:nvPr>
            <p:ph type="sldNum" sz="quarter" idx="12"/>
          </p:nvPr>
        </p:nvSpPr>
        <p:spPr>
          <a:xfrm>
            <a:off x="0" y="6492875"/>
            <a:ext cx="767255" cy="365125"/>
          </a:xfrm>
        </p:spPr>
        <p:txBody>
          <a:bodyPr/>
          <a:lstStyle/>
          <a:p>
            <a:fld id="{591A223C-FA10-BC46-A853-03BA373D023C}" type="slidenum">
              <a:rPr lang="en-US" smtClean="0"/>
              <a:t>10</a:t>
            </a:fld>
            <a:endParaRPr lang="en-US" dirty="0"/>
          </a:p>
        </p:txBody>
      </p:sp>
    </p:spTree>
    <p:extLst>
      <p:ext uri="{BB962C8B-B14F-4D97-AF65-F5344CB8AC3E}">
        <p14:creationId xmlns:p14="http://schemas.microsoft.com/office/powerpoint/2010/main" val="38574617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A640C50-C31E-8E44-A5DA-7F7CBFBFEF77}"/>
              </a:ext>
            </a:extLst>
          </p:cNvPr>
          <p:cNvPicPr>
            <a:picLocks noChangeAspect="1"/>
          </p:cNvPicPr>
          <p:nvPr/>
        </p:nvPicPr>
        <p:blipFill>
          <a:blip r:embed="rId3"/>
          <a:stretch>
            <a:fillRect/>
          </a:stretch>
        </p:blipFill>
        <p:spPr>
          <a:xfrm>
            <a:off x="3917453" y="1544772"/>
            <a:ext cx="2896119" cy="3778992"/>
          </a:xfrm>
          <a:prstGeom prst="rect">
            <a:avLst/>
          </a:prstGeom>
        </p:spPr>
      </p:pic>
      <p:sp>
        <p:nvSpPr>
          <p:cNvPr id="2" name="Slide Number Placeholder 1">
            <a:extLst>
              <a:ext uri="{FF2B5EF4-FFF2-40B4-BE49-F238E27FC236}">
                <a16:creationId xmlns:a16="http://schemas.microsoft.com/office/drawing/2014/main" id="{24211A58-6A63-A149-9EE3-F0C64891CC90}"/>
              </a:ext>
            </a:extLst>
          </p:cNvPr>
          <p:cNvSpPr>
            <a:spLocks noGrp="1"/>
          </p:cNvSpPr>
          <p:nvPr>
            <p:ph type="sldNum" sz="quarter" idx="12"/>
          </p:nvPr>
        </p:nvSpPr>
        <p:spPr>
          <a:xfrm>
            <a:off x="0" y="6400801"/>
            <a:ext cx="1117600" cy="457200"/>
          </a:xfrm>
        </p:spPr>
        <p:txBody>
          <a:bodyPr/>
          <a:lstStyle/>
          <a:p>
            <a:pPr algn="l"/>
            <a:fld id="{591A223C-FA10-BC46-A853-03BA373D023C}" type="slidenum">
              <a:rPr lang="en-US" smtClean="0"/>
              <a:pPr algn="l"/>
              <a:t>11</a:t>
            </a:fld>
            <a:endParaRPr lang="en-US" dirty="0"/>
          </a:p>
        </p:txBody>
      </p:sp>
      <p:pic>
        <p:nvPicPr>
          <p:cNvPr id="4" name="Picture 3">
            <a:extLst>
              <a:ext uri="{FF2B5EF4-FFF2-40B4-BE49-F238E27FC236}">
                <a16:creationId xmlns:a16="http://schemas.microsoft.com/office/drawing/2014/main" id="{9DB76E47-9444-3C49-8EED-22AF3B3CEA42}"/>
              </a:ext>
            </a:extLst>
          </p:cNvPr>
          <p:cNvPicPr>
            <a:picLocks noChangeAspect="1"/>
          </p:cNvPicPr>
          <p:nvPr/>
        </p:nvPicPr>
        <p:blipFill>
          <a:blip r:embed="rId4"/>
          <a:stretch>
            <a:fillRect/>
          </a:stretch>
        </p:blipFill>
        <p:spPr>
          <a:xfrm>
            <a:off x="2290486" y="3795713"/>
            <a:ext cx="7691714" cy="2743199"/>
          </a:xfrm>
          <a:prstGeom prst="rect">
            <a:avLst/>
          </a:prstGeom>
        </p:spPr>
      </p:pic>
      <p:sp>
        <p:nvSpPr>
          <p:cNvPr id="6" name="TextBox 5">
            <a:extLst>
              <a:ext uri="{FF2B5EF4-FFF2-40B4-BE49-F238E27FC236}">
                <a16:creationId xmlns:a16="http://schemas.microsoft.com/office/drawing/2014/main" id="{751551BC-3C49-9241-B2C0-C47ACBC8FFA2}"/>
              </a:ext>
            </a:extLst>
          </p:cNvPr>
          <p:cNvSpPr txBox="1"/>
          <p:nvPr/>
        </p:nvSpPr>
        <p:spPr>
          <a:xfrm>
            <a:off x="325464" y="493447"/>
            <a:ext cx="11360258" cy="677108"/>
          </a:xfrm>
          <a:prstGeom prst="rect">
            <a:avLst/>
          </a:prstGeom>
          <a:noFill/>
        </p:spPr>
        <p:txBody>
          <a:bodyPr wrap="square" rtlCol="0">
            <a:spAutoFit/>
          </a:bodyPr>
          <a:lstStyle/>
          <a:p>
            <a:pPr algn="ctr"/>
            <a:r>
              <a:rPr lang="en-US" sz="3800" dirty="0">
                <a:latin typeface="Comic Sans MS" panose="030F0902030302020204" pitchFamily="66" charset="0"/>
              </a:rPr>
              <a:t>Elementary quantum gates</a:t>
            </a:r>
          </a:p>
        </p:txBody>
      </p:sp>
    </p:spTree>
    <p:extLst>
      <p:ext uri="{BB962C8B-B14F-4D97-AF65-F5344CB8AC3E}">
        <p14:creationId xmlns:p14="http://schemas.microsoft.com/office/powerpoint/2010/main" val="27173563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A43A51A-6BBB-A44C-B396-79D147EBD03D}"/>
              </a:ext>
            </a:extLst>
          </p:cNvPr>
          <p:cNvSpPr>
            <a:spLocks noGrp="1"/>
          </p:cNvSpPr>
          <p:nvPr>
            <p:ph type="sldNum" sz="quarter" idx="12"/>
          </p:nvPr>
        </p:nvSpPr>
        <p:spPr/>
        <p:txBody>
          <a:bodyPr/>
          <a:lstStyle/>
          <a:p>
            <a:fld id="{591A223C-FA10-BC46-A853-03BA373D023C}" type="slidenum">
              <a:rPr lang="en-US" smtClean="0"/>
              <a:t>12</a:t>
            </a:fld>
            <a:endParaRPr lang="en-US"/>
          </a:p>
        </p:txBody>
      </p:sp>
      <p:sp>
        <p:nvSpPr>
          <p:cNvPr id="58" name="Title 57">
            <a:extLst>
              <a:ext uri="{FF2B5EF4-FFF2-40B4-BE49-F238E27FC236}">
                <a16:creationId xmlns:a16="http://schemas.microsoft.com/office/drawing/2014/main" id="{572BC6E5-73F3-8A42-878F-C8CCD674096C}"/>
              </a:ext>
            </a:extLst>
          </p:cNvPr>
          <p:cNvSpPr>
            <a:spLocks noGrp="1"/>
          </p:cNvSpPr>
          <p:nvPr>
            <p:ph type="title"/>
          </p:nvPr>
        </p:nvSpPr>
        <p:spPr/>
        <p:txBody>
          <a:bodyPr/>
          <a:lstStyle/>
          <a:p>
            <a:r>
              <a:rPr lang="en-ZA" dirty="0"/>
              <a:t>Library of Quantum Gates</a:t>
            </a:r>
            <a:endParaRPr lang="en-US" dirty="0"/>
          </a:p>
        </p:txBody>
      </p:sp>
      <p:grpSp>
        <p:nvGrpSpPr>
          <p:cNvPr id="8" name="Group 7">
            <a:extLst>
              <a:ext uri="{FF2B5EF4-FFF2-40B4-BE49-F238E27FC236}">
                <a16:creationId xmlns:a16="http://schemas.microsoft.com/office/drawing/2014/main" id="{15900253-24B1-DD42-A420-3A285E622B0F}"/>
              </a:ext>
            </a:extLst>
          </p:cNvPr>
          <p:cNvGrpSpPr/>
          <p:nvPr/>
        </p:nvGrpSpPr>
        <p:grpSpPr>
          <a:xfrm>
            <a:off x="10131897" y="1897984"/>
            <a:ext cx="720000" cy="807700"/>
            <a:chOff x="8902649" y="1353231"/>
            <a:chExt cx="720000" cy="807700"/>
          </a:xfrm>
        </p:grpSpPr>
        <p:sp>
          <p:nvSpPr>
            <p:cNvPr id="9" name="Rectangle 8">
              <a:extLst>
                <a:ext uri="{FF2B5EF4-FFF2-40B4-BE49-F238E27FC236}">
                  <a16:creationId xmlns:a16="http://schemas.microsoft.com/office/drawing/2014/main" id="{92C22082-1F7E-7041-BC8A-E92760E65741}"/>
                </a:ext>
              </a:extLst>
            </p:cNvPr>
            <p:cNvSpPr/>
            <p:nvPr/>
          </p:nvSpPr>
          <p:spPr>
            <a:xfrm>
              <a:off x="8902649" y="1353231"/>
              <a:ext cx="720000" cy="720000"/>
            </a:xfrm>
            <a:prstGeom prst="rect">
              <a:avLst/>
            </a:prstGeom>
            <a:solidFill>
              <a:schemeClr val="bg1">
                <a:lumMod val="8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 dirty="0">
                <a:latin typeface="Times" pitchFamily="2" charset="0"/>
              </a:endParaRPr>
            </a:p>
          </p:txBody>
        </p:sp>
        <p:sp>
          <p:nvSpPr>
            <p:cNvPr id="10" name="Arc 9">
              <a:extLst>
                <a:ext uri="{FF2B5EF4-FFF2-40B4-BE49-F238E27FC236}">
                  <a16:creationId xmlns:a16="http://schemas.microsoft.com/office/drawing/2014/main" id="{25CED6FF-A001-F742-B42B-50F2AA9E3AE5}"/>
                </a:ext>
              </a:extLst>
            </p:cNvPr>
            <p:cNvSpPr/>
            <p:nvPr/>
          </p:nvSpPr>
          <p:spPr>
            <a:xfrm>
              <a:off x="9008649" y="1636523"/>
              <a:ext cx="508000" cy="524408"/>
            </a:xfrm>
            <a:prstGeom prst="arc">
              <a:avLst>
                <a:gd name="adj1" fmla="val 10614695"/>
                <a:gd name="adj2" fmla="val 0"/>
              </a:avLst>
            </a:prstGeom>
            <a:ln w="25400" cap="rnd">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1" name="Straight Arrow Connector 10">
              <a:extLst>
                <a:ext uri="{FF2B5EF4-FFF2-40B4-BE49-F238E27FC236}">
                  <a16:creationId xmlns:a16="http://schemas.microsoft.com/office/drawing/2014/main" id="{31D06A5C-9DE7-6044-8FE2-E38A00D8E7A2}"/>
                </a:ext>
              </a:extLst>
            </p:cNvPr>
            <p:cNvCxnSpPr>
              <a:cxnSpLocks/>
            </p:cNvCxnSpPr>
            <p:nvPr/>
          </p:nvCxnSpPr>
          <p:spPr>
            <a:xfrm flipV="1">
              <a:off x="9262649" y="1527175"/>
              <a:ext cx="129001" cy="369690"/>
            </a:xfrm>
            <a:prstGeom prst="straightConnector1">
              <a:avLst/>
            </a:prstGeom>
            <a:ln w="25400" cap="rnd">
              <a:solidFill>
                <a:schemeClr val="tx1">
                  <a:lumMod val="65000"/>
                  <a:lumOff val="35000"/>
                </a:schemeClr>
              </a:solidFill>
              <a:headEnd type="oval" w="sm" len="sm"/>
              <a:tailEnd type="none"/>
            </a:ln>
          </p:spPr>
          <p:style>
            <a:lnRef idx="1">
              <a:schemeClr val="accent1"/>
            </a:lnRef>
            <a:fillRef idx="0">
              <a:schemeClr val="accent1"/>
            </a:fillRef>
            <a:effectRef idx="0">
              <a:schemeClr val="accent1"/>
            </a:effectRef>
            <a:fontRef idx="minor">
              <a:schemeClr val="tx1"/>
            </a:fontRef>
          </p:style>
        </p:cxnSp>
      </p:grpSp>
      <p:sp>
        <p:nvSpPr>
          <p:cNvPr id="27" name="TextBox 26">
            <a:extLst>
              <a:ext uri="{FF2B5EF4-FFF2-40B4-BE49-F238E27FC236}">
                <a16:creationId xmlns:a16="http://schemas.microsoft.com/office/drawing/2014/main" id="{AEE01831-FA38-CE43-9ADF-D7BD0979084B}"/>
              </a:ext>
            </a:extLst>
          </p:cNvPr>
          <p:cNvSpPr txBox="1"/>
          <p:nvPr/>
        </p:nvSpPr>
        <p:spPr>
          <a:xfrm>
            <a:off x="9601391" y="758469"/>
            <a:ext cx="1781011" cy="830997"/>
          </a:xfrm>
          <a:prstGeom prst="rect">
            <a:avLst/>
          </a:prstGeom>
          <a:noFill/>
        </p:spPr>
        <p:txBody>
          <a:bodyPr wrap="square" rtlCol="0">
            <a:spAutoFit/>
          </a:bodyPr>
          <a:lstStyle/>
          <a:p>
            <a:r>
              <a:rPr lang="en-US" sz="2400" dirty="0"/>
              <a:t>Non-unitary operations</a:t>
            </a:r>
          </a:p>
        </p:txBody>
      </p:sp>
      <p:sp>
        <p:nvSpPr>
          <p:cNvPr id="4" name="Oval 3">
            <a:extLst>
              <a:ext uri="{FF2B5EF4-FFF2-40B4-BE49-F238E27FC236}">
                <a16:creationId xmlns:a16="http://schemas.microsoft.com/office/drawing/2014/main" id="{5B9C7435-A65B-9F49-9F21-F578CBF1F1B1}"/>
              </a:ext>
            </a:extLst>
          </p:cNvPr>
          <p:cNvSpPr/>
          <p:nvPr/>
        </p:nvSpPr>
        <p:spPr>
          <a:xfrm>
            <a:off x="754665" y="1989330"/>
            <a:ext cx="720000"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sp>
        <p:nvSpPr>
          <p:cNvPr id="5" name="Rectangle 4">
            <a:extLst>
              <a:ext uri="{FF2B5EF4-FFF2-40B4-BE49-F238E27FC236}">
                <a16:creationId xmlns:a16="http://schemas.microsoft.com/office/drawing/2014/main" id="{F153DE41-76FC-CC40-8257-57863CBBF548}"/>
              </a:ext>
            </a:extLst>
          </p:cNvPr>
          <p:cNvSpPr/>
          <p:nvPr/>
        </p:nvSpPr>
        <p:spPr>
          <a:xfrm>
            <a:off x="754665" y="2901906"/>
            <a:ext cx="720000" cy="720000"/>
          </a:xfrm>
          <a:prstGeom prst="rect">
            <a:avLst/>
          </a:prstGeom>
          <a:solidFill>
            <a:srgbClr val="33B1F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latin typeface="Times" pitchFamily="2" charset="0"/>
              </a:rPr>
              <a:t>Y</a:t>
            </a:r>
          </a:p>
        </p:txBody>
      </p:sp>
      <p:sp>
        <p:nvSpPr>
          <p:cNvPr id="6" name="Rectangle 5">
            <a:extLst>
              <a:ext uri="{FF2B5EF4-FFF2-40B4-BE49-F238E27FC236}">
                <a16:creationId xmlns:a16="http://schemas.microsoft.com/office/drawing/2014/main" id="{365C265A-B515-AC4D-BC86-64E9B3B7BE67}"/>
              </a:ext>
            </a:extLst>
          </p:cNvPr>
          <p:cNvSpPr/>
          <p:nvPr/>
        </p:nvSpPr>
        <p:spPr>
          <a:xfrm>
            <a:off x="769487" y="3788685"/>
            <a:ext cx="720000" cy="720000"/>
          </a:xfrm>
          <a:prstGeom prst="rect">
            <a:avLst/>
          </a:prstGeom>
          <a:solidFill>
            <a:srgbClr val="33B1F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latin typeface="Times" pitchFamily="2" charset="0"/>
              </a:rPr>
              <a:t>Z</a:t>
            </a:r>
          </a:p>
        </p:txBody>
      </p:sp>
      <p:sp>
        <p:nvSpPr>
          <p:cNvPr id="3" name="TextBox 2">
            <a:extLst>
              <a:ext uri="{FF2B5EF4-FFF2-40B4-BE49-F238E27FC236}">
                <a16:creationId xmlns:a16="http://schemas.microsoft.com/office/drawing/2014/main" id="{BA4462AC-DC25-2740-A1C2-6FFDF0C1559F}"/>
              </a:ext>
            </a:extLst>
          </p:cNvPr>
          <p:cNvSpPr txBox="1"/>
          <p:nvPr/>
        </p:nvSpPr>
        <p:spPr>
          <a:xfrm>
            <a:off x="591035" y="1180815"/>
            <a:ext cx="787203" cy="461665"/>
          </a:xfrm>
          <a:prstGeom prst="rect">
            <a:avLst/>
          </a:prstGeom>
          <a:noFill/>
        </p:spPr>
        <p:txBody>
          <a:bodyPr wrap="none" rtlCol="0">
            <a:spAutoFit/>
          </a:bodyPr>
          <a:lstStyle/>
          <a:p>
            <a:r>
              <a:rPr lang="en-US" sz="2400" dirty="0"/>
              <a:t>Pauli</a:t>
            </a:r>
          </a:p>
        </p:txBody>
      </p:sp>
      <p:sp>
        <p:nvSpPr>
          <p:cNvPr id="24" name="TextBox 23">
            <a:extLst>
              <a:ext uri="{FF2B5EF4-FFF2-40B4-BE49-F238E27FC236}">
                <a16:creationId xmlns:a16="http://schemas.microsoft.com/office/drawing/2014/main" id="{E8044956-DCC6-B740-BADC-4E4DCC33FFC4}"/>
              </a:ext>
            </a:extLst>
          </p:cNvPr>
          <p:cNvSpPr txBox="1"/>
          <p:nvPr/>
        </p:nvSpPr>
        <p:spPr>
          <a:xfrm>
            <a:off x="2895363" y="1171126"/>
            <a:ext cx="1247329" cy="461665"/>
          </a:xfrm>
          <a:prstGeom prst="rect">
            <a:avLst/>
          </a:prstGeom>
          <a:noFill/>
        </p:spPr>
        <p:txBody>
          <a:bodyPr wrap="none" rtlCol="0">
            <a:spAutoFit/>
          </a:bodyPr>
          <a:lstStyle/>
          <a:p>
            <a:r>
              <a:rPr lang="en-US" sz="2400" dirty="0"/>
              <a:t>Rotation</a:t>
            </a:r>
          </a:p>
        </p:txBody>
      </p:sp>
      <p:sp>
        <p:nvSpPr>
          <p:cNvPr id="18" name="Rectangle 17">
            <a:extLst>
              <a:ext uri="{FF2B5EF4-FFF2-40B4-BE49-F238E27FC236}">
                <a16:creationId xmlns:a16="http://schemas.microsoft.com/office/drawing/2014/main" id="{F231256D-BF70-8F4D-A487-BCC0C7E39EBE}"/>
              </a:ext>
            </a:extLst>
          </p:cNvPr>
          <p:cNvSpPr/>
          <p:nvPr/>
        </p:nvSpPr>
        <p:spPr>
          <a:xfrm>
            <a:off x="5419300" y="2852525"/>
            <a:ext cx="720000" cy="720000"/>
          </a:xfrm>
          <a:prstGeom prst="rect">
            <a:avLst/>
          </a:prstGeom>
          <a:solidFill>
            <a:srgbClr val="33B1F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Times" pitchFamily="2" charset="0"/>
              </a:rPr>
              <a:t>S</a:t>
            </a:r>
          </a:p>
        </p:txBody>
      </p:sp>
      <p:sp>
        <p:nvSpPr>
          <p:cNvPr id="19" name="Rectangle 18">
            <a:extLst>
              <a:ext uri="{FF2B5EF4-FFF2-40B4-BE49-F238E27FC236}">
                <a16:creationId xmlns:a16="http://schemas.microsoft.com/office/drawing/2014/main" id="{B3965BAB-2EB9-914B-B56D-B048F0AD6A3E}"/>
              </a:ext>
            </a:extLst>
          </p:cNvPr>
          <p:cNvSpPr/>
          <p:nvPr/>
        </p:nvSpPr>
        <p:spPr>
          <a:xfrm>
            <a:off x="5419300" y="3763216"/>
            <a:ext cx="720000" cy="720000"/>
          </a:xfrm>
          <a:prstGeom prst="rect">
            <a:avLst/>
          </a:prstGeom>
          <a:solidFill>
            <a:srgbClr val="33B1F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Times" pitchFamily="2" charset="0"/>
              </a:rPr>
              <a:t>S</a:t>
            </a:r>
            <a:r>
              <a:rPr lang="en-US" sz="2800" baseline="30000" dirty="0">
                <a:solidFill>
                  <a:schemeClr val="tx1"/>
                </a:solidFill>
                <a:latin typeface="Times" pitchFamily="2" charset="0"/>
              </a:rPr>
              <a:t>†</a:t>
            </a:r>
          </a:p>
        </p:txBody>
      </p:sp>
      <p:sp>
        <p:nvSpPr>
          <p:cNvPr id="20" name="Rectangle 19">
            <a:extLst>
              <a:ext uri="{FF2B5EF4-FFF2-40B4-BE49-F238E27FC236}">
                <a16:creationId xmlns:a16="http://schemas.microsoft.com/office/drawing/2014/main" id="{750445F4-F000-054D-8808-B2180123D1FA}"/>
              </a:ext>
            </a:extLst>
          </p:cNvPr>
          <p:cNvSpPr/>
          <p:nvPr/>
        </p:nvSpPr>
        <p:spPr>
          <a:xfrm>
            <a:off x="5419300" y="4673907"/>
            <a:ext cx="720000" cy="720000"/>
          </a:xfrm>
          <a:prstGeom prst="rect">
            <a:avLst/>
          </a:prstGeom>
          <a:solidFill>
            <a:srgbClr val="33B1F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Times" pitchFamily="2" charset="0"/>
              </a:rPr>
              <a:t>T</a:t>
            </a:r>
          </a:p>
        </p:txBody>
      </p:sp>
      <p:sp>
        <p:nvSpPr>
          <p:cNvPr id="21" name="Rectangle 20">
            <a:extLst>
              <a:ext uri="{FF2B5EF4-FFF2-40B4-BE49-F238E27FC236}">
                <a16:creationId xmlns:a16="http://schemas.microsoft.com/office/drawing/2014/main" id="{32383EA3-AE3C-F643-80C6-41D51435FF08}"/>
              </a:ext>
            </a:extLst>
          </p:cNvPr>
          <p:cNvSpPr/>
          <p:nvPr/>
        </p:nvSpPr>
        <p:spPr>
          <a:xfrm>
            <a:off x="5419300" y="5584597"/>
            <a:ext cx="720000" cy="725217"/>
          </a:xfrm>
          <a:prstGeom prst="rect">
            <a:avLst/>
          </a:prstGeom>
          <a:solidFill>
            <a:srgbClr val="33B1F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Times" pitchFamily="2" charset="0"/>
              </a:rPr>
              <a:t>T</a:t>
            </a:r>
            <a:r>
              <a:rPr lang="en-US" sz="2800" baseline="30000" dirty="0">
                <a:solidFill>
                  <a:schemeClr val="tx1"/>
                </a:solidFill>
                <a:latin typeface="Times" pitchFamily="2" charset="0"/>
              </a:rPr>
              <a:t>†</a:t>
            </a:r>
          </a:p>
        </p:txBody>
      </p:sp>
      <p:sp>
        <p:nvSpPr>
          <p:cNvPr id="22" name="Rectangle 21">
            <a:extLst>
              <a:ext uri="{FF2B5EF4-FFF2-40B4-BE49-F238E27FC236}">
                <a16:creationId xmlns:a16="http://schemas.microsoft.com/office/drawing/2014/main" id="{982C1E62-A56C-2A4D-B7CA-AA74CA274A0E}"/>
              </a:ext>
            </a:extLst>
          </p:cNvPr>
          <p:cNvSpPr/>
          <p:nvPr/>
        </p:nvSpPr>
        <p:spPr>
          <a:xfrm>
            <a:off x="5419300" y="1941834"/>
            <a:ext cx="720000" cy="720000"/>
          </a:xfrm>
          <a:prstGeom prst="rect">
            <a:avLst/>
          </a:prstGeom>
          <a:solidFill>
            <a:srgbClr val="33B1F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Times" pitchFamily="2" charset="0"/>
              </a:rPr>
              <a:t>P</a:t>
            </a:r>
          </a:p>
        </p:txBody>
      </p:sp>
      <p:sp>
        <p:nvSpPr>
          <p:cNvPr id="25" name="TextBox 24">
            <a:extLst>
              <a:ext uri="{FF2B5EF4-FFF2-40B4-BE49-F238E27FC236}">
                <a16:creationId xmlns:a16="http://schemas.microsoft.com/office/drawing/2014/main" id="{CE3E5E71-CCE0-A740-B2C0-E0A6D0F4A2CF}"/>
              </a:ext>
            </a:extLst>
          </p:cNvPr>
          <p:cNvSpPr txBox="1"/>
          <p:nvPr/>
        </p:nvSpPr>
        <p:spPr>
          <a:xfrm>
            <a:off x="5298746" y="1156000"/>
            <a:ext cx="926857" cy="461665"/>
          </a:xfrm>
          <a:prstGeom prst="rect">
            <a:avLst/>
          </a:prstGeom>
          <a:noFill/>
        </p:spPr>
        <p:txBody>
          <a:bodyPr wrap="none" rtlCol="0">
            <a:spAutoFit/>
          </a:bodyPr>
          <a:lstStyle/>
          <a:p>
            <a:r>
              <a:rPr lang="en-US" sz="2400" dirty="0"/>
              <a:t>Phase</a:t>
            </a:r>
          </a:p>
        </p:txBody>
      </p:sp>
      <p:cxnSp>
        <p:nvCxnSpPr>
          <p:cNvPr id="66" name="Straight Connector 65">
            <a:extLst>
              <a:ext uri="{FF2B5EF4-FFF2-40B4-BE49-F238E27FC236}">
                <a16:creationId xmlns:a16="http://schemas.microsoft.com/office/drawing/2014/main" id="{CB325B05-E6EE-8742-ADDF-A236BC5F2DDE}"/>
              </a:ext>
            </a:extLst>
          </p:cNvPr>
          <p:cNvCxnSpPr>
            <a:cxnSpLocks/>
          </p:cNvCxnSpPr>
          <p:nvPr/>
        </p:nvCxnSpPr>
        <p:spPr>
          <a:xfrm>
            <a:off x="368710" y="1725633"/>
            <a:ext cx="11387405" cy="0"/>
          </a:xfrm>
          <a:prstGeom prst="line">
            <a:avLst/>
          </a:prstGeom>
          <a:ln w="50800" cmpd="dbl"/>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D9E6C45F-2BF3-4B43-965F-0CFE8E420219}"/>
              </a:ext>
            </a:extLst>
          </p:cNvPr>
          <p:cNvSpPr/>
          <p:nvPr/>
        </p:nvSpPr>
        <p:spPr>
          <a:xfrm>
            <a:off x="7655838" y="1894607"/>
            <a:ext cx="720000" cy="720000"/>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bg1"/>
                </a:solidFill>
                <a:latin typeface="Times" pitchFamily="2" charset="0"/>
              </a:rPr>
              <a:t>I</a:t>
            </a:r>
          </a:p>
        </p:txBody>
      </p:sp>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012A0BDC-C53F-8044-942C-222360CEEC0A}"/>
                  </a:ext>
                </a:extLst>
              </p:cNvPr>
              <p:cNvSpPr>
                <a:spLocks noChangeAspect="1"/>
              </p:cNvSpPr>
              <p:nvPr/>
            </p:nvSpPr>
            <p:spPr>
              <a:xfrm>
                <a:off x="7654968" y="3810443"/>
                <a:ext cx="720000" cy="720000"/>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ad>
                        <m:radPr>
                          <m:degHide m:val="on"/>
                          <m:ctrlPr>
                            <a:rPr lang="en-US" sz="2800" i="1" smtClean="0">
                              <a:latin typeface="Cambria Math" panose="02040503050406030204" pitchFamily="18" charset="0"/>
                            </a:rPr>
                          </m:ctrlPr>
                        </m:radPr>
                        <m:deg/>
                        <m:e>
                          <m:r>
                            <a:rPr lang="en-US" sz="2800" i="1">
                              <a:latin typeface="Cambria Math" panose="02040503050406030204" pitchFamily="18" charset="0"/>
                            </a:rPr>
                            <m:t>𝑋</m:t>
                          </m:r>
                        </m:e>
                      </m:rad>
                    </m:oMath>
                  </m:oMathPara>
                </a14:m>
                <a:endParaRPr lang="en-US" sz="2800" dirty="0">
                  <a:solidFill>
                    <a:schemeClr val="bg1"/>
                  </a:solidFill>
                  <a:latin typeface="Times" pitchFamily="2" charset="0"/>
                </a:endParaRPr>
              </a:p>
            </p:txBody>
          </p:sp>
        </mc:Choice>
        <mc:Fallback xmlns="">
          <p:sp>
            <p:nvSpPr>
              <p:cNvPr id="12" name="Rectangle 11">
                <a:extLst>
                  <a:ext uri="{FF2B5EF4-FFF2-40B4-BE49-F238E27FC236}">
                    <a16:creationId xmlns:a16="http://schemas.microsoft.com/office/drawing/2014/main" id="{012A0BDC-C53F-8044-942C-222360CEEC0A}"/>
                  </a:ext>
                </a:extLst>
              </p:cNvPr>
              <p:cNvSpPr>
                <a:spLocks noRot="1" noChangeAspect="1" noMove="1" noResize="1" noEditPoints="1" noAdjustHandles="1" noChangeArrowheads="1" noChangeShapeType="1" noTextEdit="1"/>
              </p:cNvSpPr>
              <p:nvPr/>
            </p:nvSpPr>
            <p:spPr>
              <a:xfrm>
                <a:off x="7654968" y="3810443"/>
                <a:ext cx="720000" cy="720000"/>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3FE48384-E43E-B946-8354-B5FAC7E0509D}"/>
                  </a:ext>
                </a:extLst>
              </p:cNvPr>
              <p:cNvSpPr/>
              <p:nvPr/>
            </p:nvSpPr>
            <p:spPr>
              <a:xfrm>
                <a:off x="7654968" y="4673907"/>
                <a:ext cx="720000" cy="720000"/>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p>
                        <m:sSupPr>
                          <m:ctrlPr>
                            <a:rPr lang="en-US" sz="2800" i="1" smtClean="0">
                              <a:latin typeface="Cambria Math" panose="02040503050406030204" pitchFamily="18" charset="0"/>
                            </a:rPr>
                          </m:ctrlPr>
                        </m:sSupPr>
                        <m:e>
                          <m:rad>
                            <m:radPr>
                              <m:degHide m:val="on"/>
                              <m:ctrlPr>
                                <a:rPr lang="en-US" sz="2800" i="1">
                                  <a:latin typeface="Cambria Math" panose="02040503050406030204" pitchFamily="18" charset="0"/>
                                </a:rPr>
                              </m:ctrlPr>
                            </m:radPr>
                            <m:deg/>
                            <m:e>
                              <m:r>
                                <a:rPr lang="en-US" sz="2800" i="1">
                                  <a:latin typeface="Cambria Math" panose="02040503050406030204" pitchFamily="18" charset="0"/>
                                </a:rPr>
                                <m:t>𝑋</m:t>
                              </m:r>
                            </m:e>
                          </m:rad>
                        </m:e>
                        <m:sup>
                          <m:r>
                            <a:rPr lang="en-US" sz="2800" i="1">
                              <a:latin typeface="Cambria Math" panose="02040503050406030204" pitchFamily="18" charset="0"/>
                            </a:rPr>
                            <m:t>†</m:t>
                          </m:r>
                        </m:sup>
                      </m:sSup>
                    </m:oMath>
                  </m:oMathPara>
                </a14:m>
                <a:endParaRPr lang="en-US" sz="2800" dirty="0">
                  <a:solidFill>
                    <a:schemeClr val="bg1"/>
                  </a:solidFill>
                  <a:latin typeface="Times" pitchFamily="2" charset="0"/>
                </a:endParaRPr>
              </a:p>
            </p:txBody>
          </p:sp>
        </mc:Choice>
        <mc:Fallback xmlns="">
          <p:sp>
            <p:nvSpPr>
              <p:cNvPr id="13" name="Rectangle 12">
                <a:extLst>
                  <a:ext uri="{FF2B5EF4-FFF2-40B4-BE49-F238E27FC236}">
                    <a16:creationId xmlns:a16="http://schemas.microsoft.com/office/drawing/2014/main" id="{3FE48384-E43E-B946-8354-B5FAC7E0509D}"/>
                  </a:ext>
                </a:extLst>
              </p:cNvPr>
              <p:cNvSpPr>
                <a:spLocks noRot="1" noChangeAspect="1" noMove="1" noResize="1" noEditPoints="1" noAdjustHandles="1" noChangeArrowheads="1" noChangeShapeType="1" noTextEdit="1"/>
              </p:cNvSpPr>
              <p:nvPr/>
            </p:nvSpPr>
            <p:spPr>
              <a:xfrm>
                <a:off x="7654968" y="4673907"/>
                <a:ext cx="720000" cy="720000"/>
              </a:xfrm>
              <a:prstGeom prst="rect">
                <a:avLst/>
              </a:prstGeom>
              <a:blipFill>
                <a:blip r:embed="rId4"/>
                <a:stretch>
                  <a:fillRect/>
                </a:stretch>
              </a:blipFill>
            </p:spPr>
            <p:txBody>
              <a:bodyPr/>
              <a:lstStyle/>
              <a:p>
                <a:r>
                  <a:rPr lang="en-US">
                    <a:noFill/>
                  </a:rPr>
                  <a:t> </a:t>
                </a:r>
              </a:p>
            </p:txBody>
          </p:sp>
        </mc:Fallback>
      </mc:AlternateContent>
      <p:sp>
        <p:nvSpPr>
          <p:cNvPr id="14" name="Rectangle 13">
            <a:extLst>
              <a:ext uri="{FF2B5EF4-FFF2-40B4-BE49-F238E27FC236}">
                <a16:creationId xmlns:a16="http://schemas.microsoft.com/office/drawing/2014/main" id="{D50F6C89-A091-634C-B0C3-B00C48D6D6BC}"/>
              </a:ext>
            </a:extLst>
          </p:cNvPr>
          <p:cNvSpPr>
            <a:spLocks noChangeAspect="1"/>
          </p:cNvSpPr>
          <p:nvPr/>
        </p:nvSpPr>
        <p:spPr>
          <a:xfrm>
            <a:off x="7655838" y="2852525"/>
            <a:ext cx="720000" cy="72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H</a:t>
            </a:r>
          </a:p>
        </p:txBody>
      </p:sp>
      <p:sp>
        <p:nvSpPr>
          <p:cNvPr id="23" name="Rectangle 22">
            <a:extLst>
              <a:ext uri="{FF2B5EF4-FFF2-40B4-BE49-F238E27FC236}">
                <a16:creationId xmlns:a16="http://schemas.microsoft.com/office/drawing/2014/main" id="{4E5686CF-D0D3-F24D-B9CB-7D7E37CEE832}"/>
              </a:ext>
            </a:extLst>
          </p:cNvPr>
          <p:cNvSpPr/>
          <p:nvPr/>
        </p:nvSpPr>
        <p:spPr>
          <a:xfrm>
            <a:off x="7625366" y="5589444"/>
            <a:ext cx="720000" cy="720000"/>
          </a:xfrm>
          <a:prstGeom prst="rect">
            <a:avLst/>
          </a:prstGeom>
          <a:solidFill>
            <a:srgbClr val="9B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bg1"/>
                </a:solidFill>
                <a:latin typeface="Times" pitchFamily="2" charset="0"/>
              </a:rPr>
              <a:t>U</a:t>
            </a:r>
          </a:p>
        </p:txBody>
      </p:sp>
      <p:sp>
        <p:nvSpPr>
          <p:cNvPr id="26" name="TextBox 25">
            <a:extLst>
              <a:ext uri="{FF2B5EF4-FFF2-40B4-BE49-F238E27FC236}">
                <a16:creationId xmlns:a16="http://schemas.microsoft.com/office/drawing/2014/main" id="{6108118C-0F25-0A45-89E0-777381C24A92}"/>
              </a:ext>
            </a:extLst>
          </p:cNvPr>
          <p:cNvSpPr txBox="1"/>
          <p:nvPr/>
        </p:nvSpPr>
        <p:spPr>
          <a:xfrm>
            <a:off x="7534965" y="1145009"/>
            <a:ext cx="960006" cy="461665"/>
          </a:xfrm>
          <a:prstGeom prst="rect">
            <a:avLst/>
          </a:prstGeom>
          <a:noFill/>
        </p:spPr>
        <p:txBody>
          <a:bodyPr wrap="none" rtlCol="0">
            <a:spAutoFit/>
          </a:bodyPr>
          <a:lstStyle/>
          <a:p>
            <a:r>
              <a:rPr lang="en-ZA" sz="2400" dirty="0"/>
              <a:t>Other</a:t>
            </a:r>
            <a:r>
              <a:rPr lang="en-US" sz="2400" dirty="0"/>
              <a:t>.</a:t>
            </a:r>
          </a:p>
        </p:txBody>
      </p:sp>
      <p:sp>
        <p:nvSpPr>
          <p:cNvPr id="45" name="Rectangle 44">
            <a:extLst>
              <a:ext uri="{FF2B5EF4-FFF2-40B4-BE49-F238E27FC236}">
                <a16:creationId xmlns:a16="http://schemas.microsoft.com/office/drawing/2014/main" id="{9203C436-30F4-6642-AF44-BAB8804B1382}"/>
              </a:ext>
            </a:extLst>
          </p:cNvPr>
          <p:cNvSpPr/>
          <p:nvPr/>
        </p:nvSpPr>
        <p:spPr>
          <a:xfrm>
            <a:off x="10131897" y="2852925"/>
            <a:ext cx="720000" cy="720000"/>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0" dirty="0">
                <a:solidFill>
                  <a:schemeClr val="tx1"/>
                </a:solidFill>
                <a:latin typeface="+mj-lt"/>
              </a:rPr>
              <a:t>|0⟩</a:t>
            </a:r>
          </a:p>
        </p:txBody>
      </p:sp>
      <p:sp>
        <p:nvSpPr>
          <p:cNvPr id="49" name="Rectangle 48">
            <a:extLst>
              <a:ext uri="{FF2B5EF4-FFF2-40B4-BE49-F238E27FC236}">
                <a16:creationId xmlns:a16="http://schemas.microsoft.com/office/drawing/2014/main" id="{2645823A-D9E5-EB40-A8B0-B4BF0721E8F0}"/>
              </a:ext>
            </a:extLst>
          </p:cNvPr>
          <p:cNvSpPr/>
          <p:nvPr/>
        </p:nvSpPr>
        <p:spPr>
          <a:xfrm>
            <a:off x="3010002" y="1952235"/>
            <a:ext cx="720000" cy="720000"/>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RX</a:t>
            </a:r>
          </a:p>
        </p:txBody>
      </p:sp>
      <p:sp>
        <p:nvSpPr>
          <p:cNvPr id="51" name="Rectangle 50">
            <a:extLst>
              <a:ext uri="{FF2B5EF4-FFF2-40B4-BE49-F238E27FC236}">
                <a16:creationId xmlns:a16="http://schemas.microsoft.com/office/drawing/2014/main" id="{95DEF44E-11A0-D14B-9A4F-B52DC8846D07}"/>
              </a:ext>
            </a:extLst>
          </p:cNvPr>
          <p:cNvSpPr/>
          <p:nvPr/>
        </p:nvSpPr>
        <p:spPr>
          <a:xfrm>
            <a:off x="3010002" y="2852525"/>
            <a:ext cx="720000" cy="720000"/>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RY</a:t>
            </a:r>
          </a:p>
        </p:txBody>
      </p:sp>
      <p:sp>
        <p:nvSpPr>
          <p:cNvPr id="52" name="Rectangle 51">
            <a:extLst>
              <a:ext uri="{FF2B5EF4-FFF2-40B4-BE49-F238E27FC236}">
                <a16:creationId xmlns:a16="http://schemas.microsoft.com/office/drawing/2014/main" id="{44F75C9F-C18B-464D-87FC-3A08A1341DDF}"/>
              </a:ext>
            </a:extLst>
          </p:cNvPr>
          <p:cNvSpPr/>
          <p:nvPr/>
        </p:nvSpPr>
        <p:spPr>
          <a:xfrm>
            <a:off x="2969335" y="3758550"/>
            <a:ext cx="720000" cy="720000"/>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RZ</a:t>
            </a:r>
          </a:p>
        </p:txBody>
      </p:sp>
    </p:spTree>
    <p:extLst>
      <p:ext uri="{BB962C8B-B14F-4D97-AF65-F5344CB8AC3E}">
        <p14:creationId xmlns:p14="http://schemas.microsoft.com/office/powerpoint/2010/main" val="34632873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39EF45-D20A-C54B-9E7B-223F102F5FFB}"/>
              </a:ext>
            </a:extLst>
          </p:cNvPr>
          <p:cNvSpPr>
            <a:spLocks noGrp="1"/>
          </p:cNvSpPr>
          <p:nvPr>
            <p:ph type="title"/>
          </p:nvPr>
        </p:nvSpPr>
        <p:spPr>
          <a:xfrm>
            <a:off x="0" y="0"/>
            <a:ext cx="12192000" cy="928688"/>
          </a:xfrm>
        </p:spPr>
        <p:txBody>
          <a:bodyPr/>
          <a:lstStyle/>
          <a:p>
            <a:r>
              <a:rPr lang="en-ZA"/>
              <a:t>Pauli Gates: X,Y,Z</a:t>
            </a:r>
            <a:endParaRPr lang="en-US" dirty="0"/>
          </a:p>
        </p:txBody>
      </p:sp>
      <p:sp>
        <p:nvSpPr>
          <p:cNvPr id="3" name="Slide Number Placeholder 2">
            <a:extLst>
              <a:ext uri="{FF2B5EF4-FFF2-40B4-BE49-F238E27FC236}">
                <a16:creationId xmlns:a16="http://schemas.microsoft.com/office/drawing/2014/main" id="{1DFCF789-A597-7E48-870E-125D0C3A063D}"/>
              </a:ext>
            </a:extLst>
          </p:cNvPr>
          <p:cNvSpPr>
            <a:spLocks noGrp="1"/>
          </p:cNvSpPr>
          <p:nvPr>
            <p:ph type="sldNum" sz="quarter" idx="12"/>
          </p:nvPr>
        </p:nvSpPr>
        <p:spPr/>
        <p:txBody>
          <a:bodyPr/>
          <a:lstStyle/>
          <a:p>
            <a:fld id="{591A223C-FA10-BC46-A853-03BA373D023C}" type="slidenum">
              <a:rPr lang="en-US" smtClean="0"/>
              <a:t>13</a:t>
            </a:fld>
            <a:endParaRPr lang="en-US"/>
          </a:p>
        </p:txBody>
      </p:sp>
      <p:cxnSp>
        <p:nvCxnSpPr>
          <p:cNvPr id="34" name="Straight Connector 33">
            <a:extLst>
              <a:ext uri="{FF2B5EF4-FFF2-40B4-BE49-F238E27FC236}">
                <a16:creationId xmlns:a16="http://schemas.microsoft.com/office/drawing/2014/main" id="{3744D263-8BFB-B349-8EA7-DAA11AA592F7}"/>
              </a:ext>
            </a:extLst>
          </p:cNvPr>
          <p:cNvCxnSpPr>
            <a:cxnSpLocks/>
          </p:cNvCxnSpPr>
          <p:nvPr/>
        </p:nvCxnSpPr>
        <p:spPr>
          <a:xfrm>
            <a:off x="504589" y="1922309"/>
            <a:ext cx="1108786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6FEC5586-9B8C-3441-8010-177A544EDDA9}"/>
              </a:ext>
            </a:extLst>
          </p:cNvPr>
          <p:cNvCxnSpPr>
            <a:cxnSpLocks/>
          </p:cNvCxnSpPr>
          <p:nvPr/>
        </p:nvCxnSpPr>
        <p:spPr>
          <a:xfrm>
            <a:off x="504589" y="2822309"/>
            <a:ext cx="1108786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F331ECB1-1072-774D-B13D-3B2E864E8F0C}"/>
              </a:ext>
            </a:extLst>
          </p:cNvPr>
          <p:cNvCxnSpPr>
            <a:cxnSpLocks/>
          </p:cNvCxnSpPr>
          <p:nvPr/>
        </p:nvCxnSpPr>
        <p:spPr>
          <a:xfrm>
            <a:off x="489767" y="4550151"/>
            <a:ext cx="11087866" cy="0"/>
          </a:xfrm>
          <a:prstGeom prst="line">
            <a:avLst/>
          </a:prstGeom>
        </p:spPr>
        <p:style>
          <a:lnRef idx="1">
            <a:schemeClr val="accent1"/>
          </a:lnRef>
          <a:fillRef idx="0">
            <a:schemeClr val="accent1"/>
          </a:fillRef>
          <a:effectRef idx="0">
            <a:schemeClr val="accent1"/>
          </a:effectRef>
          <a:fontRef idx="minor">
            <a:schemeClr val="tx1"/>
          </a:fontRef>
        </p:style>
      </p:cxnSp>
      <p:sp>
        <p:nvSpPr>
          <p:cNvPr id="40" name="Rectangle 39">
            <a:extLst>
              <a:ext uri="{FF2B5EF4-FFF2-40B4-BE49-F238E27FC236}">
                <a16:creationId xmlns:a16="http://schemas.microsoft.com/office/drawing/2014/main" id="{01B69F21-FD42-1C46-B0F4-0114FA8893D2}"/>
              </a:ext>
            </a:extLst>
          </p:cNvPr>
          <p:cNvSpPr/>
          <p:nvPr/>
        </p:nvSpPr>
        <p:spPr>
          <a:xfrm>
            <a:off x="504589" y="1258189"/>
            <a:ext cx="11087866" cy="523337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1" name="Rectangle 40">
                <a:extLst>
                  <a:ext uri="{FF2B5EF4-FFF2-40B4-BE49-F238E27FC236}">
                    <a16:creationId xmlns:a16="http://schemas.microsoft.com/office/drawing/2014/main" id="{7FF7DE45-1082-7A46-B914-B020E64BD4D3}"/>
                  </a:ext>
                </a:extLst>
              </p:cNvPr>
              <p:cNvSpPr/>
              <p:nvPr/>
            </p:nvSpPr>
            <p:spPr>
              <a:xfrm>
                <a:off x="1707798" y="3308878"/>
                <a:ext cx="1809406" cy="70814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m>
                        <m:mPr>
                          <m:plcHide m:val="on"/>
                          <m:mcs>
                            <m:mc>
                              <m:mcPr>
                                <m:count m:val="1"/>
                                <m:mcJc m:val="center"/>
                              </m:mcPr>
                            </m:mc>
                          </m:mcs>
                          <m:ctrlPr>
                            <a:rPr lang="en-US" sz="2400" i="1">
                              <a:latin typeface="Cambria Math" panose="02040503050406030204" pitchFamily="18" charset="0"/>
                            </a:rPr>
                          </m:ctrlPr>
                        </m:mPr>
                        <m:mr>
                          <m:e>
                            <m:r>
                              <a:rPr lang="en-US" sz="2400" i="1">
                                <a:latin typeface="Cambria Math" panose="02040503050406030204" pitchFamily="18" charset="0"/>
                              </a:rPr>
                              <m:t>𝑋</m:t>
                            </m:r>
                            <m:r>
                              <a:rPr lang="en-US" sz="2400" i="0">
                                <a:latin typeface="Cambria Math" panose="02040503050406030204" pitchFamily="18" charset="0"/>
                              </a:rPr>
                              <m:t>=</m:t>
                            </m:r>
                            <m:d>
                              <m:dPr>
                                <m:ctrlPr>
                                  <a:rPr lang="en-US" sz="2400" i="1">
                                    <a:latin typeface="Cambria Math" panose="02040503050406030204" pitchFamily="18" charset="0"/>
                                  </a:rPr>
                                </m:ctrlPr>
                              </m:dPr>
                              <m:e>
                                <m:m>
                                  <m:mPr>
                                    <m:plcHide m:val="on"/>
                                    <m:mcs>
                                      <m:mc>
                                        <m:mcPr>
                                          <m:count m:val="2"/>
                                          <m:mcJc m:val="center"/>
                                        </m:mcPr>
                                      </m:mc>
                                    </m:mcs>
                                    <m:ctrlPr>
                                      <a:rPr lang="en-US" sz="2400" i="1">
                                        <a:latin typeface="Cambria Math" panose="02040503050406030204" pitchFamily="18" charset="0"/>
                                      </a:rPr>
                                    </m:ctrlPr>
                                  </m:mPr>
                                  <m:mr>
                                    <m:e>
                                      <m:r>
                                        <a:rPr lang="en-US" sz="2400" i="0">
                                          <a:latin typeface="Cambria Math" panose="02040503050406030204" pitchFamily="18" charset="0"/>
                                        </a:rPr>
                                        <m:t>0</m:t>
                                      </m:r>
                                    </m:e>
                                    <m:e>
                                      <m:r>
                                        <a:rPr lang="en-US" sz="2400" i="0">
                                          <a:latin typeface="Cambria Math" panose="02040503050406030204" pitchFamily="18" charset="0"/>
                                        </a:rPr>
                                        <m:t>1</m:t>
                                      </m:r>
                                    </m:e>
                                  </m:mr>
                                  <m:mr>
                                    <m:e>
                                      <m:r>
                                        <a:rPr lang="en-US" sz="2400" i="0">
                                          <a:latin typeface="Cambria Math" panose="02040503050406030204" pitchFamily="18" charset="0"/>
                                        </a:rPr>
                                        <m:t>1</m:t>
                                      </m:r>
                                    </m:e>
                                    <m:e>
                                      <m:r>
                                        <a:rPr lang="en-US" sz="2400" i="0">
                                          <a:latin typeface="Cambria Math" panose="02040503050406030204" pitchFamily="18" charset="0"/>
                                        </a:rPr>
                                        <m:t>0</m:t>
                                      </m:r>
                                    </m:e>
                                  </m:mr>
                                </m:m>
                              </m:e>
                            </m:d>
                          </m:e>
                        </m:mr>
                      </m:m>
                    </m:oMath>
                  </m:oMathPara>
                </a14:m>
                <a:endParaRPr lang="en-US" sz="2400" dirty="0"/>
              </a:p>
            </p:txBody>
          </p:sp>
        </mc:Choice>
        <mc:Fallback xmlns="">
          <p:sp>
            <p:nvSpPr>
              <p:cNvPr id="41" name="Rectangle 40">
                <a:extLst>
                  <a:ext uri="{FF2B5EF4-FFF2-40B4-BE49-F238E27FC236}">
                    <a16:creationId xmlns:a16="http://schemas.microsoft.com/office/drawing/2014/main" id="{7FF7DE45-1082-7A46-B914-B020E64BD4D3}"/>
                  </a:ext>
                </a:extLst>
              </p:cNvPr>
              <p:cNvSpPr>
                <a:spLocks noRot="1" noChangeAspect="1" noMove="1" noResize="1" noEditPoints="1" noAdjustHandles="1" noChangeArrowheads="1" noChangeShapeType="1" noTextEdit="1"/>
              </p:cNvSpPr>
              <p:nvPr/>
            </p:nvSpPr>
            <p:spPr>
              <a:xfrm>
                <a:off x="1707798" y="3308878"/>
                <a:ext cx="1809406" cy="708143"/>
              </a:xfrm>
              <a:prstGeom prst="rect">
                <a:avLst/>
              </a:prstGeom>
              <a:blipFill>
                <a:blip r:embed="rId3"/>
                <a:stretch>
                  <a:fillRect b="-7143"/>
                </a:stretch>
              </a:blipFill>
            </p:spPr>
            <p:txBody>
              <a:bodyPr/>
              <a:lstStyle/>
              <a:p>
                <a:r>
                  <a:rPr lang="en-US">
                    <a:noFill/>
                  </a:rPr>
                  <a:t> </a:t>
                </a:r>
              </a:p>
            </p:txBody>
          </p:sp>
        </mc:Fallback>
      </mc:AlternateContent>
      <p:sp>
        <p:nvSpPr>
          <p:cNvPr id="44" name="Oval 43">
            <a:extLst>
              <a:ext uri="{FF2B5EF4-FFF2-40B4-BE49-F238E27FC236}">
                <a16:creationId xmlns:a16="http://schemas.microsoft.com/office/drawing/2014/main" id="{E72DD5A4-17C4-F74D-96EE-D78B30EF7358}"/>
              </a:ext>
            </a:extLst>
          </p:cNvPr>
          <p:cNvSpPr/>
          <p:nvPr/>
        </p:nvSpPr>
        <p:spPr>
          <a:xfrm>
            <a:off x="719706" y="2920689"/>
            <a:ext cx="720000"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sp>
        <p:nvSpPr>
          <p:cNvPr id="51" name="Rectangle 50">
            <a:extLst>
              <a:ext uri="{FF2B5EF4-FFF2-40B4-BE49-F238E27FC236}">
                <a16:creationId xmlns:a16="http://schemas.microsoft.com/office/drawing/2014/main" id="{4B854317-4CD3-BF4C-B033-B164AEB4A698}"/>
              </a:ext>
            </a:extLst>
          </p:cNvPr>
          <p:cNvSpPr/>
          <p:nvPr/>
        </p:nvSpPr>
        <p:spPr>
          <a:xfrm>
            <a:off x="704884" y="4661107"/>
            <a:ext cx="720000" cy="720000"/>
          </a:xfrm>
          <a:prstGeom prst="rect">
            <a:avLst/>
          </a:prstGeom>
          <a:solidFill>
            <a:srgbClr val="33B1F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latin typeface="Times" pitchFamily="2" charset="0"/>
              </a:rPr>
              <a:t>Y</a:t>
            </a:r>
          </a:p>
        </p:txBody>
      </p:sp>
      <p:cxnSp>
        <p:nvCxnSpPr>
          <p:cNvPr id="52" name="Straight Connector 51">
            <a:extLst>
              <a:ext uri="{FF2B5EF4-FFF2-40B4-BE49-F238E27FC236}">
                <a16:creationId xmlns:a16="http://schemas.microsoft.com/office/drawing/2014/main" id="{E36244F2-4263-0342-8382-81662527778B}"/>
              </a:ext>
            </a:extLst>
          </p:cNvPr>
          <p:cNvCxnSpPr>
            <a:cxnSpLocks/>
          </p:cNvCxnSpPr>
          <p:nvPr/>
        </p:nvCxnSpPr>
        <p:spPr>
          <a:xfrm>
            <a:off x="1731418" y="1258189"/>
            <a:ext cx="0" cy="4264120"/>
          </a:xfrm>
          <a:prstGeom prst="line">
            <a:avLst/>
          </a:prstGeom>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F2236C54-ECF8-8E47-AC4A-9D7AE71C8CB6}"/>
              </a:ext>
            </a:extLst>
          </p:cNvPr>
          <p:cNvCxnSpPr>
            <a:cxnSpLocks/>
          </p:cNvCxnSpPr>
          <p:nvPr/>
        </p:nvCxnSpPr>
        <p:spPr>
          <a:xfrm>
            <a:off x="3849813" y="1284655"/>
            <a:ext cx="0" cy="5206908"/>
          </a:xfrm>
          <a:prstGeom prst="line">
            <a:avLst/>
          </a:prstGeom>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FD2AC328-265C-C140-96A4-093B562069D2}"/>
              </a:ext>
            </a:extLst>
          </p:cNvPr>
          <p:cNvCxnSpPr>
            <a:cxnSpLocks/>
          </p:cNvCxnSpPr>
          <p:nvPr/>
        </p:nvCxnSpPr>
        <p:spPr>
          <a:xfrm>
            <a:off x="489767" y="5450151"/>
            <a:ext cx="11087866" cy="0"/>
          </a:xfrm>
          <a:prstGeom prst="line">
            <a:avLst/>
          </a:prstGeom>
        </p:spPr>
        <p:style>
          <a:lnRef idx="1">
            <a:schemeClr val="accent1"/>
          </a:lnRef>
          <a:fillRef idx="0">
            <a:schemeClr val="accent1"/>
          </a:fillRef>
          <a:effectRef idx="0">
            <a:schemeClr val="accent1"/>
          </a:effectRef>
          <a:fontRef idx="minor">
            <a:schemeClr val="tx1"/>
          </a:fontRef>
        </p:style>
      </p:cxnSp>
      <p:sp>
        <p:nvSpPr>
          <p:cNvPr id="56" name="Rectangle 55">
            <a:extLst>
              <a:ext uri="{FF2B5EF4-FFF2-40B4-BE49-F238E27FC236}">
                <a16:creationId xmlns:a16="http://schemas.microsoft.com/office/drawing/2014/main" id="{64DE0748-9699-5940-B217-246852E1340F}"/>
              </a:ext>
            </a:extLst>
          </p:cNvPr>
          <p:cNvSpPr/>
          <p:nvPr/>
        </p:nvSpPr>
        <p:spPr>
          <a:xfrm>
            <a:off x="719706" y="5547886"/>
            <a:ext cx="720000" cy="720000"/>
          </a:xfrm>
          <a:prstGeom prst="rect">
            <a:avLst/>
          </a:prstGeom>
          <a:solidFill>
            <a:srgbClr val="33B1F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latin typeface="Times" pitchFamily="2" charset="0"/>
              </a:rPr>
              <a:t>Z</a:t>
            </a:r>
          </a:p>
        </p:txBody>
      </p:sp>
      <mc:AlternateContent xmlns:mc="http://schemas.openxmlformats.org/markup-compatibility/2006" xmlns:a14="http://schemas.microsoft.com/office/drawing/2010/main">
        <mc:Choice Requires="a14">
          <p:sp>
            <p:nvSpPr>
              <p:cNvPr id="57" name="Rectangle 56">
                <a:extLst>
                  <a:ext uri="{FF2B5EF4-FFF2-40B4-BE49-F238E27FC236}">
                    <a16:creationId xmlns:a16="http://schemas.microsoft.com/office/drawing/2014/main" id="{437A7C62-626B-FE4C-ACA3-B96CD63E2ADC}"/>
                  </a:ext>
                </a:extLst>
              </p:cNvPr>
              <p:cNvSpPr/>
              <p:nvPr/>
            </p:nvSpPr>
            <p:spPr>
              <a:xfrm>
                <a:off x="1716596" y="4597414"/>
                <a:ext cx="1963422" cy="70820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𝑌</m:t>
                      </m:r>
                      <m:r>
                        <a:rPr lang="en-US" sz="2400" i="0">
                          <a:latin typeface="Cambria Math" panose="02040503050406030204" pitchFamily="18" charset="0"/>
                        </a:rPr>
                        <m:t>=</m:t>
                      </m:r>
                      <m:d>
                        <m:dPr>
                          <m:ctrlPr>
                            <a:rPr lang="en-US" sz="2400" i="1">
                              <a:latin typeface="Cambria Math" panose="02040503050406030204" pitchFamily="18" charset="0"/>
                            </a:rPr>
                          </m:ctrlPr>
                        </m:dPr>
                        <m:e>
                          <m:m>
                            <m:mPr>
                              <m:plcHide m:val="on"/>
                              <m:mcs>
                                <m:mc>
                                  <m:mcPr>
                                    <m:count m:val="2"/>
                                    <m:mcJc m:val="center"/>
                                  </m:mcPr>
                                </m:mc>
                              </m:mcs>
                              <m:ctrlPr>
                                <a:rPr lang="en-US" sz="2400" i="1">
                                  <a:latin typeface="Cambria Math" panose="02040503050406030204" pitchFamily="18" charset="0"/>
                                </a:rPr>
                              </m:ctrlPr>
                            </m:mPr>
                            <m:mr>
                              <m:e>
                                <m:r>
                                  <a:rPr lang="en-US" sz="2400" i="0">
                                    <a:latin typeface="Cambria Math" panose="02040503050406030204" pitchFamily="18" charset="0"/>
                                  </a:rPr>
                                  <m:t>0</m:t>
                                </m:r>
                              </m:e>
                              <m:e>
                                <m:r>
                                  <a:rPr lang="en-US" sz="2400" i="0">
                                    <a:latin typeface="Cambria Math" panose="02040503050406030204" pitchFamily="18" charset="0"/>
                                  </a:rPr>
                                  <m:t>−</m:t>
                                </m:r>
                                <m:r>
                                  <a:rPr lang="en-US" sz="2400" i="1">
                                    <a:latin typeface="Cambria Math" panose="02040503050406030204" pitchFamily="18" charset="0"/>
                                  </a:rPr>
                                  <m:t>𝑖</m:t>
                                </m:r>
                              </m:e>
                            </m:mr>
                            <m:mr>
                              <m:e>
                                <m:r>
                                  <a:rPr lang="en-US" sz="2400" i="1">
                                    <a:latin typeface="Cambria Math" panose="02040503050406030204" pitchFamily="18" charset="0"/>
                                  </a:rPr>
                                  <m:t>𝑖</m:t>
                                </m:r>
                              </m:e>
                              <m:e>
                                <m:r>
                                  <a:rPr lang="en-US" sz="2400" i="0">
                                    <a:latin typeface="Cambria Math" panose="02040503050406030204" pitchFamily="18" charset="0"/>
                                  </a:rPr>
                                  <m:t>0</m:t>
                                </m:r>
                              </m:e>
                            </m:mr>
                          </m:m>
                        </m:e>
                      </m:d>
                    </m:oMath>
                  </m:oMathPara>
                </a14:m>
                <a:endParaRPr lang="en-US" sz="2400" dirty="0"/>
              </a:p>
            </p:txBody>
          </p:sp>
        </mc:Choice>
        <mc:Fallback xmlns="">
          <p:sp>
            <p:nvSpPr>
              <p:cNvPr id="57" name="Rectangle 56">
                <a:extLst>
                  <a:ext uri="{FF2B5EF4-FFF2-40B4-BE49-F238E27FC236}">
                    <a16:creationId xmlns:a16="http://schemas.microsoft.com/office/drawing/2014/main" id="{437A7C62-626B-FE4C-ACA3-B96CD63E2ADC}"/>
                  </a:ext>
                </a:extLst>
              </p:cNvPr>
              <p:cNvSpPr>
                <a:spLocks noRot="1" noChangeAspect="1" noMove="1" noResize="1" noEditPoints="1" noAdjustHandles="1" noChangeArrowheads="1" noChangeShapeType="1" noTextEdit="1"/>
              </p:cNvSpPr>
              <p:nvPr/>
            </p:nvSpPr>
            <p:spPr>
              <a:xfrm>
                <a:off x="1716596" y="4597414"/>
                <a:ext cx="1963422" cy="708207"/>
              </a:xfrm>
              <a:prstGeom prst="rect">
                <a:avLst/>
              </a:prstGeom>
              <a:blipFill>
                <a:blip r:embed="rId4"/>
                <a:stretch>
                  <a:fillRect b="-526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8" name="Rectangle 57">
                <a:extLst>
                  <a:ext uri="{FF2B5EF4-FFF2-40B4-BE49-F238E27FC236}">
                    <a16:creationId xmlns:a16="http://schemas.microsoft.com/office/drawing/2014/main" id="{FBAEE926-172E-B245-A70D-8563B8805D93}"/>
                  </a:ext>
                </a:extLst>
              </p:cNvPr>
              <p:cNvSpPr/>
              <p:nvPr/>
            </p:nvSpPr>
            <p:spPr>
              <a:xfrm>
                <a:off x="1716596" y="5519310"/>
                <a:ext cx="2022605" cy="70814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𝑍</m:t>
                      </m:r>
                      <m:r>
                        <a:rPr lang="en-US" sz="2400" i="0">
                          <a:latin typeface="Cambria Math" panose="02040503050406030204" pitchFamily="18" charset="0"/>
                        </a:rPr>
                        <m:t>=</m:t>
                      </m:r>
                      <m:d>
                        <m:dPr>
                          <m:ctrlPr>
                            <a:rPr lang="en-US" sz="2400" i="1">
                              <a:latin typeface="Cambria Math" panose="02040503050406030204" pitchFamily="18" charset="0"/>
                            </a:rPr>
                          </m:ctrlPr>
                        </m:dPr>
                        <m:e>
                          <m:m>
                            <m:mPr>
                              <m:plcHide m:val="on"/>
                              <m:mcs>
                                <m:mc>
                                  <m:mcPr>
                                    <m:count m:val="2"/>
                                    <m:mcJc m:val="center"/>
                                  </m:mcPr>
                                </m:mc>
                              </m:mcs>
                              <m:ctrlPr>
                                <a:rPr lang="en-US" sz="2400" i="1">
                                  <a:latin typeface="Cambria Math" panose="02040503050406030204" pitchFamily="18" charset="0"/>
                                </a:rPr>
                              </m:ctrlPr>
                            </m:mPr>
                            <m:mr>
                              <m:e>
                                <m:r>
                                  <a:rPr lang="en-US" sz="2400" i="0">
                                    <a:latin typeface="Cambria Math" panose="02040503050406030204" pitchFamily="18" charset="0"/>
                                  </a:rPr>
                                  <m:t>1</m:t>
                                </m:r>
                              </m:e>
                              <m:e>
                                <m:r>
                                  <a:rPr lang="en-US" sz="2400" i="0">
                                    <a:latin typeface="Cambria Math" panose="02040503050406030204" pitchFamily="18" charset="0"/>
                                  </a:rPr>
                                  <m:t>0</m:t>
                                </m:r>
                              </m:e>
                            </m:mr>
                            <m:mr>
                              <m:e>
                                <m:r>
                                  <a:rPr lang="en-US" sz="2400" i="0">
                                    <a:latin typeface="Cambria Math" panose="02040503050406030204" pitchFamily="18" charset="0"/>
                                  </a:rPr>
                                  <m:t>0</m:t>
                                </m:r>
                              </m:e>
                              <m:e>
                                <m:r>
                                  <a:rPr lang="en-US" sz="2400" i="0">
                                    <a:latin typeface="Cambria Math" panose="02040503050406030204" pitchFamily="18" charset="0"/>
                                  </a:rPr>
                                  <m:t>−1</m:t>
                                </m:r>
                              </m:e>
                            </m:mr>
                          </m:m>
                        </m:e>
                      </m:d>
                    </m:oMath>
                  </m:oMathPara>
                </a14:m>
                <a:endParaRPr lang="en-US" sz="2400" dirty="0"/>
              </a:p>
            </p:txBody>
          </p:sp>
        </mc:Choice>
        <mc:Fallback xmlns="">
          <p:sp>
            <p:nvSpPr>
              <p:cNvPr id="58" name="Rectangle 57">
                <a:extLst>
                  <a:ext uri="{FF2B5EF4-FFF2-40B4-BE49-F238E27FC236}">
                    <a16:creationId xmlns:a16="http://schemas.microsoft.com/office/drawing/2014/main" id="{FBAEE926-172E-B245-A70D-8563B8805D93}"/>
                  </a:ext>
                </a:extLst>
              </p:cNvPr>
              <p:cNvSpPr>
                <a:spLocks noRot="1" noChangeAspect="1" noMove="1" noResize="1" noEditPoints="1" noAdjustHandles="1" noChangeArrowheads="1" noChangeShapeType="1" noTextEdit="1"/>
              </p:cNvSpPr>
              <p:nvPr/>
            </p:nvSpPr>
            <p:spPr>
              <a:xfrm>
                <a:off x="1716596" y="5519310"/>
                <a:ext cx="2022605" cy="708143"/>
              </a:xfrm>
              <a:prstGeom prst="rect">
                <a:avLst/>
              </a:prstGeom>
              <a:blipFill>
                <a:blip r:embed="rId5"/>
                <a:stretch>
                  <a:fillRect b="-7143"/>
                </a:stretch>
              </a:blipFill>
            </p:spPr>
            <p:txBody>
              <a:bodyPr/>
              <a:lstStyle/>
              <a:p>
                <a:r>
                  <a:rPr lang="en-US">
                    <a:noFill/>
                  </a:rPr>
                  <a:t> </a:t>
                </a:r>
              </a:p>
            </p:txBody>
          </p:sp>
        </mc:Fallback>
      </mc:AlternateContent>
      <p:sp>
        <p:nvSpPr>
          <p:cNvPr id="59" name="Rectangle 58">
            <a:extLst>
              <a:ext uri="{FF2B5EF4-FFF2-40B4-BE49-F238E27FC236}">
                <a16:creationId xmlns:a16="http://schemas.microsoft.com/office/drawing/2014/main" id="{C39D4D35-1AF3-3F47-A808-7BE6FF11F16E}"/>
              </a:ext>
            </a:extLst>
          </p:cNvPr>
          <p:cNvSpPr/>
          <p:nvPr/>
        </p:nvSpPr>
        <p:spPr>
          <a:xfrm>
            <a:off x="725061" y="2017724"/>
            <a:ext cx="720000" cy="720000"/>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bg1"/>
                </a:solidFill>
                <a:latin typeface="Times" pitchFamily="2" charset="0"/>
              </a:rPr>
              <a:t>I</a:t>
            </a:r>
          </a:p>
        </p:txBody>
      </p:sp>
      <mc:AlternateContent xmlns:mc="http://schemas.openxmlformats.org/markup-compatibility/2006" xmlns:a14="http://schemas.microsoft.com/office/drawing/2010/main">
        <mc:Choice Requires="a14">
          <p:sp>
            <p:nvSpPr>
              <p:cNvPr id="60" name="Rectangle 59">
                <a:extLst>
                  <a:ext uri="{FF2B5EF4-FFF2-40B4-BE49-F238E27FC236}">
                    <a16:creationId xmlns:a16="http://schemas.microsoft.com/office/drawing/2014/main" id="{895A702E-E1AB-6646-A0D7-6F57783D64E5}"/>
                  </a:ext>
                </a:extLst>
              </p:cNvPr>
              <p:cNvSpPr/>
              <p:nvPr/>
            </p:nvSpPr>
            <p:spPr>
              <a:xfrm>
                <a:off x="1855865" y="1984346"/>
                <a:ext cx="1729897" cy="70814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m>
                        <m:mPr>
                          <m:plcHide m:val="on"/>
                          <m:mcs>
                            <m:mc>
                              <m:mcPr>
                                <m:count m:val="1"/>
                                <m:mcJc m:val="center"/>
                              </m:mcPr>
                            </m:mc>
                          </m:mcs>
                          <m:ctrlPr>
                            <a:rPr lang="en-US" sz="2400" i="1" smtClean="0">
                              <a:latin typeface="Cambria Math" panose="02040503050406030204" pitchFamily="18" charset="0"/>
                            </a:rPr>
                          </m:ctrlPr>
                        </m:mPr>
                        <m:mr>
                          <m:e>
                            <m:r>
                              <a:rPr lang="en-US" sz="2400" b="0" i="1" smtClean="0">
                                <a:latin typeface="Cambria Math" panose="02040503050406030204" pitchFamily="18" charset="0"/>
                              </a:rPr>
                              <m:t>𝐼</m:t>
                            </m:r>
                            <m:r>
                              <a:rPr lang="en-US" sz="2400" i="0">
                                <a:latin typeface="Cambria Math" panose="02040503050406030204" pitchFamily="18" charset="0"/>
                              </a:rPr>
                              <m:t>=</m:t>
                            </m:r>
                            <m:d>
                              <m:dPr>
                                <m:ctrlPr>
                                  <a:rPr lang="en-US" sz="2400" i="1">
                                    <a:latin typeface="Cambria Math" panose="02040503050406030204" pitchFamily="18" charset="0"/>
                                  </a:rPr>
                                </m:ctrlPr>
                              </m:dPr>
                              <m:e>
                                <m:m>
                                  <m:mPr>
                                    <m:plcHide m:val="on"/>
                                    <m:mcs>
                                      <m:mc>
                                        <m:mcPr>
                                          <m:count m:val="2"/>
                                          <m:mcJc m:val="center"/>
                                        </m:mcPr>
                                      </m:mc>
                                    </m:mcs>
                                    <m:ctrlPr>
                                      <a:rPr lang="en-US" sz="2400" i="1">
                                        <a:latin typeface="Cambria Math" panose="02040503050406030204" pitchFamily="18" charset="0"/>
                                      </a:rPr>
                                    </m:ctrlPr>
                                  </m:mPr>
                                  <m:mr>
                                    <m:e>
                                      <m:r>
                                        <a:rPr lang="en-US" sz="2400" b="0" i="0" smtClean="0">
                                          <a:latin typeface="Cambria Math" panose="02040503050406030204" pitchFamily="18" charset="0"/>
                                        </a:rPr>
                                        <m:t>1</m:t>
                                      </m:r>
                                    </m:e>
                                    <m:e>
                                      <m:r>
                                        <a:rPr lang="en-US" sz="2400" b="0" i="0" smtClean="0">
                                          <a:latin typeface="Cambria Math" panose="02040503050406030204" pitchFamily="18" charset="0"/>
                                        </a:rPr>
                                        <m:t>0</m:t>
                                      </m:r>
                                    </m:e>
                                  </m:mr>
                                  <m:mr>
                                    <m:e>
                                      <m:r>
                                        <a:rPr lang="en-US" sz="2400" b="0" i="0" smtClean="0">
                                          <a:latin typeface="Cambria Math" panose="02040503050406030204" pitchFamily="18" charset="0"/>
                                        </a:rPr>
                                        <m:t>0</m:t>
                                      </m:r>
                                    </m:e>
                                    <m:e>
                                      <m:r>
                                        <a:rPr lang="en-US" sz="2400" b="0" i="0" smtClean="0">
                                          <a:latin typeface="Cambria Math" panose="02040503050406030204" pitchFamily="18" charset="0"/>
                                        </a:rPr>
                                        <m:t>1</m:t>
                                      </m:r>
                                    </m:e>
                                  </m:mr>
                                </m:m>
                              </m:e>
                            </m:d>
                          </m:e>
                        </m:mr>
                      </m:m>
                    </m:oMath>
                  </m:oMathPara>
                </a14:m>
                <a:endParaRPr lang="en-US" sz="2400" dirty="0"/>
              </a:p>
            </p:txBody>
          </p:sp>
        </mc:Choice>
        <mc:Fallback xmlns="">
          <p:sp>
            <p:nvSpPr>
              <p:cNvPr id="60" name="Rectangle 59">
                <a:extLst>
                  <a:ext uri="{FF2B5EF4-FFF2-40B4-BE49-F238E27FC236}">
                    <a16:creationId xmlns:a16="http://schemas.microsoft.com/office/drawing/2014/main" id="{895A702E-E1AB-6646-A0D7-6F57783D64E5}"/>
                  </a:ext>
                </a:extLst>
              </p:cNvPr>
              <p:cNvSpPr>
                <a:spLocks noRot="1" noChangeAspect="1" noMove="1" noResize="1" noEditPoints="1" noAdjustHandles="1" noChangeArrowheads="1" noChangeShapeType="1" noTextEdit="1"/>
              </p:cNvSpPr>
              <p:nvPr/>
            </p:nvSpPr>
            <p:spPr>
              <a:xfrm>
                <a:off x="1855865" y="1984346"/>
                <a:ext cx="1729897" cy="708143"/>
              </a:xfrm>
              <a:prstGeom prst="rect">
                <a:avLst/>
              </a:prstGeom>
              <a:blipFill>
                <a:blip r:embed="rId6"/>
                <a:stretch>
                  <a:fillRect b="-7143"/>
                </a:stretch>
              </a:blipFill>
            </p:spPr>
            <p:txBody>
              <a:bodyPr/>
              <a:lstStyle/>
              <a:p>
                <a:r>
                  <a:rPr lang="en-US">
                    <a:noFill/>
                  </a:rPr>
                  <a:t> </a:t>
                </a:r>
              </a:p>
            </p:txBody>
          </p:sp>
        </mc:Fallback>
      </mc:AlternateContent>
      <p:sp>
        <p:nvSpPr>
          <p:cNvPr id="61" name="TextBox 60">
            <a:extLst>
              <a:ext uri="{FF2B5EF4-FFF2-40B4-BE49-F238E27FC236}">
                <a16:creationId xmlns:a16="http://schemas.microsoft.com/office/drawing/2014/main" id="{DEC9852B-CF56-1647-99FE-256A96695E8D}"/>
              </a:ext>
            </a:extLst>
          </p:cNvPr>
          <p:cNvSpPr txBox="1"/>
          <p:nvPr/>
        </p:nvSpPr>
        <p:spPr>
          <a:xfrm>
            <a:off x="3977129" y="2127207"/>
            <a:ext cx="3124445" cy="461665"/>
          </a:xfrm>
          <a:prstGeom prst="rect">
            <a:avLst/>
          </a:prstGeom>
          <a:noFill/>
        </p:spPr>
        <p:txBody>
          <a:bodyPr wrap="none" rtlCol="0">
            <a:spAutoFit/>
          </a:bodyPr>
          <a:lstStyle/>
          <a:p>
            <a:r>
              <a:rPr lang="en-ZA" sz="2400" dirty="0">
                <a:latin typeface="+mj-lt"/>
              </a:rPr>
              <a:t>Identity transformation.</a:t>
            </a:r>
            <a:endParaRPr lang="en-US" sz="2400" dirty="0">
              <a:latin typeface="+mj-lt"/>
            </a:endParaRPr>
          </a:p>
        </p:txBody>
      </p:sp>
      <p:grpSp>
        <p:nvGrpSpPr>
          <p:cNvPr id="62" name="Group 61">
            <a:extLst>
              <a:ext uri="{FF2B5EF4-FFF2-40B4-BE49-F238E27FC236}">
                <a16:creationId xmlns:a16="http://schemas.microsoft.com/office/drawing/2014/main" id="{78065757-2FB8-C44A-BC87-0EA856DA8B4C}"/>
              </a:ext>
            </a:extLst>
          </p:cNvPr>
          <p:cNvGrpSpPr/>
          <p:nvPr/>
        </p:nvGrpSpPr>
        <p:grpSpPr>
          <a:xfrm>
            <a:off x="634942" y="1355081"/>
            <a:ext cx="10615435" cy="461665"/>
            <a:chOff x="669448" y="1230477"/>
            <a:chExt cx="10615435" cy="461665"/>
          </a:xfrm>
        </p:grpSpPr>
        <p:sp>
          <p:nvSpPr>
            <p:cNvPr id="63" name="TextBox 62">
              <a:extLst>
                <a:ext uri="{FF2B5EF4-FFF2-40B4-BE49-F238E27FC236}">
                  <a16:creationId xmlns:a16="http://schemas.microsoft.com/office/drawing/2014/main" id="{E20BDAD0-8580-2346-9CA2-79A55BDA9F50}"/>
                </a:ext>
              </a:extLst>
            </p:cNvPr>
            <p:cNvSpPr txBox="1"/>
            <p:nvPr/>
          </p:nvSpPr>
          <p:spPr>
            <a:xfrm>
              <a:off x="669448" y="1230477"/>
              <a:ext cx="1065100" cy="461665"/>
            </a:xfrm>
            <a:prstGeom prst="rect">
              <a:avLst/>
            </a:prstGeom>
            <a:noFill/>
          </p:spPr>
          <p:txBody>
            <a:bodyPr wrap="none" rtlCol="0">
              <a:spAutoFit/>
            </a:bodyPr>
            <a:lstStyle/>
            <a:p>
              <a:r>
                <a:rPr lang="en-US" sz="2400" dirty="0">
                  <a:latin typeface="+mj-lt"/>
                </a:rPr>
                <a:t>symbol</a:t>
              </a:r>
            </a:p>
          </p:txBody>
        </p:sp>
        <p:sp>
          <p:nvSpPr>
            <p:cNvPr id="64" name="TextBox 63">
              <a:extLst>
                <a:ext uri="{FF2B5EF4-FFF2-40B4-BE49-F238E27FC236}">
                  <a16:creationId xmlns:a16="http://schemas.microsoft.com/office/drawing/2014/main" id="{2943E8FD-A160-3647-9C92-3BCFC0DC9A2B}"/>
                </a:ext>
              </a:extLst>
            </p:cNvPr>
            <p:cNvSpPr txBox="1"/>
            <p:nvPr/>
          </p:nvSpPr>
          <p:spPr>
            <a:xfrm>
              <a:off x="2196364" y="1230477"/>
              <a:ext cx="1262653" cy="461665"/>
            </a:xfrm>
            <a:prstGeom prst="rect">
              <a:avLst/>
            </a:prstGeom>
            <a:noFill/>
          </p:spPr>
          <p:txBody>
            <a:bodyPr wrap="none" rtlCol="0">
              <a:spAutoFit/>
            </a:bodyPr>
            <a:lstStyle/>
            <a:p>
              <a:r>
                <a:rPr lang="en-US" sz="2400" dirty="0">
                  <a:latin typeface="+mj-lt"/>
                </a:rPr>
                <a:t>operator</a:t>
              </a:r>
            </a:p>
          </p:txBody>
        </p:sp>
        <p:sp>
          <p:nvSpPr>
            <p:cNvPr id="65" name="TextBox 64">
              <a:extLst>
                <a:ext uri="{FF2B5EF4-FFF2-40B4-BE49-F238E27FC236}">
                  <a16:creationId xmlns:a16="http://schemas.microsoft.com/office/drawing/2014/main" id="{756FC529-DBF1-CF43-9CB6-E7783D58F08F}"/>
                </a:ext>
              </a:extLst>
            </p:cNvPr>
            <p:cNvSpPr txBox="1"/>
            <p:nvPr/>
          </p:nvSpPr>
          <p:spPr>
            <a:xfrm>
              <a:off x="6360577" y="1230477"/>
              <a:ext cx="1568186" cy="461665"/>
            </a:xfrm>
            <a:prstGeom prst="rect">
              <a:avLst/>
            </a:prstGeom>
            <a:noFill/>
          </p:spPr>
          <p:txBody>
            <a:bodyPr wrap="none" rtlCol="0">
              <a:spAutoFit/>
            </a:bodyPr>
            <a:lstStyle/>
            <a:p>
              <a:r>
                <a:rPr lang="en-US" sz="2400" dirty="0">
                  <a:latin typeface="+mj-lt"/>
                </a:rPr>
                <a:t>description</a:t>
              </a:r>
            </a:p>
          </p:txBody>
        </p:sp>
        <p:sp>
          <p:nvSpPr>
            <p:cNvPr id="66" name="TextBox 65">
              <a:extLst>
                <a:ext uri="{FF2B5EF4-FFF2-40B4-BE49-F238E27FC236}">
                  <a16:creationId xmlns:a16="http://schemas.microsoft.com/office/drawing/2014/main" id="{FF52C743-4393-1A44-9E03-EDF51ED1CF41}"/>
                </a:ext>
              </a:extLst>
            </p:cNvPr>
            <p:cNvSpPr txBox="1"/>
            <p:nvPr/>
          </p:nvSpPr>
          <p:spPr>
            <a:xfrm>
              <a:off x="10322760" y="1230477"/>
              <a:ext cx="962123" cy="461665"/>
            </a:xfrm>
            <a:prstGeom prst="rect">
              <a:avLst/>
            </a:prstGeom>
            <a:noFill/>
          </p:spPr>
          <p:txBody>
            <a:bodyPr wrap="none" rtlCol="0">
              <a:spAutoFit/>
            </a:bodyPr>
            <a:lstStyle/>
            <a:p>
              <a:r>
                <a:rPr lang="en-US" sz="2400" dirty="0">
                  <a:latin typeface="+mj-lt"/>
                </a:rPr>
                <a:t>QASM</a:t>
              </a:r>
            </a:p>
          </p:txBody>
        </p:sp>
      </p:grpSp>
      <p:sp>
        <p:nvSpPr>
          <p:cNvPr id="67" name="Rectangle 66">
            <a:extLst>
              <a:ext uri="{FF2B5EF4-FFF2-40B4-BE49-F238E27FC236}">
                <a16:creationId xmlns:a16="http://schemas.microsoft.com/office/drawing/2014/main" id="{11B1E92D-AD21-CD4E-8F02-EAFC4D434718}"/>
              </a:ext>
            </a:extLst>
          </p:cNvPr>
          <p:cNvSpPr/>
          <p:nvPr/>
        </p:nvSpPr>
        <p:spPr>
          <a:xfrm>
            <a:off x="10026647" y="2141477"/>
            <a:ext cx="1843774" cy="461665"/>
          </a:xfrm>
          <a:prstGeom prst="rect">
            <a:avLst/>
          </a:prstGeom>
        </p:spPr>
        <p:txBody>
          <a:bodyPr wrap="none">
            <a:spAutoFit/>
          </a:bodyPr>
          <a:lstStyle/>
          <a:p>
            <a:r>
              <a:rPr lang="en-US" sz="2400" dirty="0">
                <a:latin typeface="AndaleMono" panose="020B0509000000000004" pitchFamily="49" charset="0"/>
              </a:rPr>
              <a:t>id q[</a:t>
            </a:r>
            <a:r>
              <a:rPr lang="en-US" sz="2400" dirty="0" err="1">
                <a:latin typeface="AndaleMono" panose="020B0509000000000004" pitchFamily="49" charset="0"/>
              </a:rPr>
              <a:t>i</a:t>
            </a:r>
            <a:r>
              <a:rPr lang="en-US" sz="2400" dirty="0">
                <a:latin typeface="AndaleMono" panose="020B0509000000000004" pitchFamily="49" charset="0"/>
              </a:rPr>
              <a:t>]; </a:t>
            </a:r>
            <a:endParaRPr lang="en-US" sz="2400" dirty="0">
              <a:effectLst/>
            </a:endParaRPr>
          </a:p>
        </p:txBody>
      </p:sp>
      <p:sp>
        <p:nvSpPr>
          <p:cNvPr id="68" name="Rectangle 67">
            <a:extLst>
              <a:ext uri="{FF2B5EF4-FFF2-40B4-BE49-F238E27FC236}">
                <a16:creationId xmlns:a16="http://schemas.microsoft.com/office/drawing/2014/main" id="{D350D65C-5677-3C4B-B172-AF98A7FDFFD4}"/>
              </a:ext>
            </a:extLst>
          </p:cNvPr>
          <p:cNvSpPr/>
          <p:nvPr/>
        </p:nvSpPr>
        <p:spPr>
          <a:xfrm>
            <a:off x="10051811" y="3507620"/>
            <a:ext cx="1659429" cy="461665"/>
          </a:xfrm>
          <a:prstGeom prst="rect">
            <a:avLst/>
          </a:prstGeom>
        </p:spPr>
        <p:txBody>
          <a:bodyPr wrap="none">
            <a:spAutoFit/>
          </a:bodyPr>
          <a:lstStyle/>
          <a:p>
            <a:r>
              <a:rPr lang="en-US" sz="2400" dirty="0">
                <a:latin typeface="AndaleMono" panose="020B0509000000000004" pitchFamily="49" charset="0"/>
              </a:rPr>
              <a:t>x q[</a:t>
            </a:r>
            <a:r>
              <a:rPr lang="en-US" sz="2400" dirty="0" err="1">
                <a:latin typeface="AndaleMono" panose="020B0509000000000004" pitchFamily="49" charset="0"/>
              </a:rPr>
              <a:t>i</a:t>
            </a:r>
            <a:r>
              <a:rPr lang="en-US" sz="2400" dirty="0">
                <a:latin typeface="AndaleMono" panose="020B0509000000000004" pitchFamily="49" charset="0"/>
              </a:rPr>
              <a:t>]; </a:t>
            </a:r>
            <a:endParaRPr lang="en-US" sz="2400" dirty="0">
              <a:effectLst/>
            </a:endParaRPr>
          </a:p>
        </p:txBody>
      </p:sp>
      <p:sp>
        <p:nvSpPr>
          <p:cNvPr id="69" name="Rectangle 68">
            <a:extLst>
              <a:ext uri="{FF2B5EF4-FFF2-40B4-BE49-F238E27FC236}">
                <a16:creationId xmlns:a16="http://schemas.microsoft.com/office/drawing/2014/main" id="{ED7A2580-B42F-994D-912B-F46CC3DE01D8}"/>
              </a:ext>
            </a:extLst>
          </p:cNvPr>
          <p:cNvSpPr/>
          <p:nvPr/>
        </p:nvSpPr>
        <p:spPr>
          <a:xfrm>
            <a:off x="3828535" y="3264531"/>
            <a:ext cx="6084281" cy="830997"/>
          </a:xfrm>
          <a:prstGeom prst="rect">
            <a:avLst/>
          </a:prstGeom>
        </p:spPr>
        <p:txBody>
          <a:bodyPr wrap="square">
            <a:spAutoFit/>
          </a:bodyPr>
          <a:lstStyle/>
          <a:p>
            <a:r>
              <a:rPr lang="en-ZA" sz="2400" dirty="0">
                <a:latin typeface="+mj-lt"/>
              </a:rPr>
              <a:t>Bit-flip gate; rotates the qubit by </a:t>
            </a:r>
            <a:r>
              <a:rPr lang="el-GR" sz="2400" dirty="0">
                <a:latin typeface="+mj-lt"/>
              </a:rPr>
              <a:t>π </a:t>
            </a:r>
            <a:r>
              <a:rPr lang="en-ZA" sz="2400" dirty="0">
                <a:latin typeface="+mj-lt"/>
              </a:rPr>
              <a:t>about the</a:t>
            </a:r>
            <a:br>
              <a:rPr lang="en-ZA" sz="2400" dirty="0">
                <a:latin typeface="+mj-lt"/>
              </a:rPr>
            </a:br>
            <a:r>
              <a:rPr lang="en-ZA" sz="2400" dirty="0">
                <a:latin typeface="+mj-lt"/>
              </a:rPr>
              <a:t>x-axis, mapping z→−z.</a:t>
            </a:r>
            <a:endParaRPr lang="en-US" sz="2400" dirty="0">
              <a:latin typeface="+mj-lt"/>
            </a:endParaRPr>
          </a:p>
        </p:txBody>
      </p:sp>
      <p:sp>
        <p:nvSpPr>
          <p:cNvPr id="70" name="Rectangle 69">
            <a:extLst>
              <a:ext uri="{FF2B5EF4-FFF2-40B4-BE49-F238E27FC236}">
                <a16:creationId xmlns:a16="http://schemas.microsoft.com/office/drawing/2014/main" id="{49C3F555-D459-B247-BBE1-E7C13903F153}"/>
              </a:ext>
            </a:extLst>
          </p:cNvPr>
          <p:cNvSpPr/>
          <p:nvPr/>
        </p:nvSpPr>
        <p:spPr>
          <a:xfrm>
            <a:off x="10123646" y="4798444"/>
            <a:ext cx="1659429" cy="461665"/>
          </a:xfrm>
          <a:prstGeom prst="rect">
            <a:avLst/>
          </a:prstGeom>
        </p:spPr>
        <p:txBody>
          <a:bodyPr wrap="none">
            <a:spAutoFit/>
          </a:bodyPr>
          <a:lstStyle/>
          <a:p>
            <a:r>
              <a:rPr lang="en-US" sz="2400" dirty="0">
                <a:latin typeface="AndaleMono" panose="020B0509000000000004" pitchFamily="49" charset="0"/>
              </a:rPr>
              <a:t>y q[</a:t>
            </a:r>
            <a:r>
              <a:rPr lang="en-US" sz="2400" dirty="0" err="1">
                <a:latin typeface="AndaleMono" panose="020B0509000000000004" pitchFamily="49" charset="0"/>
              </a:rPr>
              <a:t>i</a:t>
            </a:r>
            <a:r>
              <a:rPr lang="en-US" sz="2400" dirty="0">
                <a:latin typeface="AndaleMono" panose="020B0509000000000004" pitchFamily="49" charset="0"/>
              </a:rPr>
              <a:t>]; </a:t>
            </a:r>
            <a:endParaRPr lang="en-US" sz="2400" dirty="0">
              <a:effectLst/>
            </a:endParaRPr>
          </a:p>
        </p:txBody>
      </p:sp>
      <p:sp>
        <p:nvSpPr>
          <p:cNvPr id="71" name="Rectangle 70">
            <a:extLst>
              <a:ext uri="{FF2B5EF4-FFF2-40B4-BE49-F238E27FC236}">
                <a16:creationId xmlns:a16="http://schemas.microsoft.com/office/drawing/2014/main" id="{ED708F5C-949D-6A4D-8789-86A3C20130A8}"/>
              </a:ext>
            </a:extLst>
          </p:cNvPr>
          <p:cNvSpPr/>
          <p:nvPr/>
        </p:nvSpPr>
        <p:spPr>
          <a:xfrm>
            <a:off x="10165881" y="5686598"/>
            <a:ext cx="1659429" cy="461665"/>
          </a:xfrm>
          <a:prstGeom prst="rect">
            <a:avLst/>
          </a:prstGeom>
        </p:spPr>
        <p:txBody>
          <a:bodyPr wrap="none">
            <a:spAutoFit/>
          </a:bodyPr>
          <a:lstStyle/>
          <a:p>
            <a:r>
              <a:rPr lang="en-US" sz="2400" dirty="0">
                <a:latin typeface="AndaleMono" panose="020B0509000000000004" pitchFamily="49" charset="0"/>
              </a:rPr>
              <a:t>z q[</a:t>
            </a:r>
            <a:r>
              <a:rPr lang="en-US" sz="2400" dirty="0" err="1">
                <a:latin typeface="AndaleMono" panose="020B0509000000000004" pitchFamily="49" charset="0"/>
              </a:rPr>
              <a:t>i</a:t>
            </a:r>
            <a:r>
              <a:rPr lang="en-US" sz="2400" dirty="0">
                <a:latin typeface="AndaleMono" panose="020B0509000000000004" pitchFamily="49" charset="0"/>
              </a:rPr>
              <a:t>]; </a:t>
            </a:r>
            <a:endParaRPr lang="en-US" sz="2400" dirty="0">
              <a:effectLst/>
            </a:endParaRPr>
          </a:p>
        </p:txBody>
      </p:sp>
      <p:sp>
        <p:nvSpPr>
          <p:cNvPr id="72" name="Rectangle 71">
            <a:extLst>
              <a:ext uri="{FF2B5EF4-FFF2-40B4-BE49-F238E27FC236}">
                <a16:creationId xmlns:a16="http://schemas.microsoft.com/office/drawing/2014/main" id="{4A808DDA-7701-8E45-8B4C-C361E6865126}"/>
              </a:ext>
            </a:extLst>
          </p:cNvPr>
          <p:cNvSpPr/>
          <p:nvPr/>
        </p:nvSpPr>
        <p:spPr>
          <a:xfrm>
            <a:off x="3808268" y="4599354"/>
            <a:ext cx="6250991" cy="830997"/>
          </a:xfrm>
          <a:prstGeom prst="rect">
            <a:avLst/>
          </a:prstGeom>
        </p:spPr>
        <p:txBody>
          <a:bodyPr wrap="square">
            <a:spAutoFit/>
          </a:bodyPr>
          <a:lstStyle/>
          <a:p>
            <a:r>
              <a:rPr lang="en-ZA" sz="2400" dirty="0">
                <a:latin typeface="+mj-lt"/>
              </a:rPr>
              <a:t>Bit-phase-flip gate; rotates the qubit by </a:t>
            </a:r>
            <a:r>
              <a:rPr lang="el-GR" sz="2400" dirty="0">
                <a:latin typeface="+mj-lt"/>
              </a:rPr>
              <a:t>π </a:t>
            </a:r>
            <a:r>
              <a:rPr lang="en-ZA" sz="2400" dirty="0">
                <a:latin typeface="+mj-lt"/>
              </a:rPr>
              <a:t>about the y-axis, mapping x→−x and z→−z.</a:t>
            </a:r>
            <a:endParaRPr lang="en-US" sz="2300" dirty="0">
              <a:latin typeface="+mj-lt"/>
            </a:endParaRPr>
          </a:p>
        </p:txBody>
      </p:sp>
      <p:sp>
        <p:nvSpPr>
          <p:cNvPr id="73" name="Rectangle 72">
            <a:extLst>
              <a:ext uri="{FF2B5EF4-FFF2-40B4-BE49-F238E27FC236}">
                <a16:creationId xmlns:a16="http://schemas.microsoft.com/office/drawing/2014/main" id="{7E022613-854B-514C-928F-2417CBFA8D45}"/>
              </a:ext>
            </a:extLst>
          </p:cNvPr>
          <p:cNvSpPr/>
          <p:nvPr/>
        </p:nvSpPr>
        <p:spPr>
          <a:xfrm>
            <a:off x="3816816" y="5488965"/>
            <a:ext cx="6096000" cy="830997"/>
          </a:xfrm>
          <a:prstGeom prst="rect">
            <a:avLst/>
          </a:prstGeom>
        </p:spPr>
        <p:txBody>
          <a:bodyPr>
            <a:spAutoFit/>
          </a:bodyPr>
          <a:lstStyle/>
          <a:p>
            <a:r>
              <a:rPr lang="en-ZA" sz="2400" dirty="0">
                <a:latin typeface="+mj-lt"/>
              </a:rPr>
              <a:t>Phase-flip gate; rotates the qubit by </a:t>
            </a:r>
            <a:r>
              <a:rPr lang="el-GR" sz="2400" dirty="0">
                <a:latin typeface="+mj-lt"/>
              </a:rPr>
              <a:t>π </a:t>
            </a:r>
            <a:r>
              <a:rPr lang="en-ZA" sz="2400" dirty="0">
                <a:latin typeface="+mj-lt"/>
              </a:rPr>
              <a:t>about the z-axis, mapping x→−x.</a:t>
            </a:r>
            <a:endParaRPr lang="en-US" sz="2300" dirty="0">
              <a:latin typeface="+mj-lt"/>
            </a:endParaRPr>
          </a:p>
        </p:txBody>
      </p:sp>
      <p:cxnSp>
        <p:nvCxnSpPr>
          <p:cNvPr id="74" name="Straight Connector 73">
            <a:extLst>
              <a:ext uri="{FF2B5EF4-FFF2-40B4-BE49-F238E27FC236}">
                <a16:creationId xmlns:a16="http://schemas.microsoft.com/office/drawing/2014/main" id="{E659E032-8DF3-9740-ADF5-4DA7971A1615}"/>
              </a:ext>
            </a:extLst>
          </p:cNvPr>
          <p:cNvCxnSpPr>
            <a:cxnSpLocks/>
          </p:cNvCxnSpPr>
          <p:nvPr/>
        </p:nvCxnSpPr>
        <p:spPr>
          <a:xfrm flipV="1">
            <a:off x="10074081" y="1258191"/>
            <a:ext cx="0" cy="5233372"/>
          </a:xfrm>
          <a:prstGeom prst="line">
            <a:avLst/>
          </a:prstGeom>
        </p:spPr>
        <p:style>
          <a:lnRef idx="1">
            <a:schemeClr val="accent1"/>
          </a:lnRef>
          <a:fillRef idx="0">
            <a:schemeClr val="accent1"/>
          </a:fillRef>
          <a:effectRef idx="0">
            <a:schemeClr val="accent1"/>
          </a:effectRef>
          <a:fontRef idx="minor">
            <a:schemeClr val="tx1"/>
          </a:fontRef>
        </p:style>
      </p:cxnSp>
      <p:sp>
        <p:nvSpPr>
          <p:cNvPr id="75" name="Rectangle 74">
            <a:extLst>
              <a:ext uri="{FF2B5EF4-FFF2-40B4-BE49-F238E27FC236}">
                <a16:creationId xmlns:a16="http://schemas.microsoft.com/office/drawing/2014/main" id="{B326A095-BD2E-D74B-8539-7C1C4B25A567}"/>
              </a:ext>
            </a:extLst>
          </p:cNvPr>
          <p:cNvSpPr/>
          <p:nvPr/>
        </p:nvSpPr>
        <p:spPr>
          <a:xfrm>
            <a:off x="704884" y="3730688"/>
            <a:ext cx="720000" cy="720000"/>
          </a:xfrm>
          <a:prstGeom prst="rect">
            <a:avLst/>
          </a:prstGeom>
          <a:solidFill>
            <a:srgbClr val="33B1F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latin typeface="Times" pitchFamily="2" charset="0"/>
              </a:rPr>
              <a:t>X</a:t>
            </a:r>
          </a:p>
        </p:txBody>
      </p:sp>
    </p:spTree>
    <p:extLst>
      <p:ext uri="{BB962C8B-B14F-4D97-AF65-F5344CB8AC3E}">
        <p14:creationId xmlns:p14="http://schemas.microsoft.com/office/powerpoint/2010/main" val="35320683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39EF45-D20A-C54B-9E7B-223F102F5FFB}"/>
              </a:ext>
            </a:extLst>
          </p:cNvPr>
          <p:cNvSpPr>
            <a:spLocks noGrp="1"/>
          </p:cNvSpPr>
          <p:nvPr>
            <p:ph type="title"/>
          </p:nvPr>
        </p:nvSpPr>
        <p:spPr>
          <a:xfrm>
            <a:off x="0" y="0"/>
            <a:ext cx="12192000" cy="928688"/>
          </a:xfrm>
        </p:spPr>
        <p:txBody>
          <a:bodyPr/>
          <a:lstStyle/>
          <a:p>
            <a:r>
              <a:rPr lang="en-ZA" sz="3600" dirty="0"/>
              <a:t>Identity Gate</a:t>
            </a:r>
            <a:endParaRPr lang="en-US" dirty="0"/>
          </a:p>
        </p:txBody>
      </p:sp>
      <p:sp>
        <p:nvSpPr>
          <p:cNvPr id="3" name="Slide Number Placeholder 2">
            <a:extLst>
              <a:ext uri="{FF2B5EF4-FFF2-40B4-BE49-F238E27FC236}">
                <a16:creationId xmlns:a16="http://schemas.microsoft.com/office/drawing/2014/main" id="{1DFCF789-A597-7E48-870E-125D0C3A063D}"/>
              </a:ext>
            </a:extLst>
          </p:cNvPr>
          <p:cNvSpPr>
            <a:spLocks noGrp="1"/>
          </p:cNvSpPr>
          <p:nvPr>
            <p:ph type="sldNum" sz="quarter" idx="12"/>
          </p:nvPr>
        </p:nvSpPr>
        <p:spPr/>
        <p:txBody>
          <a:bodyPr/>
          <a:lstStyle/>
          <a:p>
            <a:fld id="{591A223C-FA10-BC46-A853-03BA373D023C}" type="slidenum">
              <a:rPr lang="en-US" smtClean="0"/>
              <a:t>14</a:t>
            </a:fld>
            <a:endParaRPr lang="en-US"/>
          </a:p>
        </p:txBody>
      </p:sp>
      <p:cxnSp>
        <p:nvCxnSpPr>
          <p:cNvPr id="4" name="Straight Connector 3">
            <a:extLst>
              <a:ext uri="{FF2B5EF4-FFF2-40B4-BE49-F238E27FC236}">
                <a16:creationId xmlns:a16="http://schemas.microsoft.com/office/drawing/2014/main" id="{35913924-2483-E343-99F2-9D1061599CCB}"/>
              </a:ext>
            </a:extLst>
          </p:cNvPr>
          <p:cNvCxnSpPr>
            <a:cxnSpLocks/>
          </p:cNvCxnSpPr>
          <p:nvPr/>
        </p:nvCxnSpPr>
        <p:spPr>
          <a:xfrm>
            <a:off x="334661" y="2045151"/>
            <a:ext cx="11087866" cy="0"/>
          </a:xfrm>
          <a:prstGeom prst="line">
            <a:avLst/>
          </a:prstGeom>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01F86251-6DE2-3448-A31F-B8BAA869C571}"/>
              </a:ext>
            </a:extLst>
          </p:cNvPr>
          <p:cNvSpPr/>
          <p:nvPr/>
        </p:nvSpPr>
        <p:spPr>
          <a:xfrm>
            <a:off x="334661" y="1381030"/>
            <a:ext cx="11087866" cy="227111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6" name="Rectangle 35">
                <a:extLst>
                  <a:ext uri="{FF2B5EF4-FFF2-40B4-BE49-F238E27FC236}">
                    <a16:creationId xmlns:a16="http://schemas.microsoft.com/office/drawing/2014/main" id="{32F9BF4A-151C-EE4B-A813-55B617FB609E}"/>
                  </a:ext>
                </a:extLst>
              </p:cNvPr>
              <p:cNvSpPr/>
              <p:nvPr/>
            </p:nvSpPr>
            <p:spPr>
              <a:xfrm>
                <a:off x="1918335" y="2354702"/>
                <a:ext cx="1650195" cy="70814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nor/>
                        </m:rPr>
                        <a:rPr lang="sr-Latn-RS" sz="2400" b="0" i="1" smtClean="0">
                          <a:solidFill>
                            <a:schemeClr val="tx1"/>
                          </a:solidFill>
                          <a:latin typeface="Cambria Math" panose="02040503050406030204" pitchFamily="18" charset="0"/>
                        </a:rPr>
                        <m:t>I</m:t>
                      </m:r>
                      <m:r>
                        <m:rPr>
                          <m:nor/>
                        </m:rPr>
                        <a:rPr lang="sr-Latn-RS" sz="2400" b="0" i="0" smtClean="0">
                          <a:solidFill>
                            <a:schemeClr val="tx1"/>
                          </a:solidFill>
                          <a:latin typeface="Cambria Math" panose="02040503050406030204" pitchFamily="18" charset="0"/>
                        </a:rPr>
                        <m:t> </m:t>
                      </m:r>
                      <m:r>
                        <m:rPr>
                          <m:nor/>
                        </m:rPr>
                        <a:rPr lang="en-US" sz="2400" smtClean="0">
                          <a:solidFill>
                            <a:schemeClr val="tx1"/>
                          </a:solidFill>
                          <a:latin typeface="Cambria Math" panose="02040503050406030204" pitchFamily="18" charset="0"/>
                        </a:rPr>
                        <m:t>=</m:t>
                      </m:r>
                      <m:d>
                        <m:dPr>
                          <m:ctrlPr>
                            <a:rPr lang="en-US" sz="2400" i="1">
                              <a:solidFill>
                                <a:schemeClr val="tx1"/>
                              </a:solidFill>
                              <a:latin typeface="Cambria Math" panose="02040503050406030204" pitchFamily="18" charset="0"/>
                            </a:rPr>
                          </m:ctrlPr>
                        </m:dPr>
                        <m:e>
                          <m:m>
                            <m:mPr>
                              <m:plcHide m:val="on"/>
                              <m:mcs>
                                <m:mc>
                                  <m:mcPr>
                                    <m:count m:val="2"/>
                                    <m:mcJc m:val="center"/>
                                  </m:mcPr>
                                </m:mc>
                              </m:mcs>
                              <m:ctrlPr>
                                <a:rPr lang="en-US" sz="2400" i="1">
                                  <a:solidFill>
                                    <a:schemeClr val="tx1"/>
                                  </a:solidFill>
                                  <a:latin typeface="Cambria Math" panose="02040503050406030204" pitchFamily="18" charset="0"/>
                                </a:rPr>
                              </m:ctrlPr>
                            </m:mPr>
                            <m:mr>
                              <m:e>
                                <m:r>
                                  <m:rPr>
                                    <m:nor/>
                                  </m:rPr>
                                  <a:rPr lang="en-US" sz="2400">
                                    <a:solidFill>
                                      <a:schemeClr val="tx1"/>
                                    </a:solidFill>
                                    <a:latin typeface="Cambria Math" panose="02040503050406030204" pitchFamily="18" charset="0"/>
                                  </a:rPr>
                                  <m:t>1</m:t>
                                </m:r>
                              </m:e>
                              <m:e>
                                <m:r>
                                  <m:rPr>
                                    <m:nor/>
                                  </m:rPr>
                                  <a:rPr lang="sr-Latn-RS" sz="2400" b="0" i="0" smtClean="0">
                                    <a:solidFill>
                                      <a:schemeClr val="tx1"/>
                                    </a:solidFill>
                                    <a:latin typeface="Cambria Math" panose="02040503050406030204" pitchFamily="18" charset="0"/>
                                  </a:rPr>
                                  <m:t>0</m:t>
                                </m:r>
                              </m:e>
                            </m:mr>
                            <m:mr>
                              <m:e>
                                <m:r>
                                  <a:rPr lang="sr-Latn-RS" sz="2400" b="0" i="1" smtClean="0">
                                    <a:solidFill>
                                      <a:schemeClr val="tx1"/>
                                    </a:solidFill>
                                    <a:latin typeface="Cambria Math" panose="02040503050406030204" pitchFamily="18" charset="0"/>
                                  </a:rPr>
                                  <m:t>0</m:t>
                                </m:r>
                              </m:e>
                              <m:e>
                                <m:r>
                                  <m:rPr>
                                    <m:nor/>
                                  </m:rPr>
                                  <a:rPr lang="en-US" sz="2400">
                                    <a:solidFill>
                                      <a:schemeClr val="tx1"/>
                                    </a:solidFill>
                                    <a:latin typeface="Cambria Math" panose="02040503050406030204" pitchFamily="18" charset="0"/>
                                  </a:rPr>
                                  <m:t>1</m:t>
                                </m:r>
                              </m:e>
                            </m:mr>
                          </m:m>
                        </m:e>
                      </m:d>
                    </m:oMath>
                  </m:oMathPara>
                </a14:m>
                <a:endParaRPr lang="en-US" sz="2400" dirty="0">
                  <a:solidFill>
                    <a:schemeClr val="tx1"/>
                  </a:solidFill>
                </a:endParaRPr>
              </a:p>
            </p:txBody>
          </p:sp>
        </mc:Choice>
        <mc:Fallback xmlns="">
          <p:sp>
            <p:nvSpPr>
              <p:cNvPr id="36" name="Rectangle 35">
                <a:extLst>
                  <a:ext uri="{FF2B5EF4-FFF2-40B4-BE49-F238E27FC236}">
                    <a16:creationId xmlns:a16="http://schemas.microsoft.com/office/drawing/2014/main" id="{32F9BF4A-151C-EE4B-A813-55B617FB609E}"/>
                  </a:ext>
                </a:extLst>
              </p:cNvPr>
              <p:cNvSpPr>
                <a:spLocks noRot="1" noChangeAspect="1" noMove="1" noResize="1" noEditPoints="1" noAdjustHandles="1" noChangeArrowheads="1" noChangeShapeType="1" noTextEdit="1"/>
              </p:cNvSpPr>
              <p:nvPr/>
            </p:nvSpPr>
            <p:spPr>
              <a:xfrm>
                <a:off x="1918335" y="2354702"/>
                <a:ext cx="1650195" cy="708143"/>
              </a:xfrm>
              <a:prstGeom prst="rect">
                <a:avLst/>
              </a:prstGeom>
              <a:blipFill>
                <a:blip r:embed="rId3"/>
                <a:stretch>
                  <a:fillRect b="-7018"/>
                </a:stretch>
              </a:blipFill>
            </p:spPr>
            <p:txBody>
              <a:bodyPr/>
              <a:lstStyle/>
              <a:p>
                <a:r>
                  <a:rPr lang="en-US">
                    <a:noFill/>
                  </a:rPr>
                  <a:t> </a:t>
                </a:r>
              </a:p>
            </p:txBody>
          </p:sp>
        </mc:Fallback>
      </mc:AlternateContent>
      <p:sp>
        <p:nvSpPr>
          <p:cNvPr id="37" name="TextBox 36">
            <a:extLst>
              <a:ext uri="{FF2B5EF4-FFF2-40B4-BE49-F238E27FC236}">
                <a16:creationId xmlns:a16="http://schemas.microsoft.com/office/drawing/2014/main" id="{A41F298D-2142-3447-964A-88FBF8974F35}"/>
              </a:ext>
            </a:extLst>
          </p:cNvPr>
          <p:cNvSpPr txBox="1"/>
          <p:nvPr/>
        </p:nvSpPr>
        <p:spPr>
          <a:xfrm>
            <a:off x="4565485" y="2082482"/>
            <a:ext cx="5270201" cy="1569660"/>
          </a:xfrm>
          <a:prstGeom prst="rect">
            <a:avLst/>
          </a:prstGeom>
          <a:noFill/>
        </p:spPr>
        <p:txBody>
          <a:bodyPr wrap="square" rtlCol="0">
            <a:spAutoFit/>
          </a:bodyPr>
          <a:lstStyle/>
          <a:p>
            <a:pPr algn="just"/>
            <a:r>
              <a:rPr lang="en-ZA" sz="2400" dirty="0">
                <a:latin typeface="+mj-lt"/>
              </a:rPr>
              <a:t>Applies the identity transformation, leaving the qubit unchanged while introducing a time delay, typically in the nanosecond range.</a:t>
            </a:r>
            <a:endParaRPr lang="en-US" sz="2400" dirty="0">
              <a:latin typeface="+mj-lt"/>
            </a:endParaRPr>
          </a:p>
        </p:txBody>
      </p:sp>
      <p:sp>
        <p:nvSpPr>
          <p:cNvPr id="43" name="Rectangle 42">
            <a:extLst>
              <a:ext uri="{FF2B5EF4-FFF2-40B4-BE49-F238E27FC236}">
                <a16:creationId xmlns:a16="http://schemas.microsoft.com/office/drawing/2014/main" id="{0824DC6C-CEC9-3E4E-8DF1-99A0070F2BD7}"/>
              </a:ext>
            </a:extLst>
          </p:cNvPr>
          <p:cNvSpPr/>
          <p:nvPr/>
        </p:nvSpPr>
        <p:spPr>
          <a:xfrm>
            <a:off x="9898513" y="2461259"/>
            <a:ext cx="1843774" cy="461665"/>
          </a:xfrm>
          <a:prstGeom prst="rect">
            <a:avLst/>
          </a:prstGeom>
        </p:spPr>
        <p:txBody>
          <a:bodyPr wrap="none">
            <a:spAutoFit/>
          </a:bodyPr>
          <a:lstStyle/>
          <a:p>
            <a:r>
              <a:rPr lang="en-US" sz="2400" dirty="0">
                <a:latin typeface="AndaleMono" panose="020B0509000000000004" pitchFamily="49" charset="0"/>
              </a:rPr>
              <a:t>id q[</a:t>
            </a:r>
            <a:r>
              <a:rPr lang="en-US" sz="2400" dirty="0" err="1">
                <a:latin typeface="AndaleMono" panose="020B0509000000000004" pitchFamily="49" charset="0"/>
              </a:rPr>
              <a:t>i</a:t>
            </a:r>
            <a:r>
              <a:rPr lang="en-US" sz="2400" dirty="0">
                <a:latin typeface="AndaleMono" panose="020B0509000000000004" pitchFamily="49" charset="0"/>
              </a:rPr>
              <a:t>]; </a:t>
            </a:r>
            <a:endParaRPr lang="en-US" sz="2400" dirty="0">
              <a:effectLst/>
            </a:endParaRPr>
          </a:p>
        </p:txBody>
      </p:sp>
      <p:grpSp>
        <p:nvGrpSpPr>
          <p:cNvPr id="5" name="Group 4">
            <a:extLst>
              <a:ext uri="{FF2B5EF4-FFF2-40B4-BE49-F238E27FC236}">
                <a16:creationId xmlns:a16="http://schemas.microsoft.com/office/drawing/2014/main" id="{8B53A32B-F815-0A42-8193-DDCDEE963FCF}"/>
              </a:ext>
            </a:extLst>
          </p:cNvPr>
          <p:cNvGrpSpPr/>
          <p:nvPr/>
        </p:nvGrpSpPr>
        <p:grpSpPr>
          <a:xfrm>
            <a:off x="1561490" y="1381030"/>
            <a:ext cx="8342663" cy="2271111"/>
            <a:chOff x="1561490" y="1381031"/>
            <a:chExt cx="8342663" cy="1749020"/>
          </a:xfrm>
        </p:grpSpPr>
        <p:cxnSp>
          <p:nvCxnSpPr>
            <p:cNvPr id="16" name="Straight Connector 15">
              <a:extLst>
                <a:ext uri="{FF2B5EF4-FFF2-40B4-BE49-F238E27FC236}">
                  <a16:creationId xmlns:a16="http://schemas.microsoft.com/office/drawing/2014/main" id="{1A76F891-5AB6-8649-AA11-DCC61231E1A8}"/>
                </a:ext>
              </a:extLst>
            </p:cNvPr>
            <p:cNvCxnSpPr>
              <a:cxnSpLocks/>
            </p:cNvCxnSpPr>
            <p:nvPr/>
          </p:nvCxnSpPr>
          <p:spPr>
            <a:xfrm>
              <a:off x="1561490" y="1381031"/>
              <a:ext cx="0" cy="174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98B600C7-EF8F-A54F-A16B-AB413E8AA9CD}"/>
                </a:ext>
              </a:extLst>
            </p:cNvPr>
            <p:cNvCxnSpPr>
              <a:cxnSpLocks/>
            </p:cNvCxnSpPr>
            <p:nvPr/>
          </p:nvCxnSpPr>
          <p:spPr>
            <a:xfrm>
              <a:off x="4381038" y="1387651"/>
              <a:ext cx="0" cy="174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8A527968-DE7C-FE4A-A9DB-19FD054BF655}"/>
                </a:ext>
              </a:extLst>
            </p:cNvPr>
            <p:cNvCxnSpPr>
              <a:cxnSpLocks/>
            </p:cNvCxnSpPr>
            <p:nvPr/>
          </p:nvCxnSpPr>
          <p:spPr>
            <a:xfrm flipH="1" flipV="1">
              <a:off x="9904153" y="1381033"/>
              <a:ext cx="0" cy="1742400"/>
            </a:xfrm>
            <a:prstGeom prst="line">
              <a:avLst/>
            </a:prstGeom>
          </p:spPr>
          <p:style>
            <a:lnRef idx="1">
              <a:schemeClr val="accent1"/>
            </a:lnRef>
            <a:fillRef idx="0">
              <a:schemeClr val="accent1"/>
            </a:fillRef>
            <a:effectRef idx="0">
              <a:schemeClr val="accent1"/>
            </a:effectRef>
            <a:fontRef idx="minor">
              <a:schemeClr val="tx1"/>
            </a:fontRef>
          </p:style>
        </p:cxnSp>
      </p:grpSp>
      <p:sp>
        <p:nvSpPr>
          <p:cNvPr id="22" name="Rectangle 21">
            <a:extLst>
              <a:ext uri="{FF2B5EF4-FFF2-40B4-BE49-F238E27FC236}">
                <a16:creationId xmlns:a16="http://schemas.microsoft.com/office/drawing/2014/main" id="{98BE1A9F-4791-F44A-BA19-C1F034837101}"/>
              </a:ext>
            </a:extLst>
          </p:cNvPr>
          <p:cNvSpPr/>
          <p:nvPr/>
        </p:nvSpPr>
        <p:spPr>
          <a:xfrm>
            <a:off x="588577" y="2332091"/>
            <a:ext cx="720000" cy="720000"/>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bg1"/>
                </a:solidFill>
                <a:latin typeface="Times" pitchFamily="2" charset="0"/>
              </a:rPr>
              <a:t>I</a:t>
            </a:r>
          </a:p>
        </p:txBody>
      </p:sp>
      <p:grpSp>
        <p:nvGrpSpPr>
          <p:cNvPr id="6" name="Group 5">
            <a:extLst>
              <a:ext uri="{FF2B5EF4-FFF2-40B4-BE49-F238E27FC236}">
                <a16:creationId xmlns:a16="http://schemas.microsoft.com/office/drawing/2014/main" id="{101D4828-8A5B-CB46-A854-EA9DED39D5F0}"/>
              </a:ext>
            </a:extLst>
          </p:cNvPr>
          <p:cNvGrpSpPr/>
          <p:nvPr/>
        </p:nvGrpSpPr>
        <p:grpSpPr>
          <a:xfrm>
            <a:off x="2003718" y="4239395"/>
            <a:ext cx="4651017" cy="1676972"/>
            <a:chOff x="2003718" y="4239395"/>
            <a:chExt cx="4651017" cy="1676972"/>
          </a:xfrm>
          <a:solidFill>
            <a:schemeClr val="accent4">
              <a:lumMod val="20000"/>
              <a:lumOff val="80000"/>
            </a:schemeClr>
          </a:solidFill>
        </p:grpSpPr>
        <mc:AlternateContent xmlns:mc="http://schemas.openxmlformats.org/markup-compatibility/2006" xmlns:a14="http://schemas.microsoft.com/office/drawing/2010/main">
          <mc:Choice Requires="a14">
            <p:sp>
              <p:nvSpPr>
                <p:cNvPr id="23" name="Rectangle 22">
                  <a:extLst>
                    <a:ext uri="{FF2B5EF4-FFF2-40B4-BE49-F238E27FC236}">
                      <a16:creationId xmlns:a16="http://schemas.microsoft.com/office/drawing/2014/main" id="{D3C3E74D-AFD1-3749-9A4B-5B14D00F1EF1}"/>
                    </a:ext>
                  </a:extLst>
                </p:cNvPr>
                <p:cNvSpPr/>
                <p:nvPr/>
              </p:nvSpPr>
              <p:spPr>
                <a:xfrm>
                  <a:off x="2003719" y="4239395"/>
                  <a:ext cx="4593309" cy="708143"/>
                </a:xfrm>
                <a:prstGeom prst="rect">
                  <a:avLst/>
                </a:prstGeom>
                <a:grpFill/>
              </p:spPr>
              <p:txBody>
                <a:bodyPr wrap="none">
                  <a:spAutoFit/>
                </a:bodyPr>
                <a:lstStyle/>
                <a:p>
                  <a:pPr/>
                  <a14:m>
                    <m:oMathPara xmlns:m="http://schemas.openxmlformats.org/officeDocument/2006/math">
                      <m:oMathParaPr>
                        <m:jc m:val="centerGroup"/>
                      </m:oMathParaPr>
                      <m:oMath xmlns:m="http://schemas.openxmlformats.org/officeDocument/2006/math">
                        <m:r>
                          <a:rPr lang="en-US" sz="2400" i="0" smtClean="0">
                            <a:latin typeface="Cambria Math" panose="02040503050406030204" pitchFamily="18" charset="0"/>
                          </a:rPr>
                          <m:t> </m:t>
                        </m:r>
                        <m:r>
                          <a:rPr lang="sr-Latn-RS" sz="2400" b="0" i="1" smtClean="0">
                            <a:latin typeface="Cambria Math" panose="02040503050406030204" pitchFamily="18" charset="0"/>
                          </a:rPr>
                          <m:t>𝐼</m:t>
                        </m:r>
                        <m:d>
                          <m:dPr>
                            <m:begChr m:val="|"/>
                            <m:endChr m:val="⟩"/>
                            <m:ctrlPr>
                              <a:rPr lang="en-US" sz="2400" i="1">
                                <a:latin typeface="Cambria Math" panose="02040503050406030204" pitchFamily="18" charset="0"/>
                              </a:rPr>
                            </m:ctrlPr>
                          </m:dPr>
                          <m:e>
                            <m:r>
                              <a:rPr lang="en-US" sz="2400" i="0">
                                <a:latin typeface="Cambria Math" panose="02040503050406030204" pitchFamily="18" charset="0"/>
                              </a:rPr>
                              <m:t>0</m:t>
                            </m:r>
                          </m:e>
                        </m:d>
                        <m:r>
                          <a:rPr lang="en-US" sz="2400" i="0">
                            <a:latin typeface="Cambria Math" panose="02040503050406030204" pitchFamily="18" charset="0"/>
                          </a:rPr>
                          <m:t>=</m:t>
                        </m:r>
                        <m:d>
                          <m:dPr>
                            <m:ctrlPr>
                              <a:rPr lang="en-US" sz="2400" i="1">
                                <a:latin typeface="Cambria Math" panose="02040503050406030204" pitchFamily="18" charset="0"/>
                              </a:rPr>
                            </m:ctrlPr>
                          </m:dPr>
                          <m:e>
                            <m:m>
                              <m:mPr>
                                <m:plcHide m:val="on"/>
                                <m:mcs>
                                  <m:mc>
                                    <m:mcPr>
                                      <m:count m:val="2"/>
                                      <m:mcJc m:val="center"/>
                                    </m:mcPr>
                                  </m:mc>
                                </m:mcs>
                                <m:ctrlPr>
                                  <a:rPr lang="en-US" sz="2400" i="1">
                                    <a:latin typeface="Cambria Math" panose="02040503050406030204" pitchFamily="18" charset="0"/>
                                  </a:rPr>
                                </m:ctrlPr>
                              </m:mPr>
                              <m:mr>
                                <m:e>
                                  <m:r>
                                    <m:rPr>
                                      <m:nor/>
                                    </m:rPr>
                                    <a:rPr lang="en-US" sz="2400">
                                      <a:latin typeface="Cambria Math" panose="02040503050406030204" pitchFamily="18" charset="0"/>
                                    </a:rPr>
                                    <m:t>1</m:t>
                                  </m:r>
                                </m:e>
                                <m:e>
                                  <m:r>
                                    <m:rPr>
                                      <m:nor/>
                                    </m:rPr>
                                    <a:rPr lang="sr-Latn-RS" sz="2400">
                                      <a:latin typeface="Cambria Math" panose="02040503050406030204" pitchFamily="18" charset="0"/>
                                    </a:rPr>
                                    <m:t>0</m:t>
                                  </m:r>
                                </m:e>
                              </m:mr>
                              <m:mr>
                                <m:e>
                                  <m:r>
                                    <a:rPr lang="sr-Latn-RS" sz="2400" i="1">
                                      <a:latin typeface="Cambria Math" panose="02040503050406030204" pitchFamily="18" charset="0"/>
                                    </a:rPr>
                                    <m:t>0</m:t>
                                  </m:r>
                                </m:e>
                                <m:e>
                                  <m:r>
                                    <m:rPr>
                                      <m:nor/>
                                    </m:rPr>
                                    <a:rPr lang="en-US" sz="2400">
                                      <a:latin typeface="Cambria Math" panose="02040503050406030204" pitchFamily="18" charset="0"/>
                                    </a:rPr>
                                    <m:t>1</m:t>
                                  </m:r>
                                </m:e>
                              </m:mr>
                            </m:m>
                          </m:e>
                        </m:d>
                        <m:d>
                          <m:dPr>
                            <m:ctrlPr>
                              <a:rPr lang="en-US" sz="2400" i="1">
                                <a:latin typeface="Cambria Math" panose="02040503050406030204" pitchFamily="18" charset="0"/>
                              </a:rPr>
                            </m:ctrlPr>
                          </m:dPr>
                          <m:e>
                            <m:m>
                              <m:mPr>
                                <m:plcHide m:val="on"/>
                                <m:mcs>
                                  <m:mc>
                                    <m:mcPr>
                                      <m:count m:val="1"/>
                                      <m:mcJc m:val="center"/>
                                    </m:mcPr>
                                  </m:mc>
                                </m:mcs>
                                <m:ctrlPr>
                                  <a:rPr lang="en-US" sz="2400" i="1">
                                    <a:latin typeface="Cambria Math" panose="02040503050406030204" pitchFamily="18" charset="0"/>
                                  </a:rPr>
                                </m:ctrlPr>
                              </m:mPr>
                              <m:mr>
                                <m:e>
                                  <m:r>
                                    <a:rPr lang="en-US" sz="2400" i="0">
                                      <a:latin typeface="Cambria Math" panose="02040503050406030204" pitchFamily="18" charset="0"/>
                                    </a:rPr>
                                    <m:t>1</m:t>
                                  </m:r>
                                </m:e>
                              </m:mr>
                              <m:mr>
                                <m:e>
                                  <m:r>
                                    <a:rPr lang="en-US" sz="2400" i="0">
                                      <a:latin typeface="Cambria Math" panose="02040503050406030204" pitchFamily="18" charset="0"/>
                                    </a:rPr>
                                    <m:t>0</m:t>
                                  </m:r>
                                </m:e>
                              </m:mr>
                            </m:m>
                          </m:e>
                        </m:d>
                        <m:r>
                          <a:rPr lang="en-US" sz="2400" i="0">
                            <a:latin typeface="Cambria Math" panose="02040503050406030204" pitchFamily="18" charset="0"/>
                          </a:rPr>
                          <m:t>=</m:t>
                        </m:r>
                        <m:d>
                          <m:dPr>
                            <m:ctrlPr>
                              <a:rPr lang="en-US" sz="2400" i="1">
                                <a:latin typeface="Cambria Math" panose="02040503050406030204" pitchFamily="18" charset="0"/>
                              </a:rPr>
                            </m:ctrlPr>
                          </m:dPr>
                          <m:e>
                            <m:m>
                              <m:mPr>
                                <m:plcHide m:val="on"/>
                                <m:mcs>
                                  <m:mc>
                                    <m:mcPr>
                                      <m:count m:val="1"/>
                                      <m:mcJc m:val="center"/>
                                    </m:mcPr>
                                  </m:mc>
                                </m:mcs>
                                <m:ctrlPr>
                                  <a:rPr lang="en-US" sz="2400" i="1">
                                    <a:latin typeface="Cambria Math" panose="02040503050406030204" pitchFamily="18" charset="0"/>
                                  </a:rPr>
                                </m:ctrlPr>
                              </m:mPr>
                              <m:mr>
                                <m:e>
                                  <m:r>
                                    <a:rPr lang="en-US" sz="2400">
                                      <a:latin typeface="Cambria Math" panose="02040503050406030204" pitchFamily="18" charset="0"/>
                                    </a:rPr>
                                    <m:t>1</m:t>
                                  </m:r>
                                </m:e>
                              </m:mr>
                              <m:mr>
                                <m:e>
                                  <m:r>
                                    <a:rPr lang="sr-Latn-RS" sz="2400" b="0" i="0" smtClean="0">
                                      <a:latin typeface="Cambria Math" panose="02040503050406030204" pitchFamily="18" charset="0"/>
                                    </a:rPr>
                                    <m:t>0</m:t>
                                  </m:r>
                                </m:e>
                              </m:mr>
                            </m:m>
                          </m:e>
                        </m:d>
                        <m:r>
                          <a:rPr lang="en-US" sz="2400" i="0">
                            <a:latin typeface="Cambria Math" panose="02040503050406030204" pitchFamily="18" charset="0"/>
                          </a:rPr>
                          <m:t>⟶</m:t>
                        </m:r>
                        <m:d>
                          <m:dPr>
                            <m:begChr m:val="|"/>
                            <m:endChr m:val="⟩"/>
                            <m:ctrlPr>
                              <a:rPr lang="en-US" sz="2400" i="1">
                                <a:latin typeface="Cambria Math" panose="02040503050406030204" pitchFamily="18" charset="0"/>
                              </a:rPr>
                            </m:ctrlPr>
                          </m:dPr>
                          <m:e>
                            <m:r>
                              <a:rPr lang="sr-Latn-RS" sz="2400" b="0" i="0" smtClean="0">
                                <a:latin typeface="Cambria Math" panose="02040503050406030204" pitchFamily="18" charset="0"/>
                              </a:rPr>
                              <m:t>0</m:t>
                            </m:r>
                          </m:e>
                        </m:d>
                      </m:oMath>
                    </m:oMathPara>
                  </a14:m>
                  <a:endParaRPr lang="en-US" sz="2400" dirty="0"/>
                </a:p>
              </p:txBody>
            </p:sp>
          </mc:Choice>
          <mc:Fallback xmlns="">
            <p:sp>
              <p:nvSpPr>
                <p:cNvPr id="23" name="Rectangle 22">
                  <a:extLst>
                    <a:ext uri="{FF2B5EF4-FFF2-40B4-BE49-F238E27FC236}">
                      <a16:creationId xmlns:a16="http://schemas.microsoft.com/office/drawing/2014/main" id="{D3C3E74D-AFD1-3749-9A4B-5B14D00F1EF1}"/>
                    </a:ext>
                  </a:extLst>
                </p:cNvPr>
                <p:cNvSpPr>
                  <a:spLocks noRot="1" noChangeAspect="1" noMove="1" noResize="1" noEditPoints="1" noAdjustHandles="1" noChangeArrowheads="1" noChangeShapeType="1" noTextEdit="1"/>
                </p:cNvSpPr>
                <p:nvPr/>
              </p:nvSpPr>
              <p:spPr>
                <a:xfrm>
                  <a:off x="2003719" y="4239395"/>
                  <a:ext cx="4593309" cy="708143"/>
                </a:xfrm>
                <a:prstGeom prst="rect">
                  <a:avLst/>
                </a:prstGeom>
                <a:blipFill>
                  <a:blip r:embed="rId4"/>
                  <a:stretch>
                    <a:fillRect b="-701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Rectangle 24">
                  <a:extLst>
                    <a:ext uri="{FF2B5EF4-FFF2-40B4-BE49-F238E27FC236}">
                      <a16:creationId xmlns:a16="http://schemas.microsoft.com/office/drawing/2014/main" id="{67A1BCCE-B38E-ED4D-BA42-6DDD9037F819}"/>
                    </a:ext>
                  </a:extLst>
                </p:cNvPr>
                <p:cNvSpPr/>
                <p:nvPr/>
              </p:nvSpPr>
              <p:spPr>
                <a:xfrm>
                  <a:off x="2003718" y="5208224"/>
                  <a:ext cx="4651017" cy="708143"/>
                </a:xfrm>
                <a:prstGeom prst="rect">
                  <a:avLst/>
                </a:prstGeom>
                <a:grpFill/>
              </p:spPr>
              <p:txBody>
                <a:bodyPr wrap="none">
                  <a:spAutoFit/>
                </a:bodyPr>
                <a:lstStyle/>
                <a:p>
                  <a:pPr/>
                  <a14:m>
                    <m:oMathPara xmlns:m="http://schemas.openxmlformats.org/officeDocument/2006/math">
                      <m:oMathParaPr>
                        <m:jc m:val="centerGroup"/>
                      </m:oMathParaPr>
                      <m:oMath xmlns:m="http://schemas.openxmlformats.org/officeDocument/2006/math">
                        <m:r>
                          <a:rPr lang="en-US" sz="2400" i="0" smtClean="0">
                            <a:latin typeface="Cambria Math" panose="02040503050406030204" pitchFamily="18" charset="0"/>
                          </a:rPr>
                          <m:t> </m:t>
                        </m:r>
                        <m:r>
                          <a:rPr lang="sr-Latn-RS" sz="2400" b="0" i="1" smtClean="0">
                            <a:latin typeface="Cambria Math" panose="02040503050406030204" pitchFamily="18" charset="0"/>
                          </a:rPr>
                          <m:t>𝐼</m:t>
                        </m:r>
                        <m:d>
                          <m:dPr>
                            <m:begChr m:val="|"/>
                            <m:endChr m:val="⟩"/>
                            <m:ctrlPr>
                              <a:rPr lang="en-US" sz="2400" i="1">
                                <a:latin typeface="Cambria Math" panose="02040503050406030204" pitchFamily="18" charset="0"/>
                              </a:rPr>
                            </m:ctrlPr>
                          </m:dPr>
                          <m:e>
                            <m:r>
                              <a:rPr lang="sr-Latn-RS" sz="2400" b="0" i="0" smtClean="0">
                                <a:latin typeface="Cambria Math" panose="02040503050406030204" pitchFamily="18" charset="0"/>
                              </a:rPr>
                              <m:t>1</m:t>
                            </m:r>
                          </m:e>
                        </m:d>
                        <m:r>
                          <a:rPr lang="en-US" sz="2400" i="0">
                            <a:latin typeface="Cambria Math" panose="02040503050406030204" pitchFamily="18" charset="0"/>
                          </a:rPr>
                          <m:t>=</m:t>
                        </m:r>
                        <m:d>
                          <m:dPr>
                            <m:ctrlPr>
                              <a:rPr lang="en-US" sz="2400" i="1">
                                <a:latin typeface="Cambria Math" panose="02040503050406030204" pitchFamily="18" charset="0"/>
                              </a:rPr>
                            </m:ctrlPr>
                          </m:dPr>
                          <m:e>
                            <m:m>
                              <m:mPr>
                                <m:plcHide m:val="on"/>
                                <m:mcs>
                                  <m:mc>
                                    <m:mcPr>
                                      <m:count m:val="2"/>
                                      <m:mcJc m:val="center"/>
                                    </m:mcPr>
                                  </m:mc>
                                </m:mcs>
                                <m:ctrlPr>
                                  <a:rPr lang="en-US" sz="2400" i="1">
                                    <a:latin typeface="Cambria Math" panose="02040503050406030204" pitchFamily="18" charset="0"/>
                                  </a:rPr>
                                </m:ctrlPr>
                              </m:mPr>
                              <m:mr>
                                <m:e>
                                  <m:r>
                                    <m:rPr>
                                      <m:nor/>
                                    </m:rPr>
                                    <a:rPr lang="en-US" sz="2400">
                                      <a:latin typeface="Cambria Math" panose="02040503050406030204" pitchFamily="18" charset="0"/>
                                    </a:rPr>
                                    <m:t>1</m:t>
                                  </m:r>
                                </m:e>
                                <m:e>
                                  <m:r>
                                    <m:rPr>
                                      <m:nor/>
                                    </m:rPr>
                                    <a:rPr lang="sr-Latn-RS" sz="2400">
                                      <a:latin typeface="Cambria Math" panose="02040503050406030204" pitchFamily="18" charset="0"/>
                                    </a:rPr>
                                    <m:t>0</m:t>
                                  </m:r>
                                </m:e>
                              </m:mr>
                              <m:mr>
                                <m:e>
                                  <m:r>
                                    <a:rPr lang="sr-Latn-RS" sz="2400" i="1">
                                      <a:latin typeface="Cambria Math" panose="02040503050406030204" pitchFamily="18" charset="0"/>
                                    </a:rPr>
                                    <m:t>0</m:t>
                                  </m:r>
                                </m:e>
                                <m:e>
                                  <m:r>
                                    <m:rPr>
                                      <m:nor/>
                                    </m:rPr>
                                    <a:rPr lang="en-US" sz="2400">
                                      <a:latin typeface="Cambria Math" panose="02040503050406030204" pitchFamily="18" charset="0"/>
                                    </a:rPr>
                                    <m:t>1</m:t>
                                  </m:r>
                                </m:e>
                              </m:mr>
                            </m:m>
                          </m:e>
                        </m:d>
                        <m:d>
                          <m:dPr>
                            <m:ctrlPr>
                              <a:rPr lang="en-US" sz="2400" i="1">
                                <a:latin typeface="Cambria Math" panose="02040503050406030204" pitchFamily="18" charset="0"/>
                              </a:rPr>
                            </m:ctrlPr>
                          </m:dPr>
                          <m:e>
                            <m:m>
                              <m:mPr>
                                <m:plcHide m:val="on"/>
                                <m:mcs>
                                  <m:mc>
                                    <m:mcPr>
                                      <m:count m:val="1"/>
                                      <m:mcJc m:val="center"/>
                                    </m:mcPr>
                                  </m:mc>
                                </m:mcs>
                                <m:ctrlPr>
                                  <a:rPr lang="en-US" sz="2400" i="1">
                                    <a:latin typeface="Cambria Math" panose="02040503050406030204" pitchFamily="18" charset="0"/>
                                  </a:rPr>
                                </m:ctrlPr>
                              </m:mPr>
                              <m:mr>
                                <m:e>
                                  <m:r>
                                    <a:rPr lang="sr-Latn-RS" sz="2400" b="0" i="0" smtClean="0">
                                      <a:latin typeface="Cambria Math" panose="02040503050406030204" pitchFamily="18" charset="0"/>
                                    </a:rPr>
                                    <m:t>0</m:t>
                                  </m:r>
                                </m:e>
                              </m:mr>
                              <m:mr>
                                <m:e>
                                  <m:r>
                                    <a:rPr lang="sr-Latn-RS" sz="2400" b="0" i="0" smtClean="0">
                                      <a:latin typeface="Cambria Math" panose="02040503050406030204" pitchFamily="18" charset="0"/>
                                    </a:rPr>
                                    <m:t>1</m:t>
                                  </m:r>
                                </m:e>
                              </m:mr>
                            </m:m>
                          </m:e>
                        </m:d>
                        <m:r>
                          <a:rPr lang="en-US" sz="2400" i="0">
                            <a:latin typeface="Cambria Math" panose="02040503050406030204" pitchFamily="18" charset="0"/>
                          </a:rPr>
                          <m:t>=</m:t>
                        </m:r>
                        <m:d>
                          <m:dPr>
                            <m:ctrlPr>
                              <a:rPr lang="en-US" sz="2400" i="1">
                                <a:latin typeface="Cambria Math" panose="02040503050406030204" pitchFamily="18" charset="0"/>
                              </a:rPr>
                            </m:ctrlPr>
                          </m:dPr>
                          <m:e>
                            <m:m>
                              <m:mPr>
                                <m:plcHide m:val="on"/>
                                <m:mcs>
                                  <m:mc>
                                    <m:mcPr>
                                      <m:count m:val="1"/>
                                      <m:mcJc m:val="center"/>
                                    </m:mcPr>
                                  </m:mc>
                                </m:mcs>
                                <m:ctrlPr>
                                  <a:rPr lang="en-US" sz="2400" i="1">
                                    <a:latin typeface="Cambria Math" panose="02040503050406030204" pitchFamily="18" charset="0"/>
                                  </a:rPr>
                                </m:ctrlPr>
                              </m:mPr>
                              <m:mr>
                                <m:e>
                                  <m:r>
                                    <a:rPr lang="sr-Latn-RS" sz="2400">
                                      <a:latin typeface="Cambria Math" panose="02040503050406030204" pitchFamily="18" charset="0"/>
                                    </a:rPr>
                                    <m:t>0</m:t>
                                  </m:r>
                                </m:e>
                              </m:mr>
                              <m:mr>
                                <m:e>
                                  <m:r>
                                    <a:rPr lang="sr-Latn-RS" sz="2400">
                                      <a:latin typeface="Cambria Math" panose="02040503050406030204" pitchFamily="18" charset="0"/>
                                    </a:rPr>
                                    <m:t>1</m:t>
                                  </m:r>
                                </m:e>
                              </m:mr>
                            </m:m>
                          </m:e>
                        </m:d>
                        <m:r>
                          <a:rPr lang="en-US" sz="2400" i="0">
                            <a:latin typeface="Cambria Math" panose="02040503050406030204" pitchFamily="18" charset="0"/>
                          </a:rPr>
                          <m:t>⟶</m:t>
                        </m:r>
                        <m:d>
                          <m:dPr>
                            <m:begChr m:val="|"/>
                            <m:endChr m:val="⟩"/>
                            <m:ctrlPr>
                              <a:rPr lang="en-US" sz="2400" i="1">
                                <a:latin typeface="Cambria Math" panose="02040503050406030204" pitchFamily="18" charset="0"/>
                              </a:rPr>
                            </m:ctrlPr>
                          </m:dPr>
                          <m:e>
                            <m:r>
                              <a:rPr lang="sr-Latn-RS" sz="2400" b="0" i="0" smtClean="0">
                                <a:latin typeface="Cambria Math" panose="02040503050406030204" pitchFamily="18" charset="0"/>
                              </a:rPr>
                              <m:t>1</m:t>
                            </m:r>
                          </m:e>
                        </m:d>
                      </m:oMath>
                    </m:oMathPara>
                  </a14:m>
                  <a:endParaRPr lang="en-US" sz="2400" dirty="0"/>
                </a:p>
              </p:txBody>
            </p:sp>
          </mc:Choice>
          <mc:Fallback xmlns="">
            <p:sp>
              <p:nvSpPr>
                <p:cNvPr id="25" name="Rectangle 24">
                  <a:extLst>
                    <a:ext uri="{FF2B5EF4-FFF2-40B4-BE49-F238E27FC236}">
                      <a16:creationId xmlns:a16="http://schemas.microsoft.com/office/drawing/2014/main" id="{67A1BCCE-B38E-ED4D-BA42-6DDD9037F819}"/>
                    </a:ext>
                  </a:extLst>
                </p:cNvPr>
                <p:cNvSpPr>
                  <a:spLocks noRot="1" noChangeAspect="1" noMove="1" noResize="1" noEditPoints="1" noAdjustHandles="1" noChangeArrowheads="1" noChangeShapeType="1" noTextEdit="1"/>
                </p:cNvSpPr>
                <p:nvPr/>
              </p:nvSpPr>
              <p:spPr>
                <a:xfrm>
                  <a:off x="2003718" y="5208224"/>
                  <a:ext cx="4651017" cy="708143"/>
                </a:xfrm>
                <a:prstGeom prst="rect">
                  <a:avLst/>
                </a:prstGeom>
                <a:blipFill>
                  <a:blip r:embed="rId5"/>
                  <a:stretch>
                    <a:fillRect b="-7018"/>
                  </a:stretch>
                </a:blipFill>
              </p:spPr>
              <p:txBody>
                <a:bodyPr/>
                <a:lstStyle/>
                <a:p>
                  <a:r>
                    <a:rPr lang="en-US">
                      <a:noFill/>
                    </a:rPr>
                    <a:t> </a:t>
                  </a:r>
                </a:p>
              </p:txBody>
            </p:sp>
          </mc:Fallback>
        </mc:AlternateContent>
      </p:grpSp>
      <p:sp>
        <p:nvSpPr>
          <p:cNvPr id="24" name="TextBox 23">
            <a:extLst>
              <a:ext uri="{FF2B5EF4-FFF2-40B4-BE49-F238E27FC236}">
                <a16:creationId xmlns:a16="http://schemas.microsoft.com/office/drawing/2014/main" id="{268EB148-BEAF-F54C-ADD1-E11E86D0BD47}"/>
              </a:ext>
            </a:extLst>
          </p:cNvPr>
          <p:cNvSpPr txBox="1"/>
          <p:nvPr/>
        </p:nvSpPr>
        <p:spPr>
          <a:xfrm>
            <a:off x="415526" y="1482258"/>
            <a:ext cx="1065100" cy="461665"/>
          </a:xfrm>
          <a:prstGeom prst="rect">
            <a:avLst/>
          </a:prstGeom>
          <a:noFill/>
        </p:spPr>
        <p:txBody>
          <a:bodyPr wrap="none" rtlCol="0">
            <a:spAutoFit/>
          </a:bodyPr>
          <a:lstStyle/>
          <a:p>
            <a:r>
              <a:rPr lang="en-US" sz="2400" dirty="0">
                <a:latin typeface="+mj-lt"/>
              </a:rPr>
              <a:t>symbol</a:t>
            </a:r>
          </a:p>
        </p:txBody>
      </p:sp>
      <p:sp>
        <p:nvSpPr>
          <p:cNvPr id="26" name="TextBox 25">
            <a:extLst>
              <a:ext uri="{FF2B5EF4-FFF2-40B4-BE49-F238E27FC236}">
                <a16:creationId xmlns:a16="http://schemas.microsoft.com/office/drawing/2014/main" id="{3EDFC6CA-F6F2-2F45-B38F-48238132C796}"/>
              </a:ext>
            </a:extLst>
          </p:cNvPr>
          <p:cNvSpPr txBox="1"/>
          <p:nvPr/>
        </p:nvSpPr>
        <p:spPr>
          <a:xfrm>
            <a:off x="2331690" y="1482258"/>
            <a:ext cx="1262653" cy="461665"/>
          </a:xfrm>
          <a:prstGeom prst="rect">
            <a:avLst/>
          </a:prstGeom>
          <a:noFill/>
        </p:spPr>
        <p:txBody>
          <a:bodyPr wrap="none" rtlCol="0">
            <a:spAutoFit/>
          </a:bodyPr>
          <a:lstStyle/>
          <a:p>
            <a:r>
              <a:rPr lang="en-US" sz="2400" dirty="0">
                <a:latin typeface="+mj-lt"/>
              </a:rPr>
              <a:t>operator</a:t>
            </a:r>
          </a:p>
        </p:txBody>
      </p:sp>
      <p:sp>
        <p:nvSpPr>
          <p:cNvPr id="27" name="TextBox 26">
            <a:extLst>
              <a:ext uri="{FF2B5EF4-FFF2-40B4-BE49-F238E27FC236}">
                <a16:creationId xmlns:a16="http://schemas.microsoft.com/office/drawing/2014/main" id="{8E683D6F-3AAE-974C-AE45-6335DF4AA094}"/>
              </a:ext>
            </a:extLst>
          </p:cNvPr>
          <p:cNvSpPr txBox="1"/>
          <p:nvPr/>
        </p:nvSpPr>
        <p:spPr>
          <a:xfrm>
            <a:off x="6262005" y="1482258"/>
            <a:ext cx="1568186" cy="461665"/>
          </a:xfrm>
          <a:prstGeom prst="rect">
            <a:avLst/>
          </a:prstGeom>
          <a:noFill/>
        </p:spPr>
        <p:txBody>
          <a:bodyPr wrap="none" rtlCol="0">
            <a:spAutoFit/>
          </a:bodyPr>
          <a:lstStyle/>
          <a:p>
            <a:r>
              <a:rPr lang="en-US" sz="2400" dirty="0">
                <a:latin typeface="+mj-lt"/>
              </a:rPr>
              <a:t>description</a:t>
            </a:r>
          </a:p>
        </p:txBody>
      </p:sp>
      <p:sp>
        <p:nvSpPr>
          <p:cNvPr id="28" name="TextBox 27">
            <a:extLst>
              <a:ext uri="{FF2B5EF4-FFF2-40B4-BE49-F238E27FC236}">
                <a16:creationId xmlns:a16="http://schemas.microsoft.com/office/drawing/2014/main" id="{A01D01D2-A758-B64F-B3CD-D060BA9BC423}"/>
              </a:ext>
            </a:extLst>
          </p:cNvPr>
          <p:cNvSpPr txBox="1"/>
          <p:nvPr/>
        </p:nvSpPr>
        <p:spPr>
          <a:xfrm>
            <a:off x="10224188" y="1482258"/>
            <a:ext cx="962123" cy="461665"/>
          </a:xfrm>
          <a:prstGeom prst="rect">
            <a:avLst/>
          </a:prstGeom>
          <a:noFill/>
        </p:spPr>
        <p:txBody>
          <a:bodyPr wrap="none" rtlCol="0">
            <a:spAutoFit/>
          </a:bodyPr>
          <a:lstStyle/>
          <a:p>
            <a:r>
              <a:rPr lang="en-US" sz="2400" dirty="0">
                <a:latin typeface="+mj-lt"/>
              </a:rPr>
              <a:t>QASM</a:t>
            </a:r>
          </a:p>
        </p:txBody>
      </p:sp>
    </p:spTree>
    <p:extLst>
      <p:ext uri="{BB962C8B-B14F-4D97-AF65-F5344CB8AC3E}">
        <p14:creationId xmlns:p14="http://schemas.microsoft.com/office/powerpoint/2010/main" val="8563469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728A4-B687-1F47-B3CE-68108313A3EA}"/>
              </a:ext>
            </a:extLst>
          </p:cNvPr>
          <p:cNvSpPr>
            <a:spLocks noGrp="1"/>
          </p:cNvSpPr>
          <p:nvPr>
            <p:ph type="title"/>
          </p:nvPr>
        </p:nvSpPr>
        <p:spPr>
          <a:xfrm>
            <a:off x="0" y="0"/>
            <a:ext cx="12192000" cy="928688"/>
          </a:xfrm>
        </p:spPr>
        <p:txBody>
          <a:bodyPr/>
          <a:lstStyle/>
          <a:p>
            <a:r>
              <a:rPr lang="en-US" dirty="0"/>
              <a:t>Pauli-X, Pauli-Y and Pauli-Z gates</a:t>
            </a:r>
          </a:p>
        </p:txBody>
      </p:sp>
      <p:sp>
        <p:nvSpPr>
          <p:cNvPr id="3" name="Slide Number Placeholder 2">
            <a:extLst>
              <a:ext uri="{FF2B5EF4-FFF2-40B4-BE49-F238E27FC236}">
                <a16:creationId xmlns:a16="http://schemas.microsoft.com/office/drawing/2014/main" id="{A9EAC5B7-33B1-8341-8661-A6C96AA16F64}"/>
              </a:ext>
            </a:extLst>
          </p:cNvPr>
          <p:cNvSpPr>
            <a:spLocks noGrp="1"/>
          </p:cNvSpPr>
          <p:nvPr>
            <p:ph type="sldNum" sz="quarter" idx="12"/>
          </p:nvPr>
        </p:nvSpPr>
        <p:spPr/>
        <p:txBody>
          <a:bodyPr/>
          <a:lstStyle/>
          <a:p>
            <a:fld id="{591A223C-FA10-BC46-A853-03BA373D023C}" type="slidenum">
              <a:rPr lang="en-US" smtClean="0"/>
              <a:t>15</a:t>
            </a:fld>
            <a:endParaRPr lang="en-US"/>
          </a:p>
        </p:txBody>
      </p:sp>
      <p:grpSp>
        <p:nvGrpSpPr>
          <p:cNvPr id="57" name="Group 56">
            <a:extLst>
              <a:ext uri="{FF2B5EF4-FFF2-40B4-BE49-F238E27FC236}">
                <a16:creationId xmlns:a16="http://schemas.microsoft.com/office/drawing/2014/main" id="{3F192534-2BB2-5D43-8AB9-8E2A27386ACF}"/>
              </a:ext>
            </a:extLst>
          </p:cNvPr>
          <p:cNvGrpSpPr/>
          <p:nvPr/>
        </p:nvGrpSpPr>
        <p:grpSpPr>
          <a:xfrm>
            <a:off x="0" y="1518175"/>
            <a:ext cx="3175000" cy="5157262"/>
            <a:chOff x="0" y="1518175"/>
            <a:chExt cx="3175000" cy="5157262"/>
          </a:xfrm>
        </p:grpSpPr>
        <p:grpSp>
          <p:nvGrpSpPr>
            <p:cNvPr id="49" name="Group 48">
              <a:extLst>
                <a:ext uri="{FF2B5EF4-FFF2-40B4-BE49-F238E27FC236}">
                  <a16:creationId xmlns:a16="http://schemas.microsoft.com/office/drawing/2014/main" id="{4F4BE2DD-3F1C-B944-B6AA-4B5B410ABB71}"/>
                </a:ext>
              </a:extLst>
            </p:cNvPr>
            <p:cNvGrpSpPr/>
            <p:nvPr/>
          </p:nvGrpSpPr>
          <p:grpSpPr>
            <a:xfrm>
              <a:off x="0" y="1518175"/>
              <a:ext cx="3175000" cy="5157262"/>
              <a:chOff x="0" y="1518175"/>
              <a:chExt cx="3175000" cy="5157262"/>
            </a:xfrm>
          </p:grpSpPr>
          <p:pic>
            <p:nvPicPr>
              <p:cNvPr id="5" name="Picture 4">
                <a:extLst>
                  <a:ext uri="{FF2B5EF4-FFF2-40B4-BE49-F238E27FC236}">
                    <a16:creationId xmlns:a16="http://schemas.microsoft.com/office/drawing/2014/main" id="{A3CCF7FE-923E-4C4B-B1C5-519E87CD85B4}"/>
                  </a:ext>
                </a:extLst>
              </p:cNvPr>
              <p:cNvPicPr>
                <a:picLocks noChangeAspect="1"/>
              </p:cNvPicPr>
              <p:nvPr/>
            </p:nvPicPr>
            <p:blipFill>
              <a:blip r:embed="rId3"/>
              <a:stretch>
                <a:fillRect/>
              </a:stretch>
            </p:blipFill>
            <p:spPr>
              <a:xfrm>
                <a:off x="0" y="3500437"/>
                <a:ext cx="3175000" cy="3175000"/>
              </a:xfrm>
              <a:prstGeom prst="rect">
                <a:avLst/>
              </a:prstGeom>
            </p:spPr>
          </p:pic>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AEDC47FE-8F33-2D47-A4EC-D4A228545737}"/>
                      </a:ext>
                    </a:extLst>
                  </p:cNvPr>
                  <p:cNvSpPr/>
                  <p:nvPr/>
                </p:nvSpPr>
                <p:spPr>
                  <a:xfrm>
                    <a:off x="191123" y="2673798"/>
                    <a:ext cx="2081917" cy="8107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i="1">
                              <a:latin typeface="Cambria Math" panose="02040503050406030204" pitchFamily="18" charset="0"/>
                            </a:rPr>
                            <m:t>𝑋</m:t>
                          </m:r>
                          <m:r>
                            <a:rPr lang="en-US" sz="2800" i="0">
                              <a:latin typeface="Cambria Math" panose="02040503050406030204" pitchFamily="18" charset="0"/>
                            </a:rPr>
                            <m:t>=</m:t>
                          </m:r>
                          <m:d>
                            <m:dPr>
                              <m:ctrlPr>
                                <a:rPr lang="en-US" sz="2800" i="1">
                                  <a:latin typeface="Cambria Math" panose="02040503050406030204" pitchFamily="18" charset="0"/>
                                </a:rPr>
                              </m:ctrlPr>
                            </m:dPr>
                            <m:e>
                              <m:m>
                                <m:mPr>
                                  <m:plcHide m:val="on"/>
                                  <m:mcs>
                                    <m:mc>
                                      <m:mcPr>
                                        <m:count m:val="2"/>
                                        <m:mcJc m:val="center"/>
                                      </m:mcPr>
                                    </m:mc>
                                  </m:mcs>
                                  <m:ctrlPr>
                                    <a:rPr lang="en-US" sz="2800" i="1">
                                      <a:latin typeface="Cambria Math" panose="02040503050406030204" pitchFamily="18" charset="0"/>
                                    </a:rPr>
                                  </m:ctrlPr>
                                </m:mPr>
                                <m:mr>
                                  <m:e>
                                    <m:r>
                                      <a:rPr lang="en-US" sz="2800" i="0">
                                        <a:latin typeface="Cambria Math" panose="02040503050406030204" pitchFamily="18" charset="0"/>
                                      </a:rPr>
                                      <m:t>0</m:t>
                                    </m:r>
                                  </m:e>
                                  <m:e>
                                    <m:r>
                                      <a:rPr lang="en-US" sz="2800" i="0">
                                        <a:latin typeface="Cambria Math" panose="02040503050406030204" pitchFamily="18" charset="0"/>
                                      </a:rPr>
                                      <m:t>1</m:t>
                                    </m:r>
                                  </m:e>
                                </m:mr>
                                <m:mr>
                                  <m:e>
                                    <m:r>
                                      <a:rPr lang="en-US" sz="2800" i="0">
                                        <a:latin typeface="Cambria Math" panose="02040503050406030204" pitchFamily="18" charset="0"/>
                                      </a:rPr>
                                      <m:t>1</m:t>
                                    </m:r>
                                  </m:e>
                                  <m:e>
                                    <m:r>
                                      <a:rPr lang="en-US" sz="2800" i="0">
                                        <a:latin typeface="Cambria Math" panose="02040503050406030204" pitchFamily="18" charset="0"/>
                                      </a:rPr>
                                      <m:t>0</m:t>
                                    </m:r>
                                  </m:e>
                                </m:mr>
                              </m:m>
                            </m:e>
                          </m:d>
                        </m:oMath>
                      </m:oMathPara>
                    </a14:m>
                    <a:endParaRPr lang="en-US" sz="2800" dirty="0"/>
                  </a:p>
                </p:txBody>
              </p:sp>
            </mc:Choice>
            <mc:Fallback xmlns="">
              <p:sp>
                <p:nvSpPr>
                  <p:cNvPr id="13" name="Rectangle 12">
                    <a:extLst>
                      <a:ext uri="{FF2B5EF4-FFF2-40B4-BE49-F238E27FC236}">
                        <a16:creationId xmlns:a16="http://schemas.microsoft.com/office/drawing/2014/main" id="{AEDC47FE-8F33-2D47-A4EC-D4A228545737}"/>
                      </a:ext>
                    </a:extLst>
                  </p:cNvPr>
                  <p:cNvSpPr>
                    <a:spLocks noRot="1" noChangeAspect="1" noMove="1" noResize="1" noEditPoints="1" noAdjustHandles="1" noChangeArrowheads="1" noChangeShapeType="1" noTextEdit="1"/>
                  </p:cNvSpPr>
                  <p:nvPr/>
                </p:nvSpPr>
                <p:spPr>
                  <a:xfrm>
                    <a:off x="191123" y="2673798"/>
                    <a:ext cx="2081917" cy="810799"/>
                  </a:xfrm>
                  <a:prstGeom prst="rect">
                    <a:avLst/>
                  </a:prstGeom>
                  <a:blipFill>
                    <a:blip r:embed="rId4"/>
                    <a:stretch>
                      <a:fillRect b="-7813"/>
                    </a:stretch>
                  </a:blipFill>
                </p:spPr>
                <p:txBody>
                  <a:bodyPr/>
                  <a:lstStyle/>
                  <a:p>
                    <a:r>
                      <a:rPr lang="en-US">
                        <a:noFill/>
                      </a:rPr>
                      <a:t> </a:t>
                    </a:r>
                  </a:p>
                </p:txBody>
              </p:sp>
            </mc:Fallback>
          </mc:AlternateContent>
          <p:sp>
            <p:nvSpPr>
              <p:cNvPr id="14" name="Oval 13">
                <a:extLst>
                  <a:ext uri="{FF2B5EF4-FFF2-40B4-BE49-F238E27FC236}">
                    <a16:creationId xmlns:a16="http://schemas.microsoft.com/office/drawing/2014/main" id="{B628F60E-3671-7447-9B03-D9867FE8F089}"/>
                  </a:ext>
                </a:extLst>
              </p:cNvPr>
              <p:cNvSpPr/>
              <p:nvPr/>
            </p:nvSpPr>
            <p:spPr>
              <a:xfrm>
                <a:off x="1130300" y="1518175"/>
                <a:ext cx="914400" cy="914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cxnSp>
            <p:nvCxnSpPr>
              <p:cNvPr id="24" name="Straight Connector 23">
                <a:extLst>
                  <a:ext uri="{FF2B5EF4-FFF2-40B4-BE49-F238E27FC236}">
                    <a16:creationId xmlns:a16="http://schemas.microsoft.com/office/drawing/2014/main" id="{A095CEDB-3DB5-0F4B-BA17-67251811F820}"/>
                  </a:ext>
                </a:extLst>
              </p:cNvPr>
              <p:cNvCxnSpPr>
                <a:cxnSpLocks/>
              </p:cNvCxnSpPr>
              <p:nvPr/>
            </p:nvCxnSpPr>
            <p:spPr>
              <a:xfrm flipV="1">
                <a:off x="669925" y="5032760"/>
                <a:ext cx="966446" cy="421890"/>
              </a:xfrm>
              <a:prstGeom prst="line">
                <a:avLst/>
              </a:prstGeom>
              <a:ln w="38100" cap="rnd">
                <a:solidFill>
                  <a:schemeClr val="accent4">
                    <a:lumMod val="50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817D7E7F-FD2F-DC4F-8B3F-C1DDCFA5D3EB}"/>
                  </a:ext>
                </a:extLst>
              </p:cNvPr>
              <p:cNvCxnSpPr>
                <a:cxnSpLocks/>
              </p:cNvCxnSpPr>
              <p:nvPr/>
            </p:nvCxnSpPr>
            <p:spPr>
              <a:xfrm flipV="1">
                <a:off x="1654217" y="4667250"/>
                <a:ext cx="860383" cy="359160"/>
              </a:xfrm>
              <a:prstGeom prst="line">
                <a:avLst/>
              </a:prstGeom>
              <a:ln w="38100" cap="rnd">
                <a:solidFill>
                  <a:schemeClr val="accent4">
                    <a:lumMod val="5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53" name="TextBox 52">
              <a:extLst>
                <a:ext uri="{FF2B5EF4-FFF2-40B4-BE49-F238E27FC236}">
                  <a16:creationId xmlns:a16="http://schemas.microsoft.com/office/drawing/2014/main" id="{AE2345D6-FD1B-6940-B0B3-402BF5B51B8E}"/>
                </a:ext>
              </a:extLst>
            </p:cNvPr>
            <p:cNvSpPr txBox="1"/>
            <p:nvPr/>
          </p:nvSpPr>
          <p:spPr>
            <a:xfrm>
              <a:off x="1654217" y="3987465"/>
              <a:ext cx="276038" cy="369332"/>
            </a:xfrm>
            <a:prstGeom prst="rect">
              <a:avLst/>
            </a:prstGeom>
            <a:noFill/>
          </p:spPr>
          <p:txBody>
            <a:bodyPr wrap="none" rtlCol="0">
              <a:spAutoFit/>
            </a:bodyPr>
            <a:lstStyle/>
            <a:p>
              <a:r>
                <a:rPr lang="en-US" dirty="0"/>
                <a:t>z</a:t>
              </a:r>
            </a:p>
          </p:txBody>
        </p:sp>
      </p:grpSp>
      <p:grpSp>
        <p:nvGrpSpPr>
          <p:cNvPr id="58" name="Group 57">
            <a:extLst>
              <a:ext uri="{FF2B5EF4-FFF2-40B4-BE49-F238E27FC236}">
                <a16:creationId xmlns:a16="http://schemas.microsoft.com/office/drawing/2014/main" id="{5645012F-83AB-EF4B-8C74-3B2B21D5128E}"/>
              </a:ext>
            </a:extLst>
          </p:cNvPr>
          <p:cNvGrpSpPr/>
          <p:nvPr/>
        </p:nvGrpSpPr>
        <p:grpSpPr>
          <a:xfrm>
            <a:off x="4420249" y="1535109"/>
            <a:ext cx="3175000" cy="5140328"/>
            <a:chOff x="2976880" y="1535109"/>
            <a:chExt cx="3175000" cy="5140328"/>
          </a:xfrm>
        </p:grpSpPr>
        <p:grpSp>
          <p:nvGrpSpPr>
            <p:cNvPr id="50" name="Group 49">
              <a:extLst>
                <a:ext uri="{FF2B5EF4-FFF2-40B4-BE49-F238E27FC236}">
                  <a16:creationId xmlns:a16="http://schemas.microsoft.com/office/drawing/2014/main" id="{89F3D35F-784E-1E45-8D98-80DD27EDBA89}"/>
                </a:ext>
              </a:extLst>
            </p:cNvPr>
            <p:cNvGrpSpPr/>
            <p:nvPr/>
          </p:nvGrpSpPr>
          <p:grpSpPr>
            <a:xfrm>
              <a:off x="2976880" y="1535109"/>
              <a:ext cx="3175000" cy="5140328"/>
              <a:chOff x="2976880" y="1535109"/>
              <a:chExt cx="3175000" cy="5140328"/>
            </a:xfrm>
          </p:grpSpPr>
          <p:grpSp>
            <p:nvGrpSpPr>
              <p:cNvPr id="20" name="Group 19">
                <a:extLst>
                  <a:ext uri="{FF2B5EF4-FFF2-40B4-BE49-F238E27FC236}">
                    <a16:creationId xmlns:a16="http://schemas.microsoft.com/office/drawing/2014/main" id="{AC533877-0DE0-E445-B517-6238D8FE7C89}"/>
                  </a:ext>
                </a:extLst>
              </p:cNvPr>
              <p:cNvGrpSpPr/>
              <p:nvPr/>
            </p:nvGrpSpPr>
            <p:grpSpPr>
              <a:xfrm>
                <a:off x="2976880" y="1535109"/>
                <a:ext cx="3175000" cy="5140328"/>
                <a:chOff x="2976880" y="1535109"/>
                <a:chExt cx="3175000" cy="5140328"/>
              </a:xfrm>
            </p:grpSpPr>
            <p:pic>
              <p:nvPicPr>
                <p:cNvPr id="7" name="Picture 6">
                  <a:extLst>
                    <a:ext uri="{FF2B5EF4-FFF2-40B4-BE49-F238E27FC236}">
                      <a16:creationId xmlns:a16="http://schemas.microsoft.com/office/drawing/2014/main" id="{189106D8-44EC-0E45-B8FE-DD3A3853844C}"/>
                    </a:ext>
                  </a:extLst>
                </p:cNvPr>
                <p:cNvPicPr>
                  <a:picLocks noChangeAspect="1"/>
                </p:cNvPicPr>
                <p:nvPr/>
              </p:nvPicPr>
              <p:blipFill>
                <a:blip r:embed="rId5"/>
                <a:stretch>
                  <a:fillRect/>
                </a:stretch>
              </p:blipFill>
              <p:spPr>
                <a:xfrm>
                  <a:off x="2976880" y="3500437"/>
                  <a:ext cx="3175000" cy="3175000"/>
                </a:xfrm>
                <a:prstGeom prst="rect">
                  <a:avLst/>
                </a:prstGeom>
              </p:spPr>
            </p:pic>
            <p:sp>
              <p:nvSpPr>
                <p:cNvPr id="16" name="Rectangle 15">
                  <a:extLst>
                    <a:ext uri="{FF2B5EF4-FFF2-40B4-BE49-F238E27FC236}">
                      <a16:creationId xmlns:a16="http://schemas.microsoft.com/office/drawing/2014/main" id="{9513F170-1AED-5E45-8C86-333448118A0E}"/>
                    </a:ext>
                  </a:extLst>
                </p:cNvPr>
                <p:cNvSpPr/>
                <p:nvPr/>
              </p:nvSpPr>
              <p:spPr>
                <a:xfrm>
                  <a:off x="4101109" y="1535109"/>
                  <a:ext cx="914400" cy="914400"/>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Y</a:t>
                  </a:r>
                </a:p>
              </p:txBody>
            </p:sp>
            <mc:AlternateContent xmlns:mc="http://schemas.openxmlformats.org/markup-compatibility/2006" xmlns:a14="http://schemas.microsoft.com/office/drawing/2010/main">
              <mc:Choice Requires="a14">
                <p:sp>
                  <p:nvSpPr>
                    <p:cNvPr id="18" name="Rectangle 17">
                      <a:extLst>
                        <a:ext uri="{FF2B5EF4-FFF2-40B4-BE49-F238E27FC236}">
                          <a16:creationId xmlns:a16="http://schemas.microsoft.com/office/drawing/2014/main" id="{F84C0AB2-6EAF-C449-9458-1CAA122F3508}"/>
                        </a:ext>
                      </a:extLst>
                    </p:cNvPr>
                    <p:cNvSpPr/>
                    <p:nvPr/>
                  </p:nvSpPr>
                  <p:spPr>
                    <a:xfrm>
                      <a:off x="3260459" y="2695352"/>
                      <a:ext cx="2029658" cy="810799"/>
                    </a:xfrm>
                    <a:prstGeom prst="rect">
                      <a:avLst/>
                    </a:prstGeom>
                  </p:spPr>
                  <p:txBody>
                    <a:bodyPr wrap="none">
                      <a:spAutoFit/>
                    </a:bodyPr>
                    <a:lstStyle/>
                    <a:p>
                      <a:r>
                        <a:rPr lang="en-US" sz="2800" i="1" dirty="0"/>
                        <a:t>Y</a:t>
                      </a:r>
                      <a14:m>
                        <m:oMath xmlns:m="http://schemas.openxmlformats.org/officeDocument/2006/math">
                          <m:r>
                            <a:rPr lang="en-US" sz="2800" i="0">
                              <a:latin typeface="Cambria Math" panose="02040503050406030204" pitchFamily="18" charset="0"/>
                            </a:rPr>
                            <m:t>=</m:t>
                          </m:r>
                          <m:d>
                            <m:dPr>
                              <m:ctrlPr>
                                <a:rPr lang="en-US" sz="2800" i="1">
                                  <a:latin typeface="Cambria Math" panose="02040503050406030204" pitchFamily="18" charset="0"/>
                                </a:rPr>
                              </m:ctrlPr>
                            </m:dPr>
                            <m:e>
                              <m:m>
                                <m:mPr>
                                  <m:plcHide m:val="on"/>
                                  <m:mcs>
                                    <m:mc>
                                      <m:mcPr>
                                        <m:count m:val="2"/>
                                        <m:mcJc m:val="center"/>
                                      </m:mcPr>
                                    </m:mc>
                                  </m:mcs>
                                  <m:ctrlPr>
                                    <a:rPr lang="en-US" sz="2800" i="1">
                                      <a:latin typeface="Cambria Math" panose="02040503050406030204" pitchFamily="18" charset="0"/>
                                    </a:rPr>
                                  </m:ctrlPr>
                                </m:mPr>
                                <m:mr>
                                  <m:e>
                                    <m:r>
                                      <a:rPr lang="en-US" sz="2800" i="0">
                                        <a:latin typeface="Cambria Math" panose="02040503050406030204" pitchFamily="18" charset="0"/>
                                      </a:rPr>
                                      <m:t>0</m:t>
                                    </m:r>
                                  </m:e>
                                  <m:e>
                                    <m:r>
                                      <a:rPr lang="en-US" sz="2800" b="0" i="0" smtClean="0">
                                        <a:latin typeface="Cambria Math" panose="02040503050406030204" pitchFamily="18" charset="0"/>
                                      </a:rPr>
                                      <m:t>−</m:t>
                                    </m:r>
                                    <m:r>
                                      <a:rPr lang="en-US" sz="2800" b="0" i="1" smtClean="0">
                                        <a:latin typeface="Cambria Math" panose="02040503050406030204" pitchFamily="18" charset="0"/>
                                      </a:rPr>
                                      <m:t>𝑖</m:t>
                                    </m:r>
                                  </m:e>
                                </m:mr>
                                <m:mr>
                                  <m:e>
                                    <m:r>
                                      <a:rPr lang="en-US" sz="2800" b="0" i="1" smtClean="0">
                                        <a:latin typeface="Cambria Math" panose="02040503050406030204" pitchFamily="18" charset="0"/>
                                      </a:rPr>
                                      <m:t>𝑖</m:t>
                                    </m:r>
                                  </m:e>
                                  <m:e>
                                    <m:r>
                                      <a:rPr lang="en-US" sz="2800" i="0">
                                        <a:latin typeface="Cambria Math" panose="02040503050406030204" pitchFamily="18" charset="0"/>
                                      </a:rPr>
                                      <m:t>0</m:t>
                                    </m:r>
                                  </m:e>
                                </m:mr>
                              </m:m>
                            </m:e>
                          </m:d>
                        </m:oMath>
                      </a14:m>
                      <a:endParaRPr lang="en-US" sz="2800" dirty="0"/>
                    </a:p>
                  </p:txBody>
                </p:sp>
              </mc:Choice>
              <mc:Fallback xmlns="">
                <p:sp>
                  <p:nvSpPr>
                    <p:cNvPr id="18" name="Rectangle 17">
                      <a:extLst>
                        <a:ext uri="{FF2B5EF4-FFF2-40B4-BE49-F238E27FC236}">
                          <a16:creationId xmlns:a16="http://schemas.microsoft.com/office/drawing/2014/main" id="{F84C0AB2-6EAF-C449-9458-1CAA122F3508}"/>
                        </a:ext>
                      </a:extLst>
                    </p:cNvPr>
                    <p:cNvSpPr>
                      <a:spLocks noRot="1" noChangeAspect="1" noMove="1" noResize="1" noEditPoints="1" noAdjustHandles="1" noChangeArrowheads="1" noChangeShapeType="1" noTextEdit="1"/>
                    </p:cNvSpPr>
                    <p:nvPr/>
                  </p:nvSpPr>
                  <p:spPr>
                    <a:xfrm>
                      <a:off x="3260459" y="2695352"/>
                      <a:ext cx="2029658" cy="810799"/>
                    </a:xfrm>
                    <a:prstGeom prst="rect">
                      <a:avLst/>
                    </a:prstGeom>
                    <a:blipFill>
                      <a:blip r:embed="rId6"/>
                      <a:stretch>
                        <a:fillRect l="-6211" b="-7692"/>
                      </a:stretch>
                    </a:blipFill>
                  </p:spPr>
                  <p:txBody>
                    <a:bodyPr/>
                    <a:lstStyle/>
                    <a:p>
                      <a:r>
                        <a:rPr lang="en-US">
                          <a:noFill/>
                        </a:rPr>
                        <a:t> </a:t>
                      </a:r>
                    </a:p>
                  </p:txBody>
                </p:sp>
              </mc:Fallback>
            </mc:AlternateContent>
          </p:grpSp>
          <p:cxnSp>
            <p:nvCxnSpPr>
              <p:cNvPr id="27" name="Straight Connector 26">
                <a:extLst>
                  <a:ext uri="{FF2B5EF4-FFF2-40B4-BE49-F238E27FC236}">
                    <a16:creationId xmlns:a16="http://schemas.microsoft.com/office/drawing/2014/main" id="{8B591374-57EA-9446-B2AA-F65C536A689D}"/>
                  </a:ext>
                </a:extLst>
              </p:cNvPr>
              <p:cNvCxnSpPr>
                <a:cxnSpLocks/>
              </p:cNvCxnSpPr>
              <p:nvPr/>
            </p:nvCxnSpPr>
            <p:spPr>
              <a:xfrm flipH="1" flipV="1">
                <a:off x="4613251" y="5052615"/>
                <a:ext cx="819174" cy="481410"/>
              </a:xfrm>
              <a:prstGeom prst="line">
                <a:avLst/>
              </a:prstGeom>
              <a:ln w="38100" cap="rnd">
                <a:solidFill>
                  <a:schemeClr val="accent4">
                    <a:lumMod val="50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67BA871-5141-CC49-AB95-FF8D69EF764A}"/>
                  </a:ext>
                </a:extLst>
              </p:cNvPr>
              <p:cNvCxnSpPr>
                <a:cxnSpLocks/>
              </p:cNvCxnSpPr>
              <p:nvPr/>
            </p:nvCxnSpPr>
            <p:spPr>
              <a:xfrm flipH="1" flipV="1">
                <a:off x="3887434" y="4614741"/>
                <a:ext cx="725817" cy="437874"/>
              </a:xfrm>
              <a:prstGeom prst="line">
                <a:avLst/>
              </a:prstGeom>
              <a:ln w="38100" cap="rnd">
                <a:solidFill>
                  <a:schemeClr val="accent4">
                    <a:lumMod val="5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54" name="TextBox 53">
              <a:extLst>
                <a:ext uri="{FF2B5EF4-FFF2-40B4-BE49-F238E27FC236}">
                  <a16:creationId xmlns:a16="http://schemas.microsoft.com/office/drawing/2014/main" id="{73B22B86-6EC8-7043-91F5-75BA0D41CD12}"/>
                </a:ext>
              </a:extLst>
            </p:cNvPr>
            <p:cNvSpPr txBox="1"/>
            <p:nvPr/>
          </p:nvSpPr>
          <p:spPr>
            <a:xfrm>
              <a:off x="4625013" y="3960989"/>
              <a:ext cx="276038" cy="369332"/>
            </a:xfrm>
            <a:prstGeom prst="rect">
              <a:avLst/>
            </a:prstGeom>
            <a:noFill/>
          </p:spPr>
          <p:txBody>
            <a:bodyPr wrap="none" rtlCol="0">
              <a:spAutoFit/>
            </a:bodyPr>
            <a:lstStyle/>
            <a:p>
              <a:r>
                <a:rPr lang="en-US" dirty="0"/>
                <a:t>z</a:t>
              </a:r>
            </a:p>
          </p:txBody>
        </p:sp>
      </p:grpSp>
      <p:grpSp>
        <p:nvGrpSpPr>
          <p:cNvPr id="51" name="Group 50">
            <a:extLst>
              <a:ext uri="{FF2B5EF4-FFF2-40B4-BE49-F238E27FC236}">
                <a16:creationId xmlns:a16="http://schemas.microsoft.com/office/drawing/2014/main" id="{C13FC29D-035B-EC4F-99B9-96CA81076D29}"/>
              </a:ext>
            </a:extLst>
          </p:cNvPr>
          <p:cNvGrpSpPr/>
          <p:nvPr/>
        </p:nvGrpSpPr>
        <p:grpSpPr>
          <a:xfrm>
            <a:off x="8902023" y="1512621"/>
            <a:ext cx="3175000" cy="5162816"/>
            <a:chOff x="6040120" y="1512621"/>
            <a:chExt cx="3175000" cy="5162816"/>
          </a:xfrm>
        </p:grpSpPr>
        <p:grpSp>
          <p:nvGrpSpPr>
            <p:cNvPr id="21" name="Group 20">
              <a:extLst>
                <a:ext uri="{FF2B5EF4-FFF2-40B4-BE49-F238E27FC236}">
                  <a16:creationId xmlns:a16="http://schemas.microsoft.com/office/drawing/2014/main" id="{F8D4EEFF-881D-964F-B07B-E4D173F9543C}"/>
                </a:ext>
              </a:extLst>
            </p:cNvPr>
            <p:cNvGrpSpPr/>
            <p:nvPr/>
          </p:nvGrpSpPr>
          <p:grpSpPr>
            <a:xfrm>
              <a:off x="6040120" y="1512621"/>
              <a:ext cx="3175000" cy="5162816"/>
              <a:chOff x="6040120" y="1512621"/>
              <a:chExt cx="3175000" cy="5162816"/>
            </a:xfrm>
          </p:grpSpPr>
          <p:pic>
            <p:nvPicPr>
              <p:cNvPr id="9" name="Picture 8">
                <a:extLst>
                  <a:ext uri="{FF2B5EF4-FFF2-40B4-BE49-F238E27FC236}">
                    <a16:creationId xmlns:a16="http://schemas.microsoft.com/office/drawing/2014/main" id="{41D106B1-8289-FC46-B7D9-50B826FDB6F3}"/>
                  </a:ext>
                </a:extLst>
              </p:cNvPr>
              <p:cNvPicPr>
                <a:picLocks noChangeAspect="1"/>
              </p:cNvPicPr>
              <p:nvPr/>
            </p:nvPicPr>
            <p:blipFill>
              <a:blip r:embed="rId7"/>
              <a:stretch>
                <a:fillRect/>
              </a:stretch>
            </p:blipFill>
            <p:spPr>
              <a:xfrm>
                <a:off x="6040120" y="3500437"/>
                <a:ext cx="3175000" cy="3175000"/>
              </a:xfrm>
              <a:prstGeom prst="rect">
                <a:avLst/>
              </a:prstGeom>
            </p:spPr>
          </p:pic>
          <p:sp>
            <p:nvSpPr>
              <p:cNvPr id="17" name="Rectangle 16">
                <a:extLst>
                  <a:ext uri="{FF2B5EF4-FFF2-40B4-BE49-F238E27FC236}">
                    <a16:creationId xmlns:a16="http://schemas.microsoft.com/office/drawing/2014/main" id="{77C56933-2C38-2549-A42C-76E1D20D9969}"/>
                  </a:ext>
                </a:extLst>
              </p:cNvPr>
              <p:cNvSpPr/>
              <p:nvPr/>
            </p:nvSpPr>
            <p:spPr>
              <a:xfrm>
                <a:off x="7096754" y="1512621"/>
                <a:ext cx="914400" cy="914400"/>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Z</a:t>
                </a:r>
              </a:p>
            </p:txBody>
          </p:sp>
          <mc:AlternateContent xmlns:mc="http://schemas.openxmlformats.org/markup-compatibility/2006" xmlns:a14="http://schemas.microsoft.com/office/drawing/2010/main">
            <mc:Choice Requires="a14">
              <p:sp>
                <p:nvSpPr>
                  <p:cNvPr id="19" name="Rectangle 18">
                    <a:extLst>
                      <a:ext uri="{FF2B5EF4-FFF2-40B4-BE49-F238E27FC236}">
                        <a16:creationId xmlns:a16="http://schemas.microsoft.com/office/drawing/2014/main" id="{541100B4-8793-A643-8954-D2B0486F8357}"/>
                      </a:ext>
                    </a:extLst>
                  </p:cNvPr>
                  <p:cNvSpPr/>
                  <p:nvPr/>
                </p:nvSpPr>
                <p:spPr>
                  <a:xfrm>
                    <a:off x="6277537" y="2672600"/>
                    <a:ext cx="2096792" cy="810799"/>
                  </a:xfrm>
                  <a:prstGeom prst="rect">
                    <a:avLst/>
                  </a:prstGeom>
                </p:spPr>
                <p:txBody>
                  <a:bodyPr wrap="none">
                    <a:spAutoFit/>
                  </a:bodyPr>
                  <a:lstStyle/>
                  <a:p>
                    <a:r>
                      <a:rPr lang="en-US" sz="2800" i="1" dirty="0"/>
                      <a:t>Z</a:t>
                    </a:r>
                    <a14:m>
                      <m:oMath xmlns:m="http://schemas.openxmlformats.org/officeDocument/2006/math">
                        <m:r>
                          <a:rPr lang="en-US" sz="2800" i="0">
                            <a:latin typeface="Cambria Math" panose="02040503050406030204" pitchFamily="18" charset="0"/>
                          </a:rPr>
                          <m:t>=</m:t>
                        </m:r>
                        <m:d>
                          <m:dPr>
                            <m:ctrlPr>
                              <a:rPr lang="en-US" sz="2800" i="1">
                                <a:latin typeface="Cambria Math" panose="02040503050406030204" pitchFamily="18" charset="0"/>
                              </a:rPr>
                            </m:ctrlPr>
                          </m:dPr>
                          <m:e>
                            <m:m>
                              <m:mPr>
                                <m:plcHide m:val="on"/>
                                <m:mcs>
                                  <m:mc>
                                    <m:mcPr>
                                      <m:count m:val="2"/>
                                      <m:mcJc m:val="center"/>
                                    </m:mcPr>
                                  </m:mc>
                                </m:mcs>
                                <m:ctrlPr>
                                  <a:rPr lang="en-US" sz="2800" i="1">
                                    <a:latin typeface="Cambria Math" panose="02040503050406030204" pitchFamily="18" charset="0"/>
                                  </a:rPr>
                                </m:ctrlPr>
                              </m:mPr>
                              <m:mr>
                                <m:e>
                                  <m:r>
                                    <a:rPr lang="en-US" sz="2800" b="0" i="0" smtClean="0">
                                      <a:latin typeface="Cambria Math" panose="02040503050406030204" pitchFamily="18" charset="0"/>
                                    </a:rPr>
                                    <m:t>1</m:t>
                                  </m:r>
                                </m:e>
                                <m:e>
                                  <m:r>
                                    <a:rPr lang="en-US" sz="2800" b="0" i="0" smtClean="0">
                                      <a:latin typeface="Cambria Math" panose="02040503050406030204" pitchFamily="18" charset="0"/>
                                    </a:rPr>
                                    <m:t>0</m:t>
                                  </m:r>
                                </m:e>
                              </m:mr>
                              <m:mr>
                                <m:e>
                                  <m:r>
                                    <a:rPr lang="en-US" sz="2800" b="0" i="0" smtClean="0">
                                      <a:latin typeface="Cambria Math" panose="02040503050406030204" pitchFamily="18" charset="0"/>
                                    </a:rPr>
                                    <m:t>0</m:t>
                                  </m:r>
                                </m:e>
                                <m:e>
                                  <m:r>
                                    <a:rPr lang="en-US" sz="2800" b="0" i="0" smtClean="0">
                                      <a:latin typeface="Cambria Math" panose="02040503050406030204" pitchFamily="18" charset="0"/>
                                    </a:rPr>
                                    <m:t>−1</m:t>
                                  </m:r>
                                </m:e>
                              </m:mr>
                            </m:m>
                          </m:e>
                        </m:d>
                      </m:oMath>
                    </a14:m>
                    <a:endParaRPr lang="en-US" sz="2800" dirty="0"/>
                  </a:p>
                </p:txBody>
              </p:sp>
            </mc:Choice>
            <mc:Fallback xmlns="">
              <p:sp>
                <p:nvSpPr>
                  <p:cNvPr id="19" name="Rectangle 18">
                    <a:extLst>
                      <a:ext uri="{FF2B5EF4-FFF2-40B4-BE49-F238E27FC236}">
                        <a16:creationId xmlns:a16="http://schemas.microsoft.com/office/drawing/2014/main" id="{541100B4-8793-A643-8954-D2B0486F8357}"/>
                      </a:ext>
                    </a:extLst>
                  </p:cNvPr>
                  <p:cNvSpPr>
                    <a:spLocks noRot="1" noChangeAspect="1" noMove="1" noResize="1" noEditPoints="1" noAdjustHandles="1" noChangeArrowheads="1" noChangeShapeType="1" noTextEdit="1"/>
                  </p:cNvSpPr>
                  <p:nvPr/>
                </p:nvSpPr>
                <p:spPr>
                  <a:xfrm>
                    <a:off x="6277537" y="2672600"/>
                    <a:ext cx="2096792" cy="810799"/>
                  </a:xfrm>
                  <a:prstGeom prst="rect">
                    <a:avLst/>
                  </a:prstGeom>
                  <a:blipFill>
                    <a:blip r:embed="rId8"/>
                    <a:stretch>
                      <a:fillRect l="-5422" b="-7692"/>
                    </a:stretch>
                  </a:blipFill>
                </p:spPr>
                <p:txBody>
                  <a:bodyPr/>
                  <a:lstStyle/>
                  <a:p>
                    <a:r>
                      <a:rPr lang="en-US">
                        <a:noFill/>
                      </a:rPr>
                      <a:t> </a:t>
                    </a:r>
                  </a:p>
                </p:txBody>
              </p:sp>
            </mc:Fallback>
          </mc:AlternateContent>
        </p:grpSp>
        <p:cxnSp>
          <p:nvCxnSpPr>
            <p:cNvPr id="30" name="Straight Connector 29">
              <a:extLst>
                <a:ext uri="{FF2B5EF4-FFF2-40B4-BE49-F238E27FC236}">
                  <a16:creationId xmlns:a16="http://schemas.microsoft.com/office/drawing/2014/main" id="{78F9CD99-10C0-8D46-AECC-8D113F2B5920}"/>
                </a:ext>
              </a:extLst>
            </p:cNvPr>
            <p:cNvCxnSpPr>
              <a:cxnSpLocks/>
            </p:cNvCxnSpPr>
            <p:nvPr/>
          </p:nvCxnSpPr>
          <p:spPr>
            <a:xfrm flipV="1">
              <a:off x="7673315" y="3956107"/>
              <a:ext cx="0" cy="1063953"/>
            </a:xfrm>
            <a:prstGeom prst="line">
              <a:avLst/>
            </a:prstGeom>
            <a:ln w="38100" cap="rnd">
              <a:solidFill>
                <a:schemeClr val="accent4">
                  <a:lumMod val="50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382D90CA-E0E7-964A-843F-C1BAC4AD4FD3}"/>
                </a:ext>
              </a:extLst>
            </p:cNvPr>
            <p:cNvCxnSpPr>
              <a:cxnSpLocks/>
            </p:cNvCxnSpPr>
            <p:nvPr/>
          </p:nvCxnSpPr>
          <p:spPr>
            <a:xfrm flipV="1">
              <a:off x="7673315" y="5020060"/>
              <a:ext cx="0" cy="1063953"/>
            </a:xfrm>
            <a:prstGeom prst="line">
              <a:avLst/>
            </a:prstGeom>
            <a:ln w="38100" cap="rnd">
              <a:solidFill>
                <a:schemeClr val="accent4">
                  <a:lumMod val="5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55" name="TextBox 54">
            <a:extLst>
              <a:ext uri="{FF2B5EF4-FFF2-40B4-BE49-F238E27FC236}">
                <a16:creationId xmlns:a16="http://schemas.microsoft.com/office/drawing/2014/main" id="{170D2B91-5D03-1147-9EA1-9CDF7AF2FA7B}"/>
              </a:ext>
            </a:extLst>
          </p:cNvPr>
          <p:cNvSpPr txBox="1"/>
          <p:nvPr/>
        </p:nvSpPr>
        <p:spPr>
          <a:xfrm>
            <a:off x="10538290" y="3960989"/>
            <a:ext cx="276038" cy="369332"/>
          </a:xfrm>
          <a:prstGeom prst="rect">
            <a:avLst/>
          </a:prstGeom>
          <a:noFill/>
        </p:spPr>
        <p:txBody>
          <a:bodyPr wrap="none" rtlCol="0">
            <a:spAutoFit/>
          </a:bodyPr>
          <a:lstStyle/>
          <a:p>
            <a:r>
              <a:rPr lang="en-US" dirty="0"/>
              <a:t>z</a:t>
            </a:r>
          </a:p>
        </p:txBody>
      </p:sp>
      <p:pic>
        <p:nvPicPr>
          <p:cNvPr id="6" name="Picture 5">
            <a:extLst>
              <a:ext uri="{FF2B5EF4-FFF2-40B4-BE49-F238E27FC236}">
                <a16:creationId xmlns:a16="http://schemas.microsoft.com/office/drawing/2014/main" id="{FD81CA29-DC37-044C-B5D8-FADDA20CABC7}"/>
              </a:ext>
            </a:extLst>
          </p:cNvPr>
          <p:cNvPicPr>
            <a:picLocks noChangeAspect="1"/>
          </p:cNvPicPr>
          <p:nvPr/>
        </p:nvPicPr>
        <p:blipFill>
          <a:blip r:embed="rId9"/>
          <a:stretch>
            <a:fillRect/>
          </a:stretch>
        </p:blipFill>
        <p:spPr>
          <a:xfrm>
            <a:off x="7731414" y="18238"/>
            <a:ext cx="1537622" cy="1837939"/>
          </a:xfrm>
          <a:prstGeom prst="rect">
            <a:avLst/>
          </a:prstGeom>
        </p:spPr>
      </p:pic>
      <p:sp>
        <p:nvSpPr>
          <p:cNvPr id="8" name="TextBox 7">
            <a:extLst>
              <a:ext uri="{FF2B5EF4-FFF2-40B4-BE49-F238E27FC236}">
                <a16:creationId xmlns:a16="http://schemas.microsoft.com/office/drawing/2014/main" id="{B8E16CD4-B3AD-A447-8B04-0A08CF44210F}"/>
              </a:ext>
            </a:extLst>
          </p:cNvPr>
          <p:cNvSpPr txBox="1"/>
          <p:nvPr/>
        </p:nvSpPr>
        <p:spPr>
          <a:xfrm>
            <a:off x="9225618" y="262402"/>
            <a:ext cx="1569660" cy="646331"/>
          </a:xfrm>
          <a:prstGeom prst="rect">
            <a:avLst/>
          </a:prstGeom>
          <a:noFill/>
        </p:spPr>
        <p:txBody>
          <a:bodyPr wrap="none" rtlCol="0">
            <a:spAutoFit/>
          </a:bodyPr>
          <a:lstStyle/>
          <a:p>
            <a:pPr algn="ctr"/>
            <a:r>
              <a:rPr lang="en-US" dirty="0"/>
              <a:t>Wolfgang Pauli</a:t>
            </a:r>
          </a:p>
          <a:p>
            <a:pPr algn="ctr"/>
            <a:r>
              <a:rPr lang="en-US" dirty="0"/>
              <a:t>(1900–1958)</a:t>
            </a:r>
          </a:p>
        </p:txBody>
      </p:sp>
    </p:spTree>
    <p:extLst>
      <p:ext uri="{BB962C8B-B14F-4D97-AF65-F5344CB8AC3E}">
        <p14:creationId xmlns:p14="http://schemas.microsoft.com/office/powerpoint/2010/main" val="7791877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57580A3-107D-0541-9921-7D7266FD7B26}"/>
              </a:ext>
            </a:extLst>
          </p:cNvPr>
          <p:cNvSpPr>
            <a:spLocks noGrp="1"/>
          </p:cNvSpPr>
          <p:nvPr>
            <p:ph type="sldNum" sz="quarter" idx="12"/>
          </p:nvPr>
        </p:nvSpPr>
        <p:spPr/>
        <p:txBody>
          <a:bodyPr/>
          <a:lstStyle/>
          <a:p>
            <a:fld id="{591A223C-FA10-BC46-A853-03BA373D023C}" type="slidenum">
              <a:rPr lang="en-US" smtClean="0"/>
              <a:t>16</a:t>
            </a:fld>
            <a:endParaRPr lang="en-US"/>
          </a:p>
        </p:txBody>
      </p:sp>
      <p:sp>
        <p:nvSpPr>
          <p:cNvPr id="3" name="Title 2">
            <a:extLst>
              <a:ext uri="{FF2B5EF4-FFF2-40B4-BE49-F238E27FC236}">
                <a16:creationId xmlns:a16="http://schemas.microsoft.com/office/drawing/2014/main" id="{B852EDE8-26D3-8643-A881-CB79B839EE2D}"/>
              </a:ext>
            </a:extLst>
          </p:cNvPr>
          <p:cNvSpPr>
            <a:spLocks noGrp="1"/>
          </p:cNvSpPr>
          <p:nvPr>
            <p:ph type="title"/>
          </p:nvPr>
        </p:nvSpPr>
        <p:spPr/>
        <p:txBody>
          <a:bodyPr/>
          <a:lstStyle/>
          <a:p>
            <a:r>
              <a:rPr lang="en-US" dirty="0"/>
              <a:t>Pauli X Gate / NOT Gate</a:t>
            </a:r>
          </a:p>
        </p:txBody>
      </p:sp>
      <p:pic>
        <p:nvPicPr>
          <p:cNvPr id="11" name="Picture 10">
            <a:extLst>
              <a:ext uri="{FF2B5EF4-FFF2-40B4-BE49-F238E27FC236}">
                <a16:creationId xmlns:a16="http://schemas.microsoft.com/office/drawing/2014/main" id="{69152CBA-1A40-D944-8D23-FE6E9B7F197A}"/>
              </a:ext>
            </a:extLst>
          </p:cNvPr>
          <p:cNvPicPr>
            <a:picLocks noChangeAspect="1"/>
          </p:cNvPicPr>
          <p:nvPr/>
        </p:nvPicPr>
        <p:blipFill>
          <a:blip r:embed="rId3"/>
          <a:stretch>
            <a:fillRect/>
          </a:stretch>
        </p:blipFill>
        <p:spPr>
          <a:xfrm>
            <a:off x="486229" y="1545771"/>
            <a:ext cx="3267710" cy="4724400"/>
          </a:xfrm>
          <a:prstGeom prst="rect">
            <a:avLst/>
          </a:prstGeom>
        </p:spPr>
      </p:pic>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229ECAFC-7A20-B74B-B31A-36F01D134FAB}"/>
                  </a:ext>
                </a:extLst>
              </p:cNvPr>
              <p:cNvSpPr/>
              <p:nvPr/>
            </p:nvSpPr>
            <p:spPr>
              <a:xfrm>
                <a:off x="4056579" y="1425229"/>
                <a:ext cx="7538987" cy="141436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200" i="1" smtClean="0">
                              <a:latin typeface="Cambria Math" panose="02040503050406030204" pitchFamily="18" charset="0"/>
                            </a:rPr>
                          </m:ctrlPr>
                        </m:dPr>
                        <m:e>
                          <m:r>
                            <a:rPr lang="en-US" sz="2200" i="1">
                              <a:latin typeface="Cambria Math" panose="02040503050406030204" pitchFamily="18" charset="0"/>
                            </a:rPr>
                            <m:t>𝑆</m:t>
                          </m:r>
                        </m:e>
                      </m:d>
                      <m:r>
                        <a:rPr lang="en-US" sz="2200" i="0">
                          <a:latin typeface="Cambria Math" panose="02040503050406030204" pitchFamily="18" charset="0"/>
                        </a:rPr>
                        <m:t>=</m:t>
                      </m:r>
                      <m:d>
                        <m:dPr>
                          <m:ctrlPr>
                            <a:rPr lang="en-US" sz="2200" i="1">
                              <a:latin typeface="Cambria Math" panose="02040503050406030204" pitchFamily="18" charset="0"/>
                            </a:rPr>
                          </m:ctrlPr>
                        </m:dPr>
                        <m:e>
                          <m:m>
                            <m:mPr>
                              <m:plcHide m:val="on"/>
                              <m:mcs>
                                <m:mc>
                                  <m:mcPr>
                                    <m:count m:val="1"/>
                                    <m:mcJc m:val="center"/>
                                  </m:mcPr>
                                </m:mc>
                              </m:mcs>
                              <m:ctrlPr>
                                <a:rPr lang="en-US" sz="2200" i="1">
                                  <a:latin typeface="Cambria Math" panose="02040503050406030204" pitchFamily="18" charset="0"/>
                                </a:rPr>
                              </m:ctrlPr>
                            </m:mPr>
                            <m:mr>
                              <m:e>
                                <m:func>
                                  <m:funcPr>
                                    <m:ctrlPr>
                                      <a:rPr lang="en-US" sz="2200" i="1">
                                        <a:latin typeface="Cambria Math" panose="02040503050406030204" pitchFamily="18" charset="0"/>
                                      </a:rPr>
                                    </m:ctrlPr>
                                  </m:funcPr>
                                  <m:fName>
                                    <m:r>
                                      <a:rPr lang="en-US" sz="2200" i="1">
                                        <a:latin typeface="Cambria Math" panose="02040503050406030204" pitchFamily="18" charset="0"/>
                                      </a:rPr>
                                      <m:t>𝑐𝑜𝑠</m:t>
                                    </m:r>
                                  </m:fName>
                                  <m:e>
                                    <m:f>
                                      <m:fPr>
                                        <m:ctrlPr>
                                          <a:rPr lang="en-US" sz="2200" i="1">
                                            <a:latin typeface="Cambria Math" panose="02040503050406030204" pitchFamily="18" charset="0"/>
                                          </a:rPr>
                                        </m:ctrlPr>
                                      </m:fPr>
                                      <m:num>
                                        <m:r>
                                          <a:rPr lang="en-US" sz="2200" i="1">
                                            <a:latin typeface="Cambria Math" panose="02040503050406030204" pitchFamily="18" charset="0"/>
                                          </a:rPr>
                                          <m:t>𝜃</m:t>
                                        </m:r>
                                      </m:num>
                                      <m:den>
                                        <m:r>
                                          <a:rPr lang="en-US" sz="2200" i="0">
                                            <a:latin typeface="Cambria Math" panose="02040503050406030204" pitchFamily="18" charset="0"/>
                                          </a:rPr>
                                          <m:t>2</m:t>
                                        </m:r>
                                      </m:den>
                                    </m:f>
                                  </m:e>
                                </m:func>
                              </m:e>
                            </m:mr>
                            <m:mr>
                              <m:e>
                                <m:sSup>
                                  <m:sSupPr>
                                    <m:ctrlPr>
                                      <a:rPr lang="en-US" sz="2200" i="1">
                                        <a:latin typeface="Cambria Math" panose="02040503050406030204" pitchFamily="18" charset="0"/>
                                      </a:rPr>
                                    </m:ctrlPr>
                                  </m:sSupPr>
                                  <m:e>
                                    <m:r>
                                      <a:rPr lang="en-US" sz="2200" i="1">
                                        <a:latin typeface="Cambria Math" panose="02040503050406030204" pitchFamily="18" charset="0"/>
                                      </a:rPr>
                                      <m:t>𝑒</m:t>
                                    </m:r>
                                  </m:e>
                                  <m:sup>
                                    <m:r>
                                      <a:rPr lang="en-US" sz="2200" i="1">
                                        <a:latin typeface="Cambria Math" panose="02040503050406030204" pitchFamily="18" charset="0"/>
                                      </a:rPr>
                                      <m:t>𝑖</m:t>
                                    </m:r>
                                    <m:r>
                                      <a:rPr lang="en-US" sz="2200" i="1">
                                        <a:latin typeface="Cambria Math" panose="02040503050406030204" pitchFamily="18" charset="0"/>
                                      </a:rPr>
                                      <m:t>𝜑</m:t>
                                    </m:r>
                                  </m:sup>
                                </m:sSup>
                                <m:func>
                                  <m:funcPr>
                                    <m:ctrlPr>
                                      <a:rPr lang="en-US" sz="2200" i="1">
                                        <a:latin typeface="Cambria Math" panose="02040503050406030204" pitchFamily="18" charset="0"/>
                                      </a:rPr>
                                    </m:ctrlPr>
                                  </m:funcPr>
                                  <m:fName>
                                    <m:r>
                                      <a:rPr lang="en-US" sz="2200" i="1">
                                        <a:latin typeface="Cambria Math" panose="02040503050406030204" pitchFamily="18" charset="0"/>
                                      </a:rPr>
                                      <m:t>𝑠𝑖𝑛</m:t>
                                    </m:r>
                                  </m:fName>
                                  <m:e>
                                    <m:f>
                                      <m:fPr>
                                        <m:ctrlPr>
                                          <a:rPr lang="en-US" sz="2200" i="1">
                                            <a:latin typeface="Cambria Math" panose="02040503050406030204" pitchFamily="18" charset="0"/>
                                          </a:rPr>
                                        </m:ctrlPr>
                                      </m:fPr>
                                      <m:num>
                                        <m:r>
                                          <a:rPr lang="en-US" sz="2200" i="1">
                                            <a:latin typeface="Cambria Math" panose="02040503050406030204" pitchFamily="18" charset="0"/>
                                          </a:rPr>
                                          <m:t>𝜃</m:t>
                                        </m:r>
                                      </m:num>
                                      <m:den>
                                        <m:r>
                                          <a:rPr lang="en-US" sz="2200" i="0">
                                            <a:latin typeface="Cambria Math" panose="02040503050406030204" pitchFamily="18" charset="0"/>
                                          </a:rPr>
                                          <m:t>2</m:t>
                                        </m:r>
                                      </m:den>
                                    </m:f>
                                  </m:e>
                                </m:func>
                              </m:e>
                            </m:mr>
                          </m:m>
                        </m:e>
                      </m:d>
                      <m:r>
                        <a:rPr lang="en-US" sz="2200" i="0">
                          <a:latin typeface="Cambria Math" panose="02040503050406030204" pitchFamily="18" charset="0"/>
                        </a:rPr>
                        <m:t>=</m:t>
                      </m:r>
                      <m:d>
                        <m:dPr>
                          <m:ctrlPr>
                            <a:rPr lang="en-US" sz="2200" i="1">
                              <a:latin typeface="Cambria Math" panose="02040503050406030204" pitchFamily="18" charset="0"/>
                            </a:rPr>
                          </m:ctrlPr>
                        </m:dPr>
                        <m:e>
                          <m:m>
                            <m:mPr>
                              <m:plcHide m:val="on"/>
                              <m:mcs>
                                <m:mc>
                                  <m:mcPr>
                                    <m:count m:val="1"/>
                                    <m:mcJc m:val="center"/>
                                  </m:mcPr>
                                </m:mc>
                              </m:mcs>
                              <m:ctrlPr>
                                <a:rPr lang="en-US" sz="2200" i="1">
                                  <a:latin typeface="Cambria Math" panose="02040503050406030204" pitchFamily="18" charset="0"/>
                                </a:rPr>
                              </m:ctrlPr>
                            </m:mPr>
                            <m:mr>
                              <m:e>
                                <m:func>
                                  <m:funcPr>
                                    <m:ctrlPr>
                                      <a:rPr lang="en-US" sz="2200" i="1">
                                        <a:latin typeface="Cambria Math" panose="02040503050406030204" pitchFamily="18" charset="0"/>
                                      </a:rPr>
                                    </m:ctrlPr>
                                  </m:funcPr>
                                  <m:fName>
                                    <m:r>
                                      <a:rPr lang="en-US" sz="2200" i="1">
                                        <a:latin typeface="Cambria Math" panose="02040503050406030204" pitchFamily="18" charset="0"/>
                                      </a:rPr>
                                      <m:t>𝑐𝑜𝑠</m:t>
                                    </m:r>
                                  </m:fName>
                                  <m:e>
                                    <m:f>
                                      <m:fPr>
                                        <m:ctrlPr>
                                          <a:rPr lang="en-US" sz="2200" i="1">
                                            <a:latin typeface="Cambria Math" panose="02040503050406030204" pitchFamily="18" charset="0"/>
                                          </a:rPr>
                                        </m:ctrlPr>
                                      </m:fPr>
                                      <m:num>
                                        <m:r>
                                          <a:rPr lang="en-US" sz="2200" i="1">
                                            <a:latin typeface="Cambria Math" panose="02040503050406030204" pitchFamily="18" charset="0"/>
                                          </a:rPr>
                                          <m:t>𝜋</m:t>
                                        </m:r>
                                      </m:num>
                                      <m:den>
                                        <m:r>
                                          <a:rPr lang="en-US" sz="2200" i="0">
                                            <a:latin typeface="Cambria Math" panose="02040503050406030204" pitchFamily="18" charset="0"/>
                                          </a:rPr>
                                          <m:t>16</m:t>
                                        </m:r>
                                      </m:den>
                                    </m:f>
                                  </m:e>
                                </m:func>
                              </m:e>
                            </m:mr>
                            <m:mr>
                              <m:e>
                                <m:sSup>
                                  <m:sSupPr>
                                    <m:ctrlPr>
                                      <a:rPr lang="en-US" sz="2200" i="1">
                                        <a:latin typeface="Cambria Math" panose="02040503050406030204" pitchFamily="18" charset="0"/>
                                      </a:rPr>
                                    </m:ctrlPr>
                                  </m:sSupPr>
                                  <m:e>
                                    <m:r>
                                      <a:rPr lang="en-US" sz="2200" i="1">
                                        <a:latin typeface="Cambria Math" panose="02040503050406030204" pitchFamily="18" charset="0"/>
                                      </a:rPr>
                                      <m:t>𝑒</m:t>
                                    </m:r>
                                  </m:e>
                                  <m:sup>
                                    <m:r>
                                      <a:rPr lang="en-US" sz="2200" i="1">
                                        <a:latin typeface="Cambria Math" panose="02040503050406030204" pitchFamily="18" charset="0"/>
                                      </a:rPr>
                                      <m:t>𝑖</m:t>
                                    </m:r>
                                    <m:r>
                                      <a:rPr lang="en-US" sz="2200" i="0">
                                        <a:latin typeface="Cambria Math" panose="02040503050406030204" pitchFamily="18" charset="0"/>
                                      </a:rPr>
                                      <m:t>3</m:t>
                                    </m:r>
                                    <m:f>
                                      <m:fPr>
                                        <m:type m:val="lin"/>
                                        <m:ctrlPr>
                                          <a:rPr lang="en-US" sz="2200" i="1">
                                            <a:latin typeface="Cambria Math" panose="02040503050406030204" pitchFamily="18" charset="0"/>
                                          </a:rPr>
                                        </m:ctrlPr>
                                      </m:fPr>
                                      <m:num>
                                        <m:r>
                                          <a:rPr lang="en-US" sz="2200" i="1">
                                            <a:latin typeface="Cambria Math" panose="02040503050406030204" pitchFamily="18" charset="0"/>
                                          </a:rPr>
                                          <m:t>𝜋</m:t>
                                        </m:r>
                                      </m:num>
                                      <m:den>
                                        <m:r>
                                          <a:rPr lang="en-US" sz="2200" i="0">
                                            <a:latin typeface="Cambria Math" panose="02040503050406030204" pitchFamily="18" charset="0"/>
                                          </a:rPr>
                                          <m:t>8</m:t>
                                        </m:r>
                                      </m:den>
                                    </m:f>
                                  </m:sup>
                                </m:sSup>
                                <m:func>
                                  <m:funcPr>
                                    <m:ctrlPr>
                                      <a:rPr lang="en-US" sz="2200" i="1">
                                        <a:latin typeface="Cambria Math" panose="02040503050406030204" pitchFamily="18" charset="0"/>
                                      </a:rPr>
                                    </m:ctrlPr>
                                  </m:funcPr>
                                  <m:fName>
                                    <m:r>
                                      <a:rPr lang="en-US" sz="2200" i="1">
                                        <a:latin typeface="Cambria Math" panose="02040503050406030204" pitchFamily="18" charset="0"/>
                                      </a:rPr>
                                      <m:t>𝑠𝑖𝑛</m:t>
                                    </m:r>
                                  </m:fName>
                                  <m:e>
                                    <m:f>
                                      <m:fPr>
                                        <m:ctrlPr>
                                          <a:rPr lang="en-US" sz="2200" i="1">
                                            <a:latin typeface="Cambria Math" panose="02040503050406030204" pitchFamily="18" charset="0"/>
                                          </a:rPr>
                                        </m:ctrlPr>
                                      </m:fPr>
                                      <m:num>
                                        <m:r>
                                          <a:rPr lang="en-US" sz="2200" i="1">
                                            <a:latin typeface="Cambria Math" panose="02040503050406030204" pitchFamily="18" charset="0"/>
                                          </a:rPr>
                                          <m:t>𝜋</m:t>
                                        </m:r>
                                      </m:num>
                                      <m:den>
                                        <m:r>
                                          <a:rPr lang="en-US" sz="2200" i="0">
                                            <a:latin typeface="Cambria Math" panose="02040503050406030204" pitchFamily="18" charset="0"/>
                                          </a:rPr>
                                          <m:t>16</m:t>
                                        </m:r>
                                      </m:den>
                                    </m:f>
                                  </m:e>
                                </m:func>
                              </m:e>
                            </m:mr>
                          </m:m>
                        </m:e>
                      </m:d>
                      <m:r>
                        <a:rPr lang="en-US" sz="2200" i="0">
                          <a:latin typeface="Cambria Math" panose="02040503050406030204" pitchFamily="18" charset="0"/>
                        </a:rPr>
                        <m:t>=</m:t>
                      </m:r>
                      <m:d>
                        <m:dPr>
                          <m:ctrlPr>
                            <a:rPr lang="en-US" sz="2200" i="1">
                              <a:latin typeface="Cambria Math" panose="02040503050406030204" pitchFamily="18" charset="0"/>
                            </a:rPr>
                          </m:ctrlPr>
                        </m:dPr>
                        <m:e>
                          <m:m>
                            <m:mPr>
                              <m:plcHide m:val="on"/>
                              <m:mcs>
                                <m:mc>
                                  <m:mcPr>
                                    <m:count m:val="1"/>
                                    <m:mcJc m:val="center"/>
                                  </m:mcPr>
                                </m:mc>
                              </m:mcs>
                              <m:ctrlPr>
                                <a:rPr lang="en-US" sz="2200" i="1">
                                  <a:latin typeface="Cambria Math" panose="02040503050406030204" pitchFamily="18" charset="0"/>
                                </a:rPr>
                              </m:ctrlPr>
                            </m:mPr>
                            <m:mr>
                              <m:e>
                                <m:r>
                                  <a:rPr lang="en-US" sz="2200" i="0">
                                    <a:latin typeface="Cambria Math" panose="02040503050406030204" pitchFamily="18" charset="0"/>
                                  </a:rPr>
                                  <m:t>0.9808</m:t>
                                </m:r>
                              </m:e>
                            </m:mr>
                            <m:mr>
                              <m:e>
                                <m:r>
                                  <a:rPr lang="en-US" sz="2200" i="0">
                                    <a:latin typeface="Cambria Math" panose="02040503050406030204" pitchFamily="18" charset="0"/>
                                  </a:rPr>
                                  <m:t>0.0747+</m:t>
                                </m:r>
                                <m:r>
                                  <a:rPr lang="en-US" sz="2000" i="1">
                                    <a:latin typeface="Cambria Math" panose="02040503050406030204" pitchFamily="18" charset="0"/>
                                  </a:rPr>
                                  <m:t>𝑖</m:t>
                                </m:r>
                                <m:r>
                                  <a:rPr lang="en-US" sz="2000" b="0" i="0" smtClean="0">
                                    <a:latin typeface="Cambria Math" panose="02040503050406030204" pitchFamily="18" charset="0"/>
                                  </a:rPr>
                                  <m:t> </m:t>
                                </m:r>
                                <m:r>
                                  <a:rPr lang="en-US" sz="2200" i="0">
                                    <a:latin typeface="Cambria Math" panose="02040503050406030204" pitchFamily="18" charset="0"/>
                                  </a:rPr>
                                  <m:t>0.1802</m:t>
                                </m:r>
                              </m:e>
                            </m:mr>
                          </m:m>
                        </m:e>
                      </m:d>
                    </m:oMath>
                  </m:oMathPara>
                </a14:m>
                <a:endParaRPr lang="en-US" sz="2200" dirty="0"/>
              </a:p>
            </p:txBody>
          </p:sp>
        </mc:Choice>
        <mc:Fallback xmlns="">
          <p:sp>
            <p:nvSpPr>
              <p:cNvPr id="12" name="Rectangle 11">
                <a:extLst>
                  <a:ext uri="{FF2B5EF4-FFF2-40B4-BE49-F238E27FC236}">
                    <a16:creationId xmlns:a16="http://schemas.microsoft.com/office/drawing/2014/main" id="{229ECAFC-7A20-B74B-B31A-36F01D134FAB}"/>
                  </a:ext>
                </a:extLst>
              </p:cNvPr>
              <p:cNvSpPr>
                <a:spLocks noRot="1" noChangeAspect="1" noMove="1" noResize="1" noEditPoints="1" noAdjustHandles="1" noChangeArrowheads="1" noChangeShapeType="1" noTextEdit="1"/>
              </p:cNvSpPr>
              <p:nvPr/>
            </p:nvSpPr>
            <p:spPr>
              <a:xfrm>
                <a:off x="4056579" y="1425229"/>
                <a:ext cx="7538987" cy="1414362"/>
              </a:xfrm>
              <a:prstGeom prst="rect">
                <a:avLst/>
              </a:prstGeom>
              <a:blipFill>
                <a:blip r:embed="rId4"/>
                <a:stretch>
                  <a:fillRect b="-2035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FBB23648-93A3-1F43-B85D-2C0181A7D21D}"/>
                  </a:ext>
                </a:extLst>
              </p:cNvPr>
              <p:cNvSpPr/>
              <p:nvPr/>
            </p:nvSpPr>
            <p:spPr>
              <a:xfrm>
                <a:off x="4056579" y="4120893"/>
                <a:ext cx="8079712" cy="71436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rPr>
                        <m:t>𝑋</m:t>
                      </m:r>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𝑆</m:t>
                          </m:r>
                        </m:e>
                      </m:d>
                      <m:r>
                        <a:rPr lang="en-US" sz="2400" i="0">
                          <a:latin typeface="Cambria Math" panose="02040503050406030204" pitchFamily="18" charset="0"/>
                        </a:rPr>
                        <m:t>=</m:t>
                      </m:r>
                      <m:d>
                        <m:dPr>
                          <m:ctrlPr>
                            <a:rPr lang="en-US" sz="2400" i="1">
                              <a:latin typeface="Cambria Math" panose="02040503050406030204" pitchFamily="18" charset="0"/>
                            </a:rPr>
                          </m:ctrlPr>
                        </m:dPr>
                        <m:e>
                          <m:m>
                            <m:mPr>
                              <m:plcHide m:val="on"/>
                              <m:mcs>
                                <m:mc>
                                  <m:mcPr>
                                    <m:count m:val="2"/>
                                    <m:mcJc m:val="center"/>
                                  </m:mcPr>
                                </m:mc>
                              </m:mcs>
                              <m:ctrlPr>
                                <a:rPr lang="en-US" sz="2400" i="1">
                                  <a:latin typeface="Cambria Math" panose="02040503050406030204" pitchFamily="18" charset="0"/>
                                </a:rPr>
                              </m:ctrlPr>
                            </m:mPr>
                            <m:mr>
                              <m:e>
                                <m:r>
                                  <a:rPr lang="en-US" sz="2400" i="0">
                                    <a:latin typeface="Cambria Math" panose="02040503050406030204" pitchFamily="18" charset="0"/>
                                  </a:rPr>
                                  <m:t>0</m:t>
                                </m:r>
                              </m:e>
                              <m:e>
                                <m:r>
                                  <a:rPr lang="en-US" sz="2400" i="0">
                                    <a:latin typeface="Cambria Math" panose="02040503050406030204" pitchFamily="18" charset="0"/>
                                  </a:rPr>
                                  <m:t>1</m:t>
                                </m:r>
                              </m:e>
                            </m:mr>
                            <m:mr>
                              <m:e>
                                <m:r>
                                  <a:rPr lang="en-US" sz="2400" i="0">
                                    <a:latin typeface="Cambria Math" panose="02040503050406030204" pitchFamily="18" charset="0"/>
                                  </a:rPr>
                                  <m:t>1</m:t>
                                </m:r>
                              </m:e>
                              <m:e>
                                <m:r>
                                  <a:rPr lang="en-US" sz="2400" i="0">
                                    <a:latin typeface="Cambria Math" panose="02040503050406030204" pitchFamily="18" charset="0"/>
                                  </a:rPr>
                                  <m:t>0</m:t>
                                </m:r>
                              </m:e>
                            </m:mr>
                          </m:m>
                        </m:e>
                      </m:d>
                      <m:d>
                        <m:dPr>
                          <m:ctrlPr>
                            <a:rPr lang="en-US" sz="2400" i="1">
                              <a:latin typeface="Cambria Math" panose="02040503050406030204" pitchFamily="18" charset="0"/>
                            </a:rPr>
                          </m:ctrlPr>
                        </m:dPr>
                        <m:e>
                          <m:m>
                            <m:mPr>
                              <m:plcHide m:val="on"/>
                              <m:mcs>
                                <m:mc>
                                  <m:mcPr>
                                    <m:count m:val="1"/>
                                    <m:mcJc m:val="center"/>
                                  </m:mcPr>
                                </m:mc>
                              </m:mcs>
                              <m:ctrlPr>
                                <a:rPr lang="en-US" sz="2400" i="1">
                                  <a:latin typeface="Cambria Math" panose="02040503050406030204" pitchFamily="18" charset="0"/>
                                </a:rPr>
                              </m:ctrlPr>
                            </m:mPr>
                            <m:mr>
                              <m:e>
                                <m:r>
                                  <a:rPr lang="en-US" sz="2400" i="0">
                                    <a:latin typeface="Cambria Math" panose="02040503050406030204" pitchFamily="18" charset="0"/>
                                  </a:rPr>
                                  <m:t>0.9808</m:t>
                                </m:r>
                              </m:e>
                            </m:mr>
                            <m:mr>
                              <m:e>
                                <m:r>
                                  <a:rPr lang="en-US" sz="2400" i="0">
                                    <a:latin typeface="Cambria Math" panose="02040503050406030204" pitchFamily="18" charset="0"/>
                                  </a:rPr>
                                  <m:t>0.0747+</m:t>
                                </m:r>
                                <m:r>
                                  <a:rPr lang="en-US" sz="2400" i="1">
                                    <a:latin typeface="Cambria Math" panose="02040503050406030204" pitchFamily="18" charset="0"/>
                                  </a:rPr>
                                  <m:t>𝑖</m:t>
                                </m:r>
                                <m:r>
                                  <a:rPr lang="en-US" sz="2400" b="0" i="0" smtClean="0">
                                    <a:latin typeface="Cambria Math" panose="02040503050406030204" pitchFamily="18" charset="0"/>
                                  </a:rPr>
                                  <m:t> </m:t>
                                </m:r>
                                <m:r>
                                  <a:rPr lang="en-US" sz="2400" i="0">
                                    <a:latin typeface="Cambria Math" panose="02040503050406030204" pitchFamily="18" charset="0"/>
                                  </a:rPr>
                                  <m:t>0.1802</m:t>
                                </m:r>
                              </m:e>
                            </m:mr>
                          </m:m>
                        </m:e>
                      </m:d>
                      <m:r>
                        <a:rPr lang="en-US" sz="2400" i="0">
                          <a:latin typeface="Cambria Math" panose="02040503050406030204" pitchFamily="18" charset="0"/>
                        </a:rPr>
                        <m:t>=</m:t>
                      </m:r>
                      <m:d>
                        <m:dPr>
                          <m:ctrlPr>
                            <a:rPr lang="en-US" sz="2400" i="1">
                              <a:latin typeface="Cambria Math" panose="02040503050406030204" pitchFamily="18" charset="0"/>
                            </a:rPr>
                          </m:ctrlPr>
                        </m:dPr>
                        <m:e>
                          <m:m>
                            <m:mPr>
                              <m:plcHide m:val="on"/>
                              <m:mcs>
                                <m:mc>
                                  <m:mcPr>
                                    <m:count m:val="1"/>
                                    <m:mcJc m:val="center"/>
                                  </m:mcPr>
                                </m:mc>
                              </m:mcs>
                              <m:ctrlPr>
                                <a:rPr lang="en-US" sz="2400" i="1">
                                  <a:latin typeface="Cambria Math" panose="02040503050406030204" pitchFamily="18" charset="0"/>
                                </a:rPr>
                              </m:ctrlPr>
                            </m:mPr>
                            <m:mr>
                              <m:e>
                                <m:r>
                                  <a:rPr lang="en-US" sz="2400" i="0">
                                    <a:latin typeface="Cambria Math" panose="02040503050406030204" pitchFamily="18" charset="0"/>
                                  </a:rPr>
                                  <m:t>0.0747+</m:t>
                                </m:r>
                                <m:r>
                                  <a:rPr lang="en-US" sz="2400" i="1">
                                    <a:latin typeface="Cambria Math" panose="02040503050406030204" pitchFamily="18" charset="0"/>
                                  </a:rPr>
                                  <m:t>𝑖</m:t>
                                </m:r>
                                <m:r>
                                  <a:rPr lang="en-US" sz="2400" b="0" i="0" smtClean="0">
                                    <a:latin typeface="Cambria Math" panose="02040503050406030204" pitchFamily="18" charset="0"/>
                                  </a:rPr>
                                  <m:t> </m:t>
                                </m:r>
                                <m:r>
                                  <a:rPr lang="en-US" sz="2400" i="0">
                                    <a:latin typeface="Cambria Math" panose="02040503050406030204" pitchFamily="18" charset="0"/>
                                  </a:rPr>
                                  <m:t>0.1802</m:t>
                                </m:r>
                              </m:e>
                            </m:mr>
                            <m:mr>
                              <m:e>
                                <m:r>
                                  <a:rPr lang="en-US" sz="2400" i="0">
                                    <a:latin typeface="Cambria Math" panose="02040503050406030204" pitchFamily="18" charset="0"/>
                                  </a:rPr>
                                  <m:t>0.9808</m:t>
                                </m:r>
                              </m:e>
                            </m:mr>
                          </m:m>
                        </m:e>
                      </m:d>
                    </m:oMath>
                  </m:oMathPara>
                </a14:m>
                <a:endParaRPr lang="en-US" sz="2400" dirty="0"/>
              </a:p>
            </p:txBody>
          </p:sp>
        </mc:Choice>
        <mc:Fallback xmlns="">
          <p:sp>
            <p:nvSpPr>
              <p:cNvPr id="13" name="Rectangle 12">
                <a:extLst>
                  <a:ext uri="{FF2B5EF4-FFF2-40B4-BE49-F238E27FC236}">
                    <a16:creationId xmlns:a16="http://schemas.microsoft.com/office/drawing/2014/main" id="{FBB23648-93A3-1F43-B85D-2C0181A7D21D}"/>
                  </a:ext>
                </a:extLst>
              </p:cNvPr>
              <p:cNvSpPr>
                <a:spLocks noRot="1" noChangeAspect="1" noMove="1" noResize="1" noEditPoints="1" noAdjustHandles="1" noChangeArrowheads="1" noChangeShapeType="1" noTextEdit="1"/>
              </p:cNvSpPr>
              <p:nvPr/>
            </p:nvSpPr>
            <p:spPr>
              <a:xfrm>
                <a:off x="4056579" y="4120893"/>
                <a:ext cx="8079712" cy="714363"/>
              </a:xfrm>
              <a:prstGeom prst="rect">
                <a:avLst/>
              </a:prstGeom>
              <a:blipFill>
                <a:blip r:embed="rId5"/>
                <a:stretch>
                  <a:fillRect t="-1754" b="-2105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Rounded Rectangle 14">
                <a:extLst>
                  <a:ext uri="{FF2B5EF4-FFF2-40B4-BE49-F238E27FC236}">
                    <a16:creationId xmlns:a16="http://schemas.microsoft.com/office/drawing/2014/main" id="{2F3BD36C-38E9-CF40-BD78-5830E69D20E8}"/>
                  </a:ext>
                </a:extLst>
              </p:cNvPr>
              <p:cNvSpPr/>
              <p:nvPr/>
            </p:nvSpPr>
            <p:spPr>
              <a:xfrm>
                <a:off x="4555671" y="5284561"/>
                <a:ext cx="6942112" cy="1077685"/>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m>
                        <m:mPr>
                          <m:mcs>
                            <m:mc>
                              <m:mcPr>
                                <m:count m:val="3"/>
                                <m:mcJc m:val="center"/>
                              </m:mcPr>
                            </m:mc>
                          </m:mcs>
                          <m:ctrlPr>
                            <a:rPr lang="sr-Latn-RS" sz="2400" i="1" smtClean="0">
                              <a:solidFill>
                                <a:schemeClr val="tx1"/>
                              </a:solidFill>
                              <a:latin typeface="Cambria Math" panose="02040503050406030204" pitchFamily="18" charset="0"/>
                            </a:rPr>
                          </m:ctrlPr>
                        </m:mPr>
                        <m:mr>
                          <m:e>
                            <m:d>
                              <m:dPr>
                                <m:begChr m:val="|"/>
                                <m:endChr m:val="⟩"/>
                                <m:ctrlPr>
                                  <a:rPr lang="en-US" sz="2400" i="1">
                                    <a:solidFill>
                                      <a:schemeClr val="tx1"/>
                                    </a:solidFill>
                                    <a:latin typeface="Cambria Math" panose="02040503050406030204" pitchFamily="18" charset="0"/>
                                  </a:rPr>
                                </m:ctrlPr>
                              </m:dPr>
                              <m:e>
                                <m:r>
                                  <a:rPr lang="en-US" sz="2400" i="1">
                                    <a:solidFill>
                                      <a:schemeClr val="tx1"/>
                                    </a:solidFill>
                                    <a:latin typeface="Cambria Math" panose="02040503050406030204" pitchFamily="18" charset="0"/>
                                  </a:rPr>
                                  <m:t>𝑆</m:t>
                                </m:r>
                              </m:e>
                            </m:d>
                            <m:r>
                              <a:rPr lang="en-US" sz="2400">
                                <a:solidFill>
                                  <a:schemeClr val="tx1"/>
                                </a:solidFill>
                                <a:latin typeface="Cambria Math" panose="02040503050406030204" pitchFamily="18" charset="0"/>
                              </a:rPr>
                              <m:t>=</m:t>
                            </m:r>
                            <m:r>
                              <a:rPr lang="sr-Latn-RS" sz="2400" i="1">
                                <a:solidFill>
                                  <a:schemeClr val="tx1"/>
                                </a:solidFill>
                                <a:latin typeface="Cambria Math" panose="02040503050406030204" pitchFamily="18" charset="0"/>
                              </a:rPr>
                              <m:t>𝑎</m:t>
                            </m:r>
                            <m:d>
                              <m:dPr>
                                <m:begChr m:val="|"/>
                                <m:endChr m:val="⟩"/>
                                <m:ctrlPr>
                                  <a:rPr lang="en-US" sz="2400" i="1">
                                    <a:solidFill>
                                      <a:schemeClr val="tx1"/>
                                    </a:solidFill>
                                    <a:latin typeface="Cambria Math" panose="02040503050406030204" pitchFamily="18" charset="0"/>
                                  </a:rPr>
                                </m:ctrlPr>
                              </m:dPr>
                              <m:e>
                                <m:r>
                                  <a:rPr lang="en-US" sz="2400">
                                    <a:solidFill>
                                      <a:schemeClr val="tx1"/>
                                    </a:solidFill>
                                    <a:latin typeface="Cambria Math" panose="02040503050406030204" pitchFamily="18" charset="0"/>
                                  </a:rPr>
                                  <m:t>0</m:t>
                                </m:r>
                              </m:e>
                            </m:d>
                            <m:r>
                              <a:rPr lang="en-US" sz="2400">
                                <a:solidFill>
                                  <a:schemeClr val="tx1"/>
                                </a:solidFill>
                                <a:latin typeface="Cambria Math" panose="02040503050406030204" pitchFamily="18" charset="0"/>
                              </a:rPr>
                              <m:t>+</m:t>
                            </m:r>
                            <m:r>
                              <a:rPr lang="sr-Latn-RS" sz="2400" i="1">
                                <a:solidFill>
                                  <a:schemeClr val="tx1"/>
                                </a:solidFill>
                                <a:latin typeface="Cambria Math" panose="02040503050406030204" pitchFamily="18" charset="0"/>
                              </a:rPr>
                              <m:t>𝑏</m:t>
                            </m:r>
                            <m:d>
                              <m:dPr>
                                <m:begChr m:val="|"/>
                                <m:endChr m:val="⟩"/>
                                <m:ctrlPr>
                                  <a:rPr lang="en-US" sz="2400" i="1">
                                    <a:solidFill>
                                      <a:schemeClr val="tx1"/>
                                    </a:solidFill>
                                    <a:latin typeface="Cambria Math" panose="02040503050406030204" pitchFamily="18" charset="0"/>
                                  </a:rPr>
                                </m:ctrlPr>
                              </m:dPr>
                              <m:e>
                                <m:r>
                                  <a:rPr lang="en-US" sz="2400">
                                    <a:solidFill>
                                      <a:schemeClr val="tx1"/>
                                    </a:solidFill>
                                    <a:latin typeface="Cambria Math" panose="02040503050406030204" pitchFamily="18" charset="0"/>
                                  </a:rPr>
                                  <m:t>1</m:t>
                                </m:r>
                              </m:e>
                            </m:d>
                          </m:e>
                          <m:e>
                            <m:r>
                              <a:rPr lang="en-US" sz="2400" i="1">
                                <a:solidFill>
                                  <a:schemeClr val="tx1"/>
                                </a:solidFill>
                                <a:latin typeface="Cambria Math" panose="02040503050406030204" pitchFamily="18" charset="0"/>
                                <a:ea typeface="Cambria Math" panose="02040503050406030204" pitchFamily="18" charset="0"/>
                              </a:rPr>
                              <m:t>→</m:t>
                            </m:r>
                          </m:e>
                          <m:e>
                            <m:r>
                              <a:rPr lang="sr-Latn-RS" sz="2400" i="1">
                                <a:solidFill>
                                  <a:schemeClr val="tx1"/>
                                </a:solidFill>
                                <a:latin typeface="Cambria Math" panose="02040503050406030204" pitchFamily="18" charset="0"/>
                              </a:rPr>
                              <m:t>𝑋</m:t>
                            </m:r>
                            <m:d>
                              <m:dPr>
                                <m:begChr m:val="|"/>
                                <m:endChr m:val="⟩"/>
                                <m:ctrlPr>
                                  <a:rPr lang="en-US" sz="2400" i="1">
                                    <a:solidFill>
                                      <a:schemeClr val="tx1"/>
                                    </a:solidFill>
                                    <a:latin typeface="Cambria Math" panose="02040503050406030204" pitchFamily="18" charset="0"/>
                                  </a:rPr>
                                </m:ctrlPr>
                              </m:dPr>
                              <m:e>
                                <m:r>
                                  <a:rPr lang="en-US" sz="2400" i="1">
                                    <a:solidFill>
                                      <a:schemeClr val="tx1"/>
                                    </a:solidFill>
                                    <a:latin typeface="Cambria Math" panose="02040503050406030204" pitchFamily="18" charset="0"/>
                                  </a:rPr>
                                  <m:t>𝑆</m:t>
                                </m:r>
                              </m:e>
                            </m:d>
                            <m:r>
                              <a:rPr lang="en-US" sz="2400">
                                <a:solidFill>
                                  <a:schemeClr val="tx1"/>
                                </a:solidFill>
                                <a:latin typeface="Cambria Math" panose="02040503050406030204" pitchFamily="18" charset="0"/>
                              </a:rPr>
                              <m:t>=</m:t>
                            </m:r>
                            <m:r>
                              <a:rPr lang="en-US" sz="2400" i="1">
                                <a:solidFill>
                                  <a:schemeClr val="tx1"/>
                                </a:solidFill>
                                <a:latin typeface="Cambria Math" panose="02040503050406030204" pitchFamily="18" charset="0"/>
                              </a:rPr>
                              <m:t>𝑏</m:t>
                            </m:r>
                            <m:d>
                              <m:dPr>
                                <m:begChr m:val="|"/>
                                <m:endChr m:val="⟩"/>
                                <m:ctrlPr>
                                  <a:rPr lang="en-US" sz="2400" i="1">
                                    <a:solidFill>
                                      <a:schemeClr val="tx1"/>
                                    </a:solidFill>
                                    <a:latin typeface="Cambria Math" panose="02040503050406030204" pitchFamily="18" charset="0"/>
                                  </a:rPr>
                                </m:ctrlPr>
                              </m:dPr>
                              <m:e>
                                <m:r>
                                  <a:rPr lang="en-US" sz="2400">
                                    <a:solidFill>
                                      <a:schemeClr val="tx1"/>
                                    </a:solidFill>
                                    <a:latin typeface="Cambria Math" panose="02040503050406030204" pitchFamily="18" charset="0"/>
                                  </a:rPr>
                                  <m:t>0</m:t>
                                </m:r>
                              </m:e>
                            </m:d>
                            <m:r>
                              <a:rPr lang="en-US" sz="2400">
                                <a:solidFill>
                                  <a:schemeClr val="tx1"/>
                                </a:solidFill>
                                <a:latin typeface="Cambria Math" panose="02040503050406030204" pitchFamily="18" charset="0"/>
                              </a:rPr>
                              <m:t>+</m:t>
                            </m:r>
                            <m:r>
                              <a:rPr lang="en-US" sz="2400" i="1">
                                <a:solidFill>
                                  <a:schemeClr val="tx1"/>
                                </a:solidFill>
                                <a:latin typeface="Cambria Math" panose="02040503050406030204" pitchFamily="18" charset="0"/>
                              </a:rPr>
                              <m:t>𝑎</m:t>
                            </m:r>
                            <m:d>
                              <m:dPr>
                                <m:begChr m:val="|"/>
                                <m:endChr m:val="⟩"/>
                                <m:ctrlPr>
                                  <a:rPr lang="en-US" sz="2400" i="1">
                                    <a:solidFill>
                                      <a:schemeClr val="tx1"/>
                                    </a:solidFill>
                                    <a:latin typeface="Cambria Math" panose="02040503050406030204" pitchFamily="18" charset="0"/>
                                  </a:rPr>
                                </m:ctrlPr>
                              </m:dPr>
                              <m:e>
                                <m:r>
                                  <a:rPr lang="en-US" sz="2400">
                                    <a:solidFill>
                                      <a:schemeClr val="tx1"/>
                                    </a:solidFill>
                                    <a:latin typeface="Cambria Math" panose="02040503050406030204" pitchFamily="18" charset="0"/>
                                  </a:rPr>
                                  <m:t>1</m:t>
                                </m:r>
                              </m:e>
                            </m:d>
                          </m:e>
                        </m:mr>
                      </m:m>
                    </m:oMath>
                  </m:oMathPara>
                </a14:m>
                <a:endParaRPr lang="en-US" sz="2400" dirty="0">
                  <a:solidFill>
                    <a:schemeClr val="tx1"/>
                  </a:solidFill>
                </a:endParaRPr>
              </a:p>
            </p:txBody>
          </p:sp>
        </mc:Choice>
        <mc:Fallback xmlns="">
          <p:sp>
            <p:nvSpPr>
              <p:cNvPr id="15" name="Rounded Rectangle 14">
                <a:extLst>
                  <a:ext uri="{FF2B5EF4-FFF2-40B4-BE49-F238E27FC236}">
                    <a16:creationId xmlns:a16="http://schemas.microsoft.com/office/drawing/2014/main" id="{2F3BD36C-38E9-CF40-BD78-5830E69D20E8}"/>
                  </a:ext>
                </a:extLst>
              </p:cNvPr>
              <p:cNvSpPr>
                <a:spLocks noRot="1" noChangeAspect="1" noMove="1" noResize="1" noEditPoints="1" noAdjustHandles="1" noChangeArrowheads="1" noChangeShapeType="1" noTextEdit="1"/>
              </p:cNvSpPr>
              <p:nvPr/>
            </p:nvSpPr>
            <p:spPr>
              <a:xfrm>
                <a:off x="4555671" y="5284561"/>
                <a:ext cx="6942112" cy="1077685"/>
              </a:xfrm>
              <a:prstGeom prst="roundRect">
                <a:avLst/>
              </a:prstGeom>
              <a:blipFill>
                <a:blip r:embed="rId6"/>
                <a:stretch>
                  <a:fillRect/>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3510215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dissolve">
                                      <p:cBhvr>
                                        <p:cTn id="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A294C32-64B4-244F-9890-D47AC4467CF1}"/>
              </a:ext>
            </a:extLst>
          </p:cNvPr>
          <p:cNvPicPr>
            <a:picLocks noChangeAspect="1"/>
          </p:cNvPicPr>
          <p:nvPr/>
        </p:nvPicPr>
        <p:blipFill>
          <a:blip r:embed="rId3"/>
          <a:stretch>
            <a:fillRect/>
          </a:stretch>
        </p:blipFill>
        <p:spPr>
          <a:xfrm>
            <a:off x="486229" y="1545771"/>
            <a:ext cx="3256416" cy="4708072"/>
          </a:xfrm>
          <a:prstGeom prst="rect">
            <a:avLst/>
          </a:prstGeom>
        </p:spPr>
      </p:pic>
      <p:sp>
        <p:nvSpPr>
          <p:cNvPr id="2" name="Slide Number Placeholder 1">
            <a:extLst>
              <a:ext uri="{FF2B5EF4-FFF2-40B4-BE49-F238E27FC236}">
                <a16:creationId xmlns:a16="http://schemas.microsoft.com/office/drawing/2014/main" id="{257580A3-107D-0541-9921-7D7266FD7B26}"/>
              </a:ext>
            </a:extLst>
          </p:cNvPr>
          <p:cNvSpPr>
            <a:spLocks noGrp="1"/>
          </p:cNvSpPr>
          <p:nvPr>
            <p:ph type="sldNum" sz="quarter" idx="12"/>
          </p:nvPr>
        </p:nvSpPr>
        <p:spPr/>
        <p:txBody>
          <a:bodyPr/>
          <a:lstStyle/>
          <a:p>
            <a:fld id="{591A223C-FA10-BC46-A853-03BA373D023C}" type="slidenum">
              <a:rPr lang="en-US" smtClean="0"/>
              <a:t>17</a:t>
            </a:fld>
            <a:endParaRPr lang="en-US"/>
          </a:p>
        </p:txBody>
      </p:sp>
      <p:sp>
        <p:nvSpPr>
          <p:cNvPr id="3" name="Title 2">
            <a:extLst>
              <a:ext uri="{FF2B5EF4-FFF2-40B4-BE49-F238E27FC236}">
                <a16:creationId xmlns:a16="http://schemas.microsoft.com/office/drawing/2014/main" id="{B852EDE8-26D3-8643-A881-CB79B839EE2D}"/>
              </a:ext>
            </a:extLst>
          </p:cNvPr>
          <p:cNvSpPr>
            <a:spLocks noGrp="1"/>
          </p:cNvSpPr>
          <p:nvPr>
            <p:ph type="title"/>
          </p:nvPr>
        </p:nvSpPr>
        <p:spPr/>
        <p:txBody>
          <a:bodyPr/>
          <a:lstStyle/>
          <a:p>
            <a:r>
              <a:rPr lang="en-US" dirty="0"/>
              <a:t>Pauli Y Gate</a:t>
            </a:r>
          </a:p>
        </p:txBody>
      </p:sp>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BA02B77E-10DA-204E-A67E-1E9AE190CC9A}"/>
                  </a:ext>
                </a:extLst>
              </p:cNvPr>
              <p:cNvSpPr/>
              <p:nvPr/>
            </p:nvSpPr>
            <p:spPr>
              <a:xfrm>
                <a:off x="4056579" y="1425229"/>
                <a:ext cx="7595091" cy="141436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200" i="1" smtClean="0">
                              <a:latin typeface="Cambria Math" panose="02040503050406030204" pitchFamily="18" charset="0"/>
                            </a:rPr>
                          </m:ctrlPr>
                        </m:dPr>
                        <m:e>
                          <m:r>
                            <a:rPr lang="en-US" sz="2200" i="1">
                              <a:latin typeface="Cambria Math" panose="02040503050406030204" pitchFamily="18" charset="0"/>
                            </a:rPr>
                            <m:t>𝑆</m:t>
                          </m:r>
                        </m:e>
                      </m:d>
                      <m:r>
                        <a:rPr lang="en-US" sz="2200" i="0">
                          <a:latin typeface="Cambria Math" panose="02040503050406030204" pitchFamily="18" charset="0"/>
                        </a:rPr>
                        <m:t>=</m:t>
                      </m:r>
                      <m:d>
                        <m:dPr>
                          <m:ctrlPr>
                            <a:rPr lang="en-US" sz="2200" i="1">
                              <a:latin typeface="Cambria Math" panose="02040503050406030204" pitchFamily="18" charset="0"/>
                            </a:rPr>
                          </m:ctrlPr>
                        </m:dPr>
                        <m:e>
                          <m:m>
                            <m:mPr>
                              <m:plcHide m:val="on"/>
                              <m:mcs>
                                <m:mc>
                                  <m:mcPr>
                                    <m:count m:val="1"/>
                                    <m:mcJc m:val="center"/>
                                  </m:mcPr>
                                </m:mc>
                              </m:mcs>
                              <m:ctrlPr>
                                <a:rPr lang="en-US" sz="2200" i="1">
                                  <a:latin typeface="Cambria Math" panose="02040503050406030204" pitchFamily="18" charset="0"/>
                                </a:rPr>
                              </m:ctrlPr>
                            </m:mPr>
                            <m:mr>
                              <m:e>
                                <m:func>
                                  <m:funcPr>
                                    <m:ctrlPr>
                                      <a:rPr lang="en-US" sz="2200" i="1">
                                        <a:latin typeface="Cambria Math" panose="02040503050406030204" pitchFamily="18" charset="0"/>
                                      </a:rPr>
                                    </m:ctrlPr>
                                  </m:funcPr>
                                  <m:fName>
                                    <m:r>
                                      <a:rPr lang="en-US" sz="2200" i="1">
                                        <a:latin typeface="Cambria Math" panose="02040503050406030204" pitchFamily="18" charset="0"/>
                                      </a:rPr>
                                      <m:t>𝑐𝑜𝑠</m:t>
                                    </m:r>
                                  </m:fName>
                                  <m:e>
                                    <m:f>
                                      <m:fPr>
                                        <m:ctrlPr>
                                          <a:rPr lang="en-US" sz="2200" i="1">
                                            <a:latin typeface="Cambria Math" panose="02040503050406030204" pitchFamily="18" charset="0"/>
                                          </a:rPr>
                                        </m:ctrlPr>
                                      </m:fPr>
                                      <m:num>
                                        <m:r>
                                          <a:rPr lang="en-US" sz="2200" i="1">
                                            <a:latin typeface="Cambria Math" panose="02040503050406030204" pitchFamily="18" charset="0"/>
                                          </a:rPr>
                                          <m:t>𝜃</m:t>
                                        </m:r>
                                      </m:num>
                                      <m:den>
                                        <m:r>
                                          <a:rPr lang="en-US" sz="2200" i="0">
                                            <a:latin typeface="Cambria Math" panose="02040503050406030204" pitchFamily="18" charset="0"/>
                                          </a:rPr>
                                          <m:t>2</m:t>
                                        </m:r>
                                      </m:den>
                                    </m:f>
                                  </m:e>
                                </m:func>
                              </m:e>
                            </m:mr>
                            <m:mr>
                              <m:e>
                                <m:sSup>
                                  <m:sSupPr>
                                    <m:ctrlPr>
                                      <a:rPr lang="en-US" sz="2200" i="1">
                                        <a:latin typeface="Cambria Math" panose="02040503050406030204" pitchFamily="18" charset="0"/>
                                      </a:rPr>
                                    </m:ctrlPr>
                                  </m:sSupPr>
                                  <m:e>
                                    <m:r>
                                      <a:rPr lang="en-US" sz="2200" i="1">
                                        <a:latin typeface="Cambria Math" panose="02040503050406030204" pitchFamily="18" charset="0"/>
                                      </a:rPr>
                                      <m:t>𝑒</m:t>
                                    </m:r>
                                  </m:e>
                                  <m:sup>
                                    <m:r>
                                      <a:rPr lang="en-US" sz="2200" i="1">
                                        <a:latin typeface="Cambria Math" panose="02040503050406030204" pitchFamily="18" charset="0"/>
                                      </a:rPr>
                                      <m:t>𝑖</m:t>
                                    </m:r>
                                    <m:r>
                                      <a:rPr lang="en-US" sz="2200" i="1">
                                        <a:latin typeface="Cambria Math" panose="02040503050406030204" pitchFamily="18" charset="0"/>
                                      </a:rPr>
                                      <m:t>𝜑</m:t>
                                    </m:r>
                                  </m:sup>
                                </m:sSup>
                                <m:func>
                                  <m:funcPr>
                                    <m:ctrlPr>
                                      <a:rPr lang="en-US" sz="2200" i="1">
                                        <a:latin typeface="Cambria Math" panose="02040503050406030204" pitchFamily="18" charset="0"/>
                                      </a:rPr>
                                    </m:ctrlPr>
                                  </m:funcPr>
                                  <m:fName>
                                    <m:r>
                                      <a:rPr lang="en-US" sz="2200" i="1">
                                        <a:latin typeface="Cambria Math" panose="02040503050406030204" pitchFamily="18" charset="0"/>
                                      </a:rPr>
                                      <m:t>𝑠𝑖𝑛</m:t>
                                    </m:r>
                                  </m:fName>
                                  <m:e>
                                    <m:f>
                                      <m:fPr>
                                        <m:ctrlPr>
                                          <a:rPr lang="en-US" sz="2200" i="1">
                                            <a:latin typeface="Cambria Math" panose="02040503050406030204" pitchFamily="18" charset="0"/>
                                          </a:rPr>
                                        </m:ctrlPr>
                                      </m:fPr>
                                      <m:num>
                                        <m:r>
                                          <a:rPr lang="en-US" sz="2200" i="1">
                                            <a:latin typeface="Cambria Math" panose="02040503050406030204" pitchFamily="18" charset="0"/>
                                          </a:rPr>
                                          <m:t>𝜃</m:t>
                                        </m:r>
                                      </m:num>
                                      <m:den>
                                        <m:r>
                                          <a:rPr lang="en-US" sz="2200" i="0">
                                            <a:latin typeface="Cambria Math" panose="02040503050406030204" pitchFamily="18" charset="0"/>
                                          </a:rPr>
                                          <m:t>2</m:t>
                                        </m:r>
                                      </m:den>
                                    </m:f>
                                  </m:e>
                                </m:func>
                              </m:e>
                            </m:mr>
                          </m:m>
                        </m:e>
                      </m:d>
                      <m:r>
                        <a:rPr lang="en-US" sz="2200" i="0">
                          <a:latin typeface="Cambria Math" panose="02040503050406030204" pitchFamily="18" charset="0"/>
                        </a:rPr>
                        <m:t>=</m:t>
                      </m:r>
                      <m:d>
                        <m:dPr>
                          <m:ctrlPr>
                            <a:rPr lang="en-US" sz="2200" i="1">
                              <a:latin typeface="Cambria Math" panose="02040503050406030204" pitchFamily="18" charset="0"/>
                            </a:rPr>
                          </m:ctrlPr>
                        </m:dPr>
                        <m:e>
                          <m:m>
                            <m:mPr>
                              <m:plcHide m:val="on"/>
                              <m:mcs>
                                <m:mc>
                                  <m:mcPr>
                                    <m:count m:val="1"/>
                                    <m:mcJc m:val="center"/>
                                  </m:mcPr>
                                </m:mc>
                              </m:mcs>
                              <m:ctrlPr>
                                <a:rPr lang="en-US" sz="2200" i="1">
                                  <a:latin typeface="Cambria Math" panose="02040503050406030204" pitchFamily="18" charset="0"/>
                                </a:rPr>
                              </m:ctrlPr>
                            </m:mPr>
                            <m:mr>
                              <m:e>
                                <m:func>
                                  <m:funcPr>
                                    <m:ctrlPr>
                                      <a:rPr lang="en-US" sz="2200" i="1">
                                        <a:latin typeface="Cambria Math" panose="02040503050406030204" pitchFamily="18" charset="0"/>
                                      </a:rPr>
                                    </m:ctrlPr>
                                  </m:funcPr>
                                  <m:fName>
                                    <m:r>
                                      <a:rPr lang="en-US" sz="2200" i="1">
                                        <a:latin typeface="Cambria Math" panose="02040503050406030204" pitchFamily="18" charset="0"/>
                                      </a:rPr>
                                      <m:t>𝑐𝑜𝑠</m:t>
                                    </m:r>
                                  </m:fName>
                                  <m:e>
                                    <m:f>
                                      <m:fPr>
                                        <m:ctrlPr>
                                          <a:rPr lang="en-US" sz="2200" i="1">
                                            <a:latin typeface="Cambria Math" panose="02040503050406030204" pitchFamily="18" charset="0"/>
                                          </a:rPr>
                                        </m:ctrlPr>
                                      </m:fPr>
                                      <m:num>
                                        <m:r>
                                          <a:rPr lang="en-US" sz="2200" i="1">
                                            <a:latin typeface="Cambria Math" panose="02040503050406030204" pitchFamily="18" charset="0"/>
                                          </a:rPr>
                                          <m:t>𝜋</m:t>
                                        </m:r>
                                      </m:num>
                                      <m:den>
                                        <m:r>
                                          <a:rPr lang="en-US" sz="2200" i="0">
                                            <a:latin typeface="Cambria Math" panose="02040503050406030204" pitchFamily="18" charset="0"/>
                                          </a:rPr>
                                          <m:t>16</m:t>
                                        </m:r>
                                      </m:den>
                                    </m:f>
                                  </m:e>
                                </m:func>
                              </m:e>
                            </m:mr>
                            <m:mr>
                              <m:e>
                                <m:sSup>
                                  <m:sSupPr>
                                    <m:ctrlPr>
                                      <a:rPr lang="en-US" sz="2200" i="1">
                                        <a:latin typeface="Cambria Math" panose="02040503050406030204" pitchFamily="18" charset="0"/>
                                      </a:rPr>
                                    </m:ctrlPr>
                                  </m:sSupPr>
                                  <m:e>
                                    <m:r>
                                      <a:rPr lang="en-US" sz="2200" i="1">
                                        <a:latin typeface="Cambria Math" panose="02040503050406030204" pitchFamily="18" charset="0"/>
                                      </a:rPr>
                                      <m:t>𝑒</m:t>
                                    </m:r>
                                  </m:e>
                                  <m:sup>
                                    <m:r>
                                      <a:rPr lang="en-US" sz="2200" i="1">
                                        <a:latin typeface="Cambria Math" panose="02040503050406030204" pitchFamily="18" charset="0"/>
                                      </a:rPr>
                                      <m:t>𝑖</m:t>
                                    </m:r>
                                    <m:r>
                                      <a:rPr lang="en-US" sz="2200" i="0">
                                        <a:latin typeface="Cambria Math" panose="02040503050406030204" pitchFamily="18" charset="0"/>
                                      </a:rPr>
                                      <m:t>3</m:t>
                                    </m:r>
                                    <m:f>
                                      <m:fPr>
                                        <m:type m:val="lin"/>
                                        <m:ctrlPr>
                                          <a:rPr lang="en-US" sz="2200" i="1">
                                            <a:latin typeface="Cambria Math" panose="02040503050406030204" pitchFamily="18" charset="0"/>
                                          </a:rPr>
                                        </m:ctrlPr>
                                      </m:fPr>
                                      <m:num>
                                        <m:r>
                                          <a:rPr lang="en-US" sz="2200" i="1">
                                            <a:latin typeface="Cambria Math" panose="02040503050406030204" pitchFamily="18" charset="0"/>
                                          </a:rPr>
                                          <m:t>𝜋</m:t>
                                        </m:r>
                                      </m:num>
                                      <m:den>
                                        <m:r>
                                          <a:rPr lang="en-US" sz="2200" i="0">
                                            <a:latin typeface="Cambria Math" panose="02040503050406030204" pitchFamily="18" charset="0"/>
                                          </a:rPr>
                                          <m:t>8</m:t>
                                        </m:r>
                                      </m:den>
                                    </m:f>
                                  </m:sup>
                                </m:sSup>
                                <m:func>
                                  <m:funcPr>
                                    <m:ctrlPr>
                                      <a:rPr lang="en-US" sz="2200" i="1">
                                        <a:latin typeface="Cambria Math" panose="02040503050406030204" pitchFamily="18" charset="0"/>
                                      </a:rPr>
                                    </m:ctrlPr>
                                  </m:funcPr>
                                  <m:fName>
                                    <m:r>
                                      <a:rPr lang="en-US" sz="2200" i="1">
                                        <a:latin typeface="Cambria Math" panose="02040503050406030204" pitchFamily="18" charset="0"/>
                                      </a:rPr>
                                      <m:t>𝑠𝑖𝑛</m:t>
                                    </m:r>
                                  </m:fName>
                                  <m:e>
                                    <m:f>
                                      <m:fPr>
                                        <m:ctrlPr>
                                          <a:rPr lang="en-US" sz="2200" i="1">
                                            <a:latin typeface="Cambria Math" panose="02040503050406030204" pitchFamily="18" charset="0"/>
                                          </a:rPr>
                                        </m:ctrlPr>
                                      </m:fPr>
                                      <m:num>
                                        <m:r>
                                          <a:rPr lang="en-US" sz="2200" i="1">
                                            <a:latin typeface="Cambria Math" panose="02040503050406030204" pitchFamily="18" charset="0"/>
                                          </a:rPr>
                                          <m:t>𝜋</m:t>
                                        </m:r>
                                      </m:num>
                                      <m:den>
                                        <m:r>
                                          <a:rPr lang="en-US" sz="2200" i="0">
                                            <a:latin typeface="Cambria Math" panose="02040503050406030204" pitchFamily="18" charset="0"/>
                                          </a:rPr>
                                          <m:t>16</m:t>
                                        </m:r>
                                      </m:den>
                                    </m:f>
                                  </m:e>
                                </m:func>
                              </m:e>
                            </m:mr>
                          </m:m>
                        </m:e>
                      </m:d>
                      <m:r>
                        <a:rPr lang="en-US" sz="2200" i="0">
                          <a:latin typeface="Cambria Math" panose="02040503050406030204" pitchFamily="18" charset="0"/>
                        </a:rPr>
                        <m:t>=</m:t>
                      </m:r>
                      <m:d>
                        <m:dPr>
                          <m:ctrlPr>
                            <a:rPr lang="en-US" sz="2200" i="1">
                              <a:latin typeface="Cambria Math" panose="02040503050406030204" pitchFamily="18" charset="0"/>
                            </a:rPr>
                          </m:ctrlPr>
                        </m:dPr>
                        <m:e>
                          <m:m>
                            <m:mPr>
                              <m:plcHide m:val="on"/>
                              <m:mcs>
                                <m:mc>
                                  <m:mcPr>
                                    <m:count m:val="1"/>
                                    <m:mcJc m:val="center"/>
                                  </m:mcPr>
                                </m:mc>
                              </m:mcs>
                              <m:ctrlPr>
                                <a:rPr lang="en-US" sz="2200" i="1">
                                  <a:latin typeface="Cambria Math" panose="02040503050406030204" pitchFamily="18" charset="0"/>
                                </a:rPr>
                              </m:ctrlPr>
                            </m:mPr>
                            <m:mr>
                              <m:e>
                                <m:r>
                                  <a:rPr lang="en-US" sz="2200" i="0">
                                    <a:latin typeface="Cambria Math" panose="02040503050406030204" pitchFamily="18" charset="0"/>
                                  </a:rPr>
                                  <m:t>0.9808</m:t>
                                </m:r>
                              </m:e>
                            </m:mr>
                            <m:mr>
                              <m:e>
                                <m:r>
                                  <a:rPr lang="en-US" sz="2200" i="0">
                                    <a:latin typeface="Cambria Math" panose="02040503050406030204" pitchFamily="18" charset="0"/>
                                  </a:rPr>
                                  <m:t>0.0747+</m:t>
                                </m:r>
                                <m:r>
                                  <a:rPr lang="en-US" sz="2200" b="0" i="1" smtClean="0">
                                    <a:latin typeface="Cambria Math" panose="02040503050406030204" pitchFamily="18" charset="0"/>
                                  </a:rPr>
                                  <m:t>𝑖</m:t>
                                </m:r>
                                <m:r>
                                  <a:rPr lang="en-US" sz="2200" b="0" i="0" smtClean="0">
                                    <a:latin typeface="Cambria Math" panose="02040503050406030204" pitchFamily="18" charset="0"/>
                                  </a:rPr>
                                  <m:t> </m:t>
                                </m:r>
                                <m:r>
                                  <a:rPr lang="en-US" sz="2200" i="0">
                                    <a:latin typeface="Cambria Math" panose="02040503050406030204" pitchFamily="18" charset="0"/>
                                  </a:rPr>
                                  <m:t>0.1802</m:t>
                                </m:r>
                              </m:e>
                            </m:mr>
                          </m:m>
                        </m:e>
                      </m:d>
                    </m:oMath>
                  </m:oMathPara>
                </a14:m>
                <a:endParaRPr lang="en-US" sz="2200" dirty="0"/>
              </a:p>
            </p:txBody>
          </p:sp>
        </mc:Choice>
        <mc:Fallback xmlns="">
          <p:sp>
            <p:nvSpPr>
              <p:cNvPr id="8" name="Rectangle 7">
                <a:extLst>
                  <a:ext uri="{FF2B5EF4-FFF2-40B4-BE49-F238E27FC236}">
                    <a16:creationId xmlns:a16="http://schemas.microsoft.com/office/drawing/2014/main" id="{BA02B77E-10DA-204E-A67E-1E9AE190CC9A}"/>
                  </a:ext>
                </a:extLst>
              </p:cNvPr>
              <p:cNvSpPr>
                <a:spLocks noRot="1" noChangeAspect="1" noMove="1" noResize="1" noEditPoints="1" noAdjustHandles="1" noChangeArrowheads="1" noChangeShapeType="1" noTextEdit="1"/>
              </p:cNvSpPr>
              <p:nvPr/>
            </p:nvSpPr>
            <p:spPr>
              <a:xfrm>
                <a:off x="4056579" y="1425229"/>
                <a:ext cx="7595091" cy="1414362"/>
              </a:xfrm>
              <a:prstGeom prst="rect">
                <a:avLst/>
              </a:prstGeom>
              <a:blipFill>
                <a:blip r:embed="rId4"/>
                <a:stretch>
                  <a:fillRect b="-2035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66156DF2-3ABE-494E-B37A-4A159086710C}"/>
                  </a:ext>
                </a:extLst>
              </p:cNvPr>
              <p:cNvSpPr/>
              <p:nvPr/>
            </p:nvSpPr>
            <p:spPr>
              <a:xfrm>
                <a:off x="3781407" y="4224790"/>
                <a:ext cx="8225585" cy="71436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rPr>
                        <m:t>𝑌</m:t>
                      </m:r>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𝑆</m:t>
                          </m:r>
                        </m:e>
                      </m:d>
                      <m:r>
                        <a:rPr lang="en-US" sz="2400" i="0">
                          <a:latin typeface="Cambria Math" panose="02040503050406030204" pitchFamily="18" charset="0"/>
                        </a:rPr>
                        <m:t>=</m:t>
                      </m:r>
                      <m:d>
                        <m:dPr>
                          <m:ctrlPr>
                            <a:rPr lang="en-US" sz="2400" i="1">
                              <a:latin typeface="Cambria Math" panose="02040503050406030204" pitchFamily="18" charset="0"/>
                            </a:rPr>
                          </m:ctrlPr>
                        </m:dPr>
                        <m:e>
                          <m:m>
                            <m:mPr>
                              <m:plcHide m:val="on"/>
                              <m:mcs>
                                <m:mc>
                                  <m:mcPr>
                                    <m:count m:val="2"/>
                                    <m:mcJc m:val="center"/>
                                  </m:mcPr>
                                </m:mc>
                              </m:mcs>
                              <m:ctrlPr>
                                <a:rPr lang="en-US" sz="2400" i="1">
                                  <a:latin typeface="Cambria Math" panose="02040503050406030204" pitchFamily="18" charset="0"/>
                                </a:rPr>
                              </m:ctrlPr>
                            </m:mPr>
                            <m:mr>
                              <m:e>
                                <m:r>
                                  <a:rPr lang="en-US" sz="2400" i="0">
                                    <a:latin typeface="Cambria Math" panose="02040503050406030204" pitchFamily="18" charset="0"/>
                                  </a:rPr>
                                  <m:t>0</m:t>
                                </m:r>
                              </m:e>
                              <m:e>
                                <m:r>
                                  <a:rPr lang="en-US" sz="2400" i="0">
                                    <a:latin typeface="Cambria Math" panose="02040503050406030204" pitchFamily="18" charset="0"/>
                                  </a:rPr>
                                  <m:t>−</m:t>
                                </m:r>
                                <m:r>
                                  <a:rPr lang="en-US" sz="2400" i="1">
                                    <a:latin typeface="Cambria Math" panose="02040503050406030204" pitchFamily="18" charset="0"/>
                                  </a:rPr>
                                  <m:t>𝑖</m:t>
                                </m:r>
                              </m:e>
                            </m:mr>
                            <m:mr>
                              <m:e>
                                <m:r>
                                  <a:rPr lang="en-US" sz="2400" i="1">
                                    <a:latin typeface="Cambria Math" panose="02040503050406030204" pitchFamily="18" charset="0"/>
                                  </a:rPr>
                                  <m:t>𝑖</m:t>
                                </m:r>
                              </m:e>
                              <m:e>
                                <m:r>
                                  <a:rPr lang="en-US" sz="2400" i="0">
                                    <a:latin typeface="Cambria Math" panose="02040503050406030204" pitchFamily="18" charset="0"/>
                                  </a:rPr>
                                  <m:t>0</m:t>
                                </m:r>
                              </m:e>
                            </m:mr>
                          </m:m>
                        </m:e>
                      </m:d>
                      <m:d>
                        <m:dPr>
                          <m:ctrlPr>
                            <a:rPr lang="en-US" sz="2400" i="1">
                              <a:latin typeface="Cambria Math" panose="02040503050406030204" pitchFamily="18" charset="0"/>
                            </a:rPr>
                          </m:ctrlPr>
                        </m:dPr>
                        <m:e>
                          <m:m>
                            <m:mPr>
                              <m:plcHide m:val="on"/>
                              <m:mcs>
                                <m:mc>
                                  <m:mcPr>
                                    <m:count m:val="1"/>
                                    <m:mcJc m:val="center"/>
                                  </m:mcPr>
                                </m:mc>
                              </m:mcs>
                              <m:ctrlPr>
                                <a:rPr lang="en-US" sz="2400" i="1">
                                  <a:latin typeface="Cambria Math" panose="02040503050406030204" pitchFamily="18" charset="0"/>
                                </a:rPr>
                              </m:ctrlPr>
                            </m:mPr>
                            <m:mr>
                              <m:e>
                                <m:r>
                                  <a:rPr lang="en-US" sz="2400" i="0">
                                    <a:latin typeface="Cambria Math" panose="02040503050406030204" pitchFamily="18" charset="0"/>
                                  </a:rPr>
                                  <m:t>0.9808</m:t>
                                </m:r>
                              </m:e>
                            </m:mr>
                            <m:mr>
                              <m:e>
                                <m:r>
                                  <a:rPr lang="en-US" sz="2400" i="0">
                                    <a:latin typeface="Cambria Math" panose="02040503050406030204" pitchFamily="18" charset="0"/>
                                  </a:rPr>
                                  <m:t>0.0747+</m:t>
                                </m:r>
                                <m:r>
                                  <a:rPr lang="en-US" sz="2400" b="0" i="1" smtClean="0">
                                    <a:latin typeface="Cambria Math" panose="02040503050406030204" pitchFamily="18" charset="0"/>
                                  </a:rPr>
                                  <m:t>𝑖</m:t>
                                </m:r>
                                <m:r>
                                  <a:rPr lang="en-US" sz="2400" b="0" i="0" smtClean="0">
                                    <a:latin typeface="Cambria Math" panose="02040503050406030204" pitchFamily="18" charset="0"/>
                                  </a:rPr>
                                  <m:t> </m:t>
                                </m:r>
                                <m:r>
                                  <a:rPr lang="en-US" sz="2400" i="0">
                                    <a:latin typeface="Cambria Math" panose="02040503050406030204" pitchFamily="18" charset="0"/>
                                  </a:rPr>
                                  <m:t>0.1802</m:t>
                                </m:r>
                              </m:e>
                            </m:mr>
                          </m:m>
                        </m:e>
                      </m:d>
                      <m:r>
                        <a:rPr lang="en-US" sz="2400" i="0">
                          <a:latin typeface="Cambria Math" panose="02040503050406030204" pitchFamily="18" charset="0"/>
                        </a:rPr>
                        <m:t>=</m:t>
                      </m:r>
                      <m:d>
                        <m:dPr>
                          <m:ctrlPr>
                            <a:rPr lang="en-US" sz="2400" i="1">
                              <a:latin typeface="Cambria Math" panose="02040503050406030204" pitchFamily="18" charset="0"/>
                            </a:rPr>
                          </m:ctrlPr>
                        </m:dPr>
                        <m:e>
                          <m:m>
                            <m:mPr>
                              <m:plcHide m:val="on"/>
                              <m:mcs>
                                <m:mc>
                                  <m:mcPr>
                                    <m:count m:val="1"/>
                                    <m:mcJc m:val="center"/>
                                  </m:mcPr>
                                </m:mc>
                              </m:mcs>
                              <m:ctrlPr>
                                <a:rPr lang="en-US" sz="2400" i="1">
                                  <a:latin typeface="Cambria Math" panose="02040503050406030204" pitchFamily="18" charset="0"/>
                                </a:rPr>
                              </m:ctrlPr>
                            </m:mPr>
                            <m:mr>
                              <m:e>
                                <m:r>
                                  <a:rPr lang="en-US" sz="2400" i="0">
                                    <a:latin typeface="Cambria Math" panose="02040503050406030204" pitchFamily="18" charset="0"/>
                                  </a:rPr>
                                  <m:t>0.1802−</m:t>
                                </m:r>
                                <m:r>
                                  <a:rPr lang="en-US" sz="2400" b="0" i="1" smtClean="0">
                                    <a:latin typeface="Cambria Math" panose="02040503050406030204" pitchFamily="18" charset="0"/>
                                  </a:rPr>
                                  <m:t>𝑖</m:t>
                                </m:r>
                                <m:r>
                                  <a:rPr lang="en-US" sz="2400" b="0" i="0" smtClean="0">
                                    <a:latin typeface="Cambria Math" panose="02040503050406030204" pitchFamily="18" charset="0"/>
                                  </a:rPr>
                                  <m:t> </m:t>
                                </m:r>
                                <m:r>
                                  <a:rPr lang="en-US" sz="2400" i="0">
                                    <a:latin typeface="Cambria Math" panose="02040503050406030204" pitchFamily="18" charset="0"/>
                                  </a:rPr>
                                  <m:t>0.0747</m:t>
                                </m:r>
                              </m:e>
                            </m:mr>
                            <m:mr>
                              <m:e>
                                <m:r>
                                  <a:rPr lang="en-US" sz="2400" b="0" i="1" smtClean="0">
                                    <a:latin typeface="Cambria Math" panose="02040503050406030204" pitchFamily="18" charset="0"/>
                                  </a:rPr>
                                  <m:t>𝑖</m:t>
                                </m:r>
                                <m:r>
                                  <a:rPr lang="en-US" sz="2400" b="0" i="0" smtClean="0">
                                    <a:latin typeface="Cambria Math" panose="02040503050406030204" pitchFamily="18" charset="0"/>
                                  </a:rPr>
                                  <m:t> </m:t>
                                </m:r>
                                <m:r>
                                  <a:rPr lang="en-US" sz="2400" i="0">
                                    <a:latin typeface="Cambria Math" panose="02040503050406030204" pitchFamily="18" charset="0"/>
                                  </a:rPr>
                                  <m:t>0.9808</m:t>
                                </m:r>
                              </m:e>
                            </m:mr>
                          </m:m>
                        </m:e>
                      </m:d>
                    </m:oMath>
                  </m:oMathPara>
                </a14:m>
                <a:endParaRPr lang="en-US" sz="2400" dirty="0"/>
              </a:p>
            </p:txBody>
          </p:sp>
        </mc:Choice>
        <mc:Fallback xmlns="">
          <p:sp>
            <p:nvSpPr>
              <p:cNvPr id="6" name="Rectangle 5">
                <a:extLst>
                  <a:ext uri="{FF2B5EF4-FFF2-40B4-BE49-F238E27FC236}">
                    <a16:creationId xmlns:a16="http://schemas.microsoft.com/office/drawing/2014/main" id="{66156DF2-3ABE-494E-B37A-4A159086710C}"/>
                  </a:ext>
                </a:extLst>
              </p:cNvPr>
              <p:cNvSpPr>
                <a:spLocks noRot="1" noChangeAspect="1" noMove="1" noResize="1" noEditPoints="1" noAdjustHandles="1" noChangeArrowheads="1" noChangeShapeType="1" noTextEdit="1"/>
              </p:cNvSpPr>
              <p:nvPr/>
            </p:nvSpPr>
            <p:spPr>
              <a:xfrm>
                <a:off x="3781407" y="4224790"/>
                <a:ext cx="8225585" cy="714363"/>
              </a:xfrm>
              <a:prstGeom prst="rect">
                <a:avLst/>
              </a:prstGeom>
              <a:blipFill>
                <a:blip r:embed="rId5"/>
                <a:stretch>
                  <a:fillRect t="-1754" b="-2280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Rounded Rectangle 9">
                <a:extLst>
                  <a:ext uri="{FF2B5EF4-FFF2-40B4-BE49-F238E27FC236}">
                    <a16:creationId xmlns:a16="http://schemas.microsoft.com/office/drawing/2014/main" id="{E01E2A9C-0803-8A4E-BFB7-4F162D3F067E}"/>
                  </a:ext>
                </a:extLst>
              </p:cNvPr>
              <p:cNvSpPr/>
              <p:nvPr/>
            </p:nvSpPr>
            <p:spPr>
              <a:xfrm>
                <a:off x="4555671" y="5284561"/>
                <a:ext cx="6942112" cy="1077685"/>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m>
                        <m:mPr>
                          <m:mcs>
                            <m:mc>
                              <m:mcPr>
                                <m:count m:val="3"/>
                                <m:mcJc m:val="center"/>
                              </m:mcPr>
                            </m:mc>
                          </m:mcs>
                          <m:ctrlPr>
                            <a:rPr lang="sr-Latn-RS" sz="2400" i="1" smtClean="0">
                              <a:solidFill>
                                <a:schemeClr val="tx1"/>
                              </a:solidFill>
                              <a:latin typeface="Cambria Math" panose="02040503050406030204" pitchFamily="18" charset="0"/>
                            </a:rPr>
                          </m:ctrlPr>
                        </m:mPr>
                        <m:mr>
                          <m:e>
                            <m:d>
                              <m:dPr>
                                <m:begChr m:val="|"/>
                                <m:endChr m:val="⟩"/>
                                <m:ctrlPr>
                                  <a:rPr lang="en-US" sz="2400" i="1">
                                    <a:solidFill>
                                      <a:schemeClr val="tx1"/>
                                    </a:solidFill>
                                    <a:latin typeface="Cambria Math" panose="02040503050406030204" pitchFamily="18" charset="0"/>
                                  </a:rPr>
                                </m:ctrlPr>
                              </m:dPr>
                              <m:e>
                                <m:r>
                                  <a:rPr lang="en-US" sz="2400" i="1">
                                    <a:solidFill>
                                      <a:schemeClr val="tx1"/>
                                    </a:solidFill>
                                    <a:latin typeface="Cambria Math" panose="02040503050406030204" pitchFamily="18" charset="0"/>
                                  </a:rPr>
                                  <m:t>𝑆</m:t>
                                </m:r>
                              </m:e>
                            </m:d>
                            <m:r>
                              <a:rPr lang="en-US" sz="2400">
                                <a:solidFill>
                                  <a:schemeClr val="tx1"/>
                                </a:solidFill>
                                <a:latin typeface="Cambria Math" panose="02040503050406030204" pitchFamily="18" charset="0"/>
                              </a:rPr>
                              <m:t>=</m:t>
                            </m:r>
                            <m:r>
                              <a:rPr lang="sr-Latn-RS" sz="2400" i="1">
                                <a:solidFill>
                                  <a:schemeClr val="tx1"/>
                                </a:solidFill>
                                <a:latin typeface="Cambria Math" panose="02040503050406030204" pitchFamily="18" charset="0"/>
                              </a:rPr>
                              <m:t>𝑎</m:t>
                            </m:r>
                            <m:d>
                              <m:dPr>
                                <m:begChr m:val="|"/>
                                <m:endChr m:val="⟩"/>
                                <m:ctrlPr>
                                  <a:rPr lang="en-US" sz="2400" i="1">
                                    <a:solidFill>
                                      <a:schemeClr val="tx1"/>
                                    </a:solidFill>
                                    <a:latin typeface="Cambria Math" panose="02040503050406030204" pitchFamily="18" charset="0"/>
                                  </a:rPr>
                                </m:ctrlPr>
                              </m:dPr>
                              <m:e>
                                <m:r>
                                  <a:rPr lang="en-US" sz="2400">
                                    <a:solidFill>
                                      <a:schemeClr val="tx1"/>
                                    </a:solidFill>
                                    <a:latin typeface="Cambria Math" panose="02040503050406030204" pitchFamily="18" charset="0"/>
                                  </a:rPr>
                                  <m:t>0</m:t>
                                </m:r>
                              </m:e>
                            </m:d>
                            <m:r>
                              <a:rPr lang="en-US" sz="2400">
                                <a:solidFill>
                                  <a:schemeClr val="tx1"/>
                                </a:solidFill>
                                <a:latin typeface="Cambria Math" panose="02040503050406030204" pitchFamily="18" charset="0"/>
                              </a:rPr>
                              <m:t>+</m:t>
                            </m:r>
                            <m:r>
                              <a:rPr lang="sr-Latn-RS" sz="2400" i="1">
                                <a:solidFill>
                                  <a:schemeClr val="tx1"/>
                                </a:solidFill>
                                <a:latin typeface="Cambria Math" panose="02040503050406030204" pitchFamily="18" charset="0"/>
                              </a:rPr>
                              <m:t>𝑏</m:t>
                            </m:r>
                            <m:d>
                              <m:dPr>
                                <m:begChr m:val="|"/>
                                <m:endChr m:val="⟩"/>
                                <m:ctrlPr>
                                  <a:rPr lang="en-US" sz="2400" i="1">
                                    <a:solidFill>
                                      <a:schemeClr val="tx1"/>
                                    </a:solidFill>
                                    <a:latin typeface="Cambria Math" panose="02040503050406030204" pitchFamily="18" charset="0"/>
                                  </a:rPr>
                                </m:ctrlPr>
                              </m:dPr>
                              <m:e>
                                <m:r>
                                  <a:rPr lang="en-US" sz="2400">
                                    <a:solidFill>
                                      <a:schemeClr val="tx1"/>
                                    </a:solidFill>
                                    <a:latin typeface="Cambria Math" panose="02040503050406030204" pitchFamily="18" charset="0"/>
                                  </a:rPr>
                                  <m:t>1</m:t>
                                </m:r>
                              </m:e>
                            </m:d>
                          </m:e>
                          <m:e>
                            <m:r>
                              <a:rPr lang="en-US" sz="2400" i="1">
                                <a:solidFill>
                                  <a:schemeClr val="tx1"/>
                                </a:solidFill>
                                <a:latin typeface="Cambria Math" panose="02040503050406030204" pitchFamily="18" charset="0"/>
                                <a:ea typeface="Cambria Math" panose="02040503050406030204" pitchFamily="18" charset="0"/>
                              </a:rPr>
                              <m:t>→</m:t>
                            </m:r>
                          </m:e>
                          <m:e>
                            <m:r>
                              <a:rPr lang="sr-Latn-RS" sz="2400" b="0" i="1" smtClean="0">
                                <a:solidFill>
                                  <a:schemeClr val="tx1"/>
                                </a:solidFill>
                                <a:latin typeface="Cambria Math" panose="02040503050406030204" pitchFamily="18" charset="0"/>
                                <a:ea typeface="Cambria Math" panose="02040503050406030204" pitchFamily="18" charset="0"/>
                              </a:rPr>
                              <m:t>𝑌</m:t>
                            </m:r>
                            <m:d>
                              <m:dPr>
                                <m:begChr m:val="|"/>
                                <m:endChr m:val="⟩"/>
                                <m:ctrlPr>
                                  <a:rPr lang="en-US" sz="2400" i="1">
                                    <a:solidFill>
                                      <a:schemeClr val="tx1"/>
                                    </a:solidFill>
                                    <a:latin typeface="Cambria Math" panose="02040503050406030204" pitchFamily="18" charset="0"/>
                                  </a:rPr>
                                </m:ctrlPr>
                              </m:dPr>
                              <m:e>
                                <m:r>
                                  <a:rPr lang="en-US" sz="2400" i="1">
                                    <a:solidFill>
                                      <a:schemeClr val="tx1"/>
                                    </a:solidFill>
                                    <a:latin typeface="Cambria Math" panose="02040503050406030204" pitchFamily="18" charset="0"/>
                                  </a:rPr>
                                  <m:t>𝑆</m:t>
                                </m:r>
                              </m:e>
                            </m:d>
                            <m:r>
                              <a:rPr lang="en-US" sz="2400">
                                <a:solidFill>
                                  <a:schemeClr val="tx1"/>
                                </a:solidFill>
                                <a:latin typeface="Cambria Math" panose="02040503050406030204" pitchFamily="18" charset="0"/>
                              </a:rPr>
                              <m:t>=</m:t>
                            </m:r>
                            <m:r>
                              <a:rPr lang="sr-Latn-RS" sz="2400" b="0" i="1" smtClean="0">
                                <a:solidFill>
                                  <a:schemeClr val="tx1"/>
                                </a:solidFill>
                                <a:latin typeface="Cambria Math" panose="02040503050406030204" pitchFamily="18" charset="0"/>
                              </a:rPr>
                              <m:t>−</m:t>
                            </m:r>
                            <m:r>
                              <a:rPr lang="sr-Latn-RS" sz="2400" b="0" i="1" smtClean="0">
                                <a:solidFill>
                                  <a:schemeClr val="tx1"/>
                                </a:solidFill>
                                <a:latin typeface="Cambria Math" panose="02040503050406030204" pitchFamily="18" charset="0"/>
                              </a:rPr>
                              <m:t>𝑖𝑏</m:t>
                            </m:r>
                            <m:d>
                              <m:dPr>
                                <m:begChr m:val="|"/>
                                <m:endChr m:val="⟩"/>
                                <m:ctrlPr>
                                  <a:rPr lang="en-US" sz="2400" i="1">
                                    <a:solidFill>
                                      <a:schemeClr val="tx1"/>
                                    </a:solidFill>
                                    <a:latin typeface="Cambria Math" panose="02040503050406030204" pitchFamily="18" charset="0"/>
                                  </a:rPr>
                                </m:ctrlPr>
                              </m:dPr>
                              <m:e>
                                <m:r>
                                  <a:rPr lang="en-US" sz="2400">
                                    <a:solidFill>
                                      <a:schemeClr val="tx1"/>
                                    </a:solidFill>
                                    <a:latin typeface="Cambria Math" panose="02040503050406030204" pitchFamily="18" charset="0"/>
                                  </a:rPr>
                                  <m:t>0</m:t>
                                </m:r>
                              </m:e>
                            </m:d>
                            <m:r>
                              <a:rPr lang="en-US" sz="2400">
                                <a:solidFill>
                                  <a:schemeClr val="tx1"/>
                                </a:solidFill>
                                <a:latin typeface="Cambria Math" panose="02040503050406030204" pitchFamily="18" charset="0"/>
                              </a:rPr>
                              <m:t>+</m:t>
                            </m:r>
                            <m:r>
                              <a:rPr lang="sr-Latn-RS" sz="2400" b="0" i="1" smtClean="0">
                                <a:solidFill>
                                  <a:schemeClr val="tx1"/>
                                </a:solidFill>
                                <a:latin typeface="Cambria Math" panose="02040503050406030204" pitchFamily="18" charset="0"/>
                              </a:rPr>
                              <m:t>𝑖</m:t>
                            </m:r>
                            <m:r>
                              <a:rPr lang="en-US" sz="2400" i="1">
                                <a:solidFill>
                                  <a:schemeClr val="tx1"/>
                                </a:solidFill>
                                <a:latin typeface="Cambria Math" panose="02040503050406030204" pitchFamily="18" charset="0"/>
                              </a:rPr>
                              <m:t>𝑎</m:t>
                            </m:r>
                            <m:d>
                              <m:dPr>
                                <m:begChr m:val="|"/>
                                <m:endChr m:val="⟩"/>
                                <m:ctrlPr>
                                  <a:rPr lang="en-US" sz="2400" i="1">
                                    <a:solidFill>
                                      <a:schemeClr val="tx1"/>
                                    </a:solidFill>
                                    <a:latin typeface="Cambria Math" panose="02040503050406030204" pitchFamily="18" charset="0"/>
                                  </a:rPr>
                                </m:ctrlPr>
                              </m:dPr>
                              <m:e>
                                <m:r>
                                  <a:rPr lang="en-US" sz="2400">
                                    <a:solidFill>
                                      <a:schemeClr val="tx1"/>
                                    </a:solidFill>
                                    <a:latin typeface="Cambria Math" panose="02040503050406030204" pitchFamily="18" charset="0"/>
                                  </a:rPr>
                                  <m:t>1</m:t>
                                </m:r>
                              </m:e>
                            </m:d>
                          </m:e>
                        </m:mr>
                      </m:m>
                    </m:oMath>
                  </m:oMathPara>
                </a14:m>
                <a:endParaRPr lang="en-US" sz="2400" dirty="0">
                  <a:solidFill>
                    <a:schemeClr val="tx1"/>
                  </a:solidFill>
                </a:endParaRPr>
              </a:p>
            </p:txBody>
          </p:sp>
        </mc:Choice>
        <mc:Fallback xmlns="">
          <p:sp>
            <p:nvSpPr>
              <p:cNvPr id="10" name="Rounded Rectangle 9">
                <a:extLst>
                  <a:ext uri="{FF2B5EF4-FFF2-40B4-BE49-F238E27FC236}">
                    <a16:creationId xmlns:a16="http://schemas.microsoft.com/office/drawing/2014/main" id="{E01E2A9C-0803-8A4E-BFB7-4F162D3F067E}"/>
                  </a:ext>
                </a:extLst>
              </p:cNvPr>
              <p:cNvSpPr>
                <a:spLocks noRot="1" noChangeAspect="1" noMove="1" noResize="1" noEditPoints="1" noAdjustHandles="1" noChangeArrowheads="1" noChangeShapeType="1" noTextEdit="1"/>
              </p:cNvSpPr>
              <p:nvPr/>
            </p:nvSpPr>
            <p:spPr>
              <a:xfrm>
                <a:off x="4555671" y="5284561"/>
                <a:ext cx="6942112" cy="1077685"/>
              </a:xfrm>
              <a:prstGeom prst="roundRect">
                <a:avLst/>
              </a:prstGeom>
              <a:blipFill>
                <a:blip r:embed="rId6"/>
                <a:stretch>
                  <a:fillRect/>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36688252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dissolv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E49EAC9-8B20-734C-B8F7-0A0DBD64DC1B}"/>
              </a:ext>
            </a:extLst>
          </p:cNvPr>
          <p:cNvPicPr>
            <a:picLocks noChangeAspect="1"/>
          </p:cNvPicPr>
          <p:nvPr/>
        </p:nvPicPr>
        <p:blipFill>
          <a:blip r:embed="rId3"/>
          <a:stretch>
            <a:fillRect/>
          </a:stretch>
        </p:blipFill>
        <p:spPr>
          <a:xfrm>
            <a:off x="502558" y="1521510"/>
            <a:ext cx="3250611" cy="4699679"/>
          </a:xfrm>
          <a:prstGeom prst="rect">
            <a:avLst/>
          </a:prstGeom>
        </p:spPr>
      </p:pic>
      <p:sp>
        <p:nvSpPr>
          <p:cNvPr id="2" name="Slide Number Placeholder 1">
            <a:extLst>
              <a:ext uri="{FF2B5EF4-FFF2-40B4-BE49-F238E27FC236}">
                <a16:creationId xmlns:a16="http://schemas.microsoft.com/office/drawing/2014/main" id="{257580A3-107D-0541-9921-7D7266FD7B26}"/>
              </a:ext>
            </a:extLst>
          </p:cNvPr>
          <p:cNvSpPr>
            <a:spLocks noGrp="1"/>
          </p:cNvSpPr>
          <p:nvPr>
            <p:ph type="sldNum" sz="quarter" idx="12"/>
          </p:nvPr>
        </p:nvSpPr>
        <p:spPr/>
        <p:txBody>
          <a:bodyPr/>
          <a:lstStyle/>
          <a:p>
            <a:fld id="{591A223C-FA10-BC46-A853-03BA373D023C}" type="slidenum">
              <a:rPr lang="en-US" smtClean="0"/>
              <a:t>18</a:t>
            </a:fld>
            <a:endParaRPr lang="en-US"/>
          </a:p>
        </p:txBody>
      </p:sp>
      <p:sp>
        <p:nvSpPr>
          <p:cNvPr id="3" name="Title 2">
            <a:extLst>
              <a:ext uri="{FF2B5EF4-FFF2-40B4-BE49-F238E27FC236}">
                <a16:creationId xmlns:a16="http://schemas.microsoft.com/office/drawing/2014/main" id="{B852EDE8-26D3-8643-A881-CB79B839EE2D}"/>
              </a:ext>
            </a:extLst>
          </p:cNvPr>
          <p:cNvSpPr>
            <a:spLocks noGrp="1"/>
          </p:cNvSpPr>
          <p:nvPr>
            <p:ph type="title"/>
          </p:nvPr>
        </p:nvSpPr>
        <p:spPr/>
        <p:txBody>
          <a:bodyPr/>
          <a:lstStyle/>
          <a:p>
            <a:r>
              <a:rPr lang="en-US" dirty="0"/>
              <a:t>Pauli Z Gate</a:t>
            </a:r>
          </a:p>
        </p:txBody>
      </p:sp>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C3D45365-2C28-724D-B477-83E2373A8FA7}"/>
                  </a:ext>
                </a:extLst>
              </p:cNvPr>
              <p:cNvSpPr/>
              <p:nvPr/>
            </p:nvSpPr>
            <p:spPr>
              <a:xfrm>
                <a:off x="4056579" y="1425229"/>
                <a:ext cx="7538987" cy="141436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200" i="1" smtClean="0">
                              <a:latin typeface="Cambria Math" panose="02040503050406030204" pitchFamily="18" charset="0"/>
                            </a:rPr>
                          </m:ctrlPr>
                        </m:dPr>
                        <m:e>
                          <m:r>
                            <a:rPr lang="en-US" sz="2200" i="1">
                              <a:latin typeface="Cambria Math" panose="02040503050406030204" pitchFamily="18" charset="0"/>
                            </a:rPr>
                            <m:t>𝑆</m:t>
                          </m:r>
                        </m:e>
                      </m:d>
                      <m:r>
                        <a:rPr lang="en-US" sz="2200" i="0">
                          <a:latin typeface="Cambria Math" panose="02040503050406030204" pitchFamily="18" charset="0"/>
                        </a:rPr>
                        <m:t>=</m:t>
                      </m:r>
                      <m:d>
                        <m:dPr>
                          <m:ctrlPr>
                            <a:rPr lang="en-US" sz="2200" i="1">
                              <a:latin typeface="Cambria Math" panose="02040503050406030204" pitchFamily="18" charset="0"/>
                            </a:rPr>
                          </m:ctrlPr>
                        </m:dPr>
                        <m:e>
                          <m:m>
                            <m:mPr>
                              <m:plcHide m:val="on"/>
                              <m:mcs>
                                <m:mc>
                                  <m:mcPr>
                                    <m:count m:val="1"/>
                                    <m:mcJc m:val="center"/>
                                  </m:mcPr>
                                </m:mc>
                              </m:mcs>
                              <m:ctrlPr>
                                <a:rPr lang="en-US" sz="2200" i="1">
                                  <a:latin typeface="Cambria Math" panose="02040503050406030204" pitchFamily="18" charset="0"/>
                                </a:rPr>
                              </m:ctrlPr>
                            </m:mPr>
                            <m:mr>
                              <m:e>
                                <m:func>
                                  <m:funcPr>
                                    <m:ctrlPr>
                                      <a:rPr lang="en-US" sz="2200" i="1">
                                        <a:latin typeface="Cambria Math" panose="02040503050406030204" pitchFamily="18" charset="0"/>
                                      </a:rPr>
                                    </m:ctrlPr>
                                  </m:funcPr>
                                  <m:fName>
                                    <m:r>
                                      <a:rPr lang="en-US" sz="2200" i="1">
                                        <a:latin typeface="Cambria Math" panose="02040503050406030204" pitchFamily="18" charset="0"/>
                                      </a:rPr>
                                      <m:t>𝑐𝑜𝑠</m:t>
                                    </m:r>
                                  </m:fName>
                                  <m:e>
                                    <m:f>
                                      <m:fPr>
                                        <m:ctrlPr>
                                          <a:rPr lang="en-US" sz="2200" i="1">
                                            <a:latin typeface="Cambria Math" panose="02040503050406030204" pitchFamily="18" charset="0"/>
                                          </a:rPr>
                                        </m:ctrlPr>
                                      </m:fPr>
                                      <m:num>
                                        <m:r>
                                          <a:rPr lang="en-US" sz="2200" i="1">
                                            <a:latin typeface="Cambria Math" panose="02040503050406030204" pitchFamily="18" charset="0"/>
                                          </a:rPr>
                                          <m:t>𝜃</m:t>
                                        </m:r>
                                      </m:num>
                                      <m:den>
                                        <m:r>
                                          <a:rPr lang="en-US" sz="2200" i="0">
                                            <a:latin typeface="Cambria Math" panose="02040503050406030204" pitchFamily="18" charset="0"/>
                                          </a:rPr>
                                          <m:t>2</m:t>
                                        </m:r>
                                      </m:den>
                                    </m:f>
                                  </m:e>
                                </m:func>
                              </m:e>
                            </m:mr>
                            <m:mr>
                              <m:e>
                                <m:sSup>
                                  <m:sSupPr>
                                    <m:ctrlPr>
                                      <a:rPr lang="en-US" sz="2200" i="1">
                                        <a:latin typeface="Cambria Math" panose="02040503050406030204" pitchFamily="18" charset="0"/>
                                      </a:rPr>
                                    </m:ctrlPr>
                                  </m:sSupPr>
                                  <m:e>
                                    <m:r>
                                      <a:rPr lang="en-US" sz="2200" i="1">
                                        <a:latin typeface="Cambria Math" panose="02040503050406030204" pitchFamily="18" charset="0"/>
                                      </a:rPr>
                                      <m:t>𝑒</m:t>
                                    </m:r>
                                  </m:e>
                                  <m:sup>
                                    <m:r>
                                      <a:rPr lang="en-US" sz="2200" i="1">
                                        <a:latin typeface="Cambria Math" panose="02040503050406030204" pitchFamily="18" charset="0"/>
                                      </a:rPr>
                                      <m:t>𝑖</m:t>
                                    </m:r>
                                    <m:r>
                                      <a:rPr lang="en-US" sz="2200" i="1">
                                        <a:latin typeface="Cambria Math" panose="02040503050406030204" pitchFamily="18" charset="0"/>
                                      </a:rPr>
                                      <m:t>𝜑</m:t>
                                    </m:r>
                                  </m:sup>
                                </m:sSup>
                                <m:func>
                                  <m:funcPr>
                                    <m:ctrlPr>
                                      <a:rPr lang="en-US" sz="2200" i="1">
                                        <a:latin typeface="Cambria Math" panose="02040503050406030204" pitchFamily="18" charset="0"/>
                                      </a:rPr>
                                    </m:ctrlPr>
                                  </m:funcPr>
                                  <m:fName>
                                    <m:r>
                                      <a:rPr lang="en-US" sz="2200" i="1">
                                        <a:latin typeface="Cambria Math" panose="02040503050406030204" pitchFamily="18" charset="0"/>
                                      </a:rPr>
                                      <m:t>𝑠𝑖𝑛</m:t>
                                    </m:r>
                                  </m:fName>
                                  <m:e>
                                    <m:f>
                                      <m:fPr>
                                        <m:ctrlPr>
                                          <a:rPr lang="en-US" sz="2200" i="1">
                                            <a:latin typeface="Cambria Math" panose="02040503050406030204" pitchFamily="18" charset="0"/>
                                          </a:rPr>
                                        </m:ctrlPr>
                                      </m:fPr>
                                      <m:num>
                                        <m:r>
                                          <a:rPr lang="en-US" sz="2200" i="1">
                                            <a:latin typeface="Cambria Math" panose="02040503050406030204" pitchFamily="18" charset="0"/>
                                          </a:rPr>
                                          <m:t>𝜃</m:t>
                                        </m:r>
                                      </m:num>
                                      <m:den>
                                        <m:r>
                                          <a:rPr lang="en-US" sz="2200" i="0">
                                            <a:latin typeface="Cambria Math" panose="02040503050406030204" pitchFamily="18" charset="0"/>
                                          </a:rPr>
                                          <m:t>2</m:t>
                                        </m:r>
                                      </m:den>
                                    </m:f>
                                  </m:e>
                                </m:func>
                              </m:e>
                            </m:mr>
                          </m:m>
                        </m:e>
                      </m:d>
                      <m:r>
                        <a:rPr lang="en-US" sz="2200" i="0">
                          <a:latin typeface="Cambria Math" panose="02040503050406030204" pitchFamily="18" charset="0"/>
                        </a:rPr>
                        <m:t>=</m:t>
                      </m:r>
                      <m:d>
                        <m:dPr>
                          <m:ctrlPr>
                            <a:rPr lang="en-US" sz="2200" i="1">
                              <a:latin typeface="Cambria Math" panose="02040503050406030204" pitchFamily="18" charset="0"/>
                            </a:rPr>
                          </m:ctrlPr>
                        </m:dPr>
                        <m:e>
                          <m:m>
                            <m:mPr>
                              <m:plcHide m:val="on"/>
                              <m:mcs>
                                <m:mc>
                                  <m:mcPr>
                                    <m:count m:val="1"/>
                                    <m:mcJc m:val="center"/>
                                  </m:mcPr>
                                </m:mc>
                              </m:mcs>
                              <m:ctrlPr>
                                <a:rPr lang="en-US" sz="2200" i="1">
                                  <a:latin typeface="Cambria Math" panose="02040503050406030204" pitchFamily="18" charset="0"/>
                                </a:rPr>
                              </m:ctrlPr>
                            </m:mPr>
                            <m:mr>
                              <m:e>
                                <m:func>
                                  <m:funcPr>
                                    <m:ctrlPr>
                                      <a:rPr lang="en-US" sz="2200" i="1">
                                        <a:latin typeface="Cambria Math" panose="02040503050406030204" pitchFamily="18" charset="0"/>
                                      </a:rPr>
                                    </m:ctrlPr>
                                  </m:funcPr>
                                  <m:fName>
                                    <m:r>
                                      <a:rPr lang="en-US" sz="2200" i="1">
                                        <a:latin typeface="Cambria Math" panose="02040503050406030204" pitchFamily="18" charset="0"/>
                                      </a:rPr>
                                      <m:t>𝑐𝑜𝑠</m:t>
                                    </m:r>
                                  </m:fName>
                                  <m:e>
                                    <m:f>
                                      <m:fPr>
                                        <m:ctrlPr>
                                          <a:rPr lang="en-US" sz="2200" i="1">
                                            <a:latin typeface="Cambria Math" panose="02040503050406030204" pitchFamily="18" charset="0"/>
                                          </a:rPr>
                                        </m:ctrlPr>
                                      </m:fPr>
                                      <m:num>
                                        <m:r>
                                          <a:rPr lang="en-US" sz="2200" i="1">
                                            <a:latin typeface="Cambria Math" panose="02040503050406030204" pitchFamily="18" charset="0"/>
                                          </a:rPr>
                                          <m:t>𝜋</m:t>
                                        </m:r>
                                      </m:num>
                                      <m:den>
                                        <m:r>
                                          <a:rPr lang="en-US" sz="2200" i="0">
                                            <a:latin typeface="Cambria Math" panose="02040503050406030204" pitchFamily="18" charset="0"/>
                                          </a:rPr>
                                          <m:t>16</m:t>
                                        </m:r>
                                      </m:den>
                                    </m:f>
                                  </m:e>
                                </m:func>
                              </m:e>
                            </m:mr>
                            <m:mr>
                              <m:e>
                                <m:sSup>
                                  <m:sSupPr>
                                    <m:ctrlPr>
                                      <a:rPr lang="en-US" sz="2200" i="1">
                                        <a:latin typeface="Cambria Math" panose="02040503050406030204" pitchFamily="18" charset="0"/>
                                      </a:rPr>
                                    </m:ctrlPr>
                                  </m:sSupPr>
                                  <m:e>
                                    <m:r>
                                      <a:rPr lang="en-US" sz="2200" i="1">
                                        <a:latin typeface="Cambria Math" panose="02040503050406030204" pitchFamily="18" charset="0"/>
                                      </a:rPr>
                                      <m:t>𝑒</m:t>
                                    </m:r>
                                  </m:e>
                                  <m:sup>
                                    <m:r>
                                      <a:rPr lang="en-US" sz="2200" i="1">
                                        <a:latin typeface="Cambria Math" panose="02040503050406030204" pitchFamily="18" charset="0"/>
                                      </a:rPr>
                                      <m:t>𝑖</m:t>
                                    </m:r>
                                    <m:r>
                                      <a:rPr lang="en-US" sz="2200" i="0">
                                        <a:latin typeface="Cambria Math" panose="02040503050406030204" pitchFamily="18" charset="0"/>
                                      </a:rPr>
                                      <m:t>3</m:t>
                                    </m:r>
                                    <m:f>
                                      <m:fPr>
                                        <m:type m:val="lin"/>
                                        <m:ctrlPr>
                                          <a:rPr lang="en-US" sz="2200" i="1">
                                            <a:latin typeface="Cambria Math" panose="02040503050406030204" pitchFamily="18" charset="0"/>
                                          </a:rPr>
                                        </m:ctrlPr>
                                      </m:fPr>
                                      <m:num>
                                        <m:r>
                                          <a:rPr lang="en-US" sz="2200" i="1">
                                            <a:latin typeface="Cambria Math" panose="02040503050406030204" pitchFamily="18" charset="0"/>
                                          </a:rPr>
                                          <m:t>𝜋</m:t>
                                        </m:r>
                                      </m:num>
                                      <m:den>
                                        <m:r>
                                          <a:rPr lang="en-US" sz="2200" i="0">
                                            <a:latin typeface="Cambria Math" panose="02040503050406030204" pitchFamily="18" charset="0"/>
                                          </a:rPr>
                                          <m:t>8</m:t>
                                        </m:r>
                                      </m:den>
                                    </m:f>
                                  </m:sup>
                                </m:sSup>
                                <m:func>
                                  <m:funcPr>
                                    <m:ctrlPr>
                                      <a:rPr lang="en-US" sz="2200" i="1">
                                        <a:latin typeface="Cambria Math" panose="02040503050406030204" pitchFamily="18" charset="0"/>
                                      </a:rPr>
                                    </m:ctrlPr>
                                  </m:funcPr>
                                  <m:fName>
                                    <m:r>
                                      <a:rPr lang="en-US" sz="2200" i="1">
                                        <a:latin typeface="Cambria Math" panose="02040503050406030204" pitchFamily="18" charset="0"/>
                                      </a:rPr>
                                      <m:t>𝑠𝑖𝑛</m:t>
                                    </m:r>
                                  </m:fName>
                                  <m:e>
                                    <m:f>
                                      <m:fPr>
                                        <m:ctrlPr>
                                          <a:rPr lang="en-US" sz="2200" i="1">
                                            <a:latin typeface="Cambria Math" panose="02040503050406030204" pitchFamily="18" charset="0"/>
                                          </a:rPr>
                                        </m:ctrlPr>
                                      </m:fPr>
                                      <m:num>
                                        <m:r>
                                          <a:rPr lang="en-US" sz="2200" i="1">
                                            <a:latin typeface="Cambria Math" panose="02040503050406030204" pitchFamily="18" charset="0"/>
                                          </a:rPr>
                                          <m:t>𝜋</m:t>
                                        </m:r>
                                      </m:num>
                                      <m:den>
                                        <m:r>
                                          <a:rPr lang="en-US" sz="2200" i="0">
                                            <a:latin typeface="Cambria Math" panose="02040503050406030204" pitchFamily="18" charset="0"/>
                                          </a:rPr>
                                          <m:t>16</m:t>
                                        </m:r>
                                      </m:den>
                                    </m:f>
                                  </m:e>
                                </m:func>
                              </m:e>
                            </m:mr>
                          </m:m>
                        </m:e>
                      </m:d>
                      <m:r>
                        <a:rPr lang="en-US" sz="2200" i="0">
                          <a:latin typeface="Cambria Math" panose="02040503050406030204" pitchFamily="18" charset="0"/>
                        </a:rPr>
                        <m:t>=</m:t>
                      </m:r>
                      <m:d>
                        <m:dPr>
                          <m:ctrlPr>
                            <a:rPr lang="en-US" sz="2200" i="1">
                              <a:latin typeface="Cambria Math" panose="02040503050406030204" pitchFamily="18" charset="0"/>
                            </a:rPr>
                          </m:ctrlPr>
                        </m:dPr>
                        <m:e>
                          <m:m>
                            <m:mPr>
                              <m:plcHide m:val="on"/>
                              <m:mcs>
                                <m:mc>
                                  <m:mcPr>
                                    <m:count m:val="1"/>
                                    <m:mcJc m:val="center"/>
                                  </m:mcPr>
                                </m:mc>
                              </m:mcs>
                              <m:ctrlPr>
                                <a:rPr lang="en-US" sz="2200" i="1">
                                  <a:latin typeface="Cambria Math" panose="02040503050406030204" pitchFamily="18" charset="0"/>
                                </a:rPr>
                              </m:ctrlPr>
                            </m:mPr>
                            <m:mr>
                              <m:e>
                                <m:r>
                                  <a:rPr lang="en-US" sz="2200" i="0">
                                    <a:latin typeface="Cambria Math" panose="02040503050406030204" pitchFamily="18" charset="0"/>
                                  </a:rPr>
                                  <m:t>0.9808</m:t>
                                </m:r>
                              </m:e>
                            </m:mr>
                            <m:mr>
                              <m:e>
                                <m:r>
                                  <a:rPr lang="en-US" sz="2200" i="0">
                                    <a:latin typeface="Cambria Math" panose="02040503050406030204" pitchFamily="18" charset="0"/>
                                  </a:rPr>
                                  <m:t>0.0747+</m:t>
                                </m:r>
                                <m:r>
                                  <a:rPr lang="en-US" sz="2000" i="1">
                                    <a:latin typeface="Cambria Math" panose="02040503050406030204" pitchFamily="18" charset="0"/>
                                  </a:rPr>
                                  <m:t>𝑖</m:t>
                                </m:r>
                                <m:r>
                                  <a:rPr lang="en-US" sz="2000" b="0" i="0" smtClean="0">
                                    <a:latin typeface="Cambria Math" panose="02040503050406030204" pitchFamily="18" charset="0"/>
                                  </a:rPr>
                                  <m:t> </m:t>
                                </m:r>
                                <m:r>
                                  <a:rPr lang="en-US" sz="2200" i="0">
                                    <a:latin typeface="Cambria Math" panose="02040503050406030204" pitchFamily="18" charset="0"/>
                                  </a:rPr>
                                  <m:t>0.1802</m:t>
                                </m:r>
                              </m:e>
                            </m:mr>
                          </m:m>
                        </m:e>
                      </m:d>
                    </m:oMath>
                  </m:oMathPara>
                </a14:m>
                <a:endParaRPr lang="en-US" sz="2200" dirty="0"/>
              </a:p>
            </p:txBody>
          </p:sp>
        </mc:Choice>
        <mc:Fallback xmlns="">
          <p:sp>
            <p:nvSpPr>
              <p:cNvPr id="8" name="Rectangle 7">
                <a:extLst>
                  <a:ext uri="{FF2B5EF4-FFF2-40B4-BE49-F238E27FC236}">
                    <a16:creationId xmlns:a16="http://schemas.microsoft.com/office/drawing/2014/main" id="{C3D45365-2C28-724D-B477-83E2373A8FA7}"/>
                  </a:ext>
                </a:extLst>
              </p:cNvPr>
              <p:cNvSpPr>
                <a:spLocks noRot="1" noChangeAspect="1" noMove="1" noResize="1" noEditPoints="1" noAdjustHandles="1" noChangeArrowheads="1" noChangeShapeType="1" noTextEdit="1"/>
              </p:cNvSpPr>
              <p:nvPr/>
            </p:nvSpPr>
            <p:spPr>
              <a:xfrm>
                <a:off x="4056579" y="1425229"/>
                <a:ext cx="7538987" cy="1414362"/>
              </a:xfrm>
              <a:prstGeom prst="rect">
                <a:avLst/>
              </a:prstGeom>
              <a:blipFill>
                <a:blip r:embed="rId4"/>
                <a:stretch>
                  <a:fillRect b="-2035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AA674CA6-69A9-FF4F-A8C6-CA6D3BF75E39}"/>
                  </a:ext>
                </a:extLst>
              </p:cNvPr>
              <p:cNvSpPr/>
              <p:nvPr/>
            </p:nvSpPr>
            <p:spPr>
              <a:xfrm>
                <a:off x="3815444" y="4067291"/>
                <a:ext cx="8376556" cy="714363"/>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rPr>
                        <m:t>𝑍</m:t>
                      </m:r>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𝑆</m:t>
                          </m:r>
                        </m:e>
                      </m:d>
                      <m:r>
                        <a:rPr lang="en-US" sz="2400" i="0">
                          <a:latin typeface="Cambria Math" panose="02040503050406030204" pitchFamily="18" charset="0"/>
                        </a:rPr>
                        <m:t>=</m:t>
                      </m:r>
                      <m:d>
                        <m:dPr>
                          <m:ctrlPr>
                            <a:rPr lang="en-US" sz="2400" i="1">
                              <a:latin typeface="Cambria Math" panose="02040503050406030204" pitchFamily="18" charset="0"/>
                            </a:rPr>
                          </m:ctrlPr>
                        </m:dPr>
                        <m:e>
                          <m:m>
                            <m:mPr>
                              <m:plcHide m:val="on"/>
                              <m:mcs>
                                <m:mc>
                                  <m:mcPr>
                                    <m:count m:val="2"/>
                                    <m:mcJc m:val="center"/>
                                  </m:mcPr>
                                </m:mc>
                              </m:mcs>
                              <m:ctrlPr>
                                <a:rPr lang="en-US" sz="2400" i="1">
                                  <a:latin typeface="Cambria Math" panose="02040503050406030204" pitchFamily="18" charset="0"/>
                                </a:rPr>
                              </m:ctrlPr>
                            </m:mPr>
                            <m:mr>
                              <m:e>
                                <m:r>
                                  <a:rPr lang="en-US" sz="2400" i="0">
                                    <a:latin typeface="Cambria Math" panose="02040503050406030204" pitchFamily="18" charset="0"/>
                                  </a:rPr>
                                  <m:t>1</m:t>
                                </m:r>
                              </m:e>
                              <m:e>
                                <m:r>
                                  <a:rPr lang="en-US" sz="2400" i="0">
                                    <a:latin typeface="Cambria Math" panose="02040503050406030204" pitchFamily="18" charset="0"/>
                                  </a:rPr>
                                  <m:t>0</m:t>
                                </m:r>
                              </m:e>
                            </m:mr>
                            <m:mr>
                              <m:e>
                                <m:r>
                                  <a:rPr lang="en-US" sz="2400" i="0">
                                    <a:latin typeface="Cambria Math" panose="02040503050406030204" pitchFamily="18" charset="0"/>
                                  </a:rPr>
                                  <m:t>0</m:t>
                                </m:r>
                              </m:e>
                              <m:e>
                                <m:r>
                                  <a:rPr lang="en-US" sz="2400" i="0">
                                    <a:latin typeface="Cambria Math" panose="02040503050406030204" pitchFamily="18" charset="0"/>
                                  </a:rPr>
                                  <m:t>−1</m:t>
                                </m:r>
                              </m:e>
                            </m:mr>
                          </m:m>
                        </m:e>
                      </m:d>
                      <m:d>
                        <m:dPr>
                          <m:ctrlPr>
                            <a:rPr lang="en-US" sz="2400" i="1">
                              <a:latin typeface="Cambria Math" panose="02040503050406030204" pitchFamily="18" charset="0"/>
                            </a:rPr>
                          </m:ctrlPr>
                        </m:dPr>
                        <m:e>
                          <m:m>
                            <m:mPr>
                              <m:plcHide m:val="on"/>
                              <m:mcs>
                                <m:mc>
                                  <m:mcPr>
                                    <m:count m:val="1"/>
                                    <m:mcJc m:val="center"/>
                                  </m:mcPr>
                                </m:mc>
                              </m:mcs>
                              <m:ctrlPr>
                                <a:rPr lang="en-US" sz="2400" i="1">
                                  <a:latin typeface="Cambria Math" panose="02040503050406030204" pitchFamily="18" charset="0"/>
                                </a:rPr>
                              </m:ctrlPr>
                            </m:mPr>
                            <m:mr>
                              <m:e>
                                <m:r>
                                  <a:rPr lang="en-US" sz="2400" i="0">
                                    <a:latin typeface="Cambria Math" panose="02040503050406030204" pitchFamily="18" charset="0"/>
                                  </a:rPr>
                                  <m:t>0.9808</m:t>
                                </m:r>
                              </m:e>
                            </m:mr>
                            <m:mr>
                              <m:e>
                                <m:r>
                                  <a:rPr lang="en-US" sz="2400" i="0">
                                    <a:latin typeface="Cambria Math" panose="02040503050406030204" pitchFamily="18" charset="0"/>
                                  </a:rPr>
                                  <m:t>0.0747+</m:t>
                                </m:r>
                                <m:r>
                                  <a:rPr lang="en-US" sz="2400" i="1">
                                    <a:latin typeface="Cambria Math" panose="02040503050406030204" pitchFamily="18" charset="0"/>
                                  </a:rPr>
                                  <m:t>𝑖</m:t>
                                </m:r>
                                <m:r>
                                  <a:rPr lang="en-US" sz="2400" b="0" i="0" smtClean="0">
                                    <a:latin typeface="Cambria Math" panose="02040503050406030204" pitchFamily="18" charset="0"/>
                                  </a:rPr>
                                  <m:t> </m:t>
                                </m:r>
                                <m:r>
                                  <a:rPr lang="en-US" sz="2400" i="0">
                                    <a:latin typeface="Cambria Math" panose="02040503050406030204" pitchFamily="18" charset="0"/>
                                  </a:rPr>
                                  <m:t>0.1802</m:t>
                                </m:r>
                              </m:e>
                            </m:mr>
                          </m:m>
                        </m:e>
                      </m:d>
                      <m:r>
                        <a:rPr lang="en-US" sz="2400" i="0">
                          <a:latin typeface="Cambria Math" panose="02040503050406030204" pitchFamily="18" charset="0"/>
                        </a:rPr>
                        <m:t>=</m:t>
                      </m:r>
                      <m:d>
                        <m:dPr>
                          <m:ctrlPr>
                            <a:rPr lang="en-US" sz="2400" i="1">
                              <a:latin typeface="Cambria Math" panose="02040503050406030204" pitchFamily="18" charset="0"/>
                            </a:rPr>
                          </m:ctrlPr>
                        </m:dPr>
                        <m:e>
                          <m:m>
                            <m:mPr>
                              <m:plcHide m:val="on"/>
                              <m:mcs>
                                <m:mc>
                                  <m:mcPr>
                                    <m:count m:val="1"/>
                                    <m:mcJc m:val="center"/>
                                  </m:mcPr>
                                </m:mc>
                              </m:mcs>
                              <m:ctrlPr>
                                <a:rPr lang="en-US" sz="2400" i="1">
                                  <a:latin typeface="Cambria Math" panose="02040503050406030204" pitchFamily="18" charset="0"/>
                                </a:rPr>
                              </m:ctrlPr>
                            </m:mPr>
                            <m:mr>
                              <m:e>
                                <m:r>
                                  <a:rPr lang="en-US" sz="2400" i="0">
                                    <a:latin typeface="Cambria Math" panose="02040503050406030204" pitchFamily="18" charset="0"/>
                                  </a:rPr>
                                  <m:t>0.9808</m:t>
                                </m:r>
                              </m:e>
                            </m:mr>
                            <m:mr>
                              <m:e>
                                <m:r>
                                  <a:rPr lang="en-US" sz="2400" i="0">
                                    <a:latin typeface="Cambria Math" panose="02040503050406030204" pitchFamily="18" charset="0"/>
                                  </a:rPr>
                                  <m:t>−0.0747−</m:t>
                                </m:r>
                                <m:r>
                                  <a:rPr lang="en-US" sz="2400" i="1">
                                    <a:latin typeface="Cambria Math" panose="02040503050406030204" pitchFamily="18" charset="0"/>
                                  </a:rPr>
                                  <m:t>𝑖</m:t>
                                </m:r>
                                <m:r>
                                  <a:rPr lang="en-US" sz="2400" b="0" i="0" smtClean="0">
                                    <a:latin typeface="Cambria Math" panose="02040503050406030204" pitchFamily="18" charset="0"/>
                                  </a:rPr>
                                  <m:t> </m:t>
                                </m:r>
                                <m:r>
                                  <a:rPr lang="en-US" sz="2400" i="0">
                                    <a:latin typeface="Cambria Math" panose="02040503050406030204" pitchFamily="18" charset="0"/>
                                  </a:rPr>
                                  <m:t>0.1802</m:t>
                                </m:r>
                              </m:e>
                            </m:mr>
                          </m:m>
                        </m:e>
                      </m:d>
                    </m:oMath>
                  </m:oMathPara>
                </a14:m>
                <a:endParaRPr lang="en-US" sz="2400" dirty="0"/>
              </a:p>
            </p:txBody>
          </p:sp>
        </mc:Choice>
        <mc:Fallback xmlns="">
          <p:sp>
            <p:nvSpPr>
              <p:cNvPr id="9" name="Rectangle 8">
                <a:extLst>
                  <a:ext uri="{FF2B5EF4-FFF2-40B4-BE49-F238E27FC236}">
                    <a16:creationId xmlns:a16="http://schemas.microsoft.com/office/drawing/2014/main" id="{AA674CA6-69A9-FF4F-A8C6-CA6D3BF75E39}"/>
                  </a:ext>
                </a:extLst>
              </p:cNvPr>
              <p:cNvSpPr>
                <a:spLocks noRot="1" noChangeAspect="1" noMove="1" noResize="1" noEditPoints="1" noAdjustHandles="1" noChangeArrowheads="1" noChangeShapeType="1" noTextEdit="1"/>
              </p:cNvSpPr>
              <p:nvPr/>
            </p:nvSpPr>
            <p:spPr>
              <a:xfrm>
                <a:off x="3815444" y="4067291"/>
                <a:ext cx="8376556" cy="714363"/>
              </a:xfrm>
              <a:prstGeom prst="rect">
                <a:avLst/>
              </a:prstGeom>
              <a:blipFill>
                <a:blip r:embed="rId5"/>
                <a:stretch>
                  <a:fillRect b="-206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Rounded Rectangle 11">
                <a:extLst>
                  <a:ext uri="{FF2B5EF4-FFF2-40B4-BE49-F238E27FC236}">
                    <a16:creationId xmlns:a16="http://schemas.microsoft.com/office/drawing/2014/main" id="{247E5E2A-95D2-9147-99BD-1BCF58F15BD9}"/>
                  </a:ext>
                </a:extLst>
              </p:cNvPr>
              <p:cNvSpPr/>
              <p:nvPr/>
            </p:nvSpPr>
            <p:spPr>
              <a:xfrm>
                <a:off x="4555671" y="5284561"/>
                <a:ext cx="6942112" cy="1077685"/>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m>
                        <m:mPr>
                          <m:mcs>
                            <m:mc>
                              <m:mcPr>
                                <m:count m:val="3"/>
                                <m:mcJc m:val="center"/>
                              </m:mcPr>
                            </m:mc>
                          </m:mcs>
                          <m:ctrlPr>
                            <a:rPr lang="sr-Latn-RS" sz="2400" i="1" smtClean="0">
                              <a:solidFill>
                                <a:schemeClr val="tx1"/>
                              </a:solidFill>
                              <a:latin typeface="Cambria Math" panose="02040503050406030204" pitchFamily="18" charset="0"/>
                            </a:rPr>
                          </m:ctrlPr>
                        </m:mPr>
                        <m:mr>
                          <m:e>
                            <m:d>
                              <m:dPr>
                                <m:begChr m:val="|"/>
                                <m:endChr m:val="⟩"/>
                                <m:ctrlPr>
                                  <a:rPr lang="en-US" sz="2400" i="1">
                                    <a:solidFill>
                                      <a:schemeClr val="tx1"/>
                                    </a:solidFill>
                                    <a:latin typeface="Cambria Math" panose="02040503050406030204" pitchFamily="18" charset="0"/>
                                  </a:rPr>
                                </m:ctrlPr>
                              </m:dPr>
                              <m:e>
                                <m:r>
                                  <a:rPr lang="en-US" sz="2400" i="1">
                                    <a:solidFill>
                                      <a:schemeClr val="tx1"/>
                                    </a:solidFill>
                                    <a:latin typeface="Cambria Math" panose="02040503050406030204" pitchFamily="18" charset="0"/>
                                  </a:rPr>
                                  <m:t>𝑆</m:t>
                                </m:r>
                              </m:e>
                            </m:d>
                            <m:r>
                              <a:rPr lang="en-US" sz="2400">
                                <a:solidFill>
                                  <a:schemeClr val="tx1"/>
                                </a:solidFill>
                                <a:latin typeface="Cambria Math" panose="02040503050406030204" pitchFamily="18" charset="0"/>
                              </a:rPr>
                              <m:t>=</m:t>
                            </m:r>
                            <m:r>
                              <a:rPr lang="sr-Latn-RS" sz="2400" i="1">
                                <a:solidFill>
                                  <a:schemeClr val="tx1"/>
                                </a:solidFill>
                                <a:latin typeface="Cambria Math" panose="02040503050406030204" pitchFamily="18" charset="0"/>
                              </a:rPr>
                              <m:t>𝑎</m:t>
                            </m:r>
                            <m:d>
                              <m:dPr>
                                <m:begChr m:val="|"/>
                                <m:endChr m:val="⟩"/>
                                <m:ctrlPr>
                                  <a:rPr lang="en-US" sz="2400" i="1">
                                    <a:solidFill>
                                      <a:schemeClr val="tx1"/>
                                    </a:solidFill>
                                    <a:latin typeface="Cambria Math" panose="02040503050406030204" pitchFamily="18" charset="0"/>
                                  </a:rPr>
                                </m:ctrlPr>
                              </m:dPr>
                              <m:e>
                                <m:r>
                                  <a:rPr lang="en-US" sz="2400">
                                    <a:solidFill>
                                      <a:schemeClr val="tx1"/>
                                    </a:solidFill>
                                    <a:latin typeface="Cambria Math" panose="02040503050406030204" pitchFamily="18" charset="0"/>
                                  </a:rPr>
                                  <m:t>0</m:t>
                                </m:r>
                              </m:e>
                            </m:d>
                            <m:r>
                              <a:rPr lang="en-US" sz="2400">
                                <a:solidFill>
                                  <a:schemeClr val="tx1"/>
                                </a:solidFill>
                                <a:latin typeface="Cambria Math" panose="02040503050406030204" pitchFamily="18" charset="0"/>
                              </a:rPr>
                              <m:t>+</m:t>
                            </m:r>
                            <m:r>
                              <a:rPr lang="sr-Latn-RS" sz="2400" i="1">
                                <a:solidFill>
                                  <a:schemeClr val="tx1"/>
                                </a:solidFill>
                                <a:latin typeface="Cambria Math" panose="02040503050406030204" pitchFamily="18" charset="0"/>
                              </a:rPr>
                              <m:t>𝑏</m:t>
                            </m:r>
                            <m:d>
                              <m:dPr>
                                <m:begChr m:val="|"/>
                                <m:endChr m:val="⟩"/>
                                <m:ctrlPr>
                                  <a:rPr lang="en-US" sz="2400" i="1">
                                    <a:solidFill>
                                      <a:schemeClr val="tx1"/>
                                    </a:solidFill>
                                    <a:latin typeface="Cambria Math" panose="02040503050406030204" pitchFamily="18" charset="0"/>
                                  </a:rPr>
                                </m:ctrlPr>
                              </m:dPr>
                              <m:e>
                                <m:r>
                                  <a:rPr lang="en-US" sz="2400">
                                    <a:solidFill>
                                      <a:schemeClr val="tx1"/>
                                    </a:solidFill>
                                    <a:latin typeface="Cambria Math" panose="02040503050406030204" pitchFamily="18" charset="0"/>
                                  </a:rPr>
                                  <m:t>1</m:t>
                                </m:r>
                              </m:e>
                            </m:d>
                          </m:e>
                          <m:e>
                            <m:r>
                              <a:rPr lang="en-US" sz="2400" i="1">
                                <a:solidFill>
                                  <a:schemeClr val="tx1"/>
                                </a:solidFill>
                                <a:latin typeface="Cambria Math" panose="02040503050406030204" pitchFamily="18" charset="0"/>
                                <a:ea typeface="Cambria Math" panose="02040503050406030204" pitchFamily="18" charset="0"/>
                              </a:rPr>
                              <m:t>→</m:t>
                            </m:r>
                          </m:e>
                          <m:e>
                            <m:r>
                              <a:rPr lang="sr-Latn-RS" sz="2400" b="0" i="1" smtClean="0">
                                <a:solidFill>
                                  <a:schemeClr val="tx1"/>
                                </a:solidFill>
                                <a:latin typeface="Cambria Math" panose="02040503050406030204" pitchFamily="18" charset="0"/>
                              </a:rPr>
                              <m:t>𝑍</m:t>
                            </m:r>
                            <m:d>
                              <m:dPr>
                                <m:begChr m:val="|"/>
                                <m:endChr m:val="⟩"/>
                                <m:ctrlPr>
                                  <a:rPr lang="en-US" sz="2400" i="1">
                                    <a:solidFill>
                                      <a:schemeClr val="tx1"/>
                                    </a:solidFill>
                                    <a:latin typeface="Cambria Math" panose="02040503050406030204" pitchFamily="18" charset="0"/>
                                  </a:rPr>
                                </m:ctrlPr>
                              </m:dPr>
                              <m:e>
                                <m:r>
                                  <a:rPr lang="en-US" sz="2400" i="1">
                                    <a:solidFill>
                                      <a:schemeClr val="tx1"/>
                                    </a:solidFill>
                                    <a:latin typeface="Cambria Math" panose="02040503050406030204" pitchFamily="18" charset="0"/>
                                  </a:rPr>
                                  <m:t>𝑆</m:t>
                                </m:r>
                              </m:e>
                            </m:d>
                            <m:r>
                              <a:rPr lang="en-US" sz="2400">
                                <a:solidFill>
                                  <a:schemeClr val="tx1"/>
                                </a:solidFill>
                                <a:latin typeface="Cambria Math" panose="02040503050406030204" pitchFamily="18" charset="0"/>
                              </a:rPr>
                              <m:t>=</m:t>
                            </m:r>
                            <m:r>
                              <a:rPr lang="sr-Latn-RS" sz="2400" b="0" i="1" smtClean="0">
                                <a:solidFill>
                                  <a:schemeClr val="tx1"/>
                                </a:solidFill>
                                <a:latin typeface="Cambria Math" panose="02040503050406030204" pitchFamily="18" charset="0"/>
                              </a:rPr>
                              <m:t>𝑎</m:t>
                            </m:r>
                            <m:d>
                              <m:dPr>
                                <m:begChr m:val="|"/>
                                <m:endChr m:val="⟩"/>
                                <m:ctrlPr>
                                  <a:rPr lang="en-US" sz="2400" i="1">
                                    <a:solidFill>
                                      <a:schemeClr val="tx1"/>
                                    </a:solidFill>
                                    <a:latin typeface="Cambria Math" panose="02040503050406030204" pitchFamily="18" charset="0"/>
                                  </a:rPr>
                                </m:ctrlPr>
                              </m:dPr>
                              <m:e>
                                <m:r>
                                  <a:rPr lang="en-US" sz="2400">
                                    <a:solidFill>
                                      <a:schemeClr val="tx1"/>
                                    </a:solidFill>
                                    <a:latin typeface="Cambria Math" panose="02040503050406030204" pitchFamily="18" charset="0"/>
                                  </a:rPr>
                                  <m:t>0</m:t>
                                </m:r>
                              </m:e>
                            </m:d>
                            <m:r>
                              <a:rPr lang="sr-Latn-RS" sz="2400" b="0" i="0" smtClean="0">
                                <a:solidFill>
                                  <a:schemeClr val="tx1"/>
                                </a:solidFill>
                                <a:latin typeface="Cambria Math" panose="02040503050406030204" pitchFamily="18" charset="0"/>
                              </a:rPr>
                              <m:t>−</m:t>
                            </m:r>
                            <m:r>
                              <a:rPr lang="sr-Latn-RS" sz="2400" b="0" i="1" smtClean="0">
                                <a:solidFill>
                                  <a:schemeClr val="tx1"/>
                                </a:solidFill>
                                <a:latin typeface="Cambria Math" panose="02040503050406030204" pitchFamily="18" charset="0"/>
                              </a:rPr>
                              <m:t>𝑏</m:t>
                            </m:r>
                            <m:d>
                              <m:dPr>
                                <m:begChr m:val="|"/>
                                <m:endChr m:val="⟩"/>
                                <m:ctrlPr>
                                  <a:rPr lang="en-US" sz="2400" i="1">
                                    <a:solidFill>
                                      <a:schemeClr val="tx1"/>
                                    </a:solidFill>
                                    <a:latin typeface="Cambria Math" panose="02040503050406030204" pitchFamily="18" charset="0"/>
                                  </a:rPr>
                                </m:ctrlPr>
                              </m:dPr>
                              <m:e>
                                <m:r>
                                  <a:rPr lang="en-US" sz="2400">
                                    <a:solidFill>
                                      <a:schemeClr val="tx1"/>
                                    </a:solidFill>
                                    <a:latin typeface="Cambria Math" panose="02040503050406030204" pitchFamily="18" charset="0"/>
                                  </a:rPr>
                                  <m:t>1</m:t>
                                </m:r>
                              </m:e>
                            </m:d>
                          </m:e>
                        </m:mr>
                      </m:m>
                    </m:oMath>
                  </m:oMathPara>
                </a14:m>
                <a:endParaRPr lang="en-US" sz="2400" dirty="0">
                  <a:solidFill>
                    <a:schemeClr val="tx1"/>
                  </a:solidFill>
                </a:endParaRPr>
              </a:p>
            </p:txBody>
          </p:sp>
        </mc:Choice>
        <mc:Fallback xmlns="">
          <p:sp>
            <p:nvSpPr>
              <p:cNvPr id="12" name="Rounded Rectangle 11">
                <a:extLst>
                  <a:ext uri="{FF2B5EF4-FFF2-40B4-BE49-F238E27FC236}">
                    <a16:creationId xmlns:a16="http://schemas.microsoft.com/office/drawing/2014/main" id="{247E5E2A-95D2-9147-99BD-1BCF58F15BD9}"/>
                  </a:ext>
                </a:extLst>
              </p:cNvPr>
              <p:cNvSpPr>
                <a:spLocks noRot="1" noChangeAspect="1" noMove="1" noResize="1" noEditPoints="1" noAdjustHandles="1" noChangeArrowheads="1" noChangeShapeType="1" noTextEdit="1"/>
              </p:cNvSpPr>
              <p:nvPr/>
            </p:nvSpPr>
            <p:spPr>
              <a:xfrm>
                <a:off x="4555671" y="5284561"/>
                <a:ext cx="6942112" cy="1077685"/>
              </a:xfrm>
              <a:prstGeom prst="roundRect">
                <a:avLst/>
              </a:prstGeom>
              <a:blipFill>
                <a:blip r:embed="rId6"/>
                <a:stretch>
                  <a:fillRect/>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24739934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dissolve">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39EF45-D20A-C54B-9E7B-223F102F5FFB}"/>
              </a:ext>
            </a:extLst>
          </p:cNvPr>
          <p:cNvSpPr>
            <a:spLocks noGrp="1"/>
          </p:cNvSpPr>
          <p:nvPr>
            <p:ph type="title"/>
          </p:nvPr>
        </p:nvSpPr>
        <p:spPr>
          <a:xfrm>
            <a:off x="0" y="0"/>
            <a:ext cx="12192000" cy="928688"/>
          </a:xfrm>
        </p:spPr>
        <p:txBody>
          <a:bodyPr/>
          <a:lstStyle/>
          <a:p>
            <a:r>
              <a:rPr lang="en-ZA" dirty="0"/>
              <a:t>Square Root of X Gate</a:t>
            </a:r>
            <a:endParaRPr lang="en-US" dirty="0"/>
          </a:p>
        </p:txBody>
      </p:sp>
      <p:sp>
        <p:nvSpPr>
          <p:cNvPr id="3" name="Slide Number Placeholder 2">
            <a:extLst>
              <a:ext uri="{FF2B5EF4-FFF2-40B4-BE49-F238E27FC236}">
                <a16:creationId xmlns:a16="http://schemas.microsoft.com/office/drawing/2014/main" id="{1DFCF789-A597-7E48-870E-125D0C3A063D}"/>
              </a:ext>
            </a:extLst>
          </p:cNvPr>
          <p:cNvSpPr>
            <a:spLocks noGrp="1"/>
          </p:cNvSpPr>
          <p:nvPr>
            <p:ph type="sldNum" sz="quarter" idx="12"/>
          </p:nvPr>
        </p:nvSpPr>
        <p:spPr/>
        <p:txBody>
          <a:bodyPr/>
          <a:lstStyle/>
          <a:p>
            <a:fld id="{591A223C-FA10-BC46-A853-03BA373D023C}" type="slidenum">
              <a:rPr lang="en-US" smtClean="0"/>
              <a:t>19</a:t>
            </a:fld>
            <a:endParaRPr lang="en-US"/>
          </a:p>
        </p:txBody>
      </p:sp>
      <p:cxnSp>
        <p:nvCxnSpPr>
          <p:cNvPr id="4" name="Straight Connector 3">
            <a:extLst>
              <a:ext uri="{FF2B5EF4-FFF2-40B4-BE49-F238E27FC236}">
                <a16:creationId xmlns:a16="http://schemas.microsoft.com/office/drawing/2014/main" id="{35913924-2483-E343-99F2-9D1061599CCB}"/>
              </a:ext>
            </a:extLst>
          </p:cNvPr>
          <p:cNvCxnSpPr>
            <a:cxnSpLocks/>
          </p:cNvCxnSpPr>
          <p:nvPr/>
        </p:nvCxnSpPr>
        <p:spPr>
          <a:xfrm>
            <a:off x="309282" y="1797705"/>
            <a:ext cx="1131767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F3A29A8C-3092-FC46-94D9-2F44D4900D10}"/>
              </a:ext>
            </a:extLst>
          </p:cNvPr>
          <p:cNvCxnSpPr>
            <a:cxnSpLocks/>
          </p:cNvCxnSpPr>
          <p:nvPr/>
        </p:nvCxnSpPr>
        <p:spPr>
          <a:xfrm flipV="1">
            <a:off x="309282" y="2970192"/>
            <a:ext cx="11296113" cy="15743"/>
          </a:xfrm>
          <a:prstGeom prst="line">
            <a:avLst/>
          </a:prstGeom>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01F86251-6DE2-3448-A31F-B8BAA869C571}"/>
              </a:ext>
            </a:extLst>
          </p:cNvPr>
          <p:cNvSpPr/>
          <p:nvPr/>
        </p:nvSpPr>
        <p:spPr>
          <a:xfrm>
            <a:off x="309282" y="1133585"/>
            <a:ext cx="11317679" cy="302851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0BD2020F-C565-444B-9524-6B5AE1A0E168}"/>
                  </a:ext>
                </a:extLst>
              </p:cNvPr>
              <p:cNvSpPr/>
              <p:nvPr/>
            </p:nvSpPr>
            <p:spPr>
              <a:xfrm>
                <a:off x="1430118" y="2985935"/>
                <a:ext cx="3308085" cy="78380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ZA" sz="2400" i="1">
                              <a:latin typeface="Cambria Math" panose="02040503050406030204" pitchFamily="18" charset="0"/>
                            </a:rPr>
                          </m:ctrlPr>
                        </m:sSupPr>
                        <m:e>
                          <m:rad>
                            <m:radPr>
                              <m:degHide m:val="on"/>
                              <m:ctrlPr>
                                <a:rPr lang="en-ZA" sz="2400" i="1">
                                  <a:latin typeface="Cambria Math" panose="02040503050406030204" pitchFamily="18" charset="0"/>
                                </a:rPr>
                              </m:ctrlPr>
                            </m:radPr>
                            <m:deg/>
                            <m:e>
                              <m:r>
                                <a:rPr lang="sr-Latn-RS" sz="2400" i="1">
                                  <a:latin typeface="Cambria Math" panose="02040503050406030204" pitchFamily="18" charset="0"/>
                                </a:rPr>
                                <m:t>𝑋</m:t>
                              </m:r>
                            </m:e>
                          </m:rad>
                        </m:e>
                        <m:sup>
                          <m:r>
                            <a:rPr lang="sr-Latn-RS" sz="2400">
                              <a:latin typeface="Cambria Math" panose="02040503050406030204" pitchFamily="18" charset="0"/>
                            </a:rPr>
                            <m:t>†</m:t>
                          </m:r>
                        </m:sup>
                      </m:sSup>
                      <m:r>
                        <a:rPr lang="sr-Latn-RS" sz="2400" i="1">
                          <a:latin typeface="Cambria Math" panose="02040503050406030204" pitchFamily="18" charset="0"/>
                        </a:rPr>
                        <m:t>=</m:t>
                      </m:r>
                      <m:f>
                        <m:fPr>
                          <m:ctrlPr>
                            <a:rPr lang="en-ZA" sz="2400" i="1">
                              <a:latin typeface="Cambria Math" panose="02040503050406030204" pitchFamily="18" charset="0"/>
                            </a:rPr>
                          </m:ctrlPr>
                        </m:fPr>
                        <m:num>
                          <m:r>
                            <a:rPr lang="sr-Latn-RS" sz="2400" i="1">
                              <a:latin typeface="Cambria Math" panose="02040503050406030204" pitchFamily="18" charset="0"/>
                            </a:rPr>
                            <m:t>1</m:t>
                          </m:r>
                        </m:num>
                        <m:den>
                          <m:r>
                            <a:rPr lang="sr-Latn-RS" sz="2400" i="1">
                              <a:latin typeface="Cambria Math" panose="02040503050406030204" pitchFamily="18" charset="0"/>
                            </a:rPr>
                            <m:t>2</m:t>
                          </m:r>
                        </m:den>
                      </m:f>
                      <m:d>
                        <m:dPr>
                          <m:ctrlPr>
                            <a:rPr lang="en-ZA" sz="2400" i="1">
                              <a:latin typeface="Cambria Math" panose="02040503050406030204" pitchFamily="18" charset="0"/>
                            </a:rPr>
                          </m:ctrlPr>
                        </m:dPr>
                        <m:e>
                          <m:m>
                            <m:mPr>
                              <m:mcs>
                                <m:mc>
                                  <m:mcPr>
                                    <m:count m:val="2"/>
                                    <m:mcJc m:val="center"/>
                                  </m:mcPr>
                                </m:mc>
                              </m:mcs>
                              <m:ctrlPr>
                                <a:rPr lang="en-ZA" sz="2400" i="1">
                                  <a:latin typeface="Cambria Math" panose="02040503050406030204" pitchFamily="18" charset="0"/>
                                </a:rPr>
                              </m:ctrlPr>
                            </m:mPr>
                            <m:mr>
                              <m:e>
                                <m:r>
                                  <a:rPr lang="sr-Latn-RS" sz="2400" i="1">
                                    <a:latin typeface="Cambria Math" panose="02040503050406030204" pitchFamily="18" charset="0"/>
                                  </a:rPr>
                                  <m:t>1−</m:t>
                                </m:r>
                                <m:r>
                                  <a:rPr lang="sr-Latn-RS" sz="2400" i="1">
                                    <a:latin typeface="Cambria Math" panose="02040503050406030204" pitchFamily="18" charset="0"/>
                                  </a:rPr>
                                  <m:t>𝑖</m:t>
                                </m:r>
                              </m:e>
                              <m:e>
                                <m:r>
                                  <a:rPr lang="sr-Latn-RS" sz="2400" i="1">
                                    <a:latin typeface="Cambria Math" panose="02040503050406030204" pitchFamily="18" charset="0"/>
                                  </a:rPr>
                                  <m:t>1+</m:t>
                                </m:r>
                                <m:r>
                                  <a:rPr lang="sr-Latn-RS" sz="2400" i="1">
                                    <a:latin typeface="Cambria Math" panose="02040503050406030204" pitchFamily="18" charset="0"/>
                                  </a:rPr>
                                  <m:t>𝑖</m:t>
                                </m:r>
                              </m:e>
                            </m:mr>
                            <m:mr>
                              <m:e>
                                <m:r>
                                  <a:rPr lang="sr-Latn-RS" sz="2400" i="1">
                                    <a:latin typeface="Cambria Math" panose="02040503050406030204" pitchFamily="18" charset="0"/>
                                  </a:rPr>
                                  <m:t>1+</m:t>
                                </m:r>
                                <m:r>
                                  <a:rPr lang="sr-Latn-RS" sz="2400" i="1">
                                    <a:latin typeface="Cambria Math" panose="02040503050406030204" pitchFamily="18" charset="0"/>
                                  </a:rPr>
                                  <m:t>𝑖</m:t>
                                </m:r>
                              </m:e>
                              <m:e>
                                <m:r>
                                  <a:rPr lang="sr-Latn-RS" sz="2400" i="1">
                                    <a:latin typeface="Cambria Math" panose="02040503050406030204" pitchFamily="18" charset="0"/>
                                  </a:rPr>
                                  <m:t>1−</m:t>
                                </m:r>
                                <m:r>
                                  <a:rPr lang="sr-Latn-RS" sz="2400" i="1">
                                    <a:latin typeface="Cambria Math" panose="02040503050406030204" pitchFamily="18" charset="0"/>
                                  </a:rPr>
                                  <m:t>𝑖</m:t>
                                </m:r>
                              </m:e>
                            </m:mr>
                          </m:m>
                        </m:e>
                      </m:d>
                    </m:oMath>
                  </m:oMathPara>
                </a14:m>
                <a:endParaRPr lang="en-US" sz="2400" dirty="0"/>
              </a:p>
            </p:txBody>
          </p:sp>
        </mc:Choice>
        <mc:Fallback xmlns="">
          <p:sp>
            <p:nvSpPr>
              <p:cNvPr id="12" name="Rectangle 11">
                <a:extLst>
                  <a:ext uri="{FF2B5EF4-FFF2-40B4-BE49-F238E27FC236}">
                    <a16:creationId xmlns:a16="http://schemas.microsoft.com/office/drawing/2014/main" id="{0BD2020F-C565-444B-9524-6B5AE1A0E168}"/>
                  </a:ext>
                </a:extLst>
              </p:cNvPr>
              <p:cNvSpPr>
                <a:spLocks noRot="1" noChangeAspect="1" noMove="1" noResize="1" noEditPoints="1" noAdjustHandles="1" noChangeArrowheads="1" noChangeShapeType="1" noTextEdit="1"/>
              </p:cNvSpPr>
              <p:nvPr/>
            </p:nvSpPr>
            <p:spPr>
              <a:xfrm>
                <a:off x="1430118" y="2985935"/>
                <a:ext cx="3308085" cy="783804"/>
              </a:xfrm>
              <a:prstGeom prst="rect">
                <a:avLst/>
              </a:prstGeom>
              <a:blipFill>
                <a:blip r:embed="rId3"/>
                <a:stretch>
                  <a:fillRect b="-4762"/>
                </a:stretch>
              </a:blipFill>
            </p:spPr>
            <p:txBody>
              <a:bodyPr/>
              <a:lstStyle/>
              <a:p>
                <a:r>
                  <a:rPr lang="en-US">
                    <a:noFill/>
                  </a:rPr>
                  <a:t> </a:t>
                </a:r>
              </a:p>
            </p:txBody>
          </p:sp>
        </mc:Fallback>
      </mc:AlternateContent>
      <p:cxnSp>
        <p:nvCxnSpPr>
          <p:cNvPr id="16" name="Straight Connector 15">
            <a:extLst>
              <a:ext uri="{FF2B5EF4-FFF2-40B4-BE49-F238E27FC236}">
                <a16:creationId xmlns:a16="http://schemas.microsoft.com/office/drawing/2014/main" id="{1A76F891-5AB6-8649-AA11-DCC61231E1A8}"/>
              </a:ext>
            </a:extLst>
          </p:cNvPr>
          <p:cNvCxnSpPr>
            <a:cxnSpLocks/>
          </p:cNvCxnSpPr>
          <p:nvPr/>
        </p:nvCxnSpPr>
        <p:spPr>
          <a:xfrm>
            <a:off x="1537325" y="1133585"/>
            <a:ext cx="0" cy="3027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98B600C7-EF8F-A54F-A16B-AB413E8AA9CD}"/>
              </a:ext>
            </a:extLst>
          </p:cNvPr>
          <p:cNvCxnSpPr>
            <a:cxnSpLocks/>
          </p:cNvCxnSpPr>
          <p:nvPr/>
        </p:nvCxnSpPr>
        <p:spPr>
          <a:xfrm>
            <a:off x="4653631" y="1109614"/>
            <a:ext cx="0" cy="3027600"/>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5" name="Rectangle 34">
                <a:extLst>
                  <a:ext uri="{FF2B5EF4-FFF2-40B4-BE49-F238E27FC236}">
                    <a16:creationId xmlns:a16="http://schemas.microsoft.com/office/drawing/2014/main" id="{8E1157F6-F85D-484C-8FE4-D2BE513870B0}"/>
                  </a:ext>
                </a:extLst>
              </p:cNvPr>
              <p:cNvSpPr/>
              <p:nvPr/>
            </p:nvSpPr>
            <p:spPr>
              <a:xfrm>
                <a:off x="473524" y="1933949"/>
                <a:ext cx="900000" cy="900000"/>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ad>
                        <m:radPr>
                          <m:degHide m:val="on"/>
                          <m:ctrlPr>
                            <a:rPr lang="en-US" sz="3400" i="1" smtClean="0">
                              <a:latin typeface="Cambria Math" panose="02040503050406030204" pitchFamily="18" charset="0"/>
                            </a:rPr>
                          </m:ctrlPr>
                        </m:radPr>
                        <m:deg/>
                        <m:e>
                          <m:r>
                            <a:rPr lang="en-US" sz="3400" i="1">
                              <a:latin typeface="Cambria Math" panose="02040503050406030204" pitchFamily="18" charset="0"/>
                            </a:rPr>
                            <m:t>𝑋</m:t>
                          </m:r>
                        </m:e>
                      </m:rad>
                    </m:oMath>
                  </m:oMathPara>
                </a14:m>
                <a:endParaRPr lang="en-US" sz="3400" dirty="0">
                  <a:solidFill>
                    <a:schemeClr val="bg1"/>
                  </a:solidFill>
                  <a:latin typeface="Times" pitchFamily="2" charset="0"/>
                </a:endParaRPr>
              </a:p>
            </p:txBody>
          </p:sp>
        </mc:Choice>
        <mc:Fallback xmlns="">
          <p:sp>
            <p:nvSpPr>
              <p:cNvPr id="35" name="Rectangle 34">
                <a:extLst>
                  <a:ext uri="{FF2B5EF4-FFF2-40B4-BE49-F238E27FC236}">
                    <a16:creationId xmlns:a16="http://schemas.microsoft.com/office/drawing/2014/main" id="{8E1157F6-F85D-484C-8FE4-D2BE513870B0}"/>
                  </a:ext>
                </a:extLst>
              </p:cNvPr>
              <p:cNvSpPr>
                <a:spLocks noRot="1" noChangeAspect="1" noMove="1" noResize="1" noEditPoints="1" noAdjustHandles="1" noChangeArrowheads="1" noChangeShapeType="1" noTextEdit="1"/>
              </p:cNvSpPr>
              <p:nvPr/>
            </p:nvSpPr>
            <p:spPr>
              <a:xfrm>
                <a:off x="473524" y="1933949"/>
                <a:ext cx="900000" cy="900000"/>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Rectangle 35">
                <a:extLst>
                  <a:ext uri="{FF2B5EF4-FFF2-40B4-BE49-F238E27FC236}">
                    <a16:creationId xmlns:a16="http://schemas.microsoft.com/office/drawing/2014/main" id="{32F9BF4A-151C-EE4B-A813-55B617FB609E}"/>
                  </a:ext>
                </a:extLst>
              </p:cNvPr>
              <p:cNvSpPr/>
              <p:nvPr/>
            </p:nvSpPr>
            <p:spPr>
              <a:xfrm>
                <a:off x="1455870" y="1947186"/>
                <a:ext cx="3179909" cy="78380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m>
                        <m:mPr>
                          <m:plcHide m:val="on"/>
                          <m:mcs>
                            <m:mc>
                              <m:mcPr>
                                <m:count m:val="1"/>
                                <m:mcJc m:val="center"/>
                              </m:mcPr>
                            </m:mc>
                          </m:mcs>
                          <m:ctrlPr>
                            <a:rPr lang="en-US" sz="2400" i="1" smtClean="0">
                              <a:latin typeface="Cambria Math" panose="02040503050406030204" pitchFamily="18" charset="0"/>
                            </a:rPr>
                          </m:ctrlPr>
                        </m:mPr>
                        <m:mr>
                          <m:e>
                            <m:rad>
                              <m:radPr>
                                <m:degHide m:val="on"/>
                                <m:ctrlPr>
                                  <a:rPr lang="en-ZA" sz="2400" i="1">
                                    <a:latin typeface="Cambria Math" panose="02040503050406030204" pitchFamily="18" charset="0"/>
                                  </a:rPr>
                                </m:ctrlPr>
                              </m:radPr>
                              <m:deg/>
                              <m:e>
                                <m:r>
                                  <a:rPr lang="sr-Latn-RS" sz="2400" i="1">
                                    <a:latin typeface="Cambria Math" panose="02040503050406030204" pitchFamily="18" charset="0"/>
                                  </a:rPr>
                                  <m:t>𝑋</m:t>
                                </m:r>
                              </m:e>
                            </m:rad>
                            <m:r>
                              <a:rPr lang="sr-Latn-RS" sz="2400" i="1">
                                <a:latin typeface="Cambria Math" panose="02040503050406030204" pitchFamily="18" charset="0"/>
                              </a:rPr>
                              <m:t>=</m:t>
                            </m:r>
                            <m:f>
                              <m:fPr>
                                <m:ctrlPr>
                                  <a:rPr lang="en-ZA" sz="2400" i="1">
                                    <a:latin typeface="Cambria Math" panose="02040503050406030204" pitchFamily="18" charset="0"/>
                                  </a:rPr>
                                </m:ctrlPr>
                              </m:fPr>
                              <m:num>
                                <m:r>
                                  <a:rPr lang="sr-Latn-RS" sz="2400" i="1">
                                    <a:latin typeface="Cambria Math" panose="02040503050406030204" pitchFamily="18" charset="0"/>
                                  </a:rPr>
                                  <m:t>1</m:t>
                                </m:r>
                              </m:num>
                              <m:den>
                                <m:r>
                                  <a:rPr lang="sr-Latn-RS" sz="2400" i="1">
                                    <a:latin typeface="Cambria Math" panose="02040503050406030204" pitchFamily="18" charset="0"/>
                                  </a:rPr>
                                  <m:t>2</m:t>
                                </m:r>
                              </m:den>
                            </m:f>
                            <m:d>
                              <m:dPr>
                                <m:ctrlPr>
                                  <a:rPr lang="en-ZA" sz="2400" i="1">
                                    <a:latin typeface="Cambria Math" panose="02040503050406030204" pitchFamily="18" charset="0"/>
                                  </a:rPr>
                                </m:ctrlPr>
                              </m:dPr>
                              <m:e>
                                <m:m>
                                  <m:mPr>
                                    <m:mcs>
                                      <m:mc>
                                        <m:mcPr>
                                          <m:count m:val="2"/>
                                          <m:mcJc m:val="center"/>
                                        </m:mcPr>
                                      </m:mc>
                                    </m:mcs>
                                    <m:ctrlPr>
                                      <a:rPr lang="en-ZA" sz="2400" i="1">
                                        <a:latin typeface="Cambria Math" panose="02040503050406030204" pitchFamily="18" charset="0"/>
                                      </a:rPr>
                                    </m:ctrlPr>
                                  </m:mPr>
                                  <m:mr>
                                    <m:e>
                                      <m:r>
                                        <a:rPr lang="sr-Latn-RS" sz="2400" i="1">
                                          <a:latin typeface="Cambria Math" panose="02040503050406030204" pitchFamily="18" charset="0"/>
                                        </a:rPr>
                                        <m:t>1+</m:t>
                                      </m:r>
                                      <m:r>
                                        <a:rPr lang="sr-Latn-RS" sz="2400" i="1">
                                          <a:latin typeface="Cambria Math" panose="02040503050406030204" pitchFamily="18" charset="0"/>
                                        </a:rPr>
                                        <m:t>𝑖</m:t>
                                      </m:r>
                                    </m:e>
                                    <m:e>
                                      <m:r>
                                        <a:rPr lang="sr-Latn-RS" sz="2400" i="1">
                                          <a:latin typeface="Cambria Math" panose="02040503050406030204" pitchFamily="18" charset="0"/>
                                        </a:rPr>
                                        <m:t>1−</m:t>
                                      </m:r>
                                      <m:r>
                                        <a:rPr lang="sr-Latn-RS" sz="2400" i="1">
                                          <a:latin typeface="Cambria Math" panose="02040503050406030204" pitchFamily="18" charset="0"/>
                                        </a:rPr>
                                        <m:t>𝑖</m:t>
                                      </m:r>
                                    </m:e>
                                  </m:mr>
                                  <m:mr>
                                    <m:e>
                                      <m:r>
                                        <a:rPr lang="sr-Latn-RS" sz="2400" i="1">
                                          <a:latin typeface="Cambria Math" panose="02040503050406030204" pitchFamily="18" charset="0"/>
                                        </a:rPr>
                                        <m:t>1−</m:t>
                                      </m:r>
                                      <m:r>
                                        <a:rPr lang="sr-Latn-RS" sz="2400" i="1">
                                          <a:latin typeface="Cambria Math" panose="02040503050406030204" pitchFamily="18" charset="0"/>
                                        </a:rPr>
                                        <m:t>𝑖</m:t>
                                      </m:r>
                                    </m:e>
                                    <m:e>
                                      <m:r>
                                        <a:rPr lang="sr-Latn-RS" sz="2400" i="1">
                                          <a:latin typeface="Cambria Math" panose="02040503050406030204" pitchFamily="18" charset="0"/>
                                        </a:rPr>
                                        <m:t>1+</m:t>
                                      </m:r>
                                      <m:r>
                                        <a:rPr lang="sr-Latn-RS" sz="2400" i="1">
                                          <a:latin typeface="Cambria Math" panose="02040503050406030204" pitchFamily="18" charset="0"/>
                                        </a:rPr>
                                        <m:t>𝑖</m:t>
                                      </m:r>
                                    </m:e>
                                  </m:mr>
                                </m:m>
                              </m:e>
                            </m:d>
                          </m:e>
                        </m:mr>
                      </m:m>
                    </m:oMath>
                  </m:oMathPara>
                </a14:m>
                <a:endParaRPr lang="en-US" sz="2400" dirty="0"/>
              </a:p>
            </p:txBody>
          </p:sp>
        </mc:Choice>
        <mc:Fallback xmlns="">
          <p:sp>
            <p:nvSpPr>
              <p:cNvPr id="36" name="Rectangle 35">
                <a:extLst>
                  <a:ext uri="{FF2B5EF4-FFF2-40B4-BE49-F238E27FC236}">
                    <a16:creationId xmlns:a16="http://schemas.microsoft.com/office/drawing/2014/main" id="{32F9BF4A-151C-EE4B-A813-55B617FB609E}"/>
                  </a:ext>
                </a:extLst>
              </p:cNvPr>
              <p:cNvSpPr>
                <a:spLocks noRot="1" noChangeAspect="1" noMove="1" noResize="1" noEditPoints="1" noAdjustHandles="1" noChangeArrowheads="1" noChangeShapeType="1" noTextEdit="1"/>
              </p:cNvSpPr>
              <p:nvPr/>
            </p:nvSpPr>
            <p:spPr>
              <a:xfrm>
                <a:off x="1455870" y="1947186"/>
                <a:ext cx="3179909" cy="783804"/>
              </a:xfrm>
              <a:prstGeom prst="rect">
                <a:avLst/>
              </a:prstGeom>
              <a:blipFill>
                <a:blip r:embed="rId5"/>
                <a:stretch>
                  <a:fillRect b="-634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A41F298D-2142-3447-964A-88FBF8974F35}"/>
                  </a:ext>
                </a:extLst>
              </p:cNvPr>
              <p:cNvSpPr txBox="1"/>
              <p:nvPr/>
            </p:nvSpPr>
            <p:spPr>
              <a:xfrm>
                <a:off x="4689568" y="1891450"/>
                <a:ext cx="5071914" cy="767711"/>
              </a:xfrm>
              <a:prstGeom prst="rect">
                <a:avLst/>
              </a:prstGeom>
              <a:noFill/>
            </p:spPr>
            <p:txBody>
              <a:bodyPr wrap="square" rtlCol="0">
                <a:spAutoFit/>
              </a:bodyPr>
              <a:lstStyle/>
              <a:p>
                <a:pPr algn="ctr"/>
                <a:r>
                  <a:rPr lang="en-ZA" sz="2000" dirty="0">
                    <a:latin typeface="+mj-lt"/>
                  </a:rPr>
                  <a:t>rotates a qubit’s state about the </a:t>
                </a:r>
                <a14:m>
                  <m:oMath xmlns:m="http://schemas.openxmlformats.org/officeDocument/2006/math">
                    <m:r>
                      <a:rPr lang="sr-Latn-RS" sz="2000" b="0" i="1">
                        <a:latin typeface="Cambria Math" panose="02040503050406030204" pitchFamily="18" charset="0"/>
                      </a:rPr>
                      <m:t>𝑥</m:t>
                    </m:r>
                    <m:r>
                      <a:rPr lang="sr-Latn-RS" sz="2000" b="0" i="1">
                        <a:latin typeface="Cambria Math" panose="02040503050406030204" pitchFamily="18" charset="0"/>
                      </a:rPr>
                      <m:t> </m:t>
                    </m:r>
                  </m:oMath>
                </a14:m>
                <a:r>
                  <a:rPr lang="en-ZA" sz="2000" dirty="0">
                    <a:latin typeface="+mj-lt"/>
                  </a:rPr>
                  <a:t>-axis by </a:t>
                </a:r>
                <a14:m>
                  <m:oMath xmlns:m="http://schemas.openxmlformats.org/officeDocument/2006/math">
                    <m:r>
                      <a:rPr lang="sr-Latn-RS" sz="2000" b="0" i="1" smtClean="0">
                        <a:latin typeface="Cambria Math" panose="02040503050406030204" pitchFamily="18" charset="0"/>
                      </a:rPr>
                      <m:t>𝜋</m:t>
                    </m:r>
                    <m:r>
                      <a:rPr lang="sr-Latn-RS" sz="2000" b="0">
                        <a:latin typeface="Cambria Math" panose="02040503050406030204" pitchFamily="18" charset="0"/>
                      </a:rPr>
                      <m:t>/</m:t>
                    </m:r>
                    <m:r>
                      <a:rPr lang="sr-Latn-RS" sz="2000" b="0" i="1">
                        <a:latin typeface="Cambria Math" panose="02040503050406030204" pitchFamily="18" charset="0"/>
                      </a:rPr>
                      <m:t>2</m:t>
                    </m:r>
                  </m:oMath>
                </a14:m>
                <a:r>
                  <a:rPr lang="en-US" sz="2200" dirty="0">
                    <a:latin typeface="+mj-lt"/>
                  </a:rPr>
                  <a:t>.</a:t>
                </a:r>
              </a:p>
              <a:p>
                <a:pPr algn="ctr"/>
                <a14:m>
                  <m:oMath xmlns:m="http://schemas.openxmlformats.org/officeDocument/2006/math">
                    <m:rad>
                      <m:radPr>
                        <m:degHide m:val="on"/>
                        <m:ctrlPr>
                          <a:rPr lang="en-ZA" sz="2000" i="1">
                            <a:latin typeface="Cambria Math" panose="02040503050406030204" pitchFamily="18" charset="0"/>
                          </a:rPr>
                        </m:ctrlPr>
                      </m:radPr>
                      <m:deg/>
                      <m:e>
                        <m:r>
                          <a:rPr lang="sr-Latn-RS" sz="2000" i="1">
                            <a:latin typeface="Cambria Math" panose="02040503050406030204" pitchFamily="18" charset="0"/>
                          </a:rPr>
                          <m:t>𝑋</m:t>
                        </m:r>
                      </m:e>
                    </m:rad>
                  </m:oMath>
                </a14:m>
                <a:r>
                  <a:rPr lang="en-ZA" sz="2000" dirty="0"/>
                  <a:t> </a:t>
                </a:r>
                <a14:m>
                  <m:oMath xmlns:m="http://schemas.openxmlformats.org/officeDocument/2006/math">
                    <m:rad>
                      <m:radPr>
                        <m:degHide m:val="on"/>
                        <m:ctrlPr>
                          <a:rPr lang="en-ZA" sz="2000" i="1">
                            <a:latin typeface="Cambria Math" panose="02040503050406030204" pitchFamily="18" charset="0"/>
                          </a:rPr>
                        </m:ctrlPr>
                      </m:radPr>
                      <m:deg/>
                      <m:e>
                        <m:r>
                          <a:rPr lang="sr-Latn-RS" sz="2000" i="1">
                            <a:latin typeface="Cambria Math" panose="02040503050406030204" pitchFamily="18" charset="0"/>
                          </a:rPr>
                          <m:t>𝑋</m:t>
                        </m:r>
                      </m:e>
                    </m:rad>
                    <m:r>
                      <a:rPr lang="sr-Latn-RS" sz="2000" b="0" i="0" smtClean="0">
                        <a:latin typeface="Cambria Math" panose="02040503050406030204" pitchFamily="18" charset="0"/>
                      </a:rPr>
                      <m:t>=</m:t>
                    </m:r>
                    <m:r>
                      <a:rPr lang="sr-Latn-RS" sz="2000" b="0" i="1" smtClean="0">
                        <a:latin typeface="Cambria Math" panose="02040503050406030204" pitchFamily="18" charset="0"/>
                      </a:rPr>
                      <m:t>𝑋</m:t>
                    </m:r>
                  </m:oMath>
                </a14:m>
                <a:endParaRPr lang="en-US" sz="2200" i="1" dirty="0">
                  <a:latin typeface="+mj-lt"/>
                </a:endParaRPr>
              </a:p>
            </p:txBody>
          </p:sp>
        </mc:Choice>
        <mc:Fallback xmlns="">
          <p:sp>
            <p:nvSpPr>
              <p:cNvPr id="37" name="TextBox 36">
                <a:extLst>
                  <a:ext uri="{FF2B5EF4-FFF2-40B4-BE49-F238E27FC236}">
                    <a16:creationId xmlns:a16="http://schemas.microsoft.com/office/drawing/2014/main" id="{A41F298D-2142-3447-964A-88FBF8974F35}"/>
                  </a:ext>
                </a:extLst>
              </p:cNvPr>
              <p:cNvSpPr txBox="1">
                <a:spLocks noRot="1" noChangeAspect="1" noMove="1" noResize="1" noEditPoints="1" noAdjustHandles="1" noChangeArrowheads="1" noChangeShapeType="1" noTextEdit="1"/>
              </p:cNvSpPr>
              <p:nvPr/>
            </p:nvSpPr>
            <p:spPr>
              <a:xfrm>
                <a:off x="4689568" y="1891450"/>
                <a:ext cx="5071914" cy="767711"/>
              </a:xfrm>
              <a:prstGeom prst="rect">
                <a:avLst/>
              </a:prstGeom>
              <a:blipFill>
                <a:blip r:embed="rId6"/>
                <a:stretch>
                  <a:fillRect l="-249" t="-4918" r="-499"/>
                </a:stretch>
              </a:blipFill>
            </p:spPr>
            <p:txBody>
              <a:bodyPr/>
              <a:lstStyle/>
              <a:p>
                <a:r>
                  <a:rPr lang="en-US">
                    <a:noFill/>
                  </a:rPr>
                  <a:t> </a:t>
                </a:r>
              </a:p>
            </p:txBody>
          </p:sp>
        </mc:Fallback>
      </mc:AlternateContent>
      <p:sp>
        <p:nvSpPr>
          <p:cNvPr id="43" name="Rectangle 42">
            <a:extLst>
              <a:ext uri="{FF2B5EF4-FFF2-40B4-BE49-F238E27FC236}">
                <a16:creationId xmlns:a16="http://schemas.microsoft.com/office/drawing/2014/main" id="{0824DC6C-CEC9-3E4E-8DF1-99A0070F2BD7}"/>
              </a:ext>
            </a:extLst>
          </p:cNvPr>
          <p:cNvSpPr/>
          <p:nvPr/>
        </p:nvSpPr>
        <p:spPr>
          <a:xfrm>
            <a:off x="10061153" y="2153116"/>
            <a:ext cx="1688495" cy="461665"/>
          </a:xfrm>
          <a:prstGeom prst="rect">
            <a:avLst/>
          </a:prstGeom>
        </p:spPr>
        <p:txBody>
          <a:bodyPr wrap="square">
            <a:spAutoFit/>
          </a:bodyPr>
          <a:lstStyle/>
          <a:p>
            <a:r>
              <a:rPr lang="en-US" sz="2400" dirty="0" err="1">
                <a:latin typeface="AndaleMono" panose="020B0509000000000004" pitchFamily="49" charset="0"/>
              </a:rPr>
              <a:t>sx</a:t>
            </a:r>
            <a:r>
              <a:rPr lang="en-US" sz="2400" dirty="0">
                <a:latin typeface="AndaleMono" panose="020B0509000000000004" pitchFamily="49" charset="0"/>
              </a:rPr>
              <a:t> q[</a:t>
            </a:r>
            <a:r>
              <a:rPr lang="en-US" sz="2400" dirty="0" err="1">
                <a:latin typeface="AndaleMono" panose="020B0509000000000004" pitchFamily="49" charset="0"/>
              </a:rPr>
              <a:t>i</a:t>
            </a:r>
            <a:r>
              <a:rPr lang="en-US" sz="2400" dirty="0">
                <a:latin typeface="AndaleMono" panose="020B0509000000000004" pitchFamily="49" charset="0"/>
              </a:rPr>
              <a:t>]; </a:t>
            </a:r>
            <a:endParaRPr lang="en-US" sz="2400" dirty="0">
              <a:effectLst/>
            </a:endParaRPr>
          </a:p>
        </p:txBody>
      </p:sp>
      <p:sp>
        <p:nvSpPr>
          <p:cNvPr id="45" name="Rectangle 44">
            <a:extLst>
              <a:ext uri="{FF2B5EF4-FFF2-40B4-BE49-F238E27FC236}">
                <a16:creationId xmlns:a16="http://schemas.microsoft.com/office/drawing/2014/main" id="{C5BBC8E7-110F-C349-BCC2-F2E96AA83C0A}"/>
              </a:ext>
            </a:extLst>
          </p:cNvPr>
          <p:cNvSpPr/>
          <p:nvPr/>
        </p:nvSpPr>
        <p:spPr>
          <a:xfrm>
            <a:off x="9714167" y="3308074"/>
            <a:ext cx="2212465" cy="461665"/>
          </a:xfrm>
          <a:prstGeom prst="rect">
            <a:avLst/>
          </a:prstGeom>
        </p:spPr>
        <p:txBody>
          <a:bodyPr wrap="none">
            <a:spAutoFit/>
          </a:bodyPr>
          <a:lstStyle/>
          <a:p>
            <a:r>
              <a:rPr lang="en-US" sz="2400" dirty="0" err="1">
                <a:latin typeface="AndaleMono" panose="020B0509000000000004" pitchFamily="49" charset="0"/>
              </a:rPr>
              <a:t>sxdg</a:t>
            </a:r>
            <a:r>
              <a:rPr lang="en-US" sz="2400" dirty="0">
                <a:latin typeface="AndaleMono" panose="020B0509000000000004" pitchFamily="49" charset="0"/>
              </a:rPr>
              <a:t> q[</a:t>
            </a:r>
            <a:r>
              <a:rPr lang="en-US" sz="2400" dirty="0" err="1">
                <a:latin typeface="AndaleMono" panose="020B0509000000000004" pitchFamily="49" charset="0"/>
              </a:rPr>
              <a:t>i</a:t>
            </a:r>
            <a:r>
              <a:rPr lang="en-US" sz="2400" dirty="0">
                <a:latin typeface="AndaleMono" panose="020B0509000000000004" pitchFamily="49" charset="0"/>
              </a:rPr>
              <a:t>]; </a:t>
            </a:r>
            <a:endParaRPr lang="en-US" sz="2400" dirty="0">
              <a:effectLst/>
            </a:endParaRPr>
          </a:p>
        </p:txBody>
      </p:sp>
      <p:cxnSp>
        <p:nvCxnSpPr>
          <p:cNvPr id="53" name="Straight Connector 52">
            <a:extLst>
              <a:ext uri="{FF2B5EF4-FFF2-40B4-BE49-F238E27FC236}">
                <a16:creationId xmlns:a16="http://schemas.microsoft.com/office/drawing/2014/main" id="{8A527968-DE7C-FE4A-A9DB-19FD054BF655}"/>
              </a:ext>
            </a:extLst>
          </p:cNvPr>
          <p:cNvCxnSpPr>
            <a:cxnSpLocks/>
          </p:cNvCxnSpPr>
          <p:nvPr/>
        </p:nvCxnSpPr>
        <p:spPr>
          <a:xfrm flipV="1">
            <a:off x="9788699" y="1133587"/>
            <a:ext cx="0" cy="3028510"/>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1" name="Rectangle 40">
                <a:extLst>
                  <a:ext uri="{FF2B5EF4-FFF2-40B4-BE49-F238E27FC236}">
                    <a16:creationId xmlns:a16="http://schemas.microsoft.com/office/drawing/2014/main" id="{41FB0C96-7530-F544-9F78-1E4A363E9F38}"/>
                  </a:ext>
                </a:extLst>
              </p:cNvPr>
              <p:cNvSpPr/>
              <p:nvPr/>
            </p:nvSpPr>
            <p:spPr>
              <a:xfrm>
                <a:off x="486072" y="3110757"/>
                <a:ext cx="900000" cy="900000"/>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p>
                        <m:sSupPr>
                          <m:ctrlPr>
                            <a:rPr lang="en-US" sz="3400" i="1" smtClean="0">
                              <a:latin typeface="Cambria Math" panose="02040503050406030204" pitchFamily="18" charset="0"/>
                            </a:rPr>
                          </m:ctrlPr>
                        </m:sSupPr>
                        <m:e>
                          <m:rad>
                            <m:radPr>
                              <m:degHide m:val="on"/>
                              <m:ctrlPr>
                                <a:rPr lang="en-US" sz="3400" i="1">
                                  <a:latin typeface="Cambria Math" panose="02040503050406030204" pitchFamily="18" charset="0"/>
                                </a:rPr>
                              </m:ctrlPr>
                            </m:radPr>
                            <m:deg/>
                            <m:e>
                              <m:r>
                                <a:rPr lang="en-US" sz="3400" i="1">
                                  <a:latin typeface="Cambria Math" panose="02040503050406030204" pitchFamily="18" charset="0"/>
                                </a:rPr>
                                <m:t>𝑋</m:t>
                              </m:r>
                            </m:e>
                          </m:rad>
                        </m:e>
                        <m:sup>
                          <m:r>
                            <a:rPr lang="en-US" sz="3400" i="1">
                              <a:latin typeface="Cambria Math" panose="02040503050406030204" pitchFamily="18" charset="0"/>
                            </a:rPr>
                            <m:t>†</m:t>
                          </m:r>
                        </m:sup>
                      </m:sSup>
                    </m:oMath>
                  </m:oMathPara>
                </a14:m>
                <a:endParaRPr lang="en-US" sz="3400" dirty="0">
                  <a:solidFill>
                    <a:schemeClr val="bg1"/>
                  </a:solidFill>
                  <a:latin typeface="Times" pitchFamily="2" charset="0"/>
                </a:endParaRPr>
              </a:p>
            </p:txBody>
          </p:sp>
        </mc:Choice>
        <mc:Fallback xmlns="">
          <p:sp>
            <p:nvSpPr>
              <p:cNvPr id="41" name="Rectangle 40">
                <a:extLst>
                  <a:ext uri="{FF2B5EF4-FFF2-40B4-BE49-F238E27FC236}">
                    <a16:creationId xmlns:a16="http://schemas.microsoft.com/office/drawing/2014/main" id="{41FB0C96-7530-F544-9F78-1E4A363E9F38}"/>
                  </a:ext>
                </a:extLst>
              </p:cNvPr>
              <p:cNvSpPr>
                <a:spLocks noRot="1" noChangeAspect="1" noMove="1" noResize="1" noEditPoints="1" noAdjustHandles="1" noChangeArrowheads="1" noChangeShapeType="1" noTextEdit="1"/>
              </p:cNvSpPr>
              <p:nvPr/>
            </p:nvSpPr>
            <p:spPr>
              <a:xfrm>
                <a:off x="486072" y="3110757"/>
                <a:ext cx="900000" cy="900000"/>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2EDD5A98-C1C3-484B-9C99-978B69550C91}"/>
                  </a:ext>
                </a:extLst>
              </p:cNvPr>
              <p:cNvSpPr txBox="1"/>
              <p:nvPr/>
            </p:nvSpPr>
            <p:spPr>
              <a:xfrm>
                <a:off x="4558554" y="3220937"/>
                <a:ext cx="5378822" cy="806631"/>
              </a:xfrm>
              <a:prstGeom prst="rect">
                <a:avLst/>
              </a:prstGeom>
              <a:noFill/>
            </p:spPr>
            <p:txBody>
              <a:bodyPr wrap="square" rtlCol="0">
                <a:spAutoFit/>
              </a:bodyPr>
              <a:lstStyle/>
              <a:p>
                <a:pPr algn="ctr"/>
                <a:r>
                  <a:rPr lang="en-ZA" sz="2000" dirty="0"/>
                  <a:t>rotates a qubit’s state about the </a:t>
                </a:r>
                <a14:m>
                  <m:oMath xmlns:m="http://schemas.openxmlformats.org/officeDocument/2006/math">
                    <m:r>
                      <a:rPr lang="sr-Latn-RS" sz="2000" i="1">
                        <a:latin typeface="Cambria Math" panose="02040503050406030204" pitchFamily="18" charset="0"/>
                      </a:rPr>
                      <m:t>𝑥</m:t>
                    </m:r>
                    <m:r>
                      <a:rPr lang="sr-Latn-RS" sz="2000" i="1">
                        <a:latin typeface="Cambria Math" panose="02040503050406030204" pitchFamily="18" charset="0"/>
                      </a:rPr>
                      <m:t> </m:t>
                    </m:r>
                  </m:oMath>
                </a14:m>
                <a:r>
                  <a:rPr lang="en-ZA" sz="2000" dirty="0"/>
                  <a:t>-axis by </a:t>
                </a:r>
                <a14:m>
                  <m:oMath xmlns:m="http://schemas.openxmlformats.org/officeDocument/2006/math">
                    <m:r>
                      <a:rPr lang="en-US" sz="2000" b="0" i="0" smtClean="0">
                        <a:latin typeface="Cambria Math" panose="02040503050406030204" pitchFamily="18" charset="0"/>
                      </a:rPr>
                      <m:t>−</m:t>
                    </m:r>
                    <m:r>
                      <a:rPr lang="sr-Latn-RS" sz="2000" b="0" i="1">
                        <a:latin typeface="Cambria Math" panose="02040503050406030204" pitchFamily="18" charset="0"/>
                      </a:rPr>
                      <m:t>𝜋</m:t>
                    </m:r>
                    <m:r>
                      <a:rPr lang="sr-Latn-RS" sz="2000" b="0">
                        <a:latin typeface="Cambria Math" panose="02040503050406030204" pitchFamily="18" charset="0"/>
                      </a:rPr>
                      <m:t>/</m:t>
                    </m:r>
                    <m:r>
                      <a:rPr lang="sr-Latn-RS" sz="2000" b="0" i="1">
                        <a:latin typeface="Cambria Math" panose="02040503050406030204" pitchFamily="18" charset="0"/>
                      </a:rPr>
                      <m:t>2</m:t>
                    </m:r>
                  </m:oMath>
                </a14:m>
                <a:r>
                  <a:rPr lang="en-US" sz="2000" dirty="0"/>
                  <a:t>.</a:t>
                </a:r>
                <a:endParaRPr lang="en-US" sz="2200" dirty="0">
                  <a:latin typeface="+mj-lt"/>
                </a:endParaRPr>
              </a:p>
              <a:p>
                <a:pPr algn="ctr"/>
                <a14:m>
                  <m:oMath xmlns:m="http://schemas.openxmlformats.org/officeDocument/2006/math">
                    <m:sSup>
                      <m:sSupPr>
                        <m:ctrlPr>
                          <a:rPr lang="en-ZA" sz="2000" i="1">
                            <a:latin typeface="Cambria Math" panose="02040503050406030204" pitchFamily="18" charset="0"/>
                          </a:rPr>
                        </m:ctrlPr>
                      </m:sSupPr>
                      <m:e>
                        <m:rad>
                          <m:radPr>
                            <m:degHide m:val="on"/>
                            <m:ctrlPr>
                              <a:rPr lang="en-ZA" sz="2000" i="1">
                                <a:latin typeface="Cambria Math" panose="02040503050406030204" pitchFamily="18" charset="0"/>
                              </a:rPr>
                            </m:ctrlPr>
                          </m:radPr>
                          <m:deg/>
                          <m:e>
                            <m:r>
                              <a:rPr lang="sr-Latn-RS" sz="2000" i="1">
                                <a:latin typeface="Cambria Math" panose="02040503050406030204" pitchFamily="18" charset="0"/>
                              </a:rPr>
                              <m:t>𝑋</m:t>
                            </m:r>
                          </m:e>
                        </m:rad>
                      </m:e>
                      <m:sup>
                        <m:r>
                          <a:rPr lang="sr-Latn-RS" sz="2000">
                            <a:latin typeface="Cambria Math" panose="02040503050406030204" pitchFamily="18" charset="0"/>
                          </a:rPr>
                          <m:t>†</m:t>
                        </m:r>
                      </m:sup>
                    </m:sSup>
                  </m:oMath>
                </a14:m>
                <a:r>
                  <a:rPr lang="en-ZA" sz="2000" dirty="0"/>
                  <a:t> </a:t>
                </a:r>
                <a14:m>
                  <m:oMath xmlns:m="http://schemas.openxmlformats.org/officeDocument/2006/math">
                    <m:sSup>
                      <m:sSupPr>
                        <m:ctrlPr>
                          <a:rPr lang="en-ZA" sz="2000" i="1">
                            <a:latin typeface="Cambria Math" panose="02040503050406030204" pitchFamily="18" charset="0"/>
                          </a:rPr>
                        </m:ctrlPr>
                      </m:sSupPr>
                      <m:e>
                        <m:rad>
                          <m:radPr>
                            <m:degHide m:val="on"/>
                            <m:ctrlPr>
                              <a:rPr lang="en-ZA" sz="2000" i="1">
                                <a:latin typeface="Cambria Math" panose="02040503050406030204" pitchFamily="18" charset="0"/>
                              </a:rPr>
                            </m:ctrlPr>
                          </m:radPr>
                          <m:deg/>
                          <m:e>
                            <m:r>
                              <a:rPr lang="sr-Latn-RS" sz="2000" i="1">
                                <a:latin typeface="Cambria Math" panose="02040503050406030204" pitchFamily="18" charset="0"/>
                              </a:rPr>
                              <m:t>𝑋</m:t>
                            </m:r>
                          </m:e>
                        </m:rad>
                      </m:e>
                      <m:sup>
                        <m:r>
                          <a:rPr lang="sr-Latn-RS" sz="2000">
                            <a:latin typeface="Cambria Math" panose="02040503050406030204" pitchFamily="18" charset="0"/>
                          </a:rPr>
                          <m:t>†</m:t>
                        </m:r>
                      </m:sup>
                    </m:sSup>
                    <m:r>
                      <a:rPr lang="sr-Latn-RS" sz="2000" b="0" i="0" smtClean="0">
                        <a:latin typeface="Cambria Math" panose="02040503050406030204" pitchFamily="18" charset="0"/>
                      </a:rPr>
                      <m:t>=</m:t>
                    </m:r>
                    <m:r>
                      <a:rPr lang="sr-Latn-RS" sz="2000" b="0" i="1" smtClean="0">
                        <a:latin typeface="Cambria Math" panose="02040503050406030204" pitchFamily="18" charset="0"/>
                      </a:rPr>
                      <m:t>𝑋</m:t>
                    </m:r>
                  </m:oMath>
                </a14:m>
                <a:endParaRPr lang="en-US" sz="2200" i="1" dirty="0">
                  <a:latin typeface="+mj-lt"/>
                </a:endParaRPr>
              </a:p>
            </p:txBody>
          </p:sp>
        </mc:Choice>
        <mc:Fallback xmlns="">
          <p:sp>
            <p:nvSpPr>
              <p:cNvPr id="54" name="TextBox 53">
                <a:extLst>
                  <a:ext uri="{FF2B5EF4-FFF2-40B4-BE49-F238E27FC236}">
                    <a16:creationId xmlns:a16="http://schemas.microsoft.com/office/drawing/2014/main" id="{2EDD5A98-C1C3-484B-9C99-978B69550C91}"/>
                  </a:ext>
                </a:extLst>
              </p:cNvPr>
              <p:cNvSpPr txBox="1">
                <a:spLocks noRot="1" noChangeAspect="1" noMove="1" noResize="1" noEditPoints="1" noAdjustHandles="1" noChangeArrowheads="1" noChangeShapeType="1" noTextEdit="1"/>
              </p:cNvSpPr>
              <p:nvPr/>
            </p:nvSpPr>
            <p:spPr>
              <a:xfrm>
                <a:off x="4558554" y="3220937"/>
                <a:ext cx="5378822" cy="806631"/>
              </a:xfrm>
              <a:prstGeom prst="rect">
                <a:avLst/>
              </a:prstGeom>
              <a:blipFill>
                <a:blip r:embed="rId8"/>
                <a:stretch>
                  <a:fillRect t="-312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0D2B9478-DCE3-9746-9819-EFD9094D8501}"/>
                  </a:ext>
                </a:extLst>
              </p:cNvPr>
              <p:cNvSpPr/>
              <p:nvPr/>
            </p:nvSpPr>
            <p:spPr>
              <a:xfrm>
                <a:off x="539095" y="4582883"/>
                <a:ext cx="7855760" cy="78380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ad>
                        <m:radPr>
                          <m:degHide m:val="on"/>
                          <m:ctrlPr>
                            <a:rPr lang="en-ZA" sz="2400" i="1" smtClean="0">
                              <a:latin typeface="Cambria Math" panose="02040503050406030204" pitchFamily="18" charset="0"/>
                            </a:rPr>
                          </m:ctrlPr>
                        </m:radPr>
                        <m:deg/>
                        <m:e>
                          <m:r>
                            <a:rPr lang="sr-Latn-RS" sz="2400" i="1">
                              <a:latin typeface="Cambria Math" panose="02040503050406030204" pitchFamily="18" charset="0"/>
                            </a:rPr>
                            <m:t>𝑋</m:t>
                          </m:r>
                        </m:e>
                      </m:rad>
                      <m:rad>
                        <m:radPr>
                          <m:degHide m:val="on"/>
                          <m:ctrlPr>
                            <a:rPr lang="en-ZA" sz="2400" i="1" smtClean="0">
                              <a:latin typeface="Cambria Math" panose="02040503050406030204" pitchFamily="18" charset="0"/>
                            </a:rPr>
                          </m:ctrlPr>
                        </m:radPr>
                        <m:deg/>
                        <m:e>
                          <m:r>
                            <a:rPr lang="sr-Latn-RS" sz="2400" i="1">
                              <a:latin typeface="Cambria Math" panose="02040503050406030204" pitchFamily="18" charset="0"/>
                            </a:rPr>
                            <m:t>𝑋</m:t>
                          </m:r>
                        </m:e>
                      </m:rad>
                      <m:r>
                        <a:rPr lang="sr-Latn-RS" sz="2400" b="0" i="1" smtClean="0">
                          <a:latin typeface="Cambria Math" panose="02040503050406030204" pitchFamily="18" charset="0"/>
                        </a:rPr>
                        <m:t>=</m:t>
                      </m:r>
                      <m:f>
                        <m:fPr>
                          <m:ctrlPr>
                            <a:rPr lang="en-ZA" sz="2400" i="1">
                              <a:latin typeface="Cambria Math" panose="02040503050406030204" pitchFamily="18" charset="0"/>
                            </a:rPr>
                          </m:ctrlPr>
                        </m:fPr>
                        <m:num>
                          <m:r>
                            <a:rPr lang="sr-Latn-RS" sz="2400" i="1">
                              <a:latin typeface="Cambria Math" panose="02040503050406030204" pitchFamily="18" charset="0"/>
                            </a:rPr>
                            <m:t>1</m:t>
                          </m:r>
                        </m:num>
                        <m:den>
                          <m:r>
                            <a:rPr lang="sr-Latn-RS" sz="2400" i="1">
                              <a:latin typeface="Cambria Math" panose="02040503050406030204" pitchFamily="18" charset="0"/>
                            </a:rPr>
                            <m:t>2</m:t>
                          </m:r>
                        </m:den>
                      </m:f>
                      <m:d>
                        <m:dPr>
                          <m:ctrlPr>
                            <a:rPr lang="en-ZA" sz="2400" i="1">
                              <a:latin typeface="Cambria Math" panose="02040503050406030204" pitchFamily="18" charset="0"/>
                            </a:rPr>
                          </m:ctrlPr>
                        </m:dPr>
                        <m:e>
                          <m:m>
                            <m:mPr>
                              <m:mcs>
                                <m:mc>
                                  <m:mcPr>
                                    <m:count m:val="2"/>
                                    <m:mcJc m:val="center"/>
                                  </m:mcPr>
                                </m:mc>
                              </m:mcs>
                              <m:ctrlPr>
                                <a:rPr lang="en-ZA" sz="2400" i="1">
                                  <a:latin typeface="Cambria Math" panose="02040503050406030204" pitchFamily="18" charset="0"/>
                                </a:rPr>
                              </m:ctrlPr>
                            </m:mPr>
                            <m:mr>
                              <m:e>
                                <m:r>
                                  <a:rPr lang="sr-Latn-RS" sz="2400" i="1">
                                    <a:latin typeface="Cambria Math" panose="02040503050406030204" pitchFamily="18" charset="0"/>
                                  </a:rPr>
                                  <m:t>1+</m:t>
                                </m:r>
                                <m:r>
                                  <a:rPr lang="sr-Latn-RS" sz="2400" i="1">
                                    <a:latin typeface="Cambria Math" panose="02040503050406030204" pitchFamily="18" charset="0"/>
                                  </a:rPr>
                                  <m:t>𝑖</m:t>
                                </m:r>
                              </m:e>
                              <m:e>
                                <m:r>
                                  <a:rPr lang="sr-Latn-RS" sz="2400" i="1">
                                    <a:latin typeface="Cambria Math" panose="02040503050406030204" pitchFamily="18" charset="0"/>
                                  </a:rPr>
                                  <m:t>1−</m:t>
                                </m:r>
                                <m:r>
                                  <a:rPr lang="sr-Latn-RS" sz="2400" i="1">
                                    <a:latin typeface="Cambria Math" panose="02040503050406030204" pitchFamily="18" charset="0"/>
                                  </a:rPr>
                                  <m:t>𝑖</m:t>
                                </m:r>
                              </m:e>
                            </m:mr>
                            <m:mr>
                              <m:e>
                                <m:r>
                                  <a:rPr lang="sr-Latn-RS" sz="2400" i="1">
                                    <a:latin typeface="Cambria Math" panose="02040503050406030204" pitchFamily="18" charset="0"/>
                                  </a:rPr>
                                  <m:t>1−</m:t>
                                </m:r>
                                <m:r>
                                  <a:rPr lang="sr-Latn-RS" sz="2400" i="1">
                                    <a:latin typeface="Cambria Math" panose="02040503050406030204" pitchFamily="18" charset="0"/>
                                  </a:rPr>
                                  <m:t>𝑖</m:t>
                                </m:r>
                              </m:e>
                              <m:e>
                                <m:r>
                                  <a:rPr lang="sr-Latn-RS" sz="2400" i="1">
                                    <a:latin typeface="Cambria Math" panose="02040503050406030204" pitchFamily="18" charset="0"/>
                                  </a:rPr>
                                  <m:t>1+</m:t>
                                </m:r>
                                <m:r>
                                  <a:rPr lang="sr-Latn-RS" sz="2400" i="1">
                                    <a:latin typeface="Cambria Math" panose="02040503050406030204" pitchFamily="18" charset="0"/>
                                  </a:rPr>
                                  <m:t>𝑖</m:t>
                                </m:r>
                              </m:e>
                            </m:mr>
                          </m:m>
                        </m:e>
                      </m:d>
                      <m:f>
                        <m:fPr>
                          <m:ctrlPr>
                            <a:rPr lang="en-ZA" sz="2400" i="1">
                              <a:latin typeface="Cambria Math" panose="02040503050406030204" pitchFamily="18" charset="0"/>
                            </a:rPr>
                          </m:ctrlPr>
                        </m:fPr>
                        <m:num>
                          <m:r>
                            <a:rPr lang="sr-Latn-RS" sz="2400" i="1">
                              <a:latin typeface="Cambria Math" panose="02040503050406030204" pitchFamily="18" charset="0"/>
                            </a:rPr>
                            <m:t>1</m:t>
                          </m:r>
                        </m:num>
                        <m:den>
                          <m:r>
                            <a:rPr lang="sr-Latn-RS" sz="2400" i="1">
                              <a:latin typeface="Cambria Math" panose="02040503050406030204" pitchFamily="18" charset="0"/>
                            </a:rPr>
                            <m:t>2</m:t>
                          </m:r>
                        </m:den>
                      </m:f>
                      <m:d>
                        <m:dPr>
                          <m:ctrlPr>
                            <a:rPr lang="en-ZA" sz="2400" i="1">
                              <a:latin typeface="Cambria Math" panose="02040503050406030204" pitchFamily="18" charset="0"/>
                            </a:rPr>
                          </m:ctrlPr>
                        </m:dPr>
                        <m:e>
                          <m:m>
                            <m:mPr>
                              <m:mcs>
                                <m:mc>
                                  <m:mcPr>
                                    <m:count m:val="2"/>
                                    <m:mcJc m:val="center"/>
                                  </m:mcPr>
                                </m:mc>
                              </m:mcs>
                              <m:ctrlPr>
                                <a:rPr lang="en-ZA" sz="2400" i="1">
                                  <a:latin typeface="Cambria Math" panose="02040503050406030204" pitchFamily="18" charset="0"/>
                                </a:rPr>
                              </m:ctrlPr>
                            </m:mPr>
                            <m:mr>
                              <m:e>
                                <m:r>
                                  <a:rPr lang="sr-Latn-RS" sz="2400" i="1">
                                    <a:latin typeface="Cambria Math" panose="02040503050406030204" pitchFamily="18" charset="0"/>
                                  </a:rPr>
                                  <m:t>1+</m:t>
                                </m:r>
                                <m:r>
                                  <a:rPr lang="sr-Latn-RS" sz="2400" i="1">
                                    <a:latin typeface="Cambria Math" panose="02040503050406030204" pitchFamily="18" charset="0"/>
                                  </a:rPr>
                                  <m:t>𝑖</m:t>
                                </m:r>
                              </m:e>
                              <m:e>
                                <m:r>
                                  <a:rPr lang="sr-Latn-RS" sz="2400" i="1">
                                    <a:latin typeface="Cambria Math" panose="02040503050406030204" pitchFamily="18" charset="0"/>
                                  </a:rPr>
                                  <m:t>1−</m:t>
                                </m:r>
                                <m:r>
                                  <a:rPr lang="sr-Latn-RS" sz="2400" i="1">
                                    <a:latin typeface="Cambria Math" panose="02040503050406030204" pitchFamily="18" charset="0"/>
                                  </a:rPr>
                                  <m:t>𝑖</m:t>
                                </m:r>
                              </m:e>
                            </m:mr>
                            <m:mr>
                              <m:e>
                                <m:r>
                                  <a:rPr lang="sr-Latn-RS" sz="2400" i="1">
                                    <a:latin typeface="Cambria Math" panose="02040503050406030204" pitchFamily="18" charset="0"/>
                                  </a:rPr>
                                  <m:t>1−</m:t>
                                </m:r>
                                <m:r>
                                  <a:rPr lang="sr-Latn-RS" sz="2400" i="1">
                                    <a:latin typeface="Cambria Math" panose="02040503050406030204" pitchFamily="18" charset="0"/>
                                  </a:rPr>
                                  <m:t>𝑖</m:t>
                                </m:r>
                              </m:e>
                              <m:e>
                                <m:r>
                                  <a:rPr lang="sr-Latn-RS" sz="2400" i="1">
                                    <a:latin typeface="Cambria Math" panose="02040503050406030204" pitchFamily="18" charset="0"/>
                                  </a:rPr>
                                  <m:t>1+</m:t>
                                </m:r>
                                <m:r>
                                  <a:rPr lang="sr-Latn-RS" sz="2400" i="1">
                                    <a:latin typeface="Cambria Math" panose="02040503050406030204" pitchFamily="18" charset="0"/>
                                  </a:rPr>
                                  <m:t>𝑖</m:t>
                                </m:r>
                              </m:e>
                            </m:mr>
                          </m:m>
                        </m:e>
                      </m:d>
                      <m:r>
                        <a:rPr lang="sr-Latn-RS" sz="2400" b="0" i="1" smtClean="0">
                          <a:latin typeface="Cambria Math" panose="02040503050406030204" pitchFamily="18" charset="0"/>
                        </a:rPr>
                        <m:t>=</m:t>
                      </m:r>
                      <m:d>
                        <m:dPr>
                          <m:ctrlPr>
                            <a:rPr lang="en-US" sz="2400" i="1">
                              <a:latin typeface="Cambria Math" panose="02040503050406030204" pitchFamily="18" charset="0"/>
                            </a:rPr>
                          </m:ctrlPr>
                        </m:dPr>
                        <m:e>
                          <m:m>
                            <m:mPr>
                              <m:plcHide m:val="on"/>
                              <m:mcs>
                                <m:mc>
                                  <m:mcPr>
                                    <m:count m:val="2"/>
                                    <m:mcJc m:val="center"/>
                                  </m:mcPr>
                                </m:mc>
                              </m:mcs>
                              <m:ctrlPr>
                                <a:rPr lang="en-US" sz="2400" i="1">
                                  <a:latin typeface="Cambria Math" panose="02040503050406030204" pitchFamily="18" charset="0"/>
                                </a:rPr>
                              </m:ctrlPr>
                            </m:mPr>
                            <m:mr>
                              <m:e>
                                <m:r>
                                  <a:rPr lang="en-US" sz="2400">
                                    <a:latin typeface="Cambria Math" panose="02040503050406030204" pitchFamily="18" charset="0"/>
                                  </a:rPr>
                                  <m:t>0</m:t>
                                </m:r>
                              </m:e>
                              <m:e>
                                <m:r>
                                  <a:rPr lang="en-US" sz="2400">
                                    <a:latin typeface="Cambria Math" panose="02040503050406030204" pitchFamily="18" charset="0"/>
                                  </a:rPr>
                                  <m:t>1</m:t>
                                </m:r>
                              </m:e>
                            </m:mr>
                            <m:mr>
                              <m:e>
                                <m:r>
                                  <a:rPr lang="en-US" sz="2400">
                                    <a:latin typeface="Cambria Math" panose="02040503050406030204" pitchFamily="18" charset="0"/>
                                  </a:rPr>
                                  <m:t>1</m:t>
                                </m:r>
                              </m:e>
                              <m:e>
                                <m:r>
                                  <a:rPr lang="en-US" sz="2400">
                                    <a:latin typeface="Cambria Math" panose="02040503050406030204" pitchFamily="18" charset="0"/>
                                  </a:rPr>
                                  <m:t>0</m:t>
                                </m:r>
                              </m:e>
                            </m:mr>
                          </m:m>
                        </m:e>
                      </m:d>
                      <m:r>
                        <a:rPr lang="sr-Latn-RS" sz="2400" b="0" i="1" smtClean="0">
                          <a:latin typeface="Cambria Math" panose="02040503050406030204" pitchFamily="18" charset="0"/>
                        </a:rPr>
                        <m:t>=</m:t>
                      </m:r>
                      <m:r>
                        <a:rPr lang="sr-Latn-RS" sz="2400" b="0" i="1" smtClean="0">
                          <a:latin typeface="Cambria Math" panose="02040503050406030204" pitchFamily="18" charset="0"/>
                        </a:rPr>
                        <m:t>𝑋</m:t>
                      </m:r>
                    </m:oMath>
                  </m:oMathPara>
                </a14:m>
                <a:endParaRPr lang="en-US" sz="2400" dirty="0"/>
              </a:p>
            </p:txBody>
          </p:sp>
        </mc:Choice>
        <mc:Fallback xmlns="">
          <p:sp>
            <p:nvSpPr>
              <p:cNvPr id="6" name="Rectangle 5">
                <a:extLst>
                  <a:ext uri="{FF2B5EF4-FFF2-40B4-BE49-F238E27FC236}">
                    <a16:creationId xmlns:a16="http://schemas.microsoft.com/office/drawing/2014/main" id="{0D2B9478-DCE3-9746-9819-EFD9094D8501}"/>
                  </a:ext>
                </a:extLst>
              </p:cNvPr>
              <p:cNvSpPr>
                <a:spLocks noRot="1" noChangeAspect="1" noMove="1" noResize="1" noEditPoints="1" noAdjustHandles="1" noChangeArrowheads="1" noChangeShapeType="1" noTextEdit="1"/>
              </p:cNvSpPr>
              <p:nvPr/>
            </p:nvSpPr>
            <p:spPr>
              <a:xfrm>
                <a:off x="539095" y="4582883"/>
                <a:ext cx="7855760" cy="783804"/>
              </a:xfrm>
              <a:prstGeom prst="rect">
                <a:avLst/>
              </a:prstGeom>
              <a:blipFill>
                <a:blip r:embed="rId9"/>
                <a:stretch>
                  <a:fillRect b="-476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Rectangle 22">
                <a:extLst>
                  <a:ext uri="{FF2B5EF4-FFF2-40B4-BE49-F238E27FC236}">
                    <a16:creationId xmlns:a16="http://schemas.microsoft.com/office/drawing/2014/main" id="{F8739248-66B8-FB4C-BDFD-476CF71294F6}"/>
                  </a:ext>
                </a:extLst>
              </p:cNvPr>
              <p:cNvSpPr/>
              <p:nvPr/>
            </p:nvSpPr>
            <p:spPr>
              <a:xfrm>
                <a:off x="517529" y="5605890"/>
                <a:ext cx="8129292" cy="78380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ZA" sz="2400" i="1">
                              <a:latin typeface="Cambria Math" panose="02040503050406030204" pitchFamily="18" charset="0"/>
                            </a:rPr>
                          </m:ctrlPr>
                        </m:sSupPr>
                        <m:e>
                          <m:rad>
                            <m:radPr>
                              <m:degHide m:val="on"/>
                              <m:ctrlPr>
                                <a:rPr lang="en-ZA" sz="2400" i="1">
                                  <a:latin typeface="Cambria Math" panose="02040503050406030204" pitchFamily="18" charset="0"/>
                                </a:rPr>
                              </m:ctrlPr>
                            </m:radPr>
                            <m:deg/>
                            <m:e>
                              <m:r>
                                <a:rPr lang="sr-Latn-RS" sz="2400" i="1">
                                  <a:latin typeface="Cambria Math" panose="02040503050406030204" pitchFamily="18" charset="0"/>
                                </a:rPr>
                                <m:t>𝑋</m:t>
                              </m:r>
                            </m:e>
                          </m:rad>
                        </m:e>
                        <m:sup>
                          <m:r>
                            <a:rPr lang="sr-Latn-RS" sz="2400">
                              <a:latin typeface="Cambria Math" panose="02040503050406030204" pitchFamily="18" charset="0"/>
                            </a:rPr>
                            <m:t>†</m:t>
                          </m:r>
                        </m:sup>
                      </m:sSup>
                      <m:sSup>
                        <m:sSupPr>
                          <m:ctrlPr>
                            <a:rPr lang="en-ZA" sz="2400" i="1">
                              <a:latin typeface="Cambria Math" panose="02040503050406030204" pitchFamily="18" charset="0"/>
                            </a:rPr>
                          </m:ctrlPr>
                        </m:sSupPr>
                        <m:e>
                          <m:rad>
                            <m:radPr>
                              <m:degHide m:val="on"/>
                              <m:ctrlPr>
                                <a:rPr lang="en-ZA" sz="2400" i="1">
                                  <a:latin typeface="Cambria Math" panose="02040503050406030204" pitchFamily="18" charset="0"/>
                                </a:rPr>
                              </m:ctrlPr>
                            </m:radPr>
                            <m:deg/>
                            <m:e>
                              <m:r>
                                <a:rPr lang="sr-Latn-RS" sz="2400" i="1">
                                  <a:latin typeface="Cambria Math" panose="02040503050406030204" pitchFamily="18" charset="0"/>
                                </a:rPr>
                                <m:t>𝑋</m:t>
                              </m:r>
                            </m:e>
                          </m:rad>
                        </m:e>
                        <m:sup>
                          <m:r>
                            <a:rPr lang="sr-Latn-RS" sz="2400">
                              <a:latin typeface="Cambria Math" panose="02040503050406030204" pitchFamily="18" charset="0"/>
                            </a:rPr>
                            <m:t>†</m:t>
                          </m:r>
                        </m:sup>
                      </m:sSup>
                      <m:r>
                        <a:rPr lang="sr-Latn-RS" sz="2400" b="0" i="1" smtClean="0">
                          <a:latin typeface="Cambria Math" panose="02040503050406030204" pitchFamily="18" charset="0"/>
                        </a:rPr>
                        <m:t>=</m:t>
                      </m:r>
                      <m:f>
                        <m:fPr>
                          <m:ctrlPr>
                            <a:rPr lang="en-ZA" sz="2400" i="1">
                              <a:latin typeface="Cambria Math" panose="02040503050406030204" pitchFamily="18" charset="0"/>
                            </a:rPr>
                          </m:ctrlPr>
                        </m:fPr>
                        <m:num>
                          <m:r>
                            <a:rPr lang="sr-Latn-RS" sz="2400" i="1">
                              <a:latin typeface="Cambria Math" panose="02040503050406030204" pitchFamily="18" charset="0"/>
                            </a:rPr>
                            <m:t>1</m:t>
                          </m:r>
                        </m:num>
                        <m:den>
                          <m:r>
                            <a:rPr lang="sr-Latn-RS" sz="2400" i="1">
                              <a:latin typeface="Cambria Math" panose="02040503050406030204" pitchFamily="18" charset="0"/>
                            </a:rPr>
                            <m:t>2</m:t>
                          </m:r>
                        </m:den>
                      </m:f>
                      <m:d>
                        <m:dPr>
                          <m:ctrlPr>
                            <a:rPr lang="en-ZA" sz="2400" i="1">
                              <a:latin typeface="Cambria Math" panose="02040503050406030204" pitchFamily="18" charset="0"/>
                            </a:rPr>
                          </m:ctrlPr>
                        </m:dPr>
                        <m:e>
                          <m:m>
                            <m:mPr>
                              <m:mcs>
                                <m:mc>
                                  <m:mcPr>
                                    <m:count m:val="2"/>
                                    <m:mcJc m:val="center"/>
                                  </m:mcPr>
                                </m:mc>
                              </m:mcs>
                              <m:ctrlPr>
                                <a:rPr lang="en-ZA" sz="2400" i="1">
                                  <a:latin typeface="Cambria Math" panose="02040503050406030204" pitchFamily="18" charset="0"/>
                                </a:rPr>
                              </m:ctrlPr>
                            </m:mPr>
                            <m:mr>
                              <m:e>
                                <m:r>
                                  <a:rPr lang="sr-Latn-RS" sz="2400" i="1">
                                    <a:latin typeface="Cambria Math" panose="02040503050406030204" pitchFamily="18" charset="0"/>
                                  </a:rPr>
                                  <m:t>1−</m:t>
                                </m:r>
                                <m:r>
                                  <a:rPr lang="sr-Latn-RS" sz="2400" i="1">
                                    <a:latin typeface="Cambria Math" panose="02040503050406030204" pitchFamily="18" charset="0"/>
                                  </a:rPr>
                                  <m:t>𝑖</m:t>
                                </m:r>
                              </m:e>
                              <m:e>
                                <m:r>
                                  <a:rPr lang="sr-Latn-RS" sz="2400" i="1">
                                    <a:latin typeface="Cambria Math" panose="02040503050406030204" pitchFamily="18" charset="0"/>
                                  </a:rPr>
                                  <m:t>1+</m:t>
                                </m:r>
                                <m:r>
                                  <a:rPr lang="sr-Latn-RS" sz="2400" i="1">
                                    <a:latin typeface="Cambria Math" panose="02040503050406030204" pitchFamily="18" charset="0"/>
                                  </a:rPr>
                                  <m:t>𝑖</m:t>
                                </m:r>
                              </m:e>
                            </m:mr>
                            <m:mr>
                              <m:e>
                                <m:r>
                                  <a:rPr lang="sr-Latn-RS" sz="2400" i="1">
                                    <a:latin typeface="Cambria Math" panose="02040503050406030204" pitchFamily="18" charset="0"/>
                                  </a:rPr>
                                  <m:t>1+</m:t>
                                </m:r>
                                <m:r>
                                  <a:rPr lang="sr-Latn-RS" sz="2400" i="1">
                                    <a:latin typeface="Cambria Math" panose="02040503050406030204" pitchFamily="18" charset="0"/>
                                  </a:rPr>
                                  <m:t>𝑖</m:t>
                                </m:r>
                              </m:e>
                              <m:e>
                                <m:r>
                                  <a:rPr lang="sr-Latn-RS" sz="2400" i="1">
                                    <a:latin typeface="Cambria Math" panose="02040503050406030204" pitchFamily="18" charset="0"/>
                                  </a:rPr>
                                  <m:t>1−</m:t>
                                </m:r>
                                <m:r>
                                  <a:rPr lang="sr-Latn-RS" sz="2400" i="1">
                                    <a:latin typeface="Cambria Math" panose="02040503050406030204" pitchFamily="18" charset="0"/>
                                  </a:rPr>
                                  <m:t>𝑖</m:t>
                                </m:r>
                              </m:e>
                            </m:mr>
                          </m:m>
                        </m:e>
                      </m:d>
                      <m:f>
                        <m:fPr>
                          <m:ctrlPr>
                            <a:rPr lang="en-ZA" sz="2400" i="1">
                              <a:latin typeface="Cambria Math" panose="02040503050406030204" pitchFamily="18" charset="0"/>
                            </a:rPr>
                          </m:ctrlPr>
                        </m:fPr>
                        <m:num>
                          <m:r>
                            <a:rPr lang="sr-Latn-RS" sz="2400" i="1">
                              <a:latin typeface="Cambria Math" panose="02040503050406030204" pitchFamily="18" charset="0"/>
                            </a:rPr>
                            <m:t>1</m:t>
                          </m:r>
                        </m:num>
                        <m:den>
                          <m:r>
                            <a:rPr lang="sr-Latn-RS" sz="2400" i="1">
                              <a:latin typeface="Cambria Math" panose="02040503050406030204" pitchFamily="18" charset="0"/>
                            </a:rPr>
                            <m:t>2</m:t>
                          </m:r>
                        </m:den>
                      </m:f>
                      <m:d>
                        <m:dPr>
                          <m:ctrlPr>
                            <a:rPr lang="en-ZA" sz="2400" i="1">
                              <a:latin typeface="Cambria Math" panose="02040503050406030204" pitchFamily="18" charset="0"/>
                            </a:rPr>
                          </m:ctrlPr>
                        </m:dPr>
                        <m:e>
                          <m:m>
                            <m:mPr>
                              <m:mcs>
                                <m:mc>
                                  <m:mcPr>
                                    <m:count m:val="2"/>
                                    <m:mcJc m:val="center"/>
                                  </m:mcPr>
                                </m:mc>
                              </m:mcs>
                              <m:ctrlPr>
                                <a:rPr lang="en-ZA" sz="2400" i="1">
                                  <a:latin typeface="Cambria Math" panose="02040503050406030204" pitchFamily="18" charset="0"/>
                                </a:rPr>
                              </m:ctrlPr>
                            </m:mPr>
                            <m:mr>
                              <m:e>
                                <m:r>
                                  <a:rPr lang="sr-Latn-RS" sz="2400" i="1">
                                    <a:latin typeface="Cambria Math" panose="02040503050406030204" pitchFamily="18" charset="0"/>
                                  </a:rPr>
                                  <m:t>1−</m:t>
                                </m:r>
                                <m:r>
                                  <a:rPr lang="sr-Latn-RS" sz="2400" i="1">
                                    <a:latin typeface="Cambria Math" panose="02040503050406030204" pitchFamily="18" charset="0"/>
                                  </a:rPr>
                                  <m:t>𝑖</m:t>
                                </m:r>
                              </m:e>
                              <m:e>
                                <m:r>
                                  <a:rPr lang="sr-Latn-RS" sz="2400" i="1">
                                    <a:latin typeface="Cambria Math" panose="02040503050406030204" pitchFamily="18" charset="0"/>
                                  </a:rPr>
                                  <m:t>1+</m:t>
                                </m:r>
                                <m:r>
                                  <a:rPr lang="sr-Latn-RS" sz="2400" i="1">
                                    <a:latin typeface="Cambria Math" panose="02040503050406030204" pitchFamily="18" charset="0"/>
                                  </a:rPr>
                                  <m:t>𝑖</m:t>
                                </m:r>
                              </m:e>
                            </m:mr>
                            <m:mr>
                              <m:e>
                                <m:r>
                                  <a:rPr lang="sr-Latn-RS" sz="2400" i="1">
                                    <a:latin typeface="Cambria Math" panose="02040503050406030204" pitchFamily="18" charset="0"/>
                                  </a:rPr>
                                  <m:t>1+</m:t>
                                </m:r>
                                <m:r>
                                  <a:rPr lang="sr-Latn-RS" sz="2400" i="1">
                                    <a:latin typeface="Cambria Math" panose="02040503050406030204" pitchFamily="18" charset="0"/>
                                  </a:rPr>
                                  <m:t>𝑖</m:t>
                                </m:r>
                              </m:e>
                              <m:e>
                                <m:r>
                                  <a:rPr lang="sr-Latn-RS" sz="2400" i="1">
                                    <a:latin typeface="Cambria Math" panose="02040503050406030204" pitchFamily="18" charset="0"/>
                                  </a:rPr>
                                  <m:t>1−</m:t>
                                </m:r>
                                <m:r>
                                  <a:rPr lang="sr-Latn-RS" sz="2400" i="1">
                                    <a:latin typeface="Cambria Math" panose="02040503050406030204" pitchFamily="18" charset="0"/>
                                  </a:rPr>
                                  <m:t>𝑖</m:t>
                                </m:r>
                              </m:e>
                            </m:mr>
                          </m:m>
                        </m:e>
                      </m:d>
                      <m:r>
                        <a:rPr lang="sr-Latn-RS" sz="2400" b="0" i="1" smtClean="0">
                          <a:latin typeface="Cambria Math" panose="02040503050406030204" pitchFamily="18" charset="0"/>
                        </a:rPr>
                        <m:t>=</m:t>
                      </m:r>
                      <m:d>
                        <m:dPr>
                          <m:ctrlPr>
                            <a:rPr lang="en-US" sz="2400" i="1">
                              <a:latin typeface="Cambria Math" panose="02040503050406030204" pitchFamily="18" charset="0"/>
                            </a:rPr>
                          </m:ctrlPr>
                        </m:dPr>
                        <m:e>
                          <m:m>
                            <m:mPr>
                              <m:plcHide m:val="on"/>
                              <m:mcs>
                                <m:mc>
                                  <m:mcPr>
                                    <m:count m:val="2"/>
                                    <m:mcJc m:val="center"/>
                                  </m:mcPr>
                                </m:mc>
                              </m:mcs>
                              <m:ctrlPr>
                                <a:rPr lang="en-US" sz="2400" i="1">
                                  <a:latin typeface="Cambria Math" panose="02040503050406030204" pitchFamily="18" charset="0"/>
                                </a:rPr>
                              </m:ctrlPr>
                            </m:mPr>
                            <m:mr>
                              <m:e>
                                <m:r>
                                  <a:rPr lang="en-US" sz="2400">
                                    <a:latin typeface="Cambria Math" panose="02040503050406030204" pitchFamily="18" charset="0"/>
                                  </a:rPr>
                                  <m:t>0</m:t>
                                </m:r>
                              </m:e>
                              <m:e>
                                <m:r>
                                  <a:rPr lang="en-US" sz="2400">
                                    <a:latin typeface="Cambria Math" panose="02040503050406030204" pitchFamily="18" charset="0"/>
                                  </a:rPr>
                                  <m:t>1</m:t>
                                </m:r>
                              </m:e>
                            </m:mr>
                            <m:mr>
                              <m:e>
                                <m:r>
                                  <a:rPr lang="en-US" sz="2400">
                                    <a:latin typeface="Cambria Math" panose="02040503050406030204" pitchFamily="18" charset="0"/>
                                  </a:rPr>
                                  <m:t>1</m:t>
                                </m:r>
                              </m:e>
                              <m:e>
                                <m:r>
                                  <a:rPr lang="en-US" sz="2400">
                                    <a:latin typeface="Cambria Math" panose="02040503050406030204" pitchFamily="18" charset="0"/>
                                  </a:rPr>
                                  <m:t>0</m:t>
                                </m:r>
                              </m:e>
                            </m:mr>
                          </m:m>
                        </m:e>
                      </m:d>
                      <m:r>
                        <a:rPr lang="sr-Latn-RS" sz="2400" b="0" i="1" smtClean="0">
                          <a:latin typeface="Cambria Math" panose="02040503050406030204" pitchFamily="18" charset="0"/>
                        </a:rPr>
                        <m:t>=</m:t>
                      </m:r>
                      <m:r>
                        <a:rPr lang="sr-Latn-RS" sz="2400" b="0" i="1" smtClean="0">
                          <a:latin typeface="Cambria Math" panose="02040503050406030204" pitchFamily="18" charset="0"/>
                        </a:rPr>
                        <m:t>𝑋</m:t>
                      </m:r>
                    </m:oMath>
                  </m:oMathPara>
                </a14:m>
                <a:endParaRPr lang="en-US" sz="2400" dirty="0"/>
              </a:p>
            </p:txBody>
          </p:sp>
        </mc:Choice>
        <mc:Fallback xmlns="">
          <p:sp>
            <p:nvSpPr>
              <p:cNvPr id="23" name="Rectangle 22">
                <a:extLst>
                  <a:ext uri="{FF2B5EF4-FFF2-40B4-BE49-F238E27FC236}">
                    <a16:creationId xmlns:a16="http://schemas.microsoft.com/office/drawing/2014/main" id="{F8739248-66B8-FB4C-BDFD-476CF71294F6}"/>
                  </a:ext>
                </a:extLst>
              </p:cNvPr>
              <p:cNvSpPr>
                <a:spLocks noRot="1" noChangeAspect="1" noMove="1" noResize="1" noEditPoints="1" noAdjustHandles="1" noChangeArrowheads="1" noChangeShapeType="1" noTextEdit="1"/>
              </p:cNvSpPr>
              <p:nvPr/>
            </p:nvSpPr>
            <p:spPr>
              <a:xfrm>
                <a:off x="517529" y="5605890"/>
                <a:ext cx="8129292" cy="783804"/>
              </a:xfrm>
              <a:prstGeom prst="rect">
                <a:avLst/>
              </a:prstGeom>
              <a:blipFill>
                <a:blip r:embed="rId10"/>
                <a:stretch>
                  <a:fillRect b="-6349"/>
                </a:stretch>
              </a:blipFill>
            </p:spPr>
            <p:txBody>
              <a:bodyPr/>
              <a:lstStyle/>
              <a:p>
                <a:r>
                  <a:rPr lang="en-US">
                    <a:noFill/>
                  </a:rPr>
                  <a:t> </a:t>
                </a:r>
              </a:p>
            </p:txBody>
          </p:sp>
        </mc:Fallback>
      </mc:AlternateContent>
      <p:grpSp>
        <p:nvGrpSpPr>
          <p:cNvPr id="29" name="Group 28">
            <a:extLst>
              <a:ext uri="{FF2B5EF4-FFF2-40B4-BE49-F238E27FC236}">
                <a16:creationId xmlns:a16="http://schemas.microsoft.com/office/drawing/2014/main" id="{8485738B-0CAF-9742-B6DB-E43EC2A3AAA9}"/>
              </a:ext>
            </a:extLst>
          </p:cNvPr>
          <p:cNvGrpSpPr/>
          <p:nvPr/>
        </p:nvGrpSpPr>
        <p:grpSpPr>
          <a:xfrm>
            <a:off x="508084" y="1230477"/>
            <a:ext cx="10776799" cy="461665"/>
            <a:chOff x="508084" y="1230477"/>
            <a:chExt cx="10776799" cy="461665"/>
          </a:xfrm>
        </p:grpSpPr>
        <p:sp>
          <p:nvSpPr>
            <p:cNvPr id="30" name="TextBox 29">
              <a:extLst>
                <a:ext uri="{FF2B5EF4-FFF2-40B4-BE49-F238E27FC236}">
                  <a16:creationId xmlns:a16="http://schemas.microsoft.com/office/drawing/2014/main" id="{1C16C663-74BB-3149-B42A-54C1DBD316E8}"/>
                </a:ext>
              </a:extLst>
            </p:cNvPr>
            <p:cNvSpPr txBox="1"/>
            <p:nvPr/>
          </p:nvSpPr>
          <p:spPr>
            <a:xfrm>
              <a:off x="508084" y="1230477"/>
              <a:ext cx="1065100" cy="461665"/>
            </a:xfrm>
            <a:prstGeom prst="rect">
              <a:avLst/>
            </a:prstGeom>
            <a:noFill/>
          </p:spPr>
          <p:txBody>
            <a:bodyPr wrap="none" rtlCol="0">
              <a:spAutoFit/>
            </a:bodyPr>
            <a:lstStyle/>
            <a:p>
              <a:r>
                <a:rPr lang="en-US" sz="2400" dirty="0">
                  <a:latin typeface="+mj-lt"/>
                </a:rPr>
                <a:t>symbol</a:t>
              </a:r>
            </a:p>
          </p:txBody>
        </p:sp>
        <p:sp>
          <p:nvSpPr>
            <p:cNvPr id="31" name="TextBox 30">
              <a:extLst>
                <a:ext uri="{FF2B5EF4-FFF2-40B4-BE49-F238E27FC236}">
                  <a16:creationId xmlns:a16="http://schemas.microsoft.com/office/drawing/2014/main" id="{0D63F0AC-1AD0-9B46-BF42-B554BA0AFB25}"/>
                </a:ext>
              </a:extLst>
            </p:cNvPr>
            <p:cNvSpPr txBox="1"/>
            <p:nvPr/>
          </p:nvSpPr>
          <p:spPr>
            <a:xfrm>
              <a:off x="2196364" y="1230477"/>
              <a:ext cx="1262653" cy="461665"/>
            </a:xfrm>
            <a:prstGeom prst="rect">
              <a:avLst/>
            </a:prstGeom>
            <a:noFill/>
          </p:spPr>
          <p:txBody>
            <a:bodyPr wrap="none" rtlCol="0">
              <a:spAutoFit/>
            </a:bodyPr>
            <a:lstStyle/>
            <a:p>
              <a:r>
                <a:rPr lang="en-US" sz="2400" dirty="0">
                  <a:latin typeface="+mj-lt"/>
                </a:rPr>
                <a:t>operator</a:t>
              </a:r>
            </a:p>
          </p:txBody>
        </p:sp>
        <p:sp>
          <p:nvSpPr>
            <p:cNvPr id="32" name="TextBox 31">
              <a:extLst>
                <a:ext uri="{FF2B5EF4-FFF2-40B4-BE49-F238E27FC236}">
                  <a16:creationId xmlns:a16="http://schemas.microsoft.com/office/drawing/2014/main" id="{EADDC150-0C43-6A4D-9662-EA88B35F3392}"/>
                </a:ext>
              </a:extLst>
            </p:cNvPr>
            <p:cNvSpPr txBox="1"/>
            <p:nvPr/>
          </p:nvSpPr>
          <p:spPr>
            <a:xfrm>
              <a:off x="6360577" y="1230477"/>
              <a:ext cx="1568186" cy="461665"/>
            </a:xfrm>
            <a:prstGeom prst="rect">
              <a:avLst/>
            </a:prstGeom>
            <a:noFill/>
          </p:spPr>
          <p:txBody>
            <a:bodyPr wrap="none" rtlCol="0">
              <a:spAutoFit/>
            </a:bodyPr>
            <a:lstStyle/>
            <a:p>
              <a:r>
                <a:rPr lang="en-US" sz="2400" dirty="0">
                  <a:latin typeface="+mj-lt"/>
                </a:rPr>
                <a:t>description</a:t>
              </a:r>
            </a:p>
          </p:txBody>
        </p:sp>
        <p:sp>
          <p:nvSpPr>
            <p:cNvPr id="33" name="TextBox 32">
              <a:extLst>
                <a:ext uri="{FF2B5EF4-FFF2-40B4-BE49-F238E27FC236}">
                  <a16:creationId xmlns:a16="http://schemas.microsoft.com/office/drawing/2014/main" id="{7C90605E-4B9B-D64A-B062-FEE25D4A2320}"/>
                </a:ext>
              </a:extLst>
            </p:cNvPr>
            <p:cNvSpPr txBox="1"/>
            <p:nvPr/>
          </p:nvSpPr>
          <p:spPr>
            <a:xfrm>
              <a:off x="10322760" y="1230477"/>
              <a:ext cx="962123" cy="461665"/>
            </a:xfrm>
            <a:prstGeom prst="rect">
              <a:avLst/>
            </a:prstGeom>
            <a:noFill/>
          </p:spPr>
          <p:txBody>
            <a:bodyPr wrap="none" rtlCol="0">
              <a:spAutoFit/>
            </a:bodyPr>
            <a:lstStyle/>
            <a:p>
              <a:r>
                <a:rPr lang="en-US" sz="2400" dirty="0">
                  <a:latin typeface="+mj-lt"/>
                </a:rPr>
                <a:t>QASM</a:t>
              </a:r>
            </a:p>
          </p:txBody>
        </p:sp>
      </p:grpSp>
    </p:spTree>
    <p:extLst>
      <p:ext uri="{BB962C8B-B14F-4D97-AF65-F5344CB8AC3E}">
        <p14:creationId xmlns:p14="http://schemas.microsoft.com/office/powerpoint/2010/main" val="8977936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113E248-2AF1-B748-8ED2-3B18BE8F3766}"/>
              </a:ext>
            </a:extLst>
          </p:cNvPr>
          <p:cNvPicPr>
            <a:picLocks noChangeAspect="1"/>
          </p:cNvPicPr>
          <p:nvPr/>
        </p:nvPicPr>
        <p:blipFill>
          <a:blip r:embed="rId3"/>
          <a:stretch>
            <a:fillRect/>
          </a:stretch>
        </p:blipFill>
        <p:spPr>
          <a:xfrm>
            <a:off x="199200" y="3301066"/>
            <a:ext cx="3325204" cy="3460009"/>
          </a:xfrm>
          <a:prstGeom prst="rect">
            <a:avLst/>
          </a:prstGeom>
        </p:spPr>
      </p:pic>
      <p:sp>
        <p:nvSpPr>
          <p:cNvPr id="2" name="Title 1">
            <a:extLst>
              <a:ext uri="{FF2B5EF4-FFF2-40B4-BE49-F238E27FC236}">
                <a16:creationId xmlns:a16="http://schemas.microsoft.com/office/drawing/2014/main" id="{B139EF45-D20A-C54B-9E7B-223F102F5FFB}"/>
              </a:ext>
            </a:extLst>
          </p:cNvPr>
          <p:cNvSpPr>
            <a:spLocks noGrp="1"/>
          </p:cNvSpPr>
          <p:nvPr>
            <p:ph type="title"/>
          </p:nvPr>
        </p:nvSpPr>
        <p:spPr>
          <a:xfrm>
            <a:off x="0" y="0"/>
            <a:ext cx="12192000" cy="928688"/>
          </a:xfrm>
        </p:spPr>
        <p:txBody>
          <a:bodyPr/>
          <a:lstStyle/>
          <a:p>
            <a:r>
              <a:rPr lang="en-US" dirty="0"/>
              <a:t>Hadamard Gate</a:t>
            </a:r>
          </a:p>
        </p:txBody>
      </p:sp>
      <p:sp>
        <p:nvSpPr>
          <p:cNvPr id="3" name="Slide Number Placeholder 2">
            <a:extLst>
              <a:ext uri="{FF2B5EF4-FFF2-40B4-BE49-F238E27FC236}">
                <a16:creationId xmlns:a16="http://schemas.microsoft.com/office/drawing/2014/main" id="{1DFCF789-A597-7E48-870E-125D0C3A063D}"/>
              </a:ext>
            </a:extLst>
          </p:cNvPr>
          <p:cNvSpPr>
            <a:spLocks noGrp="1"/>
          </p:cNvSpPr>
          <p:nvPr>
            <p:ph type="sldNum" sz="quarter" idx="12"/>
          </p:nvPr>
        </p:nvSpPr>
        <p:spPr/>
        <p:txBody>
          <a:bodyPr/>
          <a:lstStyle/>
          <a:p>
            <a:fld id="{591A223C-FA10-BC46-A853-03BA373D023C}" type="slidenum">
              <a:rPr lang="en-US" smtClean="0"/>
              <a:t>20</a:t>
            </a:fld>
            <a:endParaRPr lang="en-US"/>
          </a:p>
        </p:txBody>
      </p:sp>
      <p:cxnSp>
        <p:nvCxnSpPr>
          <p:cNvPr id="4" name="Straight Connector 3">
            <a:extLst>
              <a:ext uri="{FF2B5EF4-FFF2-40B4-BE49-F238E27FC236}">
                <a16:creationId xmlns:a16="http://schemas.microsoft.com/office/drawing/2014/main" id="{35913924-2483-E343-99F2-9D1061599CCB}"/>
              </a:ext>
            </a:extLst>
          </p:cNvPr>
          <p:cNvCxnSpPr>
            <a:cxnSpLocks/>
          </p:cNvCxnSpPr>
          <p:nvPr/>
        </p:nvCxnSpPr>
        <p:spPr>
          <a:xfrm>
            <a:off x="334661" y="1649359"/>
            <a:ext cx="11087866" cy="0"/>
          </a:xfrm>
          <a:prstGeom prst="line">
            <a:avLst/>
          </a:prstGeom>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01F86251-6DE2-3448-A31F-B8BAA869C571}"/>
              </a:ext>
            </a:extLst>
          </p:cNvPr>
          <p:cNvSpPr/>
          <p:nvPr/>
        </p:nvSpPr>
        <p:spPr>
          <a:xfrm>
            <a:off x="334661" y="985239"/>
            <a:ext cx="11087866" cy="17423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Connector 15">
            <a:extLst>
              <a:ext uri="{FF2B5EF4-FFF2-40B4-BE49-F238E27FC236}">
                <a16:creationId xmlns:a16="http://schemas.microsoft.com/office/drawing/2014/main" id="{1A76F891-5AB6-8649-AA11-DCC61231E1A8}"/>
              </a:ext>
            </a:extLst>
          </p:cNvPr>
          <p:cNvCxnSpPr>
            <a:cxnSpLocks/>
          </p:cNvCxnSpPr>
          <p:nvPr/>
        </p:nvCxnSpPr>
        <p:spPr>
          <a:xfrm>
            <a:off x="1561490" y="985239"/>
            <a:ext cx="0" cy="174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98B600C7-EF8F-A54F-A16B-AB413E8AA9CD}"/>
              </a:ext>
            </a:extLst>
          </p:cNvPr>
          <p:cNvCxnSpPr>
            <a:cxnSpLocks/>
          </p:cNvCxnSpPr>
          <p:nvPr/>
        </p:nvCxnSpPr>
        <p:spPr>
          <a:xfrm>
            <a:off x="4381038" y="991859"/>
            <a:ext cx="0" cy="1742400"/>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6" name="Rectangle 35">
                <a:extLst>
                  <a:ext uri="{FF2B5EF4-FFF2-40B4-BE49-F238E27FC236}">
                    <a16:creationId xmlns:a16="http://schemas.microsoft.com/office/drawing/2014/main" id="{32F9BF4A-151C-EE4B-A813-55B617FB609E}"/>
                  </a:ext>
                </a:extLst>
              </p:cNvPr>
              <p:cNvSpPr/>
              <p:nvPr/>
            </p:nvSpPr>
            <p:spPr>
              <a:xfrm>
                <a:off x="1685937" y="1711396"/>
                <a:ext cx="2414955" cy="8552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nor/>
                        </m:rPr>
                        <a:rPr lang="en-US" sz="2400" i="1" smtClean="0">
                          <a:solidFill>
                            <a:schemeClr val="tx1"/>
                          </a:solidFill>
                          <a:latin typeface="Cambria Math" panose="02040503050406030204" pitchFamily="18" charset="0"/>
                        </a:rPr>
                        <m:t>H</m:t>
                      </m:r>
                      <m:r>
                        <m:rPr>
                          <m:nor/>
                        </m:rPr>
                        <a:rPr lang="sr-Latn-RS" sz="2400" b="0" i="0" smtClean="0">
                          <a:solidFill>
                            <a:schemeClr val="tx1"/>
                          </a:solidFill>
                          <a:latin typeface="Cambria Math" panose="02040503050406030204" pitchFamily="18" charset="0"/>
                        </a:rPr>
                        <m:t> </m:t>
                      </m:r>
                      <m:r>
                        <m:rPr>
                          <m:nor/>
                        </m:rPr>
                        <a:rPr lang="en-US" sz="2400" smtClean="0">
                          <a:solidFill>
                            <a:schemeClr val="tx1"/>
                          </a:solidFill>
                          <a:latin typeface="Cambria Math" panose="02040503050406030204" pitchFamily="18" charset="0"/>
                        </a:rPr>
                        <m:t>=</m:t>
                      </m:r>
                      <m:f>
                        <m:fPr>
                          <m:ctrlPr>
                            <a:rPr lang="en-US" sz="2400" i="1">
                              <a:solidFill>
                                <a:schemeClr val="tx1"/>
                              </a:solidFill>
                              <a:latin typeface="Cambria Math" panose="02040503050406030204" pitchFamily="18" charset="0"/>
                            </a:rPr>
                          </m:ctrlPr>
                        </m:fPr>
                        <m:num>
                          <m:r>
                            <m:rPr>
                              <m:nor/>
                            </m:rPr>
                            <a:rPr lang="en-US" sz="2400">
                              <a:solidFill>
                                <a:schemeClr val="tx1"/>
                              </a:solidFill>
                              <a:latin typeface="Cambria Math" panose="02040503050406030204" pitchFamily="18" charset="0"/>
                            </a:rPr>
                            <m:t>1</m:t>
                          </m:r>
                        </m:num>
                        <m:den>
                          <m:rad>
                            <m:radPr>
                              <m:degHide m:val="on"/>
                              <m:ctrlPr>
                                <a:rPr lang="en-US" sz="2400" i="1">
                                  <a:solidFill>
                                    <a:schemeClr val="tx1"/>
                                  </a:solidFill>
                                  <a:latin typeface="Cambria Math" panose="02040503050406030204" pitchFamily="18" charset="0"/>
                                </a:rPr>
                              </m:ctrlPr>
                            </m:radPr>
                            <m:deg/>
                            <m:e>
                              <m:r>
                                <m:rPr>
                                  <m:nor/>
                                </m:rPr>
                                <a:rPr lang="en-US" sz="2400">
                                  <a:solidFill>
                                    <a:schemeClr val="tx1"/>
                                  </a:solidFill>
                                  <a:latin typeface="Cambria Math" panose="02040503050406030204" pitchFamily="18" charset="0"/>
                                </a:rPr>
                                <m:t>2</m:t>
                              </m:r>
                            </m:e>
                          </m:rad>
                        </m:den>
                      </m:f>
                      <m:d>
                        <m:dPr>
                          <m:ctrlPr>
                            <a:rPr lang="en-US" sz="2400" i="1">
                              <a:solidFill>
                                <a:schemeClr val="tx1"/>
                              </a:solidFill>
                              <a:latin typeface="Cambria Math" panose="02040503050406030204" pitchFamily="18" charset="0"/>
                            </a:rPr>
                          </m:ctrlPr>
                        </m:dPr>
                        <m:e>
                          <m:m>
                            <m:mPr>
                              <m:plcHide m:val="on"/>
                              <m:mcs>
                                <m:mc>
                                  <m:mcPr>
                                    <m:count m:val="2"/>
                                    <m:mcJc m:val="center"/>
                                  </m:mcPr>
                                </m:mc>
                              </m:mcs>
                              <m:ctrlPr>
                                <a:rPr lang="en-US" sz="2400" i="1">
                                  <a:solidFill>
                                    <a:schemeClr val="tx1"/>
                                  </a:solidFill>
                                  <a:latin typeface="Cambria Math" panose="02040503050406030204" pitchFamily="18" charset="0"/>
                                </a:rPr>
                              </m:ctrlPr>
                            </m:mPr>
                            <m:mr>
                              <m:e>
                                <m:r>
                                  <m:rPr>
                                    <m:nor/>
                                  </m:rPr>
                                  <a:rPr lang="en-US" sz="2400">
                                    <a:solidFill>
                                      <a:schemeClr val="tx1"/>
                                    </a:solidFill>
                                    <a:latin typeface="Cambria Math" panose="02040503050406030204" pitchFamily="18" charset="0"/>
                                  </a:rPr>
                                  <m:t>1</m:t>
                                </m:r>
                              </m:e>
                              <m:e>
                                <m:r>
                                  <m:rPr>
                                    <m:nor/>
                                  </m:rPr>
                                  <a:rPr lang="en-US" sz="2400">
                                    <a:solidFill>
                                      <a:schemeClr val="tx1"/>
                                    </a:solidFill>
                                    <a:latin typeface="Cambria Math" panose="02040503050406030204" pitchFamily="18" charset="0"/>
                                  </a:rPr>
                                  <m:t>1</m:t>
                                </m:r>
                              </m:e>
                            </m:mr>
                            <m:mr>
                              <m:e>
                                <m:r>
                                  <m:rPr>
                                    <m:nor/>
                                  </m:rPr>
                                  <a:rPr lang="en-US" sz="2400">
                                    <a:solidFill>
                                      <a:schemeClr val="tx1"/>
                                    </a:solidFill>
                                    <a:latin typeface="Cambria Math" panose="02040503050406030204" pitchFamily="18" charset="0"/>
                                  </a:rPr>
                                  <m:t>1</m:t>
                                </m:r>
                              </m:e>
                              <m:e>
                                <m:r>
                                  <m:rPr>
                                    <m:nor/>
                                  </m:rPr>
                                  <a:rPr lang="en-US" sz="2400">
                                    <a:solidFill>
                                      <a:schemeClr val="tx1"/>
                                    </a:solidFill>
                                    <a:latin typeface="Cambria Math" panose="02040503050406030204" pitchFamily="18" charset="0"/>
                                  </a:rPr>
                                  <m:t>−1</m:t>
                                </m:r>
                              </m:e>
                            </m:mr>
                          </m:m>
                        </m:e>
                      </m:d>
                    </m:oMath>
                  </m:oMathPara>
                </a14:m>
                <a:endParaRPr lang="en-US" sz="2400" dirty="0">
                  <a:solidFill>
                    <a:schemeClr val="tx1"/>
                  </a:solidFill>
                </a:endParaRPr>
              </a:p>
            </p:txBody>
          </p:sp>
        </mc:Choice>
        <mc:Fallback xmlns="">
          <p:sp>
            <p:nvSpPr>
              <p:cNvPr id="36" name="Rectangle 35">
                <a:extLst>
                  <a:ext uri="{FF2B5EF4-FFF2-40B4-BE49-F238E27FC236}">
                    <a16:creationId xmlns:a16="http://schemas.microsoft.com/office/drawing/2014/main" id="{32F9BF4A-151C-EE4B-A813-55B617FB609E}"/>
                  </a:ext>
                </a:extLst>
              </p:cNvPr>
              <p:cNvSpPr>
                <a:spLocks noRot="1" noChangeAspect="1" noMove="1" noResize="1" noEditPoints="1" noAdjustHandles="1" noChangeArrowheads="1" noChangeShapeType="1" noTextEdit="1"/>
              </p:cNvSpPr>
              <p:nvPr/>
            </p:nvSpPr>
            <p:spPr>
              <a:xfrm>
                <a:off x="1685937" y="1711396"/>
                <a:ext cx="2414955" cy="855299"/>
              </a:xfrm>
              <a:prstGeom prst="rect">
                <a:avLst/>
              </a:prstGeom>
              <a:blipFill>
                <a:blip r:embed="rId4"/>
                <a:stretch>
                  <a:fillRect b="-294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A41F298D-2142-3447-964A-88FBF8974F35}"/>
                  </a:ext>
                </a:extLst>
              </p:cNvPr>
              <p:cNvSpPr txBox="1"/>
              <p:nvPr/>
            </p:nvSpPr>
            <p:spPr>
              <a:xfrm>
                <a:off x="4681959" y="1758402"/>
                <a:ext cx="5021077" cy="866969"/>
              </a:xfrm>
              <a:prstGeom prst="rect">
                <a:avLst/>
              </a:prstGeom>
              <a:noFill/>
            </p:spPr>
            <p:txBody>
              <a:bodyPr wrap="square" rtlCol="0">
                <a:spAutoFit/>
              </a:bodyPr>
              <a:lstStyle/>
              <a:p>
                <a:pPr algn="ctr"/>
                <a:r>
                  <a:rPr lang="en-ZA" sz="2400" dirty="0">
                    <a:latin typeface="+mj-lt"/>
                  </a:rPr>
                  <a:t>rotates the ket vector by </a:t>
                </a:r>
                <a14:m>
                  <m:oMath xmlns:m="http://schemas.openxmlformats.org/officeDocument/2006/math">
                    <m:r>
                      <m:rPr>
                        <m:sty m:val="p"/>
                      </m:rPr>
                      <a:rPr lang="el-GR" sz="2400" i="1" smtClean="0">
                        <a:latin typeface="Cambria Math" panose="02040503050406030204" pitchFamily="18" charset="0"/>
                        <a:ea typeface="Cambria Math" panose="02040503050406030204" pitchFamily="18" charset="0"/>
                      </a:rPr>
                      <m:t>π</m:t>
                    </m:r>
                    <m:r>
                      <a:rPr lang="en-US" sz="2400" i="1">
                        <a:latin typeface="Cambria Math" panose="02040503050406030204" pitchFamily="18" charset="0"/>
                      </a:rPr>
                      <m:t> </m:t>
                    </m:r>
                  </m:oMath>
                </a14:m>
                <a:r>
                  <a:rPr lang="en-ZA" sz="2400" dirty="0">
                    <a:latin typeface="+mj-lt"/>
                  </a:rPr>
                  <a:t>about the</a:t>
                </a:r>
              </a:p>
              <a:p>
                <a:pPr algn="ctr"/>
                <a:r>
                  <a:rPr lang="en-ZA" sz="2400" dirty="0">
                    <a:latin typeface="+mj-lt"/>
                  </a:rPr>
                  <a:t> </a:t>
                </a:r>
                <a14:m>
                  <m:oMath xmlns:m="http://schemas.openxmlformats.org/officeDocument/2006/math">
                    <m:r>
                      <a:rPr lang="sr-Latn-RS" sz="2400" i="1">
                        <a:latin typeface="Cambria Math" panose="02040503050406030204" pitchFamily="18" charset="0"/>
                      </a:rPr>
                      <m:t>(</m:t>
                    </m:r>
                    <m:r>
                      <a:rPr lang="sr-Latn-RS" sz="2400" i="1">
                        <a:latin typeface="Cambria Math" panose="02040503050406030204" pitchFamily="18" charset="0"/>
                      </a:rPr>
                      <m:t>𝑥</m:t>
                    </m:r>
                    <m:r>
                      <a:rPr lang="sr-Latn-RS" sz="2400" i="1">
                        <a:latin typeface="Cambria Math" panose="02040503050406030204" pitchFamily="18" charset="0"/>
                      </a:rPr>
                      <m:t>+</m:t>
                    </m:r>
                    <m:r>
                      <a:rPr lang="sr-Latn-RS" sz="2400" i="1">
                        <a:latin typeface="Cambria Math" panose="02040503050406030204" pitchFamily="18" charset="0"/>
                      </a:rPr>
                      <m:t>𝑧</m:t>
                    </m:r>
                    <m:r>
                      <a:rPr lang="sr-Latn-RS" sz="2400" i="1">
                        <a:latin typeface="Cambria Math" panose="02040503050406030204" pitchFamily="18" charset="0"/>
                      </a:rPr>
                      <m:t>)/</m:t>
                    </m:r>
                    <m:rad>
                      <m:radPr>
                        <m:degHide m:val="on"/>
                        <m:ctrlPr>
                          <a:rPr lang="en-US" sz="2400" i="1">
                            <a:latin typeface="Cambria Math" panose="02040503050406030204" pitchFamily="18" charset="0"/>
                          </a:rPr>
                        </m:ctrlPr>
                      </m:radPr>
                      <m:deg/>
                      <m:e>
                        <m:r>
                          <a:rPr lang="en-US" sz="2400" i="1">
                            <a:latin typeface="Cambria Math" panose="02040503050406030204" pitchFamily="18" charset="0"/>
                          </a:rPr>
                          <m:t>2</m:t>
                        </m:r>
                      </m:e>
                    </m:rad>
                  </m:oMath>
                </a14:m>
                <a:r>
                  <a:rPr lang="en-US" sz="2400" dirty="0">
                    <a:latin typeface="+mj-lt"/>
                  </a:rPr>
                  <a:t> </a:t>
                </a:r>
                <a:r>
                  <a:rPr lang="en-ZA" sz="2400" b="1" dirty="0">
                    <a:latin typeface="+mj-lt"/>
                  </a:rPr>
                  <a:t>axis</a:t>
                </a:r>
                <a:endParaRPr lang="sr-Latn-RS" sz="2400" dirty="0">
                  <a:latin typeface="+mj-lt"/>
                </a:endParaRPr>
              </a:p>
            </p:txBody>
          </p:sp>
        </mc:Choice>
        <mc:Fallback xmlns="">
          <p:sp>
            <p:nvSpPr>
              <p:cNvPr id="37" name="TextBox 36">
                <a:extLst>
                  <a:ext uri="{FF2B5EF4-FFF2-40B4-BE49-F238E27FC236}">
                    <a16:creationId xmlns:a16="http://schemas.microsoft.com/office/drawing/2014/main" id="{A41F298D-2142-3447-964A-88FBF8974F35}"/>
                  </a:ext>
                </a:extLst>
              </p:cNvPr>
              <p:cNvSpPr txBox="1">
                <a:spLocks noRot="1" noChangeAspect="1" noMove="1" noResize="1" noEditPoints="1" noAdjustHandles="1" noChangeArrowheads="1" noChangeShapeType="1" noTextEdit="1"/>
              </p:cNvSpPr>
              <p:nvPr/>
            </p:nvSpPr>
            <p:spPr>
              <a:xfrm>
                <a:off x="4681959" y="1758402"/>
                <a:ext cx="5021077" cy="866969"/>
              </a:xfrm>
              <a:prstGeom prst="rect">
                <a:avLst/>
              </a:prstGeom>
              <a:blipFill>
                <a:blip r:embed="rId5"/>
                <a:stretch>
                  <a:fillRect t="-2857" b="-12857"/>
                </a:stretch>
              </a:blipFill>
            </p:spPr>
            <p:txBody>
              <a:bodyPr/>
              <a:lstStyle/>
              <a:p>
                <a:r>
                  <a:rPr lang="en-US">
                    <a:noFill/>
                  </a:rPr>
                  <a:t> </a:t>
                </a:r>
              </a:p>
            </p:txBody>
          </p:sp>
        </mc:Fallback>
      </mc:AlternateContent>
      <p:sp>
        <p:nvSpPr>
          <p:cNvPr id="43" name="Rectangle 42">
            <a:extLst>
              <a:ext uri="{FF2B5EF4-FFF2-40B4-BE49-F238E27FC236}">
                <a16:creationId xmlns:a16="http://schemas.microsoft.com/office/drawing/2014/main" id="{0824DC6C-CEC9-3E4E-8DF1-99A0070F2BD7}"/>
              </a:ext>
            </a:extLst>
          </p:cNvPr>
          <p:cNvSpPr/>
          <p:nvPr/>
        </p:nvSpPr>
        <p:spPr>
          <a:xfrm>
            <a:off x="9945055" y="1885806"/>
            <a:ext cx="1659429" cy="461665"/>
          </a:xfrm>
          <a:prstGeom prst="rect">
            <a:avLst/>
          </a:prstGeom>
        </p:spPr>
        <p:txBody>
          <a:bodyPr wrap="none">
            <a:spAutoFit/>
          </a:bodyPr>
          <a:lstStyle/>
          <a:p>
            <a:r>
              <a:rPr lang="en-US" sz="2400" dirty="0">
                <a:latin typeface="AndaleMono" panose="020B0509000000000004" pitchFamily="49" charset="0"/>
              </a:rPr>
              <a:t>h q[</a:t>
            </a:r>
            <a:r>
              <a:rPr lang="en-US" sz="2400" dirty="0" err="1">
                <a:latin typeface="AndaleMono" panose="020B0509000000000004" pitchFamily="49" charset="0"/>
              </a:rPr>
              <a:t>i</a:t>
            </a:r>
            <a:r>
              <a:rPr lang="en-US" sz="2400" dirty="0">
                <a:latin typeface="AndaleMono" panose="020B0509000000000004" pitchFamily="49" charset="0"/>
              </a:rPr>
              <a:t>]; </a:t>
            </a:r>
            <a:endParaRPr lang="en-US" sz="2400" dirty="0">
              <a:effectLst/>
            </a:endParaRPr>
          </a:p>
        </p:txBody>
      </p:sp>
      <p:cxnSp>
        <p:nvCxnSpPr>
          <p:cNvPr id="53" name="Straight Connector 52">
            <a:extLst>
              <a:ext uri="{FF2B5EF4-FFF2-40B4-BE49-F238E27FC236}">
                <a16:creationId xmlns:a16="http://schemas.microsoft.com/office/drawing/2014/main" id="{8A527968-DE7C-FE4A-A9DB-19FD054BF655}"/>
              </a:ext>
            </a:extLst>
          </p:cNvPr>
          <p:cNvCxnSpPr>
            <a:cxnSpLocks/>
          </p:cNvCxnSpPr>
          <p:nvPr/>
        </p:nvCxnSpPr>
        <p:spPr>
          <a:xfrm flipH="1" flipV="1">
            <a:off x="9904153" y="985241"/>
            <a:ext cx="0" cy="1742400"/>
          </a:xfrm>
          <a:prstGeom prst="line">
            <a:avLst/>
          </a:prstGeom>
        </p:spPr>
        <p:style>
          <a:lnRef idx="1">
            <a:schemeClr val="accent1"/>
          </a:lnRef>
          <a:fillRef idx="0">
            <a:schemeClr val="accent1"/>
          </a:fillRef>
          <a:effectRef idx="0">
            <a:schemeClr val="accent1"/>
          </a:effectRef>
          <a:fontRef idx="minor">
            <a:schemeClr val="tx1"/>
          </a:fontRef>
        </p:style>
      </p:cxnSp>
      <p:sp>
        <p:nvSpPr>
          <p:cNvPr id="41" name="Rectangle 40">
            <a:extLst>
              <a:ext uri="{FF2B5EF4-FFF2-40B4-BE49-F238E27FC236}">
                <a16:creationId xmlns:a16="http://schemas.microsoft.com/office/drawing/2014/main" id="{13827057-590F-364A-A144-7740D44FF8FE}"/>
              </a:ext>
            </a:extLst>
          </p:cNvPr>
          <p:cNvSpPr>
            <a:spLocks noChangeAspect="1"/>
          </p:cNvSpPr>
          <p:nvPr/>
        </p:nvSpPr>
        <p:spPr>
          <a:xfrm>
            <a:off x="561265" y="1762981"/>
            <a:ext cx="720000" cy="72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H</a:t>
            </a:r>
          </a:p>
        </p:txBody>
      </p:sp>
      <p:grpSp>
        <p:nvGrpSpPr>
          <p:cNvPr id="5" name="Group 4">
            <a:extLst>
              <a:ext uri="{FF2B5EF4-FFF2-40B4-BE49-F238E27FC236}">
                <a16:creationId xmlns:a16="http://schemas.microsoft.com/office/drawing/2014/main" id="{CB10C5DF-F5E5-D64F-ADF6-D637B0D0C670}"/>
              </a:ext>
            </a:extLst>
          </p:cNvPr>
          <p:cNvGrpSpPr/>
          <p:nvPr/>
        </p:nvGrpSpPr>
        <p:grpSpPr>
          <a:xfrm>
            <a:off x="3721556" y="5719710"/>
            <a:ext cx="8180349" cy="1072577"/>
            <a:chOff x="571089" y="5643151"/>
            <a:chExt cx="8180349" cy="1072577"/>
          </a:xfrm>
        </p:grpSpPr>
        <p:sp>
          <p:nvSpPr>
            <p:cNvPr id="24" name="Rounded Rectangle 23">
              <a:extLst>
                <a:ext uri="{FF2B5EF4-FFF2-40B4-BE49-F238E27FC236}">
                  <a16:creationId xmlns:a16="http://schemas.microsoft.com/office/drawing/2014/main" id="{47BF6C3C-0C50-9F4E-9079-AED303FAF2A2}"/>
                </a:ext>
              </a:extLst>
            </p:cNvPr>
            <p:cNvSpPr/>
            <p:nvPr/>
          </p:nvSpPr>
          <p:spPr>
            <a:xfrm>
              <a:off x="571089" y="5643151"/>
              <a:ext cx="8180349" cy="1072577"/>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0" name="Rectangle 19">
                  <a:extLst>
                    <a:ext uri="{FF2B5EF4-FFF2-40B4-BE49-F238E27FC236}">
                      <a16:creationId xmlns:a16="http://schemas.microsoft.com/office/drawing/2014/main" id="{A38E2490-F854-1D4A-B44D-C2081CF01D69}"/>
                    </a:ext>
                  </a:extLst>
                </p:cNvPr>
                <p:cNvSpPr/>
                <p:nvPr/>
              </p:nvSpPr>
              <p:spPr>
                <a:xfrm>
                  <a:off x="3443191" y="5749832"/>
                  <a:ext cx="4102662" cy="86267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rPr>
                          <m:t>𝐻</m:t>
                        </m:r>
                        <m:r>
                          <a:rPr lang="en-US" sz="2400" i="0">
                            <a:latin typeface="Cambria Math" panose="02040503050406030204" pitchFamily="18" charset="0"/>
                          </a:rPr>
                          <m:t> </m:t>
                        </m:r>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𝑆</m:t>
                            </m:r>
                          </m:e>
                        </m:d>
                        <m:r>
                          <a:rPr lang="en-US" sz="2400" i="0">
                            <a:latin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rPr>
                              <m:t>𝑎</m:t>
                            </m:r>
                            <m:r>
                              <a:rPr lang="en-US" sz="2400">
                                <a:latin typeface="Cambria Math" panose="02040503050406030204" pitchFamily="18" charset="0"/>
                              </a:rPr>
                              <m:t>+</m:t>
                            </m:r>
                            <m:r>
                              <a:rPr lang="en-US" sz="2400" i="1">
                                <a:latin typeface="Cambria Math" panose="02040503050406030204" pitchFamily="18" charset="0"/>
                              </a:rPr>
                              <m:t>𝑏</m:t>
                            </m:r>
                          </m:num>
                          <m:den>
                            <m:rad>
                              <m:radPr>
                                <m:degHide m:val="on"/>
                                <m:ctrlPr>
                                  <a:rPr lang="en-US" sz="2400" i="1">
                                    <a:latin typeface="Cambria Math" panose="02040503050406030204" pitchFamily="18" charset="0"/>
                                  </a:rPr>
                                </m:ctrlPr>
                              </m:radPr>
                              <m:deg/>
                              <m:e>
                                <m:r>
                                  <a:rPr lang="en-US" sz="2400" i="0">
                                    <a:latin typeface="Cambria Math" panose="02040503050406030204" pitchFamily="18" charset="0"/>
                                  </a:rPr>
                                  <m:t>2</m:t>
                                </m:r>
                              </m:e>
                            </m:rad>
                          </m:den>
                        </m:f>
                        <m:d>
                          <m:dPr>
                            <m:begChr m:val="|"/>
                            <m:endChr m:val="⟩"/>
                            <m:ctrlPr>
                              <a:rPr lang="en-US" sz="2400" i="1">
                                <a:latin typeface="Cambria Math" panose="02040503050406030204" pitchFamily="18" charset="0"/>
                              </a:rPr>
                            </m:ctrlPr>
                          </m:dPr>
                          <m:e>
                            <m:r>
                              <a:rPr lang="en-US" sz="2400" b="0" i="1" smtClean="0">
                                <a:latin typeface="Cambria Math" panose="02040503050406030204" pitchFamily="18" charset="0"/>
                              </a:rPr>
                              <m:t>0</m:t>
                            </m:r>
                          </m:e>
                        </m:d>
                        <m:r>
                          <a:rPr lang="en-US" sz="2400" b="0" i="1" smtClean="0">
                            <a:latin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rPr>
                              <m:t>𝑎</m:t>
                            </m:r>
                            <m:r>
                              <a:rPr lang="en-US" sz="2400" b="0" i="0" smtClean="0">
                                <a:latin typeface="Cambria Math" panose="02040503050406030204" pitchFamily="18" charset="0"/>
                              </a:rPr>
                              <m:t>−</m:t>
                            </m:r>
                            <m:r>
                              <a:rPr lang="en-US" sz="2400" i="1">
                                <a:latin typeface="Cambria Math" panose="02040503050406030204" pitchFamily="18" charset="0"/>
                              </a:rPr>
                              <m:t>𝑏</m:t>
                            </m:r>
                          </m:num>
                          <m:den>
                            <m:rad>
                              <m:radPr>
                                <m:degHide m:val="on"/>
                                <m:ctrlPr>
                                  <a:rPr lang="en-US" sz="2400" i="1">
                                    <a:latin typeface="Cambria Math" panose="02040503050406030204" pitchFamily="18" charset="0"/>
                                  </a:rPr>
                                </m:ctrlPr>
                              </m:radPr>
                              <m:deg/>
                              <m:e>
                                <m:r>
                                  <a:rPr lang="en-US" sz="2400">
                                    <a:latin typeface="Cambria Math" panose="02040503050406030204" pitchFamily="18" charset="0"/>
                                  </a:rPr>
                                  <m:t>2</m:t>
                                </m:r>
                              </m:e>
                            </m:rad>
                          </m:den>
                        </m:f>
                        <m:d>
                          <m:dPr>
                            <m:begChr m:val="|"/>
                            <m:endChr m:val="⟩"/>
                            <m:ctrlPr>
                              <a:rPr lang="en-US" sz="2400" i="1">
                                <a:latin typeface="Cambria Math" panose="02040503050406030204" pitchFamily="18" charset="0"/>
                              </a:rPr>
                            </m:ctrlPr>
                          </m:dPr>
                          <m:e>
                            <m:r>
                              <a:rPr lang="en-US" sz="2400" b="0" i="1" smtClean="0">
                                <a:latin typeface="Cambria Math" panose="02040503050406030204" pitchFamily="18" charset="0"/>
                              </a:rPr>
                              <m:t>1</m:t>
                            </m:r>
                          </m:e>
                        </m:d>
                      </m:oMath>
                    </m:oMathPara>
                  </a14:m>
                  <a:endParaRPr lang="en-US" sz="2400" dirty="0"/>
                </a:p>
              </p:txBody>
            </p:sp>
          </mc:Choice>
          <mc:Fallback xmlns="">
            <p:sp>
              <p:nvSpPr>
                <p:cNvPr id="20" name="Rectangle 19">
                  <a:extLst>
                    <a:ext uri="{FF2B5EF4-FFF2-40B4-BE49-F238E27FC236}">
                      <a16:creationId xmlns:a16="http://schemas.microsoft.com/office/drawing/2014/main" id="{A38E2490-F854-1D4A-B44D-C2081CF01D69}"/>
                    </a:ext>
                  </a:extLst>
                </p:cNvPr>
                <p:cNvSpPr>
                  <a:spLocks noRot="1" noChangeAspect="1" noMove="1" noResize="1" noEditPoints="1" noAdjustHandles="1" noChangeArrowheads="1" noChangeShapeType="1" noTextEdit="1"/>
                </p:cNvSpPr>
                <p:nvPr/>
              </p:nvSpPr>
              <p:spPr>
                <a:xfrm>
                  <a:off x="3443191" y="5749832"/>
                  <a:ext cx="4102662" cy="862672"/>
                </a:xfrm>
                <a:prstGeom prst="rect">
                  <a:avLst/>
                </a:prstGeom>
                <a:blipFill>
                  <a:blip r:embed="rId6"/>
                  <a:stretch>
                    <a:fillRect b="-144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Rectangle 20">
                  <a:extLst>
                    <a:ext uri="{FF2B5EF4-FFF2-40B4-BE49-F238E27FC236}">
                      <a16:creationId xmlns:a16="http://schemas.microsoft.com/office/drawing/2014/main" id="{FB17CF53-0E60-A443-8ADE-1A4207850D6C}"/>
                    </a:ext>
                  </a:extLst>
                </p:cNvPr>
                <p:cNvSpPr/>
                <p:nvPr/>
              </p:nvSpPr>
              <p:spPr>
                <a:xfrm>
                  <a:off x="741956" y="5950288"/>
                  <a:ext cx="2504083"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𝑆</m:t>
                            </m:r>
                          </m:e>
                        </m:d>
                        <m:r>
                          <a:rPr lang="en-US" sz="2400" i="0">
                            <a:latin typeface="Cambria Math" panose="02040503050406030204" pitchFamily="18" charset="0"/>
                          </a:rPr>
                          <m:t>=</m:t>
                        </m:r>
                        <m:r>
                          <a:rPr lang="en-US" sz="2400" i="1">
                            <a:latin typeface="Cambria Math" panose="02040503050406030204" pitchFamily="18" charset="0"/>
                          </a:rPr>
                          <m:t>𝑎</m:t>
                        </m:r>
                        <m:d>
                          <m:dPr>
                            <m:begChr m:val="|"/>
                            <m:endChr m:val="⟩"/>
                            <m:ctrlPr>
                              <a:rPr lang="en-US" sz="2400" i="1">
                                <a:latin typeface="Cambria Math" panose="02040503050406030204" pitchFamily="18" charset="0"/>
                              </a:rPr>
                            </m:ctrlPr>
                          </m:dPr>
                          <m:e>
                            <m:r>
                              <a:rPr lang="en-US" sz="2400" i="0">
                                <a:latin typeface="Cambria Math" panose="02040503050406030204" pitchFamily="18" charset="0"/>
                              </a:rPr>
                              <m:t>0</m:t>
                            </m:r>
                          </m:e>
                        </m:d>
                        <m:r>
                          <a:rPr lang="en-US" sz="2400" i="0">
                            <a:latin typeface="Cambria Math" panose="02040503050406030204" pitchFamily="18" charset="0"/>
                          </a:rPr>
                          <m:t>+</m:t>
                        </m:r>
                        <m:r>
                          <a:rPr lang="en-US" sz="2400" i="1">
                            <a:latin typeface="Cambria Math" panose="02040503050406030204" pitchFamily="18" charset="0"/>
                          </a:rPr>
                          <m:t>𝑏</m:t>
                        </m:r>
                        <m:d>
                          <m:dPr>
                            <m:begChr m:val="|"/>
                            <m:endChr m:val="⟩"/>
                            <m:ctrlPr>
                              <a:rPr lang="en-US" sz="2400" i="1">
                                <a:latin typeface="Cambria Math" panose="02040503050406030204" pitchFamily="18" charset="0"/>
                              </a:rPr>
                            </m:ctrlPr>
                          </m:dPr>
                          <m:e>
                            <m:r>
                              <a:rPr lang="en-US" sz="2400" i="0">
                                <a:latin typeface="Cambria Math" panose="02040503050406030204" pitchFamily="18" charset="0"/>
                              </a:rPr>
                              <m:t>1</m:t>
                            </m:r>
                          </m:e>
                        </m:d>
                      </m:oMath>
                    </m:oMathPara>
                  </a14:m>
                  <a:endParaRPr lang="en-US" sz="2400" dirty="0"/>
                </a:p>
              </p:txBody>
            </p:sp>
          </mc:Choice>
          <mc:Fallback xmlns="">
            <p:sp>
              <p:nvSpPr>
                <p:cNvPr id="21" name="Rectangle 20">
                  <a:extLst>
                    <a:ext uri="{FF2B5EF4-FFF2-40B4-BE49-F238E27FC236}">
                      <a16:creationId xmlns:a16="http://schemas.microsoft.com/office/drawing/2014/main" id="{FB17CF53-0E60-A443-8ADE-1A4207850D6C}"/>
                    </a:ext>
                  </a:extLst>
                </p:cNvPr>
                <p:cNvSpPr>
                  <a:spLocks noRot="1" noChangeAspect="1" noMove="1" noResize="1" noEditPoints="1" noAdjustHandles="1" noChangeArrowheads="1" noChangeShapeType="1" noTextEdit="1"/>
                </p:cNvSpPr>
                <p:nvPr/>
              </p:nvSpPr>
              <p:spPr>
                <a:xfrm>
                  <a:off x="741956" y="5950288"/>
                  <a:ext cx="2504083" cy="461665"/>
                </a:xfrm>
                <a:prstGeom prst="rect">
                  <a:avLst/>
                </a:prstGeom>
                <a:blipFill>
                  <a:blip r:embed="rId7"/>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23" name="Rectangle 22">
                <a:extLst>
                  <a:ext uri="{FF2B5EF4-FFF2-40B4-BE49-F238E27FC236}">
                    <a16:creationId xmlns:a16="http://schemas.microsoft.com/office/drawing/2014/main" id="{D3C3E74D-AFD1-3749-9A4B-5B14D00F1EF1}"/>
                  </a:ext>
                </a:extLst>
              </p:cNvPr>
              <p:cNvSpPr/>
              <p:nvPr/>
            </p:nvSpPr>
            <p:spPr>
              <a:xfrm>
                <a:off x="4005515" y="3499922"/>
                <a:ext cx="7414979" cy="87620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rPr>
                        <m:t>𝐻</m:t>
                      </m:r>
                      <m:r>
                        <a:rPr lang="en-US" sz="2400" i="0">
                          <a:latin typeface="Cambria Math" panose="02040503050406030204" pitchFamily="18" charset="0"/>
                        </a:rPr>
                        <m:t> </m:t>
                      </m:r>
                      <m:d>
                        <m:dPr>
                          <m:begChr m:val="|"/>
                          <m:endChr m:val="⟩"/>
                          <m:ctrlPr>
                            <a:rPr lang="en-US" sz="2400" i="1">
                              <a:latin typeface="Cambria Math" panose="02040503050406030204" pitchFamily="18" charset="0"/>
                            </a:rPr>
                          </m:ctrlPr>
                        </m:dPr>
                        <m:e>
                          <m:r>
                            <a:rPr lang="en-US" sz="2400" i="0">
                              <a:latin typeface="Cambria Math" panose="02040503050406030204" pitchFamily="18" charset="0"/>
                            </a:rPr>
                            <m:t>0</m:t>
                          </m:r>
                        </m:e>
                      </m:d>
                      <m:r>
                        <a:rPr lang="en-US" sz="2400" i="0">
                          <a:latin typeface="Cambria Math" panose="02040503050406030204" pitchFamily="18" charset="0"/>
                        </a:rPr>
                        <m:t>=</m:t>
                      </m:r>
                      <m:f>
                        <m:fPr>
                          <m:ctrlPr>
                            <a:rPr lang="en-US" sz="2400" i="1">
                              <a:latin typeface="Cambria Math" panose="02040503050406030204" pitchFamily="18" charset="0"/>
                            </a:rPr>
                          </m:ctrlPr>
                        </m:fPr>
                        <m:num>
                          <m:r>
                            <a:rPr lang="en-US" sz="2400" i="0">
                              <a:latin typeface="Cambria Math" panose="02040503050406030204" pitchFamily="18" charset="0"/>
                            </a:rPr>
                            <m:t>1</m:t>
                          </m:r>
                        </m:num>
                        <m:den>
                          <m:rad>
                            <m:radPr>
                              <m:degHide m:val="on"/>
                              <m:ctrlPr>
                                <a:rPr lang="en-US" sz="2400" i="1">
                                  <a:latin typeface="Cambria Math" panose="02040503050406030204" pitchFamily="18" charset="0"/>
                                </a:rPr>
                              </m:ctrlPr>
                            </m:radPr>
                            <m:deg/>
                            <m:e>
                              <m:r>
                                <a:rPr lang="en-US" sz="2400" i="0">
                                  <a:latin typeface="Cambria Math" panose="02040503050406030204" pitchFamily="18" charset="0"/>
                                </a:rPr>
                                <m:t>2</m:t>
                              </m:r>
                            </m:e>
                          </m:rad>
                        </m:den>
                      </m:f>
                      <m:d>
                        <m:dPr>
                          <m:ctrlPr>
                            <a:rPr lang="en-US" sz="2400" i="1">
                              <a:latin typeface="Cambria Math" panose="02040503050406030204" pitchFamily="18" charset="0"/>
                            </a:rPr>
                          </m:ctrlPr>
                        </m:dPr>
                        <m:e>
                          <m:m>
                            <m:mPr>
                              <m:plcHide m:val="on"/>
                              <m:mcs>
                                <m:mc>
                                  <m:mcPr>
                                    <m:count m:val="2"/>
                                    <m:mcJc m:val="center"/>
                                  </m:mcPr>
                                </m:mc>
                              </m:mcs>
                              <m:ctrlPr>
                                <a:rPr lang="en-US" sz="2400" i="1">
                                  <a:latin typeface="Cambria Math" panose="02040503050406030204" pitchFamily="18" charset="0"/>
                                </a:rPr>
                              </m:ctrlPr>
                            </m:mPr>
                            <m:mr>
                              <m:e>
                                <m:r>
                                  <a:rPr lang="en-US" sz="2400" i="0">
                                    <a:latin typeface="Cambria Math" panose="02040503050406030204" pitchFamily="18" charset="0"/>
                                  </a:rPr>
                                  <m:t>1</m:t>
                                </m:r>
                              </m:e>
                              <m:e>
                                <m:r>
                                  <a:rPr lang="en-US" sz="2400" i="0">
                                    <a:latin typeface="Cambria Math" panose="02040503050406030204" pitchFamily="18" charset="0"/>
                                  </a:rPr>
                                  <m:t>1</m:t>
                                </m:r>
                              </m:e>
                            </m:mr>
                            <m:mr>
                              <m:e>
                                <m:r>
                                  <a:rPr lang="en-US" sz="2400" i="0">
                                    <a:latin typeface="Cambria Math" panose="02040503050406030204" pitchFamily="18" charset="0"/>
                                  </a:rPr>
                                  <m:t>1</m:t>
                                </m:r>
                              </m:e>
                              <m:e>
                                <m:r>
                                  <a:rPr lang="en-US" sz="2400" i="0">
                                    <a:latin typeface="Cambria Math" panose="02040503050406030204" pitchFamily="18" charset="0"/>
                                  </a:rPr>
                                  <m:t>−1</m:t>
                                </m:r>
                              </m:e>
                            </m:mr>
                          </m:m>
                        </m:e>
                      </m:d>
                      <m:d>
                        <m:dPr>
                          <m:ctrlPr>
                            <a:rPr lang="en-US" sz="2400" i="1">
                              <a:latin typeface="Cambria Math" panose="02040503050406030204" pitchFamily="18" charset="0"/>
                            </a:rPr>
                          </m:ctrlPr>
                        </m:dPr>
                        <m:e>
                          <m:m>
                            <m:mPr>
                              <m:plcHide m:val="on"/>
                              <m:mcs>
                                <m:mc>
                                  <m:mcPr>
                                    <m:count m:val="1"/>
                                    <m:mcJc m:val="center"/>
                                  </m:mcPr>
                                </m:mc>
                              </m:mcs>
                              <m:ctrlPr>
                                <a:rPr lang="en-US" sz="2400" i="1">
                                  <a:latin typeface="Cambria Math" panose="02040503050406030204" pitchFamily="18" charset="0"/>
                                </a:rPr>
                              </m:ctrlPr>
                            </m:mPr>
                            <m:mr>
                              <m:e>
                                <m:r>
                                  <a:rPr lang="en-US" sz="2400" i="0">
                                    <a:latin typeface="Cambria Math" panose="02040503050406030204" pitchFamily="18" charset="0"/>
                                  </a:rPr>
                                  <m:t>1</m:t>
                                </m:r>
                              </m:e>
                            </m:mr>
                            <m:mr>
                              <m:e>
                                <m:r>
                                  <a:rPr lang="en-US" sz="2400" i="0">
                                    <a:latin typeface="Cambria Math" panose="02040503050406030204" pitchFamily="18" charset="0"/>
                                  </a:rPr>
                                  <m:t>0</m:t>
                                </m:r>
                              </m:e>
                            </m:mr>
                          </m:m>
                        </m:e>
                      </m:d>
                      <m:r>
                        <a:rPr lang="en-US" sz="2400" i="0">
                          <a:latin typeface="Cambria Math" panose="02040503050406030204" pitchFamily="18" charset="0"/>
                        </a:rPr>
                        <m:t>=</m:t>
                      </m:r>
                      <m:f>
                        <m:fPr>
                          <m:ctrlPr>
                            <a:rPr lang="en-US" sz="2400" i="1">
                              <a:latin typeface="Cambria Math" panose="02040503050406030204" pitchFamily="18" charset="0"/>
                            </a:rPr>
                          </m:ctrlPr>
                        </m:fPr>
                        <m:num>
                          <m:r>
                            <a:rPr lang="en-US" sz="2400">
                              <a:latin typeface="Cambria Math" panose="02040503050406030204" pitchFamily="18" charset="0"/>
                            </a:rPr>
                            <m:t>1</m:t>
                          </m:r>
                        </m:num>
                        <m:den>
                          <m:rad>
                            <m:radPr>
                              <m:degHide m:val="on"/>
                              <m:ctrlPr>
                                <a:rPr lang="en-US" sz="2400" i="1">
                                  <a:latin typeface="Cambria Math" panose="02040503050406030204" pitchFamily="18" charset="0"/>
                                </a:rPr>
                              </m:ctrlPr>
                            </m:radPr>
                            <m:deg/>
                            <m:e>
                              <m:r>
                                <a:rPr lang="en-US" sz="2400">
                                  <a:latin typeface="Cambria Math" panose="02040503050406030204" pitchFamily="18" charset="0"/>
                                </a:rPr>
                                <m:t>2</m:t>
                              </m:r>
                            </m:e>
                          </m:rad>
                        </m:den>
                      </m:f>
                      <m:d>
                        <m:dPr>
                          <m:ctrlPr>
                            <a:rPr lang="en-US" sz="2400" i="1">
                              <a:latin typeface="Cambria Math" panose="02040503050406030204" pitchFamily="18" charset="0"/>
                            </a:rPr>
                          </m:ctrlPr>
                        </m:dPr>
                        <m:e>
                          <m:m>
                            <m:mPr>
                              <m:plcHide m:val="on"/>
                              <m:mcs>
                                <m:mc>
                                  <m:mcPr>
                                    <m:count m:val="1"/>
                                    <m:mcJc m:val="center"/>
                                  </m:mcPr>
                                </m:mc>
                              </m:mcs>
                              <m:ctrlPr>
                                <a:rPr lang="en-US" sz="2400" i="1">
                                  <a:latin typeface="Cambria Math" panose="02040503050406030204" pitchFamily="18" charset="0"/>
                                </a:rPr>
                              </m:ctrlPr>
                            </m:mPr>
                            <m:mr>
                              <m:e>
                                <m:r>
                                  <a:rPr lang="en-US" sz="2400">
                                    <a:latin typeface="Cambria Math" panose="02040503050406030204" pitchFamily="18" charset="0"/>
                                  </a:rPr>
                                  <m:t>1</m:t>
                                </m:r>
                              </m:e>
                            </m:mr>
                            <m:mr>
                              <m:e>
                                <m:r>
                                  <a:rPr lang="en-US" sz="2400" b="0" i="0" smtClean="0">
                                    <a:latin typeface="Cambria Math" panose="02040503050406030204" pitchFamily="18" charset="0"/>
                                  </a:rPr>
                                  <m:t>1</m:t>
                                </m:r>
                              </m:e>
                            </m:mr>
                          </m:m>
                        </m:e>
                      </m:d>
                      <m:r>
                        <a:rPr lang="en-US" sz="2400" i="0">
                          <a:latin typeface="Cambria Math" panose="02040503050406030204" pitchFamily="18" charset="0"/>
                        </a:rPr>
                        <m:t>⟶</m:t>
                      </m:r>
                      <m:f>
                        <m:fPr>
                          <m:ctrlPr>
                            <a:rPr lang="en-US" sz="2400" i="1">
                              <a:latin typeface="Cambria Math" panose="02040503050406030204" pitchFamily="18" charset="0"/>
                            </a:rPr>
                          </m:ctrlPr>
                        </m:fPr>
                        <m:num>
                          <m:d>
                            <m:dPr>
                              <m:begChr m:val="|"/>
                              <m:endChr m:val="⟩"/>
                              <m:ctrlPr>
                                <a:rPr lang="en-US" sz="2400" i="1">
                                  <a:latin typeface="Cambria Math" panose="02040503050406030204" pitchFamily="18" charset="0"/>
                                </a:rPr>
                              </m:ctrlPr>
                            </m:dPr>
                            <m:e>
                              <m:r>
                                <a:rPr lang="en-US" sz="2400" i="0">
                                  <a:latin typeface="Cambria Math" panose="02040503050406030204" pitchFamily="18" charset="0"/>
                                </a:rPr>
                                <m:t>0</m:t>
                              </m:r>
                            </m:e>
                          </m:d>
                          <m:r>
                            <a:rPr lang="en-US" sz="2400" i="0">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i="0">
                                  <a:latin typeface="Cambria Math" panose="02040503050406030204" pitchFamily="18" charset="0"/>
                                </a:rPr>
                                <m:t>1</m:t>
                              </m:r>
                            </m:e>
                          </m:d>
                        </m:num>
                        <m:den>
                          <m:rad>
                            <m:radPr>
                              <m:degHide m:val="on"/>
                              <m:ctrlPr>
                                <a:rPr lang="en-US" sz="2400" i="1">
                                  <a:latin typeface="Cambria Math" panose="02040503050406030204" pitchFamily="18" charset="0"/>
                                </a:rPr>
                              </m:ctrlPr>
                            </m:radPr>
                            <m:deg/>
                            <m:e>
                              <m:r>
                                <a:rPr lang="en-US" sz="2400" i="0">
                                  <a:latin typeface="Cambria Math" panose="02040503050406030204" pitchFamily="18" charset="0"/>
                                </a:rPr>
                                <m:t>2</m:t>
                              </m:r>
                            </m:e>
                          </m:rad>
                        </m:den>
                      </m:f>
                      <m:r>
                        <a:rPr lang="en-US" sz="2400" i="0">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i="0">
                              <a:latin typeface="Cambria Math" panose="02040503050406030204" pitchFamily="18" charset="0"/>
                            </a:rPr>
                            <m:t>+</m:t>
                          </m:r>
                        </m:e>
                      </m:d>
                    </m:oMath>
                  </m:oMathPara>
                </a14:m>
                <a:endParaRPr lang="en-US" sz="2400" dirty="0"/>
              </a:p>
            </p:txBody>
          </p:sp>
        </mc:Choice>
        <mc:Fallback xmlns="">
          <p:sp>
            <p:nvSpPr>
              <p:cNvPr id="23" name="Rectangle 22">
                <a:extLst>
                  <a:ext uri="{FF2B5EF4-FFF2-40B4-BE49-F238E27FC236}">
                    <a16:creationId xmlns:a16="http://schemas.microsoft.com/office/drawing/2014/main" id="{D3C3E74D-AFD1-3749-9A4B-5B14D00F1EF1}"/>
                  </a:ext>
                </a:extLst>
              </p:cNvPr>
              <p:cNvSpPr>
                <a:spLocks noRot="1" noChangeAspect="1" noMove="1" noResize="1" noEditPoints="1" noAdjustHandles="1" noChangeArrowheads="1" noChangeShapeType="1" noTextEdit="1"/>
              </p:cNvSpPr>
              <p:nvPr/>
            </p:nvSpPr>
            <p:spPr>
              <a:xfrm>
                <a:off x="4005515" y="3499922"/>
                <a:ext cx="7414979" cy="876202"/>
              </a:xfrm>
              <a:prstGeom prst="rect">
                <a:avLst/>
              </a:prstGeom>
              <a:blipFill>
                <a:blip r:embed="rId8"/>
                <a:stretch>
                  <a:fillRect b="-144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4" name="Rectangle 53">
                <a:extLst>
                  <a:ext uri="{FF2B5EF4-FFF2-40B4-BE49-F238E27FC236}">
                    <a16:creationId xmlns:a16="http://schemas.microsoft.com/office/drawing/2014/main" id="{DE8CCCBE-7475-3748-AF20-1DED3AAF6872}"/>
                  </a:ext>
                </a:extLst>
              </p:cNvPr>
              <p:cNvSpPr/>
              <p:nvPr/>
            </p:nvSpPr>
            <p:spPr>
              <a:xfrm>
                <a:off x="4074586" y="4511626"/>
                <a:ext cx="7474290" cy="87620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rPr>
                        <m:t>𝐻</m:t>
                      </m:r>
                      <m:r>
                        <a:rPr lang="en-US" sz="2400" i="0">
                          <a:latin typeface="Cambria Math" panose="02040503050406030204" pitchFamily="18" charset="0"/>
                        </a:rPr>
                        <m:t> </m:t>
                      </m:r>
                      <m:d>
                        <m:dPr>
                          <m:begChr m:val="|"/>
                          <m:endChr m:val="⟩"/>
                          <m:ctrlPr>
                            <a:rPr lang="en-US" sz="2400" i="1">
                              <a:latin typeface="Cambria Math" panose="02040503050406030204" pitchFamily="18" charset="0"/>
                            </a:rPr>
                          </m:ctrlPr>
                        </m:dPr>
                        <m:e>
                          <m:r>
                            <a:rPr lang="en-US" sz="2400" b="0" i="0" smtClean="0">
                              <a:latin typeface="Cambria Math" panose="02040503050406030204" pitchFamily="18" charset="0"/>
                            </a:rPr>
                            <m:t>1</m:t>
                          </m:r>
                        </m:e>
                      </m:d>
                      <m:r>
                        <a:rPr lang="en-US" sz="2400" i="0">
                          <a:latin typeface="Cambria Math" panose="02040503050406030204" pitchFamily="18" charset="0"/>
                        </a:rPr>
                        <m:t>=</m:t>
                      </m:r>
                      <m:f>
                        <m:fPr>
                          <m:ctrlPr>
                            <a:rPr lang="en-US" sz="2400" i="1">
                              <a:latin typeface="Cambria Math" panose="02040503050406030204" pitchFamily="18" charset="0"/>
                            </a:rPr>
                          </m:ctrlPr>
                        </m:fPr>
                        <m:num>
                          <m:r>
                            <a:rPr lang="en-US" sz="2400" i="0">
                              <a:latin typeface="Cambria Math" panose="02040503050406030204" pitchFamily="18" charset="0"/>
                            </a:rPr>
                            <m:t>1</m:t>
                          </m:r>
                        </m:num>
                        <m:den>
                          <m:rad>
                            <m:radPr>
                              <m:degHide m:val="on"/>
                              <m:ctrlPr>
                                <a:rPr lang="en-US" sz="2400" i="1">
                                  <a:latin typeface="Cambria Math" panose="02040503050406030204" pitchFamily="18" charset="0"/>
                                </a:rPr>
                              </m:ctrlPr>
                            </m:radPr>
                            <m:deg/>
                            <m:e>
                              <m:r>
                                <a:rPr lang="en-US" sz="2400" i="0">
                                  <a:latin typeface="Cambria Math" panose="02040503050406030204" pitchFamily="18" charset="0"/>
                                </a:rPr>
                                <m:t>2</m:t>
                              </m:r>
                            </m:e>
                          </m:rad>
                        </m:den>
                      </m:f>
                      <m:d>
                        <m:dPr>
                          <m:ctrlPr>
                            <a:rPr lang="en-US" sz="2400" i="1">
                              <a:latin typeface="Cambria Math" panose="02040503050406030204" pitchFamily="18" charset="0"/>
                            </a:rPr>
                          </m:ctrlPr>
                        </m:dPr>
                        <m:e>
                          <m:m>
                            <m:mPr>
                              <m:plcHide m:val="on"/>
                              <m:mcs>
                                <m:mc>
                                  <m:mcPr>
                                    <m:count m:val="2"/>
                                    <m:mcJc m:val="center"/>
                                  </m:mcPr>
                                </m:mc>
                              </m:mcs>
                              <m:ctrlPr>
                                <a:rPr lang="en-US" sz="2400" i="1">
                                  <a:latin typeface="Cambria Math" panose="02040503050406030204" pitchFamily="18" charset="0"/>
                                </a:rPr>
                              </m:ctrlPr>
                            </m:mPr>
                            <m:mr>
                              <m:e>
                                <m:r>
                                  <a:rPr lang="en-US" sz="2400" i="0">
                                    <a:latin typeface="Cambria Math" panose="02040503050406030204" pitchFamily="18" charset="0"/>
                                  </a:rPr>
                                  <m:t>1</m:t>
                                </m:r>
                              </m:e>
                              <m:e>
                                <m:r>
                                  <a:rPr lang="en-US" sz="2400" i="0">
                                    <a:latin typeface="Cambria Math" panose="02040503050406030204" pitchFamily="18" charset="0"/>
                                  </a:rPr>
                                  <m:t>1</m:t>
                                </m:r>
                              </m:e>
                            </m:mr>
                            <m:mr>
                              <m:e>
                                <m:r>
                                  <a:rPr lang="en-US" sz="2400" i="0">
                                    <a:latin typeface="Cambria Math" panose="02040503050406030204" pitchFamily="18" charset="0"/>
                                  </a:rPr>
                                  <m:t>1</m:t>
                                </m:r>
                              </m:e>
                              <m:e>
                                <m:r>
                                  <a:rPr lang="en-US" sz="2400" i="0">
                                    <a:latin typeface="Cambria Math" panose="02040503050406030204" pitchFamily="18" charset="0"/>
                                  </a:rPr>
                                  <m:t>−1</m:t>
                                </m:r>
                              </m:e>
                            </m:mr>
                          </m:m>
                        </m:e>
                      </m:d>
                      <m:d>
                        <m:dPr>
                          <m:ctrlPr>
                            <a:rPr lang="en-US" sz="2400" i="1">
                              <a:latin typeface="Cambria Math" panose="02040503050406030204" pitchFamily="18" charset="0"/>
                            </a:rPr>
                          </m:ctrlPr>
                        </m:dPr>
                        <m:e>
                          <m:m>
                            <m:mPr>
                              <m:plcHide m:val="on"/>
                              <m:mcs>
                                <m:mc>
                                  <m:mcPr>
                                    <m:count m:val="1"/>
                                    <m:mcJc m:val="center"/>
                                  </m:mcPr>
                                </m:mc>
                              </m:mcs>
                              <m:ctrlPr>
                                <a:rPr lang="en-US" sz="2400" i="1">
                                  <a:latin typeface="Cambria Math" panose="02040503050406030204" pitchFamily="18" charset="0"/>
                                </a:rPr>
                              </m:ctrlPr>
                            </m:mPr>
                            <m:mr>
                              <m:e>
                                <m:r>
                                  <a:rPr lang="en-US" sz="2400" b="0" i="0" smtClean="0">
                                    <a:latin typeface="Cambria Math" panose="02040503050406030204" pitchFamily="18" charset="0"/>
                                  </a:rPr>
                                  <m:t>0</m:t>
                                </m:r>
                              </m:e>
                            </m:mr>
                            <m:mr>
                              <m:e>
                                <m:r>
                                  <a:rPr lang="en-US" sz="2400" b="0" i="0" smtClean="0">
                                    <a:latin typeface="Cambria Math" panose="02040503050406030204" pitchFamily="18" charset="0"/>
                                  </a:rPr>
                                  <m:t>1</m:t>
                                </m:r>
                              </m:e>
                            </m:mr>
                          </m:m>
                        </m:e>
                      </m:d>
                      <m:r>
                        <a:rPr lang="en-US" sz="2400" i="0">
                          <a:latin typeface="Cambria Math" panose="02040503050406030204" pitchFamily="18" charset="0"/>
                        </a:rPr>
                        <m:t>=</m:t>
                      </m:r>
                      <m:f>
                        <m:fPr>
                          <m:ctrlPr>
                            <a:rPr lang="en-US" sz="2400" i="1">
                              <a:latin typeface="Cambria Math" panose="02040503050406030204" pitchFamily="18" charset="0"/>
                            </a:rPr>
                          </m:ctrlPr>
                        </m:fPr>
                        <m:num>
                          <m:r>
                            <a:rPr lang="en-US" sz="2400">
                              <a:latin typeface="Cambria Math" panose="02040503050406030204" pitchFamily="18" charset="0"/>
                            </a:rPr>
                            <m:t>1</m:t>
                          </m:r>
                        </m:num>
                        <m:den>
                          <m:rad>
                            <m:radPr>
                              <m:degHide m:val="on"/>
                              <m:ctrlPr>
                                <a:rPr lang="en-US" sz="2400" i="1">
                                  <a:latin typeface="Cambria Math" panose="02040503050406030204" pitchFamily="18" charset="0"/>
                                </a:rPr>
                              </m:ctrlPr>
                            </m:radPr>
                            <m:deg/>
                            <m:e>
                              <m:r>
                                <a:rPr lang="en-US" sz="2400">
                                  <a:latin typeface="Cambria Math" panose="02040503050406030204" pitchFamily="18" charset="0"/>
                                </a:rPr>
                                <m:t>2</m:t>
                              </m:r>
                            </m:e>
                          </m:rad>
                        </m:den>
                      </m:f>
                      <m:d>
                        <m:dPr>
                          <m:ctrlPr>
                            <a:rPr lang="en-US" sz="2400" i="1">
                              <a:latin typeface="Cambria Math" panose="02040503050406030204" pitchFamily="18" charset="0"/>
                            </a:rPr>
                          </m:ctrlPr>
                        </m:dPr>
                        <m:e>
                          <m:m>
                            <m:mPr>
                              <m:plcHide m:val="on"/>
                              <m:mcs>
                                <m:mc>
                                  <m:mcPr>
                                    <m:count m:val="1"/>
                                    <m:mcJc m:val="center"/>
                                  </m:mcPr>
                                </m:mc>
                              </m:mcs>
                              <m:ctrlPr>
                                <a:rPr lang="en-US" sz="2400" i="1">
                                  <a:latin typeface="Cambria Math" panose="02040503050406030204" pitchFamily="18" charset="0"/>
                                </a:rPr>
                              </m:ctrlPr>
                            </m:mPr>
                            <m:mr>
                              <m:e>
                                <m:r>
                                  <a:rPr lang="en-US" sz="2400">
                                    <a:latin typeface="Cambria Math" panose="02040503050406030204" pitchFamily="18" charset="0"/>
                                  </a:rPr>
                                  <m:t>1</m:t>
                                </m:r>
                              </m:e>
                            </m:mr>
                            <m:mr>
                              <m:e>
                                <m:r>
                                  <a:rPr lang="en-US" sz="2400" b="0" i="0" smtClean="0">
                                    <a:latin typeface="Cambria Math" panose="02040503050406030204" pitchFamily="18" charset="0"/>
                                  </a:rPr>
                                  <m:t>−</m:t>
                                </m:r>
                                <m:r>
                                  <a:rPr lang="en-US" sz="2400">
                                    <a:latin typeface="Cambria Math" panose="02040503050406030204" pitchFamily="18" charset="0"/>
                                  </a:rPr>
                                  <m:t>1</m:t>
                                </m:r>
                              </m:e>
                            </m:mr>
                          </m:m>
                        </m:e>
                      </m:d>
                      <m:r>
                        <a:rPr lang="en-US" sz="2400" i="0">
                          <a:latin typeface="Cambria Math" panose="02040503050406030204" pitchFamily="18" charset="0"/>
                        </a:rPr>
                        <m:t>⟶</m:t>
                      </m:r>
                      <m:f>
                        <m:fPr>
                          <m:ctrlPr>
                            <a:rPr lang="en-US" sz="2400" i="1">
                              <a:latin typeface="Cambria Math" panose="02040503050406030204" pitchFamily="18" charset="0"/>
                            </a:rPr>
                          </m:ctrlPr>
                        </m:fPr>
                        <m:num>
                          <m:d>
                            <m:dPr>
                              <m:begChr m:val="|"/>
                              <m:endChr m:val="⟩"/>
                              <m:ctrlPr>
                                <a:rPr lang="en-US" sz="2400" i="1">
                                  <a:latin typeface="Cambria Math" panose="02040503050406030204" pitchFamily="18" charset="0"/>
                                </a:rPr>
                              </m:ctrlPr>
                            </m:dPr>
                            <m:e>
                              <m:r>
                                <a:rPr lang="en-US" sz="2400" i="0">
                                  <a:latin typeface="Cambria Math" panose="02040503050406030204" pitchFamily="18" charset="0"/>
                                </a:rPr>
                                <m:t>0</m:t>
                              </m:r>
                            </m:e>
                          </m:d>
                          <m:r>
                            <a:rPr lang="sr-Latn-RS" sz="2400" b="0" i="0" smtClean="0">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i="0">
                                  <a:latin typeface="Cambria Math" panose="02040503050406030204" pitchFamily="18" charset="0"/>
                                </a:rPr>
                                <m:t>1</m:t>
                              </m:r>
                            </m:e>
                          </m:d>
                        </m:num>
                        <m:den>
                          <m:rad>
                            <m:radPr>
                              <m:degHide m:val="on"/>
                              <m:ctrlPr>
                                <a:rPr lang="en-US" sz="2400" i="1">
                                  <a:latin typeface="Cambria Math" panose="02040503050406030204" pitchFamily="18" charset="0"/>
                                </a:rPr>
                              </m:ctrlPr>
                            </m:radPr>
                            <m:deg/>
                            <m:e>
                              <m:r>
                                <a:rPr lang="en-US" sz="2400" i="0">
                                  <a:latin typeface="Cambria Math" panose="02040503050406030204" pitchFamily="18" charset="0"/>
                                </a:rPr>
                                <m:t>2</m:t>
                              </m:r>
                            </m:e>
                          </m:rad>
                        </m:den>
                      </m:f>
                      <m:r>
                        <a:rPr lang="en-US" sz="2400" i="0">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b="0" i="0" smtClean="0">
                              <a:latin typeface="Cambria Math" panose="02040503050406030204" pitchFamily="18" charset="0"/>
                            </a:rPr>
                            <m:t>−</m:t>
                          </m:r>
                        </m:e>
                      </m:d>
                    </m:oMath>
                  </m:oMathPara>
                </a14:m>
                <a:endParaRPr lang="en-US" sz="2400" dirty="0"/>
              </a:p>
            </p:txBody>
          </p:sp>
        </mc:Choice>
        <mc:Fallback xmlns="">
          <p:sp>
            <p:nvSpPr>
              <p:cNvPr id="54" name="Rectangle 53">
                <a:extLst>
                  <a:ext uri="{FF2B5EF4-FFF2-40B4-BE49-F238E27FC236}">
                    <a16:creationId xmlns:a16="http://schemas.microsoft.com/office/drawing/2014/main" id="{DE8CCCBE-7475-3748-AF20-1DED3AAF6872}"/>
                  </a:ext>
                </a:extLst>
              </p:cNvPr>
              <p:cNvSpPr>
                <a:spLocks noRot="1" noChangeAspect="1" noMove="1" noResize="1" noEditPoints="1" noAdjustHandles="1" noChangeArrowheads="1" noChangeShapeType="1" noTextEdit="1"/>
              </p:cNvSpPr>
              <p:nvPr/>
            </p:nvSpPr>
            <p:spPr>
              <a:xfrm>
                <a:off x="4074586" y="4511626"/>
                <a:ext cx="7474290" cy="876202"/>
              </a:xfrm>
              <a:prstGeom prst="rect">
                <a:avLst/>
              </a:prstGeom>
              <a:blipFill>
                <a:blip r:embed="rId9"/>
                <a:stretch>
                  <a:fillRect b="-14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D361F568-E006-EE4A-AB52-3A1CB1E88D02}"/>
                  </a:ext>
                </a:extLst>
              </p:cNvPr>
              <p:cNvSpPr txBox="1"/>
              <p:nvPr/>
            </p:nvSpPr>
            <p:spPr>
              <a:xfrm>
                <a:off x="73900" y="3499922"/>
                <a:ext cx="759888" cy="64735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sr-Latn-RS" b="0" i="1" smtClean="0">
                              <a:latin typeface="Cambria Math" panose="02040503050406030204" pitchFamily="18" charset="0"/>
                            </a:rPr>
                            <m:t>𝑥</m:t>
                          </m:r>
                          <m:r>
                            <a:rPr lang="en-US">
                              <a:latin typeface="Cambria Math" panose="02040503050406030204" pitchFamily="18" charset="0"/>
                            </a:rPr>
                            <m:t>+</m:t>
                          </m:r>
                          <m:r>
                            <a:rPr lang="sr-Latn-RS" b="0" i="1" smtClean="0">
                              <a:latin typeface="Cambria Math" panose="02040503050406030204" pitchFamily="18" charset="0"/>
                            </a:rPr>
                            <m:t>𝑧</m:t>
                          </m:r>
                        </m:num>
                        <m:den>
                          <m:rad>
                            <m:radPr>
                              <m:degHide m:val="on"/>
                              <m:ctrlPr>
                                <a:rPr lang="en-US" i="1">
                                  <a:latin typeface="Cambria Math" panose="02040503050406030204" pitchFamily="18" charset="0"/>
                                </a:rPr>
                              </m:ctrlPr>
                            </m:radPr>
                            <m:deg/>
                            <m:e>
                              <m:r>
                                <a:rPr lang="en-US">
                                  <a:latin typeface="Cambria Math" panose="02040503050406030204" pitchFamily="18" charset="0"/>
                                </a:rPr>
                                <m:t>2</m:t>
                              </m:r>
                            </m:e>
                          </m:rad>
                        </m:den>
                      </m:f>
                    </m:oMath>
                  </m:oMathPara>
                </a14:m>
                <a:endParaRPr lang="en-US" dirty="0"/>
              </a:p>
            </p:txBody>
          </p:sp>
        </mc:Choice>
        <mc:Fallback xmlns="">
          <p:sp>
            <p:nvSpPr>
              <p:cNvPr id="28" name="TextBox 27">
                <a:extLst>
                  <a:ext uri="{FF2B5EF4-FFF2-40B4-BE49-F238E27FC236}">
                    <a16:creationId xmlns:a16="http://schemas.microsoft.com/office/drawing/2014/main" id="{D361F568-E006-EE4A-AB52-3A1CB1E88D02}"/>
                  </a:ext>
                </a:extLst>
              </p:cNvPr>
              <p:cNvSpPr txBox="1">
                <a:spLocks noRot="1" noChangeAspect="1" noMove="1" noResize="1" noEditPoints="1" noAdjustHandles="1" noChangeArrowheads="1" noChangeShapeType="1" noTextEdit="1"/>
              </p:cNvSpPr>
              <p:nvPr/>
            </p:nvSpPr>
            <p:spPr>
              <a:xfrm>
                <a:off x="73900" y="3499922"/>
                <a:ext cx="759888" cy="647357"/>
              </a:xfrm>
              <a:prstGeom prst="rect">
                <a:avLst/>
              </a:prstGeom>
              <a:blipFill>
                <a:blip r:embed="rId10"/>
                <a:stretch>
                  <a:fillRect/>
                </a:stretch>
              </a:blipFill>
            </p:spPr>
            <p:txBody>
              <a:bodyPr/>
              <a:lstStyle/>
              <a:p>
                <a:r>
                  <a:rPr lang="en-US">
                    <a:noFill/>
                  </a:rPr>
                  <a:t> </a:t>
                </a:r>
              </a:p>
            </p:txBody>
          </p:sp>
        </mc:Fallback>
      </mc:AlternateContent>
      <p:sp>
        <p:nvSpPr>
          <p:cNvPr id="30" name="TextBox 29">
            <a:extLst>
              <a:ext uri="{FF2B5EF4-FFF2-40B4-BE49-F238E27FC236}">
                <a16:creationId xmlns:a16="http://schemas.microsoft.com/office/drawing/2014/main" id="{FA7AA895-5F23-9242-B6BB-525098A0AB97}"/>
              </a:ext>
            </a:extLst>
          </p:cNvPr>
          <p:cNvSpPr txBox="1"/>
          <p:nvPr/>
        </p:nvSpPr>
        <p:spPr>
          <a:xfrm>
            <a:off x="453844" y="1126418"/>
            <a:ext cx="1065100" cy="461665"/>
          </a:xfrm>
          <a:prstGeom prst="rect">
            <a:avLst/>
          </a:prstGeom>
          <a:noFill/>
        </p:spPr>
        <p:txBody>
          <a:bodyPr wrap="none" rtlCol="0">
            <a:spAutoFit/>
          </a:bodyPr>
          <a:lstStyle/>
          <a:p>
            <a:r>
              <a:rPr lang="en-US" sz="2400" dirty="0">
                <a:latin typeface="+mj-lt"/>
              </a:rPr>
              <a:t>symbol</a:t>
            </a:r>
          </a:p>
        </p:txBody>
      </p:sp>
      <p:sp>
        <p:nvSpPr>
          <p:cNvPr id="31" name="TextBox 30">
            <a:extLst>
              <a:ext uri="{FF2B5EF4-FFF2-40B4-BE49-F238E27FC236}">
                <a16:creationId xmlns:a16="http://schemas.microsoft.com/office/drawing/2014/main" id="{5FB6921A-54CE-D84A-80DD-EC7E8E43C000}"/>
              </a:ext>
            </a:extLst>
          </p:cNvPr>
          <p:cNvSpPr txBox="1"/>
          <p:nvPr/>
        </p:nvSpPr>
        <p:spPr>
          <a:xfrm>
            <a:off x="2097792" y="1108750"/>
            <a:ext cx="1262653" cy="461665"/>
          </a:xfrm>
          <a:prstGeom prst="rect">
            <a:avLst/>
          </a:prstGeom>
          <a:noFill/>
        </p:spPr>
        <p:txBody>
          <a:bodyPr wrap="none" rtlCol="0">
            <a:spAutoFit/>
          </a:bodyPr>
          <a:lstStyle/>
          <a:p>
            <a:r>
              <a:rPr lang="en-US" sz="2400" dirty="0">
                <a:latin typeface="+mj-lt"/>
              </a:rPr>
              <a:t>operator</a:t>
            </a:r>
          </a:p>
        </p:txBody>
      </p:sp>
      <p:sp>
        <p:nvSpPr>
          <p:cNvPr id="32" name="TextBox 31">
            <a:extLst>
              <a:ext uri="{FF2B5EF4-FFF2-40B4-BE49-F238E27FC236}">
                <a16:creationId xmlns:a16="http://schemas.microsoft.com/office/drawing/2014/main" id="{097CE5E2-D69F-C543-9F57-320A634A11FC}"/>
              </a:ext>
            </a:extLst>
          </p:cNvPr>
          <p:cNvSpPr txBox="1"/>
          <p:nvPr/>
        </p:nvSpPr>
        <p:spPr>
          <a:xfrm>
            <a:off x="6262005" y="1108750"/>
            <a:ext cx="1568186" cy="461665"/>
          </a:xfrm>
          <a:prstGeom prst="rect">
            <a:avLst/>
          </a:prstGeom>
          <a:noFill/>
        </p:spPr>
        <p:txBody>
          <a:bodyPr wrap="none" rtlCol="0">
            <a:spAutoFit/>
          </a:bodyPr>
          <a:lstStyle/>
          <a:p>
            <a:r>
              <a:rPr lang="en-US" sz="2400" dirty="0">
                <a:latin typeface="+mj-lt"/>
              </a:rPr>
              <a:t>description</a:t>
            </a:r>
          </a:p>
        </p:txBody>
      </p:sp>
      <p:sp>
        <p:nvSpPr>
          <p:cNvPr id="33" name="TextBox 32">
            <a:extLst>
              <a:ext uri="{FF2B5EF4-FFF2-40B4-BE49-F238E27FC236}">
                <a16:creationId xmlns:a16="http://schemas.microsoft.com/office/drawing/2014/main" id="{A87B9ED8-1F0E-6847-9CFF-36A1FEC17B58}"/>
              </a:ext>
            </a:extLst>
          </p:cNvPr>
          <p:cNvSpPr txBox="1"/>
          <p:nvPr/>
        </p:nvSpPr>
        <p:spPr>
          <a:xfrm>
            <a:off x="10224188" y="1108750"/>
            <a:ext cx="962123" cy="461665"/>
          </a:xfrm>
          <a:prstGeom prst="rect">
            <a:avLst/>
          </a:prstGeom>
          <a:noFill/>
        </p:spPr>
        <p:txBody>
          <a:bodyPr wrap="none" rtlCol="0">
            <a:spAutoFit/>
          </a:bodyPr>
          <a:lstStyle/>
          <a:p>
            <a:r>
              <a:rPr lang="en-US" sz="2400" dirty="0">
                <a:latin typeface="+mj-lt"/>
              </a:rPr>
              <a:t>QASM</a:t>
            </a:r>
          </a:p>
        </p:txBody>
      </p:sp>
    </p:spTree>
    <p:extLst>
      <p:ext uri="{BB962C8B-B14F-4D97-AF65-F5344CB8AC3E}">
        <p14:creationId xmlns:p14="http://schemas.microsoft.com/office/powerpoint/2010/main" val="1555667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FF359CB-9471-1E40-9371-8A4F8D38CC3B}"/>
              </a:ext>
            </a:extLst>
          </p:cNvPr>
          <p:cNvSpPr txBox="1"/>
          <p:nvPr/>
        </p:nvSpPr>
        <p:spPr>
          <a:xfrm>
            <a:off x="355600" y="2641600"/>
            <a:ext cx="6244017" cy="707886"/>
          </a:xfrm>
          <a:prstGeom prst="rect">
            <a:avLst/>
          </a:prstGeom>
          <a:noFill/>
        </p:spPr>
        <p:txBody>
          <a:bodyPr wrap="none" rtlCol="0">
            <a:spAutoFit/>
          </a:bodyPr>
          <a:lstStyle/>
          <a:p>
            <a:r>
              <a:rPr lang="en-US" sz="4000" dirty="0">
                <a:latin typeface="Comic Sans MS" panose="030F0902030302020204" pitchFamily="66" charset="0"/>
              </a:rPr>
              <a:t>Rotation and Phase Gates</a:t>
            </a:r>
          </a:p>
        </p:txBody>
      </p:sp>
      <p:pic>
        <p:nvPicPr>
          <p:cNvPr id="6" name="Picture 5">
            <a:extLst>
              <a:ext uri="{FF2B5EF4-FFF2-40B4-BE49-F238E27FC236}">
                <a16:creationId xmlns:a16="http://schemas.microsoft.com/office/drawing/2014/main" id="{D540D82D-B10B-294D-8424-F28D98997E60}"/>
              </a:ext>
            </a:extLst>
          </p:cNvPr>
          <p:cNvPicPr>
            <a:picLocks noChangeAspect="1"/>
          </p:cNvPicPr>
          <p:nvPr/>
        </p:nvPicPr>
        <p:blipFill>
          <a:blip r:embed="rId3"/>
          <a:stretch>
            <a:fillRect/>
          </a:stretch>
        </p:blipFill>
        <p:spPr>
          <a:xfrm>
            <a:off x="7078133" y="1471542"/>
            <a:ext cx="4275667" cy="4545142"/>
          </a:xfrm>
          <a:prstGeom prst="rect">
            <a:avLst/>
          </a:prstGeom>
        </p:spPr>
      </p:pic>
      <p:sp>
        <p:nvSpPr>
          <p:cNvPr id="5" name="Slide Number Placeholder 1">
            <a:extLst>
              <a:ext uri="{FF2B5EF4-FFF2-40B4-BE49-F238E27FC236}">
                <a16:creationId xmlns:a16="http://schemas.microsoft.com/office/drawing/2014/main" id="{A67EA853-A28A-EF43-B126-76530B1326D4}"/>
              </a:ext>
            </a:extLst>
          </p:cNvPr>
          <p:cNvSpPr txBox="1">
            <a:spLocks/>
          </p:cNvSpPr>
          <p:nvPr/>
        </p:nvSpPr>
        <p:spPr>
          <a:xfrm>
            <a:off x="0" y="6400801"/>
            <a:ext cx="1117600" cy="45720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fld id="{591A223C-FA10-BC46-A853-03BA373D023C}" type="slidenum">
              <a:rPr lang="en-US" smtClean="0"/>
              <a:pPr algn="l"/>
              <a:t>21</a:t>
            </a:fld>
            <a:endParaRPr lang="en-US" dirty="0"/>
          </a:p>
        </p:txBody>
      </p:sp>
    </p:spTree>
    <p:extLst>
      <p:ext uri="{BB962C8B-B14F-4D97-AF65-F5344CB8AC3E}">
        <p14:creationId xmlns:p14="http://schemas.microsoft.com/office/powerpoint/2010/main" val="35171844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1EAAA8-54EB-D245-A6D5-E1F45276D4A7}"/>
              </a:ext>
            </a:extLst>
          </p:cNvPr>
          <p:cNvSpPr>
            <a:spLocks noGrp="1"/>
          </p:cNvSpPr>
          <p:nvPr>
            <p:ph type="title"/>
          </p:nvPr>
        </p:nvSpPr>
        <p:spPr>
          <a:xfrm>
            <a:off x="0" y="0"/>
            <a:ext cx="12192000" cy="928688"/>
          </a:xfrm>
        </p:spPr>
        <p:txBody>
          <a:bodyPr/>
          <a:lstStyle/>
          <a:p>
            <a:r>
              <a:rPr lang="en-ZA" dirty="0"/>
              <a:t>Quantum Rotations</a:t>
            </a:r>
            <a:endParaRPr lang="en-US" dirty="0"/>
          </a:p>
        </p:txBody>
      </p:sp>
      <p:sp>
        <p:nvSpPr>
          <p:cNvPr id="3" name="Slide Number Placeholder 2">
            <a:extLst>
              <a:ext uri="{FF2B5EF4-FFF2-40B4-BE49-F238E27FC236}">
                <a16:creationId xmlns:a16="http://schemas.microsoft.com/office/drawing/2014/main" id="{FD2BD879-F30E-5543-86E8-E7585A4DD75B}"/>
              </a:ext>
            </a:extLst>
          </p:cNvPr>
          <p:cNvSpPr>
            <a:spLocks noGrp="1"/>
          </p:cNvSpPr>
          <p:nvPr>
            <p:ph type="sldNum" sz="quarter" idx="12"/>
          </p:nvPr>
        </p:nvSpPr>
        <p:spPr/>
        <p:txBody>
          <a:bodyPr/>
          <a:lstStyle/>
          <a:p>
            <a:fld id="{591A223C-FA10-BC46-A853-03BA373D023C}" type="slidenum">
              <a:rPr lang="en-US" smtClean="0"/>
              <a:t>22</a:t>
            </a:fld>
            <a:endParaRPr lang="en-US"/>
          </a:p>
        </p:txBody>
      </p:sp>
      <p:pic>
        <p:nvPicPr>
          <p:cNvPr id="5" name="Picture 4">
            <a:extLst>
              <a:ext uri="{FF2B5EF4-FFF2-40B4-BE49-F238E27FC236}">
                <a16:creationId xmlns:a16="http://schemas.microsoft.com/office/drawing/2014/main" id="{3DC71872-5813-1343-A2CC-634A1EB5C6ED}"/>
              </a:ext>
            </a:extLst>
          </p:cNvPr>
          <p:cNvPicPr>
            <a:picLocks noChangeAspect="1"/>
          </p:cNvPicPr>
          <p:nvPr/>
        </p:nvPicPr>
        <p:blipFill>
          <a:blip r:embed="rId3"/>
          <a:stretch>
            <a:fillRect/>
          </a:stretch>
        </p:blipFill>
        <p:spPr>
          <a:xfrm>
            <a:off x="9074406" y="1398894"/>
            <a:ext cx="2858823" cy="3239999"/>
          </a:xfrm>
          <a:prstGeom prst="rect">
            <a:avLst/>
          </a:prstGeom>
        </p:spPr>
      </p:pic>
      <p:pic>
        <p:nvPicPr>
          <p:cNvPr id="7" name="Picture 6">
            <a:extLst>
              <a:ext uri="{FF2B5EF4-FFF2-40B4-BE49-F238E27FC236}">
                <a16:creationId xmlns:a16="http://schemas.microsoft.com/office/drawing/2014/main" id="{1456336C-065E-EC4F-A101-BE886B9529CA}"/>
              </a:ext>
            </a:extLst>
          </p:cNvPr>
          <p:cNvPicPr>
            <a:picLocks noChangeAspect="1"/>
          </p:cNvPicPr>
          <p:nvPr/>
        </p:nvPicPr>
        <p:blipFill>
          <a:blip r:embed="rId4"/>
          <a:stretch>
            <a:fillRect/>
          </a:stretch>
        </p:blipFill>
        <p:spPr>
          <a:xfrm>
            <a:off x="4650360" y="1398894"/>
            <a:ext cx="2858823" cy="3239999"/>
          </a:xfrm>
          <a:prstGeom prst="rect">
            <a:avLst/>
          </a:prstGeom>
        </p:spPr>
      </p:pic>
      <p:pic>
        <p:nvPicPr>
          <p:cNvPr id="9" name="Picture 8">
            <a:extLst>
              <a:ext uri="{FF2B5EF4-FFF2-40B4-BE49-F238E27FC236}">
                <a16:creationId xmlns:a16="http://schemas.microsoft.com/office/drawing/2014/main" id="{94122B03-0CBE-A248-9257-F5B50B9BF751}"/>
              </a:ext>
            </a:extLst>
          </p:cNvPr>
          <p:cNvPicPr>
            <a:picLocks noChangeAspect="1"/>
          </p:cNvPicPr>
          <p:nvPr/>
        </p:nvPicPr>
        <p:blipFill>
          <a:blip r:embed="rId5"/>
          <a:stretch>
            <a:fillRect/>
          </a:stretch>
        </p:blipFill>
        <p:spPr>
          <a:xfrm>
            <a:off x="226314" y="1398894"/>
            <a:ext cx="2858823" cy="3239999"/>
          </a:xfrm>
          <a:prstGeom prst="rect">
            <a:avLst/>
          </a:prstGeom>
        </p:spPr>
      </p:pic>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5E828EB7-FB5A-6E4A-B7CB-7A4A135EB1E2}"/>
                  </a:ext>
                </a:extLst>
              </p:cNvPr>
              <p:cNvSpPr/>
              <p:nvPr/>
            </p:nvSpPr>
            <p:spPr>
              <a:xfrm>
                <a:off x="340093" y="1349708"/>
                <a:ext cx="595741"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𝑅</m:t>
                          </m:r>
                        </m:e>
                        <m:sub>
                          <m:r>
                            <a:rPr lang="en-US" sz="2400" b="0" i="1" smtClean="0">
                              <a:latin typeface="Cambria Math" panose="02040503050406030204" pitchFamily="18" charset="0"/>
                            </a:rPr>
                            <m:t>𝑥</m:t>
                          </m:r>
                        </m:sub>
                      </m:sSub>
                    </m:oMath>
                  </m:oMathPara>
                </a14:m>
                <a:endParaRPr lang="en-US" sz="2400" dirty="0"/>
              </a:p>
            </p:txBody>
          </p:sp>
        </mc:Choice>
        <mc:Fallback xmlns="">
          <p:sp>
            <p:nvSpPr>
              <p:cNvPr id="10" name="Rectangle 9">
                <a:extLst>
                  <a:ext uri="{FF2B5EF4-FFF2-40B4-BE49-F238E27FC236}">
                    <a16:creationId xmlns:a16="http://schemas.microsoft.com/office/drawing/2014/main" id="{5E828EB7-FB5A-6E4A-B7CB-7A4A135EB1E2}"/>
                  </a:ext>
                </a:extLst>
              </p:cNvPr>
              <p:cNvSpPr>
                <a:spLocks noRot="1" noChangeAspect="1" noMove="1" noResize="1" noEditPoints="1" noAdjustHandles="1" noChangeArrowheads="1" noChangeShapeType="1" noTextEdit="1"/>
              </p:cNvSpPr>
              <p:nvPr/>
            </p:nvSpPr>
            <p:spPr>
              <a:xfrm>
                <a:off x="340093" y="1349708"/>
                <a:ext cx="595741" cy="461665"/>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EC841E9F-7694-8947-ACFF-C4DE07EB2F4D}"/>
                  </a:ext>
                </a:extLst>
              </p:cNvPr>
              <p:cNvSpPr/>
              <p:nvPr/>
            </p:nvSpPr>
            <p:spPr>
              <a:xfrm>
                <a:off x="4640009" y="1349708"/>
                <a:ext cx="604781" cy="49084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𝑅</m:t>
                          </m:r>
                        </m:e>
                        <m:sub>
                          <m:r>
                            <a:rPr lang="en-US" sz="2400" b="0" i="1" smtClean="0">
                              <a:latin typeface="Cambria Math" panose="02040503050406030204" pitchFamily="18" charset="0"/>
                            </a:rPr>
                            <m:t>𝑦</m:t>
                          </m:r>
                        </m:sub>
                      </m:sSub>
                    </m:oMath>
                  </m:oMathPara>
                </a14:m>
                <a:endParaRPr lang="en-US" sz="2400" dirty="0"/>
              </a:p>
            </p:txBody>
          </p:sp>
        </mc:Choice>
        <mc:Fallback xmlns="">
          <p:sp>
            <p:nvSpPr>
              <p:cNvPr id="11" name="Rectangle 10">
                <a:extLst>
                  <a:ext uri="{FF2B5EF4-FFF2-40B4-BE49-F238E27FC236}">
                    <a16:creationId xmlns:a16="http://schemas.microsoft.com/office/drawing/2014/main" id="{EC841E9F-7694-8947-ACFF-C4DE07EB2F4D}"/>
                  </a:ext>
                </a:extLst>
              </p:cNvPr>
              <p:cNvSpPr>
                <a:spLocks noRot="1" noChangeAspect="1" noMove="1" noResize="1" noEditPoints="1" noAdjustHandles="1" noChangeArrowheads="1" noChangeShapeType="1" noTextEdit="1"/>
              </p:cNvSpPr>
              <p:nvPr/>
            </p:nvSpPr>
            <p:spPr>
              <a:xfrm>
                <a:off x="4640009" y="1349708"/>
                <a:ext cx="604781" cy="490840"/>
              </a:xfrm>
              <a:prstGeom prst="rect">
                <a:avLst/>
              </a:prstGeom>
              <a:blipFill>
                <a:blip r:embed="rId7"/>
                <a:stretch>
                  <a:fillRect b="-2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C7E4C464-2831-8C43-B2BC-C2D45EA3FF3B}"/>
                  </a:ext>
                </a:extLst>
              </p:cNvPr>
              <p:cNvSpPr/>
              <p:nvPr/>
            </p:nvSpPr>
            <p:spPr>
              <a:xfrm>
                <a:off x="9074406" y="1398894"/>
                <a:ext cx="580223"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𝑅</m:t>
                          </m:r>
                        </m:e>
                        <m:sub>
                          <m:r>
                            <a:rPr lang="en-US" sz="2400" b="0" i="1" smtClean="0">
                              <a:latin typeface="Cambria Math" panose="02040503050406030204" pitchFamily="18" charset="0"/>
                            </a:rPr>
                            <m:t>𝑧</m:t>
                          </m:r>
                        </m:sub>
                      </m:sSub>
                    </m:oMath>
                  </m:oMathPara>
                </a14:m>
                <a:endParaRPr lang="en-US" sz="2400" dirty="0"/>
              </a:p>
            </p:txBody>
          </p:sp>
        </mc:Choice>
        <mc:Fallback xmlns="">
          <p:sp>
            <p:nvSpPr>
              <p:cNvPr id="12" name="Rectangle 11">
                <a:extLst>
                  <a:ext uri="{FF2B5EF4-FFF2-40B4-BE49-F238E27FC236}">
                    <a16:creationId xmlns:a16="http://schemas.microsoft.com/office/drawing/2014/main" id="{C7E4C464-2831-8C43-B2BC-C2D45EA3FF3B}"/>
                  </a:ext>
                </a:extLst>
              </p:cNvPr>
              <p:cNvSpPr>
                <a:spLocks noRot="1" noChangeAspect="1" noMove="1" noResize="1" noEditPoints="1" noAdjustHandles="1" noChangeArrowheads="1" noChangeShapeType="1" noTextEdit="1"/>
              </p:cNvSpPr>
              <p:nvPr/>
            </p:nvSpPr>
            <p:spPr>
              <a:xfrm>
                <a:off x="9074406" y="1398894"/>
                <a:ext cx="580223" cy="461665"/>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Rectangle 15">
                <a:extLst>
                  <a:ext uri="{FF2B5EF4-FFF2-40B4-BE49-F238E27FC236}">
                    <a16:creationId xmlns:a16="http://schemas.microsoft.com/office/drawing/2014/main" id="{A1C62D97-70F5-2E4E-A8C4-95E56DC18628}"/>
                  </a:ext>
                </a:extLst>
              </p:cNvPr>
              <p:cNvSpPr/>
              <p:nvPr/>
            </p:nvSpPr>
            <p:spPr>
              <a:xfrm>
                <a:off x="260172" y="5159466"/>
                <a:ext cx="2854243" cy="75482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800" i="1" smtClean="0">
                              <a:latin typeface="Cambria Math" panose="02040503050406030204" pitchFamily="18" charset="0"/>
                            </a:rPr>
                          </m:ctrlPr>
                        </m:sSubPr>
                        <m:e>
                          <m:r>
                            <a:rPr lang="en-US" sz="2800" i="1">
                              <a:latin typeface="Cambria Math" panose="02040503050406030204" pitchFamily="18" charset="0"/>
                            </a:rPr>
                            <m:t>𝑅</m:t>
                          </m:r>
                        </m:e>
                        <m:sub>
                          <m:r>
                            <a:rPr lang="en-US" sz="2800" i="1">
                              <a:latin typeface="Cambria Math" panose="02040503050406030204" pitchFamily="18" charset="0"/>
                            </a:rPr>
                            <m:t>𝑥</m:t>
                          </m:r>
                        </m:sub>
                      </m:sSub>
                      <m:d>
                        <m:dPr>
                          <m:ctrlPr>
                            <a:rPr lang="en-US" sz="2800" i="1">
                              <a:latin typeface="Cambria Math" panose="02040503050406030204" pitchFamily="18" charset="0"/>
                            </a:rPr>
                          </m:ctrlPr>
                        </m:dPr>
                        <m:e>
                          <m:sSub>
                            <m:sSubPr>
                              <m:ctrlPr>
                                <a:rPr lang="en-US" sz="2800" i="1" smtClean="0">
                                  <a:latin typeface="Cambria Math" panose="02040503050406030204" pitchFamily="18" charset="0"/>
                                </a:rPr>
                              </m:ctrlPr>
                            </m:sSubPr>
                            <m:e>
                              <m:r>
                                <a:rPr lang="en-US" sz="2800" i="1">
                                  <a:latin typeface="Cambria Math" panose="02040503050406030204" pitchFamily="18" charset="0"/>
                                </a:rPr>
                                <m:t>𝜃</m:t>
                              </m:r>
                            </m:e>
                            <m:sub>
                              <m:r>
                                <a:rPr lang="sr-Latn-RS" sz="2800" b="0" i="1" smtClean="0">
                                  <a:latin typeface="Cambria Math" panose="02040503050406030204" pitchFamily="18" charset="0"/>
                                </a:rPr>
                                <m:t>𝑥</m:t>
                              </m:r>
                            </m:sub>
                          </m:sSub>
                        </m:e>
                      </m:d>
                      <m:r>
                        <a:rPr lang="en-US" sz="2800" i="0">
                          <a:latin typeface="Cambria Math" panose="02040503050406030204" pitchFamily="18" charset="0"/>
                        </a:rPr>
                        <m:t>=</m:t>
                      </m:r>
                      <m:sSup>
                        <m:sSupPr>
                          <m:ctrlPr>
                            <a:rPr lang="en-US" sz="2800" i="1" smtClean="0">
                              <a:latin typeface="Cambria Math" panose="02040503050406030204" pitchFamily="18" charset="0"/>
                            </a:rPr>
                          </m:ctrlPr>
                        </m:sSupPr>
                        <m:e>
                          <m:r>
                            <a:rPr lang="en-US" sz="2800" b="0" i="1" smtClean="0">
                              <a:latin typeface="Cambria Math" panose="02040503050406030204" pitchFamily="18" charset="0"/>
                            </a:rPr>
                            <m:t>𝑒</m:t>
                          </m:r>
                        </m:e>
                        <m:sup>
                          <m:r>
                            <a:rPr lang="en-US" sz="2800" b="0" i="1" smtClean="0">
                              <a:latin typeface="Cambria Math" panose="02040503050406030204" pitchFamily="18" charset="0"/>
                            </a:rPr>
                            <m:t>−</m:t>
                          </m:r>
                          <m:r>
                            <a:rPr lang="en-US" sz="2800" b="0" i="1" smtClean="0">
                              <a:latin typeface="Cambria Math" panose="02040503050406030204" pitchFamily="18" charset="0"/>
                            </a:rPr>
                            <m:t>𝑖</m:t>
                          </m:r>
                          <m:f>
                            <m:fPr>
                              <m:ctrlPr>
                                <a:rPr lang="en-US" sz="2800" i="1">
                                  <a:latin typeface="Cambria Math" panose="02040503050406030204" pitchFamily="18" charset="0"/>
                                </a:rPr>
                              </m:ctrlPr>
                            </m:fPr>
                            <m:num>
                              <m:sSub>
                                <m:sSubPr>
                                  <m:ctrlPr>
                                    <a:rPr lang="en-US" sz="2800" i="1" smtClean="0">
                                      <a:latin typeface="Cambria Math" panose="02040503050406030204" pitchFamily="18" charset="0"/>
                                    </a:rPr>
                                  </m:ctrlPr>
                                </m:sSubPr>
                                <m:e>
                                  <m:r>
                                    <a:rPr lang="en-US" sz="2800" i="1">
                                      <a:latin typeface="Cambria Math" panose="02040503050406030204" pitchFamily="18" charset="0"/>
                                    </a:rPr>
                                    <m:t>𝜃</m:t>
                                  </m:r>
                                </m:e>
                                <m:sub>
                                  <m:r>
                                    <a:rPr lang="sr-Latn-RS" sz="2800" b="0" i="1" smtClean="0">
                                      <a:latin typeface="Cambria Math" panose="02040503050406030204" pitchFamily="18" charset="0"/>
                                    </a:rPr>
                                    <m:t>𝑥</m:t>
                                  </m:r>
                                </m:sub>
                              </m:sSub>
                            </m:num>
                            <m:den>
                              <m:r>
                                <a:rPr lang="en-US" sz="2800">
                                  <a:latin typeface="Cambria Math" panose="02040503050406030204" pitchFamily="18" charset="0"/>
                                </a:rPr>
                                <m:t>2</m:t>
                              </m:r>
                            </m:den>
                          </m:f>
                          <m:r>
                            <a:rPr lang="en-US" sz="2800" b="0" i="1" smtClean="0">
                              <a:latin typeface="Cambria Math" panose="02040503050406030204" pitchFamily="18" charset="0"/>
                            </a:rPr>
                            <m:t>𝑋</m:t>
                          </m:r>
                        </m:sup>
                      </m:sSup>
                    </m:oMath>
                  </m:oMathPara>
                </a14:m>
                <a:endParaRPr lang="en-US" sz="2800" dirty="0"/>
              </a:p>
            </p:txBody>
          </p:sp>
        </mc:Choice>
        <mc:Fallback xmlns="">
          <p:sp>
            <p:nvSpPr>
              <p:cNvPr id="16" name="Rectangle 15">
                <a:extLst>
                  <a:ext uri="{FF2B5EF4-FFF2-40B4-BE49-F238E27FC236}">
                    <a16:creationId xmlns:a16="http://schemas.microsoft.com/office/drawing/2014/main" id="{A1C62D97-70F5-2E4E-A8C4-95E56DC18628}"/>
                  </a:ext>
                </a:extLst>
              </p:cNvPr>
              <p:cNvSpPr>
                <a:spLocks noRot="1" noChangeAspect="1" noMove="1" noResize="1" noEditPoints="1" noAdjustHandles="1" noChangeArrowheads="1" noChangeShapeType="1" noTextEdit="1"/>
              </p:cNvSpPr>
              <p:nvPr/>
            </p:nvSpPr>
            <p:spPr>
              <a:xfrm>
                <a:off x="260172" y="5159466"/>
                <a:ext cx="2854243" cy="75482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Rectangle 17">
                <a:extLst>
                  <a:ext uri="{FF2B5EF4-FFF2-40B4-BE49-F238E27FC236}">
                    <a16:creationId xmlns:a16="http://schemas.microsoft.com/office/drawing/2014/main" id="{7E8C0A94-76D5-2143-A90F-6250451D34A2}"/>
                  </a:ext>
                </a:extLst>
              </p:cNvPr>
              <p:cNvSpPr/>
              <p:nvPr/>
            </p:nvSpPr>
            <p:spPr>
              <a:xfrm>
                <a:off x="4726610" y="5087138"/>
                <a:ext cx="2820003" cy="82715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800" i="1" smtClean="0">
                              <a:latin typeface="Cambria Math" panose="02040503050406030204" pitchFamily="18" charset="0"/>
                            </a:rPr>
                          </m:ctrlPr>
                        </m:sSubPr>
                        <m:e>
                          <m:r>
                            <a:rPr lang="en-US" sz="2800" i="1">
                              <a:latin typeface="Cambria Math" panose="02040503050406030204" pitchFamily="18" charset="0"/>
                            </a:rPr>
                            <m:t>𝑅</m:t>
                          </m:r>
                        </m:e>
                        <m:sub>
                          <m:r>
                            <a:rPr lang="en-US" sz="2800" b="0" i="1" smtClean="0">
                              <a:latin typeface="Cambria Math" panose="02040503050406030204" pitchFamily="18" charset="0"/>
                            </a:rPr>
                            <m:t>𝑦</m:t>
                          </m:r>
                        </m:sub>
                      </m:sSub>
                      <m:d>
                        <m:dPr>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i="1">
                                  <a:latin typeface="Cambria Math" panose="02040503050406030204" pitchFamily="18" charset="0"/>
                                </a:rPr>
                                <m:t>𝜃</m:t>
                              </m:r>
                            </m:e>
                            <m:sub>
                              <m:r>
                                <a:rPr lang="sr-Latn-RS" sz="2800" b="0" i="1" smtClean="0">
                                  <a:latin typeface="Cambria Math" panose="02040503050406030204" pitchFamily="18" charset="0"/>
                                </a:rPr>
                                <m:t>𝑦</m:t>
                              </m:r>
                            </m:sub>
                          </m:sSub>
                        </m:e>
                      </m:d>
                      <m:r>
                        <a:rPr lang="en-US" sz="2800" i="0">
                          <a:latin typeface="Cambria Math" panose="02040503050406030204" pitchFamily="18" charset="0"/>
                        </a:rPr>
                        <m:t>=</m:t>
                      </m:r>
                      <m:sSup>
                        <m:sSupPr>
                          <m:ctrlPr>
                            <a:rPr lang="en-US" sz="2800" i="1" smtClean="0">
                              <a:latin typeface="Cambria Math" panose="02040503050406030204" pitchFamily="18" charset="0"/>
                            </a:rPr>
                          </m:ctrlPr>
                        </m:sSupPr>
                        <m:e>
                          <m:r>
                            <a:rPr lang="en-US" sz="2800" b="0" i="1" smtClean="0">
                              <a:latin typeface="Cambria Math" panose="02040503050406030204" pitchFamily="18" charset="0"/>
                            </a:rPr>
                            <m:t>𝑒</m:t>
                          </m:r>
                        </m:e>
                        <m:sup>
                          <m:r>
                            <a:rPr lang="en-US" sz="2800" b="0" i="1" smtClean="0">
                              <a:latin typeface="Cambria Math" panose="02040503050406030204" pitchFamily="18" charset="0"/>
                            </a:rPr>
                            <m:t>−</m:t>
                          </m:r>
                          <m:r>
                            <a:rPr lang="en-US" sz="2800" b="0" i="1" smtClean="0">
                              <a:latin typeface="Cambria Math" panose="02040503050406030204" pitchFamily="18" charset="0"/>
                            </a:rPr>
                            <m:t>𝑖</m:t>
                          </m:r>
                          <m:f>
                            <m:fPr>
                              <m:ctrlPr>
                                <a:rPr lang="en-US" sz="2800" i="1">
                                  <a:latin typeface="Cambria Math" panose="02040503050406030204" pitchFamily="18" charset="0"/>
                                </a:rPr>
                              </m:ctrlPr>
                            </m:fPr>
                            <m:num>
                              <m:sSub>
                                <m:sSubPr>
                                  <m:ctrlPr>
                                    <a:rPr lang="en-US" sz="2800" i="1">
                                      <a:latin typeface="Cambria Math" panose="02040503050406030204" pitchFamily="18" charset="0"/>
                                    </a:rPr>
                                  </m:ctrlPr>
                                </m:sSubPr>
                                <m:e>
                                  <m:r>
                                    <a:rPr lang="en-US" sz="2800" i="1">
                                      <a:latin typeface="Cambria Math" panose="02040503050406030204" pitchFamily="18" charset="0"/>
                                    </a:rPr>
                                    <m:t>𝜃</m:t>
                                  </m:r>
                                </m:e>
                                <m:sub>
                                  <m:r>
                                    <a:rPr lang="sr-Latn-RS" sz="2800" b="0" i="1" smtClean="0">
                                      <a:latin typeface="Cambria Math" panose="02040503050406030204" pitchFamily="18" charset="0"/>
                                    </a:rPr>
                                    <m:t>𝑦</m:t>
                                  </m:r>
                                </m:sub>
                              </m:sSub>
                            </m:num>
                            <m:den>
                              <m:r>
                                <a:rPr lang="en-US" sz="2800">
                                  <a:latin typeface="Cambria Math" panose="02040503050406030204" pitchFamily="18" charset="0"/>
                                </a:rPr>
                                <m:t>2</m:t>
                              </m:r>
                            </m:den>
                          </m:f>
                          <m:r>
                            <a:rPr lang="en-US" sz="2800" b="0" i="1" smtClean="0">
                              <a:latin typeface="Cambria Math" panose="02040503050406030204" pitchFamily="18" charset="0"/>
                            </a:rPr>
                            <m:t>𝑌</m:t>
                          </m:r>
                        </m:sup>
                      </m:sSup>
                    </m:oMath>
                  </m:oMathPara>
                </a14:m>
                <a:endParaRPr lang="en-US" sz="2800" dirty="0"/>
              </a:p>
            </p:txBody>
          </p:sp>
        </mc:Choice>
        <mc:Fallback xmlns="">
          <p:sp>
            <p:nvSpPr>
              <p:cNvPr id="18" name="Rectangle 17">
                <a:extLst>
                  <a:ext uri="{FF2B5EF4-FFF2-40B4-BE49-F238E27FC236}">
                    <a16:creationId xmlns:a16="http://schemas.microsoft.com/office/drawing/2014/main" id="{7E8C0A94-76D5-2143-A90F-6250451D34A2}"/>
                  </a:ext>
                </a:extLst>
              </p:cNvPr>
              <p:cNvSpPr>
                <a:spLocks noRot="1" noChangeAspect="1" noMove="1" noResize="1" noEditPoints="1" noAdjustHandles="1" noChangeArrowheads="1" noChangeShapeType="1" noTextEdit="1"/>
              </p:cNvSpPr>
              <p:nvPr/>
            </p:nvSpPr>
            <p:spPr>
              <a:xfrm>
                <a:off x="4726610" y="5087138"/>
                <a:ext cx="2820003" cy="827150"/>
              </a:xfrm>
              <a:prstGeom prst="rect">
                <a:avLst/>
              </a:prstGeom>
              <a:blipFill>
                <a:blip r:embed="rId10"/>
                <a:stretch>
                  <a:fillRect b="-30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Rectangle 18">
                <a:extLst>
                  <a:ext uri="{FF2B5EF4-FFF2-40B4-BE49-F238E27FC236}">
                    <a16:creationId xmlns:a16="http://schemas.microsoft.com/office/drawing/2014/main" id="{9EC06B45-991E-C648-8F91-7882E3587983}"/>
                  </a:ext>
                </a:extLst>
              </p:cNvPr>
              <p:cNvSpPr/>
              <p:nvPr/>
            </p:nvSpPr>
            <p:spPr>
              <a:xfrm>
                <a:off x="9187596" y="5176586"/>
                <a:ext cx="2710742" cy="73770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800" i="1" smtClean="0">
                              <a:latin typeface="Cambria Math" panose="02040503050406030204" pitchFamily="18" charset="0"/>
                            </a:rPr>
                          </m:ctrlPr>
                        </m:sSubPr>
                        <m:e>
                          <m:r>
                            <a:rPr lang="en-US" sz="2800" i="1">
                              <a:latin typeface="Cambria Math" panose="02040503050406030204" pitchFamily="18" charset="0"/>
                            </a:rPr>
                            <m:t>𝑅</m:t>
                          </m:r>
                        </m:e>
                        <m:sub>
                          <m:r>
                            <a:rPr lang="en-US" sz="2800" b="0" i="1" smtClean="0">
                              <a:latin typeface="Cambria Math" panose="02040503050406030204" pitchFamily="18" charset="0"/>
                            </a:rPr>
                            <m:t>𝑧</m:t>
                          </m:r>
                        </m:sub>
                      </m:sSub>
                      <m:d>
                        <m:dPr>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i="1">
                                  <a:latin typeface="Cambria Math" panose="02040503050406030204" pitchFamily="18" charset="0"/>
                                </a:rPr>
                                <m:t>𝜃</m:t>
                              </m:r>
                            </m:e>
                            <m:sub>
                              <m:r>
                                <a:rPr lang="sr-Latn-RS" sz="2800" b="0" i="1" smtClean="0">
                                  <a:latin typeface="Cambria Math" panose="02040503050406030204" pitchFamily="18" charset="0"/>
                                </a:rPr>
                                <m:t>𝑧</m:t>
                              </m:r>
                            </m:sub>
                          </m:sSub>
                        </m:e>
                      </m:d>
                      <m:r>
                        <a:rPr lang="en-US" sz="2800" i="0">
                          <a:latin typeface="Cambria Math" panose="02040503050406030204" pitchFamily="18" charset="0"/>
                        </a:rPr>
                        <m:t>=</m:t>
                      </m:r>
                      <m:sSup>
                        <m:sSupPr>
                          <m:ctrlPr>
                            <a:rPr lang="en-US" sz="2800" i="1" smtClean="0">
                              <a:latin typeface="Cambria Math" panose="02040503050406030204" pitchFamily="18" charset="0"/>
                            </a:rPr>
                          </m:ctrlPr>
                        </m:sSupPr>
                        <m:e>
                          <m:r>
                            <a:rPr lang="en-US" sz="2800" b="0" i="1" smtClean="0">
                              <a:latin typeface="Cambria Math" panose="02040503050406030204" pitchFamily="18" charset="0"/>
                            </a:rPr>
                            <m:t>𝑒</m:t>
                          </m:r>
                        </m:e>
                        <m:sup>
                          <m:r>
                            <a:rPr lang="en-US" sz="2800" b="0" i="1" smtClean="0">
                              <a:latin typeface="Cambria Math" panose="02040503050406030204" pitchFamily="18" charset="0"/>
                            </a:rPr>
                            <m:t>−</m:t>
                          </m:r>
                          <m:r>
                            <a:rPr lang="en-US" sz="2800" b="0" i="1" smtClean="0">
                              <a:latin typeface="Cambria Math" panose="02040503050406030204" pitchFamily="18" charset="0"/>
                            </a:rPr>
                            <m:t>𝑖</m:t>
                          </m:r>
                          <m:f>
                            <m:fPr>
                              <m:ctrlPr>
                                <a:rPr lang="en-US" sz="2800" i="1">
                                  <a:latin typeface="Cambria Math" panose="02040503050406030204" pitchFamily="18" charset="0"/>
                                </a:rPr>
                              </m:ctrlPr>
                            </m:fPr>
                            <m:num>
                              <m:sSub>
                                <m:sSubPr>
                                  <m:ctrlPr>
                                    <a:rPr lang="en-US" sz="2800" i="1">
                                      <a:latin typeface="Cambria Math" panose="02040503050406030204" pitchFamily="18" charset="0"/>
                                    </a:rPr>
                                  </m:ctrlPr>
                                </m:sSubPr>
                                <m:e>
                                  <m:r>
                                    <a:rPr lang="en-US" sz="2800" i="1">
                                      <a:latin typeface="Cambria Math" panose="02040503050406030204" pitchFamily="18" charset="0"/>
                                    </a:rPr>
                                    <m:t>𝜃</m:t>
                                  </m:r>
                                </m:e>
                                <m:sub>
                                  <m:r>
                                    <a:rPr lang="sr-Latn-RS" sz="2800" i="1">
                                      <a:latin typeface="Cambria Math" panose="02040503050406030204" pitchFamily="18" charset="0"/>
                                    </a:rPr>
                                    <m:t>𝑧</m:t>
                                  </m:r>
                                </m:sub>
                              </m:sSub>
                            </m:num>
                            <m:den>
                              <m:r>
                                <a:rPr lang="en-US" sz="2800">
                                  <a:latin typeface="Cambria Math" panose="02040503050406030204" pitchFamily="18" charset="0"/>
                                </a:rPr>
                                <m:t>2</m:t>
                              </m:r>
                            </m:den>
                          </m:f>
                          <m:r>
                            <a:rPr lang="en-US" sz="2800" b="0" i="1" smtClean="0">
                              <a:latin typeface="Cambria Math" panose="02040503050406030204" pitchFamily="18" charset="0"/>
                            </a:rPr>
                            <m:t>𝑍</m:t>
                          </m:r>
                        </m:sup>
                      </m:sSup>
                    </m:oMath>
                  </m:oMathPara>
                </a14:m>
                <a:endParaRPr lang="en-US" sz="2800" dirty="0"/>
              </a:p>
            </p:txBody>
          </p:sp>
        </mc:Choice>
        <mc:Fallback xmlns="">
          <p:sp>
            <p:nvSpPr>
              <p:cNvPr id="19" name="Rectangle 18">
                <a:extLst>
                  <a:ext uri="{FF2B5EF4-FFF2-40B4-BE49-F238E27FC236}">
                    <a16:creationId xmlns:a16="http://schemas.microsoft.com/office/drawing/2014/main" id="{9EC06B45-991E-C648-8F91-7882E3587983}"/>
                  </a:ext>
                </a:extLst>
              </p:cNvPr>
              <p:cNvSpPr>
                <a:spLocks noRot="1" noChangeAspect="1" noMove="1" noResize="1" noEditPoints="1" noAdjustHandles="1" noChangeArrowheads="1" noChangeShapeType="1" noTextEdit="1"/>
              </p:cNvSpPr>
              <p:nvPr/>
            </p:nvSpPr>
            <p:spPr>
              <a:xfrm>
                <a:off x="9187596" y="5176586"/>
                <a:ext cx="2710742" cy="737702"/>
              </a:xfrm>
              <a:prstGeom prst="rect">
                <a:avLst/>
              </a:prstGeom>
              <a:blipFill>
                <a:blip r:embed="rId11"/>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2547725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a:extLst>
              <a:ext uri="{FF2B5EF4-FFF2-40B4-BE49-F238E27FC236}">
                <a16:creationId xmlns:a16="http://schemas.microsoft.com/office/drawing/2014/main" id="{7B51F523-4A79-4C44-8748-046D86A4F04C}"/>
              </a:ext>
            </a:extLst>
          </p:cNvPr>
          <p:cNvSpPr>
            <a:spLocks noChangeAspect="1"/>
          </p:cNvSpPr>
          <p:nvPr/>
        </p:nvSpPr>
        <p:spPr>
          <a:xfrm>
            <a:off x="570549" y="1953651"/>
            <a:ext cx="2880000" cy="2880001"/>
          </a:xfrm>
          <a:prstGeom prst="ellipse">
            <a:avLst/>
          </a:prstGeom>
          <a:gradFill>
            <a:gsLst>
              <a:gs pos="0">
                <a:schemeClr val="accent1">
                  <a:lumMod val="5000"/>
                  <a:lumOff val="95000"/>
                </a:schemeClr>
              </a:gs>
              <a:gs pos="100000">
                <a:schemeClr val="accent5">
                  <a:lumMod val="20000"/>
                  <a:lumOff val="8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36813C1-1D27-6047-977E-C279EE849284}"/>
              </a:ext>
            </a:extLst>
          </p:cNvPr>
          <p:cNvSpPr>
            <a:spLocks noGrp="1"/>
          </p:cNvSpPr>
          <p:nvPr>
            <p:ph type="title"/>
          </p:nvPr>
        </p:nvSpPr>
        <p:spPr>
          <a:xfrm>
            <a:off x="0" y="0"/>
            <a:ext cx="12192000" cy="928688"/>
          </a:xfrm>
        </p:spPr>
        <p:txBody>
          <a:bodyPr/>
          <a:lstStyle/>
          <a:p>
            <a:r>
              <a:rPr lang="en-ZA" dirty="0"/>
              <a:t>Deriving the RY Rotation Matrix</a:t>
            </a:r>
            <a:endParaRPr lang="en-US" dirty="0"/>
          </a:p>
        </p:txBody>
      </p:sp>
      <p:sp>
        <p:nvSpPr>
          <p:cNvPr id="3" name="Slide Number Placeholder 2">
            <a:extLst>
              <a:ext uri="{FF2B5EF4-FFF2-40B4-BE49-F238E27FC236}">
                <a16:creationId xmlns:a16="http://schemas.microsoft.com/office/drawing/2014/main" id="{C42502E0-D936-2E40-9C95-6444CB555846}"/>
              </a:ext>
            </a:extLst>
          </p:cNvPr>
          <p:cNvSpPr>
            <a:spLocks noGrp="1"/>
          </p:cNvSpPr>
          <p:nvPr>
            <p:ph type="sldNum" sz="quarter" idx="12"/>
          </p:nvPr>
        </p:nvSpPr>
        <p:spPr/>
        <p:txBody>
          <a:bodyPr/>
          <a:lstStyle/>
          <a:p>
            <a:fld id="{591A223C-FA10-BC46-A853-03BA373D023C}" type="slidenum">
              <a:rPr lang="en-US" smtClean="0"/>
              <a:t>23</a:t>
            </a:fld>
            <a:endParaRPr lang="en-US"/>
          </a:p>
        </p:txBody>
      </p:sp>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681B131C-1AC5-B242-8A49-CBE607623693}"/>
                  </a:ext>
                </a:extLst>
              </p:cNvPr>
              <p:cNvSpPr/>
              <p:nvPr/>
            </p:nvSpPr>
            <p:spPr>
              <a:xfrm>
                <a:off x="1719275" y="1453711"/>
                <a:ext cx="631520" cy="46166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rPr>
                          </m:ctrlPr>
                        </m:dPr>
                        <m:e>
                          <m:r>
                            <a:rPr lang="en-US" sz="2400" b="0" i="1" smtClean="0">
                              <a:latin typeface="Cambria Math" panose="02040503050406030204" pitchFamily="18" charset="0"/>
                            </a:rPr>
                            <m:t>0</m:t>
                          </m:r>
                        </m:e>
                      </m:d>
                    </m:oMath>
                  </m:oMathPara>
                </a14:m>
                <a:endParaRPr lang="en-US" sz="2400" dirty="0"/>
              </a:p>
            </p:txBody>
          </p:sp>
        </mc:Choice>
        <mc:Fallback xmlns="">
          <p:sp>
            <p:nvSpPr>
              <p:cNvPr id="9" name="Rectangle 8">
                <a:extLst>
                  <a:ext uri="{FF2B5EF4-FFF2-40B4-BE49-F238E27FC236}">
                    <a16:creationId xmlns:a16="http://schemas.microsoft.com/office/drawing/2014/main" id="{681B131C-1AC5-B242-8A49-CBE607623693}"/>
                  </a:ext>
                </a:extLst>
              </p:cNvPr>
              <p:cNvSpPr>
                <a:spLocks noRot="1" noChangeAspect="1" noMove="1" noResize="1" noEditPoints="1" noAdjustHandles="1" noChangeArrowheads="1" noChangeShapeType="1" noTextEdit="1"/>
              </p:cNvSpPr>
              <p:nvPr/>
            </p:nvSpPr>
            <p:spPr>
              <a:xfrm>
                <a:off x="1719275" y="1453711"/>
                <a:ext cx="631520" cy="461665"/>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BD3E6D08-3248-754C-973F-23EE1E1B0E13}"/>
                  </a:ext>
                </a:extLst>
              </p:cNvPr>
              <p:cNvSpPr/>
              <p:nvPr/>
            </p:nvSpPr>
            <p:spPr>
              <a:xfrm>
                <a:off x="713821" y="4329161"/>
                <a:ext cx="426399" cy="46166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𝑥</m:t>
                      </m:r>
                    </m:oMath>
                  </m:oMathPara>
                </a14:m>
                <a:endParaRPr lang="en-US" sz="2400" dirty="0"/>
              </a:p>
            </p:txBody>
          </p:sp>
        </mc:Choice>
        <mc:Fallback xmlns="">
          <p:sp>
            <p:nvSpPr>
              <p:cNvPr id="10" name="Rectangle 9">
                <a:extLst>
                  <a:ext uri="{FF2B5EF4-FFF2-40B4-BE49-F238E27FC236}">
                    <a16:creationId xmlns:a16="http://schemas.microsoft.com/office/drawing/2014/main" id="{BD3E6D08-3248-754C-973F-23EE1E1B0E13}"/>
                  </a:ext>
                </a:extLst>
              </p:cNvPr>
              <p:cNvSpPr>
                <a:spLocks noRot="1" noChangeAspect="1" noMove="1" noResize="1" noEditPoints="1" noAdjustHandles="1" noChangeArrowheads="1" noChangeShapeType="1" noTextEdit="1"/>
              </p:cNvSpPr>
              <p:nvPr/>
            </p:nvSpPr>
            <p:spPr>
              <a:xfrm>
                <a:off x="713821" y="4329161"/>
                <a:ext cx="426399" cy="461665"/>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DFDF7363-0895-044E-92F3-C208185AA32E}"/>
                  </a:ext>
                </a:extLst>
              </p:cNvPr>
              <p:cNvSpPr/>
              <p:nvPr/>
            </p:nvSpPr>
            <p:spPr>
              <a:xfrm>
                <a:off x="3056797" y="3954050"/>
                <a:ext cx="430374" cy="46166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𝑦</m:t>
                      </m:r>
                    </m:oMath>
                  </m:oMathPara>
                </a14:m>
                <a:endParaRPr lang="en-US" sz="2400" dirty="0"/>
              </a:p>
            </p:txBody>
          </p:sp>
        </mc:Choice>
        <mc:Fallback xmlns="">
          <p:sp>
            <p:nvSpPr>
              <p:cNvPr id="11" name="Rectangle 10">
                <a:extLst>
                  <a:ext uri="{FF2B5EF4-FFF2-40B4-BE49-F238E27FC236}">
                    <a16:creationId xmlns:a16="http://schemas.microsoft.com/office/drawing/2014/main" id="{DFDF7363-0895-044E-92F3-C208185AA32E}"/>
                  </a:ext>
                </a:extLst>
              </p:cNvPr>
              <p:cNvSpPr>
                <a:spLocks noRot="1" noChangeAspect="1" noMove="1" noResize="1" noEditPoints="1" noAdjustHandles="1" noChangeArrowheads="1" noChangeShapeType="1" noTextEdit="1"/>
              </p:cNvSpPr>
              <p:nvPr/>
            </p:nvSpPr>
            <p:spPr>
              <a:xfrm>
                <a:off x="3056797" y="3954050"/>
                <a:ext cx="430374" cy="461665"/>
              </a:xfrm>
              <a:prstGeom prst="rect">
                <a:avLst/>
              </a:prstGeom>
              <a:blipFill>
                <a:blip r:embed="rId6"/>
                <a:stretch>
                  <a:fillRect b="-7895"/>
                </a:stretch>
              </a:blipFill>
            </p:spPr>
            <p:txBody>
              <a:bodyPr/>
              <a:lstStyle/>
              <a:p>
                <a:r>
                  <a:rPr lang="en-US">
                    <a:noFill/>
                  </a:rPr>
                  <a:t> </a:t>
                </a:r>
              </a:p>
            </p:txBody>
          </p:sp>
        </mc:Fallback>
      </mc:AlternateContent>
      <p:sp>
        <p:nvSpPr>
          <p:cNvPr id="16" name="Oval 15">
            <a:extLst>
              <a:ext uri="{FF2B5EF4-FFF2-40B4-BE49-F238E27FC236}">
                <a16:creationId xmlns:a16="http://schemas.microsoft.com/office/drawing/2014/main" id="{BD5341A0-27B1-6040-80F8-C99CA6499D8C}"/>
              </a:ext>
            </a:extLst>
          </p:cNvPr>
          <p:cNvSpPr/>
          <p:nvPr/>
        </p:nvSpPr>
        <p:spPr>
          <a:xfrm>
            <a:off x="570548" y="3009251"/>
            <a:ext cx="2880001" cy="925922"/>
          </a:xfrm>
          <a:prstGeom prst="ellipse">
            <a:avLst/>
          </a:prstGeom>
          <a:solidFill>
            <a:schemeClr val="bg1">
              <a:lumMod val="85000"/>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80727114-1612-C342-A143-F2A4140B815E}"/>
                  </a:ext>
                </a:extLst>
              </p:cNvPr>
              <p:cNvSpPr/>
              <p:nvPr/>
            </p:nvSpPr>
            <p:spPr>
              <a:xfrm>
                <a:off x="1254018" y="1389229"/>
                <a:ext cx="407932" cy="46166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𝑧</m:t>
                      </m:r>
                    </m:oMath>
                  </m:oMathPara>
                </a14:m>
                <a:endParaRPr lang="en-US" sz="2400" dirty="0"/>
              </a:p>
            </p:txBody>
          </p:sp>
        </mc:Choice>
        <mc:Fallback xmlns="">
          <p:sp>
            <p:nvSpPr>
              <p:cNvPr id="12" name="Rectangle 11">
                <a:extLst>
                  <a:ext uri="{FF2B5EF4-FFF2-40B4-BE49-F238E27FC236}">
                    <a16:creationId xmlns:a16="http://schemas.microsoft.com/office/drawing/2014/main" id="{80727114-1612-C342-A143-F2A4140B815E}"/>
                  </a:ext>
                </a:extLst>
              </p:cNvPr>
              <p:cNvSpPr>
                <a:spLocks noRot="1" noChangeAspect="1" noMove="1" noResize="1" noEditPoints="1" noAdjustHandles="1" noChangeArrowheads="1" noChangeShapeType="1" noTextEdit="1"/>
              </p:cNvSpPr>
              <p:nvPr/>
            </p:nvSpPr>
            <p:spPr>
              <a:xfrm>
                <a:off x="1254018" y="1389229"/>
                <a:ext cx="407932" cy="461665"/>
              </a:xfrm>
              <a:prstGeom prst="rect">
                <a:avLst/>
              </a:prstGeom>
              <a:blipFill>
                <a:blip r:embed="rId7"/>
                <a:stretch>
                  <a:fillRect/>
                </a:stretch>
              </a:blipFill>
            </p:spPr>
            <p:txBody>
              <a:bodyPr/>
              <a:lstStyle/>
              <a:p>
                <a:r>
                  <a:rPr lang="en-US">
                    <a:noFill/>
                  </a:rPr>
                  <a:t> </a:t>
                </a:r>
              </a:p>
            </p:txBody>
          </p:sp>
        </mc:Fallback>
      </mc:AlternateContent>
      <p:cxnSp>
        <p:nvCxnSpPr>
          <p:cNvPr id="14" name="Straight Arrow Connector 13">
            <a:extLst>
              <a:ext uri="{FF2B5EF4-FFF2-40B4-BE49-F238E27FC236}">
                <a16:creationId xmlns:a16="http://schemas.microsoft.com/office/drawing/2014/main" id="{641BF639-8EAE-2D44-8771-BDD09949AAA7}"/>
              </a:ext>
            </a:extLst>
          </p:cNvPr>
          <p:cNvCxnSpPr>
            <a:cxnSpLocks/>
            <a:endCxn id="11" idx="0"/>
          </p:cNvCxnSpPr>
          <p:nvPr/>
        </p:nvCxnSpPr>
        <p:spPr>
          <a:xfrm>
            <a:off x="1963361" y="3355087"/>
            <a:ext cx="1308623" cy="598963"/>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865C3465-426F-D74F-95BF-26A1A89A7A86}"/>
              </a:ext>
            </a:extLst>
          </p:cNvPr>
          <p:cNvCxnSpPr>
            <a:cxnSpLocks/>
          </p:cNvCxnSpPr>
          <p:nvPr/>
        </p:nvCxnSpPr>
        <p:spPr>
          <a:xfrm flipH="1">
            <a:off x="421128" y="3359621"/>
            <a:ext cx="1554844" cy="700329"/>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1" name="Rectangle 20">
                <a:extLst>
                  <a:ext uri="{FF2B5EF4-FFF2-40B4-BE49-F238E27FC236}">
                    <a16:creationId xmlns:a16="http://schemas.microsoft.com/office/drawing/2014/main" id="{C339D201-F6AE-7346-B594-EC6E2971BA74}"/>
                  </a:ext>
                </a:extLst>
              </p:cNvPr>
              <p:cNvSpPr/>
              <p:nvPr/>
            </p:nvSpPr>
            <p:spPr>
              <a:xfrm>
                <a:off x="3793340" y="1729469"/>
                <a:ext cx="5634748" cy="737189"/>
              </a:xfrm>
              <a:prstGeom prst="rect">
                <a:avLst/>
              </a:prstGeom>
            </p:spPr>
            <p:txBody>
              <a:bodyPr wrap="none">
                <a:spAutoFit/>
              </a:bodyPr>
              <a:lstStyle/>
              <a:p>
                <a14:m>
                  <m:oMath xmlns:m="http://schemas.openxmlformats.org/officeDocument/2006/math">
                    <m:sSub>
                      <m:sSubPr>
                        <m:ctrlPr>
                          <a:rPr lang="en-US" sz="2400" i="1" smtClean="0">
                            <a:latin typeface="Cambria Math" panose="02040503050406030204" pitchFamily="18" charset="0"/>
                          </a:rPr>
                        </m:ctrlPr>
                      </m:sSubPr>
                      <m:e>
                        <m:r>
                          <a:rPr lang="en-US" sz="2400" i="1">
                            <a:latin typeface="Cambria Math" panose="02040503050406030204" pitchFamily="18" charset="0"/>
                          </a:rPr>
                          <m:t>𝑅</m:t>
                        </m:r>
                      </m:e>
                      <m:sub>
                        <m:r>
                          <a:rPr lang="en-US" sz="2400" i="1">
                            <a:latin typeface="Cambria Math" panose="02040503050406030204" pitchFamily="18" charset="0"/>
                          </a:rPr>
                          <m:t>𝑦</m:t>
                        </m:r>
                      </m:sub>
                    </m:sSub>
                    <m:d>
                      <m:dPr>
                        <m:ctrlPr>
                          <a:rPr lang="en-US" sz="2400" i="1">
                            <a:latin typeface="Cambria Math" panose="02040503050406030204" pitchFamily="18" charset="0"/>
                          </a:rPr>
                        </m:ctrlPr>
                      </m:dPr>
                      <m:e>
                        <m:r>
                          <a:rPr lang="en-US" sz="2400" i="1">
                            <a:latin typeface="Cambria Math" panose="02040503050406030204" pitchFamily="18" charset="0"/>
                          </a:rPr>
                          <m:t>𝜃</m:t>
                        </m:r>
                      </m:e>
                    </m:d>
                    <m:r>
                      <a:rPr lang="en-US" sz="2400">
                        <a:latin typeface="Cambria Math" panose="02040503050406030204" pitchFamily="18" charset="0"/>
                      </a:rPr>
                      <m:t>=</m:t>
                    </m:r>
                    <m:sSup>
                      <m:sSupPr>
                        <m:ctrlPr>
                          <a:rPr lang="en-US" sz="2400" i="1">
                            <a:latin typeface="Cambria Math" panose="02040503050406030204" pitchFamily="18" charset="0"/>
                          </a:rPr>
                        </m:ctrlPr>
                      </m:sSupPr>
                      <m:e>
                        <m:r>
                          <a:rPr lang="en-US" sz="2400" i="1">
                            <a:latin typeface="Cambria Math" panose="02040503050406030204" pitchFamily="18" charset="0"/>
                          </a:rPr>
                          <m:t>𝑒</m:t>
                        </m:r>
                      </m:e>
                      <m:sup>
                        <m:r>
                          <a:rPr lang="en-US" sz="2400" i="1">
                            <a:latin typeface="Cambria Math" panose="02040503050406030204" pitchFamily="18" charset="0"/>
                          </a:rPr>
                          <m:t>−</m:t>
                        </m:r>
                        <m:r>
                          <a:rPr lang="en-US" sz="2400" i="1">
                            <a:latin typeface="Cambria Math" panose="02040503050406030204" pitchFamily="18" charset="0"/>
                          </a:rPr>
                          <m:t>𝑖</m:t>
                        </m:r>
                        <m:f>
                          <m:fPr>
                            <m:ctrlPr>
                              <a:rPr lang="en-US" sz="2400" i="1">
                                <a:latin typeface="Cambria Math" panose="02040503050406030204" pitchFamily="18" charset="0"/>
                              </a:rPr>
                            </m:ctrlPr>
                          </m:fPr>
                          <m:num>
                            <m:r>
                              <a:rPr lang="en-US" sz="2400" i="1">
                                <a:latin typeface="Cambria Math" panose="02040503050406030204" pitchFamily="18" charset="0"/>
                              </a:rPr>
                              <m:t>𝜃</m:t>
                            </m:r>
                          </m:num>
                          <m:den>
                            <m:r>
                              <a:rPr lang="en-US" sz="2400">
                                <a:latin typeface="Cambria Math" panose="02040503050406030204" pitchFamily="18" charset="0"/>
                              </a:rPr>
                              <m:t>2</m:t>
                            </m:r>
                          </m:den>
                        </m:f>
                        <m:r>
                          <a:rPr lang="en-US" sz="2400" i="1">
                            <a:latin typeface="Cambria Math" panose="02040503050406030204" pitchFamily="18" charset="0"/>
                          </a:rPr>
                          <m:t>𝑌</m:t>
                        </m:r>
                      </m:sup>
                    </m:sSup>
                  </m:oMath>
                </a14:m>
                <a:r>
                  <a:rPr lang="en-US" sz="2800" dirty="0"/>
                  <a:t>= </a:t>
                </a:r>
                <a14:m>
                  <m:oMath xmlns:m="http://schemas.openxmlformats.org/officeDocument/2006/math">
                    <m:func>
                      <m:funcPr>
                        <m:ctrlPr>
                          <a:rPr lang="en-US" sz="2800" i="1">
                            <a:latin typeface="Cambria Math" panose="02040503050406030204" pitchFamily="18" charset="0"/>
                          </a:rPr>
                        </m:ctrlPr>
                      </m:funcPr>
                      <m:fName>
                        <m:r>
                          <a:rPr lang="en-US" sz="2800" i="1">
                            <a:latin typeface="Cambria Math" panose="02040503050406030204" pitchFamily="18" charset="0"/>
                          </a:rPr>
                          <m:t>𝑐𝑜𝑠</m:t>
                        </m:r>
                      </m:fName>
                      <m:e>
                        <m:d>
                          <m:dPr>
                            <m:ctrlPr>
                              <a:rPr lang="en-US" sz="2800" i="1">
                                <a:latin typeface="Cambria Math" panose="02040503050406030204" pitchFamily="18" charset="0"/>
                              </a:rPr>
                            </m:ctrlPr>
                          </m:dPr>
                          <m:e>
                            <m:f>
                              <m:fPr>
                                <m:ctrlPr>
                                  <a:rPr lang="en-US" sz="2800" i="1">
                                    <a:latin typeface="Cambria Math" panose="02040503050406030204" pitchFamily="18" charset="0"/>
                                  </a:rPr>
                                </m:ctrlPr>
                              </m:fPr>
                              <m:num>
                                <m:r>
                                  <a:rPr lang="en-US" sz="2800" i="1">
                                    <a:latin typeface="Cambria Math" panose="02040503050406030204" pitchFamily="18" charset="0"/>
                                  </a:rPr>
                                  <m:t>𝜃</m:t>
                                </m:r>
                              </m:num>
                              <m:den>
                                <m:r>
                                  <a:rPr lang="en-US" sz="2800">
                                    <a:latin typeface="Cambria Math" panose="02040503050406030204" pitchFamily="18" charset="0"/>
                                  </a:rPr>
                                  <m:t>2</m:t>
                                </m:r>
                              </m:den>
                            </m:f>
                          </m:e>
                        </m:d>
                        <m:r>
                          <a:rPr lang="en-US" sz="2800" i="1">
                            <a:latin typeface="Cambria Math" panose="02040503050406030204" pitchFamily="18" charset="0"/>
                          </a:rPr>
                          <m:t>𝐼</m:t>
                        </m:r>
                        <m:r>
                          <a:rPr lang="en-US" sz="2800" b="0" i="0" smtClean="0">
                            <a:latin typeface="Cambria Math" panose="02040503050406030204" pitchFamily="18" charset="0"/>
                          </a:rPr>
                          <m:t>−</m:t>
                        </m:r>
                        <m:r>
                          <a:rPr lang="en-US" sz="2800" i="1">
                            <a:latin typeface="Cambria Math" panose="02040503050406030204" pitchFamily="18" charset="0"/>
                          </a:rPr>
                          <m:t>𝑖</m:t>
                        </m:r>
                        <m:func>
                          <m:funcPr>
                            <m:ctrlPr>
                              <a:rPr lang="en-US" sz="2800" i="1">
                                <a:latin typeface="Cambria Math" panose="02040503050406030204" pitchFamily="18" charset="0"/>
                              </a:rPr>
                            </m:ctrlPr>
                          </m:funcPr>
                          <m:fName>
                            <m:r>
                              <a:rPr lang="en-US" sz="2800" i="1">
                                <a:latin typeface="Cambria Math" panose="02040503050406030204" pitchFamily="18" charset="0"/>
                              </a:rPr>
                              <m:t>𝑠𝑖𝑛</m:t>
                            </m:r>
                          </m:fName>
                          <m:e>
                            <m:d>
                              <m:dPr>
                                <m:ctrlPr>
                                  <a:rPr lang="en-US" sz="2800" i="1">
                                    <a:latin typeface="Cambria Math" panose="02040503050406030204" pitchFamily="18" charset="0"/>
                                  </a:rPr>
                                </m:ctrlPr>
                              </m:dPr>
                              <m:e>
                                <m:f>
                                  <m:fPr>
                                    <m:ctrlPr>
                                      <a:rPr lang="en-US" sz="2800" i="1">
                                        <a:latin typeface="Cambria Math" panose="02040503050406030204" pitchFamily="18" charset="0"/>
                                      </a:rPr>
                                    </m:ctrlPr>
                                  </m:fPr>
                                  <m:num>
                                    <m:r>
                                      <a:rPr lang="en-US" sz="2800" i="1">
                                        <a:latin typeface="Cambria Math" panose="02040503050406030204" pitchFamily="18" charset="0"/>
                                      </a:rPr>
                                      <m:t>𝜃</m:t>
                                    </m:r>
                                  </m:num>
                                  <m:den>
                                    <m:r>
                                      <a:rPr lang="en-US" sz="2800">
                                        <a:latin typeface="Cambria Math" panose="02040503050406030204" pitchFamily="18" charset="0"/>
                                      </a:rPr>
                                      <m:t>2</m:t>
                                    </m:r>
                                  </m:den>
                                </m:f>
                              </m:e>
                            </m:d>
                          </m:e>
                        </m:func>
                        <m:r>
                          <a:rPr lang="en-US" sz="2800" b="0" i="1" smtClean="0">
                            <a:latin typeface="Cambria Math" panose="02040503050406030204" pitchFamily="18" charset="0"/>
                          </a:rPr>
                          <m:t>𝑌</m:t>
                        </m:r>
                      </m:e>
                    </m:func>
                  </m:oMath>
                </a14:m>
                <a:endParaRPr lang="en-US" sz="2800" dirty="0"/>
              </a:p>
            </p:txBody>
          </p:sp>
        </mc:Choice>
        <mc:Fallback xmlns="">
          <p:sp>
            <p:nvSpPr>
              <p:cNvPr id="21" name="Rectangle 20">
                <a:extLst>
                  <a:ext uri="{FF2B5EF4-FFF2-40B4-BE49-F238E27FC236}">
                    <a16:creationId xmlns:a16="http://schemas.microsoft.com/office/drawing/2014/main" id="{C339D201-F6AE-7346-B594-EC6E2971BA74}"/>
                  </a:ext>
                </a:extLst>
              </p:cNvPr>
              <p:cNvSpPr>
                <a:spLocks noRot="1" noChangeAspect="1" noMove="1" noResize="1" noEditPoints="1" noAdjustHandles="1" noChangeArrowheads="1" noChangeShapeType="1" noTextEdit="1"/>
              </p:cNvSpPr>
              <p:nvPr/>
            </p:nvSpPr>
            <p:spPr>
              <a:xfrm>
                <a:off x="3793340" y="1729469"/>
                <a:ext cx="5634748" cy="737189"/>
              </a:xfrm>
              <a:prstGeom prst="rect">
                <a:avLst/>
              </a:prstGeom>
              <a:blipFill>
                <a:blip r:embed="rId8"/>
                <a:stretch>
                  <a:fillRect l="-225" b="-8475"/>
                </a:stretch>
              </a:blipFill>
            </p:spPr>
            <p:txBody>
              <a:bodyPr/>
              <a:lstStyle/>
              <a:p>
                <a:r>
                  <a:rPr lang="en-US">
                    <a:noFill/>
                  </a:rPr>
                  <a:t> </a:t>
                </a:r>
              </a:p>
            </p:txBody>
          </p:sp>
        </mc:Fallback>
      </mc:AlternateContent>
      <p:cxnSp>
        <p:nvCxnSpPr>
          <p:cNvPr id="5" name="Straight Arrow Connector 4">
            <a:extLst>
              <a:ext uri="{FF2B5EF4-FFF2-40B4-BE49-F238E27FC236}">
                <a16:creationId xmlns:a16="http://schemas.microsoft.com/office/drawing/2014/main" id="{B7C43F58-86D3-FA47-933A-C5FBA124B7AA}"/>
              </a:ext>
            </a:extLst>
          </p:cNvPr>
          <p:cNvCxnSpPr>
            <a:cxnSpLocks/>
          </p:cNvCxnSpPr>
          <p:nvPr/>
        </p:nvCxnSpPr>
        <p:spPr>
          <a:xfrm flipV="1">
            <a:off x="1976004" y="1860336"/>
            <a:ext cx="0" cy="1495282"/>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4406E44F-3637-9143-9581-95F139785627}"/>
              </a:ext>
            </a:extLst>
          </p:cNvPr>
          <p:cNvCxnSpPr>
            <a:cxnSpLocks/>
          </p:cNvCxnSpPr>
          <p:nvPr/>
        </p:nvCxnSpPr>
        <p:spPr>
          <a:xfrm flipV="1">
            <a:off x="1976936" y="1964749"/>
            <a:ext cx="0" cy="1378690"/>
          </a:xfrm>
          <a:prstGeom prst="straightConnector1">
            <a:avLst/>
          </a:prstGeom>
          <a:ln w="50800" cap="rnd">
            <a:solidFill>
              <a:srgbClr val="CA251F"/>
            </a:solidFill>
            <a:tailEnd type="triangle"/>
          </a:ln>
        </p:spPr>
        <p:style>
          <a:lnRef idx="1">
            <a:schemeClr val="accent1"/>
          </a:lnRef>
          <a:fillRef idx="0">
            <a:schemeClr val="accent1"/>
          </a:fillRef>
          <a:effectRef idx="0">
            <a:schemeClr val="accent1"/>
          </a:effectRef>
          <a:fontRef idx="minor">
            <a:schemeClr val="tx1"/>
          </a:fontRef>
        </p:style>
      </p:cxnSp>
      <p:grpSp>
        <p:nvGrpSpPr>
          <p:cNvPr id="13" name="Group 12">
            <a:extLst>
              <a:ext uri="{FF2B5EF4-FFF2-40B4-BE49-F238E27FC236}">
                <a16:creationId xmlns:a16="http://schemas.microsoft.com/office/drawing/2014/main" id="{EEF8A3A6-033A-CC43-9C44-8D2C6F36B09F}"/>
              </a:ext>
            </a:extLst>
          </p:cNvPr>
          <p:cNvGrpSpPr/>
          <p:nvPr/>
        </p:nvGrpSpPr>
        <p:grpSpPr>
          <a:xfrm>
            <a:off x="847076" y="1979862"/>
            <a:ext cx="9425790" cy="4836350"/>
            <a:chOff x="847076" y="1979862"/>
            <a:chExt cx="9425790" cy="4836350"/>
          </a:xfrm>
        </p:grpSpPr>
        <p:grpSp>
          <p:nvGrpSpPr>
            <p:cNvPr id="7" name="Group 6">
              <a:extLst>
                <a:ext uri="{FF2B5EF4-FFF2-40B4-BE49-F238E27FC236}">
                  <a16:creationId xmlns:a16="http://schemas.microsoft.com/office/drawing/2014/main" id="{43B8C9E2-3ACB-1342-85F1-5E3E8860D459}"/>
                </a:ext>
              </a:extLst>
            </p:cNvPr>
            <p:cNvGrpSpPr/>
            <p:nvPr/>
          </p:nvGrpSpPr>
          <p:grpSpPr>
            <a:xfrm>
              <a:off x="1364169" y="5235284"/>
              <a:ext cx="8908697" cy="1580928"/>
              <a:chOff x="1364169" y="5235284"/>
              <a:chExt cx="8908697" cy="1580928"/>
            </a:xfrm>
          </p:grpSpPr>
          <p:sp>
            <p:nvSpPr>
              <p:cNvPr id="25" name="Down Arrow 24">
                <a:extLst>
                  <a:ext uri="{FF2B5EF4-FFF2-40B4-BE49-F238E27FC236}">
                    <a16:creationId xmlns:a16="http://schemas.microsoft.com/office/drawing/2014/main" id="{A03B3C60-E3F2-FF44-B32A-08C675DFC236}"/>
                  </a:ext>
                </a:extLst>
              </p:cNvPr>
              <p:cNvSpPr/>
              <p:nvPr/>
            </p:nvSpPr>
            <p:spPr>
              <a:xfrm rot="16200000">
                <a:off x="1437023" y="5233061"/>
                <a:ext cx="1510297" cy="1656006"/>
              </a:xfrm>
              <a:prstGeom prst="downArrow">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0" name="Rectangle 19">
                    <a:extLst>
                      <a:ext uri="{FF2B5EF4-FFF2-40B4-BE49-F238E27FC236}">
                        <a16:creationId xmlns:a16="http://schemas.microsoft.com/office/drawing/2014/main" id="{AB3832E4-A6C5-A24D-BE88-AE8D3969E3AB}"/>
                      </a:ext>
                    </a:extLst>
                  </p:cNvPr>
                  <p:cNvSpPr/>
                  <p:nvPr/>
                </p:nvSpPr>
                <p:spPr>
                  <a:xfrm>
                    <a:off x="3450549" y="5235284"/>
                    <a:ext cx="6822317" cy="140057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a:rPr lang="en-US" sz="2400" i="1">
                                  <a:latin typeface="Cambria Math" panose="02040503050406030204" pitchFamily="18" charset="0"/>
                                </a:rPr>
                                <m:t>𝑅</m:t>
                              </m:r>
                            </m:e>
                            <m:sub>
                              <m:r>
                                <a:rPr lang="en-US" sz="2400" i="1">
                                  <a:latin typeface="Cambria Math" panose="02040503050406030204" pitchFamily="18" charset="0"/>
                                </a:rPr>
                                <m:t>𝑦</m:t>
                              </m:r>
                            </m:sub>
                          </m:sSub>
                          <m:d>
                            <m:dPr>
                              <m:ctrlPr>
                                <a:rPr lang="en-US" sz="2400" i="1">
                                  <a:latin typeface="Cambria Math" panose="02040503050406030204" pitchFamily="18" charset="0"/>
                                </a:rPr>
                              </m:ctrlPr>
                            </m:dPr>
                            <m:e>
                              <m:f>
                                <m:fPr>
                                  <m:ctrlPr>
                                    <a:rPr lang="en-US" sz="2400" i="1" smtClean="0">
                                      <a:latin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𝜋</m:t>
                                  </m:r>
                                </m:num>
                                <m:den>
                                  <m:r>
                                    <a:rPr lang="en-US" sz="2400" b="0" i="1" smtClean="0">
                                      <a:latin typeface="Cambria Math" panose="02040503050406030204" pitchFamily="18" charset="0"/>
                                    </a:rPr>
                                    <m:t>2</m:t>
                                  </m:r>
                                </m:den>
                              </m:f>
                            </m:e>
                          </m:d>
                          <m:r>
                            <a:rPr lang="en-US" sz="2400">
                              <a:latin typeface="Cambria Math" panose="02040503050406030204" pitchFamily="18" charset="0"/>
                            </a:rPr>
                            <m:t>=</m:t>
                          </m:r>
                          <m:func>
                            <m:funcPr>
                              <m:ctrlPr>
                                <a:rPr lang="en-US" sz="2400" i="1" smtClean="0">
                                  <a:latin typeface="Cambria Math" panose="02040503050406030204" pitchFamily="18" charset="0"/>
                                </a:rPr>
                              </m:ctrlPr>
                            </m:funcPr>
                            <m:fName>
                              <m:d>
                                <m:dPr>
                                  <m:ctrlPr>
                                    <a:rPr lang="en-US" sz="2400" i="1">
                                      <a:latin typeface="Cambria Math" panose="02040503050406030204" pitchFamily="18" charset="0"/>
                                    </a:rPr>
                                  </m:ctrlPr>
                                </m:dPr>
                                <m:e>
                                  <m:m>
                                    <m:mPr>
                                      <m:plcHide m:val="on"/>
                                      <m:mcs>
                                        <m:mc>
                                          <m:mcPr>
                                            <m:count m:val="2"/>
                                            <m:mcJc m:val="center"/>
                                          </m:mcPr>
                                        </m:mc>
                                      </m:mcs>
                                      <m:ctrlPr>
                                        <a:rPr lang="en-US" sz="2400" i="1">
                                          <a:latin typeface="Cambria Math" panose="02040503050406030204" pitchFamily="18" charset="0"/>
                                        </a:rPr>
                                      </m:ctrlPr>
                                    </m:mPr>
                                    <m:mr>
                                      <m:e>
                                        <m:func>
                                          <m:funcPr>
                                            <m:ctrlPr>
                                              <a:rPr lang="en-US" sz="2400" i="1">
                                                <a:latin typeface="Cambria Math" panose="02040503050406030204" pitchFamily="18" charset="0"/>
                                              </a:rPr>
                                            </m:ctrlPr>
                                          </m:funcPr>
                                          <m:fName>
                                            <m:r>
                                              <a:rPr lang="en-US" sz="2400" i="1">
                                                <a:latin typeface="Cambria Math" panose="02040503050406030204" pitchFamily="18" charset="0"/>
                                              </a:rPr>
                                              <m:t>𝑐𝑜𝑠</m:t>
                                            </m:r>
                                          </m:fName>
                                          <m:e>
                                            <m:d>
                                              <m:dPr>
                                                <m:ctrlPr>
                                                  <a:rPr lang="en-US" sz="2400" i="1">
                                                    <a:latin typeface="Cambria Math" panose="02040503050406030204" pitchFamily="18" charset="0"/>
                                                  </a:rPr>
                                                </m:ctrlPr>
                                              </m:dPr>
                                              <m:e>
                                                <m:f>
                                                  <m:fPr>
                                                    <m:ctrlPr>
                                                      <a:rPr lang="en-US" sz="2400" i="1">
                                                        <a:latin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𝜋</m:t>
                                                    </m:r>
                                                  </m:num>
                                                  <m:den>
                                                    <m:r>
                                                      <a:rPr lang="en-US" sz="2400" b="0" i="0" smtClean="0">
                                                        <a:latin typeface="Cambria Math" panose="02040503050406030204" pitchFamily="18" charset="0"/>
                                                      </a:rPr>
                                                      <m:t>4</m:t>
                                                    </m:r>
                                                  </m:den>
                                                </m:f>
                                              </m:e>
                                            </m:d>
                                          </m:e>
                                        </m:func>
                                      </m:e>
                                      <m:e>
                                        <m:func>
                                          <m:funcPr>
                                            <m:ctrlPr>
                                              <a:rPr lang="en-US" sz="2400" i="1">
                                                <a:latin typeface="Cambria Math" panose="02040503050406030204" pitchFamily="18" charset="0"/>
                                              </a:rPr>
                                            </m:ctrlPr>
                                          </m:funcPr>
                                          <m:fName>
                                            <m:r>
                                              <a:rPr lang="en-US" sz="2400" b="0" i="1" smtClean="0">
                                                <a:latin typeface="Cambria Math" panose="02040503050406030204" pitchFamily="18" charset="0"/>
                                              </a:rPr>
                                              <m:t>−</m:t>
                                            </m:r>
                                            <m:r>
                                              <a:rPr lang="en-US" sz="2400" i="1">
                                                <a:latin typeface="Cambria Math" panose="02040503050406030204" pitchFamily="18" charset="0"/>
                                              </a:rPr>
                                              <m:t>𝑠𝑖𝑛</m:t>
                                            </m:r>
                                          </m:fName>
                                          <m:e>
                                            <m:d>
                                              <m:dPr>
                                                <m:ctrlPr>
                                                  <a:rPr lang="en-US" sz="2400" i="1">
                                                    <a:latin typeface="Cambria Math" panose="02040503050406030204" pitchFamily="18" charset="0"/>
                                                  </a:rPr>
                                                </m:ctrlPr>
                                              </m:dPr>
                                              <m:e>
                                                <m:f>
                                                  <m:fPr>
                                                    <m:ctrlPr>
                                                      <a:rPr lang="en-US" sz="2400" i="1">
                                                        <a:latin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𝜋</m:t>
                                                    </m:r>
                                                  </m:num>
                                                  <m:den>
                                                    <m:r>
                                                      <a:rPr lang="en-US" sz="2400">
                                                        <a:latin typeface="Cambria Math" panose="02040503050406030204" pitchFamily="18" charset="0"/>
                                                      </a:rPr>
                                                      <m:t>4</m:t>
                                                    </m:r>
                                                  </m:den>
                                                </m:f>
                                              </m:e>
                                            </m:d>
                                          </m:e>
                                        </m:func>
                                      </m:e>
                                    </m:mr>
                                    <m:mr>
                                      <m:e>
                                        <m:func>
                                          <m:funcPr>
                                            <m:ctrlPr>
                                              <a:rPr lang="en-US" sz="2400" i="1">
                                                <a:latin typeface="Cambria Math" panose="02040503050406030204" pitchFamily="18" charset="0"/>
                                              </a:rPr>
                                            </m:ctrlPr>
                                          </m:funcPr>
                                          <m:fName>
                                            <m:r>
                                              <a:rPr lang="en-US" sz="2400" i="1">
                                                <a:latin typeface="Cambria Math" panose="02040503050406030204" pitchFamily="18" charset="0"/>
                                              </a:rPr>
                                              <m:t>𝑠𝑖𝑛</m:t>
                                            </m:r>
                                          </m:fName>
                                          <m:e>
                                            <m:d>
                                              <m:dPr>
                                                <m:ctrlPr>
                                                  <a:rPr lang="en-US" sz="2400" i="1">
                                                    <a:latin typeface="Cambria Math" panose="02040503050406030204" pitchFamily="18" charset="0"/>
                                                  </a:rPr>
                                                </m:ctrlPr>
                                              </m:dPr>
                                              <m:e>
                                                <m:f>
                                                  <m:fPr>
                                                    <m:ctrlPr>
                                                      <a:rPr lang="en-US" sz="2400" i="1">
                                                        <a:latin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𝜋</m:t>
                                                    </m:r>
                                                  </m:num>
                                                  <m:den>
                                                    <m:r>
                                                      <a:rPr lang="en-US" sz="2400">
                                                        <a:latin typeface="Cambria Math" panose="02040503050406030204" pitchFamily="18" charset="0"/>
                                                      </a:rPr>
                                                      <m:t>4</m:t>
                                                    </m:r>
                                                  </m:den>
                                                </m:f>
                                              </m:e>
                                            </m:d>
                                          </m:e>
                                        </m:func>
                                      </m:e>
                                      <m:e>
                                        <m:func>
                                          <m:funcPr>
                                            <m:ctrlPr>
                                              <a:rPr lang="en-US" sz="2400" i="1">
                                                <a:latin typeface="Cambria Math" panose="02040503050406030204" pitchFamily="18" charset="0"/>
                                              </a:rPr>
                                            </m:ctrlPr>
                                          </m:funcPr>
                                          <m:fName>
                                            <m:r>
                                              <a:rPr lang="en-US" sz="2400" i="1">
                                                <a:latin typeface="Cambria Math" panose="02040503050406030204" pitchFamily="18" charset="0"/>
                                              </a:rPr>
                                              <m:t>𝑐𝑜𝑠</m:t>
                                            </m:r>
                                          </m:fName>
                                          <m:e>
                                            <m:d>
                                              <m:dPr>
                                                <m:ctrlPr>
                                                  <a:rPr lang="en-US" sz="2400" i="1">
                                                    <a:latin typeface="Cambria Math" panose="02040503050406030204" pitchFamily="18" charset="0"/>
                                                  </a:rPr>
                                                </m:ctrlPr>
                                              </m:dPr>
                                              <m:e>
                                                <m:f>
                                                  <m:fPr>
                                                    <m:ctrlPr>
                                                      <a:rPr lang="en-US" sz="2400" i="1">
                                                        <a:latin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𝜋</m:t>
                                                    </m:r>
                                                  </m:num>
                                                  <m:den>
                                                    <m:r>
                                                      <a:rPr lang="en-US" sz="2400">
                                                        <a:latin typeface="Cambria Math" panose="02040503050406030204" pitchFamily="18" charset="0"/>
                                                      </a:rPr>
                                                      <m:t>4</m:t>
                                                    </m:r>
                                                  </m:den>
                                                </m:f>
                                              </m:e>
                                            </m:d>
                                          </m:e>
                                        </m:func>
                                      </m:e>
                                    </m:mr>
                                  </m:m>
                                </m:e>
                              </m:d>
                            </m:fName>
                            <m:e>
                              <m:r>
                                <a:rPr lang="en-US" sz="2400" b="0" i="1" smtClean="0">
                                  <a:latin typeface="Cambria Math" panose="02040503050406030204" pitchFamily="18" charset="0"/>
                                </a:rPr>
                                <m:t>=</m:t>
                              </m:r>
                              <m:f>
                                <m:fPr>
                                  <m:ctrlPr>
                                    <a:rPr lang="en-US" sz="2400" i="1" smtClean="0">
                                      <a:solidFill>
                                        <a:schemeClr val="tx1"/>
                                      </a:solidFill>
                                      <a:latin typeface="Cambria Math" panose="02040503050406030204" pitchFamily="18" charset="0"/>
                                      <a:ea typeface="Cambria Math" panose="02040503050406030204" pitchFamily="18" charset="0"/>
                                    </a:rPr>
                                  </m:ctrlPr>
                                </m:fPr>
                                <m:num>
                                  <m:r>
                                    <m:rPr>
                                      <m:nor/>
                                    </m:rPr>
                                    <a:rPr lang="en-US" sz="2400">
                                      <a:solidFill>
                                        <a:schemeClr val="tx1"/>
                                      </a:solidFill>
                                      <a:latin typeface="Cambria Math" panose="02040503050406030204" pitchFamily="18" charset="0"/>
                                      <a:ea typeface="Cambria Math" panose="02040503050406030204" pitchFamily="18" charset="0"/>
                                    </a:rPr>
                                    <m:t>1</m:t>
                                  </m:r>
                                </m:num>
                                <m:den>
                                  <m:rad>
                                    <m:radPr>
                                      <m:degHide m:val="on"/>
                                      <m:ctrlPr>
                                        <a:rPr lang="en-US" sz="2400" i="1">
                                          <a:solidFill>
                                            <a:schemeClr val="tx1"/>
                                          </a:solidFill>
                                          <a:latin typeface="Cambria Math" panose="02040503050406030204" pitchFamily="18" charset="0"/>
                                          <a:ea typeface="Cambria Math" panose="02040503050406030204" pitchFamily="18" charset="0"/>
                                        </a:rPr>
                                      </m:ctrlPr>
                                    </m:radPr>
                                    <m:deg/>
                                    <m:e>
                                      <m:r>
                                        <m:rPr>
                                          <m:nor/>
                                        </m:rPr>
                                        <a:rPr lang="en-US" sz="2400">
                                          <a:solidFill>
                                            <a:schemeClr val="tx1"/>
                                          </a:solidFill>
                                          <a:latin typeface="Cambria Math" panose="02040503050406030204" pitchFamily="18" charset="0"/>
                                          <a:ea typeface="Cambria Math" panose="02040503050406030204" pitchFamily="18" charset="0"/>
                                        </a:rPr>
                                        <m:t>2</m:t>
                                      </m:r>
                                    </m:e>
                                  </m:rad>
                                </m:den>
                              </m:f>
                              <m:r>
                                <m:rPr>
                                  <m:nor/>
                                </m:rPr>
                                <a:rPr lang="en-US" sz="2400">
                                  <a:solidFill>
                                    <a:schemeClr val="tx1"/>
                                  </a:solidFill>
                                  <a:latin typeface="Cambria Math" panose="02040503050406030204" pitchFamily="18" charset="0"/>
                                  <a:ea typeface="Cambria Math" panose="02040503050406030204" pitchFamily="18" charset="0"/>
                                </a:rPr>
                                <m:t> </m:t>
                              </m:r>
                              <m:d>
                                <m:dPr>
                                  <m:ctrlPr>
                                    <a:rPr lang="en-US" sz="2400" i="1">
                                      <a:solidFill>
                                        <a:schemeClr val="tx1"/>
                                      </a:solidFill>
                                      <a:latin typeface="Cambria Math" panose="02040503050406030204" pitchFamily="18" charset="0"/>
                                      <a:ea typeface="Cambria Math" panose="02040503050406030204" pitchFamily="18" charset="0"/>
                                    </a:rPr>
                                  </m:ctrlPr>
                                </m:dPr>
                                <m:e>
                                  <m:m>
                                    <m:mPr>
                                      <m:plcHide m:val="on"/>
                                      <m:mcs>
                                        <m:mc>
                                          <m:mcPr>
                                            <m:count m:val="2"/>
                                            <m:mcJc m:val="center"/>
                                          </m:mcPr>
                                        </m:mc>
                                      </m:mcs>
                                      <m:ctrlPr>
                                        <a:rPr lang="en-US" sz="2400" i="1">
                                          <a:solidFill>
                                            <a:schemeClr val="tx1"/>
                                          </a:solidFill>
                                          <a:latin typeface="Cambria Math" panose="02040503050406030204" pitchFamily="18" charset="0"/>
                                          <a:ea typeface="Cambria Math" panose="02040503050406030204" pitchFamily="18" charset="0"/>
                                        </a:rPr>
                                      </m:ctrlPr>
                                    </m:mPr>
                                    <m:mr>
                                      <m:e>
                                        <m:r>
                                          <m:rPr>
                                            <m:nor/>
                                          </m:rPr>
                                          <a:rPr lang="en-US" sz="2400">
                                            <a:solidFill>
                                              <a:schemeClr val="tx1"/>
                                            </a:solidFill>
                                            <a:latin typeface="Cambria Math" panose="02040503050406030204" pitchFamily="18" charset="0"/>
                                            <a:ea typeface="Cambria Math" panose="02040503050406030204" pitchFamily="18" charset="0"/>
                                          </a:rPr>
                                          <m:t>1</m:t>
                                        </m:r>
                                      </m:e>
                                      <m:e>
                                        <m:r>
                                          <m:rPr>
                                            <m:nor/>
                                          </m:rPr>
                                          <a:rPr lang="en-US" sz="2400">
                                            <a:latin typeface="Cambria Math" panose="02040503050406030204" pitchFamily="18" charset="0"/>
                                            <a:ea typeface="Cambria Math" panose="02040503050406030204" pitchFamily="18" charset="0"/>
                                          </a:rPr>
                                          <m:t>−1</m:t>
                                        </m:r>
                                      </m:e>
                                    </m:mr>
                                    <m:mr>
                                      <m:e>
                                        <m:r>
                                          <m:rPr>
                                            <m:nor/>
                                          </m:rPr>
                                          <a:rPr lang="en-US" sz="2400">
                                            <a:solidFill>
                                              <a:schemeClr val="tx1"/>
                                            </a:solidFill>
                                            <a:latin typeface="Cambria Math" panose="02040503050406030204" pitchFamily="18" charset="0"/>
                                            <a:ea typeface="Cambria Math" panose="02040503050406030204" pitchFamily="18" charset="0"/>
                                          </a:rPr>
                                          <m:t>1</m:t>
                                        </m:r>
                                      </m:e>
                                      <m:e>
                                        <m:r>
                                          <m:rPr>
                                            <m:nor/>
                                          </m:rPr>
                                          <a:rPr lang="en-US" sz="2400">
                                            <a:solidFill>
                                              <a:schemeClr val="tx1"/>
                                            </a:solidFill>
                                            <a:latin typeface="Cambria Math" panose="02040503050406030204" pitchFamily="18" charset="0"/>
                                            <a:ea typeface="Cambria Math" panose="02040503050406030204" pitchFamily="18" charset="0"/>
                                          </a:rPr>
                                          <m:t>1</m:t>
                                        </m:r>
                                      </m:e>
                                    </m:mr>
                                  </m:m>
                                </m:e>
                              </m:d>
                            </m:e>
                          </m:func>
                        </m:oMath>
                      </m:oMathPara>
                    </a14:m>
                    <a:endParaRPr lang="en-US" sz="2400" dirty="0"/>
                  </a:p>
                </p:txBody>
              </p:sp>
            </mc:Choice>
            <mc:Fallback xmlns="">
              <p:sp>
                <p:nvSpPr>
                  <p:cNvPr id="20" name="Rectangle 19">
                    <a:extLst>
                      <a:ext uri="{FF2B5EF4-FFF2-40B4-BE49-F238E27FC236}">
                        <a16:creationId xmlns:a16="http://schemas.microsoft.com/office/drawing/2014/main" id="{AB3832E4-A6C5-A24D-BE88-AE8D3969E3AB}"/>
                      </a:ext>
                    </a:extLst>
                  </p:cNvPr>
                  <p:cNvSpPr>
                    <a:spLocks noRot="1" noChangeAspect="1" noMove="1" noResize="1" noEditPoints="1" noAdjustHandles="1" noChangeArrowheads="1" noChangeShapeType="1" noTextEdit="1"/>
                  </p:cNvSpPr>
                  <p:nvPr/>
                </p:nvSpPr>
                <p:spPr>
                  <a:xfrm>
                    <a:off x="3450549" y="5235284"/>
                    <a:ext cx="6822317" cy="1400576"/>
                  </a:xfrm>
                  <a:prstGeom prst="rect">
                    <a:avLst/>
                  </a:prstGeom>
                  <a:blipFill>
                    <a:blip r:embed="rId9"/>
                    <a:stretch>
                      <a:fillRect b="-267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Rectangle 21">
                    <a:extLst>
                      <a:ext uri="{FF2B5EF4-FFF2-40B4-BE49-F238E27FC236}">
                        <a16:creationId xmlns:a16="http://schemas.microsoft.com/office/drawing/2014/main" id="{3F7956A9-BE83-1841-B05E-9994D835BFF0}"/>
                      </a:ext>
                    </a:extLst>
                  </p:cNvPr>
                  <p:cNvSpPr/>
                  <p:nvPr/>
                </p:nvSpPr>
                <p:spPr>
                  <a:xfrm>
                    <a:off x="1591540" y="5744973"/>
                    <a:ext cx="768864" cy="71994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brk m:alnAt="2"/>
                            </m:rPr>
                            <a:rPr lang="en-US" sz="2400" i="1">
                              <a:latin typeface="Cambria Math" panose="02040503050406030204" pitchFamily="18" charset="0"/>
                              <a:ea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𝜋</m:t>
                              </m:r>
                            </m:num>
                            <m:den>
                              <m:r>
                                <a:rPr lang="en-US" sz="2400" i="1">
                                  <a:latin typeface="Cambria Math" panose="02040503050406030204" pitchFamily="18" charset="0"/>
                                </a:rPr>
                                <m:t>2</m:t>
                              </m:r>
                            </m:den>
                          </m:f>
                        </m:oMath>
                      </m:oMathPara>
                    </a14:m>
                    <a:endParaRPr lang="en-US" sz="2400" dirty="0"/>
                  </a:p>
                </p:txBody>
              </p:sp>
            </mc:Choice>
            <mc:Fallback xmlns="">
              <p:sp>
                <p:nvSpPr>
                  <p:cNvPr id="22" name="Rectangle 21">
                    <a:extLst>
                      <a:ext uri="{FF2B5EF4-FFF2-40B4-BE49-F238E27FC236}">
                        <a16:creationId xmlns:a16="http://schemas.microsoft.com/office/drawing/2014/main" id="{3F7956A9-BE83-1841-B05E-9994D835BFF0}"/>
                      </a:ext>
                    </a:extLst>
                  </p:cNvPr>
                  <p:cNvSpPr>
                    <a:spLocks noRot="1" noChangeAspect="1" noMove="1" noResize="1" noEditPoints="1" noAdjustHandles="1" noChangeArrowheads="1" noChangeShapeType="1" noTextEdit="1"/>
                  </p:cNvSpPr>
                  <p:nvPr/>
                </p:nvSpPr>
                <p:spPr>
                  <a:xfrm>
                    <a:off x="1591540" y="5744973"/>
                    <a:ext cx="768864" cy="719941"/>
                  </a:xfrm>
                  <a:prstGeom prst="rect">
                    <a:avLst/>
                  </a:prstGeom>
                  <a:blipFill>
                    <a:blip r:embed="rId10"/>
                    <a:stretch>
                      <a:fillRect b="-6897"/>
                    </a:stretch>
                  </a:blipFill>
                </p:spPr>
                <p:txBody>
                  <a:bodyPr/>
                  <a:lstStyle/>
                  <a:p>
                    <a:r>
                      <a:rPr lang="en-US">
                        <a:noFill/>
                      </a:rPr>
                      <a:t> </a:t>
                    </a:r>
                  </a:p>
                </p:txBody>
              </p:sp>
            </mc:Fallback>
          </mc:AlternateContent>
        </p:grpSp>
        <p:grpSp>
          <p:nvGrpSpPr>
            <p:cNvPr id="6" name="Group 5">
              <a:extLst>
                <a:ext uri="{FF2B5EF4-FFF2-40B4-BE49-F238E27FC236}">
                  <a16:creationId xmlns:a16="http://schemas.microsoft.com/office/drawing/2014/main" id="{E50C10EA-B590-0148-A0A1-BC5073929CAC}"/>
                </a:ext>
              </a:extLst>
            </p:cNvPr>
            <p:cNvGrpSpPr/>
            <p:nvPr/>
          </p:nvGrpSpPr>
          <p:grpSpPr>
            <a:xfrm>
              <a:off x="847076" y="1979862"/>
              <a:ext cx="2415910" cy="2634570"/>
              <a:chOff x="847076" y="1979862"/>
              <a:chExt cx="2415910" cy="2634570"/>
            </a:xfrm>
          </p:grpSpPr>
          <mc:AlternateContent xmlns:mc="http://schemas.openxmlformats.org/markup-compatibility/2006" xmlns:a14="http://schemas.microsoft.com/office/drawing/2010/main">
            <mc:Choice Requires="a14">
              <p:sp>
                <p:nvSpPr>
                  <p:cNvPr id="19" name="Rectangle 18">
                    <a:extLst>
                      <a:ext uri="{FF2B5EF4-FFF2-40B4-BE49-F238E27FC236}">
                        <a16:creationId xmlns:a16="http://schemas.microsoft.com/office/drawing/2014/main" id="{1BA25DB3-0C67-634A-8817-67CE84EC643E}"/>
                      </a:ext>
                    </a:extLst>
                  </p:cNvPr>
                  <p:cNvSpPr/>
                  <p:nvPr/>
                </p:nvSpPr>
                <p:spPr>
                  <a:xfrm>
                    <a:off x="1353875" y="2582909"/>
                    <a:ext cx="572208" cy="33855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sz="1600" i="1">
                              <a:latin typeface="Cambria Math" panose="02040503050406030204" pitchFamily="18" charset="0"/>
                              <a:ea typeface="Cambria Math" panose="02040503050406030204" pitchFamily="18" charset="0"/>
                            </a:rPr>
                            <m:t>𝜋</m:t>
                          </m:r>
                          <m:r>
                            <a:rPr lang="en-US" sz="1600" i="1">
                              <a:latin typeface="Cambria Math" panose="02040503050406030204" pitchFamily="18" charset="0"/>
                              <a:ea typeface="Cambria Math" panose="02040503050406030204" pitchFamily="18" charset="0"/>
                            </a:rPr>
                            <m:t>/2</m:t>
                          </m:r>
                        </m:oMath>
                      </m:oMathPara>
                    </a14:m>
                    <a:endParaRPr lang="en-US" sz="1600" dirty="0"/>
                  </a:p>
                </p:txBody>
              </p:sp>
            </mc:Choice>
            <mc:Fallback xmlns="">
              <p:sp>
                <p:nvSpPr>
                  <p:cNvPr id="19" name="Rectangle 18">
                    <a:extLst>
                      <a:ext uri="{FF2B5EF4-FFF2-40B4-BE49-F238E27FC236}">
                        <a16:creationId xmlns:a16="http://schemas.microsoft.com/office/drawing/2014/main" id="{1BA25DB3-0C67-634A-8817-67CE84EC643E}"/>
                      </a:ext>
                    </a:extLst>
                  </p:cNvPr>
                  <p:cNvSpPr>
                    <a:spLocks noRot="1" noChangeAspect="1" noMove="1" noResize="1" noEditPoints="1" noAdjustHandles="1" noChangeArrowheads="1" noChangeShapeType="1" noTextEdit="1"/>
                  </p:cNvSpPr>
                  <p:nvPr/>
                </p:nvSpPr>
                <p:spPr>
                  <a:xfrm>
                    <a:off x="1353875" y="2582909"/>
                    <a:ext cx="572208" cy="338554"/>
                  </a:xfrm>
                  <a:prstGeom prst="rect">
                    <a:avLst/>
                  </a:prstGeom>
                  <a:blipFill>
                    <a:blip r:embed="rId12"/>
                    <a:stretch>
                      <a:fillRect b="-7143"/>
                    </a:stretch>
                  </a:blipFill>
                </p:spPr>
                <p:txBody>
                  <a:bodyPr/>
                  <a:lstStyle/>
                  <a:p>
                    <a:r>
                      <a:rPr lang="en-US">
                        <a:noFill/>
                      </a:rPr>
                      <a:t> </a:t>
                    </a:r>
                  </a:p>
                </p:txBody>
              </p:sp>
            </mc:Fallback>
          </mc:AlternateContent>
          <p:cxnSp>
            <p:nvCxnSpPr>
              <p:cNvPr id="43" name="Straight Arrow Connector 42">
                <a:extLst>
                  <a:ext uri="{FF2B5EF4-FFF2-40B4-BE49-F238E27FC236}">
                    <a16:creationId xmlns:a16="http://schemas.microsoft.com/office/drawing/2014/main" id="{D73FEB38-3DF5-A04E-9295-8CE8943CACF9}"/>
                  </a:ext>
                </a:extLst>
              </p:cNvPr>
              <p:cNvCxnSpPr>
                <a:cxnSpLocks/>
                <a:endCxn id="16" idx="3"/>
              </p:cNvCxnSpPr>
              <p:nvPr/>
            </p:nvCxnSpPr>
            <p:spPr>
              <a:xfrm flipH="1">
                <a:off x="992314" y="3355620"/>
                <a:ext cx="983658" cy="443955"/>
              </a:xfrm>
              <a:prstGeom prst="straightConnector1">
                <a:avLst/>
              </a:prstGeom>
              <a:ln w="50800" cap="rnd">
                <a:solidFill>
                  <a:srgbClr val="CA251F"/>
                </a:solidFill>
                <a:tailEnd type="triangle"/>
              </a:ln>
            </p:spPr>
            <p:style>
              <a:lnRef idx="1">
                <a:schemeClr val="accent1"/>
              </a:lnRef>
              <a:fillRef idx="0">
                <a:schemeClr val="accent1"/>
              </a:fillRef>
              <a:effectRef idx="0">
                <a:schemeClr val="accent1"/>
              </a:effectRef>
              <a:fontRef idx="minor">
                <a:schemeClr val="tx1"/>
              </a:fontRef>
            </p:style>
          </p:cxnSp>
          <p:sp>
            <p:nvSpPr>
              <p:cNvPr id="17" name="Arc 16">
                <a:extLst>
                  <a:ext uri="{FF2B5EF4-FFF2-40B4-BE49-F238E27FC236}">
                    <a16:creationId xmlns:a16="http://schemas.microsoft.com/office/drawing/2014/main" id="{14BB2A99-33B3-414B-ACA8-A997EBF75F9F}"/>
                  </a:ext>
                </a:extLst>
              </p:cNvPr>
              <p:cNvSpPr/>
              <p:nvPr/>
            </p:nvSpPr>
            <p:spPr>
              <a:xfrm rot="316824" flipH="1">
                <a:off x="847076" y="1979862"/>
                <a:ext cx="2415910" cy="2634570"/>
              </a:xfrm>
              <a:prstGeom prst="arc">
                <a:avLst>
                  <a:gd name="adj1" fmla="val 16877940"/>
                  <a:gd name="adj2" fmla="val 1738165"/>
                </a:avLst>
              </a:prstGeom>
              <a:ln w="127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grpSp>
        <p:nvGrpSpPr>
          <p:cNvPr id="8" name="Group 7">
            <a:extLst>
              <a:ext uri="{FF2B5EF4-FFF2-40B4-BE49-F238E27FC236}">
                <a16:creationId xmlns:a16="http://schemas.microsoft.com/office/drawing/2014/main" id="{5CD9EB91-9AE0-F64B-95EF-4985F0FDE257}"/>
              </a:ext>
            </a:extLst>
          </p:cNvPr>
          <p:cNvGrpSpPr/>
          <p:nvPr/>
        </p:nvGrpSpPr>
        <p:grpSpPr>
          <a:xfrm>
            <a:off x="3793340" y="2752186"/>
            <a:ext cx="6569234" cy="2255244"/>
            <a:chOff x="3793341" y="1677033"/>
            <a:chExt cx="6569234" cy="2255244"/>
          </a:xfrm>
        </p:grpSpPr>
        <mc:AlternateContent xmlns:mc="http://schemas.openxmlformats.org/markup-compatibility/2006" xmlns:a14="http://schemas.microsoft.com/office/drawing/2010/main">
          <mc:Choice Requires="a14">
            <p:sp>
              <p:nvSpPr>
                <p:cNvPr id="23" name="Rectangle 22">
                  <a:extLst>
                    <a:ext uri="{FF2B5EF4-FFF2-40B4-BE49-F238E27FC236}">
                      <a16:creationId xmlns:a16="http://schemas.microsoft.com/office/drawing/2014/main" id="{78742872-630D-F640-B9BB-91C80A686B89}"/>
                    </a:ext>
                  </a:extLst>
                </p:cNvPr>
                <p:cNvSpPr/>
                <p:nvPr/>
              </p:nvSpPr>
              <p:spPr>
                <a:xfrm>
                  <a:off x="3793341" y="1677033"/>
                  <a:ext cx="6569234" cy="810799"/>
                </a:xfrm>
                <a:prstGeom prst="rect">
                  <a:avLst/>
                </a:prstGeom>
              </p:spPr>
              <p:txBody>
                <a:bodyPr wrap="none">
                  <a:spAutoFit/>
                </a:bodyPr>
                <a:lstStyle/>
                <a:p>
                  <a14:m>
                    <m:oMath xmlns:m="http://schemas.openxmlformats.org/officeDocument/2006/math">
                      <m:sSub>
                        <m:sSubPr>
                          <m:ctrlPr>
                            <a:rPr lang="en-US" sz="2400" i="1" smtClean="0">
                              <a:latin typeface="Cambria Math" panose="02040503050406030204" pitchFamily="18" charset="0"/>
                            </a:rPr>
                          </m:ctrlPr>
                        </m:sSubPr>
                        <m:e>
                          <m:r>
                            <a:rPr lang="en-US" sz="2400" i="1">
                              <a:latin typeface="Cambria Math" panose="02040503050406030204" pitchFamily="18" charset="0"/>
                            </a:rPr>
                            <m:t>𝑅</m:t>
                          </m:r>
                        </m:e>
                        <m:sub>
                          <m:r>
                            <a:rPr lang="en-US" sz="2400" i="1">
                              <a:latin typeface="Cambria Math" panose="02040503050406030204" pitchFamily="18" charset="0"/>
                            </a:rPr>
                            <m:t>𝑦</m:t>
                          </m:r>
                        </m:sub>
                      </m:sSub>
                      <m:d>
                        <m:dPr>
                          <m:ctrlPr>
                            <a:rPr lang="en-US" sz="2400" i="1">
                              <a:latin typeface="Cambria Math" panose="02040503050406030204" pitchFamily="18" charset="0"/>
                            </a:rPr>
                          </m:ctrlPr>
                        </m:dPr>
                        <m:e>
                          <m:r>
                            <a:rPr lang="en-US" sz="2400" i="1">
                              <a:latin typeface="Cambria Math" panose="02040503050406030204" pitchFamily="18" charset="0"/>
                            </a:rPr>
                            <m:t>𝜃</m:t>
                          </m:r>
                        </m:e>
                      </m:d>
                    </m:oMath>
                  </a14:m>
                  <a:r>
                    <a:rPr lang="en-US" sz="2800" dirty="0"/>
                    <a:t>= </a:t>
                  </a:r>
                  <a14:m>
                    <m:oMath xmlns:m="http://schemas.openxmlformats.org/officeDocument/2006/math">
                      <m:func>
                        <m:funcPr>
                          <m:ctrlPr>
                            <a:rPr lang="en-US" sz="2800" i="1">
                              <a:latin typeface="Cambria Math" panose="02040503050406030204" pitchFamily="18" charset="0"/>
                            </a:rPr>
                          </m:ctrlPr>
                        </m:funcPr>
                        <m:fName>
                          <m:r>
                            <a:rPr lang="en-US" sz="2800" i="1">
                              <a:latin typeface="Cambria Math" panose="02040503050406030204" pitchFamily="18" charset="0"/>
                            </a:rPr>
                            <m:t>𝑐𝑜𝑠</m:t>
                          </m:r>
                        </m:fName>
                        <m:e>
                          <m:d>
                            <m:dPr>
                              <m:ctrlPr>
                                <a:rPr lang="en-US" sz="2800" i="1">
                                  <a:latin typeface="Cambria Math" panose="02040503050406030204" pitchFamily="18" charset="0"/>
                                </a:rPr>
                              </m:ctrlPr>
                            </m:dPr>
                            <m:e>
                              <m:f>
                                <m:fPr>
                                  <m:ctrlPr>
                                    <a:rPr lang="en-US" sz="2800" i="1">
                                      <a:latin typeface="Cambria Math" panose="02040503050406030204" pitchFamily="18" charset="0"/>
                                    </a:rPr>
                                  </m:ctrlPr>
                                </m:fPr>
                                <m:num>
                                  <m:r>
                                    <a:rPr lang="en-US" sz="2800" i="1">
                                      <a:latin typeface="Cambria Math" panose="02040503050406030204" pitchFamily="18" charset="0"/>
                                    </a:rPr>
                                    <m:t>𝜃</m:t>
                                  </m:r>
                                </m:num>
                                <m:den>
                                  <m:r>
                                    <a:rPr lang="en-US" sz="2800">
                                      <a:latin typeface="Cambria Math" panose="02040503050406030204" pitchFamily="18" charset="0"/>
                                    </a:rPr>
                                    <m:t>2</m:t>
                                  </m:r>
                                </m:den>
                              </m:f>
                            </m:e>
                          </m:d>
                          <m:d>
                            <m:dPr>
                              <m:ctrlPr>
                                <a:rPr lang="en-US" sz="2800" i="1">
                                  <a:latin typeface="Cambria Math" panose="02040503050406030204" pitchFamily="18" charset="0"/>
                                </a:rPr>
                              </m:ctrlPr>
                            </m:dPr>
                            <m:e>
                              <m:m>
                                <m:mPr>
                                  <m:plcHide m:val="on"/>
                                  <m:mcs>
                                    <m:mc>
                                      <m:mcPr>
                                        <m:count m:val="2"/>
                                        <m:mcJc m:val="center"/>
                                      </m:mcPr>
                                    </m:mc>
                                  </m:mcs>
                                  <m:ctrlPr>
                                    <a:rPr lang="en-US" sz="2800" i="1">
                                      <a:latin typeface="Cambria Math" panose="02040503050406030204" pitchFamily="18" charset="0"/>
                                    </a:rPr>
                                  </m:ctrlPr>
                                </m:mPr>
                                <m:mr>
                                  <m:e>
                                    <m:r>
                                      <a:rPr lang="en-US" sz="2800" i="1">
                                        <a:latin typeface="Cambria Math" panose="02040503050406030204" pitchFamily="18" charset="0"/>
                                      </a:rPr>
                                      <m:t>1</m:t>
                                    </m:r>
                                  </m:e>
                                  <m:e>
                                    <m:r>
                                      <a:rPr lang="en-US" sz="2800">
                                        <a:latin typeface="Cambria Math" panose="02040503050406030204" pitchFamily="18" charset="0"/>
                                      </a:rPr>
                                      <m:t>0</m:t>
                                    </m:r>
                                  </m:e>
                                </m:mr>
                                <m:mr>
                                  <m:e>
                                    <m:r>
                                      <a:rPr lang="en-US" sz="2800" i="1">
                                        <a:latin typeface="Cambria Math" panose="02040503050406030204" pitchFamily="18" charset="0"/>
                                      </a:rPr>
                                      <m:t>0</m:t>
                                    </m:r>
                                  </m:e>
                                  <m:e>
                                    <m:r>
                                      <a:rPr lang="en-US" sz="2800">
                                        <a:latin typeface="Cambria Math" panose="02040503050406030204" pitchFamily="18" charset="0"/>
                                      </a:rPr>
                                      <m:t>1</m:t>
                                    </m:r>
                                  </m:e>
                                </m:mr>
                              </m:m>
                            </m:e>
                          </m:d>
                          <m:r>
                            <a:rPr lang="en-US" sz="2800" b="0" i="0" smtClean="0">
                              <a:latin typeface="Cambria Math" panose="02040503050406030204" pitchFamily="18" charset="0"/>
                            </a:rPr>
                            <m:t>−</m:t>
                          </m:r>
                          <m:r>
                            <a:rPr lang="en-US" sz="2800" i="1">
                              <a:latin typeface="Cambria Math" panose="02040503050406030204" pitchFamily="18" charset="0"/>
                            </a:rPr>
                            <m:t>𝑖</m:t>
                          </m:r>
                          <m:func>
                            <m:funcPr>
                              <m:ctrlPr>
                                <a:rPr lang="en-US" sz="2800" i="1">
                                  <a:latin typeface="Cambria Math" panose="02040503050406030204" pitchFamily="18" charset="0"/>
                                </a:rPr>
                              </m:ctrlPr>
                            </m:funcPr>
                            <m:fName>
                              <m:r>
                                <a:rPr lang="en-US" sz="2800" i="1">
                                  <a:latin typeface="Cambria Math" panose="02040503050406030204" pitchFamily="18" charset="0"/>
                                </a:rPr>
                                <m:t>𝑠𝑖𝑛</m:t>
                              </m:r>
                            </m:fName>
                            <m:e>
                              <m:d>
                                <m:dPr>
                                  <m:ctrlPr>
                                    <a:rPr lang="en-US" sz="2800" i="1">
                                      <a:latin typeface="Cambria Math" panose="02040503050406030204" pitchFamily="18" charset="0"/>
                                    </a:rPr>
                                  </m:ctrlPr>
                                </m:dPr>
                                <m:e>
                                  <m:f>
                                    <m:fPr>
                                      <m:ctrlPr>
                                        <a:rPr lang="en-US" sz="2800" i="1">
                                          <a:latin typeface="Cambria Math" panose="02040503050406030204" pitchFamily="18" charset="0"/>
                                        </a:rPr>
                                      </m:ctrlPr>
                                    </m:fPr>
                                    <m:num>
                                      <m:r>
                                        <a:rPr lang="en-US" sz="2800" i="1">
                                          <a:latin typeface="Cambria Math" panose="02040503050406030204" pitchFamily="18" charset="0"/>
                                        </a:rPr>
                                        <m:t>𝜃</m:t>
                                      </m:r>
                                    </m:num>
                                    <m:den>
                                      <m:r>
                                        <a:rPr lang="en-US" sz="2800">
                                          <a:latin typeface="Cambria Math" panose="02040503050406030204" pitchFamily="18" charset="0"/>
                                        </a:rPr>
                                        <m:t>2</m:t>
                                      </m:r>
                                    </m:den>
                                  </m:f>
                                </m:e>
                              </m:d>
                            </m:e>
                          </m:func>
                          <m:d>
                            <m:dPr>
                              <m:ctrlPr>
                                <a:rPr lang="en-US" sz="2800" i="1">
                                  <a:latin typeface="Cambria Math" panose="02040503050406030204" pitchFamily="18" charset="0"/>
                                </a:rPr>
                              </m:ctrlPr>
                            </m:dPr>
                            <m:e>
                              <m:m>
                                <m:mPr>
                                  <m:plcHide m:val="on"/>
                                  <m:mcs>
                                    <m:mc>
                                      <m:mcPr>
                                        <m:count m:val="2"/>
                                        <m:mcJc m:val="center"/>
                                      </m:mcPr>
                                    </m:mc>
                                  </m:mcs>
                                  <m:ctrlPr>
                                    <a:rPr lang="en-US" sz="2800" i="1">
                                      <a:latin typeface="Cambria Math" panose="02040503050406030204" pitchFamily="18" charset="0"/>
                                    </a:rPr>
                                  </m:ctrlPr>
                                </m:mPr>
                                <m:mr>
                                  <m:e>
                                    <m:r>
                                      <a:rPr lang="en-US" sz="2800">
                                        <a:latin typeface="Cambria Math" panose="02040503050406030204" pitchFamily="18" charset="0"/>
                                      </a:rPr>
                                      <m:t>0</m:t>
                                    </m:r>
                                  </m:e>
                                  <m:e>
                                    <m:r>
                                      <a:rPr lang="en-US" sz="2800">
                                        <a:latin typeface="Cambria Math" panose="02040503050406030204" pitchFamily="18" charset="0"/>
                                      </a:rPr>
                                      <m:t>−</m:t>
                                    </m:r>
                                    <m:r>
                                      <a:rPr lang="en-US" sz="2800" i="1">
                                        <a:latin typeface="Cambria Math" panose="02040503050406030204" pitchFamily="18" charset="0"/>
                                      </a:rPr>
                                      <m:t>𝑖</m:t>
                                    </m:r>
                                  </m:e>
                                </m:mr>
                                <m:mr>
                                  <m:e>
                                    <m:r>
                                      <a:rPr lang="en-US" sz="2800" i="1">
                                        <a:latin typeface="Cambria Math" panose="02040503050406030204" pitchFamily="18" charset="0"/>
                                      </a:rPr>
                                      <m:t>𝑖</m:t>
                                    </m:r>
                                  </m:e>
                                  <m:e>
                                    <m:r>
                                      <a:rPr lang="en-US" sz="2800">
                                        <a:latin typeface="Cambria Math" panose="02040503050406030204" pitchFamily="18" charset="0"/>
                                      </a:rPr>
                                      <m:t>0</m:t>
                                    </m:r>
                                  </m:e>
                                </m:mr>
                              </m:m>
                            </m:e>
                          </m:d>
                        </m:e>
                      </m:func>
                    </m:oMath>
                  </a14:m>
                  <a:endParaRPr lang="en-US" sz="2800" dirty="0"/>
                </a:p>
              </p:txBody>
            </p:sp>
          </mc:Choice>
          <mc:Fallback xmlns="">
            <p:sp>
              <p:nvSpPr>
                <p:cNvPr id="23" name="Rectangle 22">
                  <a:extLst>
                    <a:ext uri="{FF2B5EF4-FFF2-40B4-BE49-F238E27FC236}">
                      <a16:creationId xmlns:a16="http://schemas.microsoft.com/office/drawing/2014/main" id="{78742872-630D-F640-B9BB-91C80A686B89}"/>
                    </a:ext>
                  </a:extLst>
                </p:cNvPr>
                <p:cNvSpPr>
                  <a:spLocks noRot="1" noChangeAspect="1" noMove="1" noResize="1" noEditPoints="1" noAdjustHandles="1" noChangeArrowheads="1" noChangeShapeType="1" noTextEdit="1"/>
                </p:cNvSpPr>
                <p:nvPr/>
              </p:nvSpPr>
              <p:spPr>
                <a:xfrm>
                  <a:off x="3793341" y="1677033"/>
                  <a:ext cx="6569234" cy="810799"/>
                </a:xfrm>
                <a:prstGeom prst="rect">
                  <a:avLst/>
                </a:prstGeom>
                <a:blipFill>
                  <a:blip r:embed="rId13"/>
                  <a:stretch>
                    <a:fillRect l="-193" b="-615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Rectangle 29">
                  <a:extLst>
                    <a:ext uri="{FF2B5EF4-FFF2-40B4-BE49-F238E27FC236}">
                      <a16:creationId xmlns:a16="http://schemas.microsoft.com/office/drawing/2014/main" id="{6E430F3D-0F78-E44E-857F-AD945316C946}"/>
                    </a:ext>
                  </a:extLst>
                </p:cNvPr>
                <p:cNvSpPr/>
                <p:nvPr/>
              </p:nvSpPr>
              <p:spPr>
                <a:xfrm>
                  <a:off x="4529190" y="2377171"/>
                  <a:ext cx="3507562" cy="155510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rPr>
                          <m:t>=</m:t>
                        </m:r>
                        <m:d>
                          <m:dPr>
                            <m:ctrlPr>
                              <a:rPr lang="en-US" sz="2400" i="1">
                                <a:latin typeface="Cambria Math" panose="02040503050406030204" pitchFamily="18" charset="0"/>
                              </a:rPr>
                            </m:ctrlPr>
                          </m:dPr>
                          <m:e>
                            <m:m>
                              <m:mPr>
                                <m:plcHide m:val="on"/>
                                <m:mcs>
                                  <m:mc>
                                    <m:mcPr>
                                      <m:count m:val="2"/>
                                      <m:mcJc m:val="center"/>
                                    </m:mcPr>
                                  </m:mc>
                                </m:mcs>
                                <m:ctrlPr>
                                  <a:rPr lang="en-US" sz="2400" i="1">
                                    <a:latin typeface="Cambria Math" panose="02040503050406030204" pitchFamily="18" charset="0"/>
                                  </a:rPr>
                                </m:ctrlPr>
                              </m:mPr>
                              <m:mr>
                                <m:e>
                                  <m:func>
                                    <m:funcPr>
                                      <m:ctrlPr>
                                        <a:rPr lang="en-US" sz="2400" i="1">
                                          <a:latin typeface="Cambria Math" panose="02040503050406030204" pitchFamily="18" charset="0"/>
                                        </a:rPr>
                                      </m:ctrlPr>
                                    </m:funcPr>
                                    <m:fName>
                                      <m:r>
                                        <a:rPr lang="en-US" sz="2400" i="1">
                                          <a:latin typeface="Cambria Math" panose="02040503050406030204" pitchFamily="18" charset="0"/>
                                        </a:rPr>
                                        <m:t>𝑐𝑜𝑠</m:t>
                                      </m:r>
                                    </m:fName>
                                    <m:e>
                                      <m:d>
                                        <m:dPr>
                                          <m:ctrlPr>
                                            <a:rPr lang="en-US" sz="2400" i="1">
                                              <a:latin typeface="Cambria Math" panose="02040503050406030204" pitchFamily="18" charset="0"/>
                                            </a:rPr>
                                          </m:ctrlPr>
                                        </m:dPr>
                                        <m:e>
                                          <m:f>
                                            <m:fPr>
                                              <m:ctrlPr>
                                                <a:rPr lang="en-US" sz="2400" i="1">
                                                  <a:latin typeface="Cambria Math" panose="02040503050406030204" pitchFamily="18" charset="0"/>
                                                </a:rPr>
                                              </m:ctrlPr>
                                            </m:fPr>
                                            <m:num>
                                              <m:r>
                                                <a:rPr lang="en-US" sz="2400" i="1">
                                                  <a:latin typeface="Cambria Math" panose="02040503050406030204" pitchFamily="18" charset="0"/>
                                                </a:rPr>
                                                <m:t>𝜃</m:t>
                                              </m:r>
                                            </m:num>
                                            <m:den>
                                              <m:r>
                                                <a:rPr lang="en-US" sz="2400">
                                                  <a:latin typeface="Cambria Math" panose="02040503050406030204" pitchFamily="18" charset="0"/>
                                                </a:rPr>
                                                <m:t>2</m:t>
                                              </m:r>
                                            </m:den>
                                          </m:f>
                                        </m:e>
                                      </m:d>
                                    </m:e>
                                  </m:func>
                                </m:e>
                                <m:e>
                                  <m:func>
                                    <m:funcPr>
                                      <m:ctrlPr>
                                        <a:rPr lang="en-US" sz="2400" i="1">
                                          <a:latin typeface="Cambria Math" panose="02040503050406030204" pitchFamily="18" charset="0"/>
                                        </a:rPr>
                                      </m:ctrlPr>
                                    </m:funcPr>
                                    <m:fName>
                                      <m:r>
                                        <a:rPr lang="en-US" sz="2400" b="0" i="1" smtClean="0">
                                          <a:latin typeface="Cambria Math" panose="02040503050406030204" pitchFamily="18" charset="0"/>
                                        </a:rPr>
                                        <m:t>−</m:t>
                                      </m:r>
                                      <m:r>
                                        <a:rPr lang="en-US" sz="2400" i="1">
                                          <a:latin typeface="Cambria Math" panose="02040503050406030204" pitchFamily="18" charset="0"/>
                                        </a:rPr>
                                        <m:t>𝑠𝑖𝑛</m:t>
                                      </m:r>
                                    </m:fName>
                                    <m:e>
                                      <m:d>
                                        <m:dPr>
                                          <m:ctrlPr>
                                            <a:rPr lang="en-US" sz="2400" i="1">
                                              <a:latin typeface="Cambria Math" panose="02040503050406030204" pitchFamily="18" charset="0"/>
                                            </a:rPr>
                                          </m:ctrlPr>
                                        </m:dPr>
                                        <m:e>
                                          <m:f>
                                            <m:fPr>
                                              <m:ctrlPr>
                                                <a:rPr lang="en-US" sz="2400" i="1">
                                                  <a:latin typeface="Cambria Math" panose="02040503050406030204" pitchFamily="18" charset="0"/>
                                                </a:rPr>
                                              </m:ctrlPr>
                                            </m:fPr>
                                            <m:num>
                                              <m:r>
                                                <a:rPr lang="en-US" sz="2400" i="1">
                                                  <a:latin typeface="Cambria Math" panose="02040503050406030204" pitchFamily="18" charset="0"/>
                                                </a:rPr>
                                                <m:t>𝜃</m:t>
                                              </m:r>
                                            </m:num>
                                            <m:den>
                                              <m:r>
                                                <a:rPr lang="en-US" sz="2400">
                                                  <a:latin typeface="Cambria Math" panose="02040503050406030204" pitchFamily="18" charset="0"/>
                                                </a:rPr>
                                                <m:t>2</m:t>
                                              </m:r>
                                            </m:den>
                                          </m:f>
                                        </m:e>
                                      </m:d>
                                    </m:e>
                                  </m:func>
                                </m:e>
                              </m:mr>
                              <m:mr>
                                <m:e>
                                  <m:func>
                                    <m:funcPr>
                                      <m:ctrlPr>
                                        <a:rPr lang="en-US" sz="2400" i="1">
                                          <a:latin typeface="Cambria Math" panose="02040503050406030204" pitchFamily="18" charset="0"/>
                                        </a:rPr>
                                      </m:ctrlPr>
                                    </m:funcPr>
                                    <m:fName>
                                      <m:r>
                                        <a:rPr lang="en-US" sz="2400" i="1">
                                          <a:latin typeface="Cambria Math" panose="02040503050406030204" pitchFamily="18" charset="0"/>
                                        </a:rPr>
                                        <m:t>𝑠𝑖𝑛</m:t>
                                      </m:r>
                                    </m:fName>
                                    <m:e>
                                      <m:d>
                                        <m:dPr>
                                          <m:ctrlPr>
                                            <a:rPr lang="en-US" sz="2400" i="1">
                                              <a:latin typeface="Cambria Math" panose="02040503050406030204" pitchFamily="18" charset="0"/>
                                            </a:rPr>
                                          </m:ctrlPr>
                                        </m:dPr>
                                        <m:e>
                                          <m:f>
                                            <m:fPr>
                                              <m:ctrlPr>
                                                <a:rPr lang="en-US" sz="2400" i="1">
                                                  <a:latin typeface="Cambria Math" panose="02040503050406030204" pitchFamily="18" charset="0"/>
                                                </a:rPr>
                                              </m:ctrlPr>
                                            </m:fPr>
                                            <m:num>
                                              <m:r>
                                                <a:rPr lang="en-US" sz="2400" i="1">
                                                  <a:latin typeface="Cambria Math" panose="02040503050406030204" pitchFamily="18" charset="0"/>
                                                </a:rPr>
                                                <m:t>𝜃</m:t>
                                              </m:r>
                                            </m:num>
                                            <m:den>
                                              <m:r>
                                                <a:rPr lang="en-US" sz="2400">
                                                  <a:latin typeface="Cambria Math" panose="02040503050406030204" pitchFamily="18" charset="0"/>
                                                </a:rPr>
                                                <m:t>2</m:t>
                                              </m:r>
                                            </m:den>
                                          </m:f>
                                        </m:e>
                                      </m:d>
                                    </m:e>
                                  </m:func>
                                </m:e>
                                <m:e>
                                  <m:func>
                                    <m:funcPr>
                                      <m:ctrlPr>
                                        <a:rPr lang="en-US" sz="2400" i="1">
                                          <a:latin typeface="Cambria Math" panose="02040503050406030204" pitchFamily="18" charset="0"/>
                                        </a:rPr>
                                      </m:ctrlPr>
                                    </m:funcPr>
                                    <m:fName>
                                      <m:r>
                                        <a:rPr lang="en-US" sz="2400" i="1">
                                          <a:latin typeface="Cambria Math" panose="02040503050406030204" pitchFamily="18" charset="0"/>
                                        </a:rPr>
                                        <m:t>𝑐𝑜𝑠</m:t>
                                      </m:r>
                                    </m:fName>
                                    <m:e>
                                      <m:d>
                                        <m:dPr>
                                          <m:ctrlPr>
                                            <a:rPr lang="en-US" sz="2400" i="1">
                                              <a:latin typeface="Cambria Math" panose="02040503050406030204" pitchFamily="18" charset="0"/>
                                            </a:rPr>
                                          </m:ctrlPr>
                                        </m:dPr>
                                        <m:e>
                                          <m:f>
                                            <m:fPr>
                                              <m:ctrlPr>
                                                <a:rPr lang="en-US" sz="2400" i="1">
                                                  <a:latin typeface="Cambria Math" panose="02040503050406030204" pitchFamily="18" charset="0"/>
                                                </a:rPr>
                                              </m:ctrlPr>
                                            </m:fPr>
                                            <m:num>
                                              <m:r>
                                                <a:rPr lang="en-US" sz="2400" i="1">
                                                  <a:latin typeface="Cambria Math" panose="02040503050406030204" pitchFamily="18" charset="0"/>
                                                </a:rPr>
                                                <m:t>𝜃</m:t>
                                              </m:r>
                                            </m:num>
                                            <m:den>
                                              <m:r>
                                                <a:rPr lang="en-US" sz="2400">
                                                  <a:latin typeface="Cambria Math" panose="02040503050406030204" pitchFamily="18" charset="0"/>
                                                </a:rPr>
                                                <m:t>2</m:t>
                                              </m:r>
                                            </m:den>
                                          </m:f>
                                        </m:e>
                                      </m:d>
                                    </m:e>
                                  </m:func>
                                </m:e>
                              </m:mr>
                            </m:m>
                          </m:e>
                        </m:d>
                      </m:oMath>
                    </m:oMathPara>
                  </a14:m>
                  <a:endParaRPr lang="en-US" sz="2400" dirty="0"/>
                </a:p>
              </p:txBody>
            </p:sp>
          </mc:Choice>
          <mc:Fallback xmlns="">
            <p:sp>
              <p:nvSpPr>
                <p:cNvPr id="30" name="Rectangle 29">
                  <a:extLst>
                    <a:ext uri="{FF2B5EF4-FFF2-40B4-BE49-F238E27FC236}">
                      <a16:creationId xmlns:a16="http://schemas.microsoft.com/office/drawing/2014/main" id="{6E430F3D-0F78-E44E-857F-AD945316C946}"/>
                    </a:ext>
                  </a:extLst>
                </p:cNvPr>
                <p:cNvSpPr>
                  <a:spLocks noRot="1" noChangeAspect="1" noMove="1" noResize="1" noEditPoints="1" noAdjustHandles="1" noChangeArrowheads="1" noChangeShapeType="1" noTextEdit="1"/>
                </p:cNvSpPr>
                <p:nvPr/>
              </p:nvSpPr>
              <p:spPr>
                <a:xfrm>
                  <a:off x="4529190" y="2377171"/>
                  <a:ext cx="3507562" cy="1555106"/>
                </a:xfrm>
                <a:prstGeom prst="rect">
                  <a:avLst/>
                </a:prstGeom>
                <a:blipFill>
                  <a:blip r:embed="rId14"/>
                  <a:stretch>
                    <a:fillRect b="-2459"/>
                  </a:stretch>
                </a:blipFill>
              </p:spPr>
              <p:txBody>
                <a:bodyPr/>
                <a:lstStyle/>
                <a:p>
                  <a:r>
                    <a:rPr lang="en-US">
                      <a:noFill/>
                    </a:rPr>
                    <a:t> </a:t>
                  </a:r>
                </a:p>
              </p:txBody>
            </p:sp>
          </mc:Fallback>
        </mc:AlternateContent>
      </p:grpSp>
      <p:cxnSp>
        <p:nvCxnSpPr>
          <p:cNvPr id="27" name="Straight Arrow Connector 26">
            <a:extLst>
              <a:ext uri="{FF2B5EF4-FFF2-40B4-BE49-F238E27FC236}">
                <a16:creationId xmlns:a16="http://schemas.microsoft.com/office/drawing/2014/main" id="{25130943-C47B-AB46-A929-697BECC5423C}"/>
              </a:ext>
            </a:extLst>
          </p:cNvPr>
          <p:cNvCxnSpPr>
            <a:cxnSpLocks/>
          </p:cNvCxnSpPr>
          <p:nvPr/>
        </p:nvCxnSpPr>
        <p:spPr>
          <a:xfrm>
            <a:off x="630759" y="2743073"/>
            <a:ext cx="1308623" cy="598963"/>
          </a:xfrm>
          <a:prstGeom prst="straightConnector1">
            <a:avLst/>
          </a:prstGeom>
          <a:ln w="12700">
            <a:solidFill>
              <a:schemeClr val="accent5">
                <a:lumMod val="60000"/>
                <a:lumOff val="40000"/>
              </a:schemeClr>
            </a:solidFill>
            <a:prstDash val="dash"/>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FD246A74-969A-674E-A188-45D500D93CC2}"/>
                  </a:ext>
                </a:extLst>
              </p:cNvPr>
              <p:cNvSpPr txBox="1"/>
              <p:nvPr/>
            </p:nvSpPr>
            <p:spPr>
              <a:xfrm>
                <a:off x="2650253" y="1036673"/>
                <a:ext cx="8881983" cy="542136"/>
              </a:xfrm>
              <a:prstGeom prst="rect">
                <a:avLst/>
              </a:prstGeom>
              <a:solidFill>
                <a:schemeClr val="accent4">
                  <a:lumMod val="20000"/>
                  <a:lumOff val="80000"/>
                </a:schemeClr>
              </a:solidFill>
            </p:spPr>
            <p:txBody>
              <a:bodyPr wrap="none" rtlCol="0">
                <a:spAutoFit/>
              </a:bodyPr>
              <a:lstStyle/>
              <a:p>
                <a:r>
                  <a:rPr lang="en-ZA" sz="2800" dirty="0"/>
                  <a:t>Euler's formula in matrix form </a:t>
                </a:r>
                <a:r>
                  <a:rPr lang="en-US" sz="2800" dirty="0"/>
                  <a:t> </a:t>
                </a:r>
                <a14:m>
                  <m:oMath xmlns:m="http://schemas.openxmlformats.org/officeDocument/2006/math">
                    <m:sSup>
                      <m:sSupPr>
                        <m:ctrlPr>
                          <a:rPr lang="en-US" sz="2800" i="1">
                            <a:latin typeface="Cambria Math" panose="02040503050406030204" pitchFamily="18" charset="0"/>
                          </a:rPr>
                        </m:ctrlPr>
                      </m:sSupPr>
                      <m:e>
                        <m:r>
                          <a:rPr lang="en-US" sz="2800" i="1">
                            <a:latin typeface="Cambria Math" panose="02040503050406030204" pitchFamily="18" charset="0"/>
                          </a:rPr>
                          <m:t> </m:t>
                        </m:r>
                        <m:r>
                          <a:rPr lang="en-US" sz="2800" i="1">
                            <a:latin typeface="Cambria Math" panose="02040503050406030204" pitchFamily="18" charset="0"/>
                          </a:rPr>
                          <m:t>𝑒</m:t>
                        </m:r>
                      </m:e>
                      <m:sup>
                        <m:r>
                          <a:rPr lang="en-US" sz="2800" i="1">
                            <a:latin typeface="Cambria Math" panose="02040503050406030204" pitchFamily="18" charset="0"/>
                          </a:rPr>
                          <m:t>𝑖</m:t>
                        </m:r>
                        <m:r>
                          <a:rPr lang="en-US" sz="2800" i="1">
                            <a:latin typeface="Cambria Math" panose="02040503050406030204" pitchFamily="18" charset="0"/>
                          </a:rPr>
                          <m:t>𝜃</m:t>
                        </m:r>
                        <m:r>
                          <a:rPr lang="en-US" sz="2800" i="1">
                            <a:latin typeface="Cambria Math" panose="02040503050406030204" pitchFamily="18" charset="0"/>
                          </a:rPr>
                          <m:t>𝐴</m:t>
                        </m:r>
                      </m:sup>
                    </m:sSup>
                    <m:r>
                      <a:rPr lang="en-US" sz="2800">
                        <a:latin typeface="Cambria Math" panose="02040503050406030204" pitchFamily="18" charset="0"/>
                      </a:rPr>
                      <m:t>=</m:t>
                    </m:r>
                    <m:func>
                      <m:funcPr>
                        <m:ctrlPr>
                          <a:rPr lang="en-US" sz="2800" i="1">
                            <a:latin typeface="Cambria Math" panose="02040503050406030204" pitchFamily="18" charset="0"/>
                          </a:rPr>
                        </m:ctrlPr>
                      </m:funcPr>
                      <m:fName>
                        <m:r>
                          <a:rPr lang="en-US" sz="2800" i="1">
                            <a:latin typeface="Cambria Math" panose="02040503050406030204" pitchFamily="18" charset="0"/>
                          </a:rPr>
                          <m:t>𝑐𝑜𝑠</m:t>
                        </m:r>
                      </m:fName>
                      <m:e>
                        <m:d>
                          <m:dPr>
                            <m:ctrlPr>
                              <a:rPr lang="en-US" sz="2800" i="1">
                                <a:latin typeface="Cambria Math" panose="02040503050406030204" pitchFamily="18" charset="0"/>
                              </a:rPr>
                            </m:ctrlPr>
                          </m:dPr>
                          <m:e>
                            <m:r>
                              <a:rPr lang="en-US" sz="2800" i="1">
                                <a:latin typeface="Cambria Math" panose="02040503050406030204" pitchFamily="18" charset="0"/>
                              </a:rPr>
                              <m:t>𝜃</m:t>
                            </m:r>
                          </m:e>
                        </m:d>
                        <m:r>
                          <a:rPr lang="en-US" sz="2800" i="1">
                            <a:latin typeface="Cambria Math" panose="02040503050406030204" pitchFamily="18" charset="0"/>
                          </a:rPr>
                          <m:t>𝐼</m:t>
                        </m:r>
                        <m:r>
                          <a:rPr lang="sr-Latn-RS" sz="2800">
                            <a:latin typeface="Cambria Math" panose="02040503050406030204" pitchFamily="18" charset="0"/>
                          </a:rPr>
                          <m:t>+</m:t>
                        </m:r>
                        <m:r>
                          <a:rPr lang="en-US" sz="2800" i="1">
                            <a:latin typeface="Cambria Math" panose="02040503050406030204" pitchFamily="18" charset="0"/>
                          </a:rPr>
                          <m:t>𝑖</m:t>
                        </m:r>
                        <m:func>
                          <m:funcPr>
                            <m:ctrlPr>
                              <a:rPr lang="en-US" sz="2800" i="1">
                                <a:latin typeface="Cambria Math" panose="02040503050406030204" pitchFamily="18" charset="0"/>
                              </a:rPr>
                            </m:ctrlPr>
                          </m:funcPr>
                          <m:fName>
                            <m:r>
                              <a:rPr lang="en-US" sz="2800" i="1">
                                <a:latin typeface="Cambria Math" panose="02040503050406030204" pitchFamily="18" charset="0"/>
                              </a:rPr>
                              <m:t>𝑠𝑖𝑛</m:t>
                            </m:r>
                          </m:fName>
                          <m:e>
                            <m:d>
                              <m:dPr>
                                <m:ctrlPr>
                                  <a:rPr lang="en-US" sz="2800" i="1">
                                    <a:latin typeface="Cambria Math" panose="02040503050406030204" pitchFamily="18" charset="0"/>
                                  </a:rPr>
                                </m:ctrlPr>
                              </m:dPr>
                              <m:e>
                                <m:r>
                                  <a:rPr lang="en-US" sz="2800" i="1">
                                    <a:latin typeface="Cambria Math" panose="02040503050406030204" pitchFamily="18" charset="0"/>
                                  </a:rPr>
                                  <m:t>𝜃</m:t>
                                </m:r>
                              </m:e>
                            </m:d>
                          </m:e>
                        </m:func>
                        <m:r>
                          <a:rPr lang="en-US" sz="2800" i="1">
                            <a:latin typeface="Cambria Math" panose="02040503050406030204" pitchFamily="18" charset="0"/>
                          </a:rPr>
                          <m:t>𝐴</m:t>
                        </m:r>
                      </m:e>
                    </m:func>
                  </m:oMath>
                </a14:m>
                <a:endParaRPr lang="en-US" sz="2800" dirty="0"/>
              </a:p>
            </p:txBody>
          </p:sp>
        </mc:Choice>
        <mc:Fallback xmlns="">
          <p:sp>
            <p:nvSpPr>
              <p:cNvPr id="28" name="TextBox 27">
                <a:extLst>
                  <a:ext uri="{FF2B5EF4-FFF2-40B4-BE49-F238E27FC236}">
                    <a16:creationId xmlns:a16="http://schemas.microsoft.com/office/drawing/2014/main" id="{FD246A74-969A-674E-A188-45D500D93CC2}"/>
                  </a:ext>
                </a:extLst>
              </p:cNvPr>
              <p:cNvSpPr txBox="1">
                <a:spLocks noRot="1" noChangeAspect="1" noMove="1" noResize="1" noEditPoints="1" noAdjustHandles="1" noChangeArrowheads="1" noChangeShapeType="1" noTextEdit="1"/>
              </p:cNvSpPr>
              <p:nvPr/>
            </p:nvSpPr>
            <p:spPr>
              <a:xfrm>
                <a:off x="2650253" y="1036673"/>
                <a:ext cx="8881983" cy="542136"/>
              </a:xfrm>
              <a:prstGeom prst="rect">
                <a:avLst/>
              </a:prstGeom>
              <a:blipFill>
                <a:blip r:embed="rId15"/>
                <a:stretch>
                  <a:fillRect l="-1429" t="-6977" b="-30233"/>
                </a:stretch>
              </a:blipFill>
            </p:spPr>
            <p:txBody>
              <a:bodyPr/>
              <a:lstStyle/>
              <a:p>
                <a:r>
                  <a:rPr lang="en-US">
                    <a:noFill/>
                  </a:rPr>
                  <a:t> </a:t>
                </a:r>
              </a:p>
            </p:txBody>
          </p:sp>
        </mc:Fallback>
      </mc:AlternateContent>
    </p:spTree>
    <p:extLst>
      <p:ext uri="{BB962C8B-B14F-4D97-AF65-F5344CB8AC3E}">
        <p14:creationId xmlns:p14="http://schemas.microsoft.com/office/powerpoint/2010/main" val="35335226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dissolve">
                                      <p:cBhvr>
                                        <p:cTn id="1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39EF45-D20A-C54B-9E7B-223F102F5FFB}"/>
              </a:ext>
            </a:extLst>
          </p:cNvPr>
          <p:cNvSpPr>
            <a:spLocks noGrp="1"/>
          </p:cNvSpPr>
          <p:nvPr>
            <p:ph type="title"/>
          </p:nvPr>
        </p:nvSpPr>
        <p:spPr>
          <a:xfrm>
            <a:off x="0" y="0"/>
            <a:ext cx="12192000" cy="928688"/>
          </a:xfrm>
        </p:spPr>
        <p:txBody>
          <a:bodyPr/>
          <a:lstStyle/>
          <a:p>
            <a:r>
              <a:rPr lang="en-ZA" dirty="0"/>
              <a:t>Parameterized Rotation Gates</a:t>
            </a:r>
            <a:endParaRPr lang="en-US" dirty="0"/>
          </a:p>
        </p:txBody>
      </p:sp>
      <p:sp>
        <p:nvSpPr>
          <p:cNvPr id="3" name="Slide Number Placeholder 2">
            <a:extLst>
              <a:ext uri="{FF2B5EF4-FFF2-40B4-BE49-F238E27FC236}">
                <a16:creationId xmlns:a16="http://schemas.microsoft.com/office/drawing/2014/main" id="{1DFCF789-A597-7E48-870E-125D0C3A063D}"/>
              </a:ext>
            </a:extLst>
          </p:cNvPr>
          <p:cNvSpPr>
            <a:spLocks noGrp="1"/>
          </p:cNvSpPr>
          <p:nvPr>
            <p:ph type="sldNum" sz="quarter" idx="12"/>
          </p:nvPr>
        </p:nvSpPr>
        <p:spPr/>
        <p:txBody>
          <a:bodyPr/>
          <a:lstStyle/>
          <a:p>
            <a:fld id="{591A223C-FA10-BC46-A853-03BA373D023C}" type="slidenum">
              <a:rPr lang="en-US" smtClean="0"/>
              <a:t>24</a:t>
            </a:fld>
            <a:endParaRPr lang="en-US"/>
          </a:p>
        </p:txBody>
      </p:sp>
      <p:cxnSp>
        <p:nvCxnSpPr>
          <p:cNvPr id="4" name="Straight Connector 3">
            <a:extLst>
              <a:ext uri="{FF2B5EF4-FFF2-40B4-BE49-F238E27FC236}">
                <a16:creationId xmlns:a16="http://schemas.microsoft.com/office/drawing/2014/main" id="{35913924-2483-E343-99F2-9D1061599CCB}"/>
              </a:ext>
            </a:extLst>
          </p:cNvPr>
          <p:cNvCxnSpPr>
            <a:cxnSpLocks/>
          </p:cNvCxnSpPr>
          <p:nvPr/>
        </p:nvCxnSpPr>
        <p:spPr>
          <a:xfrm>
            <a:off x="539095" y="1797705"/>
            <a:ext cx="11297440" cy="5550"/>
          </a:xfrm>
          <a:prstGeom prst="line">
            <a:avLst/>
          </a:prstGeom>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F3A29A8C-3092-FC46-94D9-2F44D4900D10}"/>
              </a:ext>
            </a:extLst>
          </p:cNvPr>
          <p:cNvCxnSpPr>
            <a:cxnSpLocks/>
          </p:cNvCxnSpPr>
          <p:nvPr/>
        </p:nvCxnSpPr>
        <p:spPr>
          <a:xfrm>
            <a:off x="539095" y="3390293"/>
            <a:ext cx="11297440" cy="0"/>
          </a:xfrm>
          <a:prstGeom prst="line">
            <a:avLst/>
          </a:prstGeom>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01F86251-6DE2-3448-A31F-B8BAA869C571}"/>
              </a:ext>
            </a:extLst>
          </p:cNvPr>
          <p:cNvSpPr/>
          <p:nvPr/>
        </p:nvSpPr>
        <p:spPr>
          <a:xfrm>
            <a:off x="539095" y="1133585"/>
            <a:ext cx="11297440" cy="555202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Connector 15">
            <a:extLst>
              <a:ext uri="{FF2B5EF4-FFF2-40B4-BE49-F238E27FC236}">
                <a16:creationId xmlns:a16="http://schemas.microsoft.com/office/drawing/2014/main" id="{1A76F891-5AB6-8649-AA11-DCC61231E1A8}"/>
              </a:ext>
            </a:extLst>
          </p:cNvPr>
          <p:cNvCxnSpPr>
            <a:cxnSpLocks/>
          </p:cNvCxnSpPr>
          <p:nvPr/>
        </p:nvCxnSpPr>
        <p:spPr>
          <a:xfrm>
            <a:off x="1765924" y="1133585"/>
            <a:ext cx="0" cy="516412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98B600C7-EF8F-A54F-A16B-AB413E8AA9CD}"/>
              </a:ext>
            </a:extLst>
          </p:cNvPr>
          <p:cNvCxnSpPr>
            <a:cxnSpLocks/>
          </p:cNvCxnSpPr>
          <p:nvPr/>
        </p:nvCxnSpPr>
        <p:spPr>
          <a:xfrm>
            <a:off x="6311975" y="1134865"/>
            <a:ext cx="0" cy="5550748"/>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0B07EEE4-80D5-964C-8F0B-63D3964CB0C4}"/>
              </a:ext>
            </a:extLst>
          </p:cNvPr>
          <p:cNvCxnSpPr>
            <a:cxnSpLocks/>
          </p:cNvCxnSpPr>
          <p:nvPr/>
        </p:nvCxnSpPr>
        <p:spPr>
          <a:xfrm>
            <a:off x="539095" y="5206433"/>
            <a:ext cx="11297440" cy="0"/>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6" name="Rectangle 35">
                <a:extLst>
                  <a:ext uri="{FF2B5EF4-FFF2-40B4-BE49-F238E27FC236}">
                    <a16:creationId xmlns:a16="http://schemas.microsoft.com/office/drawing/2014/main" id="{32F9BF4A-151C-EE4B-A813-55B617FB609E}"/>
                  </a:ext>
                </a:extLst>
              </p:cNvPr>
              <p:cNvSpPr/>
              <p:nvPr/>
            </p:nvSpPr>
            <p:spPr>
              <a:xfrm>
                <a:off x="1753546" y="1803255"/>
                <a:ext cx="4611199" cy="141436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m>
                        <m:mPr>
                          <m:plcHide m:val="on"/>
                          <m:mcs>
                            <m:mc>
                              <m:mcPr>
                                <m:count m:val="1"/>
                                <m:mcJc m:val="center"/>
                              </m:mcPr>
                            </m:mc>
                          </m:mcs>
                          <m:ctrlPr>
                            <a:rPr lang="en-US" sz="2200" i="1" smtClean="0">
                              <a:latin typeface="Cambria Math" panose="02040503050406030204" pitchFamily="18" charset="0"/>
                            </a:rPr>
                          </m:ctrlPr>
                        </m:mPr>
                        <m:mr>
                          <m:e>
                            <m:sSub>
                              <m:sSubPr>
                                <m:ctrlPr>
                                  <a:rPr lang="en-US" sz="2200" i="1" smtClean="0">
                                    <a:latin typeface="Cambria Math" panose="02040503050406030204" pitchFamily="18" charset="0"/>
                                  </a:rPr>
                                </m:ctrlPr>
                              </m:sSubPr>
                              <m:e>
                                <m:r>
                                  <a:rPr lang="en-US" sz="2200" b="0" i="1" smtClean="0">
                                    <a:latin typeface="Cambria Math" panose="02040503050406030204" pitchFamily="18" charset="0"/>
                                  </a:rPr>
                                  <m:t>𝑅</m:t>
                                </m:r>
                              </m:e>
                              <m:sub>
                                <m:r>
                                  <a:rPr lang="en-US" sz="2200" b="0" i="1" smtClean="0">
                                    <a:latin typeface="Cambria Math" panose="02040503050406030204" pitchFamily="18" charset="0"/>
                                  </a:rPr>
                                  <m:t>𝑥</m:t>
                                </m:r>
                              </m:sub>
                            </m:sSub>
                            <m:r>
                              <a:rPr lang="en-US" sz="2200" i="0">
                                <a:latin typeface="Cambria Math" panose="02040503050406030204" pitchFamily="18" charset="0"/>
                              </a:rPr>
                              <m:t>=</m:t>
                            </m:r>
                            <m:sSup>
                              <m:sSupPr>
                                <m:ctrlPr>
                                  <a:rPr lang="en-US" sz="2200" i="1">
                                    <a:latin typeface="Cambria Math" panose="02040503050406030204" pitchFamily="18" charset="0"/>
                                  </a:rPr>
                                </m:ctrlPr>
                              </m:sSupPr>
                              <m:e>
                                <m:r>
                                  <a:rPr lang="en-US" sz="2200" i="1">
                                    <a:latin typeface="Cambria Math" panose="02040503050406030204" pitchFamily="18" charset="0"/>
                                  </a:rPr>
                                  <m:t>𝑒</m:t>
                                </m:r>
                              </m:e>
                              <m:sup>
                                <m:r>
                                  <a:rPr lang="en-US" sz="2200" i="1">
                                    <a:latin typeface="Cambria Math" panose="02040503050406030204" pitchFamily="18" charset="0"/>
                                  </a:rPr>
                                  <m:t>−</m:t>
                                </m:r>
                                <m:r>
                                  <a:rPr lang="en-US" sz="2200" i="1">
                                    <a:latin typeface="Cambria Math" panose="02040503050406030204" pitchFamily="18" charset="0"/>
                                  </a:rPr>
                                  <m:t>𝑖</m:t>
                                </m:r>
                                <m:f>
                                  <m:fPr>
                                    <m:ctrlPr>
                                      <a:rPr lang="en-US" sz="2200" i="1">
                                        <a:latin typeface="Cambria Math" panose="02040503050406030204" pitchFamily="18" charset="0"/>
                                      </a:rPr>
                                    </m:ctrlPr>
                                  </m:fPr>
                                  <m:num>
                                    <m:r>
                                      <a:rPr lang="en-US" sz="2200" i="1">
                                        <a:latin typeface="Cambria Math" panose="02040503050406030204" pitchFamily="18" charset="0"/>
                                      </a:rPr>
                                      <m:t>𝜃</m:t>
                                    </m:r>
                                  </m:num>
                                  <m:den>
                                    <m:r>
                                      <a:rPr lang="en-US" sz="2200">
                                        <a:latin typeface="Cambria Math" panose="02040503050406030204" pitchFamily="18" charset="0"/>
                                      </a:rPr>
                                      <m:t>2</m:t>
                                    </m:r>
                                  </m:den>
                                </m:f>
                                <m:r>
                                  <a:rPr lang="en-US" sz="2200" i="1">
                                    <a:latin typeface="Cambria Math" panose="02040503050406030204" pitchFamily="18" charset="0"/>
                                  </a:rPr>
                                  <m:t>𝑋</m:t>
                                </m:r>
                              </m:sup>
                            </m:sSup>
                            <m:r>
                              <a:rPr lang="en-US" sz="2200" b="0" i="1" smtClean="0">
                                <a:latin typeface="Cambria Math" panose="02040503050406030204" pitchFamily="18" charset="0"/>
                              </a:rPr>
                              <m:t>=</m:t>
                            </m:r>
                            <m:d>
                              <m:dPr>
                                <m:ctrlPr>
                                  <a:rPr lang="en-US" sz="2200" i="1" smtClean="0">
                                    <a:latin typeface="Cambria Math" panose="02040503050406030204" pitchFamily="18" charset="0"/>
                                  </a:rPr>
                                </m:ctrlPr>
                              </m:dPr>
                              <m:e>
                                <m:m>
                                  <m:mPr>
                                    <m:plcHide m:val="on"/>
                                    <m:mcs>
                                      <m:mc>
                                        <m:mcPr>
                                          <m:count m:val="2"/>
                                          <m:mcJc m:val="center"/>
                                        </m:mcPr>
                                      </m:mc>
                                    </m:mcs>
                                    <m:ctrlPr>
                                      <a:rPr lang="en-US" sz="2200" i="1">
                                        <a:latin typeface="Cambria Math" panose="02040503050406030204" pitchFamily="18" charset="0"/>
                                      </a:rPr>
                                    </m:ctrlPr>
                                  </m:mPr>
                                  <m:mr>
                                    <m:e>
                                      <m:r>
                                        <a:rPr lang="en-US" sz="2200" b="0" i="1" smtClean="0">
                                          <a:latin typeface="Cambria Math" panose="02040503050406030204" pitchFamily="18" charset="0"/>
                                        </a:rPr>
                                        <m:t>𝑐𝑜𝑠</m:t>
                                      </m:r>
                                      <m:f>
                                        <m:fPr>
                                          <m:ctrlPr>
                                            <a:rPr lang="en-US" sz="2200" i="1">
                                              <a:latin typeface="Cambria Math" panose="02040503050406030204" pitchFamily="18" charset="0"/>
                                            </a:rPr>
                                          </m:ctrlPr>
                                        </m:fPr>
                                        <m:num>
                                          <m:r>
                                            <a:rPr lang="en-US" sz="2200" i="1">
                                              <a:latin typeface="Cambria Math" panose="02040503050406030204" pitchFamily="18" charset="0"/>
                                            </a:rPr>
                                            <m:t>𝜃</m:t>
                                          </m:r>
                                        </m:num>
                                        <m:den>
                                          <m:r>
                                            <a:rPr lang="en-US" sz="2200">
                                              <a:latin typeface="Cambria Math" panose="02040503050406030204" pitchFamily="18" charset="0"/>
                                            </a:rPr>
                                            <m:t>2</m:t>
                                          </m:r>
                                        </m:den>
                                      </m:f>
                                    </m:e>
                                    <m:e>
                                      <m:r>
                                        <a:rPr lang="en-US" sz="2200" b="0" i="0" smtClean="0">
                                          <a:latin typeface="Cambria Math" panose="02040503050406030204" pitchFamily="18" charset="0"/>
                                        </a:rPr>
                                        <m:t>−</m:t>
                                      </m:r>
                                      <m:r>
                                        <a:rPr lang="en-US" sz="2200" b="0" i="1" smtClean="0">
                                          <a:latin typeface="Cambria Math" panose="02040503050406030204" pitchFamily="18" charset="0"/>
                                        </a:rPr>
                                        <m:t>𝑖</m:t>
                                      </m:r>
                                      <m:r>
                                        <a:rPr lang="en-US" sz="2200" b="0" i="1" smtClean="0">
                                          <a:latin typeface="Cambria Math" panose="02040503050406030204" pitchFamily="18" charset="0"/>
                                        </a:rPr>
                                        <m:t> </m:t>
                                      </m:r>
                                      <m:r>
                                        <a:rPr lang="en-US" sz="2200" b="0" i="1" smtClean="0">
                                          <a:latin typeface="Cambria Math" panose="02040503050406030204" pitchFamily="18" charset="0"/>
                                        </a:rPr>
                                        <m:t>𝑠𝑖𝑛</m:t>
                                      </m:r>
                                      <m:f>
                                        <m:fPr>
                                          <m:ctrlPr>
                                            <a:rPr lang="en-US" sz="2200" i="1">
                                              <a:latin typeface="Cambria Math" panose="02040503050406030204" pitchFamily="18" charset="0"/>
                                            </a:rPr>
                                          </m:ctrlPr>
                                        </m:fPr>
                                        <m:num>
                                          <m:r>
                                            <a:rPr lang="en-US" sz="2200" i="1">
                                              <a:latin typeface="Cambria Math" panose="02040503050406030204" pitchFamily="18" charset="0"/>
                                            </a:rPr>
                                            <m:t>𝜃</m:t>
                                          </m:r>
                                        </m:num>
                                        <m:den>
                                          <m:r>
                                            <a:rPr lang="en-US" sz="2200">
                                              <a:latin typeface="Cambria Math" panose="02040503050406030204" pitchFamily="18" charset="0"/>
                                            </a:rPr>
                                            <m:t>2</m:t>
                                          </m:r>
                                        </m:den>
                                      </m:f>
                                    </m:e>
                                  </m:mr>
                                  <m:mr>
                                    <m:e>
                                      <m:r>
                                        <a:rPr lang="en-US" sz="2200">
                                          <a:latin typeface="Cambria Math" panose="02040503050406030204" pitchFamily="18" charset="0"/>
                                        </a:rPr>
                                        <m:t>−</m:t>
                                      </m:r>
                                      <m:r>
                                        <a:rPr lang="en-US" sz="2200" i="1">
                                          <a:latin typeface="Cambria Math" panose="02040503050406030204" pitchFamily="18" charset="0"/>
                                        </a:rPr>
                                        <m:t>𝑖</m:t>
                                      </m:r>
                                      <m:r>
                                        <a:rPr lang="en-US" sz="2200" i="1">
                                          <a:latin typeface="Cambria Math" panose="02040503050406030204" pitchFamily="18" charset="0"/>
                                        </a:rPr>
                                        <m:t> </m:t>
                                      </m:r>
                                      <m:r>
                                        <a:rPr lang="en-US" sz="2200" i="1">
                                          <a:latin typeface="Cambria Math" panose="02040503050406030204" pitchFamily="18" charset="0"/>
                                        </a:rPr>
                                        <m:t>𝑠𝑖𝑛</m:t>
                                      </m:r>
                                      <m:f>
                                        <m:fPr>
                                          <m:ctrlPr>
                                            <a:rPr lang="en-US" sz="2200" i="1">
                                              <a:latin typeface="Cambria Math" panose="02040503050406030204" pitchFamily="18" charset="0"/>
                                            </a:rPr>
                                          </m:ctrlPr>
                                        </m:fPr>
                                        <m:num>
                                          <m:r>
                                            <a:rPr lang="en-US" sz="2200" i="1">
                                              <a:latin typeface="Cambria Math" panose="02040503050406030204" pitchFamily="18" charset="0"/>
                                            </a:rPr>
                                            <m:t>𝜃</m:t>
                                          </m:r>
                                        </m:num>
                                        <m:den>
                                          <m:r>
                                            <a:rPr lang="en-US" sz="2200">
                                              <a:latin typeface="Cambria Math" panose="02040503050406030204" pitchFamily="18" charset="0"/>
                                            </a:rPr>
                                            <m:t>2</m:t>
                                          </m:r>
                                        </m:den>
                                      </m:f>
                                    </m:e>
                                    <m:e>
                                      <m:r>
                                        <a:rPr lang="en-US" sz="2200" i="1">
                                          <a:latin typeface="Cambria Math" panose="02040503050406030204" pitchFamily="18" charset="0"/>
                                        </a:rPr>
                                        <m:t>𝑐𝑜𝑠</m:t>
                                      </m:r>
                                      <m:f>
                                        <m:fPr>
                                          <m:ctrlPr>
                                            <a:rPr lang="en-US" sz="2200" i="1">
                                              <a:latin typeface="Cambria Math" panose="02040503050406030204" pitchFamily="18" charset="0"/>
                                            </a:rPr>
                                          </m:ctrlPr>
                                        </m:fPr>
                                        <m:num>
                                          <m:r>
                                            <a:rPr lang="en-US" sz="2200" i="1">
                                              <a:latin typeface="Cambria Math" panose="02040503050406030204" pitchFamily="18" charset="0"/>
                                            </a:rPr>
                                            <m:t>𝜃</m:t>
                                          </m:r>
                                        </m:num>
                                        <m:den>
                                          <m:r>
                                            <a:rPr lang="en-US" sz="2200">
                                              <a:latin typeface="Cambria Math" panose="02040503050406030204" pitchFamily="18" charset="0"/>
                                            </a:rPr>
                                            <m:t>2</m:t>
                                          </m:r>
                                        </m:den>
                                      </m:f>
                                    </m:e>
                                  </m:mr>
                                </m:m>
                              </m:e>
                            </m:d>
                          </m:e>
                        </m:mr>
                      </m:m>
                    </m:oMath>
                  </m:oMathPara>
                </a14:m>
                <a:endParaRPr lang="en-US" sz="2200" dirty="0"/>
              </a:p>
            </p:txBody>
          </p:sp>
        </mc:Choice>
        <mc:Fallback xmlns="">
          <p:sp>
            <p:nvSpPr>
              <p:cNvPr id="36" name="Rectangle 35">
                <a:extLst>
                  <a:ext uri="{FF2B5EF4-FFF2-40B4-BE49-F238E27FC236}">
                    <a16:creationId xmlns:a16="http://schemas.microsoft.com/office/drawing/2014/main" id="{32F9BF4A-151C-EE4B-A813-55B617FB609E}"/>
                  </a:ext>
                </a:extLst>
              </p:cNvPr>
              <p:cNvSpPr>
                <a:spLocks noRot="1" noChangeAspect="1" noMove="1" noResize="1" noEditPoints="1" noAdjustHandles="1" noChangeArrowheads="1" noChangeShapeType="1" noTextEdit="1"/>
              </p:cNvSpPr>
              <p:nvPr/>
            </p:nvSpPr>
            <p:spPr>
              <a:xfrm>
                <a:off x="1753546" y="1803255"/>
                <a:ext cx="4611199" cy="1414362"/>
              </a:xfrm>
              <a:prstGeom prst="rect">
                <a:avLst/>
              </a:prstGeom>
              <a:blipFill>
                <a:blip r:embed="rId3"/>
                <a:stretch>
                  <a:fillRect b="-1786"/>
                </a:stretch>
              </a:blipFill>
            </p:spPr>
            <p:txBody>
              <a:bodyPr/>
              <a:lstStyle/>
              <a:p>
                <a:r>
                  <a:rPr lang="en-US">
                    <a:noFill/>
                  </a:rPr>
                  <a:t> </a:t>
                </a:r>
              </a:p>
            </p:txBody>
          </p:sp>
        </mc:Fallback>
      </mc:AlternateContent>
      <p:sp>
        <p:nvSpPr>
          <p:cNvPr id="37" name="TextBox 36">
            <a:extLst>
              <a:ext uri="{FF2B5EF4-FFF2-40B4-BE49-F238E27FC236}">
                <a16:creationId xmlns:a16="http://schemas.microsoft.com/office/drawing/2014/main" id="{A41F298D-2142-3447-964A-88FBF8974F35}"/>
              </a:ext>
            </a:extLst>
          </p:cNvPr>
          <p:cNvSpPr txBox="1"/>
          <p:nvPr/>
        </p:nvSpPr>
        <p:spPr>
          <a:xfrm>
            <a:off x="6410203" y="2155820"/>
            <a:ext cx="3512853" cy="830997"/>
          </a:xfrm>
          <a:prstGeom prst="rect">
            <a:avLst/>
          </a:prstGeom>
          <a:noFill/>
        </p:spPr>
        <p:txBody>
          <a:bodyPr wrap="square" rtlCol="0">
            <a:spAutoFit/>
          </a:bodyPr>
          <a:lstStyle/>
          <a:p>
            <a:r>
              <a:rPr lang="en-ZA" sz="2400" dirty="0">
                <a:latin typeface="+mj-lt"/>
              </a:rPr>
              <a:t>Rotation about the </a:t>
            </a:r>
            <a:r>
              <a:rPr lang="en-US" sz="2400" dirty="0">
                <a:latin typeface="+mj-lt"/>
              </a:rPr>
              <a:t>𝑥 </a:t>
            </a:r>
            <a:r>
              <a:rPr lang="en-ZA" sz="2400" dirty="0">
                <a:latin typeface="+mj-lt"/>
              </a:rPr>
              <a:t>-axis for a given angle.</a:t>
            </a:r>
            <a:endParaRPr lang="en-US" sz="2400" dirty="0">
              <a:effectLst/>
              <a:latin typeface="+mj-lt"/>
            </a:endParaRPr>
          </a:p>
        </p:txBody>
      </p:sp>
      <p:cxnSp>
        <p:nvCxnSpPr>
          <p:cNvPr id="41" name="Straight Connector 40">
            <a:extLst>
              <a:ext uri="{FF2B5EF4-FFF2-40B4-BE49-F238E27FC236}">
                <a16:creationId xmlns:a16="http://schemas.microsoft.com/office/drawing/2014/main" id="{A64E3129-7FB9-8147-9B92-4A8BEA1346C7}"/>
              </a:ext>
            </a:extLst>
          </p:cNvPr>
          <p:cNvCxnSpPr>
            <a:cxnSpLocks/>
          </p:cNvCxnSpPr>
          <p:nvPr/>
        </p:nvCxnSpPr>
        <p:spPr>
          <a:xfrm>
            <a:off x="9923056" y="1145724"/>
            <a:ext cx="0" cy="5552028"/>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1" name="Rectangle 50">
                <a:extLst>
                  <a:ext uri="{FF2B5EF4-FFF2-40B4-BE49-F238E27FC236}">
                    <a16:creationId xmlns:a16="http://schemas.microsoft.com/office/drawing/2014/main" id="{09AF08D1-FC71-124A-BB72-16C7D1D16B66}"/>
                  </a:ext>
                </a:extLst>
              </p:cNvPr>
              <p:cNvSpPr/>
              <p:nvPr/>
            </p:nvSpPr>
            <p:spPr>
              <a:xfrm>
                <a:off x="1700777" y="3548814"/>
                <a:ext cx="4103175" cy="141436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m>
                        <m:mPr>
                          <m:plcHide m:val="on"/>
                          <m:mcs>
                            <m:mc>
                              <m:mcPr>
                                <m:count m:val="1"/>
                                <m:mcJc m:val="center"/>
                              </m:mcPr>
                            </m:mc>
                          </m:mcs>
                          <m:ctrlPr>
                            <a:rPr lang="en-US" sz="2200" i="1" smtClean="0">
                              <a:latin typeface="Cambria Math" panose="02040503050406030204" pitchFamily="18" charset="0"/>
                            </a:rPr>
                          </m:ctrlPr>
                        </m:mPr>
                        <m:mr>
                          <m:e>
                            <m:sSub>
                              <m:sSubPr>
                                <m:ctrlPr>
                                  <a:rPr lang="en-US" sz="2200" i="1" smtClean="0">
                                    <a:latin typeface="Cambria Math" panose="02040503050406030204" pitchFamily="18" charset="0"/>
                                  </a:rPr>
                                </m:ctrlPr>
                              </m:sSubPr>
                              <m:e>
                                <m:r>
                                  <a:rPr lang="en-US" sz="2200" b="0" i="1" smtClean="0">
                                    <a:latin typeface="Cambria Math" panose="02040503050406030204" pitchFamily="18" charset="0"/>
                                  </a:rPr>
                                  <m:t>𝑅</m:t>
                                </m:r>
                              </m:e>
                              <m:sub>
                                <m:r>
                                  <a:rPr lang="en-US" sz="2200" b="0" i="1" smtClean="0">
                                    <a:latin typeface="Cambria Math" panose="02040503050406030204" pitchFamily="18" charset="0"/>
                                  </a:rPr>
                                  <m:t>𝑦</m:t>
                                </m:r>
                              </m:sub>
                            </m:sSub>
                            <m:r>
                              <a:rPr lang="en-US" sz="2200" i="0">
                                <a:latin typeface="Cambria Math" panose="02040503050406030204" pitchFamily="18" charset="0"/>
                              </a:rPr>
                              <m:t>=</m:t>
                            </m:r>
                            <m:sSup>
                              <m:sSupPr>
                                <m:ctrlPr>
                                  <a:rPr lang="en-US" sz="2200" i="1">
                                    <a:latin typeface="Cambria Math" panose="02040503050406030204" pitchFamily="18" charset="0"/>
                                  </a:rPr>
                                </m:ctrlPr>
                              </m:sSupPr>
                              <m:e>
                                <m:r>
                                  <a:rPr lang="en-US" sz="2200" i="1">
                                    <a:latin typeface="Cambria Math" panose="02040503050406030204" pitchFamily="18" charset="0"/>
                                  </a:rPr>
                                  <m:t>𝑒</m:t>
                                </m:r>
                              </m:e>
                              <m:sup>
                                <m:r>
                                  <a:rPr lang="en-US" sz="2200" i="1">
                                    <a:latin typeface="Cambria Math" panose="02040503050406030204" pitchFamily="18" charset="0"/>
                                  </a:rPr>
                                  <m:t>−</m:t>
                                </m:r>
                                <m:r>
                                  <a:rPr lang="en-US" sz="2200" i="1">
                                    <a:latin typeface="Cambria Math" panose="02040503050406030204" pitchFamily="18" charset="0"/>
                                  </a:rPr>
                                  <m:t>𝑖</m:t>
                                </m:r>
                                <m:f>
                                  <m:fPr>
                                    <m:ctrlPr>
                                      <a:rPr lang="en-US" sz="2200" i="1">
                                        <a:latin typeface="Cambria Math" panose="02040503050406030204" pitchFamily="18" charset="0"/>
                                      </a:rPr>
                                    </m:ctrlPr>
                                  </m:fPr>
                                  <m:num>
                                    <m:r>
                                      <a:rPr lang="en-US" sz="2200" i="1">
                                        <a:latin typeface="Cambria Math" panose="02040503050406030204" pitchFamily="18" charset="0"/>
                                      </a:rPr>
                                      <m:t>𝜃</m:t>
                                    </m:r>
                                  </m:num>
                                  <m:den>
                                    <m:r>
                                      <a:rPr lang="en-US" sz="2200">
                                        <a:latin typeface="Cambria Math" panose="02040503050406030204" pitchFamily="18" charset="0"/>
                                      </a:rPr>
                                      <m:t>2</m:t>
                                    </m:r>
                                  </m:den>
                                </m:f>
                                <m:r>
                                  <a:rPr lang="en-US" sz="2200" b="0" i="1" smtClean="0">
                                    <a:latin typeface="Cambria Math" panose="02040503050406030204" pitchFamily="18" charset="0"/>
                                  </a:rPr>
                                  <m:t>𝑌</m:t>
                                </m:r>
                              </m:sup>
                            </m:sSup>
                            <m:r>
                              <a:rPr lang="en-US" sz="2200" b="0" i="1" smtClean="0">
                                <a:latin typeface="Cambria Math" panose="02040503050406030204" pitchFamily="18" charset="0"/>
                              </a:rPr>
                              <m:t>=</m:t>
                            </m:r>
                            <m:d>
                              <m:dPr>
                                <m:ctrlPr>
                                  <a:rPr lang="en-US" sz="2200" i="1" smtClean="0">
                                    <a:latin typeface="Cambria Math" panose="02040503050406030204" pitchFamily="18" charset="0"/>
                                  </a:rPr>
                                </m:ctrlPr>
                              </m:dPr>
                              <m:e>
                                <m:m>
                                  <m:mPr>
                                    <m:plcHide m:val="on"/>
                                    <m:mcs>
                                      <m:mc>
                                        <m:mcPr>
                                          <m:count m:val="2"/>
                                          <m:mcJc m:val="center"/>
                                        </m:mcPr>
                                      </m:mc>
                                    </m:mcs>
                                    <m:ctrlPr>
                                      <a:rPr lang="en-US" sz="2200" i="1">
                                        <a:latin typeface="Cambria Math" panose="02040503050406030204" pitchFamily="18" charset="0"/>
                                      </a:rPr>
                                    </m:ctrlPr>
                                  </m:mPr>
                                  <m:mr>
                                    <m:e>
                                      <m:r>
                                        <a:rPr lang="en-US" sz="2200" b="0" i="1" smtClean="0">
                                          <a:latin typeface="Cambria Math" panose="02040503050406030204" pitchFamily="18" charset="0"/>
                                        </a:rPr>
                                        <m:t>𝑐𝑜𝑠</m:t>
                                      </m:r>
                                      <m:f>
                                        <m:fPr>
                                          <m:ctrlPr>
                                            <a:rPr lang="en-US" sz="2200" i="1">
                                              <a:latin typeface="Cambria Math" panose="02040503050406030204" pitchFamily="18" charset="0"/>
                                            </a:rPr>
                                          </m:ctrlPr>
                                        </m:fPr>
                                        <m:num>
                                          <m:r>
                                            <a:rPr lang="en-US" sz="2200" i="1">
                                              <a:latin typeface="Cambria Math" panose="02040503050406030204" pitchFamily="18" charset="0"/>
                                            </a:rPr>
                                            <m:t>𝜃</m:t>
                                          </m:r>
                                        </m:num>
                                        <m:den>
                                          <m:r>
                                            <a:rPr lang="en-US" sz="2200">
                                              <a:latin typeface="Cambria Math" panose="02040503050406030204" pitchFamily="18" charset="0"/>
                                            </a:rPr>
                                            <m:t>2</m:t>
                                          </m:r>
                                        </m:den>
                                      </m:f>
                                    </m:e>
                                    <m:e>
                                      <m:r>
                                        <a:rPr lang="en-US" sz="2200" b="0" i="1" smtClean="0">
                                          <a:latin typeface="Cambria Math" panose="02040503050406030204" pitchFamily="18" charset="0"/>
                                        </a:rPr>
                                        <m:t>−</m:t>
                                      </m:r>
                                      <m:r>
                                        <a:rPr lang="en-US" sz="2200" b="0" i="1" smtClean="0">
                                          <a:latin typeface="Cambria Math" panose="02040503050406030204" pitchFamily="18" charset="0"/>
                                        </a:rPr>
                                        <m:t>𝑠𝑖𝑛</m:t>
                                      </m:r>
                                      <m:f>
                                        <m:fPr>
                                          <m:ctrlPr>
                                            <a:rPr lang="en-US" sz="2200" i="1">
                                              <a:latin typeface="Cambria Math" panose="02040503050406030204" pitchFamily="18" charset="0"/>
                                            </a:rPr>
                                          </m:ctrlPr>
                                        </m:fPr>
                                        <m:num>
                                          <m:r>
                                            <a:rPr lang="en-US" sz="2200" i="1">
                                              <a:latin typeface="Cambria Math" panose="02040503050406030204" pitchFamily="18" charset="0"/>
                                            </a:rPr>
                                            <m:t>𝜃</m:t>
                                          </m:r>
                                        </m:num>
                                        <m:den>
                                          <m:r>
                                            <a:rPr lang="en-US" sz="2200">
                                              <a:latin typeface="Cambria Math" panose="02040503050406030204" pitchFamily="18" charset="0"/>
                                            </a:rPr>
                                            <m:t>2</m:t>
                                          </m:r>
                                        </m:den>
                                      </m:f>
                                    </m:e>
                                  </m:mr>
                                  <m:mr>
                                    <m:e>
                                      <m:r>
                                        <a:rPr lang="en-US" sz="2200" i="1">
                                          <a:latin typeface="Cambria Math" panose="02040503050406030204" pitchFamily="18" charset="0"/>
                                        </a:rPr>
                                        <m:t>𝑠𝑖𝑛</m:t>
                                      </m:r>
                                      <m:f>
                                        <m:fPr>
                                          <m:ctrlPr>
                                            <a:rPr lang="en-US" sz="2200" i="1">
                                              <a:latin typeface="Cambria Math" panose="02040503050406030204" pitchFamily="18" charset="0"/>
                                            </a:rPr>
                                          </m:ctrlPr>
                                        </m:fPr>
                                        <m:num>
                                          <m:r>
                                            <a:rPr lang="en-US" sz="2200" i="1">
                                              <a:latin typeface="Cambria Math" panose="02040503050406030204" pitchFamily="18" charset="0"/>
                                            </a:rPr>
                                            <m:t>𝜃</m:t>
                                          </m:r>
                                        </m:num>
                                        <m:den>
                                          <m:r>
                                            <a:rPr lang="en-US" sz="2200">
                                              <a:latin typeface="Cambria Math" panose="02040503050406030204" pitchFamily="18" charset="0"/>
                                            </a:rPr>
                                            <m:t>2</m:t>
                                          </m:r>
                                        </m:den>
                                      </m:f>
                                    </m:e>
                                    <m:e>
                                      <m:r>
                                        <a:rPr lang="en-US" sz="2200" i="1">
                                          <a:latin typeface="Cambria Math" panose="02040503050406030204" pitchFamily="18" charset="0"/>
                                        </a:rPr>
                                        <m:t>𝑐𝑜𝑠</m:t>
                                      </m:r>
                                      <m:f>
                                        <m:fPr>
                                          <m:ctrlPr>
                                            <a:rPr lang="en-US" sz="2200" i="1">
                                              <a:latin typeface="Cambria Math" panose="02040503050406030204" pitchFamily="18" charset="0"/>
                                            </a:rPr>
                                          </m:ctrlPr>
                                        </m:fPr>
                                        <m:num>
                                          <m:r>
                                            <a:rPr lang="en-US" sz="2200" i="1">
                                              <a:latin typeface="Cambria Math" panose="02040503050406030204" pitchFamily="18" charset="0"/>
                                            </a:rPr>
                                            <m:t>𝜃</m:t>
                                          </m:r>
                                        </m:num>
                                        <m:den>
                                          <m:r>
                                            <a:rPr lang="en-US" sz="2200">
                                              <a:latin typeface="Cambria Math" panose="02040503050406030204" pitchFamily="18" charset="0"/>
                                            </a:rPr>
                                            <m:t>2</m:t>
                                          </m:r>
                                        </m:den>
                                      </m:f>
                                    </m:e>
                                  </m:mr>
                                </m:m>
                              </m:e>
                            </m:d>
                          </m:e>
                        </m:mr>
                      </m:m>
                    </m:oMath>
                  </m:oMathPara>
                </a14:m>
                <a:endParaRPr lang="en-US" sz="2200" dirty="0"/>
              </a:p>
            </p:txBody>
          </p:sp>
        </mc:Choice>
        <mc:Fallback xmlns="">
          <p:sp>
            <p:nvSpPr>
              <p:cNvPr id="51" name="Rectangle 50">
                <a:extLst>
                  <a:ext uri="{FF2B5EF4-FFF2-40B4-BE49-F238E27FC236}">
                    <a16:creationId xmlns:a16="http://schemas.microsoft.com/office/drawing/2014/main" id="{09AF08D1-FC71-124A-BB72-16C7D1D16B66}"/>
                  </a:ext>
                </a:extLst>
              </p:cNvPr>
              <p:cNvSpPr>
                <a:spLocks noRot="1" noChangeAspect="1" noMove="1" noResize="1" noEditPoints="1" noAdjustHandles="1" noChangeArrowheads="1" noChangeShapeType="1" noTextEdit="1"/>
              </p:cNvSpPr>
              <p:nvPr/>
            </p:nvSpPr>
            <p:spPr>
              <a:xfrm>
                <a:off x="1700777" y="3548814"/>
                <a:ext cx="4103175" cy="1414362"/>
              </a:xfrm>
              <a:prstGeom prst="rect">
                <a:avLst/>
              </a:prstGeom>
              <a:blipFill>
                <a:blip r:embed="rId7"/>
                <a:stretch>
                  <a:fillRect b="-177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2" name="Rectangle 51">
                <a:extLst>
                  <a:ext uri="{FF2B5EF4-FFF2-40B4-BE49-F238E27FC236}">
                    <a16:creationId xmlns:a16="http://schemas.microsoft.com/office/drawing/2014/main" id="{F87A1091-5767-244E-972D-F1E13E8B3C4B}"/>
                  </a:ext>
                </a:extLst>
              </p:cNvPr>
              <p:cNvSpPr/>
              <p:nvPr/>
            </p:nvSpPr>
            <p:spPr>
              <a:xfrm>
                <a:off x="1700776" y="5294374"/>
                <a:ext cx="3481851" cy="103438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m>
                        <m:mPr>
                          <m:plcHide m:val="on"/>
                          <m:mcs>
                            <m:mc>
                              <m:mcPr>
                                <m:count m:val="1"/>
                                <m:mcJc m:val="center"/>
                              </m:mcPr>
                            </m:mc>
                          </m:mcs>
                          <m:ctrlPr>
                            <a:rPr lang="en-US" sz="2200" i="1" smtClean="0">
                              <a:latin typeface="Cambria Math" panose="02040503050406030204" pitchFamily="18" charset="0"/>
                            </a:rPr>
                          </m:ctrlPr>
                        </m:mPr>
                        <m:mr>
                          <m:e>
                            <m:sSub>
                              <m:sSubPr>
                                <m:ctrlPr>
                                  <a:rPr lang="en-US" sz="2200" i="1" smtClean="0">
                                    <a:latin typeface="Cambria Math" panose="02040503050406030204" pitchFamily="18" charset="0"/>
                                  </a:rPr>
                                </m:ctrlPr>
                              </m:sSubPr>
                              <m:e>
                                <m:r>
                                  <a:rPr lang="en-US" sz="2200" b="0" i="1" smtClean="0">
                                    <a:latin typeface="Cambria Math" panose="02040503050406030204" pitchFamily="18" charset="0"/>
                                  </a:rPr>
                                  <m:t>𝑅</m:t>
                                </m:r>
                              </m:e>
                              <m:sub>
                                <m:r>
                                  <a:rPr lang="en-US" sz="2200" b="0" i="1" smtClean="0">
                                    <a:latin typeface="Cambria Math" panose="02040503050406030204" pitchFamily="18" charset="0"/>
                                  </a:rPr>
                                  <m:t>𝑧</m:t>
                                </m:r>
                              </m:sub>
                            </m:sSub>
                            <m:r>
                              <a:rPr lang="en-US" sz="2200" i="0">
                                <a:latin typeface="Cambria Math" panose="02040503050406030204" pitchFamily="18" charset="0"/>
                              </a:rPr>
                              <m:t>=</m:t>
                            </m:r>
                            <m:sSup>
                              <m:sSupPr>
                                <m:ctrlPr>
                                  <a:rPr lang="en-US" sz="2200" i="1">
                                    <a:latin typeface="Cambria Math" panose="02040503050406030204" pitchFamily="18" charset="0"/>
                                  </a:rPr>
                                </m:ctrlPr>
                              </m:sSupPr>
                              <m:e>
                                <m:r>
                                  <a:rPr lang="en-US" sz="2200" i="1">
                                    <a:latin typeface="Cambria Math" panose="02040503050406030204" pitchFamily="18" charset="0"/>
                                  </a:rPr>
                                  <m:t>𝑒</m:t>
                                </m:r>
                              </m:e>
                              <m:sup>
                                <m:r>
                                  <a:rPr lang="en-US" sz="2200" i="1">
                                    <a:latin typeface="Cambria Math" panose="02040503050406030204" pitchFamily="18" charset="0"/>
                                  </a:rPr>
                                  <m:t>−</m:t>
                                </m:r>
                                <m:r>
                                  <a:rPr lang="en-US" sz="2200" i="1">
                                    <a:latin typeface="Cambria Math" panose="02040503050406030204" pitchFamily="18" charset="0"/>
                                  </a:rPr>
                                  <m:t>𝑖</m:t>
                                </m:r>
                                <m:f>
                                  <m:fPr>
                                    <m:ctrlPr>
                                      <a:rPr lang="en-US" sz="2200" i="1">
                                        <a:latin typeface="Cambria Math" panose="02040503050406030204" pitchFamily="18" charset="0"/>
                                      </a:rPr>
                                    </m:ctrlPr>
                                  </m:fPr>
                                  <m:num>
                                    <m:r>
                                      <a:rPr lang="en-US" sz="2200" i="1">
                                        <a:latin typeface="Cambria Math" panose="02040503050406030204" pitchFamily="18" charset="0"/>
                                      </a:rPr>
                                      <m:t>𝜃</m:t>
                                    </m:r>
                                  </m:num>
                                  <m:den>
                                    <m:r>
                                      <a:rPr lang="en-US" sz="2200">
                                        <a:latin typeface="Cambria Math" panose="02040503050406030204" pitchFamily="18" charset="0"/>
                                      </a:rPr>
                                      <m:t>2</m:t>
                                    </m:r>
                                  </m:den>
                                </m:f>
                                <m:r>
                                  <a:rPr lang="en-US" sz="2200" b="0" i="1" smtClean="0">
                                    <a:latin typeface="Cambria Math" panose="02040503050406030204" pitchFamily="18" charset="0"/>
                                  </a:rPr>
                                  <m:t>𝑍</m:t>
                                </m:r>
                              </m:sup>
                            </m:sSup>
                            <m:r>
                              <a:rPr lang="en-US" sz="2200" b="0" i="1" smtClean="0">
                                <a:latin typeface="Cambria Math" panose="02040503050406030204" pitchFamily="18" charset="0"/>
                              </a:rPr>
                              <m:t>=</m:t>
                            </m:r>
                            <m:d>
                              <m:dPr>
                                <m:ctrlPr>
                                  <a:rPr lang="en-US" sz="2200" i="1" smtClean="0">
                                    <a:latin typeface="Cambria Math" panose="02040503050406030204" pitchFamily="18" charset="0"/>
                                  </a:rPr>
                                </m:ctrlPr>
                              </m:dPr>
                              <m:e>
                                <m:m>
                                  <m:mPr>
                                    <m:plcHide m:val="on"/>
                                    <m:mcs>
                                      <m:mc>
                                        <m:mcPr>
                                          <m:count m:val="2"/>
                                          <m:mcJc m:val="center"/>
                                        </m:mcPr>
                                      </m:mc>
                                    </m:mcs>
                                    <m:ctrlPr>
                                      <a:rPr lang="en-US" sz="2200" i="1">
                                        <a:latin typeface="Cambria Math" panose="02040503050406030204" pitchFamily="18" charset="0"/>
                                      </a:rPr>
                                    </m:ctrlPr>
                                  </m:mPr>
                                  <m:mr>
                                    <m:e>
                                      <m:sSup>
                                        <m:sSupPr>
                                          <m:ctrlPr>
                                            <a:rPr lang="en-US" sz="2200" i="1">
                                              <a:latin typeface="Cambria Math" panose="02040503050406030204" pitchFamily="18" charset="0"/>
                                            </a:rPr>
                                          </m:ctrlPr>
                                        </m:sSupPr>
                                        <m:e>
                                          <m:r>
                                            <a:rPr lang="en-US" sz="2200" i="1">
                                              <a:latin typeface="Cambria Math" panose="02040503050406030204" pitchFamily="18" charset="0"/>
                                            </a:rPr>
                                            <m:t>𝑒</m:t>
                                          </m:r>
                                        </m:e>
                                        <m:sup>
                                          <m:r>
                                            <a:rPr lang="en-US" sz="2200" i="1">
                                              <a:latin typeface="Cambria Math" panose="02040503050406030204" pitchFamily="18" charset="0"/>
                                            </a:rPr>
                                            <m:t>−</m:t>
                                          </m:r>
                                          <m:r>
                                            <a:rPr lang="en-US" sz="2200" i="1">
                                              <a:latin typeface="Cambria Math" panose="02040503050406030204" pitchFamily="18" charset="0"/>
                                            </a:rPr>
                                            <m:t>𝑖</m:t>
                                          </m:r>
                                          <m:f>
                                            <m:fPr>
                                              <m:ctrlPr>
                                                <a:rPr lang="en-US" sz="2200" i="1">
                                                  <a:latin typeface="Cambria Math" panose="02040503050406030204" pitchFamily="18" charset="0"/>
                                                </a:rPr>
                                              </m:ctrlPr>
                                            </m:fPr>
                                            <m:num>
                                              <m:r>
                                                <a:rPr lang="en-US" sz="2200" i="1">
                                                  <a:latin typeface="Cambria Math" panose="02040503050406030204" pitchFamily="18" charset="0"/>
                                                </a:rPr>
                                                <m:t>𝜃</m:t>
                                              </m:r>
                                            </m:num>
                                            <m:den>
                                              <m:r>
                                                <a:rPr lang="en-US" sz="2200">
                                                  <a:latin typeface="Cambria Math" panose="02040503050406030204" pitchFamily="18" charset="0"/>
                                                </a:rPr>
                                                <m:t>2</m:t>
                                              </m:r>
                                            </m:den>
                                          </m:f>
                                        </m:sup>
                                      </m:sSup>
                                    </m:e>
                                    <m:e>
                                      <m:r>
                                        <a:rPr lang="en-US" sz="2200" b="0" i="1" smtClean="0">
                                          <a:latin typeface="Cambria Math" panose="02040503050406030204" pitchFamily="18" charset="0"/>
                                        </a:rPr>
                                        <m:t>0</m:t>
                                      </m:r>
                                    </m:e>
                                  </m:mr>
                                  <m:mr>
                                    <m:e>
                                      <m:r>
                                        <a:rPr lang="en-US" sz="2200" b="0" i="1" smtClean="0">
                                          <a:latin typeface="Cambria Math" panose="02040503050406030204" pitchFamily="18" charset="0"/>
                                        </a:rPr>
                                        <m:t>0</m:t>
                                      </m:r>
                                    </m:e>
                                    <m:e>
                                      <m:sSup>
                                        <m:sSupPr>
                                          <m:ctrlPr>
                                            <a:rPr lang="en-US" sz="2200" i="1">
                                              <a:latin typeface="Cambria Math" panose="02040503050406030204" pitchFamily="18" charset="0"/>
                                            </a:rPr>
                                          </m:ctrlPr>
                                        </m:sSupPr>
                                        <m:e>
                                          <m:r>
                                            <a:rPr lang="en-US" sz="2200" i="1">
                                              <a:latin typeface="Cambria Math" panose="02040503050406030204" pitchFamily="18" charset="0"/>
                                            </a:rPr>
                                            <m:t>𝑒</m:t>
                                          </m:r>
                                        </m:e>
                                        <m:sup>
                                          <m:r>
                                            <a:rPr lang="en-US" sz="2200" i="1">
                                              <a:latin typeface="Cambria Math" panose="02040503050406030204" pitchFamily="18" charset="0"/>
                                            </a:rPr>
                                            <m:t>𝑖</m:t>
                                          </m:r>
                                          <m:f>
                                            <m:fPr>
                                              <m:ctrlPr>
                                                <a:rPr lang="en-US" sz="2200" i="1">
                                                  <a:latin typeface="Cambria Math" panose="02040503050406030204" pitchFamily="18" charset="0"/>
                                                </a:rPr>
                                              </m:ctrlPr>
                                            </m:fPr>
                                            <m:num>
                                              <m:r>
                                                <a:rPr lang="en-US" sz="2200" i="1">
                                                  <a:latin typeface="Cambria Math" panose="02040503050406030204" pitchFamily="18" charset="0"/>
                                                </a:rPr>
                                                <m:t>𝜃</m:t>
                                              </m:r>
                                            </m:num>
                                            <m:den>
                                              <m:r>
                                                <a:rPr lang="en-US" sz="2200">
                                                  <a:latin typeface="Cambria Math" panose="02040503050406030204" pitchFamily="18" charset="0"/>
                                                </a:rPr>
                                                <m:t>2</m:t>
                                              </m:r>
                                            </m:den>
                                          </m:f>
                                        </m:sup>
                                      </m:sSup>
                                    </m:e>
                                  </m:mr>
                                </m:m>
                              </m:e>
                            </m:d>
                          </m:e>
                        </m:mr>
                      </m:m>
                    </m:oMath>
                  </m:oMathPara>
                </a14:m>
                <a:endParaRPr lang="en-US" sz="2200" dirty="0"/>
              </a:p>
            </p:txBody>
          </p:sp>
        </mc:Choice>
        <mc:Fallback xmlns="">
          <p:sp>
            <p:nvSpPr>
              <p:cNvPr id="52" name="Rectangle 51">
                <a:extLst>
                  <a:ext uri="{FF2B5EF4-FFF2-40B4-BE49-F238E27FC236}">
                    <a16:creationId xmlns:a16="http://schemas.microsoft.com/office/drawing/2014/main" id="{F87A1091-5767-244E-972D-F1E13E8B3C4B}"/>
                  </a:ext>
                </a:extLst>
              </p:cNvPr>
              <p:cNvSpPr>
                <a:spLocks noRot="1" noChangeAspect="1" noMove="1" noResize="1" noEditPoints="1" noAdjustHandles="1" noChangeArrowheads="1" noChangeShapeType="1" noTextEdit="1"/>
              </p:cNvSpPr>
              <p:nvPr/>
            </p:nvSpPr>
            <p:spPr>
              <a:xfrm>
                <a:off x="1700776" y="5294374"/>
                <a:ext cx="3481851" cy="1034386"/>
              </a:xfrm>
              <a:prstGeom prst="rect">
                <a:avLst/>
              </a:prstGeom>
              <a:blipFill>
                <a:blip r:embed="rId8"/>
                <a:stretch>
                  <a:fillRect b="-6098"/>
                </a:stretch>
              </a:blipFill>
            </p:spPr>
            <p:txBody>
              <a:bodyPr/>
              <a:lstStyle/>
              <a:p>
                <a:r>
                  <a:rPr lang="en-US">
                    <a:noFill/>
                  </a:rPr>
                  <a:t> </a:t>
                </a:r>
              </a:p>
            </p:txBody>
          </p:sp>
        </mc:Fallback>
      </mc:AlternateContent>
      <p:sp>
        <p:nvSpPr>
          <p:cNvPr id="28" name="Rectangle 27">
            <a:extLst>
              <a:ext uri="{FF2B5EF4-FFF2-40B4-BE49-F238E27FC236}">
                <a16:creationId xmlns:a16="http://schemas.microsoft.com/office/drawing/2014/main" id="{EE883299-E27E-EF4B-904C-EB27ED4E5854}"/>
              </a:ext>
            </a:extLst>
          </p:cNvPr>
          <p:cNvSpPr/>
          <p:nvPr/>
        </p:nvSpPr>
        <p:spPr>
          <a:xfrm>
            <a:off x="9923057" y="2342122"/>
            <a:ext cx="1898634" cy="400110"/>
          </a:xfrm>
          <a:prstGeom prst="rect">
            <a:avLst/>
          </a:prstGeom>
        </p:spPr>
        <p:txBody>
          <a:bodyPr wrap="square">
            <a:spAutoFit/>
          </a:bodyPr>
          <a:lstStyle/>
          <a:p>
            <a:r>
              <a:rPr lang="en-US" sz="2000" dirty="0" err="1">
                <a:latin typeface="AndaleMono" panose="020B0509000000000004" pitchFamily="49" charset="0"/>
              </a:rPr>
              <a:t>rx</a:t>
            </a:r>
            <a:r>
              <a:rPr lang="en-US" sz="2000" dirty="0">
                <a:latin typeface="AndaleMono" panose="020B0509000000000004" pitchFamily="49" charset="0"/>
              </a:rPr>
              <a:t>(t) q[</a:t>
            </a:r>
            <a:r>
              <a:rPr lang="en-US" sz="2000" dirty="0" err="1">
                <a:latin typeface="AndaleMono" panose="020B0509000000000004" pitchFamily="49" charset="0"/>
              </a:rPr>
              <a:t>i</a:t>
            </a:r>
            <a:r>
              <a:rPr lang="en-US" sz="2000" dirty="0">
                <a:latin typeface="AndaleMono" panose="020B0509000000000004" pitchFamily="49" charset="0"/>
              </a:rPr>
              <a:t>]; </a:t>
            </a:r>
            <a:endParaRPr lang="en-US" sz="2000" dirty="0">
              <a:effectLst/>
            </a:endParaRPr>
          </a:p>
        </p:txBody>
      </p:sp>
      <p:sp>
        <p:nvSpPr>
          <p:cNvPr id="57" name="Rectangle 56">
            <a:extLst>
              <a:ext uri="{FF2B5EF4-FFF2-40B4-BE49-F238E27FC236}">
                <a16:creationId xmlns:a16="http://schemas.microsoft.com/office/drawing/2014/main" id="{D793615B-2245-9844-96DF-4A80D6B2D92A}"/>
              </a:ext>
            </a:extLst>
          </p:cNvPr>
          <p:cNvSpPr/>
          <p:nvPr/>
        </p:nvSpPr>
        <p:spPr>
          <a:xfrm>
            <a:off x="9937901" y="4083110"/>
            <a:ext cx="1898634" cy="400110"/>
          </a:xfrm>
          <a:prstGeom prst="rect">
            <a:avLst/>
          </a:prstGeom>
        </p:spPr>
        <p:txBody>
          <a:bodyPr wrap="square">
            <a:spAutoFit/>
          </a:bodyPr>
          <a:lstStyle/>
          <a:p>
            <a:r>
              <a:rPr lang="en-US" sz="2000" dirty="0" err="1">
                <a:latin typeface="AndaleMono" panose="020B0509000000000004" pitchFamily="49" charset="0"/>
              </a:rPr>
              <a:t>ry</a:t>
            </a:r>
            <a:r>
              <a:rPr lang="en-US" sz="2000" dirty="0">
                <a:latin typeface="AndaleMono" panose="020B0509000000000004" pitchFamily="49" charset="0"/>
              </a:rPr>
              <a:t>(t) q[</a:t>
            </a:r>
            <a:r>
              <a:rPr lang="en-US" sz="2000" dirty="0" err="1">
                <a:latin typeface="AndaleMono" panose="020B0509000000000004" pitchFamily="49" charset="0"/>
              </a:rPr>
              <a:t>i</a:t>
            </a:r>
            <a:r>
              <a:rPr lang="en-US" sz="2000" dirty="0">
                <a:latin typeface="AndaleMono" panose="020B0509000000000004" pitchFamily="49" charset="0"/>
              </a:rPr>
              <a:t>]; </a:t>
            </a:r>
            <a:endParaRPr lang="en-US" sz="2000" dirty="0">
              <a:effectLst/>
            </a:endParaRPr>
          </a:p>
        </p:txBody>
      </p:sp>
      <p:sp>
        <p:nvSpPr>
          <p:cNvPr id="58" name="Rectangle 57">
            <a:extLst>
              <a:ext uri="{FF2B5EF4-FFF2-40B4-BE49-F238E27FC236}">
                <a16:creationId xmlns:a16="http://schemas.microsoft.com/office/drawing/2014/main" id="{CCE4FE1F-019C-7E43-A376-EFF496C1D42B}"/>
              </a:ext>
            </a:extLst>
          </p:cNvPr>
          <p:cNvSpPr/>
          <p:nvPr/>
        </p:nvSpPr>
        <p:spPr>
          <a:xfrm>
            <a:off x="9889921" y="5848014"/>
            <a:ext cx="1898634" cy="400110"/>
          </a:xfrm>
          <a:prstGeom prst="rect">
            <a:avLst/>
          </a:prstGeom>
        </p:spPr>
        <p:txBody>
          <a:bodyPr wrap="square">
            <a:spAutoFit/>
          </a:bodyPr>
          <a:lstStyle/>
          <a:p>
            <a:r>
              <a:rPr lang="en-US" sz="2000" dirty="0" err="1">
                <a:latin typeface="AndaleMono" panose="020B0509000000000004" pitchFamily="49" charset="0"/>
              </a:rPr>
              <a:t>rz</a:t>
            </a:r>
            <a:r>
              <a:rPr lang="en-US" sz="2000" dirty="0">
                <a:latin typeface="AndaleMono" panose="020B0509000000000004" pitchFamily="49" charset="0"/>
              </a:rPr>
              <a:t>(t) q[</a:t>
            </a:r>
            <a:r>
              <a:rPr lang="en-US" sz="2000" dirty="0" err="1">
                <a:latin typeface="AndaleMono" panose="020B0509000000000004" pitchFamily="49" charset="0"/>
              </a:rPr>
              <a:t>i</a:t>
            </a:r>
            <a:r>
              <a:rPr lang="en-US" sz="2000" dirty="0">
                <a:latin typeface="AndaleMono" panose="020B0509000000000004" pitchFamily="49" charset="0"/>
              </a:rPr>
              <a:t>]; </a:t>
            </a:r>
            <a:endParaRPr lang="en-US" sz="2000" dirty="0">
              <a:effectLst/>
            </a:endParaRPr>
          </a:p>
        </p:txBody>
      </p:sp>
      <p:sp>
        <p:nvSpPr>
          <p:cNvPr id="32" name="TextBox 31">
            <a:extLst>
              <a:ext uri="{FF2B5EF4-FFF2-40B4-BE49-F238E27FC236}">
                <a16:creationId xmlns:a16="http://schemas.microsoft.com/office/drawing/2014/main" id="{063FFF8A-2435-B146-8812-4F19BB5B8688}"/>
              </a:ext>
            </a:extLst>
          </p:cNvPr>
          <p:cNvSpPr txBox="1"/>
          <p:nvPr/>
        </p:nvSpPr>
        <p:spPr>
          <a:xfrm>
            <a:off x="6425048" y="3857759"/>
            <a:ext cx="3512853" cy="830997"/>
          </a:xfrm>
          <a:prstGeom prst="rect">
            <a:avLst/>
          </a:prstGeom>
          <a:noFill/>
        </p:spPr>
        <p:txBody>
          <a:bodyPr wrap="square" rtlCol="0">
            <a:spAutoFit/>
          </a:bodyPr>
          <a:lstStyle/>
          <a:p>
            <a:r>
              <a:rPr lang="en-ZA" sz="2400" dirty="0">
                <a:latin typeface="+mj-lt"/>
              </a:rPr>
              <a:t>Rotation </a:t>
            </a:r>
            <a:r>
              <a:rPr lang="en-ZA" sz="2400" dirty="0"/>
              <a:t>about</a:t>
            </a:r>
            <a:r>
              <a:rPr lang="en-ZA" sz="2400" dirty="0">
                <a:latin typeface="+mj-lt"/>
              </a:rPr>
              <a:t> the y</a:t>
            </a:r>
            <a:r>
              <a:rPr lang="en-US" sz="2400" dirty="0">
                <a:latin typeface="+mj-lt"/>
              </a:rPr>
              <a:t> </a:t>
            </a:r>
            <a:r>
              <a:rPr lang="en-ZA" sz="2400" dirty="0">
                <a:latin typeface="+mj-lt"/>
              </a:rPr>
              <a:t>-axis for a given angle</a:t>
            </a:r>
            <a:r>
              <a:rPr lang="en-ZA" sz="2400" dirty="0"/>
              <a:t>.</a:t>
            </a:r>
            <a:endParaRPr lang="en-US" sz="2400" dirty="0">
              <a:effectLst/>
              <a:latin typeface="+mj-lt"/>
            </a:endParaRPr>
          </a:p>
        </p:txBody>
      </p:sp>
      <p:sp>
        <p:nvSpPr>
          <p:cNvPr id="33" name="TextBox 32">
            <a:extLst>
              <a:ext uri="{FF2B5EF4-FFF2-40B4-BE49-F238E27FC236}">
                <a16:creationId xmlns:a16="http://schemas.microsoft.com/office/drawing/2014/main" id="{7843C7F9-9080-9245-820A-7F6D8AD00350}"/>
              </a:ext>
            </a:extLst>
          </p:cNvPr>
          <p:cNvSpPr txBox="1"/>
          <p:nvPr/>
        </p:nvSpPr>
        <p:spPr>
          <a:xfrm>
            <a:off x="6439893" y="5559698"/>
            <a:ext cx="3512853" cy="830997"/>
          </a:xfrm>
          <a:prstGeom prst="rect">
            <a:avLst/>
          </a:prstGeom>
          <a:noFill/>
        </p:spPr>
        <p:txBody>
          <a:bodyPr wrap="square" rtlCol="0">
            <a:spAutoFit/>
          </a:bodyPr>
          <a:lstStyle/>
          <a:p>
            <a:r>
              <a:rPr lang="en-ZA" sz="2400" dirty="0">
                <a:latin typeface="+mj-lt"/>
              </a:rPr>
              <a:t>Rotation </a:t>
            </a:r>
            <a:r>
              <a:rPr lang="en-ZA" sz="2400" dirty="0"/>
              <a:t>about</a:t>
            </a:r>
            <a:r>
              <a:rPr lang="en-ZA" sz="2400" dirty="0">
                <a:latin typeface="+mj-lt"/>
              </a:rPr>
              <a:t> the </a:t>
            </a:r>
            <a:r>
              <a:rPr lang="en-US" sz="2400" dirty="0">
                <a:latin typeface="+mj-lt"/>
              </a:rPr>
              <a:t>z </a:t>
            </a:r>
            <a:r>
              <a:rPr lang="en-ZA" sz="2400" dirty="0">
                <a:latin typeface="+mj-lt"/>
              </a:rPr>
              <a:t>-axis for a given angle.</a:t>
            </a:r>
            <a:endParaRPr lang="en-US" sz="2400" dirty="0">
              <a:latin typeface="+mj-lt"/>
            </a:endParaRPr>
          </a:p>
        </p:txBody>
      </p:sp>
      <p:sp>
        <p:nvSpPr>
          <p:cNvPr id="29" name="TextBox 28">
            <a:extLst>
              <a:ext uri="{FF2B5EF4-FFF2-40B4-BE49-F238E27FC236}">
                <a16:creationId xmlns:a16="http://schemas.microsoft.com/office/drawing/2014/main" id="{D87E1B0C-D386-004A-9265-9465CA8D3248}"/>
              </a:ext>
            </a:extLst>
          </p:cNvPr>
          <p:cNvSpPr txBox="1"/>
          <p:nvPr/>
        </p:nvSpPr>
        <p:spPr>
          <a:xfrm>
            <a:off x="669448" y="1230477"/>
            <a:ext cx="1065100" cy="461665"/>
          </a:xfrm>
          <a:prstGeom prst="rect">
            <a:avLst/>
          </a:prstGeom>
          <a:noFill/>
        </p:spPr>
        <p:txBody>
          <a:bodyPr wrap="none" rtlCol="0">
            <a:spAutoFit/>
          </a:bodyPr>
          <a:lstStyle/>
          <a:p>
            <a:r>
              <a:rPr lang="en-US" sz="2400" dirty="0">
                <a:latin typeface="+mj-lt"/>
              </a:rPr>
              <a:t>symbol</a:t>
            </a:r>
          </a:p>
        </p:txBody>
      </p:sp>
      <p:sp>
        <p:nvSpPr>
          <p:cNvPr id="30" name="TextBox 29">
            <a:extLst>
              <a:ext uri="{FF2B5EF4-FFF2-40B4-BE49-F238E27FC236}">
                <a16:creationId xmlns:a16="http://schemas.microsoft.com/office/drawing/2014/main" id="{AF93E924-3123-9C4C-A386-1F77E6C3BA3E}"/>
              </a:ext>
            </a:extLst>
          </p:cNvPr>
          <p:cNvSpPr txBox="1"/>
          <p:nvPr/>
        </p:nvSpPr>
        <p:spPr>
          <a:xfrm>
            <a:off x="3243782" y="1230477"/>
            <a:ext cx="1262653" cy="461665"/>
          </a:xfrm>
          <a:prstGeom prst="rect">
            <a:avLst/>
          </a:prstGeom>
          <a:noFill/>
        </p:spPr>
        <p:txBody>
          <a:bodyPr wrap="none" rtlCol="0">
            <a:spAutoFit/>
          </a:bodyPr>
          <a:lstStyle/>
          <a:p>
            <a:r>
              <a:rPr lang="en-US" sz="2400" dirty="0">
                <a:latin typeface="+mj-lt"/>
              </a:rPr>
              <a:t>operator</a:t>
            </a:r>
          </a:p>
        </p:txBody>
      </p:sp>
      <p:sp>
        <p:nvSpPr>
          <p:cNvPr id="31" name="TextBox 30">
            <a:extLst>
              <a:ext uri="{FF2B5EF4-FFF2-40B4-BE49-F238E27FC236}">
                <a16:creationId xmlns:a16="http://schemas.microsoft.com/office/drawing/2014/main" id="{13E1257B-1A68-4F46-B02F-D642E19C85A3}"/>
              </a:ext>
            </a:extLst>
          </p:cNvPr>
          <p:cNvSpPr txBox="1"/>
          <p:nvPr/>
        </p:nvSpPr>
        <p:spPr>
          <a:xfrm>
            <a:off x="7205505" y="1230477"/>
            <a:ext cx="1568186" cy="461665"/>
          </a:xfrm>
          <a:prstGeom prst="rect">
            <a:avLst/>
          </a:prstGeom>
          <a:noFill/>
        </p:spPr>
        <p:txBody>
          <a:bodyPr wrap="none" rtlCol="0">
            <a:spAutoFit/>
          </a:bodyPr>
          <a:lstStyle/>
          <a:p>
            <a:r>
              <a:rPr lang="en-US" sz="2400" dirty="0">
                <a:latin typeface="+mj-lt"/>
              </a:rPr>
              <a:t>description</a:t>
            </a:r>
          </a:p>
        </p:txBody>
      </p:sp>
      <p:sp>
        <p:nvSpPr>
          <p:cNvPr id="34" name="TextBox 33">
            <a:extLst>
              <a:ext uri="{FF2B5EF4-FFF2-40B4-BE49-F238E27FC236}">
                <a16:creationId xmlns:a16="http://schemas.microsoft.com/office/drawing/2014/main" id="{9283E936-791D-984C-B8C6-30B95B06940B}"/>
              </a:ext>
            </a:extLst>
          </p:cNvPr>
          <p:cNvSpPr txBox="1"/>
          <p:nvPr/>
        </p:nvSpPr>
        <p:spPr>
          <a:xfrm>
            <a:off x="10322760" y="1230477"/>
            <a:ext cx="962123" cy="461665"/>
          </a:xfrm>
          <a:prstGeom prst="rect">
            <a:avLst/>
          </a:prstGeom>
          <a:noFill/>
        </p:spPr>
        <p:txBody>
          <a:bodyPr wrap="none" rtlCol="0">
            <a:spAutoFit/>
          </a:bodyPr>
          <a:lstStyle/>
          <a:p>
            <a:r>
              <a:rPr lang="en-US" sz="2400" dirty="0">
                <a:latin typeface="+mj-lt"/>
              </a:rPr>
              <a:t>QASM</a:t>
            </a:r>
          </a:p>
        </p:txBody>
      </p:sp>
      <p:sp>
        <p:nvSpPr>
          <p:cNvPr id="6" name="Rectangle 5">
            <a:extLst>
              <a:ext uri="{FF2B5EF4-FFF2-40B4-BE49-F238E27FC236}">
                <a16:creationId xmlns:a16="http://schemas.microsoft.com/office/drawing/2014/main" id="{42B330FB-1D97-3D45-B153-EB4CFA0AE97C}"/>
              </a:ext>
            </a:extLst>
          </p:cNvPr>
          <p:cNvSpPr/>
          <p:nvPr/>
        </p:nvSpPr>
        <p:spPr>
          <a:xfrm>
            <a:off x="787416" y="2182177"/>
            <a:ext cx="720000" cy="720000"/>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RX</a:t>
            </a:r>
          </a:p>
        </p:txBody>
      </p:sp>
      <p:sp>
        <p:nvSpPr>
          <p:cNvPr id="35" name="Rectangle 34">
            <a:extLst>
              <a:ext uri="{FF2B5EF4-FFF2-40B4-BE49-F238E27FC236}">
                <a16:creationId xmlns:a16="http://schemas.microsoft.com/office/drawing/2014/main" id="{69D5B6B1-AE3F-4148-8EBC-DDE4AFF91679}"/>
              </a:ext>
            </a:extLst>
          </p:cNvPr>
          <p:cNvSpPr/>
          <p:nvPr/>
        </p:nvSpPr>
        <p:spPr>
          <a:xfrm>
            <a:off x="787416" y="3923165"/>
            <a:ext cx="720000" cy="720000"/>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RY</a:t>
            </a:r>
          </a:p>
        </p:txBody>
      </p:sp>
      <p:sp>
        <p:nvSpPr>
          <p:cNvPr id="38" name="Rectangle 37">
            <a:extLst>
              <a:ext uri="{FF2B5EF4-FFF2-40B4-BE49-F238E27FC236}">
                <a16:creationId xmlns:a16="http://schemas.microsoft.com/office/drawing/2014/main" id="{1B4DFD93-6F02-184D-9819-6B8E85B0FF11}"/>
              </a:ext>
            </a:extLst>
          </p:cNvPr>
          <p:cNvSpPr/>
          <p:nvPr/>
        </p:nvSpPr>
        <p:spPr>
          <a:xfrm>
            <a:off x="787416" y="5485414"/>
            <a:ext cx="720000" cy="720000"/>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RZ</a:t>
            </a:r>
          </a:p>
        </p:txBody>
      </p:sp>
    </p:spTree>
    <p:extLst>
      <p:ext uri="{BB962C8B-B14F-4D97-AF65-F5344CB8AC3E}">
        <p14:creationId xmlns:p14="http://schemas.microsoft.com/office/powerpoint/2010/main" val="42063207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0421EF-0CFB-4344-9416-740D865FB91A}"/>
              </a:ext>
            </a:extLst>
          </p:cNvPr>
          <p:cNvSpPr>
            <a:spLocks noGrp="1"/>
          </p:cNvSpPr>
          <p:nvPr>
            <p:ph type="title"/>
          </p:nvPr>
        </p:nvSpPr>
        <p:spPr>
          <a:xfrm>
            <a:off x="0" y="0"/>
            <a:ext cx="12192000" cy="928688"/>
          </a:xfrm>
        </p:spPr>
        <p:txBody>
          <a:bodyPr/>
          <a:lstStyle/>
          <a:p>
            <a:r>
              <a:rPr lang="en-ZA" dirty="0"/>
              <a:t>Phase Shift Gates</a:t>
            </a:r>
            <a:endParaRPr lang="en-US" dirty="0"/>
          </a:p>
        </p:txBody>
      </p:sp>
      <p:sp>
        <p:nvSpPr>
          <p:cNvPr id="3" name="Slide Number Placeholder 2">
            <a:extLst>
              <a:ext uri="{FF2B5EF4-FFF2-40B4-BE49-F238E27FC236}">
                <a16:creationId xmlns:a16="http://schemas.microsoft.com/office/drawing/2014/main" id="{4E90C396-B53A-744D-B694-4BB8F64CC197}"/>
              </a:ext>
            </a:extLst>
          </p:cNvPr>
          <p:cNvSpPr>
            <a:spLocks noGrp="1"/>
          </p:cNvSpPr>
          <p:nvPr>
            <p:ph type="sldNum" sz="quarter" idx="12"/>
          </p:nvPr>
        </p:nvSpPr>
        <p:spPr>
          <a:xfrm>
            <a:off x="9448800" y="6492875"/>
            <a:ext cx="2743200" cy="365125"/>
          </a:xfrm>
        </p:spPr>
        <p:txBody>
          <a:bodyPr/>
          <a:lstStyle/>
          <a:p>
            <a:fld id="{591A223C-FA10-BC46-A853-03BA373D023C}" type="slidenum">
              <a:rPr lang="en-US" smtClean="0"/>
              <a:t>25</a:t>
            </a:fld>
            <a:endParaRPr lang="en-US"/>
          </a:p>
        </p:txBody>
      </p:sp>
      <p:pic>
        <p:nvPicPr>
          <p:cNvPr id="5" name="Picture 4">
            <a:extLst>
              <a:ext uri="{FF2B5EF4-FFF2-40B4-BE49-F238E27FC236}">
                <a16:creationId xmlns:a16="http://schemas.microsoft.com/office/drawing/2014/main" id="{C5F7249C-0BAB-A241-863E-D32720A21371}"/>
              </a:ext>
            </a:extLst>
          </p:cNvPr>
          <p:cNvPicPr>
            <a:picLocks noChangeAspect="1"/>
          </p:cNvPicPr>
          <p:nvPr/>
        </p:nvPicPr>
        <p:blipFill>
          <a:blip r:embed="rId3"/>
          <a:stretch>
            <a:fillRect/>
          </a:stretch>
        </p:blipFill>
        <p:spPr>
          <a:xfrm>
            <a:off x="370417" y="1660184"/>
            <a:ext cx="3016250" cy="3330829"/>
          </a:xfrm>
          <a:prstGeom prst="rect">
            <a:avLst/>
          </a:prstGeom>
        </p:spPr>
      </p:pic>
      <p:sp>
        <p:nvSpPr>
          <p:cNvPr id="9" name="Rectangle 8">
            <a:extLst>
              <a:ext uri="{FF2B5EF4-FFF2-40B4-BE49-F238E27FC236}">
                <a16:creationId xmlns:a16="http://schemas.microsoft.com/office/drawing/2014/main" id="{CD503A8C-0D34-6441-BCAD-A99A42C5F410}"/>
              </a:ext>
            </a:extLst>
          </p:cNvPr>
          <p:cNvSpPr/>
          <p:nvPr/>
        </p:nvSpPr>
        <p:spPr>
          <a:xfrm>
            <a:off x="2808452" y="4568640"/>
            <a:ext cx="540000" cy="540000"/>
          </a:xfrm>
          <a:prstGeom prst="rect">
            <a:avLst/>
          </a:prstGeom>
          <a:solidFill>
            <a:srgbClr val="33B1F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Times" pitchFamily="2" charset="0"/>
              </a:rPr>
              <a:t>P</a:t>
            </a:r>
          </a:p>
        </p:txBody>
      </p:sp>
      <p:grpSp>
        <p:nvGrpSpPr>
          <p:cNvPr id="6" name="Group 5">
            <a:extLst>
              <a:ext uri="{FF2B5EF4-FFF2-40B4-BE49-F238E27FC236}">
                <a16:creationId xmlns:a16="http://schemas.microsoft.com/office/drawing/2014/main" id="{C1FC4CF0-D8F4-1741-A54F-021FE8643DD9}"/>
              </a:ext>
            </a:extLst>
          </p:cNvPr>
          <p:cNvGrpSpPr/>
          <p:nvPr/>
        </p:nvGrpSpPr>
        <p:grpSpPr>
          <a:xfrm>
            <a:off x="5510034" y="1120250"/>
            <a:ext cx="5669865" cy="4410695"/>
            <a:chOff x="5510034" y="1120250"/>
            <a:chExt cx="5669865" cy="4410695"/>
          </a:xfrm>
        </p:grpSpPr>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8A00DDDA-6D5E-E740-B8C8-B875ACB9E74B}"/>
                    </a:ext>
                  </a:extLst>
                </p:cNvPr>
                <p:cNvSpPr/>
                <p:nvPr/>
              </p:nvSpPr>
              <p:spPr>
                <a:xfrm>
                  <a:off x="5510034" y="1120250"/>
                  <a:ext cx="5091650" cy="441069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i="1" smtClean="0">
                                <a:latin typeface="Cambria Math" panose="02040503050406030204" pitchFamily="18" charset="0"/>
                              </a:rPr>
                            </m:ctrlPr>
                          </m:dPr>
                          <m:e>
                            <m:m>
                              <m:mPr>
                                <m:mcs>
                                  <m:mc>
                                    <m:mcPr>
                                      <m:count m:val="3"/>
                                      <m:mcJc m:val="center"/>
                                    </m:mcPr>
                                  </m:mc>
                                </m:mcs>
                                <m:ctrlPr>
                                  <a:rPr lang="en-US" sz="2800" b="0" i="1" smtClean="0">
                                    <a:latin typeface="Cambria Math" panose="02040503050406030204" pitchFamily="18" charset="0"/>
                                  </a:rPr>
                                </m:ctrlPr>
                              </m:mPr>
                              <m:mr>
                                <m:e>
                                  <m:r>
                                    <m:rPr>
                                      <m:brk m:alnAt="7"/>
                                    </m:rPr>
                                    <a:rPr lang="en-US" sz="2800" b="0" i="1" smtClean="0">
                                      <a:latin typeface="Cambria Math" panose="02040503050406030204" pitchFamily="18" charset="0"/>
                                    </a:rPr>
                                    <m:t>𝑍</m:t>
                                  </m:r>
                                  <m:r>
                                    <a:rPr lang="en-US" sz="2800" b="0" i="1" smtClean="0">
                                      <a:latin typeface="Cambria Math" panose="02040503050406030204" pitchFamily="18" charset="0"/>
                                    </a:rPr>
                                    <m:t>=</m:t>
                                  </m:r>
                                  <m:r>
                                    <a:rPr lang="en-US" sz="2800" i="1">
                                      <a:latin typeface="Cambria Math" panose="02040503050406030204" pitchFamily="18" charset="0"/>
                                    </a:rPr>
                                    <m:t>𝑃</m:t>
                                  </m:r>
                                  <m:d>
                                    <m:dPr>
                                      <m:ctrlPr>
                                        <a:rPr lang="en-US" sz="2800" i="1">
                                          <a:latin typeface="Cambria Math" panose="02040503050406030204" pitchFamily="18" charset="0"/>
                                        </a:rPr>
                                      </m:ctrlPr>
                                    </m:dPr>
                                    <m:e>
                                      <m:r>
                                        <a:rPr lang="en-US" sz="2800" i="1">
                                          <a:latin typeface="Cambria Math" panose="02040503050406030204" pitchFamily="18" charset="0"/>
                                        </a:rPr>
                                        <m:t>𝜋</m:t>
                                      </m:r>
                                    </m:e>
                                  </m:d>
                                </m:e>
                                <m:e>
                                  <m:r>
                                    <a:rPr lang="en-US" sz="2800" b="0" i="1" smtClean="0">
                                      <a:latin typeface="Cambria Math" panose="02040503050406030204" pitchFamily="18" charset="0"/>
                                    </a:rPr>
                                    <m:t>=</m:t>
                                  </m:r>
                                </m:e>
                                <m:e>
                                  <m:d>
                                    <m:dPr>
                                      <m:ctrlPr>
                                        <a:rPr lang="en-US" sz="2800" i="1">
                                          <a:latin typeface="Cambria Math" panose="02040503050406030204" pitchFamily="18" charset="0"/>
                                        </a:rPr>
                                      </m:ctrlPr>
                                    </m:dPr>
                                    <m:e>
                                      <m:m>
                                        <m:mPr>
                                          <m:plcHide m:val="on"/>
                                          <m:mcs>
                                            <m:mc>
                                              <m:mcPr>
                                                <m:count m:val="2"/>
                                                <m:mcJc m:val="center"/>
                                              </m:mcPr>
                                            </m:mc>
                                          </m:mcs>
                                          <m:ctrlPr>
                                            <a:rPr lang="en-US" sz="2800" i="1">
                                              <a:latin typeface="Cambria Math" panose="02040503050406030204" pitchFamily="18" charset="0"/>
                                            </a:rPr>
                                          </m:ctrlPr>
                                        </m:mPr>
                                        <m:mr>
                                          <m:e>
                                            <m:r>
                                              <a:rPr lang="en-US" sz="2800">
                                                <a:latin typeface="Cambria Math" panose="02040503050406030204" pitchFamily="18" charset="0"/>
                                              </a:rPr>
                                              <m:t>1</m:t>
                                            </m:r>
                                          </m:e>
                                          <m:e>
                                            <m:r>
                                              <a:rPr lang="en-US" sz="2800">
                                                <a:latin typeface="Cambria Math" panose="02040503050406030204" pitchFamily="18" charset="0"/>
                                              </a:rPr>
                                              <m:t>0</m:t>
                                            </m:r>
                                          </m:e>
                                        </m:mr>
                                        <m:mr>
                                          <m:e>
                                            <m:r>
                                              <a:rPr lang="en-US" sz="2800">
                                                <a:latin typeface="Cambria Math" panose="02040503050406030204" pitchFamily="18" charset="0"/>
                                              </a:rPr>
                                              <m:t>0</m:t>
                                            </m:r>
                                          </m:e>
                                          <m:e>
                                            <m:r>
                                              <a:rPr lang="en-US" sz="2800">
                                                <a:latin typeface="Cambria Math" panose="02040503050406030204" pitchFamily="18" charset="0"/>
                                              </a:rPr>
                                              <m:t>−1</m:t>
                                            </m:r>
                                          </m:e>
                                        </m:mr>
                                      </m:m>
                                    </m:e>
                                  </m:d>
                                </m:e>
                              </m:mr>
                              <m:mr>
                                <m:e>
                                  <m:r>
                                    <a:rPr lang="en-US" sz="2800" b="0" i="1" smtClean="0">
                                      <a:latin typeface="Cambria Math" panose="02040503050406030204" pitchFamily="18" charset="0"/>
                                    </a:rPr>
                                    <m:t>𝑆</m:t>
                                  </m:r>
                                  <m:r>
                                    <a:rPr lang="en-US" sz="2800" i="1">
                                      <a:latin typeface="Cambria Math" panose="02040503050406030204" pitchFamily="18" charset="0"/>
                                    </a:rPr>
                                    <m:t>=</m:t>
                                  </m:r>
                                  <m:r>
                                    <a:rPr lang="en-US" sz="2800" i="1">
                                      <a:latin typeface="Cambria Math" panose="02040503050406030204" pitchFamily="18" charset="0"/>
                                    </a:rPr>
                                    <m:t>𝑃</m:t>
                                  </m:r>
                                  <m:d>
                                    <m:dPr>
                                      <m:ctrlPr>
                                        <a:rPr lang="en-US" sz="2800" i="1">
                                          <a:latin typeface="Cambria Math" panose="02040503050406030204" pitchFamily="18" charset="0"/>
                                        </a:rPr>
                                      </m:ctrlPr>
                                    </m:dPr>
                                    <m:e>
                                      <m:f>
                                        <m:fPr>
                                          <m:ctrlPr>
                                            <a:rPr lang="en-US" sz="2800" i="1" smtClean="0">
                                              <a:latin typeface="Cambria Math" panose="02040503050406030204" pitchFamily="18" charset="0"/>
                                            </a:rPr>
                                          </m:ctrlPr>
                                        </m:fPr>
                                        <m:num>
                                          <m:r>
                                            <a:rPr lang="en-US" sz="2800" i="1">
                                              <a:latin typeface="Cambria Math" panose="02040503050406030204" pitchFamily="18" charset="0"/>
                                            </a:rPr>
                                            <m:t>𝜋</m:t>
                                          </m:r>
                                        </m:num>
                                        <m:den>
                                          <m:r>
                                            <a:rPr lang="en-US" sz="2800" b="0" i="1" smtClean="0">
                                              <a:latin typeface="Cambria Math" panose="02040503050406030204" pitchFamily="18" charset="0"/>
                                            </a:rPr>
                                            <m:t>2</m:t>
                                          </m:r>
                                        </m:den>
                                      </m:f>
                                    </m:e>
                                  </m:d>
                                </m:e>
                                <m:e>
                                  <m:r>
                                    <a:rPr lang="en-US" sz="2800" b="0" i="1" smtClean="0">
                                      <a:latin typeface="Cambria Math" panose="02040503050406030204" pitchFamily="18" charset="0"/>
                                    </a:rPr>
                                    <m:t>=</m:t>
                                  </m:r>
                                </m:e>
                                <m:e>
                                  <m:d>
                                    <m:dPr>
                                      <m:ctrlPr>
                                        <a:rPr lang="en-US" sz="2800" i="1">
                                          <a:latin typeface="Cambria Math" panose="02040503050406030204" pitchFamily="18" charset="0"/>
                                        </a:rPr>
                                      </m:ctrlPr>
                                    </m:dPr>
                                    <m:e>
                                      <m:m>
                                        <m:mPr>
                                          <m:plcHide m:val="on"/>
                                          <m:mcs>
                                            <m:mc>
                                              <m:mcPr>
                                                <m:count m:val="2"/>
                                                <m:mcJc m:val="center"/>
                                              </m:mcPr>
                                            </m:mc>
                                          </m:mcs>
                                          <m:ctrlPr>
                                            <a:rPr lang="en-US" sz="2800" i="1">
                                              <a:latin typeface="Cambria Math" panose="02040503050406030204" pitchFamily="18" charset="0"/>
                                            </a:rPr>
                                          </m:ctrlPr>
                                        </m:mPr>
                                        <m:mr>
                                          <m:e>
                                            <m:r>
                                              <a:rPr lang="en-US" sz="2800">
                                                <a:latin typeface="Cambria Math" panose="02040503050406030204" pitchFamily="18" charset="0"/>
                                              </a:rPr>
                                              <m:t>1</m:t>
                                            </m:r>
                                          </m:e>
                                          <m:e>
                                            <m:r>
                                              <a:rPr lang="en-US" sz="2800">
                                                <a:latin typeface="Cambria Math" panose="02040503050406030204" pitchFamily="18" charset="0"/>
                                              </a:rPr>
                                              <m:t>0</m:t>
                                            </m:r>
                                          </m:e>
                                        </m:mr>
                                        <m:mr>
                                          <m:e>
                                            <m:r>
                                              <a:rPr lang="en-US" sz="2800">
                                                <a:latin typeface="Cambria Math" panose="02040503050406030204" pitchFamily="18" charset="0"/>
                                              </a:rPr>
                                              <m:t>0</m:t>
                                            </m:r>
                                          </m:e>
                                          <m:e>
                                            <m:r>
                                              <a:rPr lang="en-US" sz="2800" i="1">
                                                <a:latin typeface="Cambria Math" panose="02040503050406030204" pitchFamily="18" charset="0"/>
                                              </a:rPr>
                                              <m:t>𝑖</m:t>
                                            </m:r>
                                          </m:e>
                                        </m:mr>
                                      </m:m>
                                    </m:e>
                                  </m:d>
                                </m:e>
                              </m:mr>
                              <m:mr>
                                <m:e>
                                  <m:sSup>
                                    <m:sSupPr>
                                      <m:ctrlPr>
                                        <a:rPr lang="en-US" sz="2800" i="1">
                                          <a:latin typeface="Cambria Math" panose="02040503050406030204" pitchFamily="18" charset="0"/>
                                        </a:rPr>
                                      </m:ctrlPr>
                                    </m:sSupPr>
                                    <m:e>
                                      <m:r>
                                        <a:rPr lang="en-US" sz="2800" i="1">
                                          <a:latin typeface="Cambria Math" panose="02040503050406030204" pitchFamily="18" charset="0"/>
                                        </a:rPr>
                                        <m:t>𝑆</m:t>
                                      </m:r>
                                    </m:e>
                                    <m:sup>
                                      <m:r>
                                        <a:rPr lang="en-US" sz="2800">
                                          <a:latin typeface="Cambria Math" panose="02040503050406030204" pitchFamily="18" charset="0"/>
                                        </a:rPr>
                                        <m:t>†</m:t>
                                      </m:r>
                                    </m:sup>
                                  </m:sSup>
                                  <m:r>
                                    <a:rPr lang="en-US" sz="2800" i="1">
                                      <a:latin typeface="Cambria Math" panose="02040503050406030204" pitchFamily="18" charset="0"/>
                                    </a:rPr>
                                    <m:t>=</m:t>
                                  </m:r>
                                  <m:r>
                                    <a:rPr lang="en-US" sz="2800" i="1">
                                      <a:latin typeface="Cambria Math" panose="02040503050406030204" pitchFamily="18" charset="0"/>
                                    </a:rPr>
                                    <m:t>𝑃</m:t>
                                  </m:r>
                                  <m:d>
                                    <m:dPr>
                                      <m:ctrlPr>
                                        <a:rPr lang="en-US" sz="2800" i="1">
                                          <a:latin typeface="Cambria Math" panose="02040503050406030204" pitchFamily="18" charset="0"/>
                                        </a:rPr>
                                      </m:ctrlPr>
                                    </m:dPr>
                                    <m:e>
                                      <m:f>
                                        <m:fPr>
                                          <m:ctrlPr>
                                            <a:rPr lang="en-US" sz="2800" i="1">
                                              <a:latin typeface="Cambria Math" panose="02040503050406030204" pitchFamily="18" charset="0"/>
                                            </a:rPr>
                                          </m:ctrlPr>
                                        </m:fPr>
                                        <m:num>
                                          <m:r>
                                            <a:rPr lang="en-US" sz="2800" b="0" i="1" smtClean="0">
                                              <a:latin typeface="Cambria Math" panose="02040503050406030204" pitchFamily="18" charset="0"/>
                                            </a:rPr>
                                            <m:t>−</m:t>
                                          </m:r>
                                          <m:r>
                                            <a:rPr lang="en-US" sz="2800" i="1">
                                              <a:latin typeface="Cambria Math" panose="02040503050406030204" pitchFamily="18" charset="0"/>
                                            </a:rPr>
                                            <m:t>𝜋</m:t>
                                          </m:r>
                                        </m:num>
                                        <m:den>
                                          <m:r>
                                            <a:rPr lang="en-US" sz="2800" i="1">
                                              <a:latin typeface="Cambria Math" panose="02040503050406030204" pitchFamily="18" charset="0"/>
                                            </a:rPr>
                                            <m:t>2</m:t>
                                          </m:r>
                                        </m:den>
                                      </m:f>
                                    </m:e>
                                  </m:d>
                                </m:e>
                                <m:e>
                                  <m:r>
                                    <a:rPr lang="en-US" sz="2800" b="0" i="1" smtClean="0">
                                      <a:latin typeface="Cambria Math" panose="02040503050406030204" pitchFamily="18" charset="0"/>
                                    </a:rPr>
                                    <m:t>=</m:t>
                                  </m:r>
                                </m:e>
                                <m:e>
                                  <m:d>
                                    <m:dPr>
                                      <m:ctrlPr>
                                        <a:rPr lang="en-US" sz="2800" i="1">
                                          <a:latin typeface="Cambria Math" panose="02040503050406030204" pitchFamily="18" charset="0"/>
                                        </a:rPr>
                                      </m:ctrlPr>
                                    </m:dPr>
                                    <m:e>
                                      <m:m>
                                        <m:mPr>
                                          <m:plcHide m:val="on"/>
                                          <m:mcs>
                                            <m:mc>
                                              <m:mcPr>
                                                <m:count m:val="2"/>
                                                <m:mcJc m:val="center"/>
                                              </m:mcPr>
                                            </m:mc>
                                          </m:mcs>
                                          <m:ctrlPr>
                                            <a:rPr lang="en-US" sz="2800" i="1">
                                              <a:latin typeface="Cambria Math" panose="02040503050406030204" pitchFamily="18" charset="0"/>
                                            </a:rPr>
                                          </m:ctrlPr>
                                        </m:mPr>
                                        <m:mr>
                                          <m:e>
                                            <m:r>
                                              <a:rPr lang="en-US" sz="2800">
                                                <a:latin typeface="Cambria Math" panose="02040503050406030204" pitchFamily="18" charset="0"/>
                                              </a:rPr>
                                              <m:t>1</m:t>
                                            </m:r>
                                          </m:e>
                                          <m:e>
                                            <m:r>
                                              <a:rPr lang="en-US" sz="2800">
                                                <a:latin typeface="Cambria Math" panose="02040503050406030204" pitchFamily="18" charset="0"/>
                                              </a:rPr>
                                              <m:t>0</m:t>
                                            </m:r>
                                          </m:e>
                                        </m:mr>
                                        <m:mr>
                                          <m:e>
                                            <m:r>
                                              <a:rPr lang="en-US" sz="2800">
                                                <a:latin typeface="Cambria Math" panose="02040503050406030204" pitchFamily="18" charset="0"/>
                                              </a:rPr>
                                              <m:t>0</m:t>
                                            </m:r>
                                          </m:e>
                                          <m:e>
                                            <m:r>
                                              <a:rPr lang="en-US" sz="2800">
                                                <a:latin typeface="Cambria Math" panose="02040503050406030204" pitchFamily="18" charset="0"/>
                                              </a:rPr>
                                              <m:t>−</m:t>
                                            </m:r>
                                            <m:r>
                                              <a:rPr lang="en-US" sz="2800" i="1">
                                                <a:latin typeface="Cambria Math" panose="02040503050406030204" pitchFamily="18" charset="0"/>
                                              </a:rPr>
                                              <m:t>𝑖</m:t>
                                            </m:r>
                                          </m:e>
                                        </m:mr>
                                      </m:m>
                                    </m:e>
                                  </m:d>
                                </m:e>
                              </m:mr>
                              <m:mr>
                                <m:e>
                                  <m:r>
                                    <a:rPr lang="en-US" sz="2800" b="0" i="1" smtClean="0">
                                      <a:latin typeface="Cambria Math" panose="02040503050406030204" pitchFamily="18" charset="0"/>
                                    </a:rPr>
                                    <m:t>𝑇</m:t>
                                  </m:r>
                                  <m:r>
                                    <a:rPr lang="en-US" sz="2800" i="1">
                                      <a:latin typeface="Cambria Math" panose="02040503050406030204" pitchFamily="18" charset="0"/>
                                    </a:rPr>
                                    <m:t>=</m:t>
                                  </m:r>
                                  <m:r>
                                    <a:rPr lang="en-US" sz="2800" i="1">
                                      <a:latin typeface="Cambria Math" panose="02040503050406030204" pitchFamily="18" charset="0"/>
                                    </a:rPr>
                                    <m:t>𝑃</m:t>
                                  </m:r>
                                  <m:d>
                                    <m:dPr>
                                      <m:ctrlPr>
                                        <a:rPr lang="en-US" sz="2800" i="1">
                                          <a:latin typeface="Cambria Math" panose="02040503050406030204" pitchFamily="18" charset="0"/>
                                        </a:rPr>
                                      </m:ctrlPr>
                                    </m:dPr>
                                    <m:e>
                                      <m:f>
                                        <m:fPr>
                                          <m:ctrlPr>
                                            <a:rPr lang="en-US" sz="2800" i="1">
                                              <a:latin typeface="Cambria Math" panose="02040503050406030204" pitchFamily="18" charset="0"/>
                                            </a:rPr>
                                          </m:ctrlPr>
                                        </m:fPr>
                                        <m:num>
                                          <m:r>
                                            <a:rPr lang="en-US" sz="2800" i="1">
                                              <a:latin typeface="Cambria Math" panose="02040503050406030204" pitchFamily="18" charset="0"/>
                                            </a:rPr>
                                            <m:t>𝜋</m:t>
                                          </m:r>
                                        </m:num>
                                        <m:den>
                                          <m:r>
                                            <a:rPr lang="en-US" sz="2800" b="0" i="1" smtClean="0">
                                              <a:latin typeface="Cambria Math" panose="02040503050406030204" pitchFamily="18" charset="0"/>
                                            </a:rPr>
                                            <m:t>4</m:t>
                                          </m:r>
                                        </m:den>
                                      </m:f>
                                    </m:e>
                                  </m:d>
                                </m:e>
                                <m:e>
                                  <m:r>
                                    <a:rPr lang="en-US" sz="2800" b="0" i="1" smtClean="0">
                                      <a:latin typeface="Cambria Math" panose="02040503050406030204" pitchFamily="18" charset="0"/>
                                    </a:rPr>
                                    <m:t>=</m:t>
                                  </m:r>
                                </m:e>
                                <m:e>
                                  <m:d>
                                    <m:dPr>
                                      <m:ctrlPr>
                                        <a:rPr lang="en-US" sz="2800" i="1">
                                          <a:latin typeface="Cambria Math" panose="02040503050406030204" pitchFamily="18" charset="0"/>
                                        </a:rPr>
                                      </m:ctrlPr>
                                    </m:dPr>
                                    <m:e>
                                      <m:m>
                                        <m:mPr>
                                          <m:mcs>
                                            <m:mc>
                                              <m:mcPr>
                                                <m:count m:val="2"/>
                                                <m:mcJc m:val="center"/>
                                              </m:mcPr>
                                            </m:mc>
                                          </m:mcs>
                                          <m:ctrlPr>
                                            <a:rPr lang="en-US" sz="2800" i="1">
                                              <a:latin typeface="Cambria Math" panose="02040503050406030204" pitchFamily="18" charset="0"/>
                                            </a:rPr>
                                          </m:ctrlPr>
                                        </m:mPr>
                                        <m:mr>
                                          <m:e>
                                            <m:r>
                                              <a:rPr lang="en-US" sz="2800" i="1">
                                                <a:latin typeface="Cambria Math" panose="02040503050406030204" pitchFamily="18" charset="0"/>
                                              </a:rPr>
                                              <m:t>1</m:t>
                                            </m:r>
                                          </m:e>
                                          <m:e>
                                            <m:r>
                                              <a:rPr lang="en-US" sz="2800" i="1">
                                                <a:latin typeface="Cambria Math" panose="02040503050406030204" pitchFamily="18" charset="0"/>
                                              </a:rPr>
                                              <m:t>0</m:t>
                                            </m:r>
                                          </m:e>
                                        </m:mr>
                                        <m:mr>
                                          <m:e>
                                            <m:r>
                                              <a:rPr lang="en-US" sz="2800" i="1">
                                                <a:latin typeface="Cambria Math" panose="02040503050406030204" pitchFamily="18" charset="0"/>
                                              </a:rPr>
                                              <m:t>0</m:t>
                                            </m:r>
                                          </m:e>
                                          <m:e>
                                            <m:sSup>
                                              <m:sSupPr>
                                                <m:ctrlPr>
                                                  <a:rPr lang="en-US" sz="2800" i="1">
                                                    <a:latin typeface="Cambria Math" panose="02040503050406030204" pitchFamily="18" charset="0"/>
                                                  </a:rPr>
                                                </m:ctrlPr>
                                              </m:sSupPr>
                                              <m:e>
                                                <m:r>
                                                  <a:rPr lang="en-US" sz="2800" i="1">
                                                    <a:latin typeface="Cambria Math" panose="02040503050406030204" pitchFamily="18" charset="0"/>
                                                  </a:rPr>
                                                  <m:t>𝑒</m:t>
                                                </m:r>
                                              </m:e>
                                              <m:sup>
                                                <m:r>
                                                  <a:rPr lang="en-US" sz="2800" i="1">
                                                    <a:latin typeface="Cambria Math" panose="02040503050406030204" pitchFamily="18" charset="0"/>
                                                  </a:rPr>
                                                  <m:t>𝑖</m:t>
                                                </m:r>
                                                <m:f>
                                                  <m:fPr>
                                                    <m:ctrlPr>
                                                      <a:rPr lang="en-US" sz="2800" i="1">
                                                        <a:latin typeface="Cambria Math" panose="02040503050406030204" pitchFamily="18" charset="0"/>
                                                      </a:rPr>
                                                    </m:ctrlPr>
                                                  </m:fPr>
                                                  <m:num>
                                                    <m:r>
                                                      <a:rPr lang="en-US" sz="2800" i="1">
                                                        <a:latin typeface="Cambria Math" panose="02040503050406030204" pitchFamily="18" charset="0"/>
                                                      </a:rPr>
                                                      <m:t>𝜋</m:t>
                                                    </m:r>
                                                  </m:num>
                                                  <m:den>
                                                    <m:r>
                                                      <a:rPr lang="en-US" sz="2800" i="1">
                                                        <a:latin typeface="Cambria Math" panose="02040503050406030204" pitchFamily="18" charset="0"/>
                                                      </a:rPr>
                                                      <m:t>4</m:t>
                                                    </m:r>
                                                  </m:den>
                                                </m:f>
                                              </m:sup>
                                            </m:sSup>
                                          </m:e>
                                        </m:mr>
                                      </m:m>
                                    </m:e>
                                  </m:d>
                                </m:e>
                              </m:mr>
                              <m:mr>
                                <m:e>
                                  <m:sSup>
                                    <m:sSupPr>
                                      <m:ctrlPr>
                                        <a:rPr lang="en-US" sz="2800" i="1">
                                          <a:latin typeface="Cambria Math" panose="02040503050406030204" pitchFamily="18" charset="0"/>
                                        </a:rPr>
                                      </m:ctrlPr>
                                    </m:sSupPr>
                                    <m:e>
                                      <m:r>
                                        <a:rPr lang="en-US" sz="2800" i="1">
                                          <a:latin typeface="Cambria Math" panose="02040503050406030204" pitchFamily="18" charset="0"/>
                                        </a:rPr>
                                        <m:t>𝑇</m:t>
                                      </m:r>
                                    </m:e>
                                    <m:sup>
                                      <m:r>
                                        <a:rPr lang="en-US" sz="2800">
                                          <a:latin typeface="Cambria Math" panose="02040503050406030204" pitchFamily="18" charset="0"/>
                                        </a:rPr>
                                        <m:t>†</m:t>
                                      </m:r>
                                    </m:sup>
                                  </m:sSup>
                                  <m:r>
                                    <a:rPr lang="en-US" sz="2800" i="1">
                                      <a:latin typeface="Cambria Math" panose="02040503050406030204" pitchFamily="18" charset="0"/>
                                    </a:rPr>
                                    <m:t>=</m:t>
                                  </m:r>
                                  <m:r>
                                    <a:rPr lang="en-US" sz="2800" i="1">
                                      <a:latin typeface="Cambria Math" panose="02040503050406030204" pitchFamily="18" charset="0"/>
                                    </a:rPr>
                                    <m:t>𝑃</m:t>
                                  </m:r>
                                  <m:d>
                                    <m:dPr>
                                      <m:ctrlPr>
                                        <a:rPr lang="en-US" sz="2800" i="1">
                                          <a:latin typeface="Cambria Math" panose="02040503050406030204" pitchFamily="18" charset="0"/>
                                        </a:rPr>
                                      </m:ctrlPr>
                                    </m:dPr>
                                    <m:e>
                                      <m:f>
                                        <m:fPr>
                                          <m:ctrlPr>
                                            <a:rPr lang="en-US" sz="2800" i="1">
                                              <a:latin typeface="Cambria Math" panose="02040503050406030204" pitchFamily="18" charset="0"/>
                                            </a:rPr>
                                          </m:ctrlPr>
                                        </m:fPr>
                                        <m:num>
                                          <m:r>
                                            <a:rPr lang="en-US" sz="2800" b="0" i="1" smtClean="0">
                                              <a:latin typeface="Cambria Math" panose="02040503050406030204" pitchFamily="18" charset="0"/>
                                            </a:rPr>
                                            <m:t>−</m:t>
                                          </m:r>
                                          <m:r>
                                            <a:rPr lang="en-US" sz="2800" i="1">
                                              <a:latin typeface="Cambria Math" panose="02040503050406030204" pitchFamily="18" charset="0"/>
                                            </a:rPr>
                                            <m:t>𝜋</m:t>
                                          </m:r>
                                        </m:num>
                                        <m:den>
                                          <m:r>
                                            <a:rPr lang="en-US" sz="2800" b="0" i="1" smtClean="0">
                                              <a:latin typeface="Cambria Math" panose="02040503050406030204" pitchFamily="18" charset="0"/>
                                            </a:rPr>
                                            <m:t>4</m:t>
                                          </m:r>
                                        </m:den>
                                      </m:f>
                                    </m:e>
                                  </m:d>
                                </m:e>
                                <m:e>
                                  <m:r>
                                    <a:rPr lang="en-US" sz="2800" b="0" i="1" smtClean="0">
                                      <a:latin typeface="Cambria Math" panose="02040503050406030204" pitchFamily="18" charset="0"/>
                                    </a:rPr>
                                    <m:t>=</m:t>
                                  </m:r>
                                </m:e>
                                <m:e>
                                  <m:d>
                                    <m:dPr>
                                      <m:ctrlPr>
                                        <a:rPr lang="en-US" sz="2800" i="1">
                                          <a:latin typeface="Cambria Math" panose="02040503050406030204" pitchFamily="18" charset="0"/>
                                        </a:rPr>
                                      </m:ctrlPr>
                                    </m:dPr>
                                    <m:e>
                                      <m:m>
                                        <m:mPr>
                                          <m:mcs>
                                            <m:mc>
                                              <m:mcPr>
                                                <m:count m:val="2"/>
                                                <m:mcJc m:val="center"/>
                                              </m:mcPr>
                                            </m:mc>
                                          </m:mcs>
                                          <m:ctrlPr>
                                            <a:rPr lang="en-US" sz="2800" i="1">
                                              <a:latin typeface="Cambria Math" panose="02040503050406030204" pitchFamily="18" charset="0"/>
                                            </a:rPr>
                                          </m:ctrlPr>
                                        </m:mPr>
                                        <m:mr>
                                          <m:e>
                                            <m:r>
                                              <a:rPr lang="en-US" sz="2800" i="1">
                                                <a:latin typeface="Cambria Math" panose="02040503050406030204" pitchFamily="18" charset="0"/>
                                              </a:rPr>
                                              <m:t>1</m:t>
                                            </m:r>
                                          </m:e>
                                          <m:e>
                                            <m:r>
                                              <a:rPr lang="en-US" sz="2800" i="1">
                                                <a:latin typeface="Cambria Math" panose="02040503050406030204" pitchFamily="18" charset="0"/>
                                              </a:rPr>
                                              <m:t>0</m:t>
                                            </m:r>
                                          </m:e>
                                        </m:mr>
                                        <m:mr>
                                          <m:e>
                                            <m:r>
                                              <a:rPr lang="en-US" sz="2800" i="1">
                                                <a:latin typeface="Cambria Math" panose="02040503050406030204" pitchFamily="18" charset="0"/>
                                              </a:rPr>
                                              <m:t>0</m:t>
                                            </m:r>
                                          </m:e>
                                          <m:e>
                                            <m:sSup>
                                              <m:sSupPr>
                                                <m:ctrlPr>
                                                  <a:rPr lang="en-US" sz="2800" i="1">
                                                    <a:latin typeface="Cambria Math" panose="02040503050406030204" pitchFamily="18" charset="0"/>
                                                  </a:rPr>
                                                </m:ctrlPr>
                                              </m:sSupPr>
                                              <m:e>
                                                <m:r>
                                                  <a:rPr lang="en-US" sz="2800" i="1">
                                                    <a:latin typeface="Cambria Math" panose="02040503050406030204" pitchFamily="18" charset="0"/>
                                                  </a:rPr>
                                                  <m:t>𝑒</m:t>
                                                </m:r>
                                              </m:e>
                                              <m:sup>
                                                <m:r>
                                                  <a:rPr lang="en-US" sz="2800" i="1">
                                                    <a:latin typeface="Cambria Math" panose="02040503050406030204" pitchFamily="18" charset="0"/>
                                                  </a:rPr>
                                                  <m:t>−</m:t>
                                                </m:r>
                                                <m:r>
                                                  <a:rPr lang="en-US" sz="2800" i="1">
                                                    <a:latin typeface="Cambria Math" panose="02040503050406030204" pitchFamily="18" charset="0"/>
                                                  </a:rPr>
                                                  <m:t>𝑖</m:t>
                                                </m:r>
                                                <m:f>
                                                  <m:fPr>
                                                    <m:ctrlPr>
                                                      <a:rPr lang="en-US" sz="2800" i="1">
                                                        <a:latin typeface="Cambria Math" panose="02040503050406030204" pitchFamily="18" charset="0"/>
                                                      </a:rPr>
                                                    </m:ctrlPr>
                                                  </m:fPr>
                                                  <m:num>
                                                    <m:r>
                                                      <a:rPr lang="en-US" sz="2800" i="1">
                                                        <a:latin typeface="Cambria Math" panose="02040503050406030204" pitchFamily="18" charset="0"/>
                                                      </a:rPr>
                                                      <m:t>𝜋</m:t>
                                                    </m:r>
                                                  </m:num>
                                                  <m:den>
                                                    <m:r>
                                                      <a:rPr lang="en-US" sz="2800" i="1">
                                                        <a:latin typeface="Cambria Math" panose="02040503050406030204" pitchFamily="18" charset="0"/>
                                                      </a:rPr>
                                                      <m:t>4</m:t>
                                                    </m:r>
                                                  </m:den>
                                                </m:f>
                                              </m:sup>
                                            </m:sSup>
                                          </m:e>
                                        </m:mr>
                                      </m:m>
                                    </m:e>
                                  </m:d>
                                </m:e>
                              </m:mr>
                            </m:m>
                          </m:e>
                        </m:d>
                      </m:oMath>
                    </m:oMathPara>
                  </a14:m>
                  <a:endParaRPr lang="en-US" sz="2800" dirty="0"/>
                </a:p>
              </p:txBody>
            </p:sp>
          </mc:Choice>
          <mc:Fallback xmlns="">
            <p:sp>
              <p:nvSpPr>
                <p:cNvPr id="8" name="Rectangle 7">
                  <a:extLst>
                    <a:ext uri="{FF2B5EF4-FFF2-40B4-BE49-F238E27FC236}">
                      <a16:creationId xmlns:a16="http://schemas.microsoft.com/office/drawing/2014/main" id="{8A00DDDA-6D5E-E740-B8C8-B875ACB9E74B}"/>
                    </a:ext>
                  </a:extLst>
                </p:cNvPr>
                <p:cNvSpPr>
                  <a:spLocks noRot="1" noChangeAspect="1" noMove="1" noResize="1" noEditPoints="1" noAdjustHandles="1" noChangeArrowheads="1" noChangeShapeType="1" noTextEdit="1"/>
                </p:cNvSpPr>
                <p:nvPr/>
              </p:nvSpPr>
              <p:spPr>
                <a:xfrm>
                  <a:off x="5510034" y="1120250"/>
                  <a:ext cx="5091650" cy="4410695"/>
                </a:xfrm>
                <a:prstGeom prst="rect">
                  <a:avLst/>
                </a:prstGeom>
                <a:blipFill>
                  <a:blip r:embed="rId4"/>
                  <a:stretch>
                    <a:fillRect/>
                  </a:stretch>
                </a:blipFill>
              </p:spPr>
              <p:txBody>
                <a:bodyPr/>
                <a:lstStyle/>
                <a:p>
                  <a:r>
                    <a:rPr lang="en-US">
                      <a:noFill/>
                    </a:rPr>
                    <a:t> </a:t>
                  </a:r>
                </a:p>
              </p:txBody>
            </p:sp>
          </mc:Fallback>
        </mc:AlternateContent>
        <p:sp>
          <p:nvSpPr>
            <p:cNvPr id="10" name="Rectangle 9">
              <a:extLst>
                <a:ext uri="{FF2B5EF4-FFF2-40B4-BE49-F238E27FC236}">
                  <a16:creationId xmlns:a16="http://schemas.microsoft.com/office/drawing/2014/main" id="{3C11A26D-13DC-3F4F-8933-009A1263881C}"/>
                </a:ext>
              </a:extLst>
            </p:cNvPr>
            <p:cNvSpPr/>
            <p:nvPr/>
          </p:nvSpPr>
          <p:spPr>
            <a:xfrm>
              <a:off x="10639899" y="2105852"/>
              <a:ext cx="540000" cy="540000"/>
            </a:xfrm>
            <a:prstGeom prst="rect">
              <a:avLst/>
            </a:prstGeom>
            <a:solidFill>
              <a:srgbClr val="33B1F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Times" pitchFamily="2" charset="0"/>
                </a:rPr>
                <a:t>S</a:t>
              </a:r>
            </a:p>
          </p:txBody>
        </p:sp>
        <p:sp>
          <p:nvSpPr>
            <p:cNvPr id="11" name="Rectangle 10">
              <a:extLst>
                <a:ext uri="{FF2B5EF4-FFF2-40B4-BE49-F238E27FC236}">
                  <a16:creationId xmlns:a16="http://schemas.microsoft.com/office/drawing/2014/main" id="{A0679D39-29D1-F643-9488-74B3B02A46D4}"/>
                </a:ext>
              </a:extLst>
            </p:cNvPr>
            <p:cNvSpPr/>
            <p:nvPr/>
          </p:nvSpPr>
          <p:spPr>
            <a:xfrm>
              <a:off x="10639899" y="2932843"/>
              <a:ext cx="540000" cy="540000"/>
            </a:xfrm>
            <a:prstGeom prst="rect">
              <a:avLst/>
            </a:prstGeom>
            <a:solidFill>
              <a:srgbClr val="33B1F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Times" pitchFamily="2" charset="0"/>
                </a:rPr>
                <a:t>S</a:t>
              </a:r>
              <a:r>
                <a:rPr lang="en-US" sz="2800" baseline="30000" dirty="0">
                  <a:solidFill>
                    <a:schemeClr val="tx1"/>
                  </a:solidFill>
                  <a:latin typeface="Times" pitchFamily="2" charset="0"/>
                </a:rPr>
                <a:t>†</a:t>
              </a:r>
            </a:p>
          </p:txBody>
        </p:sp>
        <p:sp>
          <p:nvSpPr>
            <p:cNvPr id="12" name="Rectangle 11">
              <a:extLst>
                <a:ext uri="{FF2B5EF4-FFF2-40B4-BE49-F238E27FC236}">
                  <a16:creationId xmlns:a16="http://schemas.microsoft.com/office/drawing/2014/main" id="{63A0EA13-B63E-944A-A571-40F36CFCAE54}"/>
                </a:ext>
              </a:extLst>
            </p:cNvPr>
            <p:cNvSpPr/>
            <p:nvPr/>
          </p:nvSpPr>
          <p:spPr>
            <a:xfrm>
              <a:off x="10639899" y="3759834"/>
              <a:ext cx="540000" cy="540000"/>
            </a:xfrm>
            <a:prstGeom prst="rect">
              <a:avLst/>
            </a:prstGeom>
            <a:solidFill>
              <a:srgbClr val="33B1F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Times" pitchFamily="2" charset="0"/>
                </a:rPr>
                <a:t>T</a:t>
              </a:r>
            </a:p>
          </p:txBody>
        </p:sp>
        <p:sp>
          <p:nvSpPr>
            <p:cNvPr id="13" name="Rectangle 12">
              <a:extLst>
                <a:ext uri="{FF2B5EF4-FFF2-40B4-BE49-F238E27FC236}">
                  <a16:creationId xmlns:a16="http://schemas.microsoft.com/office/drawing/2014/main" id="{83BA31AC-4370-A947-AA13-ACA7EA322F6C}"/>
                </a:ext>
              </a:extLst>
            </p:cNvPr>
            <p:cNvSpPr/>
            <p:nvPr/>
          </p:nvSpPr>
          <p:spPr>
            <a:xfrm>
              <a:off x="10639899" y="4586825"/>
              <a:ext cx="540000" cy="540000"/>
            </a:xfrm>
            <a:prstGeom prst="rect">
              <a:avLst/>
            </a:prstGeom>
            <a:solidFill>
              <a:srgbClr val="33B1F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Times" pitchFamily="2" charset="0"/>
                </a:rPr>
                <a:t>T</a:t>
              </a:r>
              <a:r>
                <a:rPr lang="en-US" sz="2800" baseline="30000" dirty="0">
                  <a:solidFill>
                    <a:schemeClr val="tx1"/>
                  </a:solidFill>
                  <a:latin typeface="Times" pitchFamily="2" charset="0"/>
                </a:rPr>
                <a:t>†</a:t>
              </a:r>
            </a:p>
          </p:txBody>
        </p:sp>
        <p:sp>
          <p:nvSpPr>
            <p:cNvPr id="14" name="Rectangle 13">
              <a:extLst>
                <a:ext uri="{FF2B5EF4-FFF2-40B4-BE49-F238E27FC236}">
                  <a16:creationId xmlns:a16="http://schemas.microsoft.com/office/drawing/2014/main" id="{3B4C468C-D9A6-E549-92AA-694CDE748431}"/>
                </a:ext>
              </a:extLst>
            </p:cNvPr>
            <p:cNvSpPr/>
            <p:nvPr/>
          </p:nvSpPr>
          <p:spPr>
            <a:xfrm>
              <a:off x="10639899" y="1323701"/>
              <a:ext cx="540000" cy="540000"/>
            </a:xfrm>
            <a:prstGeom prst="rect">
              <a:avLst/>
            </a:prstGeom>
            <a:solidFill>
              <a:srgbClr val="33B1F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Times" pitchFamily="2" charset="0"/>
                </a:rPr>
                <a:t>Z</a:t>
              </a:r>
            </a:p>
          </p:txBody>
        </p:sp>
      </p:grpSp>
      <mc:AlternateContent xmlns:mc="http://schemas.openxmlformats.org/markup-compatibility/2006" xmlns:a14="http://schemas.microsoft.com/office/drawing/2010/main">
        <mc:Choice Requires="a14">
          <p:sp>
            <p:nvSpPr>
              <p:cNvPr id="7" name="Line Callout 1 6">
                <a:extLst>
                  <a:ext uri="{FF2B5EF4-FFF2-40B4-BE49-F238E27FC236}">
                    <a16:creationId xmlns:a16="http://schemas.microsoft.com/office/drawing/2014/main" id="{3A0FA444-656B-504F-B20D-A03B1E8052DF}"/>
                  </a:ext>
                </a:extLst>
              </p:cNvPr>
              <p:cNvSpPr/>
              <p:nvPr/>
            </p:nvSpPr>
            <p:spPr>
              <a:xfrm>
                <a:off x="370417" y="5605314"/>
                <a:ext cx="4607700" cy="1135491"/>
              </a:xfrm>
              <a:prstGeom prst="borderCallout1">
                <a:avLst>
                  <a:gd name="adj1" fmla="val -7666"/>
                  <a:gd name="adj2" fmla="val 27871"/>
                  <a:gd name="adj3" fmla="val -55822"/>
                  <a:gd name="adj4" fmla="val 44860"/>
                </a:avLst>
              </a:prstGeom>
              <a:solidFill>
                <a:schemeClr val="bg1">
                  <a:lumMod val="95000"/>
                </a:schemeClr>
              </a:solid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ZA" sz="2400" dirty="0">
                    <a:solidFill>
                      <a:schemeClr val="tx1"/>
                    </a:solidFill>
                  </a:rPr>
                  <a:t>The phase gate rotates the state vector about the</a:t>
                </a:r>
                <a:r>
                  <a:rPr lang="en-US" sz="2400" dirty="0">
                    <a:solidFill>
                      <a:schemeClr val="tx1"/>
                    </a:solidFill>
                  </a:rPr>
                  <a:t>  </a:t>
                </a:r>
                <a14:m>
                  <m:oMath xmlns:m="http://schemas.openxmlformats.org/officeDocument/2006/math">
                    <m:r>
                      <a:rPr lang="en-US" sz="2400" i="1">
                        <a:solidFill>
                          <a:schemeClr val="tx1"/>
                        </a:solidFill>
                        <a:latin typeface="Cambria Math" panose="02040503050406030204" pitchFamily="18" charset="0"/>
                      </a:rPr>
                      <m:t>𝑧</m:t>
                    </m:r>
                  </m:oMath>
                </a14:m>
                <a:r>
                  <a:rPr lang="en-US" sz="2400" dirty="0">
                    <a:solidFill>
                      <a:schemeClr val="tx1"/>
                    </a:solidFill>
                  </a:rPr>
                  <a:t>–axis by an  angle </a:t>
                </a:r>
                <a14:m>
                  <m:oMath xmlns:m="http://schemas.openxmlformats.org/officeDocument/2006/math">
                    <m:r>
                      <a:rPr lang="en-US" sz="2400" i="1">
                        <a:solidFill>
                          <a:schemeClr val="tx1"/>
                        </a:solidFill>
                        <a:latin typeface="Cambria Math" panose="02040503050406030204" pitchFamily="18" charset="0"/>
                      </a:rPr>
                      <m:t>𝜑</m:t>
                    </m:r>
                  </m:oMath>
                </a14:m>
                <a:r>
                  <a:rPr lang="en-US" sz="2400" dirty="0">
                    <a:solidFill>
                      <a:schemeClr val="tx1"/>
                    </a:solidFill>
                  </a:rPr>
                  <a:t>.</a:t>
                </a:r>
              </a:p>
            </p:txBody>
          </p:sp>
        </mc:Choice>
        <mc:Fallback xmlns="">
          <p:sp>
            <p:nvSpPr>
              <p:cNvPr id="7" name="Line Callout 1 6">
                <a:extLst>
                  <a:ext uri="{FF2B5EF4-FFF2-40B4-BE49-F238E27FC236}">
                    <a16:creationId xmlns:a16="http://schemas.microsoft.com/office/drawing/2014/main" id="{3A0FA444-656B-504F-B20D-A03B1E8052DF}"/>
                  </a:ext>
                </a:extLst>
              </p:cNvPr>
              <p:cNvSpPr>
                <a:spLocks noRot="1" noChangeAspect="1" noMove="1" noResize="1" noEditPoints="1" noAdjustHandles="1" noChangeArrowheads="1" noChangeShapeType="1" noTextEdit="1"/>
              </p:cNvSpPr>
              <p:nvPr/>
            </p:nvSpPr>
            <p:spPr>
              <a:xfrm>
                <a:off x="370417" y="5605314"/>
                <a:ext cx="4607700" cy="1135491"/>
              </a:xfrm>
              <a:prstGeom prst="borderCallout1">
                <a:avLst>
                  <a:gd name="adj1" fmla="val -7666"/>
                  <a:gd name="adj2" fmla="val 27871"/>
                  <a:gd name="adj3" fmla="val -55822"/>
                  <a:gd name="adj4" fmla="val 44860"/>
                </a:avLst>
              </a:prstGeom>
              <a:blipFill>
                <a:blip r:embed="rId5"/>
                <a:stretch>
                  <a:fillRect b="-7746"/>
                </a:stretch>
              </a:blipFill>
              <a:ln>
                <a:solidFill>
                  <a:schemeClr val="accent1">
                    <a:shade val="50000"/>
                  </a:schemeClr>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C68CF0FE-7853-274C-9BD1-0F81C6C912B2}"/>
                  </a:ext>
                </a:extLst>
              </p:cNvPr>
              <p:cNvSpPr/>
              <p:nvPr/>
            </p:nvSpPr>
            <p:spPr>
              <a:xfrm>
                <a:off x="2808452" y="2857209"/>
                <a:ext cx="2831031" cy="819583"/>
              </a:xfrm>
              <a:prstGeom prst="rect">
                <a:avLst/>
              </a:prstGeom>
            </p:spPr>
            <p:txBody>
              <a:bodyPr wrap="none">
                <a:spAutoFit/>
              </a:bodyPr>
              <a:lstStyle/>
              <a:p>
                <a14:m>
                  <m:oMath xmlns:m="http://schemas.openxmlformats.org/officeDocument/2006/math">
                    <m:r>
                      <a:rPr lang="en-US" sz="2800" i="1">
                        <a:latin typeface="Cambria Math" panose="02040503050406030204" pitchFamily="18" charset="0"/>
                      </a:rPr>
                      <m:t>𝑃</m:t>
                    </m:r>
                    <m:d>
                      <m:dPr>
                        <m:ctrlPr>
                          <a:rPr lang="en-US" sz="2800" i="1">
                            <a:latin typeface="Cambria Math" panose="02040503050406030204" pitchFamily="18" charset="0"/>
                          </a:rPr>
                        </m:ctrlPr>
                      </m:dPr>
                      <m:e>
                        <m:r>
                          <a:rPr lang="en-US" sz="2800" i="1">
                            <a:latin typeface="Cambria Math" panose="02040503050406030204" pitchFamily="18" charset="0"/>
                            <a:ea typeface="Cambria Math" panose="02040503050406030204" pitchFamily="18" charset="0"/>
                          </a:rPr>
                          <m:t>𝜑</m:t>
                        </m:r>
                      </m:e>
                    </m:d>
                    <m:r>
                      <a:rPr lang="en-US" sz="2800" i="1">
                        <a:latin typeface="Cambria Math" panose="02040503050406030204" pitchFamily="18" charset="0"/>
                      </a:rPr>
                      <m:t>=</m:t>
                    </m:r>
                  </m:oMath>
                </a14:m>
                <a:r>
                  <a:rPr lang="en-US" sz="2800" dirty="0"/>
                  <a:t> </a:t>
                </a:r>
                <a14:m>
                  <m:oMath xmlns:m="http://schemas.openxmlformats.org/officeDocument/2006/math">
                    <m:d>
                      <m:dPr>
                        <m:ctrlPr>
                          <a:rPr lang="en-US" sz="2800" i="1">
                            <a:latin typeface="Cambria Math" panose="02040503050406030204" pitchFamily="18" charset="0"/>
                          </a:rPr>
                        </m:ctrlPr>
                      </m:dPr>
                      <m:e>
                        <m:m>
                          <m:mPr>
                            <m:plcHide m:val="on"/>
                            <m:mcs>
                              <m:mc>
                                <m:mcPr>
                                  <m:count m:val="2"/>
                                  <m:mcJc m:val="center"/>
                                </m:mcPr>
                              </m:mc>
                            </m:mcs>
                            <m:ctrlPr>
                              <a:rPr lang="en-US" sz="2800" i="1">
                                <a:latin typeface="Cambria Math" panose="02040503050406030204" pitchFamily="18" charset="0"/>
                              </a:rPr>
                            </m:ctrlPr>
                          </m:mPr>
                          <m:mr>
                            <m:e>
                              <m:r>
                                <a:rPr lang="en-US" sz="2800">
                                  <a:latin typeface="Cambria Math" panose="02040503050406030204" pitchFamily="18" charset="0"/>
                                </a:rPr>
                                <m:t>1</m:t>
                              </m:r>
                            </m:e>
                            <m:e>
                              <m:r>
                                <a:rPr lang="en-US" sz="2800">
                                  <a:latin typeface="Cambria Math" panose="02040503050406030204" pitchFamily="18" charset="0"/>
                                </a:rPr>
                                <m:t>0</m:t>
                              </m:r>
                            </m:e>
                          </m:mr>
                          <m:mr>
                            <m:e>
                              <m:r>
                                <a:rPr lang="en-US" sz="2800">
                                  <a:latin typeface="Cambria Math" panose="02040503050406030204" pitchFamily="18" charset="0"/>
                                </a:rPr>
                                <m:t>0</m:t>
                              </m:r>
                            </m:e>
                            <m:e>
                              <m:sSup>
                                <m:sSupPr>
                                  <m:ctrlPr>
                                    <a:rPr lang="en-US" sz="2800" i="1">
                                      <a:latin typeface="Cambria Math" panose="02040503050406030204" pitchFamily="18" charset="0"/>
                                    </a:rPr>
                                  </m:ctrlPr>
                                </m:sSupPr>
                                <m:e>
                                  <m:r>
                                    <a:rPr lang="en-US" sz="2800" i="1">
                                      <a:latin typeface="Cambria Math" panose="02040503050406030204" pitchFamily="18" charset="0"/>
                                    </a:rPr>
                                    <m:t>𝑒</m:t>
                                  </m:r>
                                </m:e>
                                <m:sup>
                                  <m:r>
                                    <a:rPr lang="en-US" sz="2800" i="1">
                                      <a:latin typeface="Cambria Math" panose="02040503050406030204" pitchFamily="18" charset="0"/>
                                    </a:rPr>
                                    <m:t>𝑖</m:t>
                                  </m:r>
                                  <m:r>
                                    <a:rPr lang="en-US" sz="2800" i="1">
                                      <a:latin typeface="Cambria Math" panose="02040503050406030204" pitchFamily="18" charset="0"/>
                                    </a:rPr>
                                    <m:t>𝜑</m:t>
                                  </m:r>
                                </m:sup>
                              </m:sSup>
                            </m:e>
                          </m:mr>
                        </m:m>
                      </m:e>
                    </m:d>
                  </m:oMath>
                </a14:m>
                <a:endParaRPr lang="en-US" sz="2800" dirty="0"/>
              </a:p>
            </p:txBody>
          </p:sp>
        </mc:Choice>
        <mc:Fallback xmlns="">
          <p:sp>
            <p:nvSpPr>
              <p:cNvPr id="4" name="Rectangle 3">
                <a:extLst>
                  <a:ext uri="{FF2B5EF4-FFF2-40B4-BE49-F238E27FC236}">
                    <a16:creationId xmlns:a16="http://schemas.microsoft.com/office/drawing/2014/main" id="{C68CF0FE-7853-274C-9BD1-0F81C6C912B2}"/>
                  </a:ext>
                </a:extLst>
              </p:cNvPr>
              <p:cNvSpPr>
                <a:spLocks noRot="1" noChangeAspect="1" noMove="1" noResize="1" noEditPoints="1" noAdjustHandles="1" noChangeArrowheads="1" noChangeShapeType="1" noTextEdit="1"/>
              </p:cNvSpPr>
              <p:nvPr/>
            </p:nvSpPr>
            <p:spPr>
              <a:xfrm>
                <a:off x="2808452" y="2857209"/>
                <a:ext cx="2831031" cy="819583"/>
              </a:xfrm>
              <a:prstGeom prst="rect">
                <a:avLst/>
              </a:prstGeom>
              <a:blipFill>
                <a:blip r:embed="rId6"/>
                <a:stretch>
                  <a:fillRect l="-893" b="-6061"/>
                </a:stretch>
              </a:blipFill>
            </p:spPr>
            <p:txBody>
              <a:bodyPr/>
              <a:lstStyle/>
              <a:p>
                <a:r>
                  <a:rPr lang="en-US">
                    <a:noFill/>
                  </a:rPr>
                  <a:t> </a:t>
                </a:r>
              </a:p>
            </p:txBody>
          </p:sp>
        </mc:Fallback>
      </mc:AlternateContent>
    </p:spTree>
    <p:extLst>
      <p:ext uri="{BB962C8B-B14F-4D97-AF65-F5344CB8AC3E}">
        <p14:creationId xmlns:p14="http://schemas.microsoft.com/office/powerpoint/2010/main" val="24631381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39EF45-D20A-C54B-9E7B-223F102F5FFB}"/>
              </a:ext>
            </a:extLst>
          </p:cNvPr>
          <p:cNvSpPr>
            <a:spLocks noGrp="1"/>
          </p:cNvSpPr>
          <p:nvPr>
            <p:ph type="title"/>
          </p:nvPr>
        </p:nvSpPr>
        <p:spPr>
          <a:xfrm>
            <a:off x="0" y="0"/>
            <a:ext cx="12192000" cy="928688"/>
          </a:xfrm>
        </p:spPr>
        <p:txBody>
          <a:bodyPr/>
          <a:lstStyle/>
          <a:p>
            <a:r>
              <a:rPr lang="en-ZA" dirty="0"/>
              <a:t>Phase Gates Summary</a:t>
            </a:r>
            <a:endParaRPr lang="en-US" dirty="0"/>
          </a:p>
        </p:txBody>
      </p:sp>
      <p:sp>
        <p:nvSpPr>
          <p:cNvPr id="3" name="Slide Number Placeholder 2">
            <a:extLst>
              <a:ext uri="{FF2B5EF4-FFF2-40B4-BE49-F238E27FC236}">
                <a16:creationId xmlns:a16="http://schemas.microsoft.com/office/drawing/2014/main" id="{1DFCF789-A597-7E48-870E-125D0C3A063D}"/>
              </a:ext>
            </a:extLst>
          </p:cNvPr>
          <p:cNvSpPr>
            <a:spLocks noGrp="1"/>
          </p:cNvSpPr>
          <p:nvPr>
            <p:ph type="sldNum" sz="quarter" idx="12"/>
          </p:nvPr>
        </p:nvSpPr>
        <p:spPr/>
        <p:txBody>
          <a:bodyPr/>
          <a:lstStyle/>
          <a:p>
            <a:fld id="{591A223C-FA10-BC46-A853-03BA373D023C}" type="slidenum">
              <a:rPr lang="en-US" smtClean="0"/>
              <a:t>26</a:t>
            </a:fld>
            <a:endParaRPr lang="en-US"/>
          </a:p>
        </p:txBody>
      </p:sp>
      <p:cxnSp>
        <p:nvCxnSpPr>
          <p:cNvPr id="4" name="Straight Connector 3">
            <a:extLst>
              <a:ext uri="{FF2B5EF4-FFF2-40B4-BE49-F238E27FC236}">
                <a16:creationId xmlns:a16="http://schemas.microsoft.com/office/drawing/2014/main" id="{35913924-2483-E343-99F2-9D1061599CCB}"/>
              </a:ext>
            </a:extLst>
          </p:cNvPr>
          <p:cNvCxnSpPr>
            <a:cxnSpLocks/>
          </p:cNvCxnSpPr>
          <p:nvPr/>
        </p:nvCxnSpPr>
        <p:spPr>
          <a:xfrm>
            <a:off x="539095" y="1797705"/>
            <a:ext cx="1108786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F3A29A8C-3092-FC46-94D9-2F44D4900D10}"/>
              </a:ext>
            </a:extLst>
          </p:cNvPr>
          <p:cNvCxnSpPr>
            <a:cxnSpLocks/>
          </p:cNvCxnSpPr>
          <p:nvPr/>
        </p:nvCxnSpPr>
        <p:spPr>
          <a:xfrm>
            <a:off x="539095" y="2697705"/>
            <a:ext cx="1108786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9C94409F-1E82-5144-82F3-6AC196B46C06}"/>
              </a:ext>
            </a:extLst>
          </p:cNvPr>
          <p:cNvCxnSpPr>
            <a:cxnSpLocks/>
          </p:cNvCxnSpPr>
          <p:nvPr/>
        </p:nvCxnSpPr>
        <p:spPr>
          <a:xfrm>
            <a:off x="539095" y="3597705"/>
            <a:ext cx="11087866" cy="0"/>
          </a:xfrm>
          <a:prstGeom prst="line">
            <a:avLst/>
          </a:prstGeom>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01F86251-6DE2-3448-A31F-B8BAA869C571}"/>
              </a:ext>
            </a:extLst>
          </p:cNvPr>
          <p:cNvSpPr/>
          <p:nvPr/>
        </p:nvSpPr>
        <p:spPr>
          <a:xfrm>
            <a:off x="539095" y="1133585"/>
            <a:ext cx="11087866" cy="516412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0BD2020F-C565-444B-9524-6B5AE1A0E168}"/>
                  </a:ext>
                </a:extLst>
              </p:cNvPr>
              <p:cNvSpPr/>
              <p:nvPr/>
            </p:nvSpPr>
            <p:spPr>
              <a:xfrm>
                <a:off x="1796947" y="2779088"/>
                <a:ext cx="1755417" cy="70820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m>
                        <m:mPr>
                          <m:plcHide m:val="on"/>
                          <m:mcs>
                            <m:mc>
                              <m:mcPr>
                                <m:count m:val="1"/>
                                <m:mcJc m:val="center"/>
                              </m:mcPr>
                            </m:mc>
                          </m:mcs>
                          <m:ctrlPr>
                            <a:rPr lang="en-US" sz="2400" i="1" smtClean="0">
                              <a:latin typeface="Cambria Math" panose="02040503050406030204" pitchFamily="18" charset="0"/>
                            </a:rPr>
                          </m:ctrlPr>
                        </m:mPr>
                        <m:mr>
                          <m:e>
                            <m:r>
                              <m:rPr>
                                <m:sty m:val="p"/>
                              </m:rPr>
                              <a:rPr lang="en-US" sz="2400" b="0" i="0" smtClean="0">
                                <a:latin typeface="Cambria Math" panose="02040503050406030204" pitchFamily="18" charset="0"/>
                              </a:rPr>
                              <m:t>S</m:t>
                            </m:r>
                            <m:r>
                              <a:rPr lang="en-US" sz="2400" i="0">
                                <a:latin typeface="Cambria Math" panose="02040503050406030204" pitchFamily="18" charset="0"/>
                              </a:rPr>
                              <m:t>=</m:t>
                            </m:r>
                            <m:d>
                              <m:dPr>
                                <m:ctrlPr>
                                  <a:rPr lang="en-US" sz="2400" i="1">
                                    <a:latin typeface="Cambria Math" panose="02040503050406030204" pitchFamily="18" charset="0"/>
                                  </a:rPr>
                                </m:ctrlPr>
                              </m:dPr>
                              <m:e>
                                <m:m>
                                  <m:mPr>
                                    <m:plcHide m:val="on"/>
                                    <m:mcs>
                                      <m:mc>
                                        <m:mcPr>
                                          <m:count m:val="2"/>
                                          <m:mcJc m:val="center"/>
                                        </m:mcPr>
                                      </m:mc>
                                    </m:mcs>
                                    <m:ctrlPr>
                                      <a:rPr lang="en-US" sz="2400" i="1">
                                        <a:latin typeface="Cambria Math" panose="02040503050406030204" pitchFamily="18" charset="0"/>
                                      </a:rPr>
                                    </m:ctrlPr>
                                  </m:mPr>
                                  <m:mr>
                                    <m:e>
                                      <m:r>
                                        <a:rPr lang="en-US" sz="2400">
                                          <a:latin typeface="Cambria Math" panose="02040503050406030204" pitchFamily="18" charset="0"/>
                                        </a:rPr>
                                        <m:t>1</m:t>
                                      </m:r>
                                    </m:e>
                                    <m:e>
                                      <m:r>
                                        <a:rPr lang="en-US" sz="2400">
                                          <a:latin typeface="Cambria Math" panose="02040503050406030204" pitchFamily="18" charset="0"/>
                                        </a:rPr>
                                        <m:t>0</m:t>
                                      </m:r>
                                    </m:e>
                                  </m:mr>
                                  <m:mr>
                                    <m:e>
                                      <m:r>
                                        <a:rPr lang="en-US" sz="2400">
                                          <a:latin typeface="Cambria Math" panose="02040503050406030204" pitchFamily="18" charset="0"/>
                                        </a:rPr>
                                        <m:t>0</m:t>
                                      </m:r>
                                    </m:e>
                                    <m:e>
                                      <m:r>
                                        <a:rPr lang="en-US" sz="2400" i="1">
                                          <a:latin typeface="Cambria Math" panose="02040503050406030204" pitchFamily="18" charset="0"/>
                                        </a:rPr>
                                        <m:t>𝑖</m:t>
                                      </m:r>
                                    </m:e>
                                  </m:mr>
                                </m:m>
                              </m:e>
                            </m:d>
                          </m:e>
                        </m:mr>
                      </m:m>
                    </m:oMath>
                  </m:oMathPara>
                </a14:m>
                <a:endParaRPr lang="en-US" sz="2400" dirty="0"/>
              </a:p>
            </p:txBody>
          </p:sp>
        </mc:Choice>
        <mc:Fallback xmlns="">
          <p:sp>
            <p:nvSpPr>
              <p:cNvPr id="12" name="Rectangle 11">
                <a:extLst>
                  <a:ext uri="{FF2B5EF4-FFF2-40B4-BE49-F238E27FC236}">
                    <a16:creationId xmlns:a16="http://schemas.microsoft.com/office/drawing/2014/main" id="{0BD2020F-C565-444B-9524-6B5AE1A0E168}"/>
                  </a:ext>
                </a:extLst>
              </p:cNvPr>
              <p:cNvSpPr>
                <a:spLocks noRot="1" noChangeAspect="1" noMove="1" noResize="1" noEditPoints="1" noAdjustHandles="1" noChangeArrowheads="1" noChangeShapeType="1" noTextEdit="1"/>
              </p:cNvSpPr>
              <p:nvPr/>
            </p:nvSpPr>
            <p:spPr>
              <a:xfrm>
                <a:off x="1796947" y="2779088"/>
                <a:ext cx="1755417" cy="708207"/>
              </a:xfrm>
              <a:prstGeom prst="rect">
                <a:avLst/>
              </a:prstGeom>
              <a:blipFill>
                <a:blip r:embed="rId3"/>
                <a:stretch>
                  <a:fillRect b="-5263"/>
                </a:stretch>
              </a:blipFill>
            </p:spPr>
            <p:txBody>
              <a:bodyPr/>
              <a:lstStyle/>
              <a:p>
                <a:r>
                  <a:rPr lang="en-US">
                    <a:noFill/>
                  </a:rPr>
                  <a:t> </a:t>
                </a:r>
              </a:p>
            </p:txBody>
          </p:sp>
        </mc:Fallback>
      </mc:AlternateContent>
      <p:cxnSp>
        <p:nvCxnSpPr>
          <p:cNvPr id="16" name="Straight Connector 15">
            <a:extLst>
              <a:ext uri="{FF2B5EF4-FFF2-40B4-BE49-F238E27FC236}">
                <a16:creationId xmlns:a16="http://schemas.microsoft.com/office/drawing/2014/main" id="{1A76F891-5AB6-8649-AA11-DCC61231E1A8}"/>
              </a:ext>
            </a:extLst>
          </p:cNvPr>
          <p:cNvCxnSpPr>
            <a:cxnSpLocks/>
          </p:cNvCxnSpPr>
          <p:nvPr/>
        </p:nvCxnSpPr>
        <p:spPr>
          <a:xfrm>
            <a:off x="1765924" y="1133585"/>
            <a:ext cx="0" cy="516412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98B600C7-EF8F-A54F-A16B-AB413E8AA9CD}"/>
              </a:ext>
            </a:extLst>
          </p:cNvPr>
          <p:cNvCxnSpPr>
            <a:cxnSpLocks/>
          </p:cNvCxnSpPr>
          <p:nvPr/>
        </p:nvCxnSpPr>
        <p:spPr>
          <a:xfrm>
            <a:off x="3884319" y="1160051"/>
            <a:ext cx="0" cy="5164120"/>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0B07EEE4-80D5-964C-8F0B-63D3964CB0C4}"/>
              </a:ext>
            </a:extLst>
          </p:cNvPr>
          <p:cNvCxnSpPr>
            <a:cxnSpLocks/>
          </p:cNvCxnSpPr>
          <p:nvPr/>
        </p:nvCxnSpPr>
        <p:spPr>
          <a:xfrm>
            <a:off x="539095" y="4497705"/>
            <a:ext cx="1108786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F1EA032-188E-EB4F-92A0-7027FCE61317}"/>
              </a:ext>
            </a:extLst>
          </p:cNvPr>
          <p:cNvCxnSpPr>
            <a:cxnSpLocks/>
          </p:cNvCxnSpPr>
          <p:nvPr/>
        </p:nvCxnSpPr>
        <p:spPr>
          <a:xfrm>
            <a:off x="552067" y="5397705"/>
            <a:ext cx="11087866" cy="0"/>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0" name="Rectangle 29">
                <a:extLst>
                  <a:ext uri="{FF2B5EF4-FFF2-40B4-BE49-F238E27FC236}">
                    <a16:creationId xmlns:a16="http://schemas.microsoft.com/office/drawing/2014/main" id="{149F2FF7-096F-BA48-9654-5CBC945AEABA}"/>
                  </a:ext>
                </a:extLst>
              </p:cNvPr>
              <p:cNvSpPr/>
              <p:nvPr/>
            </p:nvSpPr>
            <p:spPr>
              <a:xfrm>
                <a:off x="1765924" y="3644968"/>
                <a:ext cx="2093458" cy="70820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400" i="1">
                              <a:latin typeface="Cambria Math" panose="02040503050406030204" pitchFamily="18" charset="0"/>
                            </a:rPr>
                          </m:ctrlPr>
                        </m:sSupPr>
                        <m:e>
                          <m:r>
                            <a:rPr lang="en-US" sz="2400" i="1">
                              <a:latin typeface="Cambria Math" panose="02040503050406030204" pitchFamily="18" charset="0"/>
                            </a:rPr>
                            <m:t>𝑆</m:t>
                          </m:r>
                        </m:e>
                        <m:sup>
                          <m:r>
                            <a:rPr lang="en-US" sz="2400">
                              <a:latin typeface="Cambria Math" panose="02040503050406030204" pitchFamily="18" charset="0"/>
                            </a:rPr>
                            <m:t>†</m:t>
                          </m:r>
                        </m:sup>
                      </m:sSup>
                      <m:r>
                        <a:rPr lang="en-US" sz="2400" i="0">
                          <a:latin typeface="Cambria Math" panose="02040503050406030204" pitchFamily="18" charset="0"/>
                        </a:rPr>
                        <m:t>=</m:t>
                      </m:r>
                      <m:d>
                        <m:dPr>
                          <m:ctrlPr>
                            <a:rPr lang="en-US" sz="2400" i="1">
                              <a:latin typeface="Cambria Math" panose="02040503050406030204" pitchFamily="18" charset="0"/>
                            </a:rPr>
                          </m:ctrlPr>
                        </m:dPr>
                        <m:e>
                          <m:m>
                            <m:mPr>
                              <m:plcHide m:val="on"/>
                              <m:mcs>
                                <m:mc>
                                  <m:mcPr>
                                    <m:count m:val="2"/>
                                    <m:mcJc m:val="center"/>
                                  </m:mcPr>
                                </m:mc>
                              </m:mcs>
                              <m:ctrlPr>
                                <a:rPr lang="en-US" sz="2400" i="1">
                                  <a:latin typeface="Cambria Math" panose="02040503050406030204" pitchFamily="18" charset="0"/>
                                </a:rPr>
                              </m:ctrlPr>
                            </m:mPr>
                            <m:mr>
                              <m:e>
                                <m:r>
                                  <a:rPr lang="en-US" sz="2400">
                                    <a:latin typeface="Cambria Math" panose="02040503050406030204" pitchFamily="18" charset="0"/>
                                  </a:rPr>
                                  <m:t>1</m:t>
                                </m:r>
                              </m:e>
                              <m:e>
                                <m:r>
                                  <a:rPr lang="en-US" sz="2400">
                                    <a:latin typeface="Cambria Math" panose="02040503050406030204" pitchFamily="18" charset="0"/>
                                  </a:rPr>
                                  <m:t>0</m:t>
                                </m:r>
                              </m:e>
                            </m:mr>
                            <m:mr>
                              <m:e>
                                <m:r>
                                  <a:rPr lang="en-US" sz="2400">
                                    <a:latin typeface="Cambria Math" panose="02040503050406030204" pitchFamily="18" charset="0"/>
                                  </a:rPr>
                                  <m:t>0</m:t>
                                </m:r>
                              </m:e>
                              <m:e>
                                <m:r>
                                  <a:rPr lang="en-US" sz="2400">
                                    <a:latin typeface="Cambria Math" panose="02040503050406030204" pitchFamily="18" charset="0"/>
                                  </a:rPr>
                                  <m:t>−</m:t>
                                </m:r>
                                <m:r>
                                  <a:rPr lang="en-US" sz="2400" i="1">
                                    <a:latin typeface="Cambria Math" panose="02040503050406030204" pitchFamily="18" charset="0"/>
                                  </a:rPr>
                                  <m:t>𝑖</m:t>
                                </m:r>
                              </m:e>
                            </m:mr>
                          </m:m>
                        </m:e>
                      </m:d>
                    </m:oMath>
                  </m:oMathPara>
                </a14:m>
                <a:endParaRPr lang="en-US" sz="2400" dirty="0"/>
              </a:p>
            </p:txBody>
          </p:sp>
        </mc:Choice>
        <mc:Fallback xmlns="">
          <p:sp>
            <p:nvSpPr>
              <p:cNvPr id="30" name="Rectangle 29">
                <a:extLst>
                  <a:ext uri="{FF2B5EF4-FFF2-40B4-BE49-F238E27FC236}">
                    <a16:creationId xmlns:a16="http://schemas.microsoft.com/office/drawing/2014/main" id="{149F2FF7-096F-BA48-9654-5CBC945AEABA}"/>
                  </a:ext>
                </a:extLst>
              </p:cNvPr>
              <p:cNvSpPr>
                <a:spLocks noRot="1" noChangeAspect="1" noMove="1" noResize="1" noEditPoints="1" noAdjustHandles="1" noChangeArrowheads="1" noChangeShapeType="1" noTextEdit="1"/>
              </p:cNvSpPr>
              <p:nvPr/>
            </p:nvSpPr>
            <p:spPr>
              <a:xfrm>
                <a:off x="1765924" y="3644968"/>
                <a:ext cx="2093458" cy="708207"/>
              </a:xfrm>
              <a:prstGeom prst="rect">
                <a:avLst/>
              </a:prstGeom>
              <a:blipFill>
                <a:blip r:embed="rId4"/>
                <a:stretch>
                  <a:fillRect b="-701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Rectangle 30">
                <a:extLst>
                  <a:ext uri="{FF2B5EF4-FFF2-40B4-BE49-F238E27FC236}">
                    <a16:creationId xmlns:a16="http://schemas.microsoft.com/office/drawing/2014/main" id="{965AC23E-FA80-4D4C-B9EE-BF05661D29BE}"/>
                  </a:ext>
                </a:extLst>
              </p:cNvPr>
              <p:cNvSpPr/>
              <p:nvPr/>
            </p:nvSpPr>
            <p:spPr>
              <a:xfrm>
                <a:off x="1765924" y="4566864"/>
                <a:ext cx="2046779" cy="83785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𝑇</m:t>
                      </m:r>
                      <m:r>
                        <a:rPr lang="en-US" sz="2400" i="0">
                          <a:latin typeface="Cambria Math" panose="02040503050406030204" pitchFamily="18" charset="0"/>
                        </a:rPr>
                        <m:t>=</m:t>
                      </m:r>
                      <m:d>
                        <m:dPr>
                          <m:ctrlPr>
                            <a:rPr lang="en-US" sz="2400" i="1">
                              <a:latin typeface="Cambria Math" panose="02040503050406030204" pitchFamily="18" charset="0"/>
                            </a:rPr>
                          </m:ctrlPr>
                        </m:dPr>
                        <m:e>
                          <m:m>
                            <m:mPr>
                              <m:mcs>
                                <m:mc>
                                  <m:mcPr>
                                    <m:count m:val="2"/>
                                    <m:mcJc m:val="center"/>
                                  </m:mcPr>
                                </m:mc>
                              </m:mcs>
                              <m:ctrlPr>
                                <a:rPr lang="en-US" sz="2400" i="1">
                                  <a:latin typeface="Cambria Math" panose="02040503050406030204" pitchFamily="18" charset="0"/>
                                </a:rPr>
                              </m:ctrlPr>
                            </m:mPr>
                            <m:mr>
                              <m:e>
                                <m:r>
                                  <a:rPr lang="en-US" sz="2400" i="1">
                                    <a:latin typeface="Cambria Math" panose="02040503050406030204" pitchFamily="18" charset="0"/>
                                  </a:rPr>
                                  <m:t>1</m:t>
                                </m:r>
                              </m:e>
                              <m:e>
                                <m:r>
                                  <a:rPr lang="en-US" sz="2400" i="1">
                                    <a:latin typeface="Cambria Math" panose="02040503050406030204" pitchFamily="18" charset="0"/>
                                  </a:rPr>
                                  <m:t>0</m:t>
                                </m:r>
                              </m:e>
                            </m:mr>
                            <m:mr>
                              <m:e>
                                <m:r>
                                  <a:rPr lang="en-US" sz="2400" i="1">
                                    <a:latin typeface="Cambria Math" panose="02040503050406030204" pitchFamily="18" charset="0"/>
                                  </a:rPr>
                                  <m:t>0</m:t>
                                </m:r>
                              </m:e>
                              <m:e>
                                <m:sSup>
                                  <m:sSupPr>
                                    <m:ctrlPr>
                                      <a:rPr lang="en-US" sz="2400" i="1">
                                        <a:latin typeface="Cambria Math" panose="02040503050406030204" pitchFamily="18" charset="0"/>
                                      </a:rPr>
                                    </m:ctrlPr>
                                  </m:sSupPr>
                                  <m:e>
                                    <m:r>
                                      <a:rPr lang="en-US" sz="2400" i="1">
                                        <a:latin typeface="Cambria Math" panose="02040503050406030204" pitchFamily="18" charset="0"/>
                                      </a:rPr>
                                      <m:t>𝑒</m:t>
                                    </m:r>
                                  </m:e>
                                  <m:sup>
                                    <m:r>
                                      <a:rPr lang="en-US" sz="2400" i="1">
                                        <a:latin typeface="Cambria Math" panose="02040503050406030204" pitchFamily="18" charset="0"/>
                                      </a:rPr>
                                      <m:t>𝑖</m:t>
                                    </m:r>
                                    <m:f>
                                      <m:fPr>
                                        <m:ctrlPr>
                                          <a:rPr lang="en-US" sz="2400" i="1">
                                            <a:latin typeface="Cambria Math" panose="02040503050406030204" pitchFamily="18" charset="0"/>
                                          </a:rPr>
                                        </m:ctrlPr>
                                      </m:fPr>
                                      <m:num>
                                        <m:r>
                                          <a:rPr lang="en-US" sz="2400" i="1">
                                            <a:latin typeface="Cambria Math" panose="02040503050406030204" pitchFamily="18" charset="0"/>
                                          </a:rPr>
                                          <m:t>𝜋</m:t>
                                        </m:r>
                                      </m:num>
                                      <m:den>
                                        <m:r>
                                          <a:rPr lang="en-US" sz="2400" i="1">
                                            <a:latin typeface="Cambria Math" panose="02040503050406030204" pitchFamily="18" charset="0"/>
                                          </a:rPr>
                                          <m:t>4</m:t>
                                        </m:r>
                                      </m:den>
                                    </m:f>
                                  </m:sup>
                                </m:sSup>
                              </m:e>
                            </m:mr>
                          </m:m>
                        </m:e>
                      </m:d>
                    </m:oMath>
                  </m:oMathPara>
                </a14:m>
                <a:endParaRPr lang="en-US" sz="2400" dirty="0"/>
              </a:p>
            </p:txBody>
          </p:sp>
        </mc:Choice>
        <mc:Fallback xmlns="">
          <p:sp>
            <p:nvSpPr>
              <p:cNvPr id="31" name="Rectangle 30">
                <a:extLst>
                  <a:ext uri="{FF2B5EF4-FFF2-40B4-BE49-F238E27FC236}">
                    <a16:creationId xmlns:a16="http://schemas.microsoft.com/office/drawing/2014/main" id="{965AC23E-FA80-4D4C-B9EE-BF05661D29BE}"/>
                  </a:ext>
                </a:extLst>
              </p:cNvPr>
              <p:cNvSpPr>
                <a:spLocks noRot="1" noChangeAspect="1" noMove="1" noResize="1" noEditPoints="1" noAdjustHandles="1" noChangeArrowheads="1" noChangeShapeType="1" noTextEdit="1"/>
              </p:cNvSpPr>
              <p:nvPr/>
            </p:nvSpPr>
            <p:spPr>
              <a:xfrm>
                <a:off x="1765924" y="4566864"/>
                <a:ext cx="2046779" cy="837858"/>
              </a:xfrm>
              <a:prstGeom prst="rect">
                <a:avLst/>
              </a:prstGeom>
              <a:blipFill>
                <a:blip r:embed="rId5"/>
                <a:stretch>
                  <a:fillRect b="-454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Rectangle 35">
                <a:extLst>
                  <a:ext uri="{FF2B5EF4-FFF2-40B4-BE49-F238E27FC236}">
                    <a16:creationId xmlns:a16="http://schemas.microsoft.com/office/drawing/2014/main" id="{32F9BF4A-151C-EE4B-A813-55B617FB609E}"/>
                  </a:ext>
                </a:extLst>
              </p:cNvPr>
              <p:cNvSpPr/>
              <p:nvPr/>
            </p:nvSpPr>
            <p:spPr>
              <a:xfrm>
                <a:off x="1890371" y="1859742"/>
                <a:ext cx="2008050" cy="71570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𝑃</m:t>
                      </m:r>
                      <m:r>
                        <m:rPr>
                          <m:nor/>
                        </m:rPr>
                        <a:rPr lang="en-US" sz="2400" b="0" i="0" smtClean="0">
                          <a:latin typeface="Cambria Math" panose="02040503050406030204" pitchFamily="18" charset="0"/>
                        </a:rPr>
                        <m:t>=</m:t>
                      </m:r>
                      <m:r>
                        <m:rPr>
                          <m:nor/>
                        </m:rPr>
                        <a:rPr lang="en-US" sz="2400" dirty="0"/>
                        <m:t> </m:t>
                      </m:r>
                      <m:d>
                        <m:dPr>
                          <m:ctrlPr>
                            <a:rPr lang="en-US" sz="2400" i="1">
                              <a:latin typeface="Cambria Math" panose="02040503050406030204" pitchFamily="18" charset="0"/>
                            </a:rPr>
                          </m:ctrlPr>
                        </m:dPr>
                        <m:e>
                          <m:m>
                            <m:mPr>
                              <m:plcHide m:val="on"/>
                              <m:mcs>
                                <m:mc>
                                  <m:mcPr>
                                    <m:count m:val="2"/>
                                    <m:mcJc m:val="center"/>
                                  </m:mcPr>
                                </m:mc>
                              </m:mcs>
                              <m:ctrlPr>
                                <a:rPr lang="en-US" sz="2400" i="1">
                                  <a:latin typeface="Cambria Math" panose="02040503050406030204" pitchFamily="18" charset="0"/>
                                </a:rPr>
                              </m:ctrlPr>
                            </m:mPr>
                            <m:mr>
                              <m:e>
                                <m:r>
                                  <a:rPr lang="en-US" sz="2400">
                                    <a:latin typeface="Cambria Math" panose="02040503050406030204" pitchFamily="18" charset="0"/>
                                  </a:rPr>
                                  <m:t>1</m:t>
                                </m:r>
                              </m:e>
                              <m:e>
                                <m:r>
                                  <a:rPr lang="en-US" sz="2400">
                                    <a:latin typeface="Cambria Math" panose="02040503050406030204" pitchFamily="18" charset="0"/>
                                  </a:rPr>
                                  <m:t>0</m:t>
                                </m:r>
                              </m:e>
                            </m:mr>
                            <m:mr>
                              <m:e>
                                <m:r>
                                  <a:rPr lang="en-US" sz="2400">
                                    <a:latin typeface="Cambria Math" panose="02040503050406030204" pitchFamily="18" charset="0"/>
                                  </a:rPr>
                                  <m:t>0</m:t>
                                </m:r>
                              </m:e>
                              <m:e>
                                <m:sSup>
                                  <m:sSupPr>
                                    <m:ctrlPr>
                                      <a:rPr lang="en-US" sz="2400" i="1">
                                        <a:latin typeface="Cambria Math" panose="02040503050406030204" pitchFamily="18" charset="0"/>
                                      </a:rPr>
                                    </m:ctrlPr>
                                  </m:sSupPr>
                                  <m:e>
                                    <m:r>
                                      <a:rPr lang="en-US" sz="2400" i="1">
                                        <a:latin typeface="Cambria Math" panose="02040503050406030204" pitchFamily="18" charset="0"/>
                                      </a:rPr>
                                      <m:t>𝑒</m:t>
                                    </m:r>
                                  </m:e>
                                  <m:sup>
                                    <m:r>
                                      <a:rPr lang="en-US" sz="2400" i="1">
                                        <a:latin typeface="Cambria Math" panose="02040503050406030204" pitchFamily="18" charset="0"/>
                                      </a:rPr>
                                      <m:t>𝑖</m:t>
                                    </m:r>
                                    <m:r>
                                      <a:rPr lang="en-US" sz="2400" i="1">
                                        <a:latin typeface="Cambria Math" panose="02040503050406030204" pitchFamily="18" charset="0"/>
                                      </a:rPr>
                                      <m:t>𝜑</m:t>
                                    </m:r>
                                  </m:sup>
                                </m:sSup>
                              </m:e>
                            </m:mr>
                          </m:m>
                        </m:e>
                      </m:d>
                    </m:oMath>
                  </m:oMathPara>
                </a14:m>
                <a:endParaRPr lang="en-US" sz="2400" dirty="0"/>
              </a:p>
            </p:txBody>
          </p:sp>
        </mc:Choice>
        <mc:Fallback xmlns="">
          <p:sp>
            <p:nvSpPr>
              <p:cNvPr id="36" name="Rectangle 35">
                <a:extLst>
                  <a:ext uri="{FF2B5EF4-FFF2-40B4-BE49-F238E27FC236}">
                    <a16:creationId xmlns:a16="http://schemas.microsoft.com/office/drawing/2014/main" id="{32F9BF4A-151C-EE4B-A813-55B617FB609E}"/>
                  </a:ext>
                </a:extLst>
              </p:cNvPr>
              <p:cNvSpPr>
                <a:spLocks noRot="1" noChangeAspect="1" noMove="1" noResize="1" noEditPoints="1" noAdjustHandles="1" noChangeArrowheads="1" noChangeShapeType="1" noTextEdit="1"/>
              </p:cNvSpPr>
              <p:nvPr/>
            </p:nvSpPr>
            <p:spPr>
              <a:xfrm>
                <a:off x="1890371" y="1859742"/>
                <a:ext cx="2008050" cy="715709"/>
              </a:xfrm>
              <a:prstGeom prst="rect">
                <a:avLst/>
              </a:prstGeom>
              <a:blipFill>
                <a:blip r:embed="rId6"/>
                <a:stretch>
                  <a:fillRect b="-862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A41F298D-2142-3447-964A-88FBF8974F35}"/>
                  </a:ext>
                </a:extLst>
              </p:cNvPr>
              <p:cNvSpPr txBox="1"/>
              <p:nvPr/>
            </p:nvSpPr>
            <p:spPr>
              <a:xfrm>
                <a:off x="3934637" y="2002603"/>
                <a:ext cx="6190902" cy="461665"/>
              </a:xfrm>
              <a:prstGeom prst="rect">
                <a:avLst/>
              </a:prstGeom>
              <a:noFill/>
            </p:spPr>
            <p:txBody>
              <a:bodyPr wrap="square" rtlCol="0">
                <a:spAutoFit/>
              </a:bodyPr>
              <a:lstStyle/>
              <a:p>
                <a:pPr algn="ctr"/>
                <a:r>
                  <a:rPr lang="en-ZA" sz="2400" dirty="0">
                    <a:latin typeface="+mj-lt"/>
                  </a:rPr>
                  <a:t>rotation about the</a:t>
                </a:r>
                <a:r>
                  <a:rPr lang="en-US" sz="2400" dirty="0">
                    <a:latin typeface="+mj-lt"/>
                  </a:rPr>
                  <a:t>  </a:t>
                </a:r>
                <a14:m>
                  <m:oMath xmlns:m="http://schemas.openxmlformats.org/officeDocument/2006/math">
                    <m:r>
                      <a:rPr lang="en-US" sz="2400" i="1">
                        <a:latin typeface="Cambria Math" panose="02040503050406030204" pitchFamily="18" charset="0"/>
                      </a:rPr>
                      <m:t>𝑧</m:t>
                    </m:r>
                  </m:oMath>
                </a14:m>
                <a:r>
                  <a:rPr lang="en-US" sz="2400" dirty="0">
                    <a:latin typeface="+mj-lt"/>
                  </a:rPr>
                  <a:t>–axis by an angle </a:t>
                </a:r>
                <a14:m>
                  <m:oMath xmlns:m="http://schemas.openxmlformats.org/officeDocument/2006/math">
                    <m:r>
                      <a:rPr lang="en-US" sz="2400" i="1">
                        <a:latin typeface="Cambria Math" panose="02040503050406030204" pitchFamily="18" charset="0"/>
                      </a:rPr>
                      <m:t>𝜑</m:t>
                    </m:r>
                  </m:oMath>
                </a14:m>
                <a:r>
                  <a:rPr lang="en-US" sz="2400" dirty="0">
                    <a:latin typeface="+mj-lt"/>
                  </a:rPr>
                  <a:t>.</a:t>
                </a:r>
              </a:p>
            </p:txBody>
          </p:sp>
        </mc:Choice>
        <mc:Fallback xmlns="">
          <p:sp>
            <p:nvSpPr>
              <p:cNvPr id="37" name="TextBox 36">
                <a:extLst>
                  <a:ext uri="{FF2B5EF4-FFF2-40B4-BE49-F238E27FC236}">
                    <a16:creationId xmlns:a16="http://schemas.microsoft.com/office/drawing/2014/main" id="{A41F298D-2142-3447-964A-88FBF8974F35}"/>
                  </a:ext>
                </a:extLst>
              </p:cNvPr>
              <p:cNvSpPr txBox="1">
                <a:spLocks noRot="1" noChangeAspect="1" noMove="1" noResize="1" noEditPoints="1" noAdjustHandles="1" noChangeArrowheads="1" noChangeShapeType="1" noTextEdit="1"/>
              </p:cNvSpPr>
              <p:nvPr/>
            </p:nvSpPr>
            <p:spPr>
              <a:xfrm>
                <a:off x="3934637" y="2002603"/>
                <a:ext cx="6190902" cy="461665"/>
              </a:xfrm>
              <a:prstGeom prst="rect">
                <a:avLst/>
              </a:prstGeom>
              <a:blipFill>
                <a:blip r:embed="rId7"/>
                <a:stretch>
                  <a:fillRect t="-8108" b="-27027"/>
                </a:stretch>
              </a:blipFill>
            </p:spPr>
            <p:txBody>
              <a:bodyPr/>
              <a:lstStyle/>
              <a:p>
                <a:r>
                  <a:rPr lang="en-US">
                    <a:noFill/>
                  </a:rPr>
                  <a:t> </a:t>
                </a:r>
              </a:p>
            </p:txBody>
          </p:sp>
        </mc:Fallback>
      </mc:AlternateContent>
      <p:sp>
        <p:nvSpPr>
          <p:cNvPr id="43" name="Rectangle 42">
            <a:extLst>
              <a:ext uri="{FF2B5EF4-FFF2-40B4-BE49-F238E27FC236}">
                <a16:creationId xmlns:a16="http://schemas.microsoft.com/office/drawing/2014/main" id="{0824DC6C-CEC9-3E4E-8DF1-99A0070F2BD7}"/>
              </a:ext>
            </a:extLst>
          </p:cNvPr>
          <p:cNvSpPr/>
          <p:nvPr/>
        </p:nvSpPr>
        <p:spPr>
          <a:xfrm>
            <a:off x="9948166" y="2033014"/>
            <a:ext cx="1723549" cy="400110"/>
          </a:xfrm>
          <a:prstGeom prst="rect">
            <a:avLst/>
          </a:prstGeom>
        </p:spPr>
        <p:txBody>
          <a:bodyPr wrap="none">
            <a:spAutoFit/>
          </a:bodyPr>
          <a:lstStyle/>
          <a:p>
            <a:r>
              <a:rPr lang="sr-Latn-RS" sz="2000" dirty="0" err="1">
                <a:latin typeface="Menlo" panose="020B0609030804020204" pitchFamily="49" charset="0"/>
                <a:ea typeface="Menlo" panose="020B0609030804020204" pitchFamily="49" charset="0"/>
                <a:cs typeface="Menlo" panose="020B0609030804020204" pitchFamily="49" charset="0"/>
              </a:rPr>
              <a:t>p</a:t>
            </a:r>
            <a:r>
              <a:rPr lang="sr-Latn-RS" sz="2000" dirty="0">
                <a:latin typeface="Menlo" panose="020B0609030804020204" pitchFamily="49" charset="0"/>
                <a:ea typeface="Menlo" panose="020B0609030804020204" pitchFamily="49" charset="0"/>
                <a:cs typeface="Menlo" panose="020B0609030804020204" pitchFamily="49" charset="0"/>
              </a:rPr>
              <a:t>(</a:t>
            </a:r>
            <a:r>
              <a:rPr lang="sr-Latn-RS" sz="2000" dirty="0" err="1">
                <a:latin typeface="Menlo" panose="020B0609030804020204" pitchFamily="49" charset="0"/>
                <a:ea typeface="Menlo" panose="020B0609030804020204" pitchFamily="49" charset="0"/>
                <a:cs typeface="Menlo" panose="020B0609030804020204" pitchFamily="49" charset="0"/>
              </a:rPr>
              <a:t>f</a:t>
            </a:r>
            <a:r>
              <a:rPr lang="sr-Latn-RS" sz="2000" dirty="0">
                <a:latin typeface="Menlo" panose="020B0609030804020204" pitchFamily="49" charset="0"/>
                <a:ea typeface="Menlo" panose="020B0609030804020204" pitchFamily="49" charset="0"/>
                <a:cs typeface="Menlo" panose="020B0609030804020204" pitchFamily="49" charset="0"/>
              </a:rPr>
              <a:t>) </a:t>
            </a:r>
            <a:r>
              <a:rPr lang="sr-Latn-RS" sz="2000" dirty="0" err="1">
                <a:latin typeface="Menlo" panose="020B0609030804020204" pitchFamily="49" charset="0"/>
                <a:ea typeface="Menlo" panose="020B0609030804020204" pitchFamily="49" charset="0"/>
                <a:cs typeface="Menlo" panose="020B0609030804020204" pitchFamily="49" charset="0"/>
              </a:rPr>
              <a:t>q</a:t>
            </a:r>
            <a:r>
              <a:rPr lang="sr-Latn-RS" sz="2000" dirty="0">
                <a:latin typeface="Menlo" panose="020B0609030804020204" pitchFamily="49" charset="0"/>
                <a:ea typeface="Menlo" panose="020B0609030804020204" pitchFamily="49" charset="0"/>
                <a:cs typeface="Menlo" panose="020B0609030804020204" pitchFamily="49" charset="0"/>
              </a:rPr>
              <a:t>[i];</a:t>
            </a:r>
            <a:endParaRPr lang="en-US" sz="2000" dirty="0">
              <a:effectLst/>
              <a:latin typeface="Menlo" panose="020B0609030804020204" pitchFamily="49" charset="0"/>
              <a:ea typeface="Menlo" panose="020B0609030804020204" pitchFamily="49" charset="0"/>
              <a:cs typeface="Menlo" panose="020B0609030804020204" pitchFamily="49" charset="0"/>
            </a:endParaRPr>
          </a:p>
        </p:txBody>
      </p:sp>
      <p:sp>
        <p:nvSpPr>
          <p:cNvPr id="45" name="Rectangle 44">
            <a:extLst>
              <a:ext uri="{FF2B5EF4-FFF2-40B4-BE49-F238E27FC236}">
                <a16:creationId xmlns:a16="http://schemas.microsoft.com/office/drawing/2014/main" id="{C5BBC8E7-110F-C349-BCC2-F2E96AA83C0A}"/>
              </a:ext>
            </a:extLst>
          </p:cNvPr>
          <p:cNvSpPr/>
          <p:nvPr/>
        </p:nvSpPr>
        <p:spPr>
          <a:xfrm>
            <a:off x="10140960" y="2977830"/>
            <a:ext cx="1415772" cy="400110"/>
          </a:xfrm>
          <a:prstGeom prst="rect">
            <a:avLst/>
          </a:prstGeom>
        </p:spPr>
        <p:txBody>
          <a:bodyPr wrap="none">
            <a:spAutoFit/>
          </a:bodyPr>
          <a:lstStyle/>
          <a:p>
            <a:r>
              <a:rPr lang="en-US" sz="2000" dirty="0">
                <a:latin typeface="AndaleMono" panose="020B0509000000000004" pitchFamily="49" charset="0"/>
              </a:rPr>
              <a:t>s q[</a:t>
            </a:r>
            <a:r>
              <a:rPr lang="en-US" sz="2000" dirty="0" err="1">
                <a:latin typeface="AndaleMono" panose="020B0509000000000004" pitchFamily="49" charset="0"/>
              </a:rPr>
              <a:t>i</a:t>
            </a:r>
            <a:r>
              <a:rPr lang="en-US" sz="2000" dirty="0">
                <a:latin typeface="AndaleMono" panose="020B0509000000000004" pitchFamily="49" charset="0"/>
              </a:rPr>
              <a:t>]; </a:t>
            </a:r>
            <a:endParaRPr lang="en-US" sz="2000" dirty="0">
              <a:effectLst/>
            </a:endParaRPr>
          </a:p>
        </p:txBody>
      </p:sp>
      <p:sp>
        <p:nvSpPr>
          <p:cNvPr id="46" name="Rectangle 45">
            <a:extLst>
              <a:ext uri="{FF2B5EF4-FFF2-40B4-BE49-F238E27FC236}">
                <a16:creationId xmlns:a16="http://schemas.microsoft.com/office/drawing/2014/main" id="{CAB342D8-F9DE-D340-836B-785FA9B20C3A}"/>
              </a:ext>
            </a:extLst>
          </p:cNvPr>
          <p:cNvSpPr/>
          <p:nvPr/>
        </p:nvSpPr>
        <p:spPr>
          <a:xfrm>
            <a:off x="3966830" y="2903960"/>
            <a:ext cx="6126516" cy="461665"/>
          </a:xfrm>
          <a:prstGeom prst="rect">
            <a:avLst/>
          </a:prstGeom>
        </p:spPr>
        <p:txBody>
          <a:bodyPr wrap="square">
            <a:spAutoFit/>
          </a:bodyPr>
          <a:lstStyle/>
          <a:p>
            <a:pPr algn="ctr"/>
            <a:r>
              <a:rPr lang="en-ZA" sz="2400" dirty="0">
                <a:latin typeface="+mj-lt"/>
              </a:rPr>
              <a:t>a </a:t>
            </a:r>
            <a:r>
              <a:rPr lang="en-US" sz="2400" dirty="0">
                <a:latin typeface="+mj-lt"/>
              </a:rPr>
              <a:t>𝜋/2</a:t>
            </a:r>
            <a:r>
              <a:rPr lang="el-GR" sz="2400" dirty="0">
                <a:latin typeface="+mj-lt"/>
              </a:rPr>
              <a:t> </a:t>
            </a:r>
            <a:r>
              <a:rPr lang="en-ZA" sz="2400" dirty="0">
                <a:latin typeface="+mj-lt"/>
              </a:rPr>
              <a:t>rotation about the z-axis / maps </a:t>
            </a:r>
            <a:r>
              <a:rPr lang="en-US" sz="2400" dirty="0">
                <a:latin typeface="+mj-lt"/>
              </a:rPr>
              <a:t>x</a:t>
            </a:r>
            <a:r>
              <a:rPr lang="en-ZA" sz="2400" dirty="0">
                <a:latin typeface="+mj-lt"/>
              </a:rPr>
              <a:t> to y.</a:t>
            </a:r>
            <a:endParaRPr lang="en-US" sz="2400" dirty="0">
              <a:latin typeface="+mj-lt"/>
            </a:endParaRPr>
          </a:p>
        </p:txBody>
      </p:sp>
      <p:sp>
        <p:nvSpPr>
          <p:cNvPr id="47" name="Rectangle 46">
            <a:extLst>
              <a:ext uri="{FF2B5EF4-FFF2-40B4-BE49-F238E27FC236}">
                <a16:creationId xmlns:a16="http://schemas.microsoft.com/office/drawing/2014/main" id="{C1A989EA-CDA0-A24A-B45E-18FB3F4A0E07}"/>
              </a:ext>
            </a:extLst>
          </p:cNvPr>
          <p:cNvSpPr/>
          <p:nvPr/>
        </p:nvSpPr>
        <p:spPr>
          <a:xfrm>
            <a:off x="10172974" y="3845998"/>
            <a:ext cx="1884425" cy="400110"/>
          </a:xfrm>
          <a:prstGeom prst="rect">
            <a:avLst/>
          </a:prstGeom>
        </p:spPr>
        <p:txBody>
          <a:bodyPr wrap="square">
            <a:spAutoFit/>
          </a:bodyPr>
          <a:lstStyle/>
          <a:p>
            <a:r>
              <a:rPr lang="en-US" sz="2000" dirty="0" err="1">
                <a:latin typeface="AndaleMono" panose="020B0509000000000004" pitchFamily="49" charset="0"/>
              </a:rPr>
              <a:t>sdg</a:t>
            </a:r>
            <a:r>
              <a:rPr lang="en-US" sz="2000" dirty="0">
                <a:latin typeface="AndaleMono" panose="020B0509000000000004" pitchFamily="49" charset="0"/>
              </a:rPr>
              <a:t> q[</a:t>
            </a:r>
            <a:r>
              <a:rPr lang="en-US" sz="2000" dirty="0" err="1">
                <a:latin typeface="AndaleMono" panose="020B0509000000000004" pitchFamily="49" charset="0"/>
              </a:rPr>
              <a:t>i</a:t>
            </a:r>
            <a:r>
              <a:rPr lang="en-US" sz="2000" dirty="0">
                <a:latin typeface="AndaleMono" panose="020B0509000000000004" pitchFamily="49" charset="0"/>
              </a:rPr>
              <a:t>]; </a:t>
            </a:r>
            <a:endParaRPr lang="en-US" sz="2000" dirty="0">
              <a:effectLst/>
            </a:endParaRPr>
          </a:p>
        </p:txBody>
      </p:sp>
      <mc:AlternateContent xmlns:mc="http://schemas.openxmlformats.org/markup-compatibility/2006" xmlns:a14="http://schemas.microsoft.com/office/drawing/2010/main">
        <mc:Choice Requires="a14">
          <p:sp>
            <p:nvSpPr>
              <p:cNvPr id="50" name="Rectangle 49">
                <a:extLst>
                  <a:ext uri="{FF2B5EF4-FFF2-40B4-BE49-F238E27FC236}">
                    <a16:creationId xmlns:a16="http://schemas.microsoft.com/office/drawing/2014/main" id="{5E7AD929-44D1-D341-9B83-71ADAB43302C}"/>
                  </a:ext>
                </a:extLst>
              </p:cNvPr>
              <p:cNvSpPr/>
              <p:nvPr/>
            </p:nvSpPr>
            <p:spPr>
              <a:xfrm>
                <a:off x="3859382" y="4693491"/>
                <a:ext cx="6096000" cy="461665"/>
              </a:xfrm>
              <a:prstGeom prst="rect">
                <a:avLst/>
              </a:prstGeom>
            </p:spPr>
            <p:txBody>
              <a:bodyPr>
                <a:spAutoFit/>
              </a:bodyPr>
              <a:lstStyle/>
              <a:p>
                <a:pPr algn="ctr"/>
                <a:r>
                  <a:rPr lang="en-ZA" sz="2400" dirty="0">
                    <a:latin typeface="+mj-lt"/>
                  </a:rPr>
                  <a:t>rotation about the</a:t>
                </a:r>
                <a:r>
                  <a:rPr lang="en-US" sz="2400" dirty="0">
                    <a:latin typeface="+mj-lt"/>
                  </a:rPr>
                  <a:t>  </a:t>
                </a:r>
                <a14:m>
                  <m:oMath xmlns:m="http://schemas.openxmlformats.org/officeDocument/2006/math">
                    <m:r>
                      <a:rPr lang="en-US" sz="2400" i="1">
                        <a:latin typeface="Cambria Math" panose="02040503050406030204" pitchFamily="18" charset="0"/>
                      </a:rPr>
                      <m:t>𝑧</m:t>
                    </m:r>
                  </m:oMath>
                </a14:m>
                <a:r>
                  <a:rPr lang="en-US" sz="2400" dirty="0">
                    <a:latin typeface="+mj-lt"/>
                  </a:rPr>
                  <a:t>–axis by 𝜋/4</a:t>
                </a:r>
              </a:p>
            </p:txBody>
          </p:sp>
        </mc:Choice>
        <mc:Fallback xmlns="">
          <p:sp>
            <p:nvSpPr>
              <p:cNvPr id="50" name="Rectangle 49">
                <a:extLst>
                  <a:ext uri="{FF2B5EF4-FFF2-40B4-BE49-F238E27FC236}">
                    <a16:creationId xmlns:a16="http://schemas.microsoft.com/office/drawing/2014/main" id="{5E7AD929-44D1-D341-9B83-71ADAB43302C}"/>
                  </a:ext>
                </a:extLst>
              </p:cNvPr>
              <p:cNvSpPr>
                <a:spLocks noRot="1" noChangeAspect="1" noMove="1" noResize="1" noEditPoints="1" noAdjustHandles="1" noChangeArrowheads="1" noChangeShapeType="1" noTextEdit="1"/>
              </p:cNvSpPr>
              <p:nvPr/>
            </p:nvSpPr>
            <p:spPr>
              <a:xfrm>
                <a:off x="3859382" y="4693491"/>
                <a:ext cx="6096000" cy="461665"/>
              </a:xfrm>
              <a:prstGeom prst="rect">
                <a:avLst/>
              </a:prstGeom>
              <a:blipFill>
                <a:blip r:embed="rId8"/>
                <a:stretch>
                  <a:fillRect t="-10811" b="-24324"/>
                </a:stretch>
              </a:blipFill>
            </p:spPr>
            <p:txBody>
              <a:bodyPr/>
              <a:lstStyle/>
              <a:p>
                <a:r>
                  <a:rPr lang="en-US">
                    <a:noFill/>
                  </a:rPr>
                  <a:t> </a:t>
                </a:r>
              </a:p>
            </p:txBody>
          </p:sp>
        </mc:Fallback>
      </mc:AlternateContent>
      <p:cxnSp>
        <p:nvCxnSpPr>
          <p:cNvPr id="53" name="Straight Connector 52">
            <a:extLst>
              <a:ext uri="{FF2B5EF4-FFF2-40B4-BE49-F238E27FC236}">
                <a16:creationId xmlns:a16="http://schemas.microsoft.com/office/drawing/2014/main" id="{8A527968-DE7C-FE4A-A9DB-19FD054BF655}"/>
              </a:ext>
            </a:extLst>
          </p:cNvPr>
          <p:cNvCxnSpPr>
            <a:cxnSpLocks/>
          </p:cNvCxnSpPr>
          <p:nvPr/>
        </p:nvCxnSpPr>
        <p:spPr>
          <a:xfrm flipV="1">
            <a:off x="9948166" y="1160053"/>
            <a:ext cx="0" cy="5164118"/>
          </a:xfrm>
          <a:prstGeom prst="line">
            <a:avLst/>
          </a:prstGeom>
        </p:spPr>
        <p:style>
          <a:lnRef idx="1">
            <a:schemeClr val="accent1"/>
          </a:lnRef>
          <a:fillRef idx="0">
            <a:schemeClr val="accent1"/>
          </a:fillRef>
          <a:effectRef idx="0">
            <a:schemeClr val="accent1"/>
          </a:effectRef>
          <a:fontRef idx="minor">
            <a:schemeClr val="tx1"/>
          </a:fontRef>
        </p:style>
      </p:cxnSp>
      <p:sp>
        <p:nvSpPr>
          <p:cNvPr id="54" name="Rectangle 53">
            <a:extLst>
              <a:ext uri="{FF2B5EF4-FFF2-40B4-BE49-F238E27FC236}">
                <a16:creationId xmlns:a16="http://schemas.microsoft.com/office/drawing/2014/main" id="{462D2387-624F-AE4E-A73E-6D30FABE37BA}"/>
              </a:ext>
            </a:extLst>
          </p:cNvPr>
          <p:cNvSpPr/>
          <p:nvPr/>
        </p:nvSpPr>
        <p:spPr>
          <a:xfrm>
            <a:off x="795485" y="2905929"/>
            <a:ext cx="540000" cy="540000"/>
          </a:xfrm>
          <a:prstGeom prst="rect">
            <a:avLst/>
          </a:prstGeom>
          <a:solidFill>
            <a:srgbClr val="33B1F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Times" pitchFamily="2" charset="0"/>
              </a:rPr>
              <a:t>S</a:t>
            </a:r>
          </a:p>
        </p:txBody>
      </p:sp>
      <p:sp>
        <p:nvSpPr>
          <p:cNvPr id="56" name="Rectangle 55">
            <a:extLst>
              <a:ext uri="{FF2B5EF4-FFF2-40B4-BE49-F238E27FC236}">
                <a16:creationId xmlns:a16="http://schemas.microsoft.com/office/drawing/2014/main" id="{A2D4F4CA-3B4F-3E4E-B271-DC0DCB2474FB}"/>
              </a:ext>
            </a:extLst>
          </p:cNvPr>
          <p:cNvSpPr/>
          <p:nvPr/>
        </p:nvSpPr>
        <p:spPr>
          <a:xfrm>
            <a:off x="815935" y="3802701"/>
            <a:ext cx="540000" cy="540000"/>
          </a:xfrm>
          <a:prstGeom prst="rect">
            <a:avLst/>
          </a:prstGeom>
          <a:solidFill>
            <a:srgbClr val="33B1F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Times" pitchFamily="2" charset="0"/>
              </a:rPr>
              <a:t>S</a:t>
            </a:r>
            <a:r>
              <a:rPr lang="en-US" sz="2800" baseline="30000" dirty="0">
                <a:solidFill>
                  <a:schemeClr val="tx1"/>
                </a:solidFill>
                <a:latin typeface="Times" pitchFamily="2" charset="0"/>
              </a:rPr>
              <a:t>†</a:t>
            </a:r>
          </a:p>
        </p:txBody>
      </p:sp>
      <p:sp>
        <p:nvSpPr>
          <p:cNvPr id="57" name="Rectangle 56">
            <a:extLst>
              <a:ext uri="{FF2B5EF4-FFF2-40B4-BE49-F238E27FC236}">
                <a16:creationId xmlns:a16="http://schemas.microsoft.com/office/drawing/2014/main" id="{B466EFAD-DC01-2046-8034-B2AB21BAAA5E}"/>
              </a:ext>
            </a:extLst>
          </p:cNvPr>
          <p:cNvSpPr/>
          <p:nvPr/>
        </p:nvSpPr>
        <p:spPr>
          <a:xfrm>
            <a:off x="815935" y="4661401"/>
            <a:ext cx="540000" cy="540000"/>
          </a:xfrm>
          <a:prstGeom prst="rect">
            <a:avLst/>
          </a:prstGeom>
          <a:solidFill>
            <a:srgbClr val="33B1F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Times" pitchFamily="2" charset="0"/>
              </a:rPr>
              <a:t>T</a:t>
            </a:r>
          </a:p>
        </p:txBody>
      </p:sp>
      <p:sp>
        <p:nvSpPr>
          <p:cNvPr id="58" name="Rectangle 57">
            <a:extLst>
              <a:ext uri="{FF2B5EF4-FFF2-40B4-BE49-F238E27FC236}">
                <a16:creationId xmlns:a16="http://schemas.microsoft.com/office/drawing/2014/main" id="{94EE2EAE-B741-754F-A812-FE6509089A5F}"/>
              </a:ext>
            </a:extLst>
          </p:cNvPr>
          <p:cNvSpPr/>
          <p:nvPr/>
        </p:nvSpPr>
        <p:spPr>
          <a:xfrm>
            <a:off x="815935" y="5585941"/>
            <a:ext cx="540000" cy="540000"/>
          </a:xfrm>
          <a:prstGeom prst="rect">
            <a:avLst/>
          </a:prstGeom>
          <a:solidFill>
            <a:srgbClr val="33B1F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Times" pitchFamily="2" charset="0"/>
              </a:rPr>
              <a:t>T</a:t>
            </a:r>
            <a:r>
              <a:rPr lang="en-US" sz="2800" baseline="30000" dirty="0">
                <a:solidFill>
                  <a:schemeClr val="tx1"/>
                </a:solidFill>
                <a:latin typeface="Times" pitchFamily="2" charset="0"/>
              </a:rPr>
              <a:t>†</a:t>
            </a:r>
          </a:p>
        </p:txBody>
      </p:sp>
      <p:sp>
        <p:nvSpPr>
          <p:cNvPr id="59" name="Rectangle 58">
            <a:extLst>
              <a:ext uri="{FF2B5EF4-FFF2-40B4-BE49-F238E27FC236}">
                <a16:creationId xmlns:a16="http://schemas.microsoft.com/office/drawing/2014/main" id="{2E4225DC-1CE7-6E4C-A26F-585CCD840C8D}"/>
              </a:ext>
            </a:extLst>
          </p:cNvPr>
          <p:cNvSpPr/>
          <p:nvPr/>
        </p:nvSpPr>
        <p:spPr>
          <a:xfrm>
            <a:off x="815935" y="1988060"/>
            <a:ext cx="540000" cy="540000"/>
          </a:xfrm>
          <a:prstGeom prst="rect">
            <a:avLst/>
          </a:prstGeom>
          <a:solidFill>
            <a:srgbClr val="33B1F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Times" pitchFamily="2" charset="0"/>
              </a:rPr>
              <a:t>P</a:t>
            </a:r>
          </a:p>
        </p:txBody>
      </p:sp>
      <mc:AlternateContent xmlns:mc="http://schemas.openxmlformats.org/markup-compatibility/2006" xmlns:a14="http://schemas.microsoft.com/office/drawing/2010/main">
        <mc:Choice Requires="a14">
          <p:sp>
            <p:nvSpPr>
              <p:cNvPr id="60" name="Rectangle 59">
                <a:extLst>
                  <a:ext uri="{FF2B5EF4-FFF2-40B4-BE49-F238E27FC236}">
                    <a16:creationId xmlns:a16="http://schemas.microsoft.com/office/drawing/2014/main" id="{47D25694-5A9B-8645-A367-0D86FCE1FC9C}"/>
                  </a:ext>
                </a:extLst>
              </p:cNvPr>
              <p:cNvSpPr/>
              <p:nvPr/>
            </p:nvSpPr>
            <p:spPr>
              <a:xfrm>
                <a:off x="1648202" y="5459847"/>
                <a:ext cx="2364237" cy="83785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400" i="1" smtClean="0">
                              <a:latin typeface="Cambria Math" panose="02040503050406030204" pitchFamily="18" charset="0"/>
                            </a:rPr>
                          </m:ctrlPr>
                        </m:sSupPr>
                        <m:e>
                          <m:r>
                            <a:rPr lang="en-US" sz="2400" i="1">
                              <a:latin typeface="Cambria Math" panose="02040503050406030204" pitchFamily="18" charset="0"/>
                            </a:rPr>
                            <m:t>𝑇</m:t>
                          </m:r>
                        </m:e>
                        <m:sup>
                          <m:r>
                            <a:rPr lang="en-US" sz="2400">
                              <a:latin typeface="Cambria Math" panose="02040503050406030204" pitchFamily="18" charset="0"/>
                            </a:rPr>
                            <m:t>†</m:t>
                          </m:r>
                        </m:sup>
                      </m:sSup>
                      <m:r>
                        <a:rPr lang="en-US" sz="2400" i="0">
                          <a:latin typeface="Cambria Math" panose="02040503050406030204" pitchFamily="18" charset="0"/>
                        </a:rPr>
                        <m:t>=</m:t>
                      </m:r>
                      <m:d>
                        <m:dPr>
                          <m:ctrlPr>
                            <a:rPr lang="en-US" sz="2400" i="1">
                              <a:latin typeface="Cambria Math" panose="02040503050406030204" pitchFamily="18" charset="0"/>
                            </a:rPr>
                          </m:ctrlPr>
                        </m:dPr>
                        <m:e>
                          <m:m>
                            <m:mPr>
                              <m:mcs>
                                <m:mc>
                                  <m:mcPr>
                                    <m:count m:val="2"/>
                                    <m:mcJc m:val="center"/>
                                  </m:mcPr>
                                </m:mc>
                              </m:mcs>
                              <m:ctrlPr>
                                <a:rPr lang="en-US" sz="2400" i="1">
                                  <a:latin typeface="Cambria Math" panose="02040503050406030204" pitchFamily="18" charset="0"/>
                                </a:rPr>
                              </m:ctrlPr>
                            </m:mPr>
                            <m:mr>
                              <m:e>
                                <m:r>
                                  <a:rPr lang="en-US" sz="2400" i="1">
                                    <a:latin typeface="Cambria Math" panose="02040503050406030204" pitchFamily="18" charset="0"/>
                                  </a:rPr>
                                  <m:t>1</m:t>
                                </m:r>
                              </m:e>
                              <m:e>
                                <m:r>
                                  <a:rPr lang="en-US" sz="2400" i="1">
                                    <a:latin typeface="Cambria Math" panose="02040503050406030204" pitchFamily="18" charset="0"/>
                                  </a:rPr>
                                  <m:t>0</m:t>
                                </m:r>
                              </m:e>
                            </m:mr>
                            <m:mr>
                              <m:e>
                                <m:r>
                                  <a:rPr lang="en-US" sz="2400" i="1">
                                    <a:latin typeface="Cambria Math" panose="02040503050406030204" pitchFamily="18" charset="0"/>
                                  </a:rPr>
                                  <m:t>0</m:t>
                                </m:r>
                              </m:e>
                              <m:e>
                                <m:sSup>
                                  <m:sSupPr>
                                    <m:ctrlPr>
                                      <a:rPr lang="en-US" sz="2400" i="1">
                                        <a:latin typeface="Cambria Math" panose="02040503050406030204" pitchFamily="18" charset="0"/>
                                      </a:rPr>
                                    </m:ctrlPr>
                                  </m:sSupPr>
                                  <m:e>
                                    <m:r>
                                      <a:rPr lang="en-US" sz="2400" i="1">
                                        <a:latin typeface="Cambria Math" panose="02040503050406030204" pitchFamily="18" charset="0"/>
                                      </a:rPr>
                                      <m:t>𝑒</m:t>
                                    </m:r>
                                  </m:e>
                                  <m:sup>
                                    <m:r>
                                      <a:rPr lang="en-US" sz="2400" b="0" i="1" smtClean="0">
                                        <a:latin typeface="Cambria Math" panose="02040503050406030204" pitchFamily="18" charset="0"/>
                                      </a:rPr>
                                      <m:t>−</m:t>
                                    </m:r>
                                    <m:r>
                                      <a:rPr lang="en-US" sz="2400" i="1">
                                        <a:latin typeface="Cambria Math" panose="02040503050406030204" pitchFamily="18" charset="0"/>
                                      </a:rPr>
                                      <m:t>𝑖</m:t>
                                    </m:r>
                                    <m:f>
                                      <m:fPr>
                                        <m:ctrlPr>
                                          <a:rPr lang="en-US" sz="2400" i="1">
                                            <a:latin typeface="Cambria Math" panose="02040503050406030204" pitchFamily="18" charset="0"/>
                                          </a:rPr>
                                        </m:ctrlPr>
                                      </m:fPr>
                                      <m:num>
                                        <m:r>
                                          <a:rPr lang="en-US" sz="2400" i="1">
                                            <a:latin typeface="Cambria Math" panose="02040503050406030204" pitchFamily="18" charset="0"/>
                                          </a:rPr>
                                          <m:t>𝜋</m:t>
                                        </m:r>
                                      </m:num>
                                      <m:den>
                                        <m:r>
                                          <a:rPr lang="en-US" sz="2400" i="1">
                                            <a:latin typeface="Cambria Math" panose="02040503050406030204" pitchFamily="18" charset="0"/>
                                          </a:rPr>
                                          <m:t>4</m:t>
                                        </m:r>
                                      </m:den>
                                    </m:f>
                                  </m:sup>
                                </m:sSup>
                              </m:e>
                            </m:mr>
                          </m:m>
                        </m:e>
                      </m:d>
                    </m:oMath>
                  </m:oMathPara>
                </a14:m>
                <a:endParaRPr lang="en-US" sz="2400" dirty="0"/>
              </a:p>
            </p:txBody>
          </p:sp>
        </mc:Choice>
        <mc:Fallback xmlns="">
          <p:sp>
            <p:nvSpPr>
              <p:cNvPr id="60" name="Rectangle 59">
                <a:extLst>
                  <a:ext uri="{FF2B5EF4-FFF2-40B4-BE49-F238E27FC236}">
                    <a16:creationId xmlns:a16="http://schemas.microsoft.com/office/drawing/2014/main" id="{47D25694-5A9B-8645-A367-0D86FCE1FC9C}"/>
                  </a:ext>
                </a:extLst>
              </p:cNvPr>
              <p:cNvSpPr>
                <a:spLocks noRot="1" noChangeAspect="1" noMove="1" noResize="1" noEditPoints="1" noAdjustHandles="1" noChangeArrowheads="1" noChangeShapeType="1" noTextEdit="1"/>
              </p:cNvSpPr>
              <p:nvPr/>
            </p:nvSpPr>
            <p:spPr>
              <a:xfrm>
                <a:off x="1648202" y="5459847"/>
                <a:ext cx="2364237" cy="837858"/>
              </a:xfrm>
              <a:prstGeom prst="rect">
                <a:avLst/>
              </a:prstGeom>
              <a:blipFill>
                <a:blip r:embed="rId9"/>
                <a:stretch>
                  <a:fillRect b="-5970"/>
                </a:stretch>
              </a:blipFill>
            </p:spPr>
            <p:txBody>
              <a:bodyPr/>
              <a:lstStyle/>
              <a:p>
                <a:r>
                  <a:rPr lang="en-US">
                    <a:noFill/>
                  </a:rPr>
                  <a:t> </a:t>
                </a:r>
              </a:p>
            </p:txBody>
          </p:sp>
        </mc:Fallback>
      </mc:AlternateContent>
      <p:sp>
        <p:nvSpPr>
          <p:cNvPr id="63" name="Rectangle 62">
            <a:extLst>
              <a:ext uri="{FF2B5EF4-FFF2-40B4-BE49-F238E27FC236}">
                <a16:creationId xmlns:a16="http://schemas.microsoft.com/office/drawing/2014/main" id="{C56F3C59-E0BF-7444-BCF2-4A625850DC6D}"/>
              </a:ext>
            </a:extLst>
          </p:cNvPr>
          <p:cNvSpPr/>
          <p:nvPr/>
        </p:nvSpPr>
        <p:spPr>
          <a:xfrm>
            <a:off x="10107431" y="5615016"/>
            <a:ext cx="1723549" cy="400110"/>
          </a:xfrm>
          <a:prstGeom prst="rect">
            <a:avLst/>
          </a:prstGeom>
        </p:spPr>
        <p:txBody>
          <a:bodyPr wrap="none">
            <a:spAutoFit/>
          </a:bodyPr>
          <a:lstStyle/>
          <a:p>
            <a:r>
              <a:rPr lang="en-US" sz="2000" dirty="0" err="1">
                <a:latin typeface="AndaleMono" panose="020B0509000000000004" pitchFamily="49" charset="0"/>
              </a:rPr>
              <a:t>tdg</a:t>
            </a:r>
            <a:r>
              <a:rPr lang="en-US" sz="2000" dirty="0">
                <a:latin typeface="AndaleMono" panose="020B0509000000000004" pitchFamily="49" charset="0"/>
              </a:rPr>
              <a:t> q[</a:t>
            </a:r>
            <a:r>
              <a:rPr lang="en-US" sz="2000" dirty="0" err="1">
                <a:latin typeface="AndaleMono" panose="020B0509000000000004" pitchFamily="49" charset="0"/>
              </a:rPr>
              <a:t>i</a:t>
            </a:r>
            <a:r>
              <a:rPr lang="en-US" sz="2000" dirty="0">
                <a:latin typeface="AndaleMono" panose="020B0509000000000004" pitchFamily="49" charset="0"/>
              </a:rPr>
              <a:t>]; </a:t>
            </a:r>
            <a:endParaRPr lang="en-US" sz="2000" dirty="0">
              <a:effectLst/>
            </a:endParaRPr>
          </a:p>
        </p:txBody>
      </p:sp>
      <p:sp>
        <p:nvSpPr>
          <p:cNvPr id="64" name="Rectangle 63">
            <a:extLst>
              <a:ext uri="{FF2B5EF4-FFF2-40B4-BE49-F238E27FC236}">
                <a16:creationId xmlns:a16="http://schemas.microsoft.com/office/drawing/2014/main" id="{E41520DA-1118-9540-85B8-38E07BF464B0}"/>
              </a:ext>
            </a:extLst>
          </p:cNvPr>
          <p:cNvSpPr/>
          <p:nvPr/>
        </p:nvSpPr>
        <p:spPr>
          <a:xfrm>
            <a:off x="10140960" y="4736279"/>
            <a:ext cx="1415772" cy="400110"/>
          </a:xfrm>
          <a:prstGeom prst="rect">
            <a:avLst/>
          </a:prstGeom>
        </p:spPr>
        <p:txBody>
          <a:bodyPr wrap="none">
            <a:spAutoFit/>
          </a:bodyPr>
          <a:lstStyle/>
          <a:p>
            <a:r>
              <a:rPr lang="en-US" sz="2000" dirty="0">
                <a:latin typeface="AndaleMono" panose="020B0509000000000004" pitchFamily="49" charset="0"/>
              </a:rPr>
              <a:t>t q[</a:t>
            </a:r>
            <a:r>
              <a:rPr lang="en-US" sz="2000" dirty="0" err="1">
                <a:latin typeface="AndaleMono" panose="020B0509000000000004" pitchFamily="49" charset="0"/>
              </a:rPr>
              <a:t>i</a:t>
            </a:r>
            <a:r>
              <a:rPr lang="en-US" sz="2000" dirty="0">
                <a:latin typeface="AndaleMono" panose="020B0509000000000004" pitchFamily="49" charset="0"/>
              </a:rPr>
              <a:t>]; </a:t>
            </a:r>
            <a:endParaRPr lang="en-US" sz="2000" dirty="0">
              <a:effectLst/>
            </a:endParaRPr>
          </a:p>
        </p:txBody>
      </p:sp>
      <p:grpSp>
        <p:nvGrpSpPr>
          <p:cNvPr id="38" name="Group 37">
            <a:extLst>
              <a:ext uri="{FF2B5EF4-FFF2-40B4-BE49-F238E27FC236}">
                <a16:creationId xmlns:a16="http://schemas.microsoft.com/office/drawing/2014/main" id="{EC5BE6D4-7A55-7642-8217-DDCC08268FB8}"/>
              </a:ext>
            </a:extLst>
          </p:cNvPr>
          <p:cNvGrpSpPr/>
          <p:nvPr/>
        </p:nvGrpSpPr>
        <p:grpSpPr>
          <a:xfrm>
            <a:off x="669448" y="1230477"/>
            <a:ext cx="10615435" cy="461665"/>
            <a:chOff x="669448" y="1230477"/>
            <a:chExt cx="10615435" cy="461665"/>
          </a:xfrm>
        </p:grpSpPr>
        <p:sp>
          <p:nvSpPr>
            <p:cNvPr id="39" name="TextBox 38">
              <a:extLst>
                <a:ext uri="{FF2B5EF4-FFF2-40B4-BE49-F238E27FC236}">
                  <a16:creationId xmlns:a16="http://schemas.microsoft.com/office/drawing/2014/main" id="{5CD35814-5CC7-854A-A628-6B29AA0E52E7}"/>
                </a:ext>
              </a:extLst>
            </p:cNvPr>
            <p:cNvSpPr txBox="1"/>
            <p:nvPr/>
          </p:nvSpPr>
          <p:spPr>
            <a:xfrm>
              <a:off x="669448" y="1230477"/>
              <a:ext cx="1065100" cy="461665"/>
            </a:xfrm>
            <a:prstGeom prst="rect">
              <a:avLst/>
            </a:prstGeom>
            <a:noFill/>
          </p:spPr>
          <p:txBody>
            <a:bodyPr wrap="none" rtlCol="0">
              <a:spAutoFit/>
            </a:bodyPr>
            <a:lstStyle/>
            <a:p>
              <a:r>
                <a:rPr lang="en-US" sz="2400" dirty="0">
                  <a:latin typeface="+mj-lt"/>
                </a:rPr>
                <a:t>symbol</a:t>
              </a:r>
            </a:p>
          </p:txBody>
        </p:sp>
        <p:sp>
          <p:nvSpPr>
            <p:cNvPr id="40" name="TextBox 39">
              <a:extLst>
                <a:ext uri="{FF2B5EF4-FFF2-40B4-BE49-F238E27FC236}">
                  <a16:creationId xmlns:a16="http://schemas.microsoft.com/office/drawing/2014/main" id="{3A1E8CDF-C0CE-284C-8795-FF0E741A039F}"/>
                </a:ext>
              </a:extLst>
            </p:cNvPr>
            <p:cNvSpPr txBox="1"/>
            <p:nvPr/>
          </p:nvSpPr>
          <p:spPr>
            <a:xfrm>
              <a:off x="2196364" y="1230477"/>
              <a:ext cx="1262653" cy="461665"/>
            </a:xfrm>
            <a:prstGeom prst="rect">
              <a:avLst/>
            </a:prstGeom>
            <a:noFill/>
          </p:spPr>
          <p:txBody>
            <a:bodyPr wrap="none" rtlCol="0">
              <a:spAutoFit/>
            </a:bodyPr>
            <a:lstStyle/>
            <a:p>
              <a:r>
                <a:rPr lang="en-US" sz="2400" dirty="0">
                  <a:latin typeface="+mj-lt"/>
                </a:rPr>
                <a:t>operator</a:t>
              </a:r>
            </a:p>
          </p:txBody>
        </p:sp>
        <p:sp>
          <p:nvSpPr>
            <p:cNvPr id="41" name="TextBox 40">
              <a:extLst>
                <a:ext uri="{FF2B5EF4-FFF2-40B4-BE49-F238E27FC236}">
                  <a16:creationId xmlns:a16="http://schemas.microsoft.com/office/drawing/2014/main" id="{250866A2-38BA-F54A-BEEC-3446CA0A5A75}"/>
                </a:ext>
              </a:extLst>
            </p:cNvPr>
            <p:cNvSpPr txBox="1"/>
            <p:nvPr/>
          </p:nvSpPr>
          <p:spPr>
            <a:xfrm>
              <a:off x="6360577" y="1230477"/>
              <a:ext cx="1568186" cy="461665"/>
            </a:xfrm>
            <a:prstGeom prst="rect">
              <a:avLst/>
            </a:prstGeom>
            <a:noFill/>
          </p:spPr>
          <p:txBody>
            <a:bodyPr wrap="none" rtlCol="0">
              <a:spAutoFit/>
            </a:bodyPr>
            <a:lstStyle/>
            <a:p>
              <a:r>
                <a:rPr lang="en-US" sz="2400" dirty="0">
                  <a:latin typeface="+mj-lt"/>
                </a:rPr>
                <a:t>description</a:t>
              </a:r>
            </a:p>
          </p:txBody>
        </p:sp>
        <p:sp>
          <p:nvSpPr>
            <p:cNvPr id="44" name="TextBox 43">
              <a:extLst>
                <a:ext uri="{FF2B5EF4-FFF2-40B4-BE49-F238E27FC236}">
                  <a16:creationId xmlns:a16="http://schemas.microsoft.com/office/drawing/2014/main" id="{B570F854-34F9-7B44-9D65-F6F13571DC4A}"/>
                </a:ext>
              </a:extLst>
            </p:cNvPr>
            <p:cNvSpPr txBox="1"/>
            <p:nvPr/>
          </p:nvSpPr>
          <p:spPr>
            <a:xfrm>
              <a:off x="10322760" y="1230477"/>
              <a:ext cx="962123" cy="461665"/>
            </a:xfrm>
            <a:prstGeom prst="rect">
              <a:avLst/>
            </a:prstGeom>
            <a:noFill/>
          </p:spPr>
          <p:txBody>
            <a:bodyPr wrap="none" rtlCol="0">
              <a:spAutoFit/>
            </a:bodyPr>
            <a:lstStyle/>
            <a:p>
              <a:r>
                <a:rPr lang="en-US" sz="2400" dirty="0">
                  <a:latin typeface="+mj-lt"/>
                </a:rPr>
                <a:t>QASM</a:t>
              </a:r>
            </a:p>
          </p:txBody>
        </p:sp>
      </p:grpSp>
      <p:sp>
        <p:nvSpPr>
          <p:cNvPr id="48" name="Rectangle 47">
            <a:extLst>
              <a:ext uri="{FF2B5EF4-FFF2-40B4-BE49-F238E27FC236}">
                <a16:creationId xmlns:a16="http://schemas.microsoft.com/office/drawing/2014/main" id="{1E34EC40-617C-EE42-94CD-FD9072ECC0A6}"/>
              </a:ext>
            </a:extLst>
          </p:cNvPr>
          <p:cNvSpPr/>
          <p:nvPr/>
        </p:nvSpPr>
        <p:spPr>
          <a:xfrm>
            <a:off x="3934055" y="3847358"/>
            <a:ext cx="6126516" cy="461665"/>
          </a:xfrm>
          <a:prstGeom prst="rect">
            <a:avLst/>
          </a:prstGeom>
        </p:spPr>
        <p:txBody>
          <a:bodyPr wrap="square">
            <a:spAutoFit/>
          </a:bodyPr>
          <a:lstStyle/>
          <a:p>
            <a:pPr algn="ctr"/>
            <a:r>
              <a:rPr lang="en-ZA" sz="2400" dirty="0">
                <a:latin typeface="+mj-lt"/>
              </a:rPr>
              <a:t>a -</a:t>
            </a:r>
            <a:r>
              <a:rPr lang="en-US" sz="2400" dirty="0">
                <a:latin typeface="+mj-lt"/>
              </a:rPr>
              <a:t>𝜋/2</a:t>
            </a:r>
            <a:r>
              <a:rPr lang="el-GR" sz="2400" dirty="0">
                <a:latin typeface="+mj-lt"/>
              </a:rPr>
              <a:t> </a:t>
            </a:r>
            <a:r>
              <a:rPr lang="en-ZA" sz="2400" dirty="0">
                <a:latin typeface="+mj-lt"/>
              </a:rPr>
              <a:t>rotation about the z-axis / maps </a:t>
            </a:r>
            <a:r>
              <a:rPr lang="en-US" sz="2400" dirty="0">
                <a:latin typeface="+mj-lt"/>
              </a:rPr>
              <a:t>x</a:t>
            </a:r>
            <a:r>
              <a:rPr lang="en-ZA" sz="2400" dirty="0">
                <a:latin typeface="+mj-lt"/>
              </a:rPr>
              <a:t> to -y.</a:t>
            </a:r>
            <a:endParaRPr lang="en-US" sz="2400" dirty="0">
              <a:latin typeface="+mj-lt"/>
            </a:endParaRPr>
          </a:p>
        </p:txBody>
      </p:sp>
      <mc:AlternateContent xmlns:mc="http://schemas.openxmlformats.org/markup-compatibility/2006" xmlns:a14="http://schemas.microsoft.com/office/drawing/2010/main">
        <mc:Choice Requires="a14">
          <p:sp>
            <p:nvSpPr>
              <p:cNvPr id="49" name="Rectangle 48">
                <a:extLst>
                  <a:ext uri="{FF2B5EF4-FFF2-40B4-BE49-F238E27FC236}">
                    <a16:creationId xmlns:a16="http://schemas.microsoft.com/office/drawing/2014/main" id="{31288B43-CB21-AA40-B4A2-DD8543F82B53}"/>
                  </a:ext>
                </a:extLst>
              </p:cNvPr>
              <p:cNvSpPr/>
              <p:nvPr/>
            </p:nvSpPr>
            <p:spPr>
              <a:xfrm>
                <a:off x="3949313" y="5602603"/>
                <a:ext cx="6096000" cy="461665"/>
              </a:xfrm>
              <a:prstGeom prst="rect">
                <a:avLst/>
              </a:prstGeom>
            </p:spPr>
            <p:txBody>
              <a:bodyPr>
                <a:spAutoFit/>
              </a:bodyPr>
              <a:lstStyle/>
              <a:p>
                <a:pPr algn="ctr"/>
                <a:r>
                  <a:rPr lang="en-ZA" sz="2400" dirty="0"/>
                  <a:t>rotation about the</a:t>
                </a:r>
                <a:r>
                  <a:rPr lang="en-US" sz="2400" dirty="0"/>
                  <a:t>  </a:t>
                </a:r>
                <a14:m>
                  <m:oMath xmlns:m="http://schemas.openxmlformats.org/officeDocument/2006/math">
                    <m:r>
                      <a:rPr lang="en-US" sz="2400" i="1">
                        <a:latin typeface="Cambria Math" panose="02040503050406030204" pitchFamily="18" charset="0"/>
                      </a:rPr>
                      <m:t>𝑧</m:t>
                    </m:r>
                  </m:oMath>
                </a14:m>
                <a:r>
                  <a:rPr lang="en-US" sz="2400" dirty="0"/>
                  <a:t>–axis by </a:t>
                </a:r>
                <a:r>
                  <a:rPr lang="en-US" sz="2300" dirty="0">
                    <a:latin typeface="+mj-lt"/>
                  </a:rPr>
                  <a:t>-</a:t>
                </a:r>
                <a:r>
                  <a:rPr lang="en-US" sz="2400" dirty="0">
                    <a:latin typeface="+mj-lt"/>
                  </a:rPr>
                  <a:t>𝜋/4</a:t>
                </a:r>
              </a:p>
            </p:txBody>
          </p:sp>
        </mc:Choice>
        <mc:Fallback xmlns="">
          <p:sp>
            <p:nvSpPr>
              <p:cNvPr id="49" name="Rectangle 48">
                <a:extLst>
                  <a:ext uri="{FF2B5EF4-FFF2-40B4-BE49-F238E27FC236}">
                    <a16:creationId xmlns:a16="http://schemas.microsoft.com/office/drawing/2014/main" id="{31288B43-CB21-AA40-B4A2-DD8543F82B53}"/>
                  </a:ext>
                </a:extLst>
              </p:cNvPr>
              <p:cNvSpPr>
                <a:spLocks noRot="1" noChangeAspect="1" noMove="1" noResize="1" noEditPoints="1" noAdjustHandles="1" noChangeArrowheads="1" noChangeShapeType="1" noTextEdit="1"/>
              </p:cNvSpPr>
              <p:nvPr/>
            </p:nvSpPr>
            <p:spPr>
              <a:xfrm>
                <a:off x="3949313" y="5602603"/>
                <a:ext cx="6096000" cy="461665"/>
              </a:xfrm>
              <a:prstGeom prst="rect">
                <a:avLst/>
              </a:prstGeom>
              <a:blipFill>
                <a:blip r:embed="rId10"/>
                <a:stretch>
                  <a:fillRect t="-7895" b="-23684"/>
                </a:stretch>
              </a:blipFill>
            </p:spPr>
            <p:txBody>
              <a:bodyPr/>
              <a:lstStyle/>
              <a:p>
                <a:r>
                  <a:rPr lang="en-US">
                    <a:noFill/>
                  </a:rPr>
                  <a:t> </a:t>
                </a:r>
              </a:p>
            </p:txBody>
          </p:sp>
        </mc:Fallback>
      </mc:AlternateContent>
    </p:spTree>
    <p:extLst>
      <p:ext uri="{BB962C8B-B14F-4D97-AF65-F5344CB8AC3E}">
        <p14:creationId xmlns:p14="http://schemas.microsoft.com/office/powerpoint/2010/main" val="37794826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3A8437-FBAC-0B47-ACBF-82BEBAABB3B7}"/>
              </a:ext>
            </a:extLst>
          </p:cNvPr>
          <p:cNvSpPr>
            <a:spLocks noGrp="1"/>
          </p:cNvSpPr>
          <p:nvPr>
            <p:ph type="title"/>
          </p:nvPr>
        </p:nvSpPr>
        <p:spPr>
          <a:xfrm>
            <a:off x="0" y="0"/>
            <a:ext cx="12192000" cy="928688"/>
          </a:xfrm>
        </p:spPr>
        <p:txBody>
          <a:bodyPr/>
          <a:lstStyle/>
          <a:p>
            <a:r>
              <a:rPr lang="en-ZA" dirty="0"/>
              <a:t>The Universal Operator</a:t>
            </a:r>
            <a:endParaRPr lang="en-US" dirty="0"/>
          </a:p>
        </p:txBody>
      </p:sp>
      <p:sp>
        <p:nvSpPr>
          <p:cNvPr id="3" name="Slide Number Placeholder 2">
            <a:extLst>
              <a:ext uri="{FF2B5EF4-FFF2-40B4-BE49-F238E27FC236}">
                <a16:creationId xmlns:a16="http://schemas.microsoft.com/office/drawing/2014/main" id="{7E955CB1-F93A-BC4D-B8DA-E30628C02BC1}"/>
              </a:ext>
            </a:extLst>
          </p:cNvPr>
          <p:cNvSpPr>
            <a:spLocks noGrp="1"/>
          </p:cNvSpPr>
          <p:nvPr>
            <p:ph type="sldNum" sz="quarter" idx="12"/>
          </p:nvPr>
        </p:nvSpPr>
        <p:spPr/>
        <p:txBody>
          <a:bodyPr/>
          <a:lstStyle/>
          <a:p>
            <a:fld id="{591A223C-FA10-BC46-A853-03BA373D023C}" type="slidenum">
              <a:rPr lang="en-US" smtClean="0"/>
              <a:t>27</a:t>
            </a:fld>
            <a:endParaRPr lang="en-US"/>
          </a:p>
        </p:txBody>
      </p:sp>
      <mc:AlternateContent xmlns:mc="http://schemas.openxmlformats.org/markup-compatibility/2006" xmlns:a14="http://schemas.microsoft.com/office/drawing/2010/main">
        <mc:Choice Requires="a14">
          <p:sp>
            <p:nvSpPr>
              <p:cNvPr id="53" name="Rectangle 52">
                <a:extLst>
                  <a:ext uri="{FF2B5EF4-FFF2-40B4-BE49-F238E27FC236}">
                    <a16:creationId xmlns:a16="http://schemas.microsoft.com/office/drawing/2014/main" id="{DD037895-47F1-EF4D-90E5-EFCC42B7E4F7}"/>
                  </a:ext>
                </a:extLst>
              </p:cNvPr>
              <p:cNvSpPr/>
              <p:nvPr/>
            </p:nvSpPr>
            <p:spPr>
              <a:xfrm>
                <a:off x="5884305" y="3017157"/>
                <a:ext cx="4936095" cy="55720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𝑈</m:t>
                      </m:r>
                      <m:d>
                        <m:dPr>
                          <m:ctrlPr>
                            <a:rPr lang="en-US" sz="2800" i="1">
                              <a:latin typeface="Cambria Math" panose="02040503050406030204" pitchFamily="18" charset="0"/>
                            </a:rPr>
                          </m:ctrlPr>
                        </m:dPr>
                        <m:e>
                          <m:r>
                            <a:rPr lang="sr-Latn-RS" sz="2800" i="1">
                              <a:latin typeface="Cambria Math" panose="02040503050406030204" pitchFamily="18" charset="0"/>
                            </a:rPr>
                            <m:t>𝜃</m:t>
                          </m:r>
                          <m:r>
                            <a:rPr lang="sr-Latn-RS" sz="2800" i="1">
                              <a:latin typeface="Cambria Math" panose="02040503050406030204" pitchFamily="18" charset="0"/>
                            </a:rPr>
                            <m:t>,</m:t>
                          </m:r>
                          <m:r>
                            <a:rPr lang="sr-Latn-RS" sz="2800" i="1">
                              <a:latin typeface="Cambria Math" panose="02040503050406030204" pitchFamily="18" charset="0"/>
                            </a:rPr>
                            <m:t>𝜑</m:t>
                          </m:r>
                          <m:r>
                            <a:rPr lang="sr-Latn-RS" sz="2800" i="1">
                              <a:latin typeface="Cambria Math" panose="02040503050406030204" pitchFamily="18" charset="0"/>
                            </a:rPr>
                            <m:t>,</m:t>
                          </m:r>
                          <m:r>
                            <a:rPr lang="sr-Latn-RS" sz="2800" i="1">
                              <a:latin typeface="Cambria Math" panose="02040503050406030204" pitchFamily="18" charset="0"/>
                            </a:rPr>
                            <m:t>𝜆</m:t>
                          </m:r>
                        </m:e>
                      </m:d>
                      <m:r>
                        <a:rPr lang="en-US" sz="2800" b="0" i="1" smtClean="0">
                          <a:latin typeface="Cambria Math" panose="02040503050406030204" pitchFamily="18" charset="0"/>
                          <a:ea typeface="Cambria Math" panose="02040503050406030204" pitchFamily="18" charset="0"/>
                        </a:rPr>
                        <m:t>=</m:t>
                      </m:r>
                      <m:sSub>
                        <m:sSubPr>
                          <m:ctrlPr>
                            <a:rPr lang="sr-Latn-RS" sz="2800" b="0" i="1" smtClean="0">
                              <a:latin typeface="Cambria Math" panose="02040503050406030204" pitchFamily="18" charset="0"/>
                              <a:ea typeface="Cambria Math" panose="02040503050406030204" pitchFamily="18" charset="0"/>
                            </a:rPr>
                          </m:ctrlPr>
                        </m:sSubPr>
                        <m:e>
                          <m:r>
                            <a:rPr lang="sr-Latn-RS" sz="2800" i="1">
                              <a:latin typeface="Cambria Math" panose="02040503050406030204" pitchFamily="18" charset="0"/>
                              <a:ea typeface="Cambria Math" panose="02040503050406030204" pitchFamily="18" charset="0"/>
                            </a:rPr>
                            <m:t>𝑅</m:t>
                          </m:r>
                        </m:e>
                        <m:sub>
                          <m:r>
                            <a:rPr lang="sr-Latn-RS" sz="2800" b="0" i="1" smtClean="0">
                              <a:latin typeface="Cambria Math" panose="02040503050406030204" pitchFamily="18" charset="0"/>
                              <a:ea typeface="Cambria Math" panose="02040503050406030204" pitchFamily="18" charset="0"/>
                            </a:rPr>
                            <m:t>𝑧</m:t>
                          </m:r>
                        </m:sub>
                      </m:sSub>
                      <m:d>
                        <m:dPr>
                          <m:ctrlPr>
                            <a:rPr lang="sr-Latn-RS" sz="2800" b="0" i="1" smtClean="0">
                              <a:latin typeface="Cambria Math" panose="02040503050406030204" pitchFamily="18" charset="0"/>
                              <a:ea typeface="Cambria Math" panose="02040503050406030204" pitchFamily="18" charset="0"/>
                            </a:rPr>
                          </m:ctrlPr>
                        </m:dPr>
                        <m:e>
                          <m:r>
                            <a:rPr lang="en-US" sz="2800" i="1">
                              <a:latin typeface="Cambria Math" panose="02040503050406030204" pitchFamily="18" charset="0"/>
                              <a:ea typeface="Cambria Math" panose="02040503050406030204" pitchFamily="18" charset="0"/>
                            </a:rPr>
                            <m:t>𝜑</m:t>
                          </m:r>
                        </m:e>
                      </m:d>
                      <m:sSub>
                        <m:sSubPr>
                          <m:ctrlPr>
                            <a:rPr lang="sr-Latn-RS" sz="2800" i="1">
                              <a:latin typeface="Cambria Math" panose="02040503050406030204" pitchFamily="18" charset="0"/>
                              <a:ea typeface="Cambria Math" panose="02040503050406030204" pitchFamily="18" charset="0"/>
                            </a:rPr>
                          </m:ctrlPr>
                        </m:sSubPr>
                        <m:e>
                          <m:r>
                            <a:rPr lang="sr-Latn-RS" sz="2800" i="1">
                              <a:latin typeface="Cambria Math" panose="02040503050406030204" pitchFamily="18" charset="0"/>
                              <a:ea typeface="Cambria Math" panose="02040503050406030204" pitchFamily="18" charset="0"/>
                            </a:rPr>
                            <m:t>𝑅</m:t>
                          </m:r>
                        </m:e>
                        <m:sub>
                          <m:r>
                            <a:rPr lang="sr-Latn-RS" sz="2800" b="0" i="1" smtClean="0">
                              <a:latin typeface="Cambria Math" panose="02040503050406030204" pitchFamily="18" charset="0"/>
                              <a:ea typeface="Cambria Math" panose="02040503050406030204" pitchFamily="18" charset="0"/>
                            </a:rPr>
                            <m:t>𝑦</m:t>
                          </m:r>
                        </m:sub>
                      </m:sSub>
                      <m:d>
                        <m:dPr>
                          <m:ctrlPr>
                            <a:rPr lang="sr-Latn-RS" sz="2800" i="1">
                              <a:latin typeface="Cambria Math" panose="02040503050406030204" pitchFamily="18" charset="0"/>
                              <a:ea typeface="Cambria Math" panose="02040503050406030204" pitchFamily="18" charset="0"/>
                            </a:rPr>
                          </m:ctrlPr>
                        </m:dPr>
                        <m:e>
                          <m:r>
                            <a:rPr lang="en-US" sz="2800" i="1">
                              <a:latin typeface="Cambria Math" panose="02040503050406030204" pitchFamily="18" charset="0"/>
                              <a:ea typeface="Cambria Math" panose="02040503050406030204" pitchFamily="18" charset="0"/>
                            </a:rPr>
                            <m:t>𝜃</m:t>
                          </m:r>
                        </m:e>
                      </m:d>
                      <m:sSub>
                        <m:sSubPr>
                          <m:ctrlPr>
                            <a:rPr lang="sr-Latn-RS" sz="2800" i="1">
                              <a:latin typeface="Cambria Math" panose="02040503050406030204" pitchFamily="18" charset="0"/>
                              <a:ea typeface="Cambria Math" panose="02040503050406030204" pitchFamily="18" charset="0"/>
                            </a:rPr>
                          </m:ctrlPr>
                        </m:sSubPr>
                        <m:e>
                          <m:r>
                            <a:rPr lang="sr-Latn-RS" sz="2800" i="1">
                              <a:latin typeface="Cambria Math" panose="02040503050406030204" pitchFamily="18" charset="0"/>
                              <a:ea typeface="Cambria Math" panose="02040503050406030204" pitchFamily="18" charset="0"/>
                            </a:rPr>
                            <m:t>𝑅</m:t>
                          </m:r>
                        </m:e>
                        <m:sub>
                          <m:r>
                            <a:rPr lang="sr-Latn-RS" sz="2800" b="0" i="1" smtClean="0">
                              <a:latin typeface="Cambria Math" panose="02040503050406030204" pitchFamily="18" charset="0"/>
                              <a:ea typeface="Cambria Math" panose="02040503050406030204" pitchFamily="18" charset="0"/>
                            </a:rPr>
                            <m:t>𝑧</m:t>
                          </m:r>
                        </m:sub>
                      </m:sSub>
                      <m:d>
                        <m:dPr>
                          <m:ctrlPr>
                            <a:rPr lang="sr-Latn-RS" sz="2800" i="1">
                              <a:latin typeface="Cambria Math" panose="02040503050406030204" pitchFamily="18" charset="0"/>
                              <a:ea typeface="Cambria Math" panose="02040503050406030204" pitchFamily="18" charset="0"/>
                            </a:rPr>
                          </m:ctrlPr>
                        </m:dPr>
                        <m:e>
                          <m:r>
                            <a:rPr lang="en-US" sz="2800" i="1">
                              <a:latin typeface="Cambria Math" panose="02040503050406030204" pitchFamily="18" charset="0"/>
                              <a:ea typeface="Cambria Math" panose="02040503050406030204" pitchFamily="18" charset="0"/>
                            </a:rPr>
                            <m:t>𝜆</m:t>
                          </m:r>
                        </m:e>
                      </m:d>
                    </m:oMath>
                  </m:oMathPara>
                </a14:m>
                <a:endParaRPr lang="en-US" sz="2800" dirty="0"/>
              </a:p>
            </p:txBody>
          </p:sp>
        </mc:Choice>
        <mc:Fallback xmlns="">
          <p:sp>
            <p:nvSpPr>
              <p:cNvPr id="53" name="Rectangle 52">
                <a:extLst>
                  <a:ext uri="{FF2B5EF4-FFF2-40B4-BE49-F238E27FC236}">
                    <a16:creationId xmlns:a16="http://schemas.microsoft.com/office/drawing/2014/main" id="{DD037895-47F1-EF4D-90E5-EFCC42B7E4F7}"/>
                  </a:ext>
                </a:extLst>
              </p:cNvPr>
              <p:cNvSpPr>
                <a:spLocks noRot="1" noChangeAspect="1" noMove="1" noResize="1" noEditPoints="1" noAdjustHandles="1" noChangeArrowheads="1" noChangeShapeType="1" noTextEdit="1"/>
              </p:cNvSpPr>
              <p:nvPr/>
            </p:nvSpPr>
            <p:spPr>
              <a:xfrm>
                <a:off x="5884305" y="3017157"/>
                <a:ext cx="4936095" cy="557204"/>
              </a:xfrm>
              <a:prstGeom prst="rect">
                <a:avLst/>
              </a:prstGeom>
              <a:blipFill>
                <a:blip r:embed="rId3"/>
                <a:stretch>
                  <a:fillRect b="-909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5FCF6592-AE76-9649-9570-0FF6A35535CE}"/>
                  </a:ext>
                </a:extLst>
              </p:cNvPr>
              <p:cNvSpPr/>
              <p:nvPr/>
            </p:nvSpPr>
            <p:spPr>
              <a:xfrm>
                <a:off x="5346252" y="4418596"/>
                <a:ext cx="6442854" cy="1774909"/>
              </a:xfrm>
              <a:prstGeom prst="rect">
                <a:avLst/>
              </a:prstGeom>
              <a:noFill/>
            </p:spPr>
            <p:txBody>
              <a:bodyPr wrap="none">
                <a:spAutoFit/>
              </a:bodyPr>
              <a:lstStyle/>
              <a:p>
                <a:pPr/>
                <a14:m>
                  <m:oMathPara xmlns:m="http://schemas.openxmlformats.org/officeDocument/2006/math">
                    <m:oMathParaPr>
                      <m:jc m:val="centerGroup"/>
                    </m:oMathParaPr>
                    <m:oMath xmlns:m="http://schemas.openxmlformats.org/officeDocument/2006/math">
                      <m:r>
                        <a:rPr lang="en-US" sz="2800" i="1" smtClean="0">
                          <a:solidFill>
                            <a:schemeClr val="tx1"/>
                          </a:solidFill>
                          <a:latin typeface="Cambria Math" panose="02040503050406030204" pitchFamily="18" charset="0"/>
                        </a:rPr>
                        <m:t>𝑈</m:t>
                      </m:r>
                      <m:d>
                        <m:dPr>
                          <m:ctrlPr>
                            <a:rPr lang="en-US" sz="2800" i="1">
                              <a:solidFill>
                                <a:schemeClr val="tx1"/>
                              </a:solidFill>
                              <a:latin typeface="Cambria Math" panose="02040503050406030204" pitchFamily="18" charset="0"/>
                            </a:rPr>
                          </m:ctrlPr>
                        </m:dPr>
                        <m:e>
                          <m:r>
                            <a:rPr lang="sr-Latn-RS" sz="2800" i="1">
                              <a:solidFill>
                                <a:schemeClr val="tx1"/>
                              </a:solidFill>
                              <a:latin typeface="Cambria Math" panose="02040503050406030204" pitchFamily="18" charset="0"/>
                            </a:rPr>
                            <m:t>𝜃</m:t>
                          </m:r>
                          <m:r>
                            <a:rPr lang="sr-Latn-RS" sz="2800" i="1">
                              <a:solidFill>
                                <a:schemeClr val="tx1"/>
                              </a:solidFill>
                              <a:latin typeface="Cambria Math" panose="02040503050406030204" pitchFamily="18" charset="0"/>
                            </a:rPr>
                            <m:t>,</m:t>
                          </m:r>
                          <m:r>
                            <a:rPr lang="sr-Latn-RS" sz="2800" i="1">
                              <a:solidFill>
                                <a:schemeClr val="tx1"/>
                              </a:solidFill>
                              <a:latin typeface="Cambria Math" panose="02040503050406030204" pitchFamily="18" charset="0"/>
                            </a:rPr>
                            <m:t>𝜑</m:t>
                          </m:r>
                          <m:r>
                            <a:rPr lang="sr-Latn-RS" sz="2800" i="1">
                              <a:solidFill>
                                <a:schemeClr val="tx1"/>
                              </a:solidFill>
                              <a:latin typeface="Cambria Math" panose="02040503050406030204" pitchFamily="18" charset="0"/>
                            </a:rPr>
                            <m:t>,</m:t>
                          </m:r>
                          <m:r>
                            <a:rPr lang="sr-Latn-RS" sz="2800" i="1">
                              <a:solidFill>
                                <a:schemeClr val="tx1"/>
                              </a:solidFill>
                              <a:latin typeface="Cambria Math" panose="02040503050406030204" pitchFamily="18" charset="0"/>
                            </a:rPr>
                            <m:t>𝜆</m:t>
                          </m:r>
                        </m:e>
                      </m:d>
                      <m:r>
                        <a:rPr lang="sr-Latn-RS" sz="2800" i="1">
                          <a:solidFill>
                            <a:schemeClr val="tx1"/>
                          </a:solidFill>
                          <a:latin typeface="Cambria Math" panose="02040503050406030204" pitchFamily="18" charset="0"/>
                        </a:rPr>
                        <m:t> </m:t>
                      </m:r>
                      <m:r>
                        <a:rPr lang="en-US" sz="2800" b="0" i="1" smtClean="0">
                          <a:solidFill>
                            <a:schemeClr val="tx1"/>
                          </a:solidFill>
                          <a:latin typeface="Cambria Math" panose="02040503050406030204" pitchFamily="18" charset="0"/>
                        </a:rPr>
                        <m:t>=</m:t>
                      </m:r>
                      <m:d>
                        <m:dPr>
                          <m:ctrlPr>
                            <a:rPr lang="en-US" sz="2800" b="0" i="1" smtClean="0">
                              <a:solidFill>
                                <a:schemeClr val="tx1"/>
                              </a:solidFill>
                              <a:latin typeface="Cambria Math" panose="02040503050406030204" pitchFamily="18" charset="0"/>
                            </a:rPr>
                          </m:ctrlPr>
                        </m:dPr>
                        <m:e>
                          <m:m>
                            <m:mPr>
                              <m:mcs>
                                <m:mc>
                                  <m:mcPr>
                                    <m:count m:val="2"/>
                                    <m:mcJc m:val="center"/>
                                  </m:mcPr>
                                </m:mc>
                              </m:mcs>
                              <m:ctrlPr>
                                <a:rPr lang="en-US" sz="2800" b="0" i="1" smtClean="0">
                                  <a:solidFill>
                                    <a:schemeClr val="tx1"/>
                                  </a:solidFill>
                                  <a:latin typeface="Cambria Math" panose="02040503050406030204" pitchFamily="18" charset="0"/>
                                </a:rPr>
                              </m:ctrlPr>
                            </m:mPr>
                            <m:mr>
                              <m:e>
                                <m:func>
                                  <m:funcPr>
                                    <m:ctrlPr>
                                      <a:rPr lang="en-US" sz="2800" b="0" i="1" smtClean="0">
                                        <a:solidFill>
                                          <a:schemeClr val="tx1"/>
                                        </a:solidFill>
                                        <a:latin typeface="Cambria Math" panose="02040503050406030204" pitchFamily="18" charset="0"/>
                                      </a:rPr>
                                    </m:ctrlPr>
                                  </m:funcPr>
                                  <m:fName>
                                    <m:r>
                                      <m:rPr>
                                        <m:brk m:alnAt="7"/>
                                      </m:rPr>
                                      <a:rPr lang="en-US" sz="2800" b="0" i="1" smtClean="0">
                                        <a:solidFill>
                                          <a:schemeClr val="tx1"/>
                                        </a:solidFill>
                                        <a:latin typeface="Cambria Math" panose="02040503050406030204" pitchFamily="18" charset="0"/>
                                      </a:rPr>
                                      <m:t>𝑐</m:t>
                                    </m:r>
                                    <m:r>
                                      <a:rPr lang="en-US" sz="2800" b="0" i="1" smtClean="0">
                                        <a:solidFill>
                                          <a:schemeClr val="tx1"/>
                                        </a:solidFill>
                                        <a:latin typeface="Cambria Math" panose="02040503050406030204" pitchFamily="18" charset="0"/>
                                      </a:rPr>
                                      <m:t>𝑜𝑠</m:t>
                                    </m:r>
                                  </m:fName>
                                  <m:e>
                                    <m:f>
                                      <m:fPr>
                                        <m:ctrlPr>
                                          <a:rPr lang="en-US" sz="2800" b="0" i="1" smtClean="0">
                                            <a:solidFill>
                                              <a:schemeClr val="tx1"/>
                                            </a:solidFill>
                                            <a:latin typeface="Cambria Math" panose="02040503050406030204" pitchFamily="18" charset="0"/>
                                          </a:rPr>
                                        </m:ctrlPr>
                                      </m:fPr>
                                      <m:num>
                                        <m:r>
                                          <a:rPr lang="en-US" sz="2800" i="1">
                                            <a:solidFill>
                                              <a:schemeClr val="tx1"/>
                                            </a:solidFill>
                                            <a:latin typeface="Cambria Math" panose="02040503050406030204" pitchFamily="18" charset="0"/>
                                            <a:ea typeface="Cambria Math" panose="02040503050406030204" pitchFamily="18" charset="0"/>
                                          </a:rPr>
                                          <m:t>𝜃</m:t>
                                        </m:r>
                                      </m:num>
                                      <m:den>
                                        <m:r>
                                          <a:rPr lang="en-US" sz="2800" b="0" i="1" smtClean="0">
                                            <a:solidFill>
                                              <a:schemeClr val="tx1"/>
                                            </a:solidFill>
                                            <a:latin typeface="Cambria Math" panose="02040503050406030204" pitchFamily="18" charset="0"/>
                                          </a:rPr>
                                          <m:t>2</m:t>
                                        </m:r>
                                      </m:den>
                                    </m:f>
                                  </m:e>
                                </m:func>
                              </m:e>
                              <m:e>
                                <m:r>
                                  <a:rPr lang="en-US" sz="2800" b="0" i="1" smtClean="0">
                                    <a:solidFill>
                                      <a:schemeClr val="tx1"/>
                                    </a:solidFill>
                                    <a:latin typeface="Cambria Math" panose="02040503050406030204" pitchFamily="18" charset="0"/>
                                  </a:rPr>
                                  <m:t>−</m:t>
                                </m:r>
                                <m:sSup>
                                  <m:sSupPr>
                                    <m:ctrlPr>
                                      <a:rPr lang="en-US" sz="2800" i="1">
                                        <a:solidFill>
                                          <a:schemeClr val="tx1"/>
                                        </a:solidFill>
                                        <a:latin typeface="Cambria Math" panose="02040503050406030204" pitchFamily="18" charset="0"/>
                                        <a:ea typeface="Cambria Math" panose="02040503050406030204" pitchFamily="18" charset="0"/>
                                      </a:rPr>
                                    </m:ctrlPr>
                                  </m:sSupPr>
                                  <m:e>
                                    <m:r>
                                      <a:rPr lang="en-US" sz="2800" i="1">
                                        <a:solidFill>
                                          <a:schemeClr val="tx1"/>
                                        </a:solidFill>
                                        <a:latin typeface="Cambria Math" panose="02040503050406030204" pitchFamily="18" charset="0"/>
                                        <a:ea typeface="Cambria Math" panose="02040503050406030204" pitchFamily="18" charset="0"/>
                                      </a:rPr>
                                      <m:t>𝑒</m:t>
                                    </m:r>
                                  </m:e>
                                  <m:sup>
                                    <m:r>
                                      <a:rPr lang="en-US" sz="2800" i="1">
                                        <a:solidFill>
                                          <a:schemeClr val="tx1"/>
                                        </a:solidFill>
                                        <a:latin typeface="Cambria Math" panose="02040503050406030204" pitchFamily="18" charset="0"/>
                                        <a:ea typeface="Cambria Math" panose="02040503050406030204" pitchFamily="18" charset="0"/>
                                      </a:rPr>
                                      <m:t>𝑖</m:t>
                                    </m:r>
                                    <m:r>
                                      <a:rPr lang="en-US" sz="2800" i="1" smtClean="0">
                                        <a:solidFill>
                                          <a:schemeClr val="tx1"/>
                                        </a:solidFill>
                                        <a:latin typeface="Cambria Math" panose="02040503050406030204" pitchFamily="18" charset="0"/>
                                        <a:ea typeface="Cambria Math" panose="02040503050406030204" pitchFamily="18" charset="0"/>
                                      </a:rPr>
                                      <m:t>𝜆</m:t>
                                    </m:r>
                                  </m:sup>
                                </m:sSup>
                                <m:func>
                                  <m:funcPr>
                                    <m:ctrlPr>
                                      <a:rPr lang="en-US" sz="2800" i="1">
                                        <a:solidFill>
                                          <a:schemeClr val="tx1"/>
                                        </a:solidFill>
                                        <a:latin typeface="Cambria Math" panose="02040503050406030204" pitchFamily="18" charset="0"/>
                                      </a:rPr>
                                    </m:ctrlPr>
                                  </m:funcPr>
                                  <m:fName>
                                    <m:r>
                                      <a:rPr lang="en-US" sz="2800" i="1">
                                        <a:solidFill>
                                          <a:schemeClr val="tx1"/>
                                        </a:solidFill>
                                        <a:latin typeface="Cambria Math" panose="02040503050406030204" pitchFamily="18" charset="0"/>
                                      </a:rPr>
                                      <m:t>𝑠𝑖𝑛</m:t>
                                    </m:r>
                                  </m:fName>
                                  <m:e>
                                    <m:f>
                                      <m:fPr>
                                        <m:ctrlPr>
                                          <a:rPr lang="en-US" sz="2800" i="1">
                                            <a:solidFill>
                                              <a:schemeClr val="tx1"/>
                                            </a:solidFill>
                                            <a:latin typeface="Cambria Math" panose="02040503050406030204" pitchFamily="18" charset="0"/>
                                          </a:rPr>
                                        </m:ctrlPr>
                                      </m:fPr>
                                      <m:num>
                                        <m:r>
                                          <a:rPr lang="en-US" sz="2800" i="1">
                                            <a:solidFill>
                                              <a:schemeClr val="tx1"/>
                                            </a:solidFill>
                                            <a:latin typeface="Cambria Math" panose="02040503050406030204" pitchFamily="18" charset="0"/>
                                            <a:ea typeface="Cambria Math" panose="02040503050406030204" pitchFamily="18" charset="0"/>
                                          </a:rPr>
                                          <m:t>𝜃</m:t>
                                        </m:r>
                                      </m:num>
                                      <m:den>
                                        <m:r>
                                          <a:rPr lang="en-US" sz="2800" i="1">
                                            <a:solidFill>
                                              <a:schemeClr val="tx1"/>
                                            </a:solidFill>
                                            <a:latin typeface="Cambria Math" panose="02040503050406030204" pitchFamily="18" charset="0"/>
                                          </a:rPr>
                                          <m:t>2</m:t>
                                        </m:r>
                                      </m:den>
                                    </m:f>
                                  </m:e>
                                </m:func>
                              </m:e>
                            </m:mr>
                            <m:mr>
                              <m:e>
                                <m:sSup>
                                  <m:sSupPr>
                                    <m:ctrlPr>
                                      <a:rPr lang="en-US" sz="2800" i="1" smtClean="0">
                                        <a:solidFill>
                                          <a:schemeClr val="tx1"/>
                                        </a:solidFill>
                                        <a:latin typeface="Cambria Math" panose="02040503050406030204" pitchFamily="18" charset="0"/>
                                        <a:ea typeface="Cambria Math" panose="02040503050406030204" pitchFamily="18" charset="0"/>
                                      </a:rPr>
                                    </m:ctrlPr>
                                  </m:sSupPr>
                                  <m:e>
                                    <m:r>
                                      <a:rPr lang="en-US" sz="2800" i="1">
                                        <a:solidFill>
                                          <a:schemeClr val="tx1"/>
                                        </a:solidFill>
                                        <a:latin typeface="Cambria Math" panose="02040503050406030204" pitchFamily="18" charset="0"/>
                                        <a:ea typeface="Cambria Math" panose="02040503050406030204" pitchFamily="18" charset="0"/>
                                      </a:rPr>
                                      <m:t>𝑒</m:t>
                                    </m:r>
                                  </m:e>
                                  <m:sup>
                                    <m:r>
                                      <a:rPr lang="en-US" sz="2800" i="1">
                                        <a:solidFill>
                                          <a:schemeClr val="tx1"/>
                                        </a:solidFill>
                                        <a:latin typeface="Cambria Math" panose="02040503050406030204" pitchFamily="18" charset="0"/>
                                        <a:ea typeface="Cambria Math" panose="02040503050406030204" pitchFamily="18" charset="0"/>
                                      </a:rPr>
                                      <m:t>𝑖</m:t>
                                    </m:r>
                                    <m:r>
                                      <a:rPr lang="en-US" sz="2800" i="1">
                                        <a:solidFill>
                                          <a:schemeClr val="tx1"/>
                                        </a:solidFill>
                                        <a:latin typeface="Cambria Math" panose="02040503050406030204" pitchFamily="18" charset="0"/>
                                        <a:ea typeface="Cambria Math" panose="02040503050406030204" pitchFamily="18" charset="0"/>
                                      </a:rPr>
                                      <m:t>𝜑</m:t>
                                    </m:r>
                                  </m:sup>
                                </m:sSup>
                                <m:func>
                                  <m:funcPr>
                                    <m:ctrlPr>
                                      <a:rPr lang="en-US" sz="2800" i="1">
                                        <a:solidFill>
                                          <a:schemeClr val="tx1"/>
                                        </a:solidFill>
                                        <a:latin typeface="Cambria Math" panose="02040503050406030204" pitchFamily="18" charset="0"/>
                                      </a:rPr>
                                    </m:ctrlPr>
                                  </m:funcPr>
                                  <m:fName>
                                    <m:r>
                                      <a:rPr lang="en-US" sz="2800" b="0" i="1" smtClean="0">
                                        <a:solidFill>
                                          <a:schemeClr val="tx1"/>
                                        </a:solidFill>
                                        <a:latin typeface="Cambria Math" panose="02040503050406030204" pitchFamily="18" charset="0"/>
                                      </a:rPr>
                                      <m:t>𝑠𝑖𝑛</m:t>
                                    </m:r>
                                  </m:fName>
                                  <m:e>
                                    <m:f>
                                      <m:fPr>
                                        <m:ctrlPr>
                                          <a:rPr lang="en-US" sz="2800" i="1">
                                            <a:solidFill>
                                              <a:schemeClr val="tx1"/>
                                            </a:solidFill>
                                            <a:latin typeface="Cambria Math" panose="02040503050406030204" pitchFamily="18" charset="0"/>
                                          </a:rPr>
                                        </m:ctrlPr>
                                      </m:fPr>
                                      <m:num>
                                        <m:r>
                                          <a:rPr lang="en-US" sz="2800" i="1">
                                            <a:solidFill>
                                              <a:schemeClr val="tx1"/>
                                            </a:solidFill>
                                            <a:latin typeface="Cambria Math" panose="02040503050406030204" pitchFamily="18" charset="0"/>
                                            <a:ea typeface="Cambria Math" panose="02040503050406030204" pitchFamily="18" charset="0"/>
                                          </a:rPr>
                                          <m:t>𝜃</m:t>
                                        </m:r>
                                      </m:num>
                                      <m:den>
                                        <m:r>
                                          <a:rPr lang="en-US" sz="2800" i="1">
                                            <a:solidFill>
                                              <a:schemeClr val="tx1"/>
                                            </a:solidFill>
                                            <a:latin typeface="Cambria Math" panose="02040503050406030204" pitchFamily="18" charset="0"/>
                                          </a:rPr>
                                          <m:t>2</m:t>
                                        </m:r>
                                      </m:den>
                                    </m:f>
                                  </m:e>
                                </m:func>
                              </m:e>
                              <m:e>
                                <m:sSup>
                                  <m:sSupPr>
                                    <m:ctrlPr>
                                      <a:rPr lang="en-US" sz="2800" i="1">
                                        <a:solidFill>
                                          <a:schemeClr val="tx1"/>
                                        </a:solidFill>
                                        <a:latin typeface="Cambria Math" panose="02040503050406030204" pitchFamily="18" charset="0"/>
                                        <a:ea typeface="Cambria Math" panose="02040503050406030204" pitchFamily="18" charset="0"/>
                                      </a:rPr>
                                    </m:ctrlPr>
                                  </m:sSupPr>
                                  <m:e>
                                    <m:r>
                                      <a:rPr lang="en-US" sz="2800" i="1">
                                        <a:solidFill>
                                          <a:schemeClr val="tx1"/>
                                        </a:solidFill>
                                        <a:latin typeface="Cambria Math" panose="02040503050406030204" pitchFamily="18" charset="0"/>
                                        <a:ea typeface="Cambria Math" panose="02040503050406030204" pitchFamily="18" charset="0"/>
                                      </a:rPr>
                                      <m:t>𝑒</m:t>
                                    </m:r>
                                  </m:e>
                                  <m:sup>
                                    <m:r>
                                      <a:rPr lang="en-US" sz="2800" i="1">
                                        <a:solidFill>
                                          <a:schemeClr val="tx1"/>
                                        </a:solidFill>
                                        <a:latin typeface="Cambria Math" panose="02040503050406030204" pitchFamily="18" charset="0"/>
                                        <a:ea typeface="Cambria Math" panose="02040503050406030204" pitchFamily="18" charset="0"/>
                                      </a:rPr>
                                      <m:t>𝑖</m:t>
                                    </m:r>
                                    <m:r>
                                      <a:rPr lang="en-US" sz="2800" b="0" i="1" smtClean="0">
                                        <a:solidFill>
                                          <a:schemeClr val="tx1"/>
                                        </a:solidFill>
                                        <a:latin typeface="Cambria Math" panose="02040503050406030204" pitchFamily="18" charset="0"/>
                                        <a:ea typeface="Cambria Math" panose="02040503050406030204" pitchFamily="18" charset="0"/>
                                      </a:rPr>
                                      <m:t>(</m:t>
                                    </m:r>
                                    <m:r>
                                      <a:rPr lang="en-US" sz="2800" i="1">
                                        <a:solidFill>
                                          <a:schemeClr val="tx1"/>
                                        </a:solidFill>
                                        <a:latin typeface="Cambria Math" panose="02040503050406030204" pitchFamily="18" charset="0"/>
                                        <a:ea typeface="Cambria Math" panose="02040503050406030204" pitchFamily="18" charset="0"/>
                                      </a:rPr>
                                      <m:t>𝜆</m:t>
                                    </m:r>
                                    <m:r>
                                      <a:rPr lang="en-US" sz="2800" b="0" i="1" smtClean="0">
                                        <a:solidFill>
                                          <a:schemeClr val="tx1"/>
                                        </a:solidFill>
                                        <a:latin typeface="Cambria Math" panose="02040503050406030204" pitchFamily="18" charset="0"/>
                                        <a:ea typeface="Cambria Math" panose="02040503050406030204" pitchFamily="18" charset="0"/>
                                      </a:rPr>
                                      <m:t>+</m:t>
                                    </m:r>
                                    <m:r>
                                      <a:rPr lang="en-US" sz="2800" i="1" smtClean="0">
                                        <a:solidFill>
                                          <a:schemeClr val="tx1"/>
                                        </a:solidFill>
                                        <a:latin typeface="Cambria Math" panose="02040503050406030204" pitchFamily="18" charset="0"/>
                                        <a:ea typeface="Cambria Math" panose="02040503050406030204" pitchFamily="18" charset="0"/>
                                      </a:rPr>
                                      <m:t>𝜑</m:t>
                                    </m:r>
                                    <m:r>
                                      <a:rPr lang="en-US" sz="2800" b="0" i="1" smtClean="0">
                                        <a:solidFill>
                                          <a:schemeClr val="tx1"/>
                                        </a:solidFill>
                                        <a:latin typeface="Cambria Math" panose="02040503050406030204" pitchFamily="18" charset="0"/>
                                        <a:ea typeface="Cambria Math" panose="02040503050406030204" pitchFamily="18" charset="0"/>
                                      </a:rPr>
                                      <m:t>)</m:t>
                                    </m:r>
                                  </m:sup>
                                </m:sSup>
                                <m:func>
                                  <m:funcPr>
                                    <m:ctrlPr>
                                      <a:rPr lang="en-US" sz="2800" i="1">
                                        <a:solidFill>
                                          <a:schemeClr val="tx1"/>
                                        </a:solidFill>
                                        <a:latin typeface="Cambria Math" panose="02040503050406030204" pitchFamily="18" charset="0"/>
                                      </a:rPr>
                                    </m:ctrlPr>
                                  </m:funcPr>
                                  <m:fName>
                                    <m:r>
                                      <m:rPr>
                                        <m:brk m:alnAt="7"/>
                                      </m:rPr>
                                      <a:rPr lang="en-US" sz="2800" i="1">
                                        <a:solidFill>
                                          <a:schemeClr val="tx1"/>
                                        </a:solidFill>
                                        <a:latin typeface="Cambria Math" panose="02040503050406030204" pitchFamily="18" charset="0"/>
                                      </a:rPr>
                                      <m:t>𝑐</m:t>
                                    </m:r>
                                    <m:r>
                                      <a:rPr lang="en-US" sz="2800" i="1">
                                        <a:solidFill>
                                          <a:schemeClr val="tx1"/>
                                        </a:solidFill>
                                        <a:latin typeface="Cambria Math" panose="02040503050406030204" pitchFamily="18" charset="0"/>
                                      </a:rPr>
                                      <m:t>𝑜𝑠</m:t>
                                    </m:r>
                                  </m:fName>
                                  <m:e>
                                    <m:f>
                                      <m:fPr>
                                        <m:ctrlPr>
                                          <a:rPr lang="en-US" sz="2800" i="1">
                                            <a:solidFill>
                                              <a:schemeClr val="tx1"/>
                                            </a:solidFill>
                                            <a:latin typeface="Cambria Math" panose="02040503050406030204" pitchFamily="18" charset="0"/>
                                          </a:rPr>
                                        </m:ctrlPr>
                                      </m:fPr>
                                      <m:num>
                                        <m:r>
                                          <a:rPr lang="en-US" sz="2800" i="1">
                                            <a:solidFill>
                                              <a:schemeClr val="tx1"/>
                                            </a:solidFill>
                                            <a:latin typeface="Cambria Math" panose="02040503050406030204" pitchFamily="18" charset="0"/>
                                            <a:ea typeface="Cambria Math" panose="02040503050406030204" pitchFamily="18" charset="0"/>
                                          </a:rPr>
                                          <m:t>𝜃</m:t>
                                        </m:r>
                                      </m:num>
                                      <m:den>
                                        <m:r>
                                          <a:rPr lang="en-US" sz="2800" i="1">
                                            <a:solidFill>
                                              <a:schemeClr val="tx1"/>
                                            </a:solidFill>
                                            <a:latin typeface="Cambria Math" panose="02040503050406030204" pitchFamily="18" charset="0"/>
                                          </a:rPr>
                                          <m:t>2</m:t>
                                        </m:r>
                                      </m:den>
                                    </m:f>
                                  </m:e>
                                </m:func>
                              </m:e>
                            </m:mr>
                          </m:m>
                        </m:e>
                      </m:d>
                    </m:oMath>
                  </m:oMathPara>
                </a14:m>
                <a:endParaRPr lang="en-US" sz="2800" i="1" dirty="0">
                  <a:solidFill>
                    <a:schemeClr val="tx1"/>
                  </a:solidFill>
                </a:endParaRPr>
              </a:p>
            </p:txBody>
          </p:sp>
        </mc:Choice>
        <mc:Fallback xmlns="">
          <p:sp>
            <p:nvSpPr>
              <p:cNvPr id="5" name="Rectangle 4">
                <a:extLst>
                  <a:ext uri="{FF2B5EF4-FFF2-40B4-BE49-F238E27FC236}">
                    <a16:creationId xmlns:a16="http://schemas.microsoft.com/office/drawing/2014/main" id="{5FCF6592-AE76-9649-9570-0FF6A35535CE}"/>
                  </a:ext>
                </a:extLst>
              </p:cNvPr>
              <p:cNvSpPr>
                <a:spLocks noRot="1" noChangeAspect="1" noMove="1" noResize="1" noEditPoints="1" noAdjustHandles="1" noChangeArrowheads="1" noChangeShapeType="1" noTextEdit="1"/>
              </p:cNvSpPr>
              <p:nvPr/>
            </p:nvSpPr>
            <p:spPr>
              <a:xfrm>
                <a:off x="5346252" y="4418596"/>
                <a:ext cx="6442854" cy="1774909"/>
              </a:xfrm>
              <a:prstGeom prst="rect">
                <a:avLst/>
              </a:prstGeom>
              <a:blipFill>
                <a:blip r:embed="rId4"/>
                <a:stretch>
                  <a:fillRect b="-285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Rectangle 36">
                <a:extLst>
                  <a:ext uri="{FF2B5EF4-FFF2-40B4-BE49-F238E27FC236}">
                    <a16:creationId xmlns:a16="http://schemas.microsoft.com/office/drawing/2014/main" id="{85F7819B-5DFD-AF40-996E-C7297BD2359F}"/>
                  </a:ext>
                </a:extLst>
              </p:cNvPr>
              <p:cNvSpPr/>
              <p:nvPr/>
            </p:nvSpPr>
            <p:spPr>
              <a:xfrm>
                <a:off x="493850" y="1063796"/>
                <a:ext cx="3500061" cy="1121910"/>
              </a:xfrm>
              <a:prstGeom prst="rect">
                <a:avLst/>
              </a:prstGeom>
              <a:noFill/>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sr-Latn-RS" sz="2400" i="1" smtClean="0">
                              <a:solidFill>
                                <a:schemeClr val="tx1"/>
                              </a:solidFill>
                              <a:latin typeface="Cambria Math" panose="02040503050406030204" pitchFamily="18" charset="0"/>
                              <a:ea typeface="Cambria Math" panose="02040503050406030204" pitchFamily="18" charset="0"/>
                            </a:rPr>
                          </m:ctrlPr>
                        </m:sSubPr>
                        <m:e>
                          <m:r>
                            <a:rPr lang="sr-Latn-RS" sz="2400" i="1">
                              <a:solidFill>
                                <a:schemeClr val="tx1"/>
                              </a:solidFill>
                              <a:latin typeface="Cambria Math" panose="02040503050406030204" pitchFamily="18" charset="0"/>
                              <a:ea typeface="Cambria Math" panose="02040503050406030204" pitchFamily="18" charset="0"/>
                            </a:rPr>
                            <m:t>𝑅</m:t>
                          </m:r>
                        </m:e>
                        <m:sub>
                          <m:r>
                            <a:rPr lang="sr-Latn-RS" sz="2400" i="1">
                              <a:solidFill>
                                <a:schemeClr val="tx1"/>
                              </a:solidFill>
                              <a:latin typeface="Cambria Math" panose="02040503050406030204" pitchFamily="18" charset="0"/>
                              <a:ea typeface="Cambria Math" panose="02040503050406030204" pitchFamily="18" charset="0"/>
                            </a:rPr>
                            <m:t>𝑧</m:t>
                          </m:r>
                        </m:sub>
                      </m:sSub>
                      <m:d>
                        <m:dPr>
                          <m:ctrlPr>
                            <a:rPr lang="sr-Latn-RS" sz="2400" i="1">
                              <a:solidFill>
                                <a:schemeClr val="tx1"/>
                              </a:solidFill>
                              <a:latin typeface="Cambria Math" panose="02040503050406030204" pitchFamily="18" charset="0"/>
                              <a:ea typeface="Cambria Math" panose="02040503050406030204" pitchFamily="18" charset="0"/>
                            </a:rPr>
                          </m:ctrlPr>
                        </m:dPr>
                        <m:e>
                          <m:r>
                            <a:rPr lang="en-US" sz="2400" i="1">
                              <a:solidFill>
                                <a:schemeClr val="tx1"/>
                              </a:solidFill>
                              <a:latin typeface="Cambria Math" panose="02040503050406030204" pitchFamily="18" charset="0"/>
                              <a:ea typeface="Cambria Math" panose="02040503050406030204" pitchFamily="18" charset="0"/>
                            </a:rPr>
                            <m:t>𝜆</m:t>
                          </m:r>
                        </m:e>
                      </m:d>
                      <m:r>
                        <a:rPr lang="en-US" sz="2400" b="0" i="1" smtClean="0">
                          <a:solidFill>
                            <a:schemeClr val="tx1"/>
                          </a:solidFill>
                          <a:latin typeface="Cambria Math" panose="02040503050406030204" pitchFamily="18" charset="0"/>
                        </a:rPr>
                        <m:t>=</m:t>
                      </m:r>
                      <m:d>
                        <m:dPr>
                          <m:ctrlPr>
                            <a:rPr lang="en-US" sz="2400" b="0" i="1" smtClean="0">
                              <a:solidFill>
                                <a:schemeClr val="tx1"/>
                              </a:solidFill>
                              <a:latin typeface="Cambria Math" panose="02040503050406030204" pitchFamily="18" charset="0"/>
                            </a:rPr>
                          </m:ctrlPr>
                        </m:dPr>
                        <m:e>
                          <m:m>
                            <m:mPr>
                              <m:mcs>
                                <m:mc>
                                  <m:mcPr>
                                    <m:count m:val="2"/>
                                    <m:mcJc m:val="center"/>
                                  </m:mcPr>
                                </m:mc>
                              </m:mcs>
                              <m:ctrlPr>
                                <a:rPr lang="en-US" sz="2400" b="0" i="1" smtClean="0">
                                  <a:solidFill>
                                    <a:schemeClr val="tx1"/>
                                  </a:solidFill>
                                  <a:latin typeface="Cambria Math" panose="02040503050406030204" pitchFamily="18" charset="0"/>
                                </a:rPr>
                              </m:ctrlPr>
                            </m:mPr>
                            <m:mr>
                              <m:e>
                                <m:sSup>
                                  <m:sSupPr>
                                    <m:ctrlPr>
                                      <a:rPr lang="en-US" sz="2400" i="1">
                                        <a:solidFill>
                                          <a:schemeClr val="tx1"/>
                                        </a:solidFill>
                                        <a:latin typeface="Cambria Math" panose="02040503050406030204" pitchFamily="18" charset="0"/>
                                        <a:ea typeface="Cambria Math" panose="02040503050406030204" pitchFamily="18" charset="0"/>
                                      </a:rPr>
                                    </m:ctrlPr>
                                  </m:sSupPr>
                                  <m:e>
                                    <m:r>
                                      <a:rPr lang="en-US" sz="2400" i="1">
                                        <a:solidFill>
                                          <a:schemeClr val="tx1"/>
                                        </a:solidFill>
                                        <a:latin typeface="Cambria Math" panose="02040503050406030204" pitchFamily="18" charset="0"/>
                                        <a:ea typeface="Cambria Math" panose="02040503050406030204" pitchFamily="18" charset="0"/>
                                      </a:rPr>
                                      <m:t>𝑒</m:t>
                                    </m:r>
                                  </m:e>
                                  <m:sup>
                                    <m:r>
                                      <a:rPr lang="en-US" sz="2400" i="1">
                                        <a:solidFill>
                                          <a:schemeClr val="tx1"/>
                                        </a:solidFill>
                                        <a:latin typeface="Cambria Math" panose="02040503050406030204" pitchFamily="18" charset="0"/>
                                        <a:ea typeface="Cambria Math" panose="02040503050406030204" pitchFamily="18" charset="0"/>
                                      </a:rPr>
                                      <m:t>−</m:t>
                                    </m:r>
                                    <m:r>
                                      <a:rPr lang="en-US" sz="2400" i="1">
                                        <a:solidFill>
                                          <a:schemeClr val="tx1"/>
                                        </a:solidFill>
                                        <a:latin typeface="Cambria Math" panose="02040503050406030204" pitchFamily="18" charset="0"/>
                                        <a:ea typeface="Cambria Math" panose="02040503050406030204" pitchFamily="18" charset="0"/>
                                      </a:rPr>
                                      <m:t>𝑖</m:t>
                                    </m:r>
                                    <m:f>
                                      <m:fPr>
                                        <m:ctrlPr>
                                          <a:rPr lang="en-US" sz="2400" i="1">
                                            <a:solidFill>
                                              <a:schemeClr val="tx1"/>
                                            </a:solidFill>
                                            <a:latin typeface="Cambria Math" panose="02040503050406030204" pitchFamily="18" charset="0"/>
                                            <a:ea typeface="Cambria Math" panose="02040503050406030204" pitchFamily="18" charset="0"/>
                                          </a:rPr>
                                        </m:ctrlPr>
                                      </m:fPr>
                                      <m:num>
                                        <m:r>
                                          <a:rPr lang="en-US" sz="2400" i="1">
                                            <a:solidFill>
                                              <a:schemeClr val="tx1"/>
                                            </a:solidFill>
                                            <a:latin typeface="Cambria Math" panose="02040503050406030204" pitchFamily="18" charset="0"/>
                                            <a:ea typeface="Cambria Math" panose="02040503050406030204" pitchFamily="18" charset="0"/>
                                          </a:rPr>
                                          <m:t>𝜆</m:t>
                                        </m:r>
                                      </m:num>
                                      <m:den>
                                        <m:r>
                                          <a:rPr lang="en-US" sz="2400" i="1">
                                            <a:solidFill>
                                              <a:schemeClr val="tx1"/>
                                            </a:solidFill>
                                            <a:latin typeface="Cambria Math" panose="02040503050406030204" pitchFamily="18" charset="0"/>
                                            <a:ea typeface="Cambria Math" panose="02040503050406030204" pitchFamily="18" charset="0"/>
                                          </a:rPr>
                                          <m:t>2</m:t>
                                        </m:r>
                                      </m:den>
                                    </m:f>
                                  </m:sup>
                                </m:sSup>
                              </m:e>
                              <m:e>
                                <m:r>
                                  <a:rPr lang="en-US" sz="2400" b="0" i="1" smtClean="0">
                                    <a:solidFill>
                                      <a:schemeClr val="tx1"/>
                                    </a:solidFill>
                                    <a:latin typeface="Cambria Math" panose="02040503050406030204" pitchFamily="18" charset="0"/>
                                  </a:rPr>
                                  <m:t>0</m:t>
                                </m:r>
                              </m:e>
                            </m:mr>
                            <m:mr>
                              <m:e>
                                <m:r>
                                  <a:rPr lang="en-US" sz="2400" i="1" smtClean="0">
                                    <a:solidFill>
                                      <a:schemeClr val="tx1"/>
                                    </a:solidFill>
                                    <a:latin typeface="Cambria Math" panose="02040503050406030204" pitchFamily="18" charset="0"/>
                                    <a:ea typeface="Cambria Math" panose="02040503050406030204" pitchFamily="18" charset="0"/>
                                  </a:rPr>
                                  <m:t>0</m:t>
                                </m:r>
                              </m:e>
                              <m:e>
                                <m:sSup>
                                  <m:sSupPr>
                                    <m:ctrlPr>
                                      <a:rPr lang="en-US" sz="2400" i="1">
                                        <a:solidFill>
                                          <a:schemeClr val="tx1"/>
                                        </a:solidFill>
                                        <a:latin typeface="Cambria Math" panose="02040503050406030204" pitchFamily="18" charset="0"/>
                                        <a:ea typeface="Cambria Math" panose="02040503050406030204" pitchFamily="18" charset="0"/>
                                      </a:rPr>
                                    </m:ctrlPr>
                                  </m:sSupPr>
                                  <m:e>
                                    <m:r>
                                      <a:rPr lang="en-US" sz="2400" i="1">
                                        <a:solidFill>
                                          <a:schemeClr val="tx1"/>
                                        </a:solidFill>
                                        <a:latin typeface="Cambria Math" panose="02040503050406030204" pitchFamily="18" charset="0"/>
                                        <a:ea typeface="Cambria Math" panose="02040503050406030204" pitchFamily="18" charset="0"/>
                                      </a:rPr>
                                      <m:t>𝑒</m:t>
                                    </m:r>
                                  </m:e>
                                  <m:sup>
                                    <m:r>
                                      <a:rPr lang="en-US" sz="2400" i="1">
                                        <a:solidFill>
                                          <a:schemeClr val="tx1"/>
                                        </a:solidFill>
                                        <a:latin typeface="Cambria Math" panose="02040503050406030204" pitchFamily="18" charset="0"/>
                                        <a:ea typeface="Cambria Math" panose="02040503050406030204" pitchFamily="18" charset="0"/>
                                      </a:rPr>
                                      <m:t>𝑖</m:t>
                                    </m:r>
                                    <m:f>
                                      <m:fPr>
                                        <m:ctrlPr>
                                          <a:rPr lang="en-US" sz="2400" i="1">
                                            <a:solidFill>
                                              <a:schemeClr val="tx1"/>
                                            </a:solidFill>
                                            <a:latin typeface="Cambria Math" panose="02040503050406030204" pitchFamily="18" charset="0"/>
                                            <a:ea typeface="Cambria Math" panose="02040503050406030204" pitchFamily="18" charset="0"/>
                                          </a:rPr>
                                        </m:ctrlPr>
                                      </m:fPr>
                                      <m:num>
                                        <m:r>
                                          <a:rPr lang="en-US" sz="2400" i="1">
                                            <a:solidFill>
                                              <a:schemeClr val="tx1"/>
                                            </a:solidFill>
                                            <a:latin typeface="Cambria Math" panose="02040503050406030204" pitchFamily="18" charset="0"/>
                                            <a:ea typeface="Cambria Math" panose="02040503050406030204" pitchFamily="18" charset="0"/>
                                          </a:rPr>
                                          <m:t>𝜆</m:t>
                                        </m:r>
                                      </m:num>
                                      <m:den>
                                        <m:r>
                                          <a:rPr lang="en-US" sz="2400" i="1">
                                            <a:solidFill>
                                              <a:schemeClr val="tx1"/>
                                            </a:solidFill>
                                            <a:latin typeface="Cambria Math" panose="02040503050406030204" pitchFamily="18" charset="0"/>
                                            <a:ea typeface="Cambria Math" panose="02040503050406030204" pitchFamily="18" charset="0"/>
                                          </a:rPr>
                                          <m:t>2</m:t>
                                        </m:r>
                                      </m:den>
                                    </m:f>
                                  </m:sup>
                                </m:sSup>
                              </m:e>
                            </m:mr>
                          </m:m>
                        </m:e>
                      </m:d>
                      <m:r>
                        <a:rPr lang="en-US" sz="2400" i="1">
                          <a:latin typeface="Cambria Math" panose="02040503050406030204" pitchFamily="18" charset="0"/>
                          <a:ea typeface="Cambria Math" panose="02040503050406030204" pitchFamily="18" charset="0"/>
                        </a:rPr>
                        <m:t>⟶</m:t>
                      </m:r>
                    </m:oMath>
                  </m:oMathPara>
                </a14:m>
                <a:endParaRPr lang="en-US" sz="2400" i="1" dirty="0">
                  <a:solidFill>
                    <a:schemeClr val="tx1"/>
                  </a:solidFill>
                </a:endParaRPr>
              </a:p>
            </p:txBody>
          </p:sp>
        </mc:Choice>
        <mc:Fallback xmlns="">
          <p:sp>
            <p:nvSpPr>
              <p:cNvPr id="37" name="Rectangle 36">
                <a:extLst>
                  <a:ext uri="{FF2B5EF4-FFF2-40B4-BE49-F238E27FC236}">
                    <a16:creationId xmlns:a16="http://schemas.microsoft.com/office/drawing/2014/main" id="{85F7819B-5DFD-AF40-996E-C7297BD2359F}"/>
                  </a:ext>
                </a:extLst>
              </p:cNvPr>
              <p:cNvSpPr>
                <a:spLocks noRot="1" noChangeAspect="1" noMove="1" noResize="1" noEditPoints="1" noAdjustHandles="1" noChangeArrowheads="1" noChangeShapeType="1" noTextEdit="1"/>
              </p:cNvSpPr>
              <p:nvPr/>
            </p:nvSpPr>
            <p:spPr>
              <a:xfrm>
                <a:off x="493850" y="1063796"/>
                <a:ext cx="3500061" cy="1121910"/>
              </a:xfrm>
              <a:prstGeom prst="rect">
                <a:avLst/>
              </a:prstGeom>
              <a:blipFill>
                <a:blip r:embed="rId5"/>
                <a:stretch>
                  <a:fillRect b="-454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Rectangle 37">
                <a:extLst>
                  <a:ext uri="{FF2B5EF4-FFF2-40B4-BE49-F238E27FC236}">
                    <a16:creationId xmlns:a16="http://schemas.microsoft.com/office/drawing/2014/main" id="{7744E504-8357-574E-BF9E-8BC9315A64DB}"/>
                  </a:ext>
                </a:extLst>
              </p:cNvPr>
              <p:cNvSpPr/>
              <p:nvPr/>
            </p:nvSpPr>
            <p:spPr>
              <a:xfrm>
                <a:off x="8174820" y="1063796"/>
                <a:ext cx="3158429" cy="1054135"/>
              </a:xfrm>
              <a:prstGeom prst="rect">
                <a:avLst/>
              </a:prstGeom>
              <a:noFill/>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sr-Latn-RS" sz="2400" i="1" smtClean="0">
                              <a:solidFill>
                                <a:schemeClr val="tx1"/>
                              </a:solidFill>
                              <a:latin typeface="Cambria Math" panose="02040503050406030204" pitchFamily="18" charset="0"/>
                              <a:ea typeface="Cambria Math" panose="02040503050406030204" pitchFamily="18" charset="0"/>
                            </a:rPr>
                          </m:ctrlPr>
                        </m:sSubPr>
                        <m:e>
                          <m:r>
                            <a:rPr lang="sr-Latn-RS" sz="2400" i="1">
                              <a:solidFill>
                                <a:schemeClr val="tx1"/>
                              </a:solidFill>
                              <a:latin typeface="Cambria Math" panose="02040503050406030204" pitchFamily="18" charset="0"/>
                              <a:ea typeface="Cambria Math" panose="02040503050406030204" pitchFamily="18" charset="0"/>
                            </a:rPr>
                            <m:t>𝑅</m:t>
                          </m:r>
                        </m:e>
                        <m:sub>
                          <m:r>
                            <a:rPr lang="sr-Latn-RS" sz="2400" i="1">
                              <a:solidFill>
                                <a:schemeClr val="tx1"/>
                              </a:solidFill>
                              <a:latin typeface="Cambria Math" panose="02040503050406030204" pitchFamily="18" charset="0"/>
                              <a:ea typeface="Cambria Math" panose="02040503050406030204" pitchFamily="18" charset="0"/>
                            </a:rPr>
                            <m:t>𝑧</m:t>
                          </m:r>
                        </m:sub>
                      </m:sSub>
                      <m:d>
                        <m:dPr>
                          <m:ctrlPr>
                            <a:rPr lang="sr-Latn-RS" sz="2400" i="1">
                              <a:solidFill>
                                <a:schemeClr val="tx1"/>
                              </a:solidFill>
                              <a:latin typeface="Cambria Math" panose="02040503050406030204" pitchFamily="18" charset="0"/>
                              <a:ea typeface="Cambria Math" panose="02040503050406030204" pitchFamily="18" charset="0"/>
                            </a:rPr>
                          </m:ctrlPr>
                        </m:dPr>
                        <m:e>
                          <m:r>
                            <a:rPr lang="en-US" sz="2400" i="1">
                              <a:solidFill>
                                <a:schemeClr val="tx1"/>
                              </a:solidFill>
                              <a:latin typeface="Cambria Math" panose="02040503050406030204" pitchFamily="18" charset="0"/>
                              <a:ea typeface="Cambria Math" panose="02040503050406030204" pitchFamily="18" charset="0"/>
                            </a:rPr>
                            <m:t>𝜆</m:t>
                          </m:r>
                        </m:e>
                      </m:d>
                      <m:r>
                        <a:rPr lang="en-US" sz="2400" b="0" i="1" smtClean="0">
                          <a:solidFill>
                            <a:schemeClr val="tx1"/>
                          </a:solidFill>
                          <a:latin typeface="Cambria Math" panose="02040503050406030204" pitchFamily="18" charset="0"/>
                        </a:rPr>
                        <m:t>=</m:t>
                      </m:r>
                      <m:d>
                        <m:dPr>
                          <m:ctrlPr>
                            <a:rPr lang="en-US" sz="2400" b="0" i="1" smtClean="0">
                              <a:solidFill>
                                <a:schemeClr val="tx1"/>
                              </a:solidFill>
                              <a:latin typeface="Cambria Math" panose="02040503050406030204" pitchFamily="18" charset="0"/>
                            </a:rPr>
                          </m:ctrlPr>
                        </m:dPr>
                        <m:e>
                          <m:m>
                            <m:mPr>
                              <m:mcs>
                                <m:mc>
                                  <m:mcPr>
                                    <m:count m:val="2"/>
                                    <m:mcJc m:val="center"/>
                                  </m:mcPr>
                                </m:mc>
                              </m:mcs>
                              <m:ctrlPr>
                                <a:rPr lang="en-US" sz="2400" b="0" i="1" smtClean="0">
                                  <a:solidFill>
                                    <a:schemeClr val="tx1"/>
                                  </a:solidFill>
                                  <a:latin typeface="Cambria Math" panose="02040503050406030204" pitchFamily="18" charset="0"/>
                                </a:rPr>
                              </m:ctrlPr>
                            </m:mPr>
                            <m:mr>
                              <m:e>
                                <m:sSup>
                                  <m:sSupPr>
                                    <m:ctrlPr>
                                      <a:rPr lang="en-US" sz="2400" i="1">
                                        <a:solidFill>
                                          <a:schemeClr val="tx1"/>
                                        </a:solidFill>
                                        <a:latin typeface="Cambria Math" panose="02040503050406030204" pitchFamily="18" charset="0"/>
                                        <a:ea typeface="Cambria Math" panose="02040503050406030204" pitchFamily="18" charset="0"/>
                                      </a:rPr>
                                    </m:ctrlPr>
                                  </m:sSupPr>
                                  <m:e>
                                    <m:r>
                                      <a:rPr lang="en-US" sz="2400" i="1">
                                        <a:solidFill>
                                          <a:schemeClr val="tx1"/>
                                        </a:solidFill>
                                        <a:latin typeface="Cambria Math" panose="02040503050406030204" pitchFamily="18" charset="0"/>
                                        <a:ea typeface="Cambria Math" panose="02040503050406030204" pitchFamily="18" charset="0"/>
                                      </a:rPr>
                                      <m:t>𝑒</m:t>
                                    </m:r>
                                  </m:e>
                                  <m:sup>
                                    <m:r>
                                      <a:rPr lang="en-US" sz="2400" i="1">
                                        <a:solidFill>
                                          <a:schemeClr val="tx1"/>
                                        </a:solidFill>
                                        <a:latin typeface="Cambria Math" panose="02040503050406030204" pitchFamily="18" charset="0"/>
                                        <a:ea typeface="Cambria Math" panose="02040503050406030204" pitchFamily="18" charset="0"/>
                                      </a:rPr>
                                      <m:t>−</m:t>
                                    </m:r>
                                    <m:r>
                                      <a:rPr lang="en-US" sz="2400" i="1">
                                        <a:solidFill>
                                          <a:schemeClr val="tx1"/>
                                        </a:solidFill>
                                        <a:latin typeface="Cambria Math" panose="02040503050406030204" pitchFamily="18" charset="0"/>
                                        <a:ea typeface="Cambria Math" panose="02040503050406030204" pitchFamily="18" charset="0"/>
                                      </a:rPr>
                                      <m:t>𝑖</m:t>
                                    </m:r>
                                    <m:f>
                                      <m:fPr>
                                        <m:ctrlPr>
                                          <a:rPr lang="en-US" sz="2400" i="1">
                                            <a:solidFill>
                                              <a:schemeClr val="tx1"/>
                                            </a:solidFill>
                                            <a:latin typeface="Cambria Math" panose="02040503050406030204" pitchFamily="18" charset="0"/>
                                            <a:ea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𝜑</m:t>
                                        </m:r>
                                      </m:num>
                                      <m:den>
                                        <m:r>
                                          <a:rPr lang="en-US" sz="2400" i="1">
                                            <a:solidFill>
                                              <a:schemeClr val="tx1"/>
                                            </a:solidFill>
                                            <a:latin typeface="Cambria Math" panose="02040503050406030204" pitchFamily="18" charset="0"/>
                                            <a:ea typeface="Cambria Math" panose="02040503050406030204" pitchFamily="18" charset="0"/>
                                          </a:rPr>
                                          <m:t>2</m:t>
                                        </m:r>
                                      </m:den>
                                    </m:f>
                                  </m:sup>
                                </m:sSup>
                              </m:e>
                              <m:e>
                                <m:r>
                                  <a:rPr lang="en-US" sz="2400" b="0" i="1" smtClean="0">
                                    <a:solidFill>
                                      <a:schemeClr val="tx1"/>
                                    </a:solidFill>
                                    <a:latin typeface="Cambria Math" panose="02040503050406030204" pitchFamily="18" charset="0"/>
                                  </a:rPr>
                                  <m:t>0</m:t>
                                </m:r>
                              </m:e>
                            </m:mr>
                            <m:mr>
                              <m:e>
                                <m:r>
                                  <a:rPr lang="en-US" sz="2400" i="1" smtClean="0">
                                    <a:solidFill>
                                      <a:schemeClr val="tx1"/>
                                    </a:solidFill>
                                    <a:latin typeface="Cambria Math" panose="02040503050406030204" pitchFamily="18" charset="0"/>
                                    <a:ea typeface="Cambria Math" panose="02040503050406030204" pitchFamily="18" charset="0"/>
                                  </a:rPr>
                                  <m:t>0</m:t>
                                </m:r>
                              </m:e>
                              <m:e>
                                <m:sSup>
                                  <m:sSupPr>
                                    <m:ctrlPr>
                                      <a:rPr lang="en-US" sz="2400" i="1">
                                        <a:solidFill>
                                          <a:schemeClr val="tx1"/>
                                        </a:solidFill>
                                        <a:latin typeface="Cambria Math" panose="02040503050406030204" pitchFamily="18" charset="0"/>
                                        <a:ea typeface="Cambria Math" panose="02040503050406030204" pitchFamily="18" charset="0"/>
                                      </a:rPr>
                                    </m:ctrlPr>
                                  </m:sSupPr>
                                  <m:e>
                                    <m:r>
                                      <a:rPr lang="en-US" sz="2400" i="1">
                                        <a:solidFill>
                                          <a:schemeClr val="tx1"/>
                                        </a:solidFill>
                                        <a:latin typeface="Cambria Math" panose="02040503050406030204" pitchFamily="18" charset="0"/>
                                        <a:ea typeface="Cambria Math" panose="02040503050406030204" pitchFamily="18" charset="0"/>
                                      </a:rPr>
                                      <m:t>𝑒</m:t>
                                    </m:r>
                                  </m:e>
                                  <m:sup>
                                    <m:r>
                                      <a:rPr lang="en-US" sz="2400" i="1">
                                        <a:solidFill>
                                          <a:schemeClr val="tx1"/>
                                        </a:solidFill>
                                        <a:latin typeface="Cambria Math" panose="02040503050406030204" pitchFamily="18" charset="0"/>
                                        <a:ea typeface="Cambria Math" panose="02040503050406030204" pitchFamily="18" charset="0"/>
                                      </a:rPr>
                                      <m:t>𝑖</m:t>
                                    </m:r>
                                    <m:f>
                                      <m:fPr>
                                        <m:ctrlPr>
                                          <a:rPr lang="en-US" sz="2400" i="1">
                                            <a:solidFill>
                                              <a:schemeClr val="tx1"/>
                                            </a:solidFill>
                                            <a:latin typeface="Cambria Math" panose="02040503050406030204" pitchFamily="18" charset="0"/>
                                            <a:ea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𝜑</m:t>
                                        </m:r>
                                      </m:num>
                                      <m:den>
                                        <m:r>
                                          <a:rPr lang="en-US" sz="2400" i="1">
                                            <a:solidFill>
                                              <a:schemeClr val="tx1"/>
                                            </a:solidFill>
                                            <a:latin typeface="Cambria Math" panose="02040503050406030204" pitchFamily="18" charset="0"/>
                                            <a:ea typeface="Cambria Math" panose="02040503050406030204" pitchFamily="18" charset="0"/>
                                          </a:rPr>
                                          <m:t>2</m:t>
                                        </m:r>
                                      </m:den>
                                    </m:f>
                                  </m:sup>
                                </m:sSup>
                              </m:e>
                            </m:mr>
                          </m:m>
                        </m:e>
                      </m:d>
                    </m:oMath>
                  </m:oMathPara>
                </a14:m>
                <a:endParaRPr lang="en-US" sz="2400" i="1" dirty="0">
                  <a:solidFill>
                    <a:schemeClr val="tx1"/>
                  </a:solidFill>
                </a:endParaRPr>
              </a:p>
            </p:txBody>
          </p:sp>
        </mc:Choice>
        <mc:Fallback xmlns="">
          <p:sp>
            <p:nvSpPr>
              <p:cNvPr id="38" name="Rectangle 37">
                <a:extLst>
                  <a:ext uri="{FF2B5EF4-FFF2-40B4-BE49-F238E27FC236}">
                    <a16:creationId xmlns:a16="http://schemas.microsoft.com/office/drawing/2014/main" id="{7744E504-8357-574E-BF9E-8BC9315A64DB}"/>
                  </a:ext>
                </a:extLst>
              </p:cNvPr>
              <p:cNvSpPr>
                <a:spLocks noRot="1" noChangeAspect="1" noMove="1" noResize="1" noEditPoints="1" noAdjustHandles="1" noChangeArrowheads="1" noChangeShapeType="1" noTextEdit="1"/>
              </p:cNvSpPr>
              <p:nvPr/>
            </p:nvSpPr>
            <p:spPr>
              <a:xfrm>
                <a:off x="8174820" y="1063796"/>
                <a:ext cx="3158429" cy="1054135"/>
              </a:xfrm>
              <a:prstGeom prst="rect">
                <a:avLst/>
              </a:prstGeom>
              <a:blipFill>
                <a:blip r:embed="rId6"/>
                <a:stretch>
                  <a:fillRect b="-241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Rectangle 38">
                <a:extLst>
                  <a:ext uri="{FF2B5EF4-FFF2-40B4-BE49-F238E27FC236}">
                    <a16:creationId xmlns:a16="http://schemas.microsoft.com/office/drawing/2014/main" id="{FC6721F8-179C-9147-AEF9-5A22A724875E}"/>
                  </a:ext>
                </a:extLst>
              </p:cNvPr>
              <p:cNvSpPr/>
              <p:nvPr/>
            </p:nvSpPr>
            <p:spPr>
              <a:xfrm>
                <a:off x="4039639" y="984063"/>
                <a:ext cx="4089453" cy="1281376"/>
              </a:xfrm>
              <a:prstGeom prst="rect">
                <a:avLst/>
              </a:prstGeom>
              <a:noFill/>
            </p:spPr>
            <p:txBody>
              <a:bodyPr wrap="none">
                <a:spAutoFit/>
              </a:bodyPr>
              <a:lstStyle/>
              <a:p>
                <a14:m>
                  <m:oMath xmlns:m="http://schemas.openxmlformats.org/officeDocument/2006/math">
                    <m:sSub>
                      <m:sSubPr>
                        <m:ctrlPr>
                          <a:rPr lang="sr-Latn-RS" sz="2400" i="1" smtClean="0">
                            <a:latin typeface="Cambria Math" panose="02040503050406030204" pitchFamily="18" charset="0"/>
                            <a:ea typeface="Cambria Math" panose="02040503050406030204" pitchFamily="18" charset="0"/>
                          </a:rPr>
                        </m:ctrlPr>
                      </m:sSubPr>
                      <m:e>
                        <m:r>
                          <a:rPr lang="sr-Latn-RS" sz="2400" i="1">
                            <a:latin typeface="Cambria Math" panose="02040503050406030204" pitchFamily="18" charset="0"/>
                            <a:ea typeface="Cambria Math" panose="02040503050406030204" pitchFamily="18" charset="0"/>
                          </a:rPr>
                          <m:t>𝑅</m:t>
                        </m:r>
                      </m:e>
                      <m:sub>
                        <m:r>
                          <a:rPr lang="en-US" sz="2400" b="0" i="1" smtClean="0">
                            <a:latin typeface="Cambria Math" panose="02040503050406030204" pitchFamily="18" charset="0"/>
                            <a:ea typeface="Cambria Math" panose="02040503050406030204" pitchFamily="18" charset="0"/>
                          </a:rPr>
                          <m:t>𝑦</m:t>
                        </m:r>
                      </m:sub>
                    </m:sSub>
                    <m:d>
                      <m:dPr>
                        <m:ctrlPr>
                          <a:rPr lang="sr-Latn-R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𝜃</m:t>
                        </m:r>
                      </m:e>
                    </m:d>
                    <m:r>
                      <a:rPr lang="en-US" sz="2400" b="0" i="1" smtClean="0">
                        <a:latin typeface="Cambria Math" panose="02040503050406030204" pitchFamily="18" charset="0"/>
                      </a:rPr>
                      <m:t>=</m:t>
                    </m:r>
                    <m:d>
                      <m:dPr>
                        <m:ctrlPr>
                          <a:rPr lang="en-US" sz="2400" b="0" i="1" smtClean="0">
                            <a:latin typeface="Cambria Math" panose="02040503050406030204" pitchFamily="18" charset="0"/>
                          </a:rPr>
                        </m:ctrlPr>
                      </m:dPr>
                      <m:e>
                        <m:m>
                          <m:mPr>
                            <m:mcs>
                              <m:mc>
                                <m:mcPr>
                                  <m:count m:val="2"/>
                                  <m:mcJc m:val="center"/>
                                </m:mcPr>
                              </m:mc>
                            </m:mcs>
                            <m:ctrlPr>
                              <a:rPr lang="en-US" sz="2400" b="0" i="1" smtClean="0">
                                <a:latin typeface="Cambria Math" panose="02040503050406030204" pitchFamily="18" charset="0"/>
                              </a:rPr>
                            </m:ctrlPr>
                          </m:mPr>
                          <m:mr>
                            <m:e>
                              <m:func>
                                <m:funcPr>
                                  <m:ctrlPr>
                                    <a:rPr lang="en-US" sz="2400" b="0" i="1" smtClean="0">
                                      <a:latin typeface="Cambria Math" panose="02040503050406030204" pitchFamily="18" charset="0"/>
                                    </a:rPr>
                                  </m:ctrlPr>
                                </m:funcPr>
                                <m:fName>
                                  <m:r>
                                    <m:rPr>
                                      <m:brk m:alnAt="7"/>
                                    </m:rPr>
                                    <a:rPr lang="en-US" sz="2400" b="0" i="1" smtClean="0">
                                      <a:latin typeface="Cambria Math" panose="02040503050406030204" pitchFamily="18" charset="0"/>
                                    </a:rPr>
                                    <m:t>𝑐</m:t>
                                  </m:r>
                                  <m:r>
                                    <a:rPr lang="en-US" sz="2400" b="0" i="1" smtClean="0">
                                      <a:latin typeface="Cambria Math" panose="02040503050406030204" pitchFamily="18" charset="0"/>
                                    </a:rPr>
                                    <m:t>𝑜𝑠</m:t>
                                  </m:r>
                                </m:fName>
                                <m:e>
                                  <m:f>
                                    <m:fPr>
                                      <m:ctrlPr>
                                        <a:rPr lang="en-US" sz="2400" b="0" i="1" smtClean="0">
                                          <a:latin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𝜃</m:t>
                                      </m:r>
                                    </m:num>
                                    <m:den>
                                      <m:r>
                                        <a:rPr lang="en-US" sz="2400" b="0" i="1" smtClean="0">
                                          <a:latin typeface="Cambria Math" panose="02040503050406030204" pitchFamily="18" charset="0"/>
                                        </a:rPr>
                                        <m:t>2</m:t>
                                      </m:r>
                                    </m:den>
                                  </m:f>
                                </m:e>
                              </m:func>
                            </m:e>
                            <m:e>
                              <m:r>
                                <a:rPr lang="en-US" sz="2400" b="0" i="1" smtClean="0">
                                  <a:latin typeface="Cambria Math" panose="02040503050406030204" pitchFamily="18" charset="0"/>
                                </a:rPr>
                                <m:t>−</m:t>
                              </m:r>
                              <m:func>
                                <m:funcPr>
                                  <m:ctrlPr>
                                    <a:rPr lang="en-US" sz="2400" i="1">
                                      <a:latin typeface="Cambria Math" panose="02040503050406030204" pitchFamily="18" charset="0"/>
                                    </a:rPr>
                                  </m:ctrlPr>
                                </m:funcPr>
                                <m:fName>
                                  <m:r>
                                    <a:rPr lang="en-US" sz="2400" i="1">
                                      <a:latin typeface="Cambria Math" panose="02040503050406030204" pitchFamily="18" charset="0"/>
                                    </a:rPr>
                                    <m:t>𝑠𝑖𝑛</m:t>
                                  </m:r>
                                </m:fName>
                                <m:e>
                                  <m:f>
                                    <m:fPr>
                                      <m:ctrlPr>
                                        <a:rPr lang="en-US" sz="2400" i="1">
                                          <a:latin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𝜃</m:t>
                                      </m:r>
                                    </m:num>
                                    <m:den>
                                      <m:r>
                                        <a:rPr lang="en-US" sz="2400" i="1">
                                          <a:latin typeface="Cambria Math" panose="02040503050406030204" pitchFamily="18" charset="0"/>
                                        </a:rPr>
                                        <m:t>2</m:t>
                                      </m:r>
                                    </m:den>
                                  </m:f>
                                </m:e>
                              </m:func>
                            </m:e>
                          </m:mr>
                          <m:mr>
                            <m:e>
                              <m:func>
                                <m:funcPr>
                                  <m:ctrlPr>
                                    <a:rPr lang="en-US" sz="2400" i="1">
                                      <a:latin typeface="Cambria Math" panose="02040503050406030204" pitchFamily="18" charset="0"/>
                                    </a:rPr>
                                  </m:ctrlPr>
                                </m:funcPr>
                                <m:fName>
                                  <m:r>
                                    <a:rPr lang="en-US" sz="2400" b="0" i="1" smtClean="0">
                                      <a:latin typeface="Cambria Math" panose="02040503050406030204" pitchFamily="18" charset="0"/>
                                    </a:rPr>
                                    <m:t>𝑠𝑖𝑛</m:t>
                                  </m:r>
                                </m:fName>
                                <m:e>
                                  <m:f>
                                    <m:fPr>
                                      <m:ctrlPr>
                                        <a:rPr lang="en-US" sz="2400" i="1">
                                          <a:latin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𝜃</m:t>
                                      </m:r>
                                    </m:num>
                                    <m:den>
                                      <m:r>
                                        <a:rPr lang="en-US" sz="2400" i="1">
                                          <a:latin typeface="Cambria Math" panose="02040503050406030204" pitchFamily="18" charset="0"/>
                                        </a:rPr>
                                        <m:t>2</m:t>
                                      </m:r>
                                    </m:den>
                                  </m:f>
                                </m:e>
                              </m:func>
                            </m:e>
                            <m:e>
                              <m:func>
                                <m:funcPr>
                                  <m:ctrlPr>
                                    <a:rPr lang="en-US" sz="2400" i="1">
                                      <a:latin typeface="Cambria Math" panose="02040503050406030204" pitchFamily="18" charset="0"/>
                                    </a:rPr>
                                  </m:ctrlPr>
                                </m:funcPr>
                                <m:fName>
                                  <m:r>
                                    <m:rPr>
                                      <m:brk m:alnAt="7"/>
                                    </m:rPr>
                                    <a:rPr lang="en-US" sz="2400" i="1">
                                      <a:latin typeface="Cambria Math" panose="02040503050406030204" pitchFamily="18" charset="0"/>
                                    </a:rPr>
                                    <m:t>𝑐</m:t>
                                  </m:r>
                                  <m:r>
                                    <a:rPr lang="en-US" sz="2400" i="1">
                                      <a:latin typeface="Cambria Math" panose="02040503050406030204" pitchFamily="18" charset="0"/>
                                    </a:rPr>
                                    <m:t>𝑜𝑠</m:t>
                                  </m:r>
                                </m:fName>
                                <m:e>
                                  <m:f>
                                    <m:fPr>
                                      <m:ctrlPr>
                                        <a:rPr lang="en-US" sz="2400" i="1">
                                          <a:latin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𝜃</m:t>
                                      </m:r>
                                    </m:num>
                                    <m:den>
                                      <m:r>
                                        <a:rPr lang="en-US" sz="2400" i="1">
                                          <a:latin typeface="Cambria Math" panose="02040503050406030204" pitchFamily="18" charset="0"/>
                                        </a:rPr>
                                        <m:t>2</m:t>
                                      </m:r>
                                    </m:den>
                                  </m:f>
                                </m:e>
                              </m:func>
                            </m:e>
                          </m:mr>
                        </m:m>
                      </m:e>
                    </m:d>
                  </m:oMath>
                </a14:m>
                <a:r>
                  <a:rPr lang="en-US" sz="2400" dirty="0">
                    <a:ea typeface="Cambria Math" panose="02040503050406030204" pitchFamily="18" charset="0"/>
                  </a:rPr>
                  <a:t> </a:t>
                </a:r>
                <a14:m>
                  <m:oMath xmlns:m="http://schemas.openxmlformats.org/officeDocument/2006/math">
                    <m:r>
                      <a:rPr lang="en-US" sz="2400" i="1">
                        <a:latin typeface="Cambria Math" panose="02040503050406030204" pitchFamily="18" charset="0"/>
                        <a:ea typeface="Cambria Math" panose="02040503050406030204" pitchFamily="18" charset="0"/>
                      </a:rPr>
                      <m:t>⟶</m:t>
                    </m:r>
                  </m:oMath>
                </a14:m>
                <a:endParaRPr lang="en-US" sz="2400" i="1" dirty="0"/>
              </a:p>
            </p:txBody>
          </p:sp>
        </mc:Choice>
        <mc:Fallback xmlns="">
          <p:sp>
            <p:nvSpPr>
              <p:cNvPr id="39" name="Rectangle 38">
                <a:extLst>
                  <a:ext uri="{FF2B5EF4-FFF2-40B4-BE49-F238E27FC236}">
                    <a16:creationId xmlns:a16="http://schemas.microsoft.com/office/drawing/2014/main" id="{FC6721F8-179C-9147-AEF9-5A22A724875E}"/>
                  </a:ext>
                </a:extLst>
              </p:cNvPr>
              <p:cNvSpPr>
                <a:spLocks noRot="1" noChangeAspect="1" noMove="1" noResize="1" noEditPoints="1" noAdjustHandles="1" noChangeArrowheads="1" noChangeShapeType="1" noTextEdit="1"/>
              </p:cNvSpPr>
              <p:nvPr/>
            </p:nvSpPr>
            <p:spPr>
              <a:xfrm>
                <a:off x="4039639" y="984063"/>
                <a:ext cx="4089453" cy="1281376"/>
              </a:xfrm>
              <a:prstGeom prst="rect">
                <a:avLst/>
              </a:prstGeom>
              <a:blipFill>
                <a:blip r:embed="rId7"/>
                <a:stretch>
                  <a:fillRect/>
                </a:stretch>
              </a:blipFill>
            </p:spPr>
            <p:txBody>
              <a:bodyPr/>
              <a:lstStyle/>
              <a:p>
                <a:r>
                  <a:rPr lang="en-US">
                    <a:noFill/>
                  </a:rPr>
                  <a:t> </a:t>
                </a:r>
              </a:p>
            </p:txBody>
          </p:sp>
        </mc:Fallback>
      </mc:AlternateContent>
      <p:sp>
        <p:nvSpPr>
          <p:cNvPr id="8" name="Oval 7">
            <a:extLst>
              <a:ext uri="{FF2B5EF4-FFF2-40B4-BE49-F238E27FC236}">
                <a16:creationId xmlns:a16="http://schemas.microsoft.com/office/drawing/2014/main" id="{E5E9DDDF-79A9-944A-83C7-7692EA4B5C40}"/>
              </a:ext>
            </a:extLst>
          </p:cNvPr>
          <p:cNvSpPr>
            <a:spLocks noChangeAspect="1"/>
          </p:cNvSpPr>
          <p:nvPr/>
        </p:nvSpPr>
        <p:spPr>
          <a:xfrm>
            <a:off x="441485" y="2536317"/>
            <a:ext cx="4066216" cy="4066218"/>
          </a:xfrm>
          <a:prstGeom prst="ellipse">
            <a:avLst/>
          </a:prstGeom>
          <a:gradFill>
            <a:gsLst>
              <a:gs pos="0">
                <a:schemeClr val="accent1">
                  <a:lumMod val="5000"/>
                  <a:lumOff val="95000"/>
                </a:schemeClr>
              </a:gs>
              <a:gs pos="100000">
                <a:schemeClr val="accent5">
                  <a:lumMod val="20000"/>
                  <a:lumOff val="8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00"/>
          </a:p>
        </p:txBody>
      </p:sp>
      <p:sp>
        <p:nvSpPr>
          <p:cNvPr id="48" name="Oval 47">
            <a:extLst>
              <a:ext uri="{FF2B5EF4-FFF2-40B4-BE49-F238E27FC236}">
                <a16:creationId xmlns:a16="http://schemas.microsoft.com/office/drawing/2014/main" id="{1739CB23-E6DB-FB4B-ACF0-9D74C21CACC4}"/>
              </a:ext>
            </a:extLst>
          </p:cNvPr>
          <p:cNvSpPr/>
          <p:nvPr/>
        </p:nvSpPr>
        <p:spPr>
          <a:xfrm>
            <a:off x="1154495" y="2741732"/>
            <a:ext cx="2578238" cy="768626"/>
          </a:xfrm>
          <a:prstGeom prst="ellipse">
            <a:avLst/>
          </a:prstGeom>
          <a:noFill/>
          <a:ln w="6350">
            <a:solidFill>
              <a:schemeClr val="bg1">
                <a:lumMod val="75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00"/>
          </a:p>
        </p:txBody>
      </p:sp>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54E0EDD3-963A-6242-84D1-4055DCD85C11}"/>
                  </a:ext>
                </a:extLst>
              </p:cNvPr>
              <p:cNvSpPr/>
              <p:nvPr/>
            </p:nvSpPr>
            <p:spPr>
              <a:xfrm>
                <a:off x="242198" y="5558137"/>
                <a:ext cx="602024" cy="430887"/>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sz="2200" b="0" i="1" smtClean="0">
                          <a:latin typeface="Cambria Math" panose="02040503050406030204" pitchFamily="18" charset="0"/>
                        </a:rPr>
                        <m:t>𝑥</m:t>
                      </m:r>
                    </m:oMath>
                  </m:oMathPara>
                </a14:m>
                <a:endParaRPr lang="en-US" sz="2200" dirty="0"/>
              </a:p>
            </p:txBody>
          </p:sp>
        </mc:Choice>
        <mc:Fallback xmlns="">
          <p:sp>
            <p:nvSpPr>
              <p:cNvPr id="10" name="Rectangle 9">
                <a:extLst>
                  <a:ext uri="{FF2B5EF4-FFF2-40B4-BE49-F238E27FC236}">
                    <a16:creationId xmlns:a16="http://schemas.microsoft.com/office/drawing/2014/main" id="{54E0EDD3-963A-6242-84D1-4055DCD85C11}"/>
                  </a:ext>
                </a:extLst>
              </p:cNvPr>
              <p:cNvSpPr>
                <a:spLocks noRot="1" noChangeAspect="1" noMove="1" noResize="1" noEditPoints="1" noAdjustHandles="1" noChangeArrowheads="1" noChangeShapeType="1" noTextEdit="1"/>
              </p:cNvSpPr>
              <p:nvPr/>
            </p:nvSpPr>
            <p:spPr>
              <a:xfrm>
                <a:off x="242198" y="5558137"/>
                <a:ext cx="602024" cy="430887"/>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4C581BFD-FCCA-E240-8780-B887600E7BAC}"/>
                  </a:ext>
                </a:extLst>
              </p:cNvPr>
              <p:cNvSpPr/>
              <p:nvPr/>
            </p:nvSpPr>
            <p:spPr>
              <a:xfrm>
                <a:off x="4316091" y="4978217"/>
                <a:ext cx="607637" cy="430887"/>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sz="2200" b="0" i="1" smtClean="0">
                          <a:latin typeface="Cambria Math" panose="02040503050406030204" pitchFamily="18" charset="0"/>
                        </a:rPr>
                        <m:t>𝑦</m:t>
                      </m:r>
                    </m:oMath>
                  </m:oMathPara>
                </a14:m>
                <a:endParaRPr lang="en-US" sz="2200" dirty="0"/>
              </a:p>
            </p:txBody>
          </p:sp>
        </mc:Choice>
        <mc:Fallback xmlns="">
          <p:sp>
            <p:nvSpPr>
              <p:cNvPr id="11" name="Rectangle 10">
                <a:extLst>
                  <a:ext uri="{FF2B5EF4-FFF2-40B4-BE49-F238E27FC236}">
                    <a16:creationId xmlns:a16="http://schemas.microsoft.com/office/drawing/2014/main" id="{4C581BFD-FCCA-E240-8780-B887600E7BAC}"/>
                  </a:ext>
                </a:extLst>
              </p:cNvPr>
              <p:cNvSpPr>
                <a:spLocks noRot="1" noChangeAspect="1" noMove="1" noResize="1" noEditPoints="1" noAdjustHandles="1" noChangeArrowheads="1" noChangeShapeType="1" noTextEdit="1"/>
              </p:cNvSpPr>
              <p:nvPr/>
            </p:nvSpPr>
            <p:spPr>
              <a:xfrm>
                <a:off x="4316091" y="4978217"/>
                <a:ext cx="607637" cy="430887"/>
              </a:xfrm>
              <a:prstGeom prst="rect">
                <a:avLst/>
              </a:prstGeom>
              <a:blipFill>
                <a:blip r:embed="rId9"/>
                <a:stretch>
                  <a:fillRect b="-857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DAB363B9-6F64-3541-BE4A-00CECAB50CEA}"/>
                  </a:ext>
                </a:extLst>
              </p:cNvPr>
              <p:cNvSpPr/>
              <p:nvPr/>
            </p:nvSpPr>
            <p:spPr>
              <a:xfrm>
                <a:off x="1906353" y="2248004"/>
                <a:ext cx="575951" cy="430887"/>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sz="2200" b="0" i="1" smtClean="0">
                          <a:latin typeface="Cambria Math" panose="02040503050406030204" pitchFamily="18" charset="0"/>
                        </a:rPr>
                        <m:t>𝑧</m:t>
                      </m:r>
                    </m:oMath>
                  </m:oMathPara>
                </a14:m>
                <a:endParaRPr lang="en-US" sz="2200" dirty="0"/>
              </a:p>
            </p:txBody>
          </p:sp>
        </mc:Choice>
        <mc:Fallback xmlns="">
          <p:sp>
            <p:nvSpPr>
              <p:cNvPr id="13" name="Rectangle 12">
                <a:extLst>
                  <a:ext uri="{FF2B5EF4-FFF2-40B4-BE49-F238E27FC236}">
                    <a16:creationId xmlns:a16="http://schemas.microsoft.com/office/drawing/2014/main" id="{DAB363B9-6F64-3541-BE4A-00CECAB50CEA}"/>
                  </a:ext>
                </a:extLst>
              </p:cNvPr>
              <p:cNvSpPr>
                <a:spLocks noRot="1" noChangeAspect="1" noMove="1" noResize="1" noEditPoints="1" noAdjustHandles="1" noChangeArrowheads="1" noChangeShapeType="1" noTextEdit="1"/>
              </p:cNvSpPr>
              <p:nvPr/>
            </p:nvSpPr>
            <p:spPr>
              <a:xfrm>
                <a:off x="1906353" y="2248004"/>
                <a:ext cx="575951" cy="430887"/>
              </a:xfrm>
              <a:prstGeom prst="rect">
                <a:avLst/>
              </a:prstGeom>
              <a:blipFill>
                <a:blip r:embed="rId10"/>
                <a:stretch>
                  <a:fillRect/>
                </a:stretch>
              </a:blipFill>
            </p:spPr>
            <p:txBody>
              <a:bodyPr/>
              <a:lstStyle/>
              <a:p>
                <a:r>
                  <a:rPr lang="en-US">
                    <a:noFill/>
                  </a:rPr>
                  <a:t> </a:t>
                </a:r>
              </a:p>
            </p:txBody>
          </p:sp>
        </mc:Fallback>
      </mc:AlternateContent>
      <p:cxnSp>
        <p:nvCxnSpPr>
          <p:cNvPr id="14" name="Straight Arrow Connector 13">
            <a:extLst>
              <a:ext uri="{FF2B5EF4-FFF2-40B4-BE49-F238E27FC236}">
                <a16:creationId xmlns:a16="http://schemas.microsoft.com/office/drawing/2014/main" id="{8C69E0D0-71E8-6E42-AE29-23E227B2F44F}"/>
              </a:ext>
            </a:extLst>
          </p:cNvPr>
          <p:cNvCxnSpPr>
            <a:cxnSpLocks/>
          </p:cNvCxnSpPr>
          <p:nvPr/>
        </p:nvCxnSpPr>
        <p:spPr>
          <a:xfrm>
            <a:off x="2425818" y="4482860"/>
            <a:ext cx="2310067" cy="601967"/>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050CB089-44BB-FC49-9591-FD791527D024}"/>
              </a:ext>
            </a:extLst>
          </p:cNvPr>
          <p:cNvCxnSpPr>
            <a:cxnSpLocks/>
          </p:cNvCxnSpPr>
          <p:nvPr/>
        </p:nvCxnSpPr>
        <p:spPr>
          <a:xfrm flipH="1">
            <a:off x="706756" y="4482860"/>
            <a:ext cx="1719066" cy="1488969"/>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9EFD0320-A0F6-5A4A-B57B-A99646CB9980}"/>
              </a:ext>
            </a:extLst>
          </p:cNvPr>
          <p:cNvCxnSpPr>
            <a:cxnSpLocks/>
          </p:cNvCxnSpPr>
          <p:nvPr/>
        </p:nvCxnSpPr>
        <p:spPr>
          <a:xfrm flipV="1">
            <a:off x="2425820" y="2371701"/>
            <a:ext cx="0" cy="211116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44" name="Arc 43">
            <a:extLst>
              <a:ext uri="{FF2B5EF4-FFF2-40B4-BE49-F238E27FC236}">
                <a16:creationId xmlns:a16="http://schemas.microsoft.com/office/drawing/2014/main" id="{DB1EB96C-1B93-4B40-A0B5-6559C9014A8A}"/>
              </a:ext>
            </a:extLst>
          </p:cNvPr>
          <p:cNvSpPr/>
          <p:nvPr/>
        </p:nvSpPr>
        <p:spPr>
          <a:xfrm flipV="1">
            <a:off x="1154495" y="2761199"/>
            <a:ext cx="2614145" cy="749158"/>
          </a:xfrm>
          <a:prstGeom prst="arc">
            <a:avLst>
              <a:gd name="adj1" fmla="val 11682118"/>
              <a:gd name="adj2" fmla="val 19802308"/>
            </a:avLst>
          </a:prstGeom>
          <a:noFill/>
          <a:ln w="12700">
            <a:solidFill>
              <a:srgbClr val="FF0000"/>
            </a:solidFill>
            <a:prstDash val="solid"/>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200"/>
          </a:p>
        </p:txBody>
      </p:sp>
      <p:sp>
        <p:nvSpPr>
          <p:cNvPr id="49" name="Oval 48">
            <a:extLst>
              <a:ext uri="{FF2B5EF4-FFF2-40B4-BE49-F238E27FC236}">
                <a16:creationId xmlns:a16="http://schemas.microsoft.com/office/drawing/2014/main" id="{7B9B5F75-3262-044E-8D49-5E97C84CD5F2}"/>
              </a:ext>
            </a:extLst>
          </p:cNvPr>
          <p:cNvSpPr/>
          <p:nvPr/>
        </p:nvSpPr>
        <p:spPr>
          <a:xfrm>
            <a:off x="439599" y="3967061"/>
            <a:ext cx="4066218" cy="1307291"/>
          </a:xfrm>
          <a:prstGeom prst="ellipse">
            <a:avLst/>
          </a:prstGeom>
          <a:noFill/>
          <a:ln w="6350">
            <a:solidFill>
              <a:schemeClr val="bg1">
                <a:lumMod val="75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00"/>
          </a:p>
        </p:txBody>
      </p:sp>
      <p:cxnSp>
        <p:nvCxnSpPr>
          <p:cNvPr id="21" name="Straight Arrow Connector 20">
            <a:extLst>
              <a:ext uri="{FF2B5EF4-FFF2-40B4-BE49-F238E27FC236}">
                <a16:creationId xmlns:a16="http://schemas.microsoft.com/office/drawing/2014/main" id="{26F22BFE-0E95-AA45-9615-B0051FB107BA}"/>
              </a:ext>
            </a:extLst>
          </p:cNvPr>
          <p:cNvCxnSpPr>
            <a:cxnSpLocks/>
          </p:cNvCxnSpPr>
          <p:nvPr/>
        </p:nvCxnSpPr>
        <p:spPr>
          <a:xfrm flipH="1" flipV="1">
            <a:off x="1507716" y="3387077"/>
            <a:ext cx="903227" cy="1054562"/>
          </a:xfrm>
          <a:prstGeom prst="straightConnector1">
            <a:avLst/>
          </a:prstGeom>
          <a:ln w="25400" cap="rnd">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216219DF-BC40-5644-ACC9-FE5869978BF4}"/>
              </a:ext>
            </a:extLst>
          </p:cNvPr>
          <p:cNvCxnSpPr>
            <a:cxnSpLocks/>
          </p:cNvCxnSpPr>
          <p:nvPr/>
        </p:nvCxnSpPr>
        <p:spPr>
          <a:xfrm flipV="1">
            <a:off x="2427136" y="3604470"/>
            <a:ext cx="1603644" cy="861195"/>
          </a:xfrm>
          <a:prstGeom prst="straightConnector1">
            <a:avLst/>
          </a:prstGeom>
          <a:ln w="25400" cap="rnd">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1" name="Rectangle 50">
                <a:extLst>
                  <a:ext uri="{FF2B5EF4-FFF2-40B4-BE49-F238E27FC236}">
                    <a16:creationId xmlns:a16="http://schemas.microsoft.com/office/drawing/2014/main" id="{A361DF53-F6C8-1644-B8B3-8405FAF0A05F}"/>
                  </a:ext>
                </a:extLst>
              </p:cNvPr>
              <p:cNvSpPr/>
              <p:nvPr/>
            </p:nvSpPr>
            <p:spPr>
              <a:xfrm>
                <a:off x="3774219" y="3682579"/>
                <a:ext cx="1572033" cy="430887"/>
              </a:xfrm>
              <a:prstGeom prst="rect">
                <a:avLst/>
              </a:prstGeom>
            </p:spPr>
            <p:txBody>
              <a:bodyPr wrap="none">
                <a:spAutoFit/>
              </a:bodyPr>
              <a:lstStyle/>
              <a:p>
                <a14:m>
                  <m:oMath xmlns:m="http://schemas.openxmlformats.org/officeDocument/2006/math">
                    <m:d>
                      <m:dPr>
                        <m:begChr m:val="|"/>
                        <m:endChr m:val="⟩"/>
                        <m:ctrlPr>
                          <a:rPr lang="en-US" sz="2200" i="1" smtClean="0">
                            <a:solidFill>
                              <a:schemeClr val="accent6">
                                <a:lumMod val="75000"/>
                              </a:schemeClr>
                            </a:solidFill>
                            <a:latin typeface="Cambria Math" panose="02040503050406030204" pitchFamily="18" charset="0"/>
                          </a:rPr>
                        </m:ctrlPr>
                      </m:dPr>
                      <m:e>
                        <m:r>
                          <a:rPr lang="en-US" sz="2200" i="1">
                            <a:solidFill>
                              <a:schemeClr val="accent6">
                                <a:lumMod val="75000"/>
                              </a:schemeClr>
                            </a:solidFill>
                            <a:latin typeface="Cambria Math" panose="02040503050406030204" pitchFamily="18" charset="0"/>
                          </a:rPr>
                          <m:t>𝑆</m:t>
                        </m:r>
                        <m:r>
                          <a:rPr lang="en-US" sz="2200" i="1">
                            <a:solidFill>
                              <a:schemeClr val="accent6">
                                <a:lumMod val="75000"/>
                              </a:schemeClr>
                            </a:solidFill>
                            <a:latin typeface="Cambria Math" panose="02040503050406030204" pitchFamily="18" charset="0"/>
                          </a:rPr>
                          <m:t>′</m:t>
                        </m:r>
                      </m:e>
                    </m:d>
                    <m:r>
                      <a:rPr lang="sr-Latn-RS" sz="2200" b="0" i="1" smtClean="0">
                        <a:solidFill>
                          <a:schemeClr val="accent6">
                            <a:lumMod val="75000"/>
                          </a:schemeClr>
                        </a:solidFill>
                        <a:latin typeface="Cambria Math" panose="02040503050406030204" pitchFamily="18" charset="0"/>
                      </a:rPr>
                      <m:t>=</m:t>
                    </m:r>
                    <m:r>
                      <a:rPr lang="sr-Latn-RS" sz="2200" i="1" smtClean="0">
                        <a:solidFill>
                          <a:schemeClr val="accent6">
                            <a:lumMod val="75000"/>
                          </a:schemeClr>
                        </a:solidFill>
                        <a:latin typeface="Cambria Math" panose="02040503050406030204" pitchFamily="18" charset="0"/>
                      </a:rPr>
                      <m:t>𝑈</m:t>
                    </m:r>
                  </m:oMath>
                </a14:m>
                <a:r>
                  <a:rPr lang="en-US" sz="2200" dirty="0">
                    <a:solidFill>
                      <a:schemeClr val="accent6">
                        <a:lumMod val="75000"/>
                      </a:schemeClr>
                    </a:solidFill>
                  </a:rPr>
                  <a:t> </a:t>
                </a:r>
                <a14:m>
                  <m:oMath xmlns:m="http://schemas.openxmlformats.org/officeDocument/2006/math">
                    <m:d>
                      <m:dPr>
                        <m:begChr m:val="|"/>
                        <m:endChr m:val="⟩"/>
                        <m:ctrlPr>
                          <a:rPr lang="en-US" sz="2200" i="1">
                            <a:solidFill>
                              <a:schemeClr val="accent6">
                                <a:lumMod val="75000"/>
                              </a:schemeClr>
                            </a:solidFill>
                            <a:latin typeface="Cambria Math" panose="02040503050406030204" pitchFamily="18" charset="0"/>
                          </a:rPr>
                        </m:ctrlPr>
                      </m:dPr>
                      <m:e>
                        <m:r>
                          <a:rPr lang="en-US" sz="2200" b="0" i="1" smtClean="0">
                            <a:solidFill>
                              <a:schemeClr val="accent6">
                                <a:lumMod val="75000"/>
                              </a:schemeClr>
                            </a:solidFill>
                            <a:latin typeface="Cambria Math" panose="02040503050406030204" pitchFamily="18" charset="0"/>
                          </a:rPr>
                          <m:t>𝑆</m:t>
                        </m:r>
                      </m:e>
                    </m:d>
                  </m:oMath>
                </a14:m>
                <a:endParaRPr lang="en-US" sz="2200" dirty="0">
                  <a:solidFill>
                    <a:schemeClr val="accent6">
                      <a:lumMod val="75000"/>
                    </a:schemeClr>
                  </a:solidFill>
                </a:endParaRPr>
              </a:p>
            </p:txBody>
          </p:sp>
        </mc:Choice>
        <mc:Fallback xmlns="">
          <p:sp>
            <p:nvSpPr>
              <p:cNvPr id="51" name="Rectangle 50">
                <a:extLst>
                  <a:ext uri="{FF2B5EF4-FFF2-40B4-BE49-F238E27FC236}">
                    <a16:creationId xmlns:a16="http://schemas.microsoft.com/office/drawing/2014/main" id="{A361DF53-F6C8-1644-B8B3-8405FAF0A05F}"/>
                  </a:ext>
                </a:extLst>
              </p:cNvPr>
              <p:cNvSpPr>
                <a:spLocks noRot="1" noChangeAspect="1" noMove="1" noResize="1" noEditPoints="1" noAdjustHandles="1" noChangeArrowheads="1" noChangeShapeType="1" noTextEdit="1"/>
              </p:cNvSpPr>
              <p:nvPr/>
            </p:nvSpPr>
            <p:spPr>
              <a:xfrm>
                <a:off x="3774219" y="3682579"/>
                <a:ext cx="1572033" cy="430887"/>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20D9825B-18CE-374E-92E5-44E10F1959AF}"/>
                  </a:ext>
                </a:extLst>
              </p:cNvPr>
              <p:cNvSpPr/>
              <p:nvPr/>
            </p:nvSpPr>
            <p:spPr>
              <a:xfrm>
                <a:off x="1947673" y="3075485"/>
                <a:ext cx="589531" cy="430887"/>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sz="2200" i="1">
                          <a:latin typeface="Cambria Math" panose="02040503050406030204" pitchFamily="18" charset="0"/>
                          <a:ea typeface="Cambria Math" panose="02040503050406030204" pitchFamily="18" charset="0"/>
                        </a:rPr>
                        <m:t>𝜆</m:t>
                      </m:r>
                    </m:oMath>
                  </m:oMathPara>
                </a14:m>
                <a:endParaRPr lang="en-US" sz="2200" dirty="0"/>
              </a:p>
            </p:txBody>
          </p:sp>
        </mc:Choice>
        <mc:Fallback xmlns="">
          <p:sp>
            <p:nvSpPr>
              <p:cNvPr id="7" name="Rectangle 6">
                <a:extLst>
                  <a:ext uri="{FF2B5EF4-FFF2-40B4-BE49-F238E27FC236}">
                    <a16:creationId xmlns:a16="http://schemas.microsoft.com/office/drawing/2014/main" id="{20D9825B-18CE-374E-92E5-44E10F1959AF}"/>
                  </a:ext>
                </a:extLst>
              </p:cNvPr>
              <p:cNvSpPr>
                <a:spLocks noRot="1" noChangeAspect="1" noMove="1" noResize="1" noEditPoints="1" noAdjustHandles="1" noChangeArrowheads="1" noChangeShapeType="1" noTextEdit="1"/>
              </p:cNvSpPr>
              <p:nvPr/>
            </p:nvSpPr>
            <p:spPr>
              <a:xfrm>
                <a:off x="1947673" y="3075485"/>
                <a:ext cx="589531" cy="430887"/>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Rectangle 32">
                <a:extLst>
                  <a:ext uri="{FF2B5EF4-FFF2-40B4-BE49-F238E27FC236}">
                    <a16:creationId xmlns:a16="http://schemas.microsoft.com/office/drawing/2014/main" id="{944FCB4C-11AC-7D4F-AA38-444A573C8F69}"/>
                  </a:ext>
                </a:extLst>
              </p:cNvPr>
              <p:cNvSpPr/>
              <p:nvPr/>
            </p:nvSpPr>
            <p:spPr>
              <a:xfrm>
                <a:off x="3209848" y="3292966"/>
                <a:ext cx="445635" cy="43088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200" i="1">
                          <a:latin typeface="Cambria Math" panose="02040503050406030204" pitchFamily="18" charset="0"/>
                          <a:ea typeface="Cambria Math" panose="02040503050406030204" pitchFamily="18" charset="0"/>
                        </a:rPr>
                        <m:t>𝜑</m:t>
                      </m:r>
                    </m:oMath>
                  </m:oMathPara>
                </a14:m>
                <a:endParaRPr lang="en-US" sz="2200" dirty="0"/>
              </a:p>
            </p:txBody>
          </p:sp>
        </mc:Choice>
        <mc:Fallback xmlns="">
          <p:sp>
            <p:nvSpPr>
              <p:cNvPr id="33" name="Rectangle 32">
                <a:extLst>
                  <a:ext uri="{FF2B5EF4-FFF2-40B4-BE49-F238E27FC236}">
                    <a16:creationId xmlns:a16="http://schemas.microsoft.com/office/drawing/2014/main" id="{944FCB4C-11AC-7D4F-AA38-444A573C8F69}"/>
                  </a:ext>
                </a:extLst>
              </p:cNvPr>
              <p:cNvSpPr>
                <a:spLocks noRot="1" noChangeAspect="1" noMove="1" noResize="1" noEditPoints="1" noAdjustHandles="1" noChangeArrowheads="1" noChangeShapeType="1" noTextEdit="1"/>
              </p:cNvSpPr>
              <p:nvPr/>
            </p:nvSpPr>
            <p:spPr>
              <a:xfrm>
                <a:off x="3209848" y="3292966"/>
                <a:ext cx="445635" cy="430887"/>
              </a:xfrm>
              <a:prstGeom prst="rect">
                <a:avLst/>
              </a:prstGeom>
              <a:blipFill>
                <a:blip r:embed="rId13"/>
                <a:stretch>
                  <a:fillRect b="-857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Rectangle 34">
                <a:extLst>
                  <a:ext uri="{FF2B5EF4-FFF2-40B4-BE49-F238E27FC236}">
                    <a16:creationId xmlns:a16="http://schemas.microsoft.com/office/drawing/2014/main" id="{DF51FFA3-A7EC-A343-975C-E8253A041A1E}"/>
                  </a:ext>
                </a:extLst>
              </p:cNvPr>
              <p:cNvSpPr/>
              <p:nvPr/>
            </p:nvSpPr>
            <p:spPr>
              <a:xfrm>
                <a:off x="2556115" y="3483471"/>
                <a:ext cx="415755" cy="43088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200" i="1">
                          <a:latin typeface="Cambria Math" panose="02040503050406030204" pitchFamily="18" charset="0"/>
                          <a:ea typeface="Cambria Math" panose="02040503050406030204" pitchFamily="18" charset="0"/>
                        </a:rPr>
                        <m:t>𝜃</m:t>
                      </m:r>
                    </m:oMath>
                  </m:oMathPara>
                </a14:m>
                <a:endParaRPr lang="en-US" sz="2200" dirty="0"/>
              </a:p>
            </p:txBody>
          </p:sp>
        </mc:Choice>
        <mc:Fallback xmlns="">
          <p:sp>
            <p:nvSpPr>
              <p:cNvPr id="35" name="Rectangle 34">
                <a:extLst>
                  <a:ext uri="{FF2B5EF4-FFF2-40B4-BE49-F238E27FC236}">
                    <a16:creationId xmlns:a16="http://schemas.microsoft.com/office/drawing/2014/main" id="{DF51FFA3-A7EC-A343-975C-E8253A041A1E}"/>
                  </a:ext>
                </a:extLst>
              </p:cNvPr>
              <p:cNvSpPr>
                <a:spLocks noRot="1" noChangeAspect="1" noMove="1" noResize="1" noEditPoints="1" noAdjustHandles="1" noChangeArrowheads="1" noChangeShapeType="1" noTextEdit="1"/>
              </p:cNvSpPr>
              <p:nvPr/>
            </p:nvSpPr>
            <p:spPr>
              <a:xfrm>
                <a:off x="2556115" y="3483471"/>
                <a:ext cx="415755" cy="430887"/>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Rectangle 35">
                <a:extLst>
                  <a:ext uri="{FF2B5EF4-FFF2-40B4-BE49-F238E27FC236}">
                    <a16:creationId xmlns:a16="http://schemas.microsoft.com/office/drawing/2014/main" id="{A12C5DA4-CACB-CB4D-8901-71403D7F85C3}"/>
                  </a:ext>
                </a:extLst>
              </p:cNvPr>
              <p:cNvSpPr/>
              <p:nvPr/>
            </p:nvSpPr>
            <p:spPr>
              <a:xfrm>
                <a:off x="1253398" y="3765430"/>
                <a:ext cx="594009" cy="43088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200" i="1" smtClean="0">
                              <a:solidFill>
                                <a:schemeClr val="accent6">
                                  <a:lumMod val="75000"/>
                                </a:schemeClr>
                              </a:solidFill>
                              <a:latin typeface="Cambria Math" panose="02040503050406030204" pitchFamily="18" charset="0"/>
                            </a:rPr>
                          </m:ctrlPr>
                        </m:dPr>
                        <m:e>
                          <m:r>
                            <a:rPr lang="en-US" sz="2200" b="0" i="1" smtClean="0">
                              <a:solidFill>
                                <a:schemeClr val="accent6">
                                  <a:lumMod val="75000"/>
                                </a:schemeClr>
                              </a:solidFill>
                              <a:latin typeface="Cambria Math" panose="02040503050406030204" pitchFamily="18" charset="0"/>
                            </a:rPr>
                            <m:t>𝑆</m:t>
                          </m:r>
                        </m:e>
                      </m:d>
                    </m:oMath>
                  </m:oMathPara>
                </a14:m>
                <a:endParaRPr lang="en-US" sz="2200" dirty="0">
                  <a:solidFill>
                    <a:schemeClr val="accent6">
                      <a:lumMod val="75000"/>
                    </a:schemeClr>
                  </a:solidFill>
                </a:endParaRPr>
              </a:p>
            </p:txBody>
          </p:sp>
        </mc:Choice>
        <mc:Fallback xmlns="">
          <p:sp>
            <p:nvSpPr>
              <p:cNvPr id="36" name="Rectangle 35">
                <a:extLst>
                  <a:ext uri="{FF2B5EF4-FFF2-40B4-BE49-F238E27FC236}">
                    <a16:creationId xmlns:a16="http://schemas.microsoft.com/office/drawing/2014/main" id="{A12C5DA4-CACB-CB4D-8901-71403D7F85C3}"/>
                  </a:ext>
                </a:extLst>
              </p:cNvPr>
              <p:cNvSpPr>
                <a:spLocks noRot="1" noChangeAspect="1" noMove="1" noResize="1" noEditPoints="1" noAdjustHandles="1" noChangeArrowheads="1" noChangeShapeType="1" noTextEdit="1"/>
              </p:cNvSpPr>
              <p:nvPr/>
            </p:nvSpPr>
            <p:spPr>
              <a:xfrm>
                <a:off x="1253398" y="3765430"/>
                <a:ext cx="594009" cy="430887"/>
              </a:xfrm>
              <a:prstGeom prst="rect">
                <a:avLst/>
              </a:prstGeom>
              <a:blipFill>
                <a:blip r:embed="rId15"/>
                <a:stretch>
                  <a:fillRect/>
                </a:stretch>
              </a:blipFill>
            </p:spPr>
            <p:txBody>
              <a:bodyPr/>
              <a:lstStyle/>
              <a:p>
                <a:r>
                  <a:rPr lang="en-US">
                    <a:noFill/>
                  </a:rPr>
                  <a:t> </a:t>
                </a:r>
              </a:p>
            </p:txBody>
          </p:sp>
        </mc:Fallback>
      </mc:AlternateContent>
      <p:sp>
        <p:nvSpPr>
          <p:cNvPr id="46" name="Oval 45">
            <a:extLst>
              <a:ext uri="{FF2B5EF4-FFF2-40B4-BE49-F238E27FC236}">
                <a16:creationId xmlns:a16="http://schemas.microsoft.com/office/drawing/2014/main" id="{308C2238-8E59-B645-91E5-FD8E6B85B73F}"/>
              </a:ext>
            </a:extLst>
          </p:cNvPr>
          <p:cNvSpPr/>
          <p:nvPr/>
        </p:nvSpPr>
        <p:spPr>
          <a:xfrm rot="5400000">
            <a:off x="1854265" y="3924065"/>
            <a:ext cx="3341011" cy="1307291"/>
          </a:xfrm>
          <a:prstGeom prst="ellipse">
            <a:avLst/>
          </a:prstGeom>
          <a:noFill/>
          <a:ln w="6350">
            <a:solidFill>
              <a:schemeClr val="bg1">
                <a:lumMod val="75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00"/>
          </a:p>
        </p:txBody>
      </p:sp>
      <p:sp>
        <p:nvSpPr>
          <p:cNvPr id="52" name="Oval 51">
            <a:extLst>
              <a:ext uri="{FF2B5EF4-FFF2-40B4-BE49-F238E27FC236}">
                <a16:creationId xmlns:a16="http://schemas.microsoft.com/office/drawing/2014/main" id="{D9F7EC03-C6F8-8146-B4F8-C1339ED5CC9E}"/>
              </a:ext>
            </a:extLst>
          </p:cNvPr>
          <p:cNvSpPr/>
          <p:nvPr/>
        </p:nvSpPr>
        <p:spPr>
          <a:xfrm>
            <a:off x="752799" y="3068577"/>
            <a:ext cx="3425618" cy="761893"/>
          </a:xfrm>
          <a:prstGeom prst="ellipse">
            <a:avLst/>
          </a:prstGeom>
          <a:noFill/>
          <a:ln w="6350">
            <a:solidFill>
              <a:schemeClr val="bg1">
                <a:lumMod val="75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00"/>
          </a:p>
        </p:txBody>
      </p:sp>
      <p:sp>
        <p:nvSpPr>
          <p:cNvPr id="54" name="Arc 53">
            <a:extLst>
              <a:ext uri="{FF2B5EF4-FFF2-40B4-BE49-F238E27FC236}">
                <a16:creationId xmlns:a16="http://schemas.microsoft.com/office/drawing/2014/main" id="{3EBFF7EB-713B-C14E-94AC-94A609EF9BC6}"/>
              </a:ext>
            </a:extLst>
          </p:cNvPr>
          <p:cNvSpPr/>
          <p:nvPr/>
        </p:nvSpPr>
        <p:spPr>
          <a:xfrm rot="5400000" flipV="1">
            <a:off x="1781336" y="3990166"/>
            <a:ext cx="3420454" cy="1254532"/>
          </a:xfrm>
          <a:prstGeom prst="arc">
            <a:avLst>
              <a:gd name="adj1" fmla="val 12138653"/>
              <a:gd name="adj2" fmla="val 12900579"/>
            </a:avLst>
          </a:prstGeom>
          <a:noFill/>
          <a:ln w="12700">
            <a:solidFill>
              <a:srgbClr val="FF0000"/>
            </a:solidFill>
            <a:prstDash val="solid"/>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200"/>
          </a:p>
        </p:txBody>
      </p:sp>
      <p:sp>
        <p:nvSpPr>
          <p:cNvPr id="56" name="Arc 55">
            <a:extLst>
              <a:ext uri="{FF2B5EF4-FFF2-40B4-BE49-F238E27FC236}">
                <a16:creationId xmlns:a16="http://schemas.microsoft.com/office/drawing/2014/main" id="{009D60D4-1EEB-384A-BE13-EF0895D10F69}"/>
              </a:ext>
            </a:extLst>
          </p:cNvPr>
          <p:cNvSpPr/>
          <p:nvPr/>
        </p:nvSpPr>
        <p:spPr>
          <a:xfrm flipV="1">
            <a:off x="722184" y="3079851"/>
            <a:ext cx="3425618" cy="749158"/>
          </a:xfrm>
          <a:prstGeom prst="arc">
            <a:avLst>
              <a:gd name="adj1" fmla="val 19555356"/>
              <a:gd name="adj2" fmla="val 21272160"/>
            </a:avLst>
          </a:prstGeom>
          <a:noFill/>
          <a:ln w="12700">
            <a:solidFill>
              <a:srgbClr val="FF0000"/>
            </a:solidFill>
            <a:prstDash val="solid"/>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200"/>
          </a:p>
        </p:txBody>
      </p:sp>
      <p:sp>
        <p:nvSpPr>
          <p:cNvPr id="25" name="Down Arrow 24">
            <a:extLst>
              <a:ext uri="{FF2B5EF4-FFF2-40B4-BE49-F238E27FC236}">
                <a16:creationId xmlns:a16="http://schemas.microsoft.com/office/drawing/2014/main" id="{05A219C9-EB2F-9442-8F8D-10AFE38C7003}"/>
              </a:ext>
            </a:extLst>
          </p:cNvPr>
          <p:cNvSpPr/>
          <p:nvPr/>
        </p:nvSpPr>
        <p:spPr>
          <a:xfrm>
            <a:off x="8062698" y="2206716"/>
            <a:ext cx="579307" cy="659201"/>
          </a:xfrm>
          <a:prstGeom prst="downArrow">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Down Arrow 56">
            <a:extLst>
              <a:ext uri="{FF2B5EF4-FFF2-40B4-BE49-F238E27FC236}">
                <a16:creationId xmlns:a16="http://schemas.microsoft.com/office/drawing/2014/main" id="{ABB797D4-E758-DC49-8788-7973CB2DF1E4}"/>
              </a:ext>
            </a:extLst>
          </p:cNvPr>
          <p:cNvSpPr/>
          <p:nvPr/>
        </p:nvSpPr>
        <p:spPr>
          <a:xfrm>
            <a:off x="8062697" y="3666878"/>
            <a:ext cx="579307" cy="659201"/>
          </a:xfrm>
          <a:prstGeom prst="downArrow">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601132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39EF45-D20A-C54B-9E7B-223F102F5FFB}"/>
              </a:ext>
            </a:extLst>
          </p:cNvPr>
          <p:cNvSpPr>
            <a:spLocks noGrp="1"/>
          </p:cNvSpPr>
          <p:nvPr>
            <p:ph type="title"/>
          </p:nvPr>
        </p:nvSpPr>
        <p:spPr>
          <a:xfrm>
            <a:off x="0" y="0"/>
            <a:ext cx="12192000" cy="928688"/>
          </a:xfrm>
        </p:spPr>
        <p:txBody>
          <a:bodyPr/>
          <a:lstStyle/>
          <a:p>
            <a:r>
              <a:rPr lang="en-ZA" dirty="0"/>
              <a:t>Universal Single-Qubit Gate</a:t>
            </a:r>
            <a:endParaRPr lang="en-US" dirty="0"/>
          </a:p>
        </p:txBody>
      </p:sp>
      <p:sp>
        <p:nvSpPr>
          <p:cNvPr id="3" name="Slide Number Placeholder 2">
            <a:extLst>
              <a:ext uri="{FF2B5EF4-FFF2-40B4-BE49-F238E27FC236}">
                <a16:creationId xmlns:a16="http://schemas.microsoft.com/office/drawing/2014/main" id="{1DFCF789-A597-7E48-870E-125D0C3A063D}"/>
              </a:ext>
            </a:extLst>
          </p:cNvPr>
          <p:cNvSpPr>
            <a:spLocks noGrp="1"/>
          </p:cNvSpPr>
          <p:nvPr>
            <p:ph type="sldNum" sz="quarter" idx="12"/>
          </p:nvPr>
        </p:nvSpPr>
        <p:spPr/>
        <p:txBody>
          <a:bodyPr/>
          <a:lstStyle/>
          <a:p>
            <a:fld id="{591A223C-FA10-BC46-A853-03BA373D023C}" type="slidenum">
              <a:rPr lang="en-US" smtClean="0"/>
              <a:t>28</a:t>
            </a:fld>
            <a:endParaRPr lang="en-US"/>
          </a:p>
        </p:txBody>
      </p:sp>
      <p:cxnSp>
        <p:nvCxnSpPr>
          <p:cNvPr id="4" name="Straight Connector 3">
            <a:extLst>
              <a:ext uri="{FF2B5EF4-FFF2-40B4-BE49-F238E27FC236}">
                <a16:creationId xmlns:a16="http://schemas.microsoft.com/office/drawing/2014/main" id="{35913924-2483-E343-99F2-9D1061599CCB}"/>
              </a:ext>
            </a:extLst>
          </p:cNvPr>
          <p:cNvCxnSpPr>
            <a:cxnSpLocks/>
          </p:cNvCxnSpPr>
          <p:nvPr/>
        </p:nvCxnSpPr>
        <p:spPr>
          <a:xfrm>
            <a:off x="539095" y="1797705"/>
            <a:ext cx="1108786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F3A29A8C-3092-FC46-94D9-2F44D4900D10}"/>
              </a:ext>
            </a:extLst>
          </p:cNvPr>
          <p:cNvCxnSpPr>
            <a:cxnSpLocks/>
          </p:cNvCxnSpPr>
          <p:nvPr/>
        </p:nvCxnSpPr>
        <p:spPr>
          <a:xfrm>
            <a:off x="539095" y="3396811"/>
            <a:ext cx="11087866" cy="0"/>
          </a:xfrm>
          <a:prstGeom prst="line">
            <a:avLst/>
          </a:prstGeom>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01F86251-6DE2-3448-A31F-B8BAA869C571}"/>
              </a:ext>
            </a:extLst>
          </p:cNvPr>
          <p:cNvSpPr/>
          <p:nvPr/>
        </p:nvSpPr>
        <p:spPr>
          <a:xfrm>
            <a:off x="539095" y="1133585"/>
            <a:ext cx="11087866" cy="399038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FED5BE20-B107-654F-AFDD-CBCF310933AA}"/>
              </a:ext>
            </a:extLst>
          </p:cNvPr>
          <p:cNvSpPr txBox="1"/>
          <p:nvPr/>
        </p:nvSpPr>
        <p:spPr>
          <a:xfrm>
            <a:off x="539095" y="3948009"/>
            <a:ext cx="1585947" cy="461665"/>
          </a:xfrm>
          <a:prstGeom prst="rect">
            <a:avLst/>
          </a:prstGeom>
          <a:noFill/>
        </p:spPr>
        <p:txBody>
          <a:bodyPr wrap="none" rtlCol="0">
            <a:spAutoFit/>
          </a:bodyPr>
          <a:lstStyle/>
          <a:p>
            <a:r>
              <a:rPr lang="en-US" sz="2400" dirty="0">
                <a:latin typeface="+mj-lt"/>
              </a:rPr>
              <a:t>description</a:t>
            </a:r>
          </a:p>
        </p:txBody>
      </p:sp>
      <p:cxnSp>
        <p:nvCxnSpPr>
          <p:cNvPr id="16" name="Straight Connector 15">
            <a:extLst>
              <a:ext uri="{FF2B5EF4-FFF2-40B4-BE49-F238E27FC236}">
                <a16:creationId xmlns:a16="http://schemas.microsoft.com/office/drawing/2014/main" id="{1A76F891-5AB6-8649-AA11-DCC61231E1A8}"/>
              </a:ext>
            </a:extLst>
          </p:cNvPr>
          <p:cNvCxnSpPr>
            <a:cxnSpLocks/>
          </p:cNvCxnSpPr>
          <p:nvPr/>
        </p:nvCxnSpPr>
        <p:spPr>
          <a:xfrm>
            <a:off x="2149168" y="1133585"/>
            <a:ext cx="0" cy="3990388"/>
          </a:xfrm>
          <a:prstGeom prst="line">
            <a:avLst/>
          </a:prstGeom>
        </p:spPr>
        <p:style>
          <a:lnRef idx="1">
            <a:schemeClr val="accent1"/>
          </a:lnRef>
          <a:fillRef idx="0">
            <a:schemeClr val="accent1"/>
          </a:fillRef>
          <a:effectRef idx="0">
            <a:schemeClr val="accent1"/>
          </a:effectRef>
          <a:fontRef idx="minor">
            <a:schemeClr val="tx1"/>
          </a:fontRef>
        </p:style>
      </p:cxnSp>
      <p:sp>
        <p:nvSpPr>
          <p:cNvPr id="35" name="Rectangle 34">
            <a:extLst>
              <a:ext uri="{FF2B5EF4-FFF2-40B4-BE49-F238E27FC236}">
                <a16:creationId xmlns:a16="http://schemas.microsoft.com/office/drawing/2014/main" id="{8E1157F6-F85D-484C-8FE4-D2BE513870B0}"/>
              </a:ext>
            </a:extLst>
          </p:cNvPr>
          <p:cNvSpPr/>
          <p:nvPr/>
        </p:nvSpPr>
        <p:spPr>
          <a:xfrm>
            <a:off x="834548" y="2105796"/>
            <a:ext cx="900000" cy="900000"/>
          </a:xfrm>
          <a:prstGeom prst="rect">
            <a:avLst/>
          </a:prstGeom>
          <a:solidFill>
            <a:srgbClr val="9B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bg1"/>
                </a:solidFill>
                <a:latin typeface="Times" pitchFamily="2" charset="0"/>
              </a:rPr>
              <a:t>U</a:t>
            </a:r>
          </a:p>
        </p:txBody>
      </p:sp>
      <mc:AlternateContent xmlns:mc="http://schemas.openxmlformats.org/markup-compatibility/2006" xmlns:a14="http://schemas.microsoft.com/office/drawing/2010/main">
        <mc:Choice Requires="a14">
          <p:sp>
            <p:nvSpPr>
              <p:cNvPr id="36" name="Rectangle 35">
                <a:extLst>
                  <a:ext uri="{FF2B5EF4-FFF2-40B4-BE49-F238E27FC236}">
                    <a16:creationId xmlns:a16="http://schemas.microsoft.com/office/drawing/2014/main" id="{32F9BF4A-151C-EE4B-A813-55B617FB609E}"/>
                  </a:ext>
                </a:extLst>
              </p:cNvPr>
              <p:cNvSpPr/>
              <p:nvPr/>
            </p:nvSpPr>
            <p:spPr>
              <a:xfrm>
                <a:off x="3263496" y="1872555"/>
                <a:ext cx="4027000" cy="141436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200" b="0" i="1" smtClean="0">
                          <a:latin typeface="Cambria Math" panose="02040503050406030204" pitchFamily="18" charset="0"/>
                        </a:rPr>
                        <m:t>𝑈</m:t>
                      </m:r>
                      <m:r>
                        <a:rPr lang="sr-Latn-RS" sz="2200" i="1">
                          <a:latin typeface="Cambria Math" panose="02040503050406030204" pitchFamily="18" charset="0"/>
                        </a:rPr>
                        <m:t>=</m:t>
                      </m:r>
                      <m:d>
                        <m:dPr>
                          <m:ctrlPr>
                            <a:rPr lang="en-ZA" sz="2200" i="1">
                              <a:latin typeface="Cambria Math" panose="02040503050406030204" pitchFamily="18" charset="0"/>
                            </a:rPr>
                          </m:ctrlPr>
                        </m:dPr>
                        <m:e>
                          <m:m>
                            <m:mPr>
                              <m:mcs>
                                <m:mc>
                                  <m:mcPr>
                                    <m:count m:val="2"/>
                                    <m:mcJc m:val="center"/>
                                  </m:mcPr>
                                </m:mc>
                              </m:mcs>
                              <m:ctrlPr>
                                <a:rPr lang="en-ZA" sz="2200" i="1">
                                  <a:latin typeface="Cambria Math" panose="02040503050406030204" pitchFamily="18" charset="0"/>
                                </a:rPr>
                              </m:ctrlPr>
                            </m:mPr>
                            <m:mr>
                              <m:e>
                                <m:func>
                                  <m:funcPr>
                                    <m:ctrlPr>
                                      <a:rPr lang="en-ZA" sz="2200" i="1">
                                        <a:latin typeface="Cambria Math" panose="02040503050406030204" pitchFamily="18" charset="0"/>
                                      </a:rPr>
                                    </m:ctrlPr>
                                  </m:funcPr>
                                  <m:fName>
                                    <m:r>
                                      <a:rPr lang="sr-Latn-RS" sz="2200" i="1">
                                        <a:latin typeface="Cambria Math" panose="02040503050406030204" pitchFamily="18" charset="0"/>
                                      </a:rPr>
                                      <m:t>𝑐𝑜𝑠</m:t>
                                    </m:r>
                                  </m:fName>
                                  <m:e>
                                    <m:f>
                                      <m:fPr>
                                        <m:ctrlPr>
                                          <a:rPr lang="en-ZA" sz="2200" i="1">
                                            <a:latin typeface="Cambria Math" panose="02040503050406030204" pitchFamily="18" charset="0"/>
                                          </a:rPr>
                                        </m:ctrlPr>
                                      </m:fPr>
                                      <m:num>
                                        <m:r>
                                          <a:rPr lang="sr-Latn-RS" sz="2200" i="1">
                                            <a:latin typeface="Cambria Math" panose="02040503050406030204" pitchFamily="18" charset="0"/>
                                          </a:rPr>
                                          <m:t>𝜃</m:t>
                                        </m:r>
                                      </m:num>
                                      <m:den>
                                        <m:r>
                                          <a:rPr lang="sr-Latn-RS" sz="2200" i="1">
                                            <a:latin typeface="Cambria Math" panose="02040503050406030204" pitchFamily="18" charset="0"/>
                                          </a:rPr>
                                          <m:t>2</m:t>
                                        </m:r>
                                      </m:den>
                                    </m:f>
                                  </m:e>
                                </m:func>
                              </m:e>
                              <m:e>
                                <m:sSup>
                                  <m:sSupPr>
                                    <m:ctrlPr>
                                      <a:rPr lang="en-ZA" sz="2200" i="1">
                                        <a:latin typeface="Cambria Math" panose="02040503050406030204" pitchFamily="18" charset="0"/>
                                      </a:rPr>
                                    </m:ctrlPr>
                                  </m:sSupPr>
                                  <m:e>
                                    <m:r>
                                      <a:rPr lang="sr-Latn-RS" sz="2200" i="1">
                                        <a:latin typeface="Cambria Math" panose="02040503050406030204" pitchFamily="18" charset="0"/>
                                      </a:rPr>
                                      <m:t>−</m:t>
                                    </m:r>
                                    <m:r>
                                      <a:rPr lang="sr-Latn-RS" sz="2200" i="1">
                                        <a:latin typeface="Cambria Math" panose="02040503050406030204" pitchFamily="18" charset="0"/>
                                      </a:rPr>
                                      <m:t>𝑒</m:t>
                                    </m:r>
                                  </m:e>
                                  <m:sup>
                                    <m:r>
                                      <a:rPr lang="sr-Latn-RS" sz="2200" i="1">
                                        <a:latin typeface="Cambria Math" panose="02040503050406030204" pitchFamily="18" charset="0"/>
                                      </a:rPr>
                                      <m:t>𝑖</m:t>
                                    </m:r>
                                    <m:r>
                                      <a:rPr lang="sr-Latn-RS" sz="2200" i="1">
                                        <a:latin typeface="Cambria Math" panose="02040503050406030204" pitchFamily="18" charset="0"/>
                                      </a:rPr>
                                      <m:t>𝜆</m:t>
                                    </m:r>
                                  </m:sup>
                                </m:sSup>
                                <m:func>
                                  <m:funcPr>
                                    <m:ctrlPr>
                                      <a:rPr lang="en-ZA" sz="2200" i="1">
                                        <a:latin typeface="Cambria Math" panose="02040503050406030204" pitchFamily="18" charset="0"/>
                                      </a:rPr>
                                    </m:ctrlPr>
                                  </m:funcPr>
                                  <m:fName>
                                    <m:r>
                                      <a:rPr lang="sr-Latn-RS" sz="2200" i="1">
                                        <a:latin typeface="Cambria Math" panose="02040503050406030204" pitchFamily="18" charset="0"/>
                                      </a:rPr>
                                      <m:t>𝑠𝑖𝑛</m:t>
                                    </m:r>
                                  </m:fName>
                                  <m:e>
                                    <m:f>
                                      <m:fPr>
                                        <m:ctrlPr>
                                          <a:rPr lang="en-ZA" sz="2200" i="1">
                                            <a:latin typeface="Cambria Math" panose="02040503050406030204" pitchFamily="18" charset="0"/>
                                          </a:rPr>
                                        </m:ctrlPr>
                                      </m:fPr>
                                      <m:num>
                                        <m:r>
                                          <a:rPr lang="sr-Latn-RS" sz="2200" i="1">
                                            <a:latin typeface="Cambria Math" panose="02040503050406030204" pitchFamily="18" charset="0"/>
                                          </a:rPr>
                                          <m:t>𝜃</m:t>
                                        </m:r>
                                      </m:num>
                                      <m:den>
                                        <m:r>
                                          <a:rPr lang="sr-Latn-RS" sz="2200" i="1">
                                            <a:latin typeface="Cambria Math" panose="02040503050406030204" pitchFamily="18" charset="0"/>
                                          </a:rPr>
                                          <m:t>2</m:t>
                                        </m:r>
                                      </m:den>
                                    </m:f>
                                  </m:e>
                                </m:func>
                              </m:e>
                            </m:mr>
                            <m:mr>
                              <m:e>
                                <m:sSup>
                                  <m:sSupPr>
                                    <m:ctrlPr>
                                      <a:rPr lang="en-ZA" sz="2200" i="1">
                                        <a:latin typeface="Cambria Math" panose="02040503050406030204" pitchFamily="18" charset="0"/>
                                      </a:rPr>
                                    </m:ctrlPr>
                                  </m:sSupPr>
                                  <m:e>
                                    <m:r>
                                      <a:rPr lang="sr-Latn-RS" sz="2200" i="1">
                                        <a:latin typeface="Cambria Math" panose="02040503050406030204" pitchFamily="18" charset="0"/>
                                      </a:rPr>
                                      <m:t>𝑒</m:t>
                                    </m:r>
                                  </m:e>
                                  <m:sup>
                                    <m:r>
                                      <a:rPr lang="sr-Latn-RS" sz="2200" i="1">
                                        <a:latin typeface="Cambria Math" panose="02040503050406030204" pitchFamily="18" charset="0"/>
                                      </a:rPr>
                                      <m:t>𝑖</m:t>
                                    </m:r>
                                    <m:r>
                                      <a:rPr lang="sr-Latn-RS" sz="2200" i="1">
                                        <a:latin typeface="Cambria Math" panose="02040503050406030204" pitchFamily="18" charset="0"/>
                                      </a:rPr>
                                      <m:t>𝜑</m:t>
                                    </m:r>
                                  </m:sup>
                                </m:sSup>
                                <m:func>
                                  <m:funcPr>
                                    <m:ctrlPr>
                                      <a:rPr lang="en-ZA" sz="2200" i="1">
                                        <a:latin typeface="Cambria Math" panose="02040503050406030204" pitchFamily="18" charset="0"/>
                                      </a:rPr>
                                    </m:ctrlPr>
                                  </m:funcPr>
                                  <m:fName>
                                    <m:r>
                                      <a:rPr lang="sr-Latn-RS" sz="2200" i="1">
                                        <a:latin typeface="Cambria Math" panose="02040503050406030204" pitchFamily="18" charset="0"/>
                                      </a:rPr>
                                      <m:t>𝑠𝑖𝑛</m:t>
                                    </m:r>
                                  </m:fName>
                                  <m:e>
                                    <m:f>
                                      <m:fPr>
                                        <m:ctrlPr>
                                          <a:rPr lang="en-ZA" sz="2200" i="1">
                                            <a:latin typeface="Cambria Math" panose="02040503050406030204" pitchFamily="18" charset="0"/>
                                          </a:rPr>
                                        </m:ctrlPr>
                                      </m:fPr>
                                      <m:num>
                                        <m:r>
                                          <a:rPr lang="sr-Latn-RS" sz="2200" i="1">
                                            <a:latin typeface="Cambria Math" panose="02040503050406030204" pitchFamily="18" charset="0"/>
                                          </a:rPr>
                                          <m:t>𝜃</m:t>
                                        </m:r>
                                      </m:num>
                                      <m:den>
                                        <m:r>
                                          <a:rPr lang="sr-Latn-RS" sz="2200" i="1">
                                            <a:latin typeface="Cambria Math" panose="02040503050406030204" pitchFamily="18" charset="0"/>
                                          </a:rPr>
                                          <m:t>2</m:t>
                                        </m:r>
                                      </m:den>
                                    </m:f>
                                  </m:e>
                                </m:func>
                              </m:e>
                              <m:e>
                                <m:sSup>
                                  <m:sSupPr>
                                    <m:ctrlPr>
                                      <a:rPr lang="en-ZA" sz="2200" i="1">
                                        <a:latin typeface="Cambria Math" panose="02040503050406030204" pitchFamily="18" charset="0"/>
                                      </a:rPr>
                                    </m:ctrlPr>
                                  </m:sSupPr>
                                  <m:e>
                                    <m:r>
                                      <a:rPr lang="sr-Latn-RS" sz="2200" i="1">
                                        <a:latin typeface="Cambria Math" panose="02040503050406030204" pitchFamily="18" charset="0"/>
                                      </a:rPr>
                                      <m:t>𝑒</m:t>
                                    </m:r>
                                  </m:e>
                                  <m:sup>
                                    <m:r>
                                      <a:rPr lang="sr-Latn-RS" sz="2200" i="1">
                                        <a:latin typeface="Cambria Math" panose="02040503050406030204" pitchFamily="18" charset="0"/>
                                      </a:rPr>
                                      <m:t>𝑖</m:t>
                                    </m:r>
                                    <m:r>
                                      <a:rPr lang="sr-Latn-RS" sz="2200" i="1">
                                        <a:latin typeface="Cambria Math" panose="02040503050406030204" pitchFamily="18" charset="0"/>
                                      </a:rPr>
                                      <m:t>(</m:t>
                                    </m:r>
                                    <m:r>
                                      <a:rPr lang="sr-Latn-RS" sz="2200" i="1">
                                        <a:latin typeface="Cambria Math" panose="02040503050406030204" pitchFamily="18" charset="0"/>
                                      </a:rPr>
                                      <m:t>𝜆</m:t>
                                    </m:r>
                                    <m:r>
                                      <a:rPr lang="sr-Latn-RS" sz="2200" i="1">
                                        <a:latin typeface="Cambria Math" panose="02040503050406030204" pitchFamily="18" charset="0"/>
                                      </a:rPr>
                                      <m:t>+</m:t>
                                    </m:r>
                                    <m:r>
                                      <a:rPr lang="sr-Latn-RS" sz="2200" i="1">
                                        <a:latin typeface="Cambria Math" panose="02040503050406030204" pitchFamily="18" charset="0"/>
                                      </a:rPr>
                                      <m:t>𝜑</m:t>
                                    </m:r>
                                    <m:r>
                                      <a:rPr lang="sr-Latn-RS" sz="2200" i="1">
                                        <a:latin typeface="Cambria Math" panose="02040503050406030204" pitchFamily="18" charset="0"/>
                                      </a:rPr>
                                      <m:t>)</m:t>
                                    </m:r>
                                  </m:sup>
                                </m:sSup>
                                <m:func>
                                  <m:funcPr>
                                    <m:ctrlPr>
                                      <a:rPr lang="en-ZA" sz="2200" i="1">
                                        <a:latin typeface="Cambria Math" panose="02040503050406030204" pitchFamily="18" charset="0"/>
                                      </a:rPr>
                                    </m:ctrlPr>
                                  </m:funcPr>
                                  <m:fName>
                                    <m:r>
                                      <a:rPr lang="sr-Latn-RS" sz="2200" i="1">
                                        <a:latin typeface="Cambria Math" panose="02040503050406030204" pitchFamily="18" charset="0"/>
                                      </a:rPr>
                                      <m:t>𝑐𝑜𝑠</m:t>
                                    </m:r>
                                  </m:fName>
                                  <m:e>
                                    <m:f>
                                      <m:fPr>
                                        <m:ctrlPr>
                                          <a:rPr lang="en-ZA" sz="2200" i="1">
                                            <a:latin typeface="Cambria Math" panose="02040503050406030204" pitchFamily="18" charset="0"/>
                                          </a:rPr>
                                        </m:ctrlPr>
                                      </m:fPr>
                                      <m:num>
                                        <m:r>
                                          <a:rPr lang="sr-Latn-RS" sz="2200" i="1">
                                            <a:latin typeface="Cambria Math" panose="02040503050406030204" pitchFamily="18" charset="0"/>
                                          </a:rPr>
                                          <m:t>𝜃</m:t>
                                        </m:r>
                                      </m:num>
                                      <m:den>
                                        <m:r>
                                          <a:rPr lang="sr-Latn-RS" sz="2200" i="1">
                                            <a:latin typeface="Cambria Math" panose="02040503050406030204" pitchFamily="18" charset="0"/>
                                          </a:rPr>
                                          <m:t>2</m:t>
                                        </m:r>
                                      </m:den>
                                    </m:f>
                                  </m:e>
                                </m:func>
                              </m:e>
                            </m:mr>
                          </m:m>
                        </m:e>
                      </m:d>
                    </m:oMath>
                  </m:oMathPara>
                </a14:m>
                <a:endParaRPr lang="en-US" sz="2200" dirty="0"/>
              </a:p>
            </p:txBody>
          </p:sp>
        </mc:Choice>
        <mc:Fallback xmlns="">
          <p:sp>
            <p:nvSpPr>
              <p:cNvPr id="36" name="Rectangle 35">
                <a:extLst>
                  <a:ext uri="{FF2B5EF4-FFF2-40B4-BE49-F238E27FC236}">
                    <a16:creationId xmlns:a16="http://schemas.microsoft.com/office/drawing/2014/main" id="{32F9BF4A-151C-EE4B-A813-55B617FB609E}"/>
                  </a:ext>
                </a:extLst>
              </p:cNvPr>
              <p:cNvSpPr>
                <a:spLocks noRot="1" noChangeAspect="1" noMove="1" noResize="1" noEditPoints="1" noAdjustHandles="1" noChangeArrowheads="1" noChangeShapeType="1" noTextEdit="1"/>
              </p:cNvSpPr>
              <p:nvPr/>
            </p:nvSpPr>
            <p:spPr>
              <a:xfrm>
                <a:off x="3263496" y="1872555"/>
                <a:ext cx="4027000" cy="1414362"/>
              </a:xfrm>
              <a:prstGeom prst="rect">
                <a:avLst/>
              </a:prstGeom>
              <a:blipFill>
                <a:blip r:embed="rId3"/>
                <a:stretch>
                  <a:fillRect b="-177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A41F298D-2142-3447-964A-88FBF8974F35}"/>
                  </a:ext>
                </a:extLst>
              </p:cNvPr>
              <p:cNvSpPr txBox="1"/>
              <p:nvPr/>
            </p:nvSpPr>
            <p:spPr>
              <a:xfrm>
                <a:off x="2386739" y="3554313"/>
                <a:ext cx="9240222" cy="1938992"/>
              </a:xfrm>
              <a:prstGeom prst="rect">
                <a:avLst/>
              </a:prstGeom>
              <a:noFill/>
            </p:spPr>
            <p:txBody>
              <a:bodyPr wrap="square" rtlCol="0">
                <a:spAutoFit/>
              </a:bodyPr>
              <a:lstStyle/>
              <a:p>
                <a:r>
                  <a:rPr lang="en-ZA" sz="2400" dirty="0">
                    <a:latin typeface="+mj-lt"/>
                  </a:rPr>
                  <a:t>The gate parameters are three rotation angles:</a:t>
                </a:r>
                <a:r>
                  <a:rPr lang="sr-Latn-RS" sz="2400" dirty="0">
                    <a:latin typeface="+mj-lt"/>
                  </a:rPr>
                  <a:t> </a:t>
                </a:r>
              </a:p>
              <a:p>
                <a:r>
                  <a:rPr lang="sr-Latn-RS" sz="2400" dirty="0"/>
                  <a:t>	 </a:t>
                </a:r>
                <a14:m>
                  <m:oMath xmlns:m="http://schemas.openxmlformats.org/officeDocument/2006/math">
                    <m:r>
                      <a:rPr lang="sr-Latn-RS" sz="2400" i="1">
                        <a:latin typeface="Cambria Math" panose="02040503050406030204" pitchFamily="18" charset="0"/>
                      </a:rPr>
                      <m:t>𝜆</m:t>
                    </m:r>
                  </m:oMath>
                </a14:m>
                <a:r>
                  <a:rPr lang="sr-Latn-RS" sz="2400" dirty="0"/>
                  <a:t>: </a:t>
                </a:r>
                <a:r>
                  <a:rPr lang="en-ZA" sz="2400" dirty="0"/>
                  <a:t>rotation about the</a:t>
                </a:r>
                <a:r>
                  <a:rPr lang="sr-Latn-RS" sz="2400" dirty="0"/>
                  <a:t> </a:t>
                </a:r>
                <a14:m>
                  <m:oMath xmlns:m="http://schemas.openxmlformats.org/officeDocument/2006/math">
                    <m:r>
                      <a:rPr lang="sr-Latn-RS" sz="2400" i="1">
                        <a:latin typeface="Cambria Math" panose="02040503050406030204" pitchFamily="18" charset="0"/>
                      </a:rPr>
                      <m:t>𝑧</m:t>
                    </m:r>
                  </m:oMath>
                </a14:m>
                <a:r>
                  <a:rPr lang="sr-Latn-RS" sz="2400" dirty="0"/>
                  <a:t>-axis</a:t>
                </a:r>
                <a:r>
                  <a:rPr lang="en-ZA" sz="2400" dirty="0"/>
                  <a:t> </a:t>
                </a:r>
                <a:endParaRPr lang="sr-Latn-RS" sz="2400" dirty="0"/>
              </a:p>
              <a:p>
                <a:r>
                  <a:rPr lang="sr-Latn-RS" sz="2400" dirty="0"/>
                  <a:t>	</a:t>
                </a:r>
                <a14:m>
                  <m:oMath xmlns:m="http://schemas.openxmlformats.org/officeDocument/2006/math">
                    <m:r>
                      <a:rPr lang="sr-Latn-RS" sz="2400" i="1">
                        <a:latin typeface="Cambria Math" panose="02040503050406030204" pitchFamily="18" charset="0"/>
                      </a:rPr>
                      <m:t>𝜑</m:t>
                    </m:r>
                  </m:oMath>
                </a14:m>
                <a:r>
                  <a:rPr lang="sr-Latn-RS" sz="2400" dirty="0">
                    <a:latin typeface="+mj-lt"/>
                  </a:rPr>
                  <a:t>: </a:t>
                </a:r>
                <a:r>
                  <a:rPr lang="en-ZA" sz="2400" dirty="0">
                    <a:latin typeface="+mj-lt"/>
                  </a:rPr>
                  <a:t>rotation about the </a:t>
                </a:r>
                <a14:m>
                  <m:oMath xmlns:m="http://schemas.openxmlformats.org/officeDocument/2006/math">
                    <m:r>
                      <a:rPr lang="sr-Latn-RS" sz="2400" i="1">
                        <a:latin typeface="Cambria Math" panose="02040503050406030204" pitchFamily="18" charset="0"/>
                      </a:rPr>
                      <m:t>𝑧</m:t>
                    </m:r>
                  </m:oMath>
                </a14:m>
                <a:r>
                  <a:rPr lang="sr-Latn-RS" sz="2400" dirty="0">
                    <a:latin typeface="+mj-lt"/>
                  </a:rPr>
                  <a:t>-</a:t>
                </a:r>
                <a:r>
                  <a:rPr lang="sr-Latn-RS" sz="2400" dirty="0" err="1">
                    <a:latin typeface="+mj-lt"/>
                  </a:rPr>
                  <a:t>axis</a:t>
                </a:r>
                <a:r>
                  <a:rPr lang="sr-Latn-RS" sz="2400" dirty="0">
                    <a:latin typeface="+mj-lt"/>
                  </a:rPr>
                  <a:t> </a:t>
                </a:r>
                <a:endParaRPr lang="en-US" sz="2400" i="1" dirty="0">
                  <a:latin typeface="+mj-lt"/>
                </a:endParaRPr>
              </a:p>
              <a:p>
                <a:r>
                  <a:rPr lang="sr-Latn-RS" sz="2400" dirty="0"/>
                  <a:t>	</a:t>
                </a:r>
                <a14:m>
                  <m:oMath xmlns:m="http://schemas.openxmlformats.org/officeDocument/2006/math">
                    <m:r>
                      <a:rPr lang="sr-Latn-RS" sz="2400" i="1">
                        <a:latin typeface="Cambria Math" panose="02040503050406030204" pitchFamily="18" charset="0"/>
                      </a:rPr>
                      <m:t> </m:t>
                    </m:r>
                    <m:r>
                      <a:rPr lang="sr-Latn-RS" sz="2400" i="1">
                        <a:latin typeface="Cambria Math" panose="02040503050406030204" pitchFamily="18" charset="0"/>
                      </a:rPr>
                      <m:t>𝜃</m:t>
                    </m:r>
                  </m:oMath>
                </a14:m>
                <a:r>
                  <a:rPr lang="sr-Latn-RS" sz="2400" dirty="0">
                    <a:latin typeface="+mj-lt"/>
                  </a:rPr>
                  <a:t>: </a:t>
                </a:r>
                <a:r>
                  <a:rPr lang="en-ZA" sz="2400" dirty="0">
                    <a:latin typeface="+mj-lt"/>
                  </a:rPr>
                  <a:t>rotation about the</a:t>
                </a:r>
                <a14:m>
                  <m:oMath xmlns:m="http://schemas.openxmlformats.org/officeDocument/2006/math">
                    <m:r>
                      <a:rPr lang="sr-Latn-RS" sz="2400" i="1">
                        <a:latin typeface="Cambria Math" panose="02040503050406030204" pitchFamily="18" charset="0"/>
                      </a:rPr>
                      <m:t> </m:t>
                    </m:r>
                    <m:r>
                      <a:rPr lang="sr-Latn-RS" sz="2400" i="1">
                        <a:latin typeface="Cambria Math" panose="02040503050406030204" pitchFamily="18" charset="0"/>
                      </a:rPr>
                      <m:t>𝑦</m:t>
                    </m:r>
                  </m:oMath>
                </a14:m>
                <a:r>
                  <a:rPr lang="sr-Latn-RS" sz="2400" dirty="0">
                    <a:latin typeface="+mj-lt"/>
                  </a:rPr>
                  <a:t>-</a:t>
                </a:r>
                <a:r>
                  <a:rPr lang="sr-Latn-RS" sz="2400" dirty="0" err="1">
                    <a:latin typeface="+mj-lt"/>
                  </a:rPr>
                  <a:t>axis</a:t>
                </a:r>
                <a:endParaRPr lang="en-US" sz="2400" i="1" dirty="0">
                  <a:latin typeface="+mj-lt"/>
                </a:endParaRPr>
              </a:p>
              <a:p>
                <a:r>
                  <a:rPr lang="sr-Latn-RS" sz="2400" dirty="0"/>
                  <a:t>	</a:t>
                </a:r>
                <a:endParaRPr lang="en-US" sz="2400" i="1" dirty="0">
                  <a:latin typeface="+mj-lt"/>
                </a:endParaRPr>
              </a:p>
            </p:txBody>
          </p:sp>
        </mc:Choice>
        <mc:Fallback xmlns="">
          <p:sp>
            <p:nvSpPr>
              <p:cNvPr id="37" name="TextBox 36">
                <a:extLst>
                  <a:ext uri="{FF2B5EF4-FFF2-40B4-BE49-F238E27FC236}">
                    <a16:creationId xmlns:a16="http://schemas.microsoft.com/office/drawing/2014/main" id="{A41F298D-2142-3447-964A-88FBF8974F35}"/>
                  </a:ext>
                </a:extLst>
              </p:cNvPr>
              <p:cNvSpPr txBox="1">
                <a:spLocks noRot="1" noChangeAspect="1" noMove="1" noResize="1" noEditPoints="1" noAdjustHandles="1" noChangeArrowheads="1" noChangeShapeType="1" noTextEdit="1"/>
              </p:cNvSpPr>
              <p:nvPr/>
            </p:nvSpPr>
            <p:spPr>
              <a:xfrm>
                <a:off x="2386739" y="3554313"/>
                <a:ext cx="9240222" cy="1938992"/>
              </a:xfrm>
              <a:prstGeom prst="rect">
                <a:avLst/>
              </a:prstGeom>
              <a:blipFill>
                <a:blip r:embed="rId4"/>
                <a:stretch>
                  <a:fillRect l="-960" t="-1948"/>
                </a:stretch>
              </a:blipFill>
            </p:spPr>
            <p:txBody>
              <a:bodyPr/>
              <a:lstStyle/>
              <a:p>
                <a:r>
                  <a:rPr lang="en-US">
                    <a:noFill/>
                  </a:rPr>
                  <a:t> </a:t>
                </a:r>
              </a:p>
            </p:txBody>
          </p:sp>
        </mc:Fallback>
      </mc:AlternateContent>
      <p:sp>
        <p:nvSpPr>
          <p:cNvPr id="43" name="Rectangle 42">
            <a:extLst>
              <a:ext uri="{FF2B5EF4-FFF2-40B4-BE49-F238E27FC236}">
                <a16:creationId xmlns:a16="http://schemas.microsoft.com/office/drawing/2014/main" id="{0824DC6C-CEC9-3E4E-8DF1-99A0070F2BD7}"/>
              </a:ext>
            </a:extLst>
          </p:cNvPr>
          <p:cNvSpPr/>
          <p:nvPr/>
        </p:nvSpPr>
        <p:spPr>
          <a:xfrm>
            <a:off x="8878529" y="2153116"/>
            <a:ext cx="2871119" cy="461665"/>
          </a:xfrm>
          <a:prstGeom prst="rect">
            <a:avLst/>
          </a:prstGeom>
        </p:spPr>
        <p:txBody>
          <a:bodyPr wrap="square">
            <a:spAutoFit/>
          </a:bodyPr>
          <a:lstStyle/>
          <a:p>
            <a:r>
              <a:rPr lang="sr-Latn-RS" sz="2400" dirty="0">
                <a:latin typeface="Menlo" panose="020B0609030804020204" pitchFamily="49" charset="0"/>
                <a:ea typeface="Menlo" panose="020B0609030804020204" pitchFamily="49" charset="0"/>
                <a:cs typeface="Menlo" panose="020B0609030804020204" pitchFamily="49" charset="0"/>
              </a:rPr>
              <a:t>u(</a:t>
            </a:r>
            <a:r>
              <a:rPr lang="sr-Latn-RS" sz="2400" dirty="0" err="1">
                <a:latin typeface="Menlo" panose="020B0609030804020204" pitchFamily="49" charset="0"/>
                <a:ea typeface="Menlo" panose="020B0609030804020204" pitchFamily="49" charset="0"/>
                <a:cs typeface="Menlo" panose="020B0609030804020204" pitchFamily="49" charset="0"/>
              </a:rPr>
              <a:t>t,p,l</a:t>
            </a:r>
            <a:r>
              <a:rPr lang="sr-Latn-RS" sz="2400" dirty="0">
                <a:latin typeface="Menlo" panose="020B0609030804020204" pitchFamily="49" charset="0"/>
                <a:ea typeface="Menlo" panose="020B0609030804020204" pitchFamily="49" charset="0"/>
                <a:cs typeface="Menlo" panose="020B0609030804020204" pitchFamily="49" charset="0"/>
              </a:rPr>
              <a:t>) </a:t>
            </a:r>
            <a:r>
              <a:rPr lang="sr-Latn-RS" sz="2400" dirty="0" err="1">
                <a:latin typeface="Menlo" panose="020B0609030804020204" pitchFamily="49" charset="0"/>
                <a:ea typeface="Menlo" panose="020B0609030804020204" pitchFamily="49" charset="0"/>
                <a:cs typeface="Menlo" panose="020B0609030804020204" pitchFamily="49" charset="0"/>
              </a:rPr>
              <a:t>q</a:t>
            </a:r>
            <a:r>
              <a:rPr lang="sr-Latn-RS" sz="2400" dirty="0">
                <a:latin typeface="Menlo" panose="020B0609030804020204" pitchFamily="49" charset="0"/>
                <a:ea typeface="Menlo" panose="020B0609030804020204" pitchFamily="49" charset="0"/>
                <a:cs typeface="Menlo" panose="020B0609030804020204" pitchFamily="49" charset="0"/>
              </a:rPr>
              <a:t>[i];</a:t>
            </a:r>
            <a:r>
              <a:rPr lang="en-ZA" sz="2400" dirty="0">
                <a:latin typeface="Menlo" panose="020B0609030804020204" pitchFamily="49" charset="0"/>
                <a:ea typeface="Menlo" panose="020B0609030804020204" pitchFamily="49" charset="0"/>
                <a:cs typeface="Menlo" panose="020B0609030804020204" pitchFamily="49" charset="0"/>
              </a:rPr>
              <a:t> </a:t>
            </a:r>
            <a:endParaRPr lang="en-US" sz="2400" dirty="0">
              <a:effectLst/>
              <a:latin typeface="Menlo" panose="020B0609030804020204" pitchFamily="49" charset="0"/>
              <a:ea typeface="Menlo" panose="020B0609030804020204" pitchFamily="49" charset="0"/>
              <a:cs typeface="Menlo" panose="020B0609030804020204" pitchFamily="49" charset="0"/>
            </a:endParaRPr>
          </a:p>
        </p:txBody>
      </p:sp>
      <p:cxnSp>
        <p:nvCxnSpPr>
          <p:cNvPr id="53" name="Straight Connector 52">
            <a:extLst>
              <a:ext uri="{FF2B5EF4-FFF2-40B4-BE49-F238E27FC236}">
                <a16:creationId xmlns:a16="http://schemas.microsoft.com/office/drawing/2014/main" id="{8A527968-DE7C-FE4A-A9DB-19FD054BF655}"/>
              </a:ext>
            </a:extLst>
          </p:cNvPr>
          <p:cNvCxnSpPr>
            <a:cxnSpLocks/>
          </p:cNvCxnSpPr>
          <p:nvPr/>
        </p:nvCxnSpPr>
        <p:spPr>
          <a:xfrm flipV="1">
            <a:off x="8774965" y="1100526"/>
            <a:ext cx="0" cy="2296285"/>
          </a:xfrm>
          <a:prstGeom prst="line">
            <a:avLst/>
          </a:prstGeom>
        </p:spPr>
        <p:style>
          <a:lnRef idx="1">
            <a:schemeClr val="accent1"/>
          </a:lnRef>
          <a:fillRef idx="0">
            <a:schemeClr val="accent1"/>
          </a:fillRef>
          <a:effectRef idx="0">
            <a:schemeClr val="accent1"/>
          </a:effectRef>
          <a:fontRef idx="minor">
            <a:schemeClr val="tx1"/>
          </a:fontRef>
        </p:style>
      </p:cxnSp>
      <p:grpSp>
        <p:nvGrpSpPr>
          <p:cNvPr id="17" name="Group 16">
            <a:extLst>
              <a:ext uri="{FF2B5EF4-FFF2-40B4-BE49-F238E27FC236}">
                <a16:creationId xmlns:a16="http://schemas.microsoft.com/office/drawing/2014/main" id="{27FCD127-0F46-5B42-B4CF-5FCADE5DAF80}"/>
              </a:ext>
            </a:extLst>
          </p:cNvPr>
          <p:cNvGrpSpPr/>
          <p:nvPr/>
        </p:nvGrpSpPr>
        <p:grpSpPr>
          <a:xfrm>
            <a:off x="669448" y="1230477"/>
            <a:ext cx="10125701" cy="461665"/>
            <a:chOff x="669448" y="1230477"/>
            <a:chExt cx="10125701" cy="461665"/>
          </a:xfrm>
        </p:grpSpPr>
        <p:sp>
          <p:nvSpPr>
            <p:cNvPr id="18" name="TextBox 17">
              <a:extLst>
                <a:ext uri="{FF2B5EF4-FFF2-40B4-BE49-F238E27FC236}">
                  <a16:creationId xmlns:a16="http://schemas.microsoft.com/office/drawing/2014/main" id="{9E3EA904-257A-2D49-A673-1D50E2C599ED}"/>
                </a:ext>
              </a:extLst>
            </p:cNvPr>
            <p:cNvSpPr txBox="1"/>
            <p:nvPr/>
          </p:nvSpPr>
          <p:spPr>
            <a:xfrm>
              <a:off x="669448" y="1230477"/>
              <a:ext cx="1065100" cy="461665"/>
            </a:xfrm>
            <a:prstGeom prst="rect">
              <a:avLst/>
            </a:prstGeom>
            <a:noFill/>
          </p:spPr>
          <p:txBody>
            <a:bodyPr wrap="none" rtlCol="0">
              <a:spAutoFit/>
            </a:bodyPr>
            <a:lstStyle/>
            <a:p>
              <a:r>
                <a:rPr lang="en-US" sz="2400" dirty="0">
                  <a:latin typeface="+mj-lt"/>
                </a:rPr>
                <a:t>symbol</a:t>
              </a:r>
            </a:p>
          </p:txBody>
        </p:sp>
        <p:sp>
          <p:nvSpPr>
            <p:cNvPr id="19" name="TextBox 18">
              <a:extLst>
                <a:ext uri="{FF2B5EF4-FFF2-40B4-BE49-F238E27FC236}">
                  <a16:creationId xmlns:a16="http://schemas.microsoft.com/office/drawing/2014/main" id="{A8DFDB3A-6CA9-5141-952C-E2BC70509DD8}"/>
                </a:ext>
              </a:extLst>
            </p:cNvPr>
            <p:cNvSpPr txBox="1"/>
            <p:nvPr/>
          </p:nvSpPr>
          <p:spPr>
            <a:xfrm>
              <a:off x="4459117" y="1230477"/>
              <a:ext cx="1262653" cy="461665"/>
            </a:xfrm>
            <a:prstGeom prst="rect">
              <a:avLst/>
            </a:prstGeom>
            <a:noFill/>
          </p:spPr>
          <p:txBody>
            <a:bodyPr wrap="none" rtlCol="0">
              <a:spAutoFit/>
            </a:bodyPr>
            <a:lstStyle/>
            <a:p>
              <a:r>
                <a:rPr lang="en-US" sz="2400" dirty="0">
                  <a:latin typeface="+mj-lt"/>
                </a:rPr>
                <a:t>operator</a:t>
              </a:r>
            </a:p>
          </p:txBody>
        </p:sp>
        <p:sp>
          <p:nvSpPr>
            <p:cNvPr id="21" name="TextBox 20">
              <a:extLst>
                <a:ext uri="{FF2B5EF4-FFF2-40B4-BE49-F238E27FC236}">
                  <a16:creationId xmlns:a16="http://schemas.microsoft.com/office/drawing/2014/main" id="{D2D33B7A-2253-C043-A2CD-8D7124E76302}"/>
                </a:ext>
              </a:extLst>
            </p:cNvPr>
            <p:cNvSpPr txBox="1"/>
            <p:nvPr/>
          </p:nvSpPr>
          <p:spPr>
            <a:xfrm>
              <a:off x="9833026" y="1230477"/>
              <a:ext cx="962123" cy="461665"/>
            </a:xfrm>
            <a:prstGeom prst="rect">
              <a:avLst/>
            </a:prstGeom>
            <a:noFill/>
          </p:spPr>
          <p:txBody>
            <a:bodyPr wrap="none" rtlCol="0">
              <a:spAutoFit/>
            </a:bodyPr>
            <a:lstStyle/>
            <a:p>
              <a:r>
                <a:rPr lang="en-US" sz="2400" dirty="0">
                  <a:latin typeface="+mj-lt"/>
                </a:rPr>
                <a:t>QASM</a:t>
              </a:r>
            </a:p>
          </p:txBody>
        </p:sp>
      </p:grpSp>
    </p:spTree>
    <p:extLst>
      <p:ext uri="{BB962C8B-B14F-4D97-AF65-F5344CB8AC3E}">
        <p14:creationId xmlns:p14="http://schemas.microsoft.com/office/powerpoint/2010/main" val="17586099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7F13A0-2F9F-0B4C-8208-A263682511F4}"/>
              </a:ext>
            </a:extLst>
          </p:cNvPr>
          <p:cNvSpPr>
            <a:spLocks noGrp="1"/>
          </p:cNvSpPr>
          <p:nvPr>
            <p:ph type="title"/>
          </p:nvPr>
        </p:nvSpPr>
        <p:spPr>
          <a:xfrm>
            <a:off x="0" y="0"/>
            <a:ext cx="12192000" cy="928688"/>
          </a:xfrm>
        </p:spPr>
        <p:txBody>
          <a:bodyPr/>
          <a:lstStyle/>
          <a:p>
            <a:r>
              <a:rPr lang="en-ZA" dirty="0"/>
              <a:t>Measurement Operation (Gate)</a:t>
            </a:r>
            <a:endParaRPr lang="en-US" dirty="0"/>
          </a:p>
        </p:txBody>
      </p:sp>
      <p:sp>
        <p:nvSpPr>
          <p:cNvPr id="3" name="Slide Number Placeholder 2">
            <a:extLst>
              <a:ext uri="{FF2B5EF4-FFF2-40B4-BE49-F238E27FC236}">
                <a16:creationId xmlns:a16="http://schemas.microsoft.com/office/drawing/2014/main" id="{D695423E-99D5-F149-8841-95A018476F23}"/>
              </a:ext>
            </a:extLst>
          </p:cNvPr>
          <p:cNvSpPr>
            <a:spLocks noGrp="1"/>
          </p:cNvSpPr>
          <p:nvPr>
            <p:ph type="sldNum" sz="quarter" idx="12"/>
          </p:nvPr>
        </p:nvSpPr>
        <p:spPr>
          <a:xfrm>
            <a:off x="9448800" y="6492875"/>
            <a:ext cx="2743200" cy="365125"/>
          </a:xfrm>
        </p:spPr>
        <p:txBody>
          <a:bodyPr/>
          <a:lstStyle/>
          <a:p>
            <a:fld id="{591A223C-FA10-BC46-A853-03BA373D023C}" type="slidenum">
              <a:rPr lang="en-US" smtClean="0"/>
              <a:t>29</a:t>
            </a:fld>
            <a:endParaRPr lang="en-US"/>
          </a:p>
        </p:txBody>
      </p:sp>
      <p:grpSp>
        <p:nvGrpSpPr>
          <p:cNvPr id="12" name="Group 11">
            <a:extLst>
              <a:ext uri="{FF2B5EF4-FFF2-40B4-BE49-F238E27FC236}">
                <a16:creationId xmlns:a16="http://schemas.microsoft.com/office/drawing/2014/main" id="{9F245FA9-0DC7-C54A-BB12-6F045E14892F}"/>
              </a:ext>
            </a:extLst>
          </p:cNvPr>
          <p:cNvGrpSpPr/>
          <p:nvPr/>
        </p:nvGrpSpPr>
        <p:grpSpPr>
          <a:xfrm>
            <a:off x="539030" y="2554514"/>
            <a:ext cx="4284882" cy="1332773"/>
            <a:chOff x="341127" y="2149664"/>
            <a:chExt cx="4284882" cy="1332773"/>
          </a:xfrm>
        </p:grpSpPr>
        <mc:AlternateContent xmlns:mc="http://schemas.openxmlformats.org/markup-compatibility/2006" xmlns:a14="http://schemas.microsoft.com/office/drawing/2010/main">
          <mc:Choice Requires="a14">
            <p:sp>
              <p:nvSpPr>
                <p:cNvPr id="31" name="Rectangle 30">
                  <a:extLst>
                    <a:ext uri="{FF2B5EF4-FFF2-40B4-BE49-F238E27FC236}">
                      <a16:creationId xmlns:a16="http://schemas.microsoft.com/office/drawing/2014/main" id="{27AD3C78-80B0-854F-9022-AA31433E7EBD}"/>
                    </a:ext>
                  </a:extLst>
                </p:cNvPr>
                <p:cNvSpPr/>
                <p:nvPr/>
              </p:nvSpPr>
              <p:spPr>
                <a:xfrm>
                  <a:off x="4160818" y="2784894"/>
                  <a:ext cx="465191"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0</m:t>
                        </m:r>
                      </m:oMath>
                    </m:oMathPara>
                  </a14:m>
                  <a:endParaRPr lang="en-US" sz="2800" dirty="0"/>
                </a:p>
              </p:txBody>
            </p:sp>
          </mc:Choice>
          <mc:Fallback xmlns="">
            <p:sp>
              <p:nvSpPr>
                <p:cNvPr id="31" name="Rectangle 30">
                  <a:extLst>
                    <a:ext uri="{FF2B5EF4-FFF2-40B4-BE49-F238E27FC236}">
                      <a16:creationId xmlns:a16="http://schemas.microsoft.com/office/drawing/2014/main" id="{27AD3C78-80B0-854F-9022-AA31433E7EBD}"/>
                    </a:ext>
                  </a:extLst>
                </p:cNvPr>
                <p:cNvSpPr>
                  <a:spLocks noRot="1" noChangeAspect="1" noMove="1" noResize="1" noEditPoints="1" noAdjustHandles="1" noChangeArrowheads="1" noChangeShapeType="1" noTextEdit="1"/>
                </p:cNvSpPr>
                <p:nvPr/>
              </p:nvSpPr>
              <p:spPr>
                <a:xfrm>
                  <a:off x="4160818" y="2784894"/>
                  <a:ext cx="465191" cy="523220"/>
                </a:xfrm>
                <a:prstGeom prst="rect">
                  <a:avLst/>
                </a:prstGeom>
                <a:blipFill>
                  <a:blip r:embed="rId3"/>
                  <a:stretch>
                    <a:fillRect/>
                  </a:stretch>
                </a:blipFill>
              </p:spPr>
              <p:txBody>
                <a:bodyPr/>
                <a:lstStyle/>
                <a:p>
                  <a:r>
                    <a:rPr lang="en-US">
                      <a:noFill/>
                    </a:rPr>
                    <a:t> </a:t>
                  </a:r>
                </a:p>
              </p:txBody>
            </p:sp>
          </mc:Fallback>
        </mc:AlternateContent>
        <p:grpSp>
          <p:nvGrpSpPr>
            <p:cNvPr id="5" name="Group 4">
              <a:extLst>
                <a:ext uri="{FF2B5EF4-FFF2-40B4-BE49-F238E27FC236}">
                  <a16:creationId xmlns:a16="http://schemas.microsoft.com/office/drawing/2014/main" id="{5AEEE4FC-2EE8-4944-BCDE-921A817809E4}"/>
                </a:ext>
              </a:extLst>
            </p:cNvPr>
            <p:cNvGrpSpPr/>
            <p:nvPr/>
          </p:nvGrpSpPr>
          <p:grpSpPr>
            <a:xfrm>
              <a:off x="341127" y="2172143"/>
              <a:ext cx="1227471" cy="646646"/>
              <a:chOff x="6212787" y="1913933"/>
              <a:chExt cx="1227471" cy="646646"/>
            </a:xfrm>
          </p:grpSpPr>
          <mc:AlternateContent xmlns:mc="http://schemas.openxmlformats.org/markup-compatibility/2006" xmlns:a14="http://schemas.microsoft.com/office/drawing/2010/main">
            <mc:Choice Requires="a14">
              <p:sp>
                <p:nvSpPr>
                  <p:cNvPr id="32" name="Rectangle 31">
                    <a:extLst>
                      <a:ext uri="{FF2B5EF4-FFF2-40B4-BE49-F238E27FC236}">
                        <a16:creationId xmlns:a16="http://schemas.microsoft.com/office/drawing/2014/main" id="{CB20C0C3-B564-D247-87DB-92A9400355E7}"/>
                      </a:ext>
                    </a:extLst>
                  </p:cNvPr>
                  <p:cNvSpPr/>
                  <p:nvPr/>
                </p:nvSpPr>
                <p:spPr>
                  <a:xfrm>
                    <a:off x="6212787" y="1913933"/>
                    <a:ext cx="707886"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i="1">
                                  <a:latin typeface="Cambria Math" panose="02040503050406030204" pitchFamily="18" charset="0"/>
                                </a:rPr>
                              </m:ctrlPr>
                            </m:dPr>
                            <m:e>
                              <m:r>
                                <a:rPr lang="en-US" sz="2800" i="1">
                                  <a:latin typeface="Cambria Math" panose="02040503050406030204" pitchFamily="18" charset="0"/>
                                </a:rPr>
                                <m:t>0</m:t>
                              </m:r>
                            </m:e>
                          </m:d>
                        </m:oMath>
                      </m:oMathPara>
                    </a14:m>
                    <a:endParaRPr lang="en-US" sz="2800" dirty="0"/>
                  </a:p>
                </p:txBody>
              </p:sp>
            </mc:Choice>
            <mc:Fallback xmlns="">
              <p:sp>
                <p:nvSpPr>
                  <p:cNvPr id="32" name="Rectangle 31">
                    <a:extLst>
                      <a:ext uri="{FF2B5EF4-FFF2-40B4-BE49-F238E27FC236}">
                        <a16:creationId xmlns:a16="http://schemas.microsoft.com/office/drawing/2014/main" id="{CB20C0C3-B564-D247-87DB-92A9400355E7}"/>
                      </a:ext>
                    </a:extLst>
                  </p:cNvPr>
                  <p:cNvSpPr>
                    <a:spLocks noRot="1" noChangeAspect="1" noMove="1" noResize="1" noEditPoints="1" noAdjustHandles="1" noChangeArrowheads="1" noChangeShapeType="1" noTextEdit="1"/>
                  </p:cNvSpPr>
                  <p:nvPr/>
                </p:nvSpPr>
                <p:spPr>
                  <a:xfrm>
                    <a:off x="6212787" y="1913933"/>
                    <a:ext cx="707886" cy="523220"/>
                  </a:xfrm>
                  <a:prstGeom prst="rect">
                    <a:avLst/>
                  </a:prstGeom>
                  <a:blipFill>
                    <a:blip r:embed="rId5"/>
                    <a:stretch>
                      <a:fillRect/>
                    </a:stretch>
                  </a:blipFill>
                </p:spPr>
                <p:txBody>
                  <a:bodyPr/>
                  <a:lstStyle/>
                  <a:p>
                    <a:r>
                      <a:rPr lang="en-US">
                        <a:noFill/>
                      </a:rPr>
                      <a:t> </a:t>
                    </a:r>
                  </a:p>
                </p:txBody>
              </p:sp>
            </mc:Fallback>
          </mc:AlternateContent>
          <p:cxnSp>
            <p:nvCxnSpPr>
              <p:cNvPr id="30" name="Straight Arrow Connector 29">
                <a:extLst>
                  <a:ext uri="{FF2B5EF4-FFF2-40B4-BE49-F238E27FC236}">
                    <a16:creationId xmlns:a16="http://schemas.microsoft.com/office/drawing/2014/main" id="{379BFF92-0118-D94B-B781-EAA67ADE59FD}"/>
                  </a:ext>
                </a:extLst>
              </p:cNvPr>
              <p:cNvCxnSpPr>
                <a:cxnSpLocks/>
              </p:cNvCxnSpPr>
              <p:nvPr/>
            </p:nvCxnSpPr>
            <p:spPr>
              <a:xfrm>
                <a:off x="6360258" y="2560579"/>
                <a:ext cx="1080000" cy="0"/>
              </a:xfrm>
              <a:prstGeom prst="straightConnector1">
                <a:avLst/>
              </a:prstGeom>
              <a:ln w="63500" cap="rnd">
                <a:solidFill>
                  <a:schemeClr val="accent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52" name="Group 51">
              <a:extLst>
                <a:ext uri="{FF2B5EF4-FFF2-40B4-BE49-F238E27FC236}">
                  <a16:creationId xmlns:a16="http://schemas.microsoft.com/office/drawing/2014/main" id="{5B936EB1-4C20-5C43-80E2-83FEDCA97D18}"/>
                </a:ext>
              </a:extLst>
            </p:cNvPr>
            <p:cNvGrpSpPr/>
            <p:nvPr/>
          </p:nvGrpSpPr>
          <p:grpSpPr>
            <a:xfrm>
              <a:off x="2734818" y="2149664"/>
              <a:ext cx="1227471" cy="646646"/>
              <a:chOff x="6212787" y="1913933"/>
              <a:chExt cx="1227471" cy="646646"/>
            </a:xfrm>
          </p:grpSpPr>
          <mc:AlternateContent xmlns:mc="http://schemas.openxmlformats.org/markup-compatibility/2006" xmlns:a14="http://schemas.microsoft.com/office/drawing/2010/main">
            <mc:Choice Requires="a14">
              <p:sp>
                <p:nvSpPr>
                  <p:cNvPr id="54" name="Rectangle 53">
                    <a:extLst>
                      <a:ext uri="{FF2B5EF4-FFF2-40B4-BE49-F238E27FC236}">
                        <a16:creationId xmlns:a16="http://schemas.microsoft.com/office/drawing/2014/main" id="{A86F89C0-5380-2443-9BC0-4622012EC380}"/>
                      </a:ext>
                    </a:extLst>
                  </p:cNvPr>
                  <p:cNvSpPr/>
                  <p:nvPr/>
                </p:nvSpPr>
                <p:spPr>
                  <a:xfrm>
                    <a:off x="6212787" y="1913933"/>
                    <a:ext cx="707886"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i="1">
                                  <a:latin typeface="Cambria Math" panose="02040503050406030204" pitchFamily="18" charset="0"/>
                                </a:rPr>
                              </m:ctrlPr>
                            </m:dPr>
                            <m:e>
                              <m:r>
                                <a:rPr lang="en-US" sz="2800" i="1">
                                  <a:latin typeface="Cambria Math" panose="02040503050406030204" pitchFamily="18" charset="0"/>
                                </a:rPr>
                                <m:t>0</m:t>
                              </m:r>
                            </m:e>
                          </m:d>
                        </m:oMath>
                      </m:oMathPara>
                    </a14:m>
                    <a:endParaRPr lang="en-US" sz="2800" dirty="0"/>
                  </a:p>
                </p:txBody>
              </p:sp>
            </mc:Choice>
            <mc:Fallback xmlns="">
              <p:sp>
                <p:nvSpPr>
                  <p:cNvPr id="54" name="Rectangle 53">
                    <a:extLst>
                      <a:ext uri="{FF2B5EF4-FFF2-40B4-BE49-F238E27FC236}">
                        <a16:creationId xmlns:a16="http://schemas.microsoft.com/office/drawing/2014/main" id="{A86F89C0-5380-2443-9BC0-4622012EC380}"/>
                      </a:ext>
                    </a:extLst>
                  </p:cNvPr>
                  <p:cNvSpPr>
                    <a:spLocks noRot="1" noChangeAspect="1" noMove="1" noResize="1" noEditPoints="1" noAdjustHandles="1" noChangeArrowheads="1" noChangeShapeType="1" noTextEdit="1"/>
                  </p:cNvSpPr>
                  <p:nvPr/>
                </p:nvSpPr>
                <p:spPr>
                  <a:xfrm>
                    <a:off x="6212787" y="1913933"/>
                    <a:ext cx="707886" cy="523220"/>
                  </a:xfrm>
                  <a:prstGeom prst="rect">
                    <a:avLst/>
                  </a:prstGeom>
                  <a:blipFill>
                    <a:blip r:embed="rId6"/>
                    <a:stretch>
                      <a:fillRect/>
                    </a:stretch>
                  </a:blipFill>
                </p:spPr>
                <p:txBody>
                  <a:bodyPr/>
                  <a:lstStyle/>
                  <a:p>
                    <a:r>
                      <a:rPr lang="en-US">
                        <a:noFill/>
                      </a:rPr>
                      <a:t> </a:t>
                    </a:r>
                  </a:p>
                </p:txBody>
              </p:sp>
            </mc:Fallback>
          </mc:AlternateContent>
          <p:cxnSp>
            <p:nvCxnSpPr>
              <p:cNvPr id="55" name="Straight Arrow Connector 54">
                <a:extLst>
                  <a:ext uri="{FF2B5EF4-FFF2-40B4-BE49-F238E27FC236}">
                    <a16:creationId xmlns:a16="http://schemas.microsoft.com/office/drawing/2014/main" id="{69E6A951-0C62-204F-94C7-E3883C39BE2E}"/>
                  </a:ext>
                </a:extLst>
              </p:cNvPr>
              <p:cNvCxnSpPr>
                <a:cxnSpLocks/>
              </p:cNvCxnSpPr>
              <p:nvPr/>
            </p:nvCxnSpPr>
            <p:spPr>
              <a:xfrm>
                <a:off x="6360258" y="2560579"/>
                <a:ext cx="1080000" cy="0"/>
              </a:xfrm>
              <a:prstGeom prst="straightConnector1">
                <a:avLst/>
              </a:prstGeom>
              <a:ln w="63500" cap="rnd">
                <a:solidFill>
                  <a:schemeClr val="accent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 name="Group 3">
              <a:extLst>
                <a:ext uri="{FF2B5EF4-FFF2-40B4-BE49-F238E27FC236}">
                  <a16:creationId xmlns:a16="http://schemas.microsoft.com/office/drawing/2014/main" id="{5B7FAA96-3324-9545-A4B8-A1C596973742}"/>
                </a:ext>
              </a:extLst>
            </p:cNvPr>
            <p:cNvGrpSpPr/>
            <p:nvPr/>
          </p:nvGrpSpPr>
          <p:grpSpPr>
            <a:xfrm>
              <a:off x="341127" y="2674737"/>
              <a:ext cx="3641631" cy="807700"/>
              <a:chOff x="3607564" y="4062609"/>
              <a:chExt cx="3641631" cy="807700"/>
            </a:xfrm>
          </p:grpSpPr>
          <p:cxnSp>
            <p:nvCxnSpPr>
              <p:cNvPr id="28" name="Straight Connector 27">
                <a:extLst>
                  <a:ext uri="{FF2B5EF4-FFF2-40B4-BE49-F238E27FC236}">
                    <a16:creationId xmlns:a16="http://schemas.microsoft.com/office/drawing/2014/main" id="{3485FEA6-8439-1C4E-A03D-25DB088041BC}"/>
                  </a:ext>
                </a:extLst>
              </p:cNvPr>
              <p:cNvCxnSpPr>
                <a:cxnSpLocks/>
              </p:cNvCxnSpPr>
              <p:nvPr/>
            </p:nvCxnSpPr>
            <p:spPr>
              <a:xfrm>
                <a:off x="3607564" y="4437372"/>
                <a:ext cx="3641631" cy="0"/>
              </a:xfrm>
              <a:prstGeom prst="line">
                <a:avLst/>
              </a:prstGeom>
              <a:ln w="127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grpSp>
            <p:nvGrpSpPr>
              <p:cNvPr id="37" name="Group 36">
                <a:extLst>
                  <a:ext uri="{FF2B5EF4-FFF2-40B4-BE49-F238E27FC236}">
                    <a16:creationId xmlns:a16="http://schemas.microsoft.com/office/drawing/2014/main" id="{2E8619A5-124D-B84C-A0AF-B8ABFB14D1A7}"/>
                  </a:ext>
                </a:extLst>
              </p:cNvPr>
              <p:cNvGrpSpPr/>
              <p:nvPr/>
            </p:nvGrpSpPr>
            <p:grpSpPr>
              <a:xfrm>
                <a:off x="5069414" y="4062609"/>
                <a:ext cx="720000" cy="807700"/>
                <a:chOff x="8902649" y="1353231"/>
                <a:chExt cx="720000" cy="807700"/>
              </a:xfrm>
            </p:grpSpPr>
            <p:sp>
              <p:nvSpPr>
                <p:cNvPr id="38" name="Rectangle 37">
                  <a:extLst>
                    <a:ext uri="{FF2B5EF4-FFF2-40B4-BE49-F238E27FC236}">
                      <a16:creationId xmlns:a16="http://schemas.microsoft.com/office/drawing/2014/main" id="{0CF1979D-2CCD-0848-B9D6-94FF11EAF65D}"/>
                    </a:ext>
                  </a:extLst>
                </p:cNvPr>
                <p:cNvSpPr/>
                <p:nvPr/>
              </p:nvSpPr>
              <p:spPr>
                <a:xfrm>
                  <a:off x="8902649" y="1353231"/>
                  <a:ext cx="720000" cy="720000"/>
                </a:xfrm>
                <a:prstGeom prst="rect">
                  <a:avLst/>
                </a:prstGeom>
                <a:solidFill>
                  <a:schemeClr val="bg1">
                    <a:lumMod val="8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 dirty="0">
                    <a:latin typeface="Times" pitchFamily="2" charset="0"/>
                  </a:endParaRPr>
                </a:p>
              </p:txBody>
            </p:sp>
            <p:sp>
              <p:nvSpPr>
                <p:cNvPr id="39" name="Arc 38">
                  <a:extLst>
                    <a:ext uri="{FF2B5EF4-FFF2-40B4-BE49-F238E27FC236}">
                      <a16:creationId xmlns:a16="http://schemas.microsoft.com/office/drawing/2014/main" id="{5DF13FC3-7781-D745-AB6A-B163B64BE41A}"/>
                    </a:ext>
                  </a:extLst>
                </p:cNvPr>
                <p:cNvSpPr/>
                <p:nvPr/>
              </p:nvSpPr>
              <p:spPr>
                <a:xfrm>
                  <a:off x="9008649" y="1636523"/>
                  <a:ext cx="508000" cy="524408"/>
                </a:xfrm>
                <a:prstGeom prst="arc">
                  <a:avLst>
                    <a:gd name="adj1" fmla="val 10614695"/>
                    <a:gd name="adj2" fmla="val 0"/>
                  </a:avLst>
                </a:prstGeom>
                <a:ln w="25400" cap="rnd">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40" name="Straight Arrow Connector 39">
                  <a:extLst>
                    <a:ext uri="{FF2B5EF4-FFF2-40B4-BE49-F238E27FC236}">
                      <a16:creationId xmlns:a16="http://schemas.microsoft.com/office/drawing/2014/main" id="{73A6DADD-3B88-4F48-8C31-5F3F37AAB5DA}"/>
                    </a:ext>
                  </a:extLst>
                </p:cNvPr>
                <p:cNvCxnSpPr>
                  <a:cxnSpLocks/>
                </p:cNvCxnSpPr>
                <p:nvPr/>
              </p:nvCxnSpPr>
              <p:spPr>
                <a:xfrm flipV="1">
                  <a:off x="9262649" y="1527175"/>
                  <a:ext cx="129001" cy="369690"/>
                </a:xfrm>
                <a:prstGeom prst="straightConnector1">
                  <a:avLst/>
                </a:prstGeom>
                <a:ln w="25400" cap="rnd">
                  <a:solidFill>
                    <a:schemeClr val="tx1">
                      <a:lumMod val="65000"/>
                      <a:lumOff val="35000"/>
                    </a:schemeClr>
                  </a:solidFill>
                  <a:headEnd type="oval" w="sm" len="sm"/>
                  <a:tailEnd type="none"/>
                </a:ln>
              </p:spPr>
              <p:style>
                <a:lnRef idx="1">
                  <a:schemeClr val="accent1"/>
                </a:lnRef>
                <a:fillRef idx="0">
                  <a:schemeClr val="accent1"/>
                </a:fillRef>
                <a:effectRef idx="0">
                  <a:schemeClr val="accent1"/>
                </a:effectRef>
                <a:fontRef idx="minor">
                  <a:schemeClr val="tx1"/>
                </a:fontRef>
              </p:style>
            </p:cxnSp>
          </p:grpSp>
        </p:grpSp>
      </p:grpSp>
      <p:sp>
        <p:nvSpPr>
          <p:cNvPr id="44" name="TextBox 43">
            <a:extLst>
              <a:ext uri="{FF2B5EF4-FFF2-40B4-BE49-F238E27FC236}">
                <a16:creationId xmlns:a16="http://schemas.microsoft.com/office/drawing/2014/main" id="{5D1301D1-7E83-7749-9392-4E893DED579F}"/>
              </a:ext>
            </a:extLst>
          </p:cNvPr>
          <p:cNvSpPr txBox="1"/>
          <p:nvPr/>
        </p:nvSpPr>
        <p:spPr>
          <a:xfrm>
            <a:off x="3773660" y="1083404"/>
            <a:ext cx="4049517" cy="830997"/>
          </a:xfrm>
          <a:prstGeom prst="rect">
            <a:avLst/>
          </a:prstGeom>
          <a:noFill/>
        </p:spPr>
        <p:txBody>
          <a:bodyPr wrap="square" rtlCol="0">
            <a:spAutoFit/>
          </a:bodyPr>
          <a:lstStyle/>
          <a:p>
            <a:r>
              <a:rPr lang="en-ZA" sz="2400" dirty="0">
                <a:latin typeface="+mj-lt"/>
              </a:rPr>
              <a:t>Measurement in the </a:t>
            </a:r>
          </a:p>
          <a:p>
            <a:r>
              <a:rPr lang="en-ZA" sz="2400" dirty="0">
                <a:latin typeface="+mj-lt"/>
              </a:rPr>
              <a:t>standard (Z) basis.</a:t>
            </a:r>
            <a:endParaRPr lang="en-US" sz="2400" dirty="0">
              <a:latin typeface="+mj-lt"/>
            </a:endParaRPr>
          </a:p>
        </p:txBody>
      </p:sp>
      <p:sp>
        <p:nvSpPr>
          <p:cNvPr id="45" name="Rectangle 44">
            <a:extLst>
              <a:ext uri="{FF2B5EF4-FFF2-40B4-BE49-F238E27FC236}">
                <a16:creationId xmlns:a16="http://schemas.microsoft.com/office/drawing/2014/main" id="{5537C371-5F39-7548-BA26-3B63C7533D43}"/>
              </a:ext>
            </a:extLst>
          </p:cNvPr>
          <p:cNvSpPr/>
          <p:nvPr/>
        </p:nvSpPr>
        <p:spPr>
          <a:xfrm>
            <a:off x="8174002" y="1161422"/>
            <a:ext cx="3428709" cy="769441"/>
          </a:xfrm>
          <a:prstGeom prst="rect">
            <a:avLst/>
          </a:prstGeom>
        </p:spPr>
        <p:txBody>
          <a:bodyPr wrap="square">
            <a:spAutoFit/>
          </a:bodyPr>
          <a:lstStyle/>
          <a:p>
            <a:r>
              <a:rPr lang="en-US" sz="2200" dirty="0">
                <a:latin typeface="AndaleMono" panose="020B0509000000000004" pitchFamily="49" charset="0"/>
              </a:rPr>
              <a:t>measure q[</a:t>
            </a:r>
            <a:r>
              <a:rPr lang="en-US" sz="2200" dirty="0" err="1">
                <a:latin typeface="AndaleMono" panose="020B0509000000000004" pitchFamily="49" charset="0"/>
              </a:rPr>
              <a:t>i</a:t>
            </a:r>
            <a:r>
              <a:rPr lang="en-US" sz="2200" dirty="0">
                <a:latin typeface="AndaleMono" panose="020B0509000000000004" pitchFamily="49" charset="0"/>
              </a:rPr>
              <a:t>]-&gt;c[j] </a:t>
            </a:r>
          </a:p>
          <a:p>
            <a:r>
              <a:rPr lang="en-US" sz="2200" dirty="0">
                <a:latin typeface="AndaleMono" panose="020B0509000000000004" pitchFamily="49" charset="0"/>
              </a:rPr>
              <a:t>c[</a:t>
            </a:r>
            <a:r>
              <a:rPr lang="en-US" sz="2200" dirty="0" err="1">
                <a:latin typeface="AndaleMono" panose="020B0509000000000004" pitchFamily="49" charset="0"/>
              </a:rPr>
              <a:t>i</a:t>
            </a:r>
            <a:r>
              <a:rPr lang="en-US" sz="2200" dirty="0">
                <a:latin typeface="AndaleMono" panose="020B0509000000000004" pitchFamily="49" charset="0"/>
              </a:rPr>
              <a:t>] = measure q[j]</a:t>
            </a:r>
            <a:endParaRPr lang="en-US" sz="2200" dirty="0">
              <a:effectLst/>
            </a:endParaRPr>
          </a:p>
        </p:txBody>
      </p:sp>
      <p:cxnSp>
        <p:nvCxnSpPr>
          <p:cNvPr id="46" name="Straight Connector 45">
            <a:extLst>
              <a:ext uri="{FF2B5EF4-FFF2-40B4-BE49-F238E27FC236}">
                <a16:creationId xmlns:a16="http://schemas.microsoft.com/office/drawing/2014/main" id="{7945C207-5D86-AB4F-88C2-5250C2FA5D64}"/>
              </a:ext>
            </a:extLst>
          </p:cNvPr>
          <p:cNvCxnSpPr>
            <a:cxnSpLocks/>
          </p:cNvCxnSpPr>
          <p:nvPr/>
        </p:nvCxnSpPr>
        <p:spPr>
          <a:xfrm flipV="1">
            <a:off x="8067651" y="1053431"/>
            <a:ext cx="0" cy="900000"/>
          </a:xfrm>
          <a:prstGeom prst="line">
            <a:avLst/>
          </a:prstGeom>
        </p:spPr>
        <p:style>
          <a:lnRef idx="1">
            <a:schemeClr val="accent1"/>
          </a:lnRef>
          <a:fillRef idx="0">
            <a:schemeClr val="accent1"/>
          </a:fillRef>
          <a:effectRef idx="0">
            <a:schemeClr val="accent1"/>
          </a:effectRef>
          <a:fontRef idx="minor">
            <a:schemeClr val="tx1"/>
          </a:fontRef>
        </p:style>
      </p:cxnSp>
      <p:grpSp>
        <p:nvGrpSpPr>
          <p:cNvPr id="47" name="Group 46">
            <a:extLst>
              <a:ext uri="{FF2B5EF4-FFF2-40B4-BE49-F238E27FC236}">
                <a16:creationId xmlns:a16="http://schemas.microsoft.com/office/drawing/2014/main" id="{D8FFB69A-EB57-9743-B531-BC1FC0E9DECC}"/>
              </a:ext>
            </a:extLst>
          </p:cNvPr>
          <p:cNvGrpSpPr/>
          <p:nvPr/>
        </p:nvGrpSpPr>
        <p:grpSpPr>
          <a:xfrm>
            <a:off x="1116517" y="1140981"/>
            <a:ext cx="720000" cy="807700"/>
            <a:chOff x="8902649" y="1353231"/>
            <a:chExt cx="720000" cy="807700"/>
          </a:xfrm>
        </p:grpSpPr>
        <p:sp>
          <p:nvSpPr>
            <p:cNvPr id="48" name="Rectangle 47">
              <a:extLst>
                <a:ext uri="{FF2B5EF4-FFF2-40B4-BE49-F238E27FC236}">
                  <a16:creationId xmlns:a16="http://schemas.microsoft.com/office/drawing/2014/main" id="{46C80093-838E-574E-8A9B-B143A9436912}"/>
                </a:ext>
              </a:extLst>
            </p:cNvPr>
            <p:cNvSpPr/>
            <p:nvPr/>
          </p:nvSpPr>
          <p:spPr>
            <a:xfrm>
              <a:off x="8902649" y="1353231"/>
              <a:ext cx="720000" cy="720000"/>
            </a:xfrm>
            <a:prstGeom prst="rect">
              <a:avLst/>
            </a:prstGeom>
            <a:solidFill>
              <a:schemeClr val="bg1">
                <a:lumMod val="8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 dirty="0">
                <a:latin typeface="Times" pitchFamily="2" charset="0"/>
              </a:endParaRPr>
            </a:p>
          </p:txBody>
        </p:sp>
        <p:sp>
          <p:nvSpPr>
            <p:cNvPr id="49" name="Arc 48">
              <a:extLst>
                <a:ext uri="{FF2B5EF4-FFF2-40B4-BE49-F238E27FC236}">
                  <a16:creationId xmlns:a16="http://schemas.microsoft.com/office/drawing/2014/main" id="{EBC91ECF-3768-D142-8914-09FF366F0726}"/>
                </a:ext>
              </a:extLst>
            </p:cNvPr>
            <p:cNvSpPr/>
            <p:nvPr/>
          </p:nvSpPr>
          <p:spPr>
            <a:xfrm>
              <a:off x="9008649" y="1636523"/>
              <a:ext cx="508000" cy="524408"/>
            </a:xfrm>
            <a:prstGeom prst="arc">
              <a:avLst>
                <a:gd name="adj1" fmla="val 10614695"/>
                <a:gd name="adj2" fmla="val 0"/>
              </a:avLst>
            </a:prstGeom>
            <a:ln w="25400" cap="rnd">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50" name="Straight Arrow Connector 49">
              <a:extLst>
                <a:ext uri="{FF2B5EF4-FFF2-40B4-BE49-F238E27FC236}">
                  <a16:creationId xmlns:a16="http://schemas.microsoft.com/office/drawing/2014/main" id="{F8142D1C-6C77-DE48-A488-F6E72590D07B}"/>
                </a:ext>
              </a:extLst>
            </p:cNvPr>
            <p:cNvCxnSpPr>
              <a:cxnSpLocks/>
            </p:cNvCxnSpPr>
            <p:nvPr/>
          </p:nvCxnSpPr>
          <p:spPr>
            <a:xfrm flipV="1">
              <a:off x="9262649" y="1527175"/>
              <a:ext cx="129001" cy="369690"/>
            </a:xfrm>
            <a:prstGeom prst="straightConnector1">
              <a:avLst/>
            </a:prstGeom>
            <a:ln w="25400" cap="rnd">
              <a:solidFill>
                <a:schemeClr val="tx1">
                  <a:lumMod val="65000"/>
                  <a:lumOff val="35000"/>
                </a:schemeClr>
              </a:solidFill>
              <a:headEnd type="oval" w="sm" len="sm"/>
              <a:tailEnd type="none"/>
            </a:ln>
          </p:spPr>
          <p:style>
            <a:lnRef idx="1">
              <a:schemeClr val="accent1"/>
            </a:lnRef>
            <a:fillRef idx="0">
              <a:schemeClr val="accent1"/>
            </a:fillRef>
            <a:effectRef idx="0">
              <a:schemeClr val="accent1"/>
            </a:effectRef>
            <a:fontRef idx="minor">
              <a:schemeClr val="tx1"/>
            </a:fontRef>
          </p:style>
        </p:cxnSp>
      </p:grpSp>
      <p:cxnSp>
        <p:nvCxnSpPr>
          <p:cNvPr id="51" name="Straight Connector 50">
            <a:extLst>
              <a:ext uri="{FF2B5EF4-FFF2-40B4-BE49-F238E27FC236}">
                <a16:creationId xmlns:a16="http://schemas.microsoft.com/office/drawing/2014/main" id="{399378C2-3FF1-034C-987A-0AE2B26CE090}"/>
              </a:ext>
            </a:extLst>
          </p:cNvPr>
          <p:cNvCxnSpPr>
            <a:cxnSpLocks/>
          </p:cNvCxnSpPr>
          <p:nvPr/>
        </p:nvCxnSpPr>
        <p:spPr>
          <a:xfrm flipV="1">
            <a:off x="2805088" y="1063614"/>
            <a:ext cx="0" cy="900000"/>
          </a:xfrm>
          <a:prstGeom prst="line">
            <a:avLst/>
          </a:prstGeom>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7BA73D0B-973B-A54F-B0B6-AB66885F57BE}"/>
              </a:ext>
            </a:extLst>
          </p:cNvPr>
          <p:cNvSpPr/>
          <p:nvPr/>
        </p:nvSpPr>
        <p:spPr>
          <a:xfrm>
            <a:off x="401719" y="1048008"/>
            <a:ext cx="11200992" cy="915606"/>
          </a:xfrm>
          <a:prstGeom prst="rect">
            <a:avLst/>
          </a:prstGeom>
          <a:no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966E4CD1-28A9-6B4E-A315-A6D27E6E3ADD}"/>
              </a:ext>
            </a:extLst>
          </p:cNvPr>
          <p:cNvGrpSpPr/>
          <p:nvPr/>
        </p:nvGrpSpPr>
        <p:grpSpPr>
          <a:xfrm>
            <a:off x="7328703" y="2155026"/>
            <a:ext cx="4240193" cy="1753878"/>
            <a:chOff x="420374" y="3255150"/>
            <a:chExt cx="4240193" cy="1753878"/>
          </a:xfrm>
        </p:grpSpPr>
        <p:grpSp>
          <p:nvGrpSpPr>
            <p:cNvPr id="6" name="Group 5">
              <a:extLst>
                <a:ext uri="{FF2B5EF4-FFF2-40B4-BE49-F238E27FC236}">
                  <a16:creationId xmlns:a16="http://schemas.microsoft.com/office/drawing/2014/main" id="{CAB72B08-74E6-3A43-88A6-0250CF321D45}"/>
                </a:ext>
              </a:extLst>
            </p:cNvPr>
            <p:cNvGrpSpPr/>
            <p:nvPr/>
          </p:nvGrpSpPr>
          <p:grpSpPr>
            <a:xfrm>
              <a:off x="571739" y="3255150"/>
              <a:ext cx="4088828" cy="1608360"/>
              <a:chOff x="4555993" y="487763"/>
              <a:chExt cx="4088828" cy="1608360"/>
            </a:xfrm>
          </p:grpSpPr>
          <mc:AlternateContent xmlns:mc="http://schemas.openxmlformats.org/markup-compatibility/2006" xmlns:a14="http://schemas.microsoft.com/office/drawing/2010/main">
            <mc:Choice Requires="a14">
              <p:sp>
                <p:nvSpPr>
                  <p:cNvPr id="70" name="Rectangle 69">
                    <a:extLst>
                      <a:ext uri="{FF2B5EF4-FFF2-40B4-BE49-F238E27FC236}">
                        <a16:creationId xmlns:a16="http://schemas.microsoft.com/office/drawing/2014/main" id="{78061266-E7F8-6C4D-9108-DAD991E84E92}"/>
                      </a:ext>
                    </a:extLst>
                  </p:cNvPr>
                  <p:cNvSpPr/>
                  <p:nvPr/>
                </p:nvSpPr>
                <p:spPr>
                  <a:xfrm>
                    <a:off x="8179630" y="1572903"/>
                    <a:ext cx="465191"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1</m:t>
                          </m:r>
                        </m:oMath>
                      </m:oMathPara>
                    </a14:m>
                    <a:endParaRPr lang="en-US" sz="2800" dirty="0"/>
                  </a:p>
                </p:txBody>
              </p:sp>
            </mc:Choice>
            <mc:Fallback xmlns="">
              <p:sp>
                <p:nvSpPr>
                  <p:cNvPr id="70" name="Rectangle 69">
                    <a:extLst>
                      <a:ext uri="{FF2B5EF4-FFF2-40B4-BE49-F238E27FC236}">
                        <a16:creationId xmlns:a16="http://schemas.microsoft.com/office/drawing/2014/main" id="{78061266-E7F8-6C4D-9108-DAD991E84E92}"/>
                      </a:ext>
                    </a:extLst>
                  </p:cNvPr>
                  <p:cNvSpPr>
                    <a:spLocks noRot="1" noChangeAspect="1" noMove="1" noResize="1" noEditPoints="1" noAdjustHandles="1" noChangeArrowheads="1" noChangeShapeType="1" noTextEdit="1"/>
                  </p:cNvSpPr>
                  <p:nvPr/>
                </p:nvSpPr>
                <p:spPr>
                  <a:xfrm>
                    <a:off x="8179630" y="1572903"/>
                    <a:ext cx="465191" cy="523220"/>
                  </a:xfrm>
                  <a:prstGeom prst="rect">
                    <a:avLst/>
                  </a:prstGeom>
                  <a:blipFill>
                    <a:blip r:embed="rId7"/>
                    <a:stretch>
                      <a:fillRect/>
                    </a:stretch>
                  </a:blipFill>
                </p:spPr>
                <p:txBody>
                  <a:bodyPr/>
                  <a:lstStyle/>
                  <a:p>
                    <a:r>
                      <a:rPr lang="en-US">
                        <a:noFill/>
                      </a:rPr>
                      <a:t> </a:t>
                    </a:r>
                  </a:p>
                </p:txBody>
              </p:sp>
            </mc:Fallback>
          </mc:AlternateContent>
          <p:grpSp>
            <p:nvGrpSpPr>
              <p:cNvPr id="8" name="Group 7">
                <a:extLst>
                  <a:ext uri="{FF2B5EF4-FFF2-40B4-BE49-F238E27FC236}">
                    <a16:creationId xmlns:a16="http://schemas.microsoft.com/office/drawing/2014/main" id="{17EE5494-DAC5-5C4F-B7E1-2E38DE1DA302}"/>
                  </a:ext>
                </a:extLst>
              </p:cNvPr>
              <p:cNvGrpSpPr/>
              <p:nvPr/>
            </p:nvGrpSpPr>
            <p:grpSpPr>
              <a:xfrm>
                <a:off x="4555993" y="492903"/>
                <a:ext cx="782598" cy="1134521"/>
                <a:chOff x="4273661" y="2789596"/>
                <a:chExt cx="782598" cy="1134521"/>
              </a:xfrm>
            </p:grpSpPr>
            <mc:AlternateContent xmlns:mc="http://schemas.openxmlformats.org/markup-compatibility/2006" xmlns:a14="http://schemas.microsoft.com/office/drawing/2010/main">
              <mc:Choice Requires="a14">
                <p:sp>
                  <p:nvSpPr>
                    <p:cNvPr id="75" name="Rectangle 74">
                      <a:extLst>
                        <a:ext uri="{FF2B5EF4-FFF2-40B4-BE49-F238E27FC236}">
                          <a16:creationId xmlns:a16="http://schemas.microsoft.com/office/drawing/2014/main" id="{46FBBBC3-9665-B440-A0B0-D8A4BFD42C7E}"/>
                        </a:ext>
                      </a:extLst>
                    </p:cNvPr>
                    <p:cNvSpPr/>
                    <p:nvPr/>
                  </p:nvSpPr>
                  <p:spPr>
                    <a:xfrm>
                      <a:off x="4348373" y="3400897"/>
                      <a:ext cx="707886"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i="1" smtClean="0">
                                    <a:latin typeface="Cambria Math" panose="02040503050406030204" pitchFamily="18" charset="0"/>
                                  </a:rPr>
                                </m:ctrlPr>
                              </m:dPr>
                              <m:e>
                                <m:r>
                                  <a:rPr lang="en-US" sz="2800" b="0" i="1" smtClean="0">
                                    <a:latin typeface="Cambria Math" panose="02040503050406030204" pitchFamily="18" charset="0"/>
                                  </a:rPr>
                                  <m:t>1</m:t>
                                </m:r>
                              </m:e>
                            </m:d>
                          </m:oMath>
                        </m:oMathPara>
                      </a14:m>
                      <a:endParaRPr lang="en-US" sz="2800" dirty="0"/>
                    </a:p>
                  </p:txBody>
                </p:sp>
              </mc:Choice>
              <mc:Fallback xmlns="">
                <p:sp>
                  <p:nvSpPr>
                    <p:cNvPr id="75" name="Rectangle 74">
                      <a:extLst>
                        <a:ext uri="{FF2B5EF4-FFF2-40B4-BE49-F238E27FC236}">
                          <a16:creationId xmlns:a16="http://schemas.microsoft.com/office/drawing/2014/main" id="{46FBBBC3-9665-B440-A0B0-D8A4BFD42C7E}"/>
                        </a:ext>
                      </a:extLst>
                    </p:cNvPr>
                    <p:cNvSpPr>
                      <a:spLocks noRot="1" noChangeAspect="1" noMove="1" noResize="1" noEditPoints="1" noAdjustHandles="1" noChangeArrowheads="1" noChangeShapeType="1" noTextEdit="1"/>
                    </p:cNvSpPr>
                    <p:nvPr/>
                  </p:nvSpPr>
                  <p:spPr>
                    <a:xfrm>
                      <a:off x="4348373" y="3400897"/>
                      <a:ext cx="707886" cy="523220"/>
                    </a:xfrm>
                    <a:prstGeom prst="rect">
                      <a:avLst/>
                    </a:prstGeom>
                    <a:blipFill>
                      <a:blip r:embed="rId8"/>
                      <a:stretch>
                        <a:fillRect/>
                      </a:stretch>
                    </a:blipFill>
                  </p:spPr>
                  <p:txBody>
                    <a:bodyPr/>
                    <a:lstStyle/>
                    <a:p>
                      <a:r>
                        <a:rPr lang="en-US">
                          <a:noFill/>
                        </a:rPr>
                        <a:t> </a:t>
                      </a:r>
                    </a:p>
                  </p:txBody>
                </p:sp>
              </mc:Fallback>
            </mc:AlternateContent>
            <p:cxnSp>
              <p:nvCxnSpPr>
                <p:cNvPr id="76" name="Straight Arrow Connector 75">
                  <a:extLst>
                    <a:ext uri="{FF2B5EF4-FFF2-40B4-BE49-F238E27FC236}">
                      <a16:creationId xmlns:a16="http://schemas.microsoft.com/office/drawing/2014/main" id="{76A0D213-FBA2-8F41-A8D3-5908FE92D146}"/>
                    </a:ext>
                  </a:extLst>
                </p:cNvPr>
                <p:cNvCxnSpPr>
                  <a:cxnSpLocks/>
                </p:cNvCxnSpPr>
                <p:nvPr/>
              </p:nvCxnSpPr>
              <p:spPr>
                <a:xfrm rot="16200000">
                  <a:off x="3733661" y="3329596"/>
                  <a:ext cx="1080000" cy="0"/>
                </a:xfrm>
                <a:prstGeom prst="straightConnector1">
                  <a:avLst/>
                </a:prstGeom>
                <a:ln w="63500" cap="rnd">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77" name="Group 76">
                <a:extLst>
                  <a:ext uri="{FF2B5EF4-FFF2-40B4-BE49-F238E27FC236}">
                    <a16:creationId xmlns:a16="http://schemas.microsoft.com/office/drawing/2014/main" id="{31A264C5-C67E-5948-B635-5BBD335FD476}"/>
                  </a:ext>
                </a:extLst>
              </p:cNvPr>
              <p:cNvGrpSpPr/>
              <p:nvPr/>
            </p:nvGrpSpPr>
            <p:grpSpPr>
              <a:xfrm>
                <a:off x="7348716" y="487763"/>
                <a:ext cx="782598" cy="1134521"/>
                <a:chOff x="4273661" y="2789596"/>
                <a:chExt cx="782598" cy="1134521"/>
              </a:xfrm>
            </p:grpSpPr>
            <mc:AlternateContent xmlns:mc="http://schemas.openxmlformats.org/markup-compatibility/2006" xmlns:a14="http://schemas.microsoft.com/office/drawing/2010/main">
              <mc:Choice Requires="a14">
                <p:sp>
                  <p:nvSpPr>
                    <p:cNvPr id="78" name="Rectangle 77">
                      <a:extLst>
                        <a:ext uri="{FF2B5EF4-FFF2-40B4-BE49-F238E27FC236}">
                          <a16:creationId xmlns:a16="http://schemas.microsoft.com/office/drawing/2014/main" id="{F3BD574C-6AE6-3E43-B868-815546DD9AD4}"/>
                        </a:ext>
                      </a:extLst>
                    </p:cNvPr>
                    <p:cNvSpPr/>
                    <p:nvPr/>
                  </p:nvSpPr>
                  <p:spPr>
                    <a:xfrm>
                      <a:off x="4348373" y="3400897"/>
                      <a:ext cx="707886"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i="1" smtClean="0">
                                    <a:latin typeface="Cambria Math" panose="02040503050406030204" pitchFamily="18" charset="0"/>
                                  </a:rPr>
                                </m:ctrlPr>
                              </m:dPr>
                              <m:e>
                                <m:r>
                                  <a:rPr lang="en-US" sz="2800" b="0" i="1" smtClean="0">
                                    <a:latin typeface="Cambria Math" panose="02040503050406030204" pitchFamily="18" charset="0"/>
                                  </a:rPr>
                                  <m:t>1</m:t>
                                </m:r>
                              </m:e>
                            </m:d>
                          </m:oMath>
                        </m:oMathPara>
                      </a14:m>
                      <a:endParaRPr lang="en-US" sz="2800" dirty="0"/>
                    </a:p>
                  </p:txBody>
                </p:sp>
              </mc:Choice>
              <mc:Fallback xmlns="">
                <p:sp>
                  <p:nvSpPr>
                    <p:cNvPr id="78" name="Rectangle 77">
                      <a:extLst>
                        <a:ext uri="{FF2B5EF4-FFF2-40B4-BE49-F238E27FC236}">
                          <a16:creationId xmlns:a16="http://schemas.microsoft.com/office/drawing/2014/main" id="{F3BD574C-6AE6-3E43-B868-815546DD9AD4}"/>
                        </a:ext>
                      </a:extLst>
                    </p:cNvPr>
                    <p:cNvSpPr>
                      <a:spLocks noRot="1" noChangeAspect="1" noMove="1" noResize="1" noEditPoints="1" noAdjustHandles="1" noChangeArrowheads="1" noChangeShapeType="1" noTextEdit="1"/>
                    </p:cNvSpPr>
                    <p:nvPr/>
                  </p:nvSpPr>
                  <p:spPr>
                    <a:xfrm>
                      <a:off x="4348373" y="3400897"/>
                      <a:ext cx="707886" cy="523220"/>
                    </a:xfrm>
                    <a:prstGeom prst="rect">
                      <a:avLst/>
                    </a:prstGeom>
                    <a:blipFill>
                      <a:blip r:embed="rId9"/>
                      <a:stretch>
                        <a:fillRect/>
                      </a:stretch>
                    </a:blipFill>
                  </p:spPr>
                  <p:txBody>
                    <a:bodyPr/>
                    <a:lstStyle/>
                    <a:p>
                      <a:r>
                        <a:rPr lang="en-US">
                          <a:noFill/>
                        </a:rPr>
                        <a:t> </a:t>
                      </a:r>
                    </a:p>
                  </p:txBody>
                </p:sp>
              </mc:Fallback>
            </mc:AlternateContent>
            <p:cxnSp>
              <p:nvCxnSpPr>
                <p:cNvPr id="79" name="Straight Arrow Connector 78">
                  <a:extLst>
                    <a:ext uri="{FF2B5EF4-FFF2-40B4-BE49-F238E27FC236}">
                      <a16:creationId xmlns:a16="http://schemas.microsoft.com/office/drawing/2014/main" id="{5C98829C-99E2-3249-9C2D-2135C76B79C4}"/>
                    </a:ext>
                  </a:extLst>
                </p:cNvPr>
                <p:cNvCxnSpPr>
                  <a:cxnSpLocks/>
                </p:cNvCxnSpPr>
                <p:nvPr/>
              </p:nvCxnSpPr>
              <p:spPr>
                <a:xfrm rot="16200000">
                  <a:off x="3733661" y="3329596"/>
                  <a:ext cx="1080000" cy="0"/>
                </a:xfrm>
                <a:prstGeom prst="straightConnector1">
                  <a:avLst/>
                </a:prstGeom>
                <a:ln w="63500" cap="rnd">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grpSp>
          <p:nvGrpSpPr>
            <p:cNvPr id="53" name="Group 52">
              <a:extLst>
                <a:ext uri="{FF2B5EF4-FFF2-40B4-BE49-F238E27FC236}">
                  <a16:creationId xmlns:a16="http://schemas.microsoft.com/office/drawing/2014/main" id="{CC8E9899-F80E-5148-8A3A-DAD416A25FBF}"/>
                </a:ext>
              </a:extLst>
            </p:cNvPr>
            <p:cNvGrpSpPr/>
            <p:nvPr/>
          </p:nvGrpSpPr>
          <p:grpSpPr>
            <a:xfrm>
              <a:off x="420374" y="4201328"/>
              <a:ext cx="3641631" cy="807700"/>
              <a:chOff x="3607564" y="4062609"/>
              <a:chExt cx="3641631" cy="807700"/>
            </a:xfrm>
          </p:grpSpPr>
          <p:cxnSp>
            <p:nvCxnSpPr>
              <p:cNvPr id="56" name="Straight Connector 55">
                <a:extLst>
                  <a:ext uri="{FF2B5EF4-FFF2-40B4-BE49-F238E27FC236}">
                    <a16:creationId xmlns:a16="http://schemas.microsoft.com/office/drawing/2014/main" id="{E5EE7383-1A75-044E-9F07-791FFB3697DC}"/>
                  </a:ext>
                </a:extLst>
              </p:cNvPr>
              <p:cNvCxnSpPr>
                <a:cxnSpLocks/>
              </p:cNvCxnSpPr>
              <p:nvPr/>
            </p:nvCxnSpPr>
            <p:spPr>
              <a:xfrm>
                <a:off x="3607564" y="4437372"/>
                <a:ext cx="3641631" cy="0"/>
              </a:xfrm>
              <a:prstGeom prst="line">
                <a:avLst/>
              </a:prstGeom>
              <a:ln w="127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grpSp>
            <p:nvGrpSpPr>
              <p:cNvPr id="57" name="Group 56">
                <a:extLst>
                  <a:ext uri="{FF2B5EF4-FFF2-40B4-BE49-F238E27FC236}">
                    <a16:creationId xmlns:a16="http://schemas.microsoft.com/office/drawing/2014/main" id="{F1150F7D-884C-3246-BB10-215EF5326342}"/>
                  </a:ext>
                </a:extLst>
              </p:cNvPr>
              <p:cNvGrpSpPr/>
              <p:nvPr/>
            </p:nvGrpSpPr>
            <p:grpSpPr>
              <a:xfrm>
                <a:off x="5069414" y="4062609"/>
                <a:ext cx="720000" cy="807700"/>
                <a:chOff x="8902649" y="1353231"/>
                <a:chExt cx="720000" cy="807700"/>
              </a:xfrm>
            </p:grpSpPr>
            <p:sp>
              <p:nvSpPr>
                <p:cNvPr id="58" name="Rectangle 57">
                  <a:extLst>
                    <a:ext uri="{FF2B5EF4-FFF2-40B4-BE49-F238E27FC236}">
                      <a16:creationId xmlns:a16="http://schemas.microsoft.com/office/drawing/2014/main" id="{4AC9E1F6-E6EB-1A4D-9C3E-0EED6817C30E}"/>
                    </a:ext>
                  </a:extLst>
                </p:cNvPr>
                <p:cNvSpPr/>
                <p:nvPr/>
              </p:nvSpPr>
              <p:spPr>
                <a:xfrm>
                  <a:off x="8902649" y="1353231"/>
                  <a:ext cx="720000" cy="720000"/>
                </a:xfrm>
                <a:prstGeom prst="rect">
                  <a:avLst/>
                </a:prstGeom>
                <a:solidFill>
                  <a:schemeClr val="bg1">
                    <a:lumMod val="8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 dirty="0">
                    <a:latin typeface="Times" pitchFamily="2" charset="0"/>
                  </a:endParaRPr>
                </a:p>
              </p:txBody>
            </p:sp>
            <p:sp>
              <p:nvSpPr>
                <p:cNvPr id="59" name="Arc 58">
                  <a:extLst>
                    <a:ext uri="{FF2B5EF4-FFF2-40B4-BE49-F238E27FC236}">
                      <a16:creationId xmlns:a16="http://schemas.microsoft.com/office/drawing/2014/main" id="{C931D2FE-AAE4-FB4F-93AB-76AE6F22E082}"/>
                    </a:ext>
                  </a:extLst>
                </p:cNvPr>
                <p:cNvSpPr/>
                <p:nvPr/>
              </p:nvSpPr>
              <p:spPr>
                <a:xfrm>
                  <a:off x="9008649" y="1636523"/>
                  <a:ext cx="508000" cy="524408"/>
                </a:xfrm>
                <a:prstGeom prst="arc">
                  <a:avLst>
                    <a:gd name="adj1" fmla="val 10614695"/>
                    <a:gd name="adj2" fmla="val 0"/>
                  </a:avLst>
                </a:prstGeom>
                <a:ln w="25400" cap="rnd">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61" name="Straight Arrow Connector 60">
                  <a:extLst>
                    <a:ext uri="{FF2B5EF4-FFF2-40B4-BE49-F238E27FC236}">
                      <a16:creationId xmlns:a16="http://schemas.microsoft.com/office/drawing/2014/main" id="{9FA89C8E-E7FC-E046-AA62-0D3B9696AD04}"/>
                    </a:ext>
                  </a:extLst>
                </p:cNvPr>
                <p:cNvCxnSpPr>
                  <a:cxnSpLocks/>
                </p:cNvCxnSpPr>
                <p:nvPr/>
              </p:nvCxnSpPr>
              <p:spPr>
                <a:xfrm flipV="1">
                  <a:off x="9262649" y="1527175"/>
                  <a:ext cx="129001" cy="369690"/>
                </a:xfrm>
                <a:prstGeom prst="straightConnector1">
                  <a:avLst/>
                </a:prstGeom>
                <a:ln w="25400" cap="rnd">
                  <a:solidFill>
                    <a:schemeClr val="tx1">
                      <a:lumMod val="65000"/>
                      <a:lumOff val="35000"/>
                    </a:schemeClr>
                  </a:solidFill>
                  <a:headEnd type="oval" w="sm" len="sm"/>
                  <a:tailEnd type="none"/>
                </a:ln>
              </p:spPr>
              <p:style>
                <a:lnRef idx="1">
                  <a:schemeClr val="accent1"/>
                </a:lnRef>
                <a:fillRef idx="0">
                  <a:schemeClr val="accent1"/>
                </a:fillRef>
                <a:effectRef idx="0">
                  <a:schemeClr val="accent1"/>
                </a:effectRef>
                <a:fontRef idx="minor">
                  <a:schemeClr val="tx1"/>
                </a:fontRef>
              </p:style>
            </p:cxnSp>
          </p:grpSp>
        </p:grpSp>
      </p:grpSp>
      <p:grpSp>
        <p:nvGrpSpPr>
          <p:cNvPr id="13" name="Group 12">
            <a:extLst>
              <a:ext uri="{FF2B5EF4-FFF2-40B4-BE49-F238E27FC236}">
                <a16:creationId xmlns:a16="http://schemas.microsoft.com/office/drawing/2014/main" id="{3108812A-BA68-994B-9798-270FBC1929B8}"/>
              </a:ext>
            </a:extLst>
          </p:cNvPr>
          <p:cNvGrpSpPr/>
          <p:nvPr/>
        </p:nvGrpSpPr>
        <p:grpSpPr>
          <a:xfrm>
            <a:off x="686501" y="4442480"/>
            <a:ext cx="9756630" cy="2194942"/>
            <a:chOff x="686501" y="4442480"/>
            <a:chExt cx="9756630" cy="2194942"/>
          </a:xfrm>
        </p:grpSpPr>
        <mc:AlternateContent xmlns:mc="http://schemas.openxmlformats.org/markup-compatibility/2006" xmlns:a14="http://schemas.microsoft.com/office/drawing/2010/main">
          <mc:Choice Requires="a14">
            <p:sp>
              <p:nvSpPr>
                <p:cNvPr id="41" name="Rectangle 40">
                  <a:extLst>
                    <a:ext uri="{FF2B5EF4-FFF2-40B4-BE49-F238E27FC236}">
                      <a16:creationId xmlns:a16="http://schemas.microsoft.com/office/drawing/2014/main" id="{40070747-57FC-8A47-96F0-08CF09C7D0C1}"/>
                    </a:ext>
                  </a:extLst>
                </p:cNvPr>
                <p:cNvSpPr/>
                <p:nvPr/>
              </p:nvSpPr>
              <p:spPr>
                <a:xfrm>
                  <a:off x="686501" y="4747379"/>
                  <a:ext cx="2519151"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i="1" smtClean="0">
                            <a:latin typeface="Cambria Math" panose="02040503050406030204" pitchFamily="18" charset="0"/>
                          </a:rPr>
                          <m:t>0</m:t>
                        </m:r>
                        <m:r>
                          <a:rPr lang="en-US" sz="2800" b="0" i="1" smtClean="0">
                            <a:latin typeface="Cambria Math" panose="02040503050406030204" pitchFamily="18" charset="0"/>
                          </a:rPr>
                          <m:t>.6</m:t>
                        </m:r>
                        <m:d>
                          <m:dPr>
                            <m:begChr m:val="|"/>
                            <m:endChr m:val="⟩"/>
                            <m:ctrlPr>
                              <a:rPr lang="en-US" sz="2800" i="1" smtClean="0">
                                <a:latin typeface="Cambria Math" panose="02040503050406030204" pitchFamily="18" charset="0"/>
                              </a:rPr>
                            </m:ctrlPr>
                          </m:dPr>
                          <m:e>
                            <m:r>
                              <a:rPr lang="en-US" sz="2800" i="1">
                                <a:latin typeface="Cambria Math" panose="02040503050406030204" pitchFamily="18" charset="0"/>
                              </a:rPr>
                              <m:t>0</m:t>
                            </m:r>
                          </m:e>
                        </m:d>
                        <m:r>
                          <a:rPr lang="en-US" sz="2800" b="0" i="1" smtClean="0">
                            <a:latin typeface="Cambria Math" panose="02040503050406030204" pitchFamily="18" charset="0"/>
                          </a:rPr>
                          <m:t>+0.8</m:t>
                        </m:r>
                        <m:d>
                          <m:dPr>
                            <m:begChr m:val="|"/>
                            <m:endChr m:val="⟩"/>
                            <m:ctrlPr>
                              <a:rPr lang="en-US" sz="2800" i="1">
                                <a:latin typeface="Cambria Math" panose="02040503050406030204" pitchFamily="18" charset="0"/>
                              </a:rPr>
                            </m:ctrlPr>
                          </m:dPr>
                          <m:e>
                            <m:r>
                              <a:rPr lang="en-US" sz="2800" b="0" i="1" smtClean="0">
                                <a:latin typeface="Cambria Math" panose="02040503050406030204" pitchFamily="18" charset="0"/>
                              </a:rPr>
                              <m:t>1</m:t>
                            </m:r>
                          </m:e>
                        </m:d>
                      </m:oMath>
                    </m:oMathPara>
                  </a14:m>
                  <a:endParaRPr lang="en-US" sz="2800" dirty="0"/>
                </a:p>
              </p:txBody>
            </p:sp>
          </mc:Choice>
          <mc:Fallback xmlns="">
            <p:sp>
              <p:nvSpPr>
                <p:cNvPr id="41" name="Rectangle 40">
                  <a:extLst>
                    <a:ext uri="{FF2B5EF4-FFF2-40B4-BE49-F238E27FC236}">
                      <a16:creationId xmlns:a16="http://schemas.microsoft.com/office/drawing/2014/main" id="{40070747-57FC-8A47-96F0-08CF09C7D0C1}"/>
                    </a:ext>
                  </a:extLst>
                </p:cNvPr>
                <p:cNvSpPr>
                  <a:spLocks noRot="1" noChangeAspect="1" noMove="1" noResize="1" noEditPoints="1" noAdjustHandles="1" noChangeArrowheads="1" noChangeShapeType="1" noTextEdit="1"/>
                </p:cNvSpPr>
                <p:nvPr/>
              </p:nvSpPr>
              <p:spPr>
                <a:xfrm>
                  <a:off x="686501" y="4747379"/>
                  <a:ext cx="2519151" cy="523220"/>
                </a:xfrm>
                <a:prstGeom prst="rect">
                  <a:avLst/>
                </a:prstGeom>
                <a:blipFill>
                  <a:blip r:embed="rId10"/>
                  <a:stretch>
                    <a:fillRect/>
                  </a:stretch>
                </a:blipFill>
              </p:spPr>
              <p:txBody>
                <a:bodyPr/>
                <a:lstStyle/>
                <a:p>
                  <a:r>
                    <a:rPr lang="en-US">
                      <a:noFill/>
                    </a:rPr>
                    <a:t> </a:t>
                  </a:r>
                </a:p>
              </p:txBody>
            </p:sp>
          </mc:Fallback>
        </mc:AlternateContent>
        <p:cxnSp>
          <p:nvCxnSpPr>
            <p:cNvPr id="66" name="Straight Arrow Connector 65">
              <a:extLst>
                <a:ext uri="{FF2B5EF4-FFF2-40B4-BE49-F238E27FC236}">
                  <a16:creationId xmlns:a16="http://schemas.microsoft.com/office/drawing/2014/main" id="{F59B4042-4680-8840-B925-44A83012245F}"/>
                </a:ext>
              </a:extLst>
            </p:cNvPr>
            <p:cNvCxnSpPr>
              <a:cxnSpLocks/>
            </p:cNvCxnSpPr>
            <p:nvPr/>
          </p:nvCxnSpPr>
          <p:spPr>
            <a:xfrm flipV="1">
              <a:off x="3142488" y="4442480"/>
              <a:ext cx="447892" cy="912180"/>
            </a:xfrm>
            <a:prstGeom prst="straightConnector1">
              <a:avLst/>
            </a:prstGeom>
            <a:ln w="63500" cap="rnd">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Left Brace 14">
              <a:extLst>
                <a:ext uri="{FF2B5EF4-FFF2-40B4-BE49-F238E27FC236}">
                  <a16:creationId xmlns:a16="http://schemas.microsoft.com/office/drawing/2014/main" id="{44DB095A-E700-DA40-BDD4-C7C45C1D2667}"/>
                </a:ext>
              </a:extLst>
            </p:cNvPr>
            <p:cNvSpPr/>
            <p:nvPr/>
          </p:nvSpPr>
          <p:spPr>
            <a:xfrm>
              <a:off x="6851804" y="4487152"/>
              <a:ext cx="549862" cy="2150270"/>
            </a:xfrm>
            <a:prstGeom prst="leftBrace">
              <a:avLst>
                <a:gd name="adj1" fmla="val 56303"/>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63" name="Rectangle 62">
                  <a:extLst>
                    <a:ext uri="{FF2B5EF4-FFF2-40B4-BE49-F238E27FC236}">
                      <a16:creationId xmlns:a16="http://schemas.microsoft.com/office/drawing/2014/main" id="{016CF109-2CFE-F243-A16B-1E3408D69A29}"/>
                    </a:ext>
                  </a:extLst>
                </p:cNvPr>
                <p:cNvSpPr/>
                <p:nvPr/>
              </p:nvSpPr>
              <p:spPr>
                <a:xfrm>
                  <a:off x="7411203" y="4499708"/>
                  <a:ext cx="707886"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i="1">
                                <a:latin typeface="Cambria Math" panose="02040503050406030204" pitchFamily="18" charset="0"/>
                              </a:rPr>
                            </m:ctrlPr>
                          </m:dPr>
                          <m:e>
                            <m:r>
                              <a:rPr lang="en-US" sz="2800" i="1">
                                <a:latin typeface="Cambria Math" panose="02040503050406030204" pitchFamily="18" charset="0"/>
                              </a:rPr>
                              <m:t>0</m:t>
                            </m:r>
                          </m:e>
                        </m:d>
                      </m:oMath>
                    </m:oMathPara>
                  </a14:m>
                  <a:endParaRPr lang="en-US" sz="2800" dirty="0"/>
                </a:p>
              </p:txBody>
            </p:sp>
          </mc:Choice>
          <mc:Fallback xmlns="">
            <p:sp>
              <p:nvSpPr>
                <p:cNvPr id="63" name="Rectangle 62">
                  <a:extLst>
                    <a:ext uri="{FF2B5EF4-FFF2-40B4-BE49-F238E27FC236}">
                      <a16:creationId xmlns:a16="http://schemas.microsoft.com/office/drawing/2014/main" id="{016CF109-2CFE-F243-A16B-1E3408D69A29}"/>
                    </a:ext>
                  </a:extLst>
                </p:cNvPr>
                <p:cNvSpPr>
                  <a:spLocks noRot="1" noChangeAspect="1" noMove="1" noResize="1" noEditPoints="1" noAdjustHandles="1" noChangeArrowheads="1" noChangeShapeType="1" noTextEdit="1"/>
                </p:cNvSpPr>
                <p:nvPr/>
              </p:nvSpPr>
              <p:spPr>
                <a:xfrm>
                  <a:off x="7411203" y="4499708"/>
                  <a:ext cx="707886" cy="523220"/>
                </a:xfrm>
                <a:prstGeom prst="rect">
                  <a:avLst/>
                </a:prstGeom>
                <a:blipFill>
                  <a:blip r:embed="rId11"/>
                  <a:stretch>
                    <a:fillRect/>
                  </a:stretch>
                </a:blipFill>
              </p:spPr>
              <p:txBody>
                <a:bodyPr/>
                <a:lstStyle/>
                <a:p>
                  <a:r>
                    <a:rPr lang="en-US">
                      <a:noFill/>
                    </a:rPr>
                    <a:t> </a:t>
                  </a:r>
                </a:p>
              </p:txBody>
            </p:sp>
          </mc:Fallback>
        </mc:AlternateContent>
        <p:cxnSp>
          <p:nvCxnSpPr>
            <p:cNvPr id="64" name="Straight Arrow Connector 63">
              <a:extLst>
                <a:ext uri="{FF2B5EF4-FFF2-40B4-BE49-F238E27FC236}">
                  <a16:creationId xmlns:a16="http://schemas.microsoft.com/office/drawing/2014/main" id="{FB8319BF-E8C7-2C4F-8E69-42AA37380A82}"/>
                </a:ext>
              </a:extLst>
            </p:cNvPr>
            <p:cNvCxnSpPr>
              <a:cxnSpLocks/>
            </p:cNvCxnSpPr>
            <p:nvPr/>
          </p:nvCxnSpPr>
          <p:spPr>
            <a:xfrm>
              <a:off x="7558674" y="5146354"/>
              <a:ext cx="1080000" cy="0"/>
            </a:xfrm>
            <a:prstGeom prst="straightConnector1">
              <a:avLst/>
            </a:prstGeom>
            <a:ln w="63500" cap="rnd">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BF85B134-ADAC-2149-AED7-33397FD1254C}"/>
                </a:ext>
              </a:extLst>
            </p:cNvPr>
            <p:cNvSpPr txBox="1"/>
            <p:nvPr/>
          </p:nvSpPr>
          <p:spPr>
            <a:xfrm>
              <a:off x="9285658" y="4792095"/>
              <a:ext cx="1125629" cy="461665"/>
            </a:xfrm>
            <a:prstGeom prst="rect">
              <a:avLst/>
            </a:prstGeom>
            <a:noFill/>
          </p:spPr>
          <p:txBody>
            <a:bodyPr wrap="none" rtlCol="0">
              <a:spAutoFit/>
            </a:bodyPr>
            <a:lstStyle/>
            <a:p>
              <a:r>
                <a:rPr lang="en-US" sz="2400" dirty="0"/>
                <a:t>0 (36%)</a:t>
              </a:r>
            </a:p>
          </p:txBody>
        </p:sp>
        <p:grpSp>
          <p:nvGrpSpPr>
            <p:cNvPr id="80" name="Group 79">
              <a:extLst>
                <a:ext uri="{FF2B5EF4-FFF2-40B4-BE49-F238E27FC236}">
                  <a16:creationId xmlns:a16="http://schemas.microsoft.com/office/drawing/2014/main" id="{FA789971-198B-D047-95B9-0E1BEC7D96C7}"/>
                </a:ext>
              </a:extLst>
            </p:cNvPr>
            <p:cNvGrpSpPr/>
            <p:nvPr/>
          </p:nvGrpSpPr>
          <p:grpSpPr>
            <a:xfrm>
              <a:off x="7766861" y="5522717"/>
              <a:ext cx="784970" cy="1080000"/>
              <a:chOff x="4271289" y="2937507"/>
              <a:chExt cx="784970" cy="1080000"/>
            </a:xfrm>
          </p:grpSpPr>
          <mc:AlternateContent xmlns:mc="http://schemas.openxmlformats.org/markup-compatibility/2006" xmlns:a14="http://schemas.microsoft.com/office/drawing/2010/main">
            <mc:Choice Requires="a14">
              <p:sp>
                <p:nvSpPr>
                  <p:cNvPr id="81" name="Rectangle 80">
                    <a:extLst>
                      <a:ext uri="{FF2B5EF4-FFF2-40B4-BE49-F238E27FC236}">
                        <a16:creationId xmlns:a16="http://schemas.microsoft.com/office/drawing/2014/main" id="{8AB09521-C3E0-034F-A0A2-DA1CB4579DB4}"/>
                      </a:ext>
                    </a:extLst>
                  </p:cNvPr>
                  <p:cNvSpPr/>
                  <p:nvPr/>
                </p:nvSpPr>
                <p:spPr>
                  <a:xfrm>
                    <a:off x="4348373" y="3400897"/>
                    <a:ext cx="707886"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i="1" smtClean="0">
                                  <a:latin typeface="Cambria Math" panose="02040503050406030204" pitchFamily="18" charset="0"/>
                                </a:rPr>
                              </m:ctrlPr>
                            </m:dPr>
                            <m:e>
                              <m:r>
                                <a:rPr lang="en-US" sz="2800" b="0" i="1" smtClean="0">
                                  <a:latin typeface="Cambria Math" panose="02040503050406030204" pitchFamily="18" charset="0"/>
                                </a:rPr>
                                <m:t>1</m:t>
                              </m:r>
                            </m:e>
                          </m:d>
                        </m:oMath>
                      </m:oMathPara>
                    </a14:m>
                    <a:endParaRPr lang="en-US" sz="2800" dirty="0"/>
                  </a:p>
                </p:txBody>
              </p:sp>
            </mc:Choice>
            <mc:Fallback xmlns="">
              <p:sp>
                <p:nvSpPr>
                  <p:cNvPr id="81" name="Rectangle 80">
                    <a:extLst>
                      <a:ext uri="{FF2B5EF4-FFF2-40B4-BE49-F238E27FC236}">
                        <a16:creationId xmlns:a16="http://schemas.microsoft.com/office/drawing/2014/main" id="{8AB09521-C3E0-034F-A0A2-DA1CB4579DB4}"/>
                      </a:ext>
                    </a:extLst>
                  </p:cNvPr>
                  <p:cNvSpPr>
                    <a:spLocks noRot="1" noChangeAspect="1" noMove="1" noResize="1" noEditPoints="1" noAdjustHandles="1" noChangeArrowheads="1" noChangeShapeType="1" noTextEdit="1"/>
                  </p:cNvSpPr>
                  <p:nvPr/>
                </p:nvSpPr>
                <p:spPr>
                  <a:xfrm>
                    <a:off x="4348373" y="3400897"/>
                    <a:ext cx="707886" cy="523220"/>
                  </a:xfrm>
                  <a:prstGeom prst="rect">
                    <a:avLst/>
                  </a:prstGeom>
                  <a:blipFill>
                    <a:blip r:embed="rId13"/>
                    <a:stretch>
                      <a:fillRect/>
                    </a:stretch>
                  </a:blipFill>
                </p:spPr>
                <p:txBody>
                  <a:bodyPr/>
                  <a:lstStyle/>
                  <a:p>
                    <a:r>
                      <a:rPr lang="en-US">
                        <a:noFill/>
                      </a:rPr>
                      <a:t> </a:t>
                    </a:r>
                  </a:p>
                </p:txBody>
              </p:sp>
            </mc:Fallback>
          </mc:AlternateContent>
          <p:cxnSp>
            <p:nvCxnSpPr>
              <p:cNvPr id="82" name="Straight Arrow Connector 81">
                <a:extLst>
                  <a:ext uri="{FF2B5EF4-FFF2-40B4-BE49-F238E27FC236}">
                    <a16:creationId xmlns:a16="http://schemas.microsoft.com/office/drawing/2014/main" id="{E27E99B4-7A9C-B346-86B1-34F757413518}"/>
                  </a:ext>
                </a:extLst>
              </p:cNvPr>
              <p:cNvCxnSpPr>
                <a:cxnSpLocks/>
              </p:cNvCxnSpPr>
              <p:nvPr/>
            </p:nvCxnSpPr>
            <p:spPr>
              <a:xfrm rot="16200000">
                <a:off x="3731289" y="3477507"/>
                <a:ext cx="1080000" cy="0"/>
              </a:xfrm>
              <a:prstGeom prst="straightConnector1">
                <a:avLst/>
              </a:prstGeom>
              <a:ln w="63500" cap="rnd">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sp>
          <p:nvSpPr>
            <p:cNvPr id="84" name="TextBox 83">
              <a:extLst>
                <a:ext uri="{FF2B5EF4-FFF2-40B4-BE49-F238E27FC236}">
                  <a16:creationId xmlns:a16="http://schemas.microsoft.com/office/drawing/2014/main" id="{307D3EB7-D120-9847-92FD-D36B11F0AE95}"/>
                </a:ext>
              </a:extLst>
            </p:cNvPr>
            <p:cNvSpPr txBox="1"/>
            <p:nvPr/>
          </p:nvSpPr>
          <p:spPr>
            <a:xfrm>
              <a:off x="9317502" y="5408881"/>
              <a:ext cx="1125629" cy="461665"/>
            </a:xfrm>
            <a:prstGeom prst="rect">
              <a:avLst/>
            </a:prstGeom>
            <a:noFill/>
          </p:spPr>
          <p:txBody>
            <a:bodyPr wrap="none" rtlCol="0">
              <a:spAutoFit/>
            </a:bodyPr>
            <a:lstStyle/>
            <a:p>
              <a:r>
                <a:rPr lang="en-US" sz="2400" dirty="0"/>
                <a:t>1 (64%)</a:t>
              </a:r>
            </a:p>
          </p:txBody>
        </p:sp>
        <p:cxnSp>
          <p:nvCxnSpPr>
            <p:cNvPr id="17" name="Straight Connector 16">
              <a:extLst>
                <a:ext uri="{FF2B5EF4-FFF2-40B4-BE49-F238E27FC236}">
                  <a16:creationId xmlns:a16="http://schemas.microsoft.com/office/drawing/2014/main" id="{E9692511-125F-8648-8781-D802DA8EB0B1}"/>
                </a:ext>
              </a:extLst>
            </p:cNvPr>
            <p:cNvCxnSpPr>
              <a:cxnSpLocks/>
            </p:cNvCxnSpPr>
            <p:nvPr/>
          </p:nvCxnSpPr>
          <p:spPr>
            <a:xfrm flipV="1">
              <a:off x="7519449" y="5388345"/>
              <a:ext cx="2819269" cy="18702"/>
            </a:xfrm>
            <a:prstGeom prst="line">
              <a:avLst/>
            </a:prstGeom>
            <a:ln>
              <a:prstDash val="dash"/>
            </a:ln>
          </p:spPr>
          <p:style>
            <a:lnRef idx="1">
              <a:schemeClr val="accent1"/>
            </a:lnRef>
            <a:fillRef idx="0">
              <a:schemeClr val="accent1"/>
            </a:fillRef>
            <a:effectRef idx="0">
              <a:schemeClr val="accent1"/>
            </a:effectRef>
            <a:fontRef idx="minor">
              <a:schemeClr val="tx1"/>
            </a:fontRef>
          </p:style>
        </p:cxnSp>
        <p:grpSp>
          <p:nvGrpSpPr>
            <p:cNvPr id="62" name="Group 61">
              <a:extLst>
                <a:ext uri="{FF2B5EF4-FFF2-40B4-BE49-F238E27FC236}">
                  <a16:creationId xmlns:a16="http://schemas.microsoft.com/office/drawing/2014/main" id="{AC6C68B6-FB03-0E43-B3CE-B76BD1E1A2E8}"/>
                </a:ext>
              </a:extLst>
            </p:cNvPr>
            <p:cNvGrpSpPr/>
            <p:nvPr/>
          </p:nvGrpSpPr>
          <p:grpSpPr>
            <a:xfrm>
              <a:off x="2954829" y="5194753"/>
              <a:ext cx="3641631" cy="807700"/>
              <a:chOff x="3607564" y="4062609"/>
              <a:chExt cx="3641631" cy="807700"/>
            </a:xfrm>
          </p:grpSpPr>
          <p:cxnSp>
            <p:nvCxnSpPr>
              <p:cNvPr id="65" name="Straight Connector 64">
                <a:extLst>
                  <a:ext uri="{FF2B5EF4-FFF2-40B4-BE49-F238E27FC236}">
                    <a16:creationId xmlns:a16="http://schemas.microsoft.com/office/drawing/2014/main" id="{44F68181-501E-AE4D-B90D-A40E393F7300}"/>
                  </a:ext>
                </a:extLst>
              </p:cNvPr>
              <p:cNvCxnSpPr>
                <a:cxnSpLocks/>
              </p:cNvCxnSpPr>
              <p:nvPr/>
            </p:nvCxnSpPr>
            <p:spPr>
              <a:xfrm>
                <a:off x="3607564" y="4437372"/>
                <a:ext cx="3641631" cy="0"/>
              </a:xfrm>
              <a:prstGeom prst="line">
                <a:avLst/>
              </a:prstGeom>
              <a:ln w="127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grpSp>
            <p:nvGrpSpPr>
              <p:cNvPr id="67" name="Group 66">
                <a:extLst>
                  <a:ext uri="{FF2B5EF4-FFF2-40B4-BE49-F238E27FC236}">
                    <a16:creationId xmlns:a16="http://schemas.microsoft.com/office/drawing/2014/main" id="{6A9163F7-886F-654E-8EC2-66D9848418D7}"/>
                  </a:ext>
                </a:extLst>
              </p:cNvPr>
              <p:cNvGrpSpPr/>
              <p:nvPr/>
            </p:nvGrpSpPr>
            <p:grpSpPr>
              <a:xfrm>
                <a:off x="5069414" y="4062609"/>
                <a:ext cx="720000" cy="807700"/>
                <a:chOff x="8902649" y="1353231"/>
                <a:chExt cx="720000" cy="807700"/>
              </a:xfrm>
            </p:grpSpPr>
            <p:sp>
              <p:nvSpPr>
                <p:cNvPr id="68" name="Rectangle 67">
                  <a:extLst>
                    <a:ext uri="{FF2B5EF4-FFF2-40B4-BE49-F238E27FC236}">
                      <a16:creationId xmlns:a16="http://schemas.microsoft.com/office/drawing/2014/main" id="{C6639602-8C64-114D-A027-A7F615CCDF06}"/>
                    </a:ext>
                  </a:extLst>
                </p:cNvPr>
                <p:cNvSpPr/>
                <p:nvPr/>
              </p:nvSpPr>
              <p:spPr>
                <a:xfrm>
                  <a:off x="8902649" y="1353231"/>
                  <a:ext cx="720000" cy="720000"/>
                </a:xfrm>
                <a:prstGeom prst="rect">
                  <a:avLst/>
                </a:prstGeom>
                <a:solidFill>
                  <a:schemeClr val="bg1">
                    <a:lumMod val="8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 dirty="0">
                    <a:latin typeface="Times" pitchFamily="2" charset="0"/>
                  </a:endParaRPr>
                </a:p>
              </p:txBody>
            </p:sp>
            <p:sp>
              <p:nvSpPr>
                <p:cNvPr id="69" name="Arc 68">
                  <a:extLst>
                    <a:ext uri="{FF2B5EF4-FFF2-40B4-BE49-F238E27FC236}">
                      <a16:creationId xmlns:a16="http://schemas.microsoft.com/office/drawing/2014/main" id="{5990605D-E12E-1E4F-8427-2705EF4017D0}"/>
                    </a:ext>
                  </a:extLst>
                </p:cNvPr>
                <p:cNvSpPr/>
                <p:nvPr/>
              </p:nvSpPr>
              <p:spPr>
                <a:xfrm>
                  <a:off x="9008649" y="1636523"/>
                  <a:ext cx="508000" cy="524408"/>
                </a:xfrm>
                <a:prstGeom prst="arc">
                  <a:avLst>
                    <a:gd name="adj1" fmla="val 10614695"/>
                    <a:gd name="adj2" fmla="val 0"/>
                  </a:avLst>
                </a:prstGeom>
                <a:ln w="25400" cap="rnd">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71" name="Straight Arrow Connector 70">
                  <a:extLst>
                    <a:ext uri="{FF2B5EF4-FFF2-40B4-BE49-F238E27FC236}">
                      <a16:creationId xmlns:a16="http://schemas.microsoft.com/office/drawing/2014/main" id="{8D8F1211-ABBA-2046-909D-A46F48A9A30A}"/>
                    </a:ext>
                  </a:extLst>
                </p:cNvPr>
                <p:cNvCxnSpPr>
                  <a:cxnSpLocks/>
                </p:cNvCxnSpPr>
                <p:nvPr/>
              </p:nvCxnSpPr>
              <p:spPr>
                <a:xfrm flipV="1">
                  <a:off x="9262649" y="1527175"/>
                  <a:ext cx="129001" cy="369690"/>
                </a:xfrm>
                <a:prstGeom prst="straightConnector1">
                  <a:avLst/>
                </a:prstGeom>
                <a:ln w="25400" cap="rnd">
                  <a:solidFill>
                    <a:schemeClr val="tx1">
                      <a:lumMod val="65000"/>
                      <a:lumOff val="35000"/>
                    </a:schemeClr>
                  </a:solidFill>
                  <a:headEnd type="oval" w="sm" len="sm"/>
                  <a:tailEnd type="none"/>
                </a:ln>
              </p:spPr>
              <p:style>
                <a:lnRef idx="1">
                  <a:schemeClr val="accent1"/>
                </a:lnRef>
                <a:fillRef idx="0">
                  <a:schemeClr val="accent1"/>
                </a:fillRef>
                <a:effectRef idx="0">
                  <a:schemeClr val="accent1"/>
                </a:effectRef>
                <a:fontRef idx="minor">
                  <a:schemeClr val="tx1"/>
                </a:fontRef>
              </p:style>
            </p:cxnSp>
          </p:grpSp>
        </p:grpSp>
      </p:grpSp>
    </p:spTree>
    <p:extLst>
      <p:ext uri="{BB962C8B-B14F-4D97-AF65-F5344CB8AC3E}">
        <p14:creationId xmlns:p14="http://schemas.microsoft.com/office/powerpoint/2010/main" val="682662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dissolv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dissolve">
                                      <p:cBhvr>
                                        <p:cTn id="1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4A04BEE-AE6E-6B49-9AF5-6044F7F3BADA}"/>
              </a:ext>
            </a:extLst>
          </p:cNvPr>
          <p:cNvSpPr>
            <a:spLocks noGrp="1"/>
          </p:cNvSpPr>
          <p:nvPr>
            <p:ph type="sldNum" sz="quarter" idx="12"/>
          </p:nvPr>
        </p:nvSpPr>
        <p:spPr/>
        <p:txBody>
          <a:bodyPr/>
          <a:lstStyle/>
          <a:p>
            <a:fld id="{591A223C-FA10-BC46-A853-03BA373D023C}" type="slidenum">
              <a:rPr lang="en-US" smtClean="0"/>
              <a:t>30</a:t>
            </a:fld>
            <a:endParaRPr lang="en-US"/>
          </a:p>
        </p:txBody>
      </p:sp>
      <p:sp>
        <p:nvSpPr>
          <p:cNvPr id="3" name="Title 2">
            <a:extLst>
              <a:ext uri="{FF2B5EF4-FFF2-40B4-BE49-F238E27FC236}">
                <a16:creationId xmlns:a16="http://schemas.microsoft.com/office/drawing/2014/main" id="{16BC3F94-544F-9140-A6E8-63A691A06276}"/>
              </a:ext>
            </a:extLst>
          </p:cNvPr>
          <p:cNvSpPr>
            <a:spLocks noGrp="1"/>
          </p:cNvSpPr>
          <p:nvPr>
            <p:ph type="title"/>
          </p:nvPr>
        </p:nvSpPr>
        <p:spPr/>
        <p:txBody>
          <a:bodyPr>
            <a:normAutofit/>
          </a:bodyPr>
          <a:lstStyle/>
          <a:p>
            <a:pPr lvl="0"/>
            <a:r>
              <a:rPr lang="en-ZA" b="1" dirty="0"/>
              <a:t>User-defined quantum gates</a:t>
            </a:r>
            <a:endParaRPr lang="en-US" dirty="0"/>
          </a:p>
        </p:txBody>
      </p:sp>
      <p:sp>
        <p:nvSpPr>
          <p:cNvPr id="13" name="Rectangle 12">
            <a:extLst>
              <a:ext uri="{FF2B5EF4-FFF2-40B4-BE49-F238E27FC236}">
                <a16:creationId xmlns:a16="http://schemas.microsoft.com/office/drawing/2014/main" id="{B4C01F1A-B93B-B241-A017-CF6CFB4BFB5E}"/>
              </a:ext>
            </a:extLst>
          </p:cNvPr>
          <p:cNvSpPr/>
          <p:nvPr/>
        </p:nvSpPr>
        <p:spPr>
          <a:xfrm>
            <a:off x="1081790" y="1981651"/>
            <a:ext cx="10028420" cy="1938992"/>
          </a:xfrm>
          <a:prstGeom prst="rect">
            <a:avLst/>
          </a:prstGeom>
        </p:spPr>
        <p:txBody>
          <a:bodyPr wrap="square">
            <a:spAutoFit/>
          </a:bodyPr>
          <a:lstStyle/>
          <a:p>
            <a:r>
              <a:rPr lang="en-US" sz="2400" dirty="0">
                <a:latin typeface="Menlo" panose="020B0609030804020204" pitchFamily="49" charset="0"/>
                <a:ea typeface="Menlo" panose="020B0609030804020204" pitchFamily="49" charset="0"/>
                <a:cs typeface="Menlo" panose="020B0609030804020204" pitchFamily="49" charset="0"/>
              </a:rPr>
              <a:t>gate </a:t>
            </a:r>
            <a:r>
              <a:rPr lang="en-US" sz="2400" dirty="0">
                <a:solidFill>
                  <a:srgbClr val="C00000"/>
                </a:solidFill>
                <a:latin typeface="Menlo" panose="020B0609030804020204" pitchFamily="49" charset="0"/>
                <a:ea typeface="Menlo" panose="020B0609030804020204" pitchFamily="49" charset="0"/>
                <a:cs typeface="Menlo" panose="020B0609030804020204" pitchFamily="49" charset="0"/>
              </a:rPr>
              <a:t>name</a:t>
            </a:r>
            <a:r>
              <a:rPr lang="en-US" sz="2400" dirty="0">
                <a:latin typeface="Menlo" panose="020B0609030804020204" pitchFamily="49" charset="0"/>
                <a:ea typeface="Menlo" panose="020B0609030804020204" pitchFamily="49" charset="0"/>
                <a:cs typeface="Menlo" panose="020B0609030804020204" pitchFamily="49" charset="0"/>
              </a:rPr>
              <a:t> (</a:t>
            </a:r>
            <a:r>
              <a:rPr lang="en-US" sz="2400" dirty="0">
                <a:solidFill>
                  <a:srgbClr val="0070C0"/>
                </a:solidFill>
                <a:latin typeface="Menlo" panose="020B0609030804020204" pitchFamily="49" charset="0"/>
                <a:ea typeface="Menlo" panose="020B0609030804020204" pitchFamily="49" charset="0"/>
                <a:cs typeface="Menlo" panose="020B0609030804020204" pitchFamily="49" charset="0"/>
              </a:rPr>
              <a:t>param_1</a:t>
            </a:r>
            <a:r>
              <a:rPr lang="en-US" sz="2400" dirty="0">
                <a:latin typeface="Menlo" panose="020B0609030804020204" pitchFamily="49" charset="0"/>
                <a:ea typeface="Menlo" panose="020B0609030804020204" pitchFamily="49" charset="0"/>
                <a:cs typeface="Menlo" panose="020B0609030804020204" pitchFamily="49" charset="0"/>
              </a:rPr>
              <a:t>,</a:t>
            </a:r>
            <a:r>
              <a:rPr lang="en-US" sz="2400" dirty="0">
                <a:solidFill>
                  <a:srgbClr val="0070C0"/>
                </a:solidFill>
                <a:latin typeface="Menlo" panose="020B0609030804020204" pitchFamily="49" charset="0"/>
                <a:ea typeface="Menlo" panose="020B0609030804020204" pitchFamily="49" charset="0"/>
                <a:cs typeface="Menlo" panose="020B0609030804020204" pitchFamily="49" charset="0"/>
              </a:rPr>
              <a:t>param_2</a:t>
            </a:r>
            <a:r>
              <a:rPr lang="en-US" sz="2400" dirty="0">
                <a:latin typeface="Menlo" panose="020B0609030804020204" pitchFamily="49" charset="0"/>
                <a:ea typeface="Menlo" panose="020B0609030804020204" pitchFamily="49" charset="0"/>
                <a:cs typeface="Menlo" panose="020B0609030804020204" pitchFamily="49" charset="0"/>
              </a:rPr>
              <a:t>,...) </a:t>
            </a:r>
            <a:r>
              <a:rPr lang="en-US" sz="2400" dirty="0">
                <a:solidFill>
                  <a:schemeClr val="accent4">
                    <a:lumMod val="50000"/>
                  </a:schemeClr>
                </a:solidFill>
                <a:latin typeface="Menlo" panose="020B0609030804020204" pitchFamily="49" charset="0"/>
                <a:ea typeface="Menlo" panose="020B0609030804020204" pitchFamily="49" charset="0"/>
                <a:cs typeface="Menlo" panose="020B0609030804020204" pitchFamily="49" charset="0"/>
              </a:rPr>
              <a:t>qarg_1</a:t>
            </a:r>
            <a:r>
              <a:rPr lang="en-US" sz="2400" dirty="0">
                <a:latin typeface="Menlo" panose="020B0609030804020204" pitchFamily="49" charset="0"/>
                <a:ea typeface="Menlo" panose="020B0609030804020204" pitchFamily="49" charset="0"/>
                <a:cs typeface="Menlo" panose="020B0609030804020204" pitchFamily="49" charset="0"/>
              </a:rPr>
              <a:t>,</a:t>
            </a:r>
            <a:r>
              <a:rPr lang="en-US" sz="2400" dirty="0">
                <a:solidFill>
                  <a:schemeClr val="accent4">
                    <a:lumMod val="50000"/>
                  </a:schemeClr>
                </a:solidFill>
                <a:latin typeface="Menlo" panose="020B0609030804020204" pitchFamily="49" charset="0"/>
                <a:ea typeface="Menlo" panose="020B0609030804020204" pitchFamily="49" charset="0"/>
                <a:cs typeface="Menlo" panose="020B0609030804020204" pitchFamily="49" charset="0"/>
              </a:rPr>
              <a:t>qarg_2</a:t>
            </a:r>
            <a:r>
              <a:rPr lang="en-US" sz="2400" dirty="0">
                <a:latin typeface="Menlo" panose="020B0609030804020204" pitchFamily="49" charset="0"/>
                <a:ea typeface="Menlo" panose="020B0609030804020204" pitchFamily="49" charset="0"/>
                <a:cs typeface="Menlo" panose="020B0609030804020204" pitchFamily="49" charset="0"/>
              </a:rPr>
              <a:t>,... {</a:t>
            </a:r>
          </a:p>
          <a:p>
            <a:endParaRPr lang="en-US" sz="2400" dirty="0">
              <a:latin typeface="Menlo" panose="020B0609030804020204" pitchFamily="49" charset="0"/>
              <a:ea typeface="Menlo" panose="020B0609030804020204" pitchFamily="49" charset="0"/>
              <a:cs typeface="Menlo" panose="020B0609030804020204" pitchFamily="49" charset="0"/>
            </a:endParaRPr>
          </a:p>
          <a:p>
            <a:r>
              <a:rPr lang="en-US" sz="2400" dirty="0">
                <a:latin typeface="Menlo" panose="020B0609030804020204" pitchFamily="49" charset="0"/>
                <a:ea typeface="Menlo" panose="020B0609030804020204" pitchFamily="49" charset="0"/>
                <a:cs typeface="Menlo" panose="020B0609030804020204" pitchFamily="49" charset="0"/>
              </a:rPr>
              <a:t>   // gate instructions</a:t>
            </a:r>
          </a:p>
          <a:p>
            <a:endParaRPr lang="en-US" sz="2400" dirty="0">
              <a:latin typeface="Menlo" panose="020B0609030804020204" pitchFamily="49" charset="0"/>
              <a:ea typeface="Menlo" panose="020B0609030804020204" pitchFamily="49" charset="0"/>
              <a:cs typeface="Menlo" panose="020B0609030804020204" pitchFamily="49" charset="0"/>
            </a:endParaRPr>
          </a:p>
          <a:p>
            <a:r>
              <a:rPr lang="en-US" sz="2400" dirty="0">
                <a:latin typeface="Menlo" panose="020B0609030804020204" pitchFamily="49" charset="0"/>
                <a:ea typeface="Menlo" panose="020B0609030804020204" pitchFamily="49" charset="0"/>
                <a:cs typeface="Menlo" panose="020B0609030804020204" pitchFamily="49" charset="0"/>
              </a:rPr>
              <a:t>}</a:t>
            </a:r>
          </a:p>
        </p:txBody>
      </p:sp>
      <p:sp>
        <p:nvSpPr>
          <p:cNvPr id="14" name="Rectangle 13">
            <a:extLst>
              <a:ext uri="{FF2B5EF4-FFF2-40B4-BE49-F238E27FC236}">
                <a16:creationId xmlns:a16="http://schemas.microsoft.com/office/drawing/2014/main" id="{9C86C4E0-BED4-2041-B0CF-948D6E26E14B}"/>
              </a:ext>
            </a:extLst>
          </p:cNvPr>
          <p:cNvSpPr/>
          <p:nvPr/>
        </p:nvSpPr>
        <p:spPr>
          <a:xfrm>
            <a:off x="333829" y="4511941"/>
            <a:ext cx="11208597" cy="1200329"/>
          </a:xfrm>
          <a:prstGeom prst="rect">
            <a:avLst/>
          </a:prstGeom>
        </p:spPr>
        <p:txBody>
          <a:bodyPr wrap="square">
            <a:spAutoFit/>
          </a:bodyPr>
          <a:lstStyle/>
          <a:p>
            <a:pPr marL="342900" indent="-342900">
              <a:buFont typeface="Arial" panose="020B0604020202020204" pitchFamily="34" charset="0"/>
              <a:buChar char="•"/>
            </a:pPr>
            <a:r>
              <a:rPr lang="en-US" sz="2400" dirty="0">
                <a:solidFill>
                  <a:srgbClr val="C00000"/>
                </a:solidFill>
                <a:latin typeface="Menlo" panose="020B0609030804020204" pitchFamily="49" charset="0"/>
                <a:ea typeface="Menlo" panose="020B0609030804020204" pitchFamily="49" charset="0"/>
                <a:cs typeface="Menlo" panose="020B0609030804020204" pitchFamily="49" charset="0"/>
              </a:rPr>
              <a:t>name</a:t>
            </a:r>
            <a:r>
              <a:rPr lang="en-US" sz="2400" dirty="0"/>
              <a:t> </a:t>
            </a:r>
            <a:r>
              <a:rPr lang="en-ZA" sz="2400" dirty="0"/>
              <a:t>the name of the custom gate</a:t>
            </a:r>
            <a:r>
              <a:rPr lang="en-US" sz="2400" dirty="0"/>
              <a:t>.</a:t>
            </a:r>
          </a:p>
          <a:p>
            <a:pPr marL="342900" indent="-342900">
              <a:buFont typeface="Arial" panose="020B0604020202020204" pitchFamily="34" charset="0"/>
              <a:buChar char="•"/>
            </a:pPr>
            <a:r>
              <a:rPr lang="en-US" sz="2400" dirty="0" err="1">
                <a:solidFill>
                  <a:srgbClr val="0070C0"/>
                </a:solidFill>
                <a:latin typeface="Menlo" panose="020B0609030804020204" pitchFamily="49" charset="0"/>
                <a:ea typeface="Menlo" panose="020B0609030804020204" pitchFamily="49" charset="0"/>
                <a:cs typeface="Menlo" panose="020B0609030804020204" pitchFamily="49" charset="0"/>
              </a:rPr>
              <a:t>param</a:t>
            </a:r>
            <a:r>
              <a:rPr lang="en-US" sz="2400" dirty="0"/>
              <a:t> </a:t>
            </a:r>
            <a:r>
              <a:rPr lang="en-ZA" sz="2400" dirty="0"/>
              <a:t>an optional list of input parameters, such as rotation angles</a:t>
            </a:r>
            <a:r>
              <a:rPr lang="en-US" sz="2400" dirty="0"/>
              <a:t>.</a:t>
            </a:r>
          </a:p>
          <a:p>
            <a:pPr marL="342900" indent="-342900">
              <a:buFont typeface="Arial" panose="020B0604020202020204" pitchFamily="34" charset="0"/>
              <a:buChar char="•"/>
            </a:pPr>
            <a:r>
              <a:rPr lang="en-US" sz="2400" dirty="0" err="1">
                <a:solidFill>
                  <a:schemeClr val="accent4">
                    <a:lumMod val="50000"/>
                  </a:schemeClr>
                </a:solidFill>
                <a:latin typeface="Menlo" panose="020B0609030804020204" pitchFamily="49" charset="0"/>
                <a:ea typeface="Menlo" panose="020B0609030804020204" pitchFamily="49" charset="0"/>
                <a:cs typeface="Menlo" panose="020B0609030804020204" pitchFamily="49" charset="0"/>
              </a:rPr>
              <a:t>qarg</a:t>
            </a:r>
            <a:r>
              <a:rPr lang="en-US" sz="2400" dirty="0"/>
              <a:t> </a:t>
            </a:r>
            <a:r>
              <a:rPr lang="en-ZA" sz="2400" dirty="0"/>
              <a:t>one or more qubits that serve as temporary arguments for the gate operation</a:t>
            </a:r>
            <a:r>
              <a:rPr lang="en-US" sz="2400" dirty="0"/>
              <a:t>.</a:t>
            </a:r>
          </a:p>
        </p:txBody>
      </p:sp>
    </p:spTree>
    <p:extLst>
      <p:ext uri="{BB962C8B-B14F-4D97-AF65-F5344CB8AC3E}">
        <p14:creationId xmlns:p14="http://schemas.microsoft.com/office/powerpoint/2010/main" val="10681871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EA5DAF-5D6F-A943-85E4-A5A0644FD93C}"/>
              </a:ext>
            </a:extLst>
          </p:cNvPr>
          <p:cNvSpPr>
            <a:spLocks noGrp="1"/>
          </p:cNvSpPr>
          <p:nvPr>
            <p:ph type="title"/>
          </p:nvPr>
        </p:nvSpPr>
        <p:spPr>
          <a:xfrm>
            <a:off x="0" y="0"/>
            <a:ext cx="12192000" cy="928688"/>
          </a:xfrm>
        </p:spPr>
        <p:txBody>
          <a:bodyPr/>
          <a:lstStyle/>
          <a:p>
            <a:r>
              <a:rPr lang="en-US" dirty="0"/>
              <a:t>Superconducting Quantum Processing Unit (QPU)</a:t>
            </a:r>
          </a:p>
        </p:txBody>
      </p:sp>
      <p:sp>
        <p:nvSpPr>
          <p:cNvPr id="3" name="Slide Number Placeholder 2">
            <a:extLst>
              <a:ext uri="{FF2B5EF4-FFF2-40B4-BE49-F238E27FC236}">
                <a16:creationId xmlns:a16="http://schemas.microsoft.com/office/drawing/2014/main" id="{CD5BF48C-85B3-EF4A-B3FD-26DB0F063294}"/>
              </a:ext>
            </a:extLst>
          </p:cNvPr>
          <p:cNvSpPr>
            <a:spLocks noGrp="1"/>
          </p:cNvSpPr>
          <p:nvPr>
            <p:ph type="sldNum" sz="quarter" idx="12"/>
          </p:nvPr>
        </p:nvSpPr>
        <p:spPr/>
        <p:txBody>
          <a:bodyPr/>
          <a:lstStyle/>
          <a:p>
            <a:fld id="{591A223C-FA10-BC46-A853-03BA373D023C}" type="slidenum">
              <a:rPr lang="en-US" smtClean="0"/>
              <a:t>31</a:t>
            </a:fld>
            <a:endParaRPr lang="en-US"/>
          </a:p>
        </p:txBody>
      </p:sp>
      <p:pic>
        <p:nvPicPr>
          <p:cNvPr id="4" name="Picture 3">
            <a:extLst>
              <a:ext uri="{FF2B5EF4-FFF2-40B4-BE49-F238E27FC236}">
                <a16:creationId xmlns:a16="http://schemas.microsoft.com/office/drawing/2014/main" id="{5B968943-D610-A749-BBB6-A16C8CE5E133}"/>
              </a:ext>
            </a:extLst>
          </p:cNvPr>
          <p:cNvPicPr>
            <a:picLocks noChangeAspect="1"/>
          </p:cNvPicPr>
          <p:nvPr/>
        </p:nvPicPr>
        <p:blipFill>
          <a:blip r:embed="rId3"/>
          <a:stretch>
            <a:fillRect/>
          </a:stretch>
        </p:blipFill>
        <p:spPr>
          <a:xfrm>
            <a:off x="1017404" y="1466550"/>
            <a:ext cx="4921798" cy="4129785"/>
          </a:xfrm>
          <a:prstGeom prst="rect">
            <a:avLst/>
          </a:prstGeom>
        </p:spPr>
      </p:pic>
      <p:sp>
        <p:nvSpPr>
          <p:cNvPr id="5" name="TextBox 4">
            <a:extLst>
              <a:ext uri="{FF2B5EF4-FFF2-40B4-BE49-F238E27FC236}">
                <a16:creationId xmlns:a16="http://schemas.microsoft.com/office/drawing/2014/main" id="{A2172880-2D4E-AC4A-B902-425CF6EA52F8}"/>
              </a:ext>
            </a:extLst>
          </p:cNvPr>
          <p:cNvSpPr txBox="1"/>
          <p:nvPr/>
        </p:nvSpPr>
        <p:spPr>
          <a:xfrm>
            <a:off x="8589821" y="1923595"/>
            <a:ext cx="2941943" cy="707886"/>
          </a:xfrm>
          <a:prstGeom prst="rect">
            <a:avLst/>
          </a:prstGeom>
          <a:noFill/>
        </p:spPr>
        <p:txBody>
          <a:bodyPr wrap="square" rtlCol="0">
            <a:spAutoFit/>
          </a:bodyPr>
          <a:lstStyle/>
          <a:p>
            <a:pPr algn="ctr"/>
            <a:r>
              <a:rPr lang="en-US" sz="2000" dirty="0">
                <a:latin typeface="+mj-lt"/>
              </a:rPr>
              <a:t>quantum gate:</a:t>
            </a:r>
          </a:p>
          <a:p>
            <a:pPr algn="ctr"/>
            <a:r>
              <a:rPr lang="en-ZA" sz="2000" dirty="0">
                <a:latin typeface="+mj-lt"/>
              </a:rPr>
              <a:t>microwave pulse</a:t>
            </a:r>
            <a:endParaRPr lang="en-US" sz="2000" dirty="0">
              <a:latin typeface="+mj-lt"/>
            </a:endParaRPr>
          </a:p>
        </p:txBody>
      </p:sp>
      <p:pic>
        <p:nvPicPr>
          <p:cNvPr id="11" name="Picture 10">
            <a:extLst>
              <a:ext uri="{FF2B5EF4-FFF2-40B4-BE49-F238E27FC236}">
                <a16:creationId xmlns:a16="http://schemas.microsoft.com/office/drawing/2014/main" id="{0A77D812-F70E-0140-8785-20092AD0BDAA}"/>
              </a:ext>
            </a:extLst>
          </p:cNvPr>
          <p:cNvPicPr>
            <a:picLocks noChangeAspect="1"/>
          </p:cNvPicPr>
          <p:nvPr/>
        </p:nvPicPr>
        <p:blipFill>
          <a:blip r:embed="rId4"/>
          <a:stretch>
            <a:fillRect/>
          </a:stretch>
        </p:blipFill>
        <p:spPr>
          <a:xfrm>
            <a:off x="6762253" y="1823394"/>
            <a:ext cx="1602017" cy="908288"/>
          </a:xfrm>
          <a:prstGeom prst="rect">
            <a:avLst/>
          </a:prstGeom>
        </p:spPr>
      </p:pic>
      <p:cxnSp>
        <p:nvCxnSpPr>
          <p:cNvPr id="14" name="Straight Arrow Connector 13">
            <a:extLst>
              <a:ext uri="{FF2B5EF4-FFF2-40B4-BE49-F238E27FC236}">
                <a16:creationId xmlns:a16="http://schemas.microsoft.com/office/drawing/2014/main" id="{5700E0A2-3F62-3047-8085-8DDA4385312F}"/>
              </a:ext>
            </a:extLst>
          </p:cNvPr>
          <p:cNvCxnSpPr>
            <a:cxnSpLocks/>
          </p:cNvCxnSpPr>
          <p:nvPr/>
        </p:nvCxnSpPr>
        <p:spPr>
          <a:xfrm flipV="1">
            <a:off x="4818415" y="2249278"/>
            <a:ext cx="1718287" cy="284604"/>
          </a:xfrm>
          <a:prstGeom prst="straightConnector1">
            <a:avLst/>
          </a:prstGeom>
          <a:ln w="3810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 name="Straight Arrow Connector 18">
            <a:extLst>
              <a:ext uri="{FF2B5EF4-FFF2-40B4-BE49-F238E27FC236}">
                <a16:creationId xmlns:a16="http://schemas.microsoft.com/office/drawing/2014/main" id="{73C0D6DD-F8C7-F342-A9E9-6B4D11EA7C92}"/>
              </a:ext>
            </a:extLst>
          </p:cNvPr>
          <p:cNvCxnSpPr>
            <a:cxnSpLocks/>
          </p:cNvCxnSpPr>
          <p:nvPr/>
        </p:nvCxnSpPr>
        <p:spPr>
          <a:xfrm>
            <a:off x="3691305" y="5105383"/>
            <a:ext cx="2691648" cy="970508"/>
          </a:xfrm>
          <a:prstGeom prst="straightConnector1">
            <a:avLst/>
          </a:prstGeom>
          <a:ln w="38100" cap="flat" cmpd="sng" algn="ctr">
            <a:solidFill>
              <a:srgbClr val="0432FF"/>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17" name="Group 16">
            <a:extLst>
              <a:ext uri="{FF2B5EF4-FFF2-40B4-BE49-F238E27FC236}">
                <a16:creationId xmlns:a16="http://schemas.microsoft.com/office/drawing/2014/main" id="{E3F8B045-C279-5341-822A-79FD73A67DDA}"/>
              </a:ext>
            </a:extLst>
          </p:cNvPr>
          <p:cNvGrpSpPr/>
          <p:nvPr/>
        </p:nvGrpSpPr>
        <p:grpSpPr>
          <a:xfrm>
            <a:off x="6762253" y="5496653"/>
            <a:ext cx="1065189" cy="1158476"/>
            <a:chOff x="8902649" y="1353231"/>
            <a:chExt cx="720000" cy="807700"/>
          </a:xfrm>
        </p:grpSpPr>
        <p:sp>
          <p:nvSpPr>
            <p:cNvPr id="18" name="Rectangle 17">
              <a:extLst>
                <a:ext uri="{FF2B5EF4-FFF2-40B4-BE49-F238E27FC236}">
                  <a16:creationId xmlns:a16="http://schemas.microsoft.com/office/drawing/2014/main" id="{E51F0CB6-D1E2-FE4C-8733-20CB99FD9B56}"/>
                </a:ext>
              </a:extLst>
            </p:cNvPr>
            <p:cNvSpPr/>
            <p:nvPr/>
          </p:nvSpPr>
          <p:spPr>
            <a:xfrm>
              <a:off x="8902649" y="1353231"/>
              <a:ext cx="720000" cy="720000"/>
            </a:xfrm>
            <a:prstGeom prst="rect">
              <a:avLst/>
            </a:prstGeom>
            <a:solidFill>
              <a:schemeClr val="bg1">
                <a:lumMod val="8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 dirty="0">
                <a:latin typeface="Times" pitchFamily="2" charset="0"/>
              </a:endParaRPr>
            </a:p>
          </p:txBody>
        </p:sp>
        <p:sp>
          <p:nvSpPr>
            <p:cNvPr id="21" name="Arc 20">
              <a:extLst>
                <a:ext uri="{FF2B5EF4-FFF2-40B4-BE49-F238E27FC236}">
                  <a16:creationId xmlns:a16="http://schemas.microsoft.com/office/drawing/2014/main" id="{FECD9C75-698C-E740-9462-E225A92D2A8F}"/>
                </a:ext>
              </a:extLst>
            </p:cNvPr>
            <p:cNvSpPr/>
            <p:nvPr/>
          </p:nvSpPr>
          <p:spPr>
            <a:xfrm>
              <a:off x="9008649" y="1636523"/>
              <a:ext cx="508000" cy="524408"/>
            </a:xfrm>
            <a:prstGeom prst="arc">
              <a:avLst>
                <a:gd name="adj1" fmla="val 10614695"/>
                <a:gd name="adj2" fmla="val 0"/>
              </a:avLst>
            </a:prstGeom>
            <a:ln w="25400" cap="rnd">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22" name="Straight Arrow Connector 21">
              <a:extLst>
                <a:ext uri="{FF2B5EF4-FFF2-40B4-BE49-F238E27FC236}">
                  <a16:creationId xmlns:a16="http://schemas.microsoft.com/office/drawing/2014/main" id="{AE404676-B955-E943-873E-44A3ED56DF99}"/>
                </a:ext>
              </a:extLst>
            </p:cNvPr>
            <p:cNvCxnSpPr>
              <a:cxnSpLocks/>
            </p:cNvCxnSpPr>
            <p:nvPr/>
          </p:nvCxnSpPr>
          <p:spPr>
            <a:xfrm flipV="1">
              <a:off x="9262649" y="1527175"/>
              <a:ext cx="129001" cy="369690"/>
            </a:xfrm>
            <a:prstGeom prst="straightConnector1">
              <a:avLst/>
            </a:prstGeom>
            <a:ln w="25400" cap="rnd">
              <a:solidFill>
                <a:schemeClr val="tx1">
                  <a:lumMod val="65000"/>
                  <a:lumOff val="35000"/>
                </a:schemeClr>
              </a:solidFill>
              <a:headEnd type="oval" w="sm" len="sm"/>
              <a:tailEnd type="none"/>
            </a:ln>
          </p:spPr>
          <p:style>
            <a:lnRef idx="1">
              <a:schemeClr val="accent1"/>
            </a:lnRef>
            <a:fillRef idx="0">
              <a:schemeClr val="accent1"/>
            </a:fillRef>
            <a:effectRef idx="0">
              <a:schemeClr val="accent1"/>
            </a:effectRef>
            <a:fontRef idx="minor">
              <a:schemeClr val="tx1"/>
            </a:fontRef>
          </p:style>
        </p:cxnSp>
      </p:grpSp>
      <p:sp>
        <p:nvSpPr>
          <p:cNvPr id="20" name="TextBox 19">
            <a:extLst>
              <a:ext uri="{FF2B5EF4-FFF2-40B4-BE49-F238E27FC236}">
                <a16:creationId xmlns:a16="http://schemas.microsoft.com/office/drawing/2014/main" id="{B2245899-A23D-E747-8333-A36BE865CDC1}"/>
              </a:ext>
            </a:extLst>
          </p:cNvPr>
          <p:cNvSpPr txBox="1"/>
          <p:nvPr/>
        </p:nvSpPr>
        <p:spPr>
          <a:xfrm>
            <a:off x="8589821" y="5785344"/>
            <a:ext cx="2941943" cy="707886"/>
          </a:xfrm>
          <a:prstGeom prst="rect">
            <a:avLst/>
          </a:prstGeom>
          <a:noFill/>
        </p:spPr>
        <p:txBody>
          <a:bodyPr wrap="square" rtlCol="0">
            <a:spAutoFit/>
          </a:bodyPr>
          <a:lstStyle/>
          <a:p>
            <a:pPr algn="ctr"/>
            <a:r>
              <a:rPr lang="en-US" sz="2000" dirty="0">
                <a:latin typeface="+mj-lt"/>
              </a:rPr>
              <a:t>measuring/</a:t>
            </a:r>
            <a:r>
              <a:rPr lang="en-ZA" sz="2000" dirty="0">
                <a:latin typeface="+mj-lt"/>
              </a:rPr>
              <a:t>readout</a:t>
            </a:r>
            <a:r>
              <a:rPr lang="en-US" sz="2000" dirty="0">
                <a:latin typeface="+mj-lt"/>
              </a:rPr>
              <a:t> resonator</a:t>
            </a:r>
          </a:p>
        </p:txBody>
      </p:sp>
    </p:spTree>
    <p:extLst>
      <p:ext uri="{BB962C8B-B14F-4D97-AF65-F5344CB8AC3E}">
        <p14:creationId xmlns:p14="http://schemas.microsoft.com/office/powerpoint/2010/main" val="345721419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B5EB72E-3B37-6E48-A809-D9D04C0CDEA7}"/>
              </a:ext>
            </a:extLst>
          </p:cNvPr>
          <p:cNvPicPr>
            <a:picLocks noChangeAspect="1"/>
          </p:cNvPicPr>
          <p:nvPr/>
        </p:nvPicPr>
        <p:blipFill>
          <a:blip r:embed="rId3"/>
          <a:stretch>
            <a:fillRect/>
          </a:stretch>
        </p:blipFill>
        <p:spPr>
          <a:xfrm>
            <a:off x="6997700" y="1174668"/>
            <a:ext cx="3941560" cy="4819732"/>
          </a:xfrm>
          <a:prstGeom prst="rect">
            <a:avLst/>
          </a:prstGeom>
        </p:spPr>
      </p:pic>
      <p:sp>
        <p:nvSpPr>
          <p:cNvPr id="9" name="TextBox 8">
            <a:extLst>
              <a:ext uri="{FF2B5EF4-FFF2-40B4-BE49-F238E27FC236}">
                <a16:creationId xmlns:a16="http://schemas.microsoft.com/office/drawing/2014/main" id="{CF4CE3D8-49BE-B84E-A6ED-8813EA0E5C13}"/>
              </a:ext>
            </a:extLst>
          </p:cNvPr>
          <p:cNvSpPr txBox="1"/>
          <p:nvPr/>
        </p:nvSpPr>
        <p:spPr>
          <a:xfrm>
            <a:off x="1204009" y="1174668"/>
            <a:ext cx="4312399" cy="707886"/>
          </a:xfrm>
          <a:prstGeom prst="rect">
            <a:avLst/>
          </a:prstGeom>
          <a:noFill/>
        </p:spPr>
        <p:txBody>
          <a:bodyPr wrap="none" rtlCol="0">
            <a:spAutoFit/>
          </a:bodyPr>
          <a:lstStyle/>
          <a:p>
            <a:pPr algn="ctr"/>
            <a:r>
              <a:rPr lang="en-US" sz="4000" dirty="0">
                <a:latin typeface="Comic Sans MS" panose="030F0902030302020204" pitchFamily="66" charset="0"/>
              </a:rPr>
              <a:t>Two-Qubit Gates</a:t>
            </a:r>
          </a:p>
        </p:txBody>
      </p:sp>
      <p:pic>
        <p:nvPicPr>
          <p:cNvPr id="6" name="Picture 5">
            <a:extLst>
              <a:ext uri="{FF2B5EF4-FFF2-40B4-BE49-F238E27FC236}">
                <a16:creationId xmlns:a16="http://schemas.microsoft.com/office/drawing/2014/main" id="{21A45C65-34CF-1242-9004-B98C97525EB1}"/>
              </a:ext>
            </a:extLst>
          </p:cNvPr>
          <p:cNvPicPr>
            <a:picLocks noChangeAspect="1"/>
          </p:cNvPicPr>
          <p:nvPr/>
        </p:nvPicPr>
        <p:blipFill>
          <a:blip r:embed="rId4"/>
          <a:stretch>
            <a:fillRect/>
          </a:stretch>
        </p:blipFill>
        <p:spPr>
          <a:xfrm>
            <a:off x="5788522" y="2037270"/>
            <a:ext cx="3939699" cy="4820730"/>
          </a:xfrm>
          <a:prstGeom prst="rect">
            <a:avLst/>
          </a:prstGeom>
        </p:spPr>
      </p:pic>
      <p:pic>
        <p:nvPicPr>
          <p:cNvPr id="7" name="Picture 6">
            <a:extLst>
              <a:ext uri="{FF2B5EF4-FFF2-40B4-BE49-F238E27FC236}">
                <a16:creationId xmlns:a16="http://schemas.microsoft.com/office/drawing/2014/main" id="{02088FB7-E174-3E45-A592-3C90720B35BA}"/>
              </a:ext>
            </a:extLst>
          </p:cNvPr>
          <p:cNvPicPr>
            <a:picLocks noChangeAspect="1"/>
          </p:cNvPicPr>
          <p:nvPr/>
        </p:nvPicPr>
        <p:blipFill>
          <a:blip r:embed="rId5"/>
          <a:stretch>
            <a:fillRect/>
          </a:stretch>
        </p:blipFill>
        <p:spPr>
          <a:xfrm flipH="1">
            <a:off x="4197463" y="4231037"/>
            <a:ext cx="2611807" cy="2261838"/>
          </a:xfrm>
          <a:prstGeom prst="rect">
            <a:avLst/>
          </a:prstGeom>
        </p:spPr>
      </p:pic>
      <p:sp>
        <p:nvSpPr>
          <p:cNvPr id="8" name="Slide Number Placeholder 2">
            <a:extLst>
              <a:ext uri="{FF2B5EF4-FFF2-40B4-BE49-F238E27FC236}">
                <a16:creationId xmlns:a16="http://schemas.microsoft.com/office/drawing/2014/main" id="{13CC8627-1659-7B40-BA16-645E57B4A8FA}"/>
              </a:ext>
            </a:extLst>
          </p:cNvPr>
          <p:cNvSpPr>
            <a:spLocks noGrp="1"/>
          </p:cNvSpPr>
          <p:nvPr>
            <p:ph type="sldNum" sz="quarter" idx="12"/>
          </p:nvPr>
        </p:nvSpPr>
        <p:spPr>
          <a:xfrm>
            <a:off x="121919" y="6492875"/>
            <a:ext cx="708020" cy="365125"/>
          </a:xfrm>
        </p:spPr>
        <p:txBody>
          <a:bodyPr/>
          <a:lstStyle/>
          <a:p>
            <a:pPr algn="l"/>
            <a:fld id="{591A223C-FA10-BC46-A853-03BA373D023C}" type="slidenum">
              <a:rPr lang="en-US" smtClean="0"/>
              <a:pPr algn="l"/>
              <a:t>32</a:t>
            </a:fld>
            <a:endParaRPr lang="en-US" dirty="0"/>
          </a:p>
        </p:txBody>
      </p:sp>
    </p:spTree>
    <p:extLst>
      <p:ext uri="{BB962C8B-B14F-4D97-AF65-F5344CB8AC3E}">
        <p14:creationId xmlns:p14="http://schemas.microsoft.com/office/powerpoint/2010/main" val="235159333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0" name="Straight Connector 59">
            <a:extLst>
              <a:ext uri="{FF2B5EF4-FFF2-40B4-BE49-F238E27FC236}">
                <a16:creationId xmlns:a16="http://schemas.microsoft.com/office/drawing/2014/main" id="{A3C0531B-691A-9D46-B3D1-8275C56293C2}"/>
              </a:ext>
            </a:extLst>
          </p:cNvPr>
          <p:cNvCxnSpPr>
            <a:cxnSpLocks/>
          </p:cNvCxnSpPr>
          <p:nvPr/>
        </p:nvCxnSpPr>
        <p:spPr>
          <a:xfrm>
            <a:off x="9318003" y="5250591"/>
            <a:ext cx="1800000" cy="0"/>
          </a:xfrm>
          <a:prstGeom prst="line">
            <a:avLst/>
          </a:prstGeom>
          <a:solidFill>
            <a:schemeClr val="tx1">
              <a:lumMod val="50000"/>
              <a:lumOff val="50000"/>
            </a:schemeClr>
          </a:solidFill>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 name="Slide Number Placeholder 1">
            <a:extLst>
              <a:ext uri="{FF2B5EF4-FFF2-40B4-BE49-F238E27FC236}">
                <a16:creationId xmlns:a16="http://schemas.microsoft.com/office/drawing/2014/main" id="{0A43A51A-6BBB-A44C-B396-79D147EBD03D}"/>
              </a:ext>
            </a:extLst>
          </p:cNvPr>
          <p:cNvSpPr>
            <a:spLocks noGrp="1"/>
          </p:cNvSpPr>
          <p:nvPr>
            <p:ph type="sldNum" sz="quarter" idx="12"/>
          </p:nvPr>
        </p:nvSpPr>
        <p:spPr/>
        <p:txBody>
          <a:bodyPr/>
          <a:lstStyle/>
          <a:p>
            <a:fld id="{591A223C-FA10-BC46-A853-03BA373D023C}" type="slidenum">
              <a:rPr lang="en-US" smtClean="0"/>
              <a:t>33</a:t>
            </a:fld>
            <a:endParaRPr lang="en-US"/>
          </a:p>
        </p:txBody>
      </p:sp>
      <p:sp>
        <p:nvSpPr>
          <p:cNvPr id="58" name="Title 57">
            <a:extLst>
              <a:ext uri="{FF2B5EF4-FFF2-40B4-BE49-F238E27FC236}">
                <a16:creationId xmlns:a16="http://schemas.microsoft.com/office/drawing/2014/main" id="{572BC6E5-73F3-8A42-878F-C8CCD674096C}"/>
              </a:ext>
            </a:extLst>
          </p:cNvPr>
          <p:cNvSpPr>
            <a:spLocks noGrp="1"/>
          </p:cNvSpPr>
          <p:nvPr>
            <p:ph type="title"/>
          </p:nvPr>
        </p:nvSpPr>
        <p:spPr/>
        <p:txBody>
          <a:bodyPr/>
          <a:lstStyle/>
          <a:p>
            <a:r>
              <a:rPr lang="en-ZA" dirty="0"/>
              <a:t>Controlled Gates</a:t>
            </a:r>
            <a:endParaRPr lang="en-US" dirty="0"/>
          </a:p>
        </p:txBody>
      </p:sp>
      <p:grpSp>
        <p:nvGrpSpPr>
          <p:cNvPr id="29" name="Group 28">
            <a:extLst>
              <a:ext uri="{FF2B5EF4-FFF2-40B4-BE49-F238E27FC236}">
                <a16:creationId xmlns:a16="http://schemas.microsoft.com/office/drawing/2014/main" id="{9F43A43A-3D08-4449-8592-635991DE1608}"/>
              </a:ext>
            </a:extLst>
          </p:cNvPr>
          <p:cNvGrpSpPr/>
          <p:nvPr/>
        </p:nvGrpSpPr>
        <p:grpSpPr>
          <a:xfrm>
            <a:off x="553713" y="1037499"/>
            <a:ext cx="898452" cy="3327870"/>
            <a:chOff x="553713" y="1037499"/>
            <a:chExt cx="898452" cy="3327870"/>
          </a:xfrm>
        </p:grpSpPr>
        <p:sp>
          <p:nvSpPr>
            <p:cNvPr id="4" name="Oval 3">
              <a:extLst>
                <a:ext uri="{FF2B5EF4-FFF2-40B4-BE49-F238E27FC236}">
                  <a16:creationId xmlns:a16="http://schemas.microsoft.com/office/drawing/2014/main" id="{5B9C7435-A65B-9F49-9F21-F578CBF1F1B1}"/>
                </a:ext>
              </a:extLst>
            </p:cNvPr>
            <p:cNvSpPr/>
            <p:nvPr/>
          </p:nvSpPr>
          <p:spPr>
            <a:xfrm>
              <a:off x="717343" y="1846014"/>
              <a:ext cx="720000"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sp>
          <p:nvSpPr>
            <p:cNvPr id="5" name="Rectangle 4">
              <a:extLst>
                <a:ext uri="{FF2B5EF4-FFF2-40B4-BE49-F238E27FC236}">
                  <a16:creationId xmlns:a16="http://schemas.microsoft.com/office/drawing/2014/main" id="{F153DE41-76FC-CC40-8257-57863CBBF548}"/>
                </a:ext>
              </a:extLst>
            </p:cNvPr>
            <p:cNvSpPr/>
            <p:nvPr/>
          </p:nvSpPr>
          <p:spPr>
            <a:xfrm>
              <a:off x="717343" y="2758590"/>
              <a:ext cx="720000" cy="720000"/>
            </a:xfrm>
            <a:prstGeom prst="rect">
              <a:avLst/>
            </a:prstGeom>
            <a:solidFill>
              <a:srgbClr val="33B1F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latin typeface="Times" pitchFamily="2" charset="0"/>
                </a:rPr>
                <a:t>Y</a:t>
              </a:r>
            </a:p>
          </p:txBody>
        </p:sp>
        <p:sp>
          <p:nvSpPr>
            <p:cNvPr id="6" name="Rectangle 5">
              <a:extLst>
                <a:ext uri="{FF2B5EF4-FFF2-40B4-BE49-F238E27FC236}">
                  <a16:creationId xmlns:a16="http://schemas.microsoft.com/office/drawing/2014/main" id="{365C265A-B515-AC4D-BC86-64E9B3B7BE67}"/>
                </a:ext>
              </a:extLst>
            </p:cNvPr>
            <p:cNvSpPr/>
            <p:nvPr/>
          </p:nvSpPr>
          <p:spPr>
            <a:xfrm>
              <a:off x="732165" y="3645369"/>
              <a:ext cx="720000" cy="720000"/>
            </a:xfrm>
            <a:prstGeom prst="rect">
              <a:avLst/>
            </a:prstGeom>
            <a:solidFill>
              <a:srgbClr val="33B1F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latin typeface="Times" pitchFamily="2" charset="0"/>
                </a:rPr>
                <a:t>Z</a:t>
              </a:r>
            </a:p>
          </p:txBody>
        </p:sp>
        <p:sp>
          <p:nvSpPr>
            <p:cNvPr id="3" name="TextBox 2">
              <a:extLst>
                <a:ext uri="{FF2B5EF4-FFF2-40B4-BE49-F238E27FC236}">
                  <a16:creationId xmlns:a16="http://schemas.microsoft.com/office/drawing/2014/main" id="{BA4462AC-DC25-2740-A1C2-6FFDF0C1559F}"/>
                </a:ext>
              </a:extLst>
            </p:cNvPr>
            <p:cNvSpPr txBox="1"/>
            <p:nvPr/>
          </p:nvSpPr>
          <p:spPr>
            <a:xfrm>
              <a:off x="553713" y="1037499"/>
              <a:ext cx="787203" cy="461665"/>
            </a:xfrm>
            <a:prstGeom prst="rect">
              <a:avLst/>
            </a:prstGeom>
            <a:noFill/>
          </p:spPr>
          <p:txBody>
            <a:bodyPr wrap="none" rtlCol="0">
              <a:spAutoFit/>
            </a:bodyPr>
            <a:lstStyle/>
            <a:p>
              <a:r>
                <a:rPr lang="en-US" sz="2400" dirty="0"/>
                <a:t>Pauli</a:t>
              </a:r>
            </a:p>
          </p:txBody>
        </p:sp>
      </p:grpSp>
      <p:sp>
        <p:nvSpPr>
          <p:cNvPr id="18" name="Rectangle 17">
            <a:extLst>
              <a:ext uri="{FF2B5EF4-FFF2-40B4-BE49-F238E27FC236}">
                <a16:creationId xmlns:a16="http://schemas.microsoft.com/office/drawing/2014/main" id="{F231256D-BF70-8F4D-A487-BCC0C7E39EBE}"/>
              </a:ext>
            </a:extLst>
          </p:cNvPr>
          <p:cNvSpPr/>
          <p:nvPr/>
        </p:nvSpPr>
        <p:spPr>
          <a:xfrm>
            <a:off x="4107080" y="2709209"/>
            <a:ext cx="720000" cy="720000"/>
          </a:xfrm>
          <a:prstGeom prst="rect">
            <a:avLst/>
          </a:prstGeom>
          <a:solidFill>
            <a:srgbClr val="33B1F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Times" pitchFamily="2" charset="0"/>
              </a:rPr>
              <a:t>S</a:t>
            </a:r>
          </a:p>
        </p:txBody>
      </p:sp>
      <p:sp>
        <p:nvSpPr>
          <p:cNvPr id="19" name="Rectangle 18">
            <a:extLst>
              <a:ext uri="{FF2B5EF4-FFF2-40B4-BE49-F238E27FC236}">
                <a16:creationId xmlns:a16="http://schemas.microsoft.com/office/drawing/2014/main" id="{B3965BAB-2EB9-914B-B56D-B048F0AD6A3E}"/>
              </a:ext>
            </a:extLst>
          </p:cNvPr>
          <p:cNvSpPr/>
          <p:nvPr/>
        </p:nvSpPr>
        <p:spPr>
          <a:xfrm>
            <a:off x="4107080" y="3619900"/>
            <a:ext cx="720000" cy="720000"/>
          </a:xfrm>
          <a:prstGeom prst="rect">
            <a:avLst/>
          </a:prstGeom>
          <a:solidFill>
            <a:srgbClr val="33B1F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Times" pitchFamily="2" charset="0"/>
              </a:rPr>
              <a:t>S</a:t>
            </a:r>
            <a:r>
              <a:rPr lang="en-US" sz="2800" baseline="30000" dirty="0">
                <a:solidFill>
                  <a:schemeClr val="tx1"/>
                </a:solidFill>
                <a:latin typeface="Times" pitchFamily="2" charset="0"/>
              </a:rPr>
              <a:t>†</a:t>
            </a:r>
          </a:p>
        </p:txBody>
      </p:sp>
      <p:sp>
        <p:nvSpPr>
          <p:cNvPr id="20" name="Rectangle 19">
            <a:extLst>
              <a:ext uri="{FF2B5EF4-FFF2-40B4-BE49-F238E27FC236}">
                <a16:creationId xmlns:a16="http://schemas.microsoft.com/office/drawing/2014/main" id="{750445F4-F000-054D-8808-B2180123D1FA}"/>
              </a:ext>
            </a:extLst>
          </p:cNvPr>
          <p:cNvSpPr/>
          <p:nvPr/>
        </p:nvSpPr>
        <p:spPr>
          <a:xfrm>
            <a:off x="4107080" y="4530591"/>
            <a:ext cx="720000" cy="720000"/>
          </a:xfrm>
          <a:prstGeom prst="rect">
            <a:avLst/>
          </a:prstGeom>
          <a:solidFill>
            <a:srgbClr val="33B1F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Times" pitchFamily="2" charset="0"/>
              </a:rPr>
              <a:t>T</a:t>
            </a:r>
          </a:p>
        </p:txBody>
      </p:sp>
      <p:sp>
        <p:nvSpPr>
          <p:cNvPr id="21" name="Rectangle 20">
            <a:extLst>
              <a:ext uri="{FF2B5EF4-FFF2-40B4-BE49-F238E27FC236}">
                <a16:creationId xmlns:a16="http://schemas.microsoft.com/office/drawing/2014/main" id="{32383EA3-AE3C-F643-80C6-41D51435FF08}"/>
              </a:ext>
            </a:extLst>
          </p:cNvPr>
          <p:cNvSpPr/>
          <p:nvPr/>
        </p:nvSpPr>
        <p:spPr>
          <a:xfrm>
            <a:off x="4107080" y="5441281"/>
            <a:ext cx="720000" cy="725217"/>
          </a:xfrm>
          <a:prstGeom prst="rect">
            <a:avLst/>
          </a:prstGeom>
          <a:solidFill>
            <a:srgbClr val="33B1F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Times" pitchFamily="2" charset="0"/>
              </a:rPr>
              <a:t>T</a:t>
            </a:r>
            <a:r>
              <a:rPr lang="en-US" sz="2800" baseline="30000" dirty="0">
                <a:solidFill>
                  <a:schemeClr val="tx1"/>
                </a:solidFill>
                <a:latin typeface="Times" pitchFamily="2" charset="0"/>
              </a:rPr>
              <a:t>†</a:t>
            </a:r>
          </a:p>
        </p:txBody>
      </p:sp>
      <p:sp>
        <p:nvSpPr>
          <p:cNvPr id="22" name="Rectangle 21">
            <a:extLst>
              <a:ext uri="{FF2B5EF4-FFF2-40B4-BE49-F238E27FC236}">
                <a16:creationId xmlns:a16="http://schemas.microsoft.com/office/drawing/2014/main" id="{982C1E62-A56C-2A4D-B7CA-AA74CA274A0E}"/>
              </a:ext>
            </a:extLst>
          </p:cNvPr>
          <p:cNvSpPr/>
          <p:nvPr/>
        </p:nvSpPr>
        <p:spPr>
          <a:xfrm>
            <a:off x="4107080" y="1798518"/>
            <a:ext cx="720000" cy="720000"/>
          </a:xfrm>
          <a:prstGeom prst="rect">
            <a:avLst/>
          </a:prstGeom>
          <a:solidFill>
            <a:srgbClr val="33B1F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Times" pitchFamily="2" charset="0"/>
              </a:rPr>
              <a:t>P</a:t>
            </a:r>
          </a:p>
        </p:txBody>
      </p:sp>
      <p:sp>
        <p:nvSpPr>
          <p:cNvPr id="25" name="TextBox 24">
            <a:extLst>
              <a:ext uri="{FF2B5EF4-FFF2-40B4-BE49-F238E27FC236}">
                <a16:creationId xmlns:a16="http://schemas.microsoft.com/office/drawing/2014/main" id="{CE3E5E71-CCE0-A740-B2C0-E0A6D0F4A2CF}"/>
              </a:ext>
            </a:extLst>
          </p:cNvPr>
          <p:cNvSpPr txBox="1"/>
          <p:nvPr/>
        </p:nvSpPr>
        <p:spPr>
          <a:xfrm>
            <a:off x="3986526" y="1012684"/>
            <a:ext cx="926857" cy="461665"/>
          </a:xfrm>
          <a:prstGeom prst="rect">
            <a:avLst/>
          </a:prstGeom>
          <a:noFill/>
        </p:spPr>
        <p:txBody>
          <a:bodyPr wrap="none" rtlCol="0">
            <a:spAutoFit/>
          </a:bodyPr>
          <a:lstStyle/>
          <a:p>
            <a:r>
              <a:rPr lang="en-US" sz="2400" dirty="0"/>
              <a:t>Phase</a:t>
            </a:r>
          </a:p>
        </p:txBody>
      </p:sp>
      <p:cxnSp>
        <p:nvCxnSpPr>
          <p:cNvPr id="66" name="Straight Connector 65">
            <a:extLst>
              <a:ext uri="{FF2B5EF4-FFF2-40B4-BE49-F238E27FC236}">
                <a16:creationId xmlns:a16="http://schemas.microsoft.com/office/drawing/2014/main" id="{CB325B05-E6EE-8742-ADDF-A236BC5F2DDE}"/>
              </a:ext>
            </a:extLst>
          </p:cNvPr>
          <p:cNvCxnSpPr>
            <a:cxnSpLocks/>
          </p:cNvCxnSpPr>
          <p:nvPr/>
        </p:nvCxnSpPr>
        <p:spPr>
          <a:xfrm>
            <a:off x="331388" y="1582317"/>
            <a:ext cx="6573265" cy="0"/>
          </a:xfrm>
          <a:prstGeom prst="line">
            <a:avLst/>
          </a:prstGeom>
          <a:ln w="50800" cmpd="dbl"/>
        </p:spPr>
        <p:style>
          <a:lnRef idx="1">
            <a:schemeClr val="accent1"/>
          </a:lnRef>
          <a:fillRef idx="0">
            <a:schemeClr val="accent1"/>
          </a:fillRef>
          <a:effectRef idx="0">
            <a:schemeClr val="accent1"/>
          </a:effectRef>
          <a:fontRef idx="minor">
            <a:schemeClr val="tx1"/>
          </a:fontRef>
        </p:style>
      </p:cxnSp>
      <p:grpSp>
        <p:nvGrpSpPr>
          <p:cNvPr id="28" name="Group 27">
            <a:extLst>
              <a:ext uri="{FF2B5EF4-FFF2-40B4-BE49-F238E27FC236}">
                <a16:creationId xmlns:a16="http://schemas.microsoft.com/office/drawing/2014/main" id="{F882F0BB-9887-394D-9260-4EB1CBFBA7AB}"/>
              </a:ext>
            </a:extLst>
          </p:cNvPr>
          <p:cNvGrpSpPr/>
          <p:nvPr/>
        </p:nvGrpSpPr>
        <p:grpSpPr>
          <a:xfrm>
            <a:off x="5612882" y="1001693"/>
            <a:ext cx="960006" cy="5164435"/>
            <a:chOff x="7497643" y="1001693"/>
            <a:chExt cx="960006" cy="5164435"/>
          </a:xfrm>
        </p:grpSpPr>
        <p:sp>
          <p:nvSpPr>
            <p:cNvPr id="7" name="Rectangle 6">
              <a:extLst>
                <a:ext uri="{FF2B5EF4-FFF2-40B4-BE49-F238E27FC236}">
                  <a16:creationId xmlns:a16="http://schemas.microsoft.com/office/drawing/2014/main" id="{D9E6C45F-2BF3-4B43-965F-0CFE8E420219}"/>
                </a:ext>
              </a:extLst>
            </p:cNvPr>
            <p:cNvSpPr/>
            <p:nvPr/>
          </p:nvSpPr>
          <p:spPr>
            <a:xfrm>
              <a:off x="7618516" y="1751291"/>
              <a:ext cx="720000" cy="720000"/>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bg1"/>
                  </a:solidFill>
                  <a:latin typeface="Times" pitchFamily="2" charset="0"/>
                </a:rPr>
                <a:t>I</a:t>
              </a:r>
            </a:p>
          </p:txBody>
        </p:sp>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012A0BDC-C53F-8044-942C-222360CEEC0A}"/>
                    </a:ext>
                  </a:extLst>
                </p:cNvPr>
                <p:cNvSpPr>
                  <a:spLocks noChangeAspect="1"/>
                </p:cNvSpPr>
                <p:nvPr/>
              </p:nvSpPr>
              <p:spPr>
                <a:xfrm>
                  <a:off x="7617646" y="3667127"/>
                  <a:ext cx="720000" cy="720000"/>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ad>
                          <m:radPr>
                            <m:degHide m:val="on"/>
                            <m:ctrlPr>
                              <a:rPr lang="en-US" sz="2800" i="1" smtClean="0">
                                <a:latin typeface="Cambria Math" panose="02040503050406030204" pitchFamily="18" charset="0"/>
                              </a:rPr>
                            </m:ctrlPr>
                          </m:radPr>
                          <m:deg/>
                          <m:e>
                            <m:r>
                              <a:rPr lang="en-US" sz="2800" i="1">
                                <a:latin typeface="Cambria Math" panose="02040503050406030204" pitchFamily="18" charset="0"/>
                              </a:rPr>
                              <m:t>𝑋</m:t>
                            </m:r>
                          </m:e>
                        </m:rad>
                      </m:oMath>
                    </m:oMathPara>
                  </a14:m>
                  <a:endParaRPr lang="en-US" sz="2800" dirty="0">
                    <a:solidFill>
                      <a:schemeClr val="bg1"/>
                    </a:solidFill>
                    <a:latin typeface="Times" pitchFamily="2" charset="0"/>
                  </a:endParaRPr>
                </a:p>
              </p:txBody>
            </p:sp>
          </mc:Choice>
          <mc:Fallback xmlns="">
            <p:sp>
              <p:nvSpPr>
                <p:cNvPr id="12" name="Rectangle 11">
                  <a:extLst>
                    <a:ext uri="{FF2B5EF4-FFF2-40B4-BE49-F238E27FC236}">
                      <a16:creationId xmlns:a16="http://schemas.microsoft.com/office/drawing/2014/main" id="{012A0BDC-C53F-8044-942C-222360CEEC0A}"/>
                    </a:ext>
                  </a:extLst>
                </p:cNvPr>
                <p:cNvSpPr>
                  <a:spLocks noRot="1" noChangeAspect="1" noMove="1" noResize="1" noEditPoints="1" noAdjustHandles="1" noChangeArrowheads="1" noChangeShapeType="1" noTextEdit="1"/>
                </p:cNvSpPr>
                <p:nvPr/>
              </p:nvSpPr>
              <p:spPr>
                <a:xfrm>
                  <a:off x="7617646" y="3667127"/>
                  <a:ext cx="720000" cy="720000"/>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3FE48384-E43E-B946-8354-B5FAC7E0509D}"/>
                    </a:ext>
                  </a:extLst>
                </p:cNvPr>
                <p:cNvSpPr/>
                <p:nvPr/>
              </p:nvSpPr>
              <p:spPr>
                <a:xfrm>
                  <a:off x="7617646" y="4530591"/>
                  <a:ext cx="720000" cy="720000"/>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p>
                          <m:sSupPr>
                            <m:ctrlPr>
                              <a:rPr lang="en-US" sz="2800" i="1" smtClean="0">
                                <a:latin typeface="Cambria Math" panose="02040503050406030204" pitchFamily="18" charset="0"/>
                              </a:rPr>
                            </m:ctrlPr>
                          </m:sSupPr>
                          <m:e>
                            <m:rad>
                              <m:radPr>
                                <m:degHide m:val="on"/>
                                <m:ctrlPr>
                                  <a:rPr lang="en-US" sz="2800" i="1">
                                    <a:latin typeface="Cambria Math" panose="02040503050406030204" pitchFamily="18" charset="0"/>
                                  </a:rPr>
                                </m:ctrlPr>
                              </m:radPr>
                              <m:deg/>
                              <m:e>
                                <m:r>
                                  <a:rPr lang="en-US" sz="2800" i="1">
                                    <a:latin typeface="Cambria Math" panose="02040503050406030204" pitchFamily="18" charset="0"/>
                                  </a:rPr>
                                  <m:t>𝑋</m:t>
                                </m:r>
                              </m:e>
                            </m:rad>
                          </m:e>
                          <m:sup>
                            <m:r>
                              <a:rPr lang="en-US" sz="2800" i="1">
                                <a:latin typeface="Cambria Math" panose="02040503050406030204" pitchFamily="18" charset="0"/>
                              </a:rPr>
                              <m:t>†</m:t>
                            </m:r>
                          </m:sup>
                        </m:sSup>
                      </m:oMath>
                    </m:oMathPara>
                  </a14:m>
                  <a:endParaRPr lang="en-US" sz="2800" dirty="0">
                    <a:solidFill>
                      <a:schemeClr val="bg1"/>
                    </a:solidFill>
                    <a:latin typeface="Times" pitchFamily="2" charset="0"/>
                  </a:endParaRPr>
                </a:p>
              </p:txBody>
            </p:sp>
          </mc:Choice>
          <mc:Fallback xmlns="">
            <p:sp>
              <p:nvSpPr>
                <p:cNvPr id="13" name="Rectangle 12">
                  <a:extLst>
                    <a:ext uri="{FF2B5EF4-FFF2-40B4-BE49-F238E27FC236}">
                      <a16:creationId xmlns:a16="http://schemas.microsoft.com/office/drawing/2014/main" id="{3FE48384-E43E-B946-8354-B5FAC7E0509D}"/>
                    </a:ext>
                  </a:extLst>
                </p:cNvPr>
                <p:cNvSpPr>
                  <a:spLocks noRot="1" noChangeAspect="1" noMove="1" noResize="1" noEditPoints="1" noAdjustHandles="1" noChangeArrowheads="1" noChangeShapeType="1" noTextEdit="1"/>
                </p:cNvSpPr>
                <p:nvPr/>
              </p:nvSpPr>
              <p:spPr>
                <a:xfrm>
                  <a:off x="7617646" y="4530591"/>
                  <a:ext cx="720000" cy="720000"/>
                </a:xfrm>
                <a:prstGeom prst="rect">
                  <a:avLst/>
                </a:prstGeom>
                <a:blipFill>
                  <a:blip r:embed="rId4"/>
                  <a:stretch>
                    <a:fillRect/>
                  </a:stretch>
                </a:blipFill>
              </p:spPr>
              <p:txBody>
                <a:bodyPr/>
                <a:lstStyle/>
                <a:p>
                  <a:r>
                    <a:rPr lang="en-US">
                      <a:noFill/>
                    </a:rPr>
                    <a:t> </a:t>
                  </a:r>
                </a:p>
              </p:txBody>
            </p:sp>
          </mc:Fallback>
        </mc:AlternateContent>
        <p:sp>
          <p:nvSpPr>
            <p:cNvPr id="14" name="Rectangle 13">
              <a:extLst>
                <a:ext uri="{FF2B5EF4-FFF2-40B4-BE49-F238E27FC236}">
                  <a16:creationId xmlns:a16="http://schemas.microsoft.com/office/drawing/2014/main" id="{D50F6C89-A091-634C-B0C3-B00C48D6D6BC}"/>
                </a:ext>
              </a:extLst>
            </p:cNvPr>
            <p:cNvSpPr>
              <a:spLocks noChangeAspect="1"/>
            </p:cNvSpPr>
            <p:nvPr/>
          </p:nvSpPr>
          <p:spPr>
            <a:xfrm>
              <a:off x="7618516" y="2709209"/>
              <a:ext cx="720000" cy="72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H</a:t>
              </a:r>
            </a:p>
          </p:txBody>
        </p:sp>
        <p:sp>
          <p:nvSpPr>
            <p:cNvPr id="23" name="Rectangle 22">
              <a:extLst>
                <a:ext uri="{FF2B5EF4-FFF2-40B4-BE49-F238E27FC236}">
                  <a16:creationId xmlns:a16="http://schemas.microsoft.com/office/drawing/2014/main" id="{4E5686CF-D0D3-F24D-B9CB-7D7E37CEE832}"/>
                </a:ext>
              </a:extLst>
            </p:cNvPr>
            <p:cNvSpPr/>
            <p:nvPr/>
          </p:nvSpPr>
          <p:spPr>
            <a:xfrm>
              <a:off x="7588044" y="5446128"/>
              <a:ext cx="720000" cy="720000"/>
            </a:xfrm>
            <a:prstGeom prst="rect">
              <a:avLst/>
            </a:prstGeom>
            <a:solidFill>
              <a:srgbClr val="9B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bg1"/>
                  </a:solidFill>
                  <a:latin typeface="Times" pitchFamily="2" charset="0"/>
                </a:rPr>
                <a:t>U</a:t>
              </a:r>
            </a:p>
          </p:txBody>
        </p:sp>
        <p:sp>
          <p:nvSpPr>
            <p:cNvPr id="26" name="TextBox 25">
              <a:extLst>
                <a:ext uri="{FF2B5EF4-FFF2-40B4-BE49-F238E27FC236}">
                  <a16:creationId xmlns:a16="http://schemas.microsoft.com/office/drawing/2014/main" id="{6108118C-0F25-0A45-89E0-777381C24A92}"/>
                </a:ext>
              </a:extLst>
            </p:cNvPr>
            <p:cNvSpPr txBox="1"/>
            <p:nvPr/>
          </p:nvSpPr>
          <p:spPr>
            <a:xfrm>
              <a:off x="7497643" y="1001693"/>
              <a:ext cx="960006" cy="461665"/>
            </a:xfrm>
            <a:prstGeom prst="rect">
              <a:avLst/>
            </a:prstGeom>
            <a:noFill/>
          </p:spPr>
          <p:txBody>
            <a:bodyPr wrap="none" rtlCol="0">
              <a:spAutoFit/>
            </a:bodyPr>
            <a:lstStyle/>
            <a:p>
              <a:r>
                <a:rPr lang="en-ZA" sz="2400" dirty="0"/>
                <a:t>Other</a:t>
              </a:r>
              <a:r>
                <a:rPr lang="en-US" sz="2400" dirty="0"/>
                <a:t>.</a:t>
              </a:r>
            </a:p>
          </p:txBody>
        </p:sp>
      </p:grpSp>
      <p:grpSp>
        <p:nvGrpSpPr>
          <p:cNvPr id="16" name="Group 15">
            <a:extLst>
              <a:ext uri="{FF2B5EF4-FFF2-40B4-BE49-F238E27FC236}">
                <a16:creationId xmlns:a16="http://schemas.microsoft.com/office/drawing/2014/main" id="{C3BC9E31-60DF-A444-940E-E312C3FC2117}"/>
              </a:ext>
            </a:extLst>
          </p:cNvPr>
          <p:cNvGrpSpPr/>
          <p:nvPr/>
        </p:nvGrpSpPr>
        <p:grpSpPr>
          <a:xfrm>
            <a:off x="2151664" y="1037611"/>
            <a:ext cx="1247329" cy="3297623"/>
            <a:chOff x="2746791" y="1037611"/>
            <a:chExt cx="1247329" cy="3297623"/>
          </a:xfrm>
        </p:grpSpPr>
        <p:sp>
          <p:nvSpPr>
            <p:cNvPr id="24" name="TextBox 23">
              <a:extLst>
                <a:ext uri="{FF2B5EF4-FFF2-40B4-BE49-F238E27FC236}">
                  <a16:creationId xmlns:a16="http://schemas.microsoft.com/office/drawing/2014/main" id="{E8044956-DCC6-B740-BADC-4E4DCC33FFC4}"/>
                </a:ext>
              </a:extLst>
            </p:cNvPr>
            <p:cNvSpPr txBox="1"/>
            <p:nvPr/>
          </p:nvSpPr>
          <p:spPr>
            <a:xfrm>
              <a:off x="2746791" y="1037611"/>
              <a:ext cx="1247329" cy="461665"/>
            </a:xfrm>
            <a:prstGeom prst="rect">
              <a:avLst/>
            </a:prstGeom>
            <a:noFill/>
          </p:spPr>
          <p:txBody>
            <a:bodyPr wrap="none" rtlCol="0">
              <a:spAutoFit/>
            </a:bodyPr>
            <a:lstStyle/>
            <a:p>
              <a:r>
                <a:rPr lang="en-US" sz="2400" dirty="0"/>
                <a:t>Rotation</a:t>
              </a:r>
            </a:p>
          </p:txBody>
        </p:sp>
        <p:sp>
          <p:nvSpPr>
            <p:cNvPr id="49" name="Rectangle 48">
              <a:extLst>
                <a:ext uri="{FF2B5EF4-FFF2-40B4-BE49-F238E27FC236}">
                  <a16:creationId xmlns:a16="http://schemas.microsoft.com/office/drawing/2014/main" id="{2645823A-D9E5-EB40-A8B0-B4BF0721E8F0}"/>
                </a:ext>
              </a:extLst>
            </p:cNvPr>
            <p:cNvSpPr/>
            <p:nvPr/>
          </p:nvSpPr>
          <p:spPr>
            <a:xfrm>
              <a:off x="2972680" y="1808919"/>
              <a:ext cx="720000" cy="720000"/>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RX</a:t>
              </a:r>
            </a:p>
          </p:txBody>
        </p:sp>
        <p:sp>
          <p:nvSpPr>
            <p:cNvPr id="51" name="Rectangle 50">
              <a:extLst>
                <a:ext uri="{FF2B5EF4-FFF2-40B4-BE49-F238E27FC236}">
                  <a16:creationId xmlns:a16="http://schemas.microsoft.com/office/drawing/2014/main" id="{95DEF44E-11A0-D14B-9A4F-B52DC8846D07}"/>
                </a:ext>
              </a:extLst>
            </p:cNvPr>
            <p:cNvSpPr/>
            <p:nvPr/>
          </p:nvSpPr>
          <p:spPr>
            <a:xfrm>
              <a:off x="2972680" y="2709209"/>
              <a:ext cx="720000" cy="720000"/>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RY</a:t>
              </a:r>
            </a:p>
          </p:txBody>
        </p:sp>
        <p:sp>
          <p:nvSpPr>
            <p:cNvPr id="52" name="Rectangle 51">
              <a:extLst>
                <a:ext uri="{FF2B5EF4-FFF2-40B4-BE49-F238E27FC236}">
                  <a16:creationId xmlns:a16="http://schemas.microsoft.com/office/drawing/2014/main" id="{44F75C9F-C18B-464D-87FC-3A08A1341DDF}"/>
                </a:ext>
              </a:extLst>
            </p:cNvPr>
            <p:cNvSpPr/>
            <p:nvPr/>
          </p:nvSpPr>
          <p:spPr>
            <a:xfrm>
              <a:off x="2932013" y="3615234"/>
              <a:ext cx="720000" cy="720000"/>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RZ</a:t>
              </a:r>
            </a:p>
          </p:txBody>
        </p:sp>
      </p:grpSp>
      <p:sp>
        <p:nvSpPr>
          <p:cNvPr id="31" name="Rectangle 30">
            <a:extLst>
              <a:ext uri="{FF2B5EF4-FFF2-40B4-BE49-F238E27FC236}">
                <a16:creationId xmlns:a16="http://schemas.microsoft.com/office/drawing/2014/main" id="{4394C82A-63C0-404C-A0E1-983C3C19EDDA}"/>
              </a:ext>
            </a:extLst>
          </p:cNvPr>
          <p:cNvSpPr/>
          <p:nvPr/>
        </p:nvSpPr>
        <p:spPr>
          <a:xfrm>
            <a:off x="9804003" y="4800591"/>
            <a:ext cx="900000" cy="900000"/>
          </a:xfrm>
          <a:prstGeom prst="rect">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0" name="Group 39">
            <a:extLst>
              <a:ext uri="{FF2B5EF4-FFF2-40B4-BE49-F238E27FC236}">
                <a16:creationId xmlns:a16="http://schemas.microsoft.com/office/drawing/2014/main" id="{A8A9B211-BF4D-7E4A-8008-8AE46F73F22F}"/>
              </a:ext>
            </a:extLst>
          </p:cNvPr>
          <p:cNvGrpSpPr/>
          <p:nvPr/>
        </p:nvGrpSpPr>
        <p:grpSpPr>
          <a:xfrm>
            <a:off x="9354003" y="3757396"/>
            <a:ext cx="1800000" cy="360000"/>
            <a:chOff x="8998800" y="4207396"/>
            <a:chExt cx="1800000" cy="360000"/>
          </a:xfrm>
        </p:grpSpPr>
        <p:cxnSp>
          <p:nvCxnSpPr>
            <p:cNvPr id="34" name="Straight Connector 33">
              <a:extLst>
                <a:ext uri="{FF2B5EF4-FFF2-40B4-BE49-F238E27FC236}">
                  <a16:creationId xmlns:a16="http://schemas.microsoft.com/office/drawing/2014/main" id="{65C494E2-D962-2D4F-8F7B-59068D7EB7B7}"/>
                </a:ext>
              </a:extLst>
            </p:cNvPr>
            <p:cNvCxnSpPr>
              <a:cxnSpLocks/>
            </p:cNvCxnSpPr>
            <p:nvPr/>
          </p:nvCxnSpPr>
          <p:spPr>
            <a:xfrm>
              <a:off x="8998800" y="4402786"/>
              <a:ext cx="180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6" name="Oval 35">
              <a:extLst>
                <a:ext uri="{FF2B5EF4-FFF2-40B4-BE49-F238E27FC236}">
                  <a16:creationId xmlns:a16="http://schemas.microsoft.com/office/drawing/2014/main" id="{1EC4D3BF-4BC1-8948-B280-D4C2B0A571E7}"/>
                </a:ext>
              </a:extLst>
            </p:cNvPr>
            <p:cNvSpPr/>
            <p:nvPr/>
          </p:nvSpPr>
          <p:spPr>
            <a:xfrm>
              <a:off x="9718800" y="4207396"/>
              <a:ext cx="360000" cy="360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38" name="Straight Connector 37">
            <a:extLst>
              <a:ext uri="{FF2B5EF4-FFF2-40B4-BE49-F238E27FC236}">
                <a16:creationId xmlns:a16="http://schemas.microsoft.com/office/drawing/2014/main" id="{CADFF57B-EC87-5D4F-91FE-2FA1028889FF}"/>
              </a:ext>
            </a:extLst>
          </p:cNvPr>
          <p:cNvCxnSpPr>
            <a:cxnSpLocks/>
            <a:stCxn id="31" idx="0"/>
          </p:cNvCxnSpPr>
          <p:nvPr/>
        </p:nvCxnSpPr>
        <p:spPr>
          <a:xfrm flipV="1">
            <a:off x="10254003" y="3092208"/>
            <a:ext cx="0" cy="1708383"/>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ED97D8E3-F6C4-7C49-82D4-84718513A114}"/>
              </a:ext>
            </a:extLst>
          </p:cNvPr>
          <p:cNvCxnSpPr>
            <a:cxnSpLocks/>
          </p:cNvCxnSpPr>
          <p:nvPr/>
        </p:nvCxnSpPr>
        <p:spPr>
          <a:xfrm>
            <a:off x="9354003" y="3412572"/>
            <a:ext cx="1800000" cy="0"/>
          </a:xfrm>
          <a:prstGeom prst="line">
            <a:avLst/>
          </a:prstGeom>
          <a:solidFill>
            <a:schemeClr val="bg1">
              <a:lumMod val="50000"/>
            </a:schemeClr>
          </a:solidFill>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50" name="Oval 49">
            <a:extLst>
              <a:ext uri="{FF2B5EF4-FFF2-40B4-BE49-F238E27FC236}">
                <a16:creationId xmlns:a16="http://schemas.microsoft.com/office/drawing/2014/main" id="{FE468F03-0CC7-A342-85FD-AD65635EF542}"/>
              </a:ext>
            </a:extLst>
          </p:cNvPr>
          <p:cNvSpPr/>
          <p:nvPr/>
        </p:nvSpPr>
        <p:spPr>
          <a:xfrm>
            <a:off x="10074003" y="3217182"/>
            <a:ext cx="360000" cy="360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4" name="Straight Connector 53">
            <a:extLst>
              <a:ext uri="{FF2B5EF4-FFF2-40B4-BE49-F238E27FC236}">
                <a16:creationId xmlns:a16="http://schemas.microsoft.com/office/drawing/2014/main" id="{53075498-F839-8D47-A1C9-DB806C74A508}"/>
              </a:ext>
            </a:extLst>
          </p:cNvPr>
          <p:cNvCxnSpPr>
            <a:cxnSpLocks/>
          </p:cNvCxnSpPr>
          <p:nvPr/>
        </p:nvCxnSpPr>
        <p:spPr>
          <a:xfrm>
            <a:off x="9354003" y="2105057"/>
            <a:ext cx="1800000" cy="0"/>
          </a:xfrm>
          <a:prstGeom prst="line">
            <a:avLst/>
          </a:prstGeom>
          <a:solidFill>
            <a:schemeClr val="tx1">
              <a:lumMod val="50000"/>
              <a:lumOff val="50000"/>
            </a:schemeClr>
          </a:solidFill>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55" name="Oval 54">
            <a:extLst>
              <a:ext uri="{FF2B5EF4-FFF2-40B4-BE49-F238E27FC236}">
                <a16:creationId xmlns:a16="http://schemas.microsoft.com/office/drawing/2014/main" id="{7513A4B9-A515-D145-ADDB-CA5966928F7B}"/>
              </a:ext>
            </a:extLst>
          </p:cNvPr>
          <p:cNvSpPr/>
          <p:nvPr/>
        </p:nvSpPr>
        <p:spPr>
          <a:xfrm>
            <a:off x="10074003" y="1909667"/>
            <a:ext cx="360000" cy="360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a:extLst>
              <a:ext uri="{FF2B5EF4-FFF2-40B4-BE49-F238E27FC236}">
                <a16:creationId xmlns:a16="http://schemas.microsoft.com/office/drawing/2014/main" id="{6B2F47CA-33B5-0C40-A5A3-02FED7107BC9}"/>
              </a:ext>
            </a:extLst>
          </p:cNvPr>
          <p:cNvSpPr/>
          <p:nvPr/>
        </p:nvSpPr>
        <p:spPr>
          <a:xfrm>
            <a:off x="10218003" y="2461987"/>
            <a:ext cx="72000" cy="72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A077DD37-2694-E448-9177-AA639EFA9227}"/>
              </a:ext>
            </a:extLst>
          </p:cNvPr>
          <p:cNvSpPr/>
          <p:nvPr/>
        </p:nvSpPr>
        <p:spPr>
          <a:xfrm>
            <a:off x="10218003" y="2693639"/>
            <a:ext cx="72000" cy="72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Oval 58">
            <a:extLst>
              <a:ext uri="{FF2B5EF4-FFF2-40B4-BE49-F238E27FC236}">
                <a16:creationId xmlns:a16="http://schemas.microsoft.com/office/drawing/2014/main" id="{E2E3D987-B6A5-7A45-B867-A43A3C1DE43F}"/>
              </a:ext>
            </a:extLst>
          </p:cNvPr>
          <p:cNvSpPr/>
          <p:nvPr/>
        </p:nvSpPr>
        <p:spPr>
          <a:xfrm>
            <a:off x="10218003" y="2925291"/>
            <a:ext cx="72000" cy="72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FB3B3D0C-1E46-7949-A13B-195F933E5FCF}"/>
              </a:ext>
            </a:extLst>
          </p:cNvPr>
          <p:cNvSpPr txBox="1"/>
          <p:nvPr/>
        </p:nvSpPr>
        <p:spPr>
          <a:xfrm>
            <a:off x="8243021" y="1095507"/>
            <a:ext cx="1790875" cy="461665"/>
          </a:xfrm>
          <a:prstGeom prst="rect">
            <a:avLst/>
          </a:prstGeom>
          <a:noFill/>
        </p:spPr>
        <p:txBody>
          <a:bodyPr wrap="none" rtlCol="0">
            <a:spAutoFit/>
          </a:bodyPr>
          <a:lstStyle/>
          <a:p>
            <a:r>
              <a:rPr lang="en-US" sz="2400" dirty="0">
                <a:latin typeface="Comic Sans MS" panose="030F0902030302020204" pitchFamily="66" charset="0"/>
              </a:rPr>
              <a:t>control (</a:t>
            </a:r>
            <a:r>
              <a:rPr lang="en-US" sz="2400" dirty="0" err="1">
                <a:latin typeface="Comic Sans MS" panose="030F0902030302020204" pitchFamily="66" charset="0"/>
              </a:rPr>
              <a:t>c</a:t>
            </a:r>
            <a:r>
              <a:rPr lang="en-US" sz="2400" baseline="-25000" dirty="0" err="1">
                <a:latin typeface="Comic Sans MS" panose="030F0902030302020204" pitchFamily="66" charset="0"/>
              </a:rPr>
              <a:t>k</a:t>
            </a:r>
            <a:r>
              <a:rPr lang="en-US" sz="2400" dirty="0">
                <a:latin typeface="Comic Sans MS" panose="030F0902030302020204" pitchFamily="66" charset="0"/>
              </a:rPr>
              <a:t>)</a:t>
            </a:r>
          </a:p>
        </p:txBody>
      </p:sp>
      <p:sp>
        <p:nvSpPr>
          <p:cNvPr id="42" name="Freeform 41">
            <a:extLst>
              <a:ext uri="{FF2B5EF4-FFF2-40B4-BE49-F238E27FC236}">
                <a16:creationId xmlns:a16="http://schemas.microsoft.com/office/drawing/2014/main" id="{C4FCF579-5177-B44C-966C-4FD9A2BA1AEA}"/>
              </a:ext>
            </a:extLst>
          </p:cNvPr>
          <p:cNvSpPr/>
          <p:nvPr/>
        </p:nvSpPr>
        <p:spPr>
          <a:xfrm>
            <a:off x="8947043" y="1558246"/>
            <a:ext cx="585216" cy="402336"/>
          </a:xfrm>
          <a:custGeom>
            <a:avLst/>
            <a:gdLst>
              <a:gd name="connsiteX0" fmla="*/ 0 w 585216"/>
              <a:gd name="connsiteY0" fmla="*/ 0 h 402336"/>
              <a:gd name="connsiteX1" fmla="*/ 347472 w 585216"/>
              <a:gd name="connsiteY1" fmla="*/ 146304 h 402336"/>
              <a:gd name="connsiteX2" fmla="*/ 585216 w 585216"/>
              <a:gd name="connsiteY2" fmla="*/ 402336 h 402336"/>
            </a:gdLst>
            <a:ahLst/>
            <a:cxnLst>
              <a:cxn ang="0">
                <a:pos x="connsiteX0" y="connsiteY0"/>
              </a:cxn>
              <a:cxn ang="0">
                <a:pos x="connsiteX1" y="connsiteY1"/>
              </a:cxn>
              <a:cxn ang="0">
                <a:pos x="connsiteX2" y="connsiteY2"/>
              </a:cxn>
            </a:cxnLst>
            <a:rect l="l" t="t" r="r" b="b"/>
            <a:pathLst>
              <a:path w="585216" h="402336">
                <a:moveTo>
                  <a:pt x="0" y="0"/>
                </a:moveTo>
                <a:cubicBezTo>
                  <a:pt x="124968" y="39624"/>
                  <a:pt x="249936" y="79248"/>
                  <a:pt x="347472" y="146304"/>
                </a:cubicBezTo>
                <a:cubicBezTo>
                  <a:pt x="445008" y="213360"/>
                  <a:pt x="515112" y="307848"/>
                  <a:pt x="585216" y="402336"/>
                </a:cubicBezTo>
              </a:path>
            </a:pathLst>
          </a:custGeom>
          <a:noFill/>
          <a:ln w="38100">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TextBox 60">
            <a:extLst>
              <a:ext uri="{FF2B5EF4-FFF2-40B4-BE49-F238E27FC236}">
                <a16:creationId xmlns:a16="http://schemas.microsoft.com/office/drawing/2014/main" id="{6DA3EA62-308A-A44F-838F-F01640059F18}"/>
              </a:ext>
            </a:extLst>
          </p:cNvPr>
          <p:cNvSpPr txBox="1"/>
          <p:nvPr/>
        </p:nvSpPr>
        <p:spPr>
          <a:xfrm>
            <a:off x="8291110" y="5952661"/>
            <a:ext cx="1569660" cy="461665"/>
          </a:xfrm>
          <a:prstGeom prst="rect">
            <a:avLst/>
          </a:prstGeom>
          <a:noFill/>
        </p:spPr>
        <p:txBody>
          <a:bodyPr wrap="none" rtlCol="0">
            <a:spAutoFit/>
          </a:bodyPr>
          <a:lstStyle/>
          <a:p>
            <a:r>
              <a:rPr lang="en-US" sz="2400" dirty="0">
                <a:latin typeface="Comic Sans MS" panose="030F0902030302020204" pitchFamily="66" charset="0"/>
              </a:rPr>
              <a:t>target (t)</a:t>
            </a:r>
          </a:p>
        </p:txBody>
      </p:sp>
      <p:sp>
        <p:nvSpPr>
          <p:cNvPr id="62" name="Freeform 61">
            <a:extLst>
              <a:ext uri="{FF2B5EF4-FFF2-40B4-BE49-F238E27FC236}">
                <a16:creationId xmlns:a16="http://schemas.microsoft.com/office/drawing/2014/main" id="{465986B8-374E-F141-83D4-1AB1D357E0C9}"/>
              </a:ext>
            </a:extLst>
          </p:cNvPr>
          <p:cNvSpPr/>
          <p:nvPr/>
        </p:nvSpPr>
        <p:spPr>
          <a:xfrm flipV="1">
            <a:off x="8947043" y="5439196"/>
            <a:ext cx="585216" cy="402336"/>
          </a:xfrm>
          <a:custGeom>
            <a:avLst/>
            <a:gdLst>
              <a:gd name="connsiteX0" fmla="*/ 0 w 585216"/>
              <a:gd name="connsiteY0" fmla="*/ 0 h 402336"/>
              <a:gd name="connsiteX1" fmla="*/ 347472 w 585216"/>
              <a:gd name="connsiteY1" fmla="*/ 146304 h 402336"/>
              <a:gd name="connsiteX2" fmla="*/ 585216 w 585216"/>
              <a:gd name="connsiteY2" fmla="*/ 402336 h 402336"/>
            </a:gdLst>
            <a:ahLst/>
            <a:cxnLst>
              <a:cxn ang="0">
                <a:pos x="connsiteX0" y="connsiteY0"/>
              </a:cxn>
              <a:cxn ang="0">
                <a:pos x="connsiteX1" y="connsiteY1"/>
              </a:cxn>
              <a:cxn ang="0">
                <a:pos x="connsiteX2" y="connsiteY2"/>
              </a:cxn>
            </a:cxnLst>
            <a:rect l="l" t="t" r="r" b="b"/>
            <a:pathLst>
              <a:path w="585216" h="402336">
                <a:moveTo>
                  <a:pt x="0" y="0"/>
                </a:moveTo>
                <a:cubicBezTo>
                  <a:pt x="124968" y="39624"/>
                  <a:pt x="249936" y="79248"/>
                  <a:pt x="347472" y="146304"/>
                </a:cubicBezTo>
                <a:cubicBezTo>
                  <a:pt x="445008" y="213360"/>
                  <a:pt x="515112" y="307848"/>
                  <a:pt x="585216" y="402336"/>
                </a:cubicBezTo>
              </a:path>
            </a:pathLst>
          </a:custGeom>
          <a:noFill/>
          <a:ln w="38100">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5260262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07A2ACEA-7F36-6F4B-9927-6A27C55F1D95}"/>
              </a:ext>
            </a:extLst>
          </p:cNvPr>
          <p:cNvCxnSpPr>
            <a:cxnSpLocks/>
          </p:cNvCxnSpPr>
          <p:nvPr/>
        </p:nvCxnSpPr>
        <p:spPr>
          <a:xfrm>
            <a:off x="589569" y="3962336"/>
            <a:ext cx="1402043"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43855DA-CD73-A443-ABB3-37602B0B2667}"/>
              </a:ext>
            </a:extLst>
          </p:cNvPr>
          <p:cNvSpPr>
            <a:spLocks noGrp="1"/>
          </p:cNvSpPr>
          <p:nvPr>
            <p:ph type="title"/>
          </p:nvPr>
        </p:nvSpPr>
        <p:spPr>
          <a:xfrm>
            <a:off x="0" y="0"/>
            <a:ext cx="12192000" cy="928688"/>
          </a:xfrm>
        </p:spPr>
        <p:txBody>
          <a:bodyPr/>
          <a:lstStyle/>
          <a:p>
            <a:r>
              <a:rPr lang="en-US" dirty="0"/>
              <a:t>Controlled Gate Transformation Matrix</a:t>
            </a:r>
          </a:p>
        </p:txBody>
      </p:sp>
      <p:sp>
        <p:nvSpPr>
          <p:cNvPr id="3" name="Slide Number Placeholder 2">
            <a:extLst>
              <a:ext uri="{FF2B5EF4-FFF2-40B4-BE49-F238E27FC236}">
                <a16:creationId xmlns:a16="http://schemas.microsoft.com/office/drawing/2014/main" id="{2ED06DAA-266D-F74E-B9E1-DC6A35710218}"/>
              </a:ext>
            </a:extLst>
          </p:cNvPr>
          <p:cNvSpPr>
            <a:spLocks noGrp="1"/>
          </p:cNvSpPr>
          <p:nvPr>
            <p:ph type="sldNum" sz="quarter" idx="12"/>
          </p:nvPr>
        </p:nvSpPr>
        <p:spPr/>
        <p:txBody>
          <a:bodyPr/>
          <a:lstStyle/>
          <a:p>
            <a:fld id="{591A223C-FA10-BC46-A853-03BA373D023C}" type="slidenum">
              <a:rPr lang="en-US" smtClean="0"/>
              <a:t>34</a:t>
            </a:fld>
            <a:endParaRPr lang="en-US"/>
          </a:p>
        </p:txBody>
      </p:sp>
      <p:sp>
        <p:nvSpPr>
          <p:cNvPr id="4" name="Rectangle 3">
            <a:extLst>
              <a:ext uri="{FF2B5EF4-FFF2-40B4-BE49-F238E27FC236}">
                <a16:creationId xmlns:a16="http://schemas.microsoft.com/office/drawing/2014/main" id="{042DD5F5-D864-D84C-82F2-CAEEC130C8B4}"/>
              </a:ext>
            </a:extLst>
          </p:cNvPr>
          <p:cNvSpPr/>
          <p:nvPr/>
        </p:nvSpPr>
        <p:spPr>
          <a:xfrm>
            <a:off x="937962" y="3602336"/>
            <a:ext cx="720000" cy="720000"/>
          </a:xfrm>
          <a:prstGeom prst="rect">
            <a:avLst/>
          </a:pr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Times" pitchFamily="2" charset="0"/>
              </a:rPr>
              <a:t>G</a:t>
            </a:r>
          </a:p>
        </p:txBody>
      </p:sp>
      <p:cxnSp>
        <p:nvCxnSpPr>
          <p:cNvPr id="5" name="Straight Connector 4">
            <a:extLst>
              <a:ext uri="{FF2B5EF4-FFF2-40B4-BE49-F238E27FC236}">
                <a16:creationId xmlns:a16="http://schemas.microsoft.com/office/drawing/2014/main" id="{519C65D4-26D3-754C-B66B-1903DB115356}"/>
              </a:ext>
            </a:extLst>
          </p:cNvPr>
          <p:cNvCxnSpPr>
            <a:cxnSpLocks/>
          </p:cNvCxnSpPr>
          <p:nvPr/>
        </p:nvCxnSpPr>
        <p:spPr>
          <a:xfrm>
            <a:off x="589569" y="2877965"/>
            <a:ext cx="1402043"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A69F85DC-7274-E34B-AC79-901D974731DD}"/>
              </a:ext>
            </a:extLst>
          </p:cNvPr>
          <p:cNvSpPr/>
          <p:nvPr/>
        </p:nvSpPr>
        <p:spPr>
          <a:xfrm>
            <a:off x="1162962" y="2735916"/>
            <a:ext cx="270000" cy="2700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cxnSp>
        <p:nvCxnSpPr>
          <p:cNvPr id="8" name="Straight Connector 7">
            <a:extLst>
              <a:ext uri="{FF2B5EF4-FFF2-40B4-BE49-F238E27FC236}">
                <a16:creationId xmlns:a16="http://schemas.microsoft.com/office/drawing/2014/main" id="{8DD08C78-DE98-FA44-B541-4ABBF8C31D9A}"/>
              </a:ext>
            </a:extLst>
          </p:cNvPr>
          <p:cNvCxnSpPr>
            <a:cxnSpLocks/>
            <a:stCxn id="4" idx="0"/>
            <a:endCxn id="6" idx="4"/>
          </p:cNvCxnSpPr>
          <p:nvPr/>
        </p:nvCxnSpPr>
        <p:spPr>
          <a:xfrm flipV="1">
            <a:off x="1297962" y="3005916"/>
            <a:ext cx="0" cy="59642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 name="Rectangle 13">
                <a:extLst>
                  <a:ext uri="{FF2B5EF4-FFF2-40B4-BE49-F238E27FC236}">
                    <a16:creationId xmlns:a16="http://schemas.microsoft.com/office/drawing/2014/main" id="{B66E6F24-1A6D-5F4F-80EC-DE7D02294971}"/>
                  </a:ext>
                </a:extLst>
              </p:cNvPr>
              <p:cNvSpPr/>
              <p:nvPr/>
            </p:nvSpPr>
            <p:spPr>
              <a:xfrm>
                <a:off x="-16957" y="4464097"/>
                <a:ext cx="2369751" cy="71160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𝐺</m:t>
                      </m:r>
                      <m:r>
                        <a:rPr lang="en-US" sz="2400" b="0" i="1" smtClean="0">
                          <a:latin typeface="Cambria Math" panose="02040503050406030204" pitchFamily="18" charset="0"/>
                        </a:rPr>
                        <m:t>=</m:t>
                      </m:r>
                      <m:d>
                        <m:dPr>
                          <m:ctrlPr>
                            <a:rPr lang="en-US" sz="2400" i="1">
                              <a:latin typeface="Cambria Math" panose="02040503050406030204" pitchFamily="18" charset="0"/>
                            </a:rPr>
                          </m:ctrlPr>
                        </m:dPr>
                        <m:e>
                          <m:m>
                            <m:mPr>
                              <m:plcHide m:val="on"/>
                              <m:mcs>
                                <m:mc>
                                  <m:mcPr>
                                    <m:count m:val="2"/>
                                    <m:mcJc m:val="center"/>
                                  </m:mcPr>
                                </m:mc>
                              </m:mcs>
                              <m:ctrlPr>
                                <a:rPr lang="en-US" sz="2400" i="1">
                                  <a:latin typeface="Cambria Math" panose="02040503050406030204" pitchFamily="18" charset="0"/>
                                </a:rPr>
                              </m:ctrlPr>
                            </m:mPr>
                            <m:mr>
                              <m:e>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𝑔</m:t>
                                    </m:r>
                                  </m:e>
                                  <m:sub>
                                    <m:r>
                                      <a:rPr lang="en-US" sz="2400" b="0" i="1" smtClean="0">
                                        <a:latin typeface="Cambria Math" panose="02040503050406030204" pitchFamily="18" charset="0"/>
                                      </a:rPr>
                                      <m:t>00</m:t>
                                    </m:r>
                                  </m:sub>
                                </m:sSub>
                              </m:e>
                              <m:e>
                                <m:sSub>
                                  <m:sSubPr>
                                    <m:ctrlPr>
                                      <a:rPr lang="en-US" sz="2400" i="1">
                                        <a:latin typeface="Cambria Math" panose="02040503050406030204" pitchFamily="18" charset="0"/>
                                      </a:rPr>
                                    </m:ctrlPr>
                                  </m:sSubPr>
                                  <m:e>
                                    <m:r>
                                      <a:rPr lang="en-US" sz="2400" i="1">
                                        <a:latin typeface="Cambria Math" panose="02040503050406030204" pitchFamily="18" charset="0"/>
                                      </a:rPr>
                                      <m:t>𝑔</m:t>
                                    </m:r>
                                  </m:e>
                                  <m:sub>
                                    <m:r>
                                      <a:rPr lang="en-US" sz="2400" b="0" i="1" smtClean="0">
                                        <a:latin typeface="Cambria Math" panose="02040503050406030204" pitchFamily="18" charset="0"/>
                                      </a:rPr>
                                      <m:t>01</m:t>
                                    </m:r>
                                  </m:sub>
                                </m:sSub>
                              </m:e>
                            </m:mr>
                            <m:mr>
                              <m:e>
                                <m:sSub>
                                  <m:sSubPr>
                                    <m:ctrlPr>
                                      <a:rPr lang="en-US" sz="2400" i="1">
                                        <a:latin typeface="Cambria Math" panose="02040503050406030204" pitchFamily="18" charset="0"/>
                                      </a:rPr>
                                    </m:ctrlPr>
                                  </m:sSubPr>
                                  <m:e>
                                    <m:r>
                                      <a:rPr lang="en-US" sz="2400" i="1">
                                        <a:latin typeface="Cambria Math" panose="02040503050406030204" pitchFamily="18" charset="0"/>
                                      </a:rPr>
                                      <m:t>𝑔</m:t>
                                    </m:r>
                                  </m:e>
                                  <m:sub>
                                    <m:r>
                                      <a:rPr lang="en-US" sz="2400" b="0" i="1" smtClean="0">
                                        <a:latin typeface="Cambria Math" panose="02040503050406030204" pitchFamily="18" charset="0"/>
                                      </a:rPr>
                                      <m:t>1</m:t>
                                    </m:r>
                                    <m:r>
                                      <a:rPr lang="en-US" sz="2400" i="1">
                                        <a:latin typeface="Cambria Math" panose="02040503050406030204" pitchFamily="18" charset="0"/>
                                      </a:rPr>
                                      <m:t>0</m:t>
                                    </m:r>
                                  </m:sub>
                                </m:sSub>
                              </m:e>
                              <m:e>
                                <m:sSub>
                                  <m:sSubPr>
                                    <m:ctrlPr>
                                      <a:rPr lang="en-US" sz="2400" i="1">
                                        <a:latin typeface="Cambria Math" panose="02040503050406030204" pitchFamily="18" charset="0"/>
                                      </a:rPr>
                                    </m:ctrlPr>
                                  </m:sSubPr>
                                  <m:e>
                                    <m:r>
                                      <a:rPr lang="en-US" sz="2400" i="1">
                                        <a:latin typeface="Cambria Math" panose="02040503050406030204" pitchFamily="18" charset="0"/>
                                      </a:rPr>
                                      <m:t>𝑔</m:t>
                                    </m:r>
                                  </m:e>
                                  <m:sub>
                                    <m:r>
                                      <a:rPr lang="en-US" sz="2400" b="0" i="1" smtClean="0">
                                        <a:latin typeface="Cambria Math" panose="02040503050406030204" pitchFamily="18" charset="0"/>
                                      </a:rPr>
                                      <m:t>11</m:t>
                                    </m:r>
                                  </m:sub>
                                </m:sSub>
                              </m:e>
                            </m:mr>
                          </m:m>
                        </m:e>
                      </m:d>
                    </m:oMath>
                  </m:oMathPara>
                </a14:m>
                <a:endParaRPr lang="en-US" sz="2400" dirty="0"/>
              </a:p>
            </p:txBody>
          </p:sp>
        </mc:Choice>
        <mc:Fallback xmlns="">
          <p:sp>
            <p:nvSpPr>
              <p:cNvPr id="14" name="Rectangle 13">
                <a:extLst>
                  <a:ext uri="{FF2B5EF4-FFF2-40B4-BE49-F238E27FC236}">
                    <a16:creationId xmlns:a16="http://schemas.microsoft.com/office/drawing/2014/main" id="{B66E6F24-1A6D-5F4F-80EC-DE7D02294971}"/>
                  </a:ext>
                </a:extLst>
              </p:cNvPr>
              <p:cNvSpPr>
                <a:spLocks noRot="1" noChangeAspect="1" noMove="1" noResize="1" noEditPoints="1" noAdjustHandles="1" noChangeArrowheads="1" noChangeShapeType="1" noTextEdit="1"/>
              </p:cNvSpPr>
              <p:nvPr/>
            </p:nvSpPr>
            <p:spPr>
              <a:xfrm>
                <a:off x="-16957" y="4464097"/>
                <a:ext cx="2369751" cy="711605"/>
              </a:xfrm>
              <a:prstGeom prst="rect">
                <a:avLst/>
              </a:prstGeom>
              <a:blipFill>
                <a:blip r:embed="rId3"/>
                <a:stretch>
                  <a:fillRect b="-7018"/>
                </a:stretch>
              </a:blipFill>
            </p:spPr>
            <p:txBody>
              <a:bodyPr/>
              <a:lstStyle/>
              <a:p>
                <a:r>
                  <a:rPr lang="en-US">
                    <a:noFill/>
                  </a:rPr>
                  <a:t> </a:t>
                </a:r>
              </a:p>
            </p:txBody>
          </p:sp>
        </mc:Fallback>
      </mc:AlternateContent>
      <p:grpSp>
        <p:nvGrpSpPr>
          <p:cNvPr id="9" name="Group 8">
            <a:extLst>
              <a:ext uri="{FF2B5EF4-FFF2-40B4-BE49-F238E27FC236}">
                <a16:creationId xmlns:a16="http://schemas.microsoft.com/office/drawing/2014/main" id="{4C363029-98BD-4A4E-995B-B89E3D8842EA}"/>
              </a:ext>
            </a:extLst>
          </p:cNvPr>
          <p:cNvGrpSpPr/>
          <p:nvPr/>
        </p:nvGrpSpPr>
        <p:grpSpPr>
          <a:xfrm>
            <a:off x="8732217" y="1980888"/>
            <a:ext cx="3450299" cy="3980162"/>
            <a:chOff x="8670502" y="1612255"/>
            <a:chExt cx="3450299" cy="3980162"/>
          </a:xfrm>
        </p:grpSpPr>
        <mc:AlternateContent xmlns:mc="http://schemas.openxmlformats.org/markup-compatibility/2006" xmlns:a14="http://schemas.microsoft.com/office/drawing/2010/main">
          <mc:Choice Requires="a14">
            <p:sp>
              <p:nvSpPr>
                <p:cNvPr id="16" name="Rectangle 15">
                  <a:extLst>
                    <a:ext uri="{FF2B5EF4-FFF2-40B4-BE49-F238E27FC236}">
                      <a16:creationId xmlns:a16="http://schemas.microsoft.com/office/drawing/2014/main" id="{8EA579F1-444F-624F-BC68-BF412EC507AD}"/>
                    </a:ext>
                  </a:extLst>
                </p:cNvPr>
                <p:cNvSpPr/>
                <p:nvPr/>
              </p:nvSpPr>
              <p:spPr>
                <a:xfrm>
                  <a:off x="9066823" y="2966937"/>
                  <a:ext cx="3053978" cy="127079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m>
                          <m:mPr>
                            <m:mcs>
                              <m:mc>
                                <m:mcPr>
                                  <m:count m:val="1"/>
                                  <m:mcJc m:val="center"/>
                                </m:mcPr>
                              </m:mc>
                            </m:mcs>
                            <m:ctrlPr>
                              <a:rPr lang="en-US" sz="2000" i="1" smtClean="0">
                                <a:latin typeface="Cambria Math" panose="02040503050406030204" pitchFamily="18" charset="0"/>
                              </a:rPr>
                            </m:ctrlPr>
                          </m:mPr>
                          <m:mr>
                            <m:e>
                              <m:r>
                                <m:rPr>
                                  <m:brk m:alnAt="7"/>
                                </m:rPr>
                                <a:rPr lang="en-US" sz="2000" b="0" i="1" smtClean="0">
                                  <a:latin typeface="Cambria Math" panose="02040503050406030204" pitchFamily="18" charset="0"/>
                                </a:rPr>
                                <m:t>𝑐</m:t>
                              </m:r>
                              <m:r>
                                <a:rPr lang="en-US" sz="2000" b="0" i="1" smtClean="0">
                                  <a:latin typeface="Cambria Math" panose="02040503050406030204" pitchFamily="18" charset="0"/>
                                </a:rPr>
                                <m:t>𝐺</m:t>
                              </m:r>
                              <m:r>
                                <a:rPr lang="en-US" sz="2000" b="0" i="1" smtClean="0">
                                  <a:latin typeface="Cambria Math" panose="02040503050406030204" pitchFamily="18" charset="0"/>
                                </a:rPr>
                                <m:t>=</m:t>
                              </m:r>
                              <m:d>
                                <m:dPr>
                                  <m:ctrlPr>
                                    <a:rPr lang="en-US" sz="2000" i="1">
                                      <a:latin typeface="Cambria Math" panose="02040503050406030204" pitchFamily="18" charset="0"/>
                                    </a:rPr>
                                  </m:ctrlPr>
                                </m:dPr>
                                <m:e>
                                  <m:m>
                                    <m:mPr>
                                      <m:mcs>
                                        <m:mc>
                                          <m:mcPr>
                                            <m:count m:val="4"/>
                                            <m:mcJc m:val="center"/>
                                          </m:mcPr>
                                        </m:mc>
                                      </m:mcs>
                                      <m:ctrlPr>
                                        <a:rPr lang="en-US" sz="2000" i="1">
                                          <a:latin typeface="Cambria Math" panose="02040503050406030204" pitchFamily="18" charset="0"/>
                                        </a:rPr>
                                      </m:ctrlPr>
                                    </m:mPr>
                                    <m:mr>
                                      <m:e>
                                        <m:r>
                                          <m:rPr>
                                            <m:brk m:alnAt="7"/>
                                          </m:rPr>
                                          <a:rPr lang="en-US" sz="2000" i="1">
                                            <a:latin typeface="Cambria Math" panose="02040503050406030204" pitchFamily="18" charset="0"/>
                                          </a:rPr>
                                          <m:t>1</m:t>
                                        </m:r>
                                      </m:e>
                                      <m:e>
                                        <m:r>
                                          <a:rPr lang="en-US" sz="2000" i="1">
                                            <a:latin typeface="Cambria Math" panose="02040503050406030204" pitchFamily="18" charset="0"/>
                                          </a:rPr>
                                          <m:t>0</m:t>
                                        </m:r>
                                      </m:e>
                                      <m:e>
                                        <m:r>
                                          <a:rPr lang="en-US" sz="2000" i="1">
                                            <a:latin typeface="Cambria Math" panose="02040503050406030204" pitchFamily="18" charset="0"/>
                                          </a:rPr>
                                          <m:t>0</m:t>
                                        </m:r>
                                      </m:e>
                                      <m:e>
                                        <m:r>
                                          <a:rPr lang="en-US" sz="2000" i="1">
                                            <a:latin typeface="Cambria Math" panose="02040503050406030204" pitchFamily="18" charset="0"/>
                                          </a:rPr>
                                          <m:t>0</m:t>
                                        </m:r>
                                      </m:e>
                                    </m:mr>
                                    <m:mr>
                                      <m:e>
                                        <m:r>
                                          <a:rPr lang="en-US" sz="2000" i="1">
                                            <a:latin typeface="Cambria Math" panose="02040503050406030204" pitchFamily="18" charset="0"/>
                                          </a:rPr>
                                          <m:t>0</m:t>
                                        </m:r>
                                      </m:e>
                                      <m:e>
                                        <m:r>
                                          <a:rPr lang="en-US" sz="2000" i="1">
                                            <a:latin typeface="Cambria Math" panose="02040503050406030204" pitchFamily="18" charset="0"/>
                                          </a:rPr>
                                          <m:t>1</m:t>
                                        </m:r>
                                      </m:e>
                                      <m:e>
                                        <m:r>
                                          <a:rPr lang="en-US" sz="2000" i="1">
                                            <a:latin typeface="Cambria Math" panose="02040503050406030204" pitchFamily="18" charset="0"/>
                                          </a:rPr>
                                          <m:t>0</m:t>
                                        </m:r>
                                      </m:e>
                                      <m:e>
                                        <m:r>
                                          <a:rPr lang="en-US" sz="2000" i="1">
                                            <a:latin typeface="Cambria Math" panose="02040503050406030204" pitchFamily="18" charset="0"/>
                                          </a:rPr>
                                          <m:t>0</m:t>
                                        </m:r>
                                      </m:e>
                                    </m:mr>
                                    <m:mr>
                                      <m:e>
                                        <m:r>
                                          <a:rPr lang="en-US" sz="2000" i="1">
                                            <a:latin typeface="Cambria Math" panose="02040503050406030204" pitchFamily="18" charset="0"/>
                                          </a:rPr>
                                          <m:t>0</m:t>
                                        </m:r>
                                      </m:e>
                                      <m:e>
                                        <m:r>
                                          <a:rPr lang="en-US" sz="2000" i="1">
                                            <a:latin typeface="Cambria Math" panose="02040503050406030204" pitchFamily="18" charset="0"/>
                                          </a:rPr>
                                          <m:t>0</m:t>
                                        </m:r>
                                      </m:e>
                                      <m:e>
                                        <m:sSub>
                                          <m:sSubPr>
                                            <m:ctrlPr>
                                              <a:rPr lang="en-US" sz="2000" i="1">
                                                <a:latin typeface="Cambria Math" panose="02040503050406030204" pitchFamily="18" charset="0"/>
                                              </a:rPr>
                                            </m:ctrlPr>
                                          </m:sSubPr>
                                          <m:e>
                                            <m:r>
                                              <a:rPr lang="en-US" sz="2000" i="1">
                                                <a:latin typeface="Cambria Math" panose="02040503050406030204" pitchFamily="18" charset="0"/>
                                              </a:rPr>
                                              <m:t>𝑔</m:t>
                                            </m:r>
                                          </m:e>
                                          <m:sub>
                                            <m:r>
                                              <a:rPr lang="en-US" sz="2000" i="1">
                                                <a:latin typeface="Cambria Math" panose="02040503050406030204" pitchFamily="18" charset="0"/>
                                              </a:rPr>
                                              <m:t>00</m:t>
                                            </m:r>
                                          </m:sub>
                                        </m:sSub>
                                      </m:e>
                                      <m:e>
                                        <m:sSub>
                                          <m:sSubPr>
                                            <m:ctrlPr>
                                              <a:rPr lang="en-US" sz="2000" i="1">
                                                <a:latin typeface="Cambria Math" panose="02040503050406030204" pitchFamily="18" charset="0"/>
                                              </a:rPr>
                                            </m:ctrlPr>
                                          </m:sSubPr>
                                          <m:e>
                                            <m:r>
                                              <a:rPr lang="en-US" sz="2000" i="1">
                                                <a:latin typeface="Cambria Math" panose="02040503050406030204" pitchFamily="18" charset="0"/>
                                              </a:rPr>
                                              <m:t>𝑔</m:t>
                                            </m:r>
                                          </m:e>
                                          <m:sub>
                                            <m:r>
                                              <a:rPr lang="en-US" sz="2000" i="1">
                                                <a:latin typeface="Cambria Math" panose="02040503050406030204" pitchFamily="18" charset="0"/>
                                              </a:rPr>
                                              <m:t>0</m:t>
                                            </m:r>
                                            <m:r>
                                              <a:rPr lang="en-US" sz="2000" b="0" i="1" smtClean="0">
                                                <a:latin typeface="Cambria Math" panose="02040503050406030204" pitchFamily="18" charset="0"/>
                                              </a:rPr>
                                              <m:t>1</m:t>
                                            </m:r>
                                          </m:sub>
                                        </m:sSub>
                                      </m:e>
                                    </m:mr>
                                    <m:mr>
                                      <m:e>
                                        <m:r>
                                          <a:rPr lang="en-US" sz="2000" i="1">
                                            <a:latin typeface="Cambria Math" panose="02040503050406030204" pitchFamily="18" charset="0"/>
                                          </a:rPr>
                                          <m:t>0</m:t>
                                        </m:r>
                                      </m:e>
                                      <m:e>
                                        <m:r>
                                          <a:rPr lang="en-US" sz="2000" i="1">
                                            <a:latin typeface="Cambria Math" panose="02040503050406030204" pitchFamily="18" charset="0"/>
                                          </a:rPr>
                                          <m:t>0</m:t>
                                        </m:r>
                                      </m:e>
                                      <m:e>
                                        <m:sSub>
                                          <m:sSubPr>
                                            <m:ctrlPr>
                                              <a:rPr lang="en-US" sz="2000" i="1">
                                                <a:latin typeface="Cambria Math" panose="02040503050406030204" pitchFamily="18" charset="0"/>
                                              </a:rPr>
                                            </m:ctrlPr>
                                          </m:sSubPr>
                                          <m:e>
                                            <m:r>
                                              <a:rPr lang="en-US" sz="2000" i="1">
                                                <a:latin typeface="Cambria Math" panose="02040503050406030204" pitchFamily="18" charset="0"/>
                                              </a:rPr>
                                              <m:t>𝑔</m:t>
                                            </m:r>
                                          </m:e>
                                          <m:sub>
                                            <m:r>
                                              <a:rPr lang="en-US" sz="2000" b="0" i="1" smtClean="0">
                                                <a:latin typeface="Cambria Math" panose="02040503050406030204" pitchFamily="18" charset="0"/>
                                              </a:rPr>
                                              <m:t>1</m:t>
                                            </m:r>
                                            <m:r>
                                              <a:rPr lang="en-US" sz="2000" i="1">
                                                <a:latin typeface="Cambria Math" panose="02040503050406030204" pitchFamily="18" charset="0"/>
                                              </a:rPr>
                                              <m:t>0</m:t>
                                            </m:r>
                                          </m:sub>
                                        </m:sSub>
                                      </m:e>
                                      <m:e>
                                        <m:sSub>
                                          <m:sSubPr>
                                            <m:ctrlPr>
                                              <a:rPr lang="en-US" sz="2000" i="1">
                                                <a:latin typeface="Cambria Math" panose="02040503050406030204" pitchFamily="18" charset="0"/>
                                              </a:rPr>
                                            </m:ctrlPr>
                                          </m:sSubPr>
                                          <m:e>
                                            <m:r>
                                              <a:rPr lang="en-US" sz="2000" i="1">
                                                <a:latin typeface="Cambria Math" panose="02040503050406030204" pitchFamily="18" charset="0"/>
                                              </a:rPr>
                                              <m:t>𝑔</m:t>
                                            </m:r>
                                          </m:e>
                                          <m:sub>
                                            <m:r>
                                              <a:rPr lang="en-US" sz="2000" b="0" i="1" smtClean="0">
                                                <a:latin typeface="Cambria Math" panose="02040503050406030204" pitchFamily="18" charset="0"/>
                                              </a:rPr>
                                              <m:t>11</m:t>
                                            </m:r>
                                          </m:sub>
                                        </m:sSub>
                                      </m:e>
                                    </m:mr>
                                  </m:m>
                                </m:e>
                              </m:d>
                            </m:e>
                          </m:mr>
                        </m:m>
                      </m:oMath>
                    </m:oMathPara>
                  </a14:m>
                  <a:endParaRPr lang="en-US" sz="2000" dirty="0"/>
                </a:p>
              </p:txBody>
            </p:sp>
          </mc:Choice>
          <mc:Fallback xmlns="">
            <p:sp>
              <p:nvSpPr>
                <p:cNvPr id="16" name="Rectangle 15">
                  <a:extLst>
                    <a:ext uri="{FF2B5EF4-FFF2-40B4-BE49-F238E27FC236}">
                      <a16:creationId xmlns:a16="http://schemas.microsoft.com/office/drawing/2014/main" id="{8EA579F1-444F-624F-BC68-BF412EC507AD}"/>
                    </a:ext>
                  </a:extLst>
                </p:cNvPr>
                <p:cNvSpPr>
                  <a:spLocks noRot="1" noChangeAspect="1" noMove="1" noResize="1" noEditPoints="1" noAdjustHandles="1" noChangeArrowheads="1" noChangeShapeType="1" noTextEdit="1"/>
                </p:cNvSpPr>
                <p:nvPr/>
              </p:nvSpPr>
              <p:spPr>
                <a:xfrm>
                  <a:off x="9066823" y="2966937"/>
                  <a:ext cx="3053978" cy="1270797"/>
                </a:xfrm>
                <a:prstGeom prst="rect">
                  <a:avLst/>
                </a:prstGeom>
                <a:blipFill>
                  <a:blip r:embed="rId5"/>
                  <a:stretch>
                    <a:fillRect b="-1980"/>
                  </a:stretch>
                </a:blipFill>
              </p:spPr>
              <p:txBody>
                <a:bodyPr/>
                <a:lstStyle/>
                <a:p>
                  <a:r>
                    <a:rPr lang="en-US">
                      <a:noFill/>
                    </a:rPr>
                    <a:t> </a:t>
                  </a:r>
                </a:p>
              </p:txBody>
            </p:sp>
          </mc:Fallback>
        </mc:AlternateContent>
        <p:sp>
          <p:nvSpPr>
            <p:cNvPr id="18" name="Right Brace 17">
              <a:extLst>
                <a:ext uri="{FF2B5EF4-FFF2-40B4-BE49-F238E27FC236}">
                  <a16:creationId xmlns:a16="http://schemas.microsoft.com/office/drawing/2014/main" id="{9ABFD23D-F6DE-DE4E-9E14-786C999FDC43}"/>
                </a:ext>
              </a:extLst>
            </p:cNvPr>
            <p:cNvSpPr/>
            <p:nvPr/>
          </p:nvSpPr>
          <p:spPr>
            <a:xfrm>
              <a:off x="8670502" y="1612255"/>
              <a:ext cx="396321" cy="3980162"/>
            </a:xfrm>
            <a:prstGeom prst="rightBrace">
              <a:avLst>
                <a:gd name="adj1" fmla="val 105303"/>
                <a:gd name="adj2" fmla="val 50000"/>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1FE5042A-5A1F-1B4B-AE43-BD0246721F0F}"/>
                  </a:ext>
                </a:extLst>
              </p:cNvPr>
              <p:cNvSpPr/>
              <p:nvPr/>
            </p:nvSpPr>
            <p:spPr>
              <a:xfrm>
                <a:off x="537915" y="2412263"/>
                <a:ext cx="404406"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𝑐</m:t>
                      </m:r>
                    </m:oMath>
                  </m:oMathPara>
                </a14:m>
                <a:endParaRPr lang="en-US" sz="2400" dirty="0"/>
              </a:p>
            </p:txBody>
          </p:sp>
        </mc:Choice>
        <mc:Fallback xmlns="">
          <p:sp>
            <p:nvSpPr>
              <p:cNvPr id="7" name="Rectangle 6">
                <a:extLst>
                  <a:ext uri="{FF2B5EF4-FFF2-40B4-BE49-F238E27FC236}">
                    <a16:creationId xmlns:a16="http://schemas.microsoft.com/office/drawing/2014/main" id="{1FE5042A-5A1F-1B4B-AE43-BD0246721F0F}"/>
                  </a:ext>
                </a:extLst>
              </p:cNvPr>
              <p:cNvSpPr>
                <a:spLocks noRot="1" noChangeAspect="1" noMove="1" noResize="1" noEditPoints="1" noAdjustHandles="1" noChangeArrowheads="1" noChangeShapeType="1" noTextEdit="1"/>
              </p:cNvSpPr>
              <p:nvPr/>
            </p:nvSpPr>
            <p:spPr>
              <a:xfrm>
                <a:off x="537915" y="2412263"/>
                <a:ext cx="404406" cy="461665"/>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Rectangle 22">
                <a:extLst>
                  <a:ext uri="{FF2B5EF4-FFF2-40B4-BE49-F238E27FC236}">
                    <a16:creationId xmlns:a16="http://schemas.microsoft.com/office/drawing/2014/main" id="{C927DE56-6DCB-3747-8AD8-6B1204381409}"/>
                  </a:ext>
                </a:extLst>
              </p:cNvPr>
              <p:cNvSpPr/>
              <p:nvPr/>
            </p:nvSpPr>
            <p:spPr>
              <a:xfrm>
                <a:off x="400448" y="3509304"/>
                <a:ext cx="537514" cy="46166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𝑡</m:t>
                      </m:r>
                    </m:oMath>
                  </m:oMathPara>
                </a14:m>
                <a:endParaRPr lang="en-US" sz="2400" dirty="0"/>
              </a:p>
            </p:txBody>
          </p:sp>
        </mc:Choice>
        <mc:Fallback xmlns="">
          <p:sp>
            <p:nvSpPr>
              <p:cNvPr id="23" name="Rectangle 22">
                <a:extLst>
                  <a:ext uri="{FF2B5EF4-FFF2-40B4-BE49-F238E27FC236}">
                    <a16:creationId xmlns:a16="http://schemas.microsoft.com/office/drawing/2014/main" id="{C927DE56-6DCB-3747-8AD8-6B1204381409}"/>
                  </a:ext>
                </a:extLst>
              </p:cNvPr>
              <p:cNvSpPr>
                <a:spLocks noRot="1" noChangeAspect="1" noMove="1" noResize="1" noEditPoints="1" noAdjustHandles="1" noChangeArrowheads="1" noChangeShapeType="1" noTextEdit="1"/>
              </p:cNvSpPr>
              <p:nvPr/>
            </p:nvSpPr>
            <p:spPr>
              <a:xfrm>
                <a:off x="400448" y="3509304"/>
                <a:ext cx="537514" cy="461665"/>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24" name="Table 23">
                <a:extLst>
                  <a:ext uri="{FF2B5EF4-FFF2-40B4-BE49-F238E27FC236}">
                    <a16:creationId xmlns:a16="http://schemas.microsoft.com/office/drawing/2014/main" id="{86D6A6A8-33F5-2941-8451-A7B1B6E590C8}"/>
                  </a:ext>
                </a:extLst>
              </p:cNvPr>
              <p:cNvGraphicFramePr>
                <a:graphicFrameLocks noGrp="1"/>
              </p:cNvGraphicFramePr>
              <p:nvPr>
                <p:extLst>
                  <p:ext uri="{D42A27DB-BD31-4B8C-83A1-F6EECF244321}">
                    <p14:modId xmlns:p14="http://schemas.microsoft.com/office/powerpoint/2010/main" val="2567165785"/>
                  </p:ext>
                </p:extLst>
              </p:nvPr>
            </p:nvGraphicFramePr>
            <p:xfrm>
              <a:off x="2289145" y="926631"/>
              <a:ext cx="4835568" cy="5780152"/>
            </p:xfrm>
            <a:graphic>
              <a:graphicData uri="http://schemas.openxmlformats.org/drawingml/2006/table">
                <a:tbl>
                  <a:tblPr firstRow="1" bandRow="1">
                    <a:tableStyleId>{F5AB1C69-6EDB-4FF4-983F-18BD219EF322}</a:tableStyleId>
                  </a:tblPr>
                  <a:tblGrid>
                    <a:gridCol w="975766">
                      <a:extLst>
                        <a:ext uri="{9D8B030D-6E8A-4147-A177-3AD203B41FA5}">
                          <a16:colId xmlns:a16="http://schemas.microsoft.com/office/drawing/2014/main" val="3371686391"/>
                        </a:ext>
                      </a:extLst>
                    </a:gridCol>
                    <a:gridCol w="1295829">
                      <a:extLst>
                        <a:ext uri="{9D8B030D-6E8A-4147-A177-3AD203B41FA5}">
                          <a16:colId xmlns:a16="http://schemas.microsoft.com/office/drawing/2014/main" val="1340829466"/>
                        </a:ext>
                      </a:extLst>
                    </a:gridCol>
                    <a:gridCol w="2563973">
                      <a:extLst>
                        <a:ext uri="{9D8B030D-6E8A-4147-A177-3AD203B41FA5}">
                          <a16:colId xmlns:a16="http://schemas.microsoft.com/office/drawing/2014/main" val="2820400135"/>
                        </a:ext>
                      </a:extLst>
                    </a:gridCol>
                  </a:tblGrid>
                  <a:tr h="78258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0" i="0" dirty="0">
                              <a:solidFill>
                                <a:schemeClr val="tx1"/>
                              </a:solidFill>
                            </a:rPr>
                            <a:t>INPUT </a:t>
                          </a:r>
                          <a:br>
                            <a:rPr lang="en-US" sz="2400" b="0" i="0" dirty="0">
                              <a:solidFill>
                                <a:schemeClr val="tx1"/>
                              </a:solidFill>
                            </a:rPr>
                          </a:br>
                          <a14:m>
                            <m:oMathPara xmlns:m="http://schemas.openxmlformats.org/officeDocument/2006/math">
                              <m:oMathParaPr>
                                <m:jc m:val="centerGroup"/>
                              </m:oMathParaPr>
                              <m:oMath xmlns:m="http://schemas.openxmlformats.org/officeDocument/2006/math">
                                <m:d>
                                  <m:dPr>
                                    <m:begChr m:val="|"/>
                                    <m:endChr m:val="⟩"/>
                                    <m:ctrlPr>
                                      <a:rPr lang="en-US" sz="2400" b="0" i="1" smtClean="0">
                                        <a:solidFill>
                                          <a:schemeClr val="tx1"/>
                                        </a:solidFill>
                                        <a:latin typeface="Cambria Math" panose="02040503050406030204" pitchFamily="18" charset="0"/>
                                      </a:rPr>
                                    </m:ctrlPr>
                                  </m:dPr>
                                  <m:e>
                                    <m:r>
                                      <m:rPr>
                                        <m:nor/>
                                      </m:rPr>
                                      <a:rPr lang="en-US" sz="2400" b="0" i="1" smtClean="0">
                                        <a:solidFill>
                                          <a:schemeClr val="tx1"/>
                                        </a:solidFill>
                                      </a:rPr>
                                      <m:t>c</m:t>
                                    </m:r>
                                    <m:r>
                                      <m:rPr>
                                        <m:nor/>
                                      </m:rPr>
                                      <a:rPr lang="en-US" sz="2400" b="0" i="1" smtClean="0">
                                        <a:solidFill>
                                          <a:schemeClr val="tx1"/>
                                        </a:solidFill>
                                      </a:rPr>
                                      <m:t> </m:t>
                                    </m:r>
                                    <m:r>
                                      <m:rPr>
                                        <m:nor/>
                                      </m:rPr>
                                      <a:rPr lang="en-US" sz="2400" b="0" i="1" smtClean="0">
                                        <a:solidFill>
                                          <a:schemeClr val="tx1"/>
                                        </a:solidFill>
                                      </a:rPr>
                                      <m:t>t</m:t>
                                    </m:r>
                                    <m:r>
                                      <a:rPr lang="en-US" sz="2400" b="0" i="1" smtClean="0">
                                        <a:solidFill>
                                          <a:schemeClr val="tx1"/>
                                        </a:solidFill>
                                        <a:latin typeface="Cambria Math" panose="02040503050406030204" pitchFamily="18" charset="0"/>
                                      </a:rPr>
                                      <m:t> </m:t>
                                    </m:r>
                                  </m:e>
                                </m:d>
                              </m:oMath>
                            </m:oMathPara>
                          </a14:m>
                          <a:endParaRPr lang="en-US" sz="2400" b="0" i="0" dirty="0">
                            <a:solidFill>
                              <a:schemeClr val="tx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0" i="0" dirty="0">
                              <a:solidFill>
                                <a:schemeClr val="tx1"/>
                              </a:solidFill>
                            </a:rPr>
                            <a:t>OUTPUT</a:t>
                          </a:r>
                          <a:br>
                            <a:rPr lang="en-US" sz="2400" b="0" i="0" dirty="0">
                              <a:solidFill>
                                <a:schemeClr val="tx1"/>
                              </a:solidFill>
                            </a:rPr>
                          </a:br>
                          <a14:m>
                            <m:oMathPara xmlns:m="http://schemas.openxmlformats.org/officeDocument/2006/math">
                              <m:oMathParaPr>
                                <m:jc m:val="centerGroup"/>
                              </m:oMathParaPr>
                              <m:oMath xmlns:m="http://schemas.openxmlformats.org/officeDocument/2006/math">
                                <m:d>
                                  <m:dPr>
                                    <m:begChr m:val="|"/>
                                    <m:endChr m:val="⟩"/>
                                    <m:ctrlPr>
                                      <a:rPr lang="en-US" sz="2400" b="0" i="1" smtClean="0">
                                        <a:solidFill>
                                          <a:schemeClr val="tx1"/>
                                        </a:solidFill>
                                        <a:latin typeface="Cambria Math" panose="02040503050406030204" pitchFamily="18" charset="0"/>
                                      </a:rPr>
                                    </m:ctrlPr>
                                  </m:dPr>
                                  <m:e>
                                    <m:r>
                                      <m:rPr>
                                        <m:nor/>
                                      </m:rPr>
                                      <a:rPr lang="en-US" sz="2400" b="0" i="1" smtClean="0">
                                        <a:solidFill>
                                          <a:schemeClr val="tx1"/>
                                        </a:solidFill>
                                      </a:rPr>
                                      <m:t>c</m:t>
                                    </m:r>
                                    <m:r>
                                      <a:rPr lang="en-US" sz="2400" b="0" i="1" smtClean="0">
                                        <a:solidFill>
                                          <a:schemeClr val="tx1"/>
                                        </a:solidFill>
                                        <a:latin typeface="Cambria Math" panose="02040503050406030204" pitchFamily="18" charset="0"/>
                                      </a:rPr>
                                      <m:t> </m:t>
                                    </m:r>
                                    <m:r>
                                      <a:rPr lang="sr-Latn-RS" sz="2400" b="0" i="1" smtClean="0">
                                        <a:solidFill>
                                          <a:schemeClr val="tx1"/>
                                        </a:solidFill>
                                        <a:latin typeface="Cambria Math" panose="02040503050406030204" pitchFamily="18" charset="0"/>
                                      </a:rPr>
                                      <m:t>𝑡</m:t>
                                    </m:r>
                                    <m:r>
                                      <m:rPr>
                                        <m:nor/>
                                      </m:rPr>
                                      <a:rPr lang="en-US" sz="2400" b="0" i="1" dirty="0">
                                        <a:solidFill>
                                          <a:schemeClr val="tx1"/>
                                        </a:solidFill>
                                      </a:rPr>
                                      <m:t> </m:t>
                                    </m:r>
                                  </m:e>
                                </m:d>
                              </m:oMath>
                            </m:oMathPara>
                          </a14:m>
                          <a:endParaRPr lang="en-US" sz="2400" b="0" i="0" dirty="0">
                            <a:solidFill>
                              <a:schemeClr val="tx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2400" b="0" i="0" dirty="0">
                            <a:solidFill>
                              <a:schemeClr val="bg1"/>
                            </a:solidFill>
                          </a:endParaRPr>
                        </a:p>
                      </a:txBody>
                      <a:tcPr>
                        <a:solidFill>
                          <a:schemeClr val="bg1"/>
                        </a:solidFill>
                      </a:tcPr>
                    </a:tc>
                    <a:extLst>
                      <a:ext uri="{0D108BD9-81ED-4DB2-BD59-A6C34878D82A}">
                        <a16:rowId xmlns:a16="http://schemas.microsoft.com/office/drawing/2014/main" val="3902411248"/>
                      </a:ext>
                    </a:extLst>
                  </a:tr>
                  <a:tr h="1169656">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2000" b="0" i="1" smtClean="0">
                                        <a:solidFill>
                                          <a:schemeClr val="tx1"/>
                                        </a:solidFill>
                                        <a:latin typeface="Cambria Math" panose="02040503050406030204" pitchFamily="18" charset="0"/>
                                      </a:rPr>
                                    </m:ctrlPr>
                                  </m:dPr>
                                  <m:e>
                                    <m:r>
                                      <m:rPr>
                                        <m:nor/>
                                      </m:rPr>
                                      <a:rPr lang="en-US" sz="2000" b="0">
                                        <a:solidFill>
                                          <a:schemeClr val="tx1"/>
                                        </a:solidFill>
                                      </a:rPr>
                                      <m:t>0</m:t>
                                    </m:r>
                                    <m:r>
                                      <a:rPr lang="en-US" sz="2000" b="0" i="1" smtClean="0">
                                        <a:solidFill>
                                          <a:schemeClr val="tx1"/>
                                        </a:solidFill>
                                        <a:latin typeface="Cambria Math" panose="02040503050406030204" pitchFamily="18" charset="0"/>
                                      </a:rPr>
                                      <m:t>0</m:t>
                                    </m:r>
                                  </m:e>
                                </m:d>
                              </m:oMath>
                            </m:oMathPara>
                          </a14:m>
                          <a:endParaRPr lang="en-US" sz="2000" b="0" dirty="0">
                            <a:solidFill>
                              <a:schemeClr val="tx1"/>
                            </a:solidFill>
                          </a:endParaRPr>
                        </a:p>
                      </a:txBody>
                      <a:tcPr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2000" b="0" i="1" smtClean="0">
                                        <a:solidFill>
                                          <a:schemeClr val="tx1"/>
                                        </a:solidFill>
                                        <a:latin typeface="Cambria Math" panose="02040503050406030204" pitchFamily="18" charset="0"/>
                                      </a:rPr>
                                    </m:ctrlPr>
                                  </m:dPr>
                                  <m:e>
                                    <m:r>
                                      <m:rPr>
                                        <m:nor/>
                                      </m:rPr>
                                      <a:rPr lang="en-US" sz="2000" b="0">
                                        <a:solidFill>
                                          <a:schemeClr val="tx1"/>
                                        </a:solidFill>
                                      </a:rPr>
                                      <m:t>0</m:t>
                                    </m:r>
                                    <m:r>
                                      <m:rPr>
                                        <m:nor/>
                                      </m:rPr>
                                      <a:rPr lang="en-US" sz="2000" b="0" i="0" smtClean="0">
                                        <a:solidFill>
                                          <a:schemeClr val="tx1"/>
                                        </a:solidFill>
                                      </a:rPr>
                                      <m:t>0</m:t>
                                    </m:r>
                                  </m:e>
                                </m:d>
                              </m:oMath>
                            </m:oMathPara>
                          </a14:m>
                          <a:endParaRPr lang="en-US" sz="2000" b="0" dirty="0">
                            <a:solidFill>
                              <a:schemeClr val="tx1"/>
                            </a:solidFill>
                          </a:endParaRPr>
                        </a:p>
                      </a:txBody>
                      <a:tcPr anchor="ctr"/>
                    </a:tc>
                    <a:tc>
                      <a:txBody>
                        <a:bodyPr/>
                        <a:lstStyle/>
                        <a:p>
                          <a:pPr/>
                          <a14:m>
                            <m:oMathPara xmlns:m="http://schemas.openxmlformats.org/officeDocument/2006/math">
                              <m:oMathParaPr>
                                <m:jc m:val="centerGroup"/>
                              </m:oMathParaPr>
                              <m:oMath xmlns:m="http://schemas.openxmlformats.org/officeDocument/2006/math">
                                <m:d>
                                  <m:dPr>
                                    <m:ctrlPr>
                                      <a:rPr lang="en-US" sz="2000" b="0" i="1" smtClean="0">
                                        <a:solidFill>
                                          <a:schemeClr val="bg1"/>
                                        </a:solidFill>
                                        <a:latin typeface="Cambria Math" panose="02040503050406030204" pitchFamily="18" charset="0"/>
                                        <a:ea typeface="Cambria Math" panose="02040503050406030204" pitchFamily="18" charset="0"/>
                                      </a:rPr>
                                    </m:ctrlPr>
                                  </m:dPr>
                                  <m:e>
                                    <m:m>
                                      <m:mPr>
                                        <m:mcs>
                                          <m:mc>
                                            <m:mcPr>
                                              <m:count m:val="1"/>
                                              <m:mcJc m:val="center"/>
                                            </m:mcPr>
                                          </m:mc>
                                        </m:mcs>
                                        <m:ctrlPr>
                                          <a:rPr lang="en-US" sz="2000" b="0" i="1" smtClean="0">
                                            <a:solidFill>
                                              <a:schemeClr val="bg1"/>
                                            </a:solidFill>
                                            <a:latin typeface="Cambria Math" panose="02040503050406030204" pitchFamily="18" charset="0"/>
                                            <a:ea typeface="Cambria Math" panose="02040503050406030204" pitchFamily="18" charset="0"/>
                                          </a:rPr>
                                        </m:ctrlPr>
                                      </m:mPr>
                                      <m:mr>
                                        <m:e>
                                          <m:r>
                                            <m:rPr>
                                              <m:brk m:alnAt="7"/>
                                            </m:rPr>
                                            <a:rPr lang="en-US" sz="2000" b="0" i="1" smtClean="0">
                                              <a:solidFill>
                                                <a:schemeClr val="bg1"/>
                                              </a:solidFill>
                                              <a:latin typeface="Cambria Math" panose="02040503050406030204" pitchFamily="18" charset="0"/>
                                              <a:ea typeface="Cambria Math" panose="02040503050406030204" pitchFamily="18" charset="0"/>
                                            </a:rPr>
                                            <m:t>1</m:t>
                                          </m:r>
                                        </m:e>
                                      </m:mr>
                                      <m:mr>
                                        <m:e>
                                          <m:r>
                                            <a:rPr lang="en-US" sz="2000" b="0" i="1" smtClean="0">
                                              <a:solidFill>
                                                <a:schemeClr val="bg1"/>
                                              </a:solidFill>
                                              <a:latin typeface="Cambria Math" panose="02040503050406030204" pitchFamily="18" charset="0"/>
                                              <a:ea typeface="Cambria Math" panose="02040503050406030204" pitchFamily="18" charset="0"/>
                                            </a:rPr>
                                            <m:t>0</m:t>
                                          </m:r>
                                        </m:e>
                                      </m:mr>
                                      <m:mr>
                                        <m:e>
                                          <m:r>
                                            <a:rPr lang="en-US" sz="2000" b="0" i="1" smtClean="0">
                                              <a:solidFill>
                                                <a:schemeClr val="bg1"/>
                                              </a:solidFill>
                                              <a:latin typeface="Cambria Math" panose="02040503050406030204" pitchFamily="18" charset="0"/>
                                              <a:ea typeface="Cambria Math" panose="02040503050406030204" pitchFamily="18" charset="0"/>
                                            </a:rPr>
                                            <m:t>0</m:t>
                                          </m:r>
                                        </m:e>
                                      </m:mr>
                                      <m:mr>
                                        <m:e>
                                          <m:r>
                                            <a:rPr lang="en-US" sz="2000" b="0" i="1" smtClean="0">
                                              <a:solidFill>
                                                <a:schemeClr val="bg1"/>
                                              </a:solidFill>
                                              <a:latin typeface="Cambria Math" panose="02040503050406030204" pitchFamily="18" charset="0"/>
                                              <a:ea typeface="Cambria Math" panose="02040503050406030204" pitchFamily="18" charset="0"/>
                                            </a:rPr>
                                            <m:t>0</m:t>
                                          </m:r>
                                        </m:e>
                                      </m:mr>
                                    </m:m>
                                  </m:e>
                                </m:d>
                              </m:oMath>
                            </m:oMathPara>
                          </a14:m>
                          <a:endParaRPr lang="en-US" sz="2000" b="0" dirty="0">
                            <a:solidFill>
                              <a:schemeClr val="bg1"/>
                            </a:solidFill>
                          </a:endParaRPr>
                        </a:p>
                      </a:txBody>
                      <a:tcPr anchor="ctr">
                        <a:solidFill>
                          <a:schemeClr val="bg1"/>
                        </a:solidFill>
                      </a:tcPr>
                    </a:tc>
                    <a:extLst>
                      <a:ext uri="{0D108BD9-81ED-4DB2-BD59-A6C34878D82A}">
                        <a16:rowId xmlns:a16="http://schemas.microsoft.com/office/drawing/2014/main" val="4274640674"/>
                      </a:ext>
                    </a:extLst>
                  </a:tr>
                  <a:tr h="1169656">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2000" b="0" i="1" smtClean="0">
                                        <a:solidFill>
                                          <a:schemeClr val="tx1"/>
                                        </a:solidFill>
                                        <a:latin typeface="Cambria Math" panose="02040503050406030204" pitchFamily="18" charset="0"/>
                                      </a:rPr>
                                    </m:ctrlPr>
                                  </m:dPr>
                                  <m:e>
                                    <m:r>
                                      <m:rPr>
                                        <m:nor/>
                                      </m:rPr>
                                      <a:rPr lang="en-US" sz="2000" b="0">
                                        <a:solidFill>
                                          <a:schemeClr val="tx1"/>
                                        </a:solidFill>
                                      </a:rPr>
                                      <m:t>0</m:t>
                                    </m:r>
                                    <m:r>
                                      <m:rPr>
                                        <m:nor/>
                                      </m:rPr>
                                      <a:rPr lang="en-US" sz="2000" b="0" smtClean="0">
                                        <a:solidFill>
                                          <a:schemeClr val="tx1"/>
                                        </a:solidFill>
                                      </a:rPr>
                                      <m:t>1</m:t>
                                    </m:r>
                                  </m:e>
                                </m:d>
                              </m:oMath>
                            </m:oMathPara>
                          </a14:m>
                          <a:endParaRPr lang="en-US" sz="2000" b="0" dirty="0">
                            <a:solidFill>
                              <a:schemeClr val="tx1"/>
                            </a:solidFill>
                          </a:endParaRPr>
                        </a:p>
                      </a:txBody>
                      <a:tcPr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2000" b="0" i="1" smtClean="0">
                                        <a:solidFill>
                                          <a:schemeClr val="tx1"/>
                                        </a:solidFill>
                                        <a:latin typeface="Cambria Math" panose="02040503050406030204" pitchFamily="18" charset="0"/>
                                      </a:rPr>
                                    </m:ctrlPr>
                                  </m:dPr>
                                  <m:e>
                                    <m:r>
                                      <m:rPr>
                                        <m:nor/>
                                      </m:rPr>
                                      <a:rPr lang="en-US" sz="2000" b="0" i="0" smtClean="0">
                                        <a:solidFill>
                                          <a:schemeClr val="tx1"/>
                                        </a:solidFill>
                                      </a:rPr>
                                      <m:t>0</m:t>
                                    </m:r>
                                    <m:r>
                                      <m:rPr>
                                        <m:nor/>
                                      </m:rPr>
                                      <a:rPr lang="en-US" sz="2000" b="0" smtClean="0">
                                        <a:solidFill>
                                          <a:schemeClr val="tx1"/>
                                        </a:solidFill>
                                      </a:rPr>
                                      <m:t>1</m:t>
                                    </m:r>
                                  </m:e>
                                </m:d>
                              </m:oMath>
                            </m:oMathPara>
                          </a14:m>
                          <a:endParaRPr lang="en-US" sz="2000" b="0" dirty="0">
                            <a:solidFill>
                              <a:schemeClr val="tx1"/>
                            </a:solidFill>
                          </a:endParaRPr>
                        </a:p>
                      </a:txBody>
                      <a:tcPr anchor="ctr"/>
                    </a:tc>
                    <a:tc>
                      <a:txBody>
                        <a:bodyPr/>
                        <a:lstStyle/>
                        <a:p>
                          <a:pPr/>
                          <a14:m>
                            <m:oMathPara xmlns:m="http://schemas.openxmlformats.org/officeDocument/2006/math">
                              <m:oMathParaPr>
                                <m:jc m:val="centerGroup"/>
                              </m:oMathParaPr>
                              <m:oMath xmlns:m="http://schemas.openxmlformats.org/officeDocument/2006/math">
                                <m:d>
                                  <m:dPr>
                                    <m:ctrlPr>
                                      <a:rPr lang="en-US" sz="2000" b="0" i="1" smtClean="0">
                                        <a:solidFill>
                                          <a:schemeClr val="bg1"/>
                                        </a:solidFill>
                                        <a:latin typeface="Cambria Math" panose="02040503050406030204" pitchFamily="18" charset="0"/>
                                        <a:ea typeface="Cambria Math" panose="02040503050406030204" pitchFamily="18" charset="0"/>
                                      </a:rPr>
                                    </m:ctrlPr>
                                  </m:dPr>
                                  <m:e>
                                    <m:m>
                                      <m:mPr>
                                        <m:mcs>
                                          <m:mc>
                                            <m:mcPr>
                                              <m:count m:val="1"/>
                                              <m:mcJc m:val="center"/>
                                            </m:mcPr>
                                          </m:mc>
                                        </m:mcs>
                                        <m:ctrlPr>
                                          <a:rPr lang="en-US" sz="2000" b="0" i="1">
                                            <a:solidFill>
                                              <a:schemeClr val="bg1"/>
                                            </a:solidFill>
                                            <a:latin typeface="Cambria Math" panose="02040503050406030204" pitchFamily="18" charset="0"/>
                                            <a:ea typeface="Cambria Math" panose="02040503050406030204" pitchFamily="18" charset="0"/>
                                          </a:rPr>
                                        </m:ctrlPr>
                                      </m:mPr>
                                      <m:mr>
                                        <m:e>
                                          <m:r>
                                            <m:rPr>
                                              <m:brk m:alnAt="7"/>
                                            </m:rPr>
                                            <a:rPr lang="en-US" sz="2000" b="0" i="1" smtClean="0">
                                              <a:solidFill>
                                                <a:schemeClr val="bg1"/>
                                              </a:solidFill>
                                              <a:latin typeface="Cambria Math" panose="02040503050406030204" pitchFamily="18" charset="0"/>
                                              <a:ea typeface="Cambria Math" panose="02040503050406030204" pitchFamily="18" charset="0"/>
                                            </a:rPr>
                                            <m:t>0</m:t>
                                          </m:r>
                                        </m:e>
                                      </m:mr>
                                      <m:mr>
                                        <m:e>
                                          <m:r>
                                            <a:rPr lang="en-US" sz="2000" b="0" i="1" smtClean="0">
                                              <a:solidFill>
                                                <a:schemeClr val="bg1"/>
                                              </a:solidFill>
                                              <a:latin typeface="Cambria Math" panose="02040503050406030204" pitchFamily="18" charset="0"/>
                                              <a:ea typeface="Cambria Math" panose="02040503050406030204" pitchFamily="18" charset="0"/>
                                            </a:rPr>
                                            <m:t>1</m:t>
                                          </m:r>
                                        </m:e>
                                      </m:mr>
                                      <m:mr>
                                        <m:e>
                                          <m:r>
                                            <a:rPr lang="en-US" sz="2000" b="0" i="1" smtClean="0">
                                              <a:solidFill>
                                                <a:schemeClr val="bg1"/>
                                              </a:solidFill>
                                              <a:latin typeface="Cambria Math" panose="02040503050406030204" pitchFamily="18" charset="0"/>
                                              <a:ea typeface="Cambria Math" panose="02040503050406030204" pitchFamily="18" charset="0"/>
                                            </a:rPr>
                                            <m:t>0</m:t>
                                          </m:r>
                                        </m:e>
                                      </m:mr>
                                      <m:mr>
                                        <m:e>
                                          <m:r>
                                            <a:rPr lang="en-US" sz="2000" b="0" i="1" smtClean="0">
                                              <a:solidFill>
                                                <a:schemeClr val="bg1"/>
                                              </a:solidFill>
                                              <a:latin typeface="Cambria Math" panose="02040503050406030204" pitchFamily="18" charset="0"/>
                                              <a:ea typeface="Cambria Math" panose="02040503050406030204" pitchFamily="18" charset="0"/>
                                            </a:rPr>
                                            <m:t>0</m:t>
                                          </m:r>
                                        </m:e>
                                      </m:mr>
                                    </m:m>
                                  </m:e>
                                </m:d>
                              </m:oMath>
                            </m:oMathPara>
                          </a14:m>
                          <a:endParaRPr lang="en-US" sz="2000" b="0" dirty="0">
                            <a:solidFill>
                              <a:schemeClr val="bg1"/>
                            </a:solidFill>
                          </a:endParaRPr>
                        </a:p>
                      </a:txBody>
                      <a:tcPr anchor="ctr">
                        <a:solidFill>
                          <a:schemeClr val="bg1"/>
                        </a:solidFill>
                      </a:tcPr>
                    </a:tc>
                    <a:extLst>
                      <a:ext uri="{0D108BD9-81ED-4DB2-BD59-A6C34878D82A}">
                        <a16:rowId xmlns:a16="http://schemas.microsoft.com/office/drawing/2014/main" val="1780964737"/>
                      </a:ext>
                    </a:extLst>
                  </a:tr>
                  <a:tr h="1187349">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2000" b="0" i="1" smtClean="0">
                                        <a:solidFill>
                                          <a:schemeClr val="tx1"/>
                                        </a:solidFill>
                                        <a:latin typeface="Cambria Math" panose="02040503050406030204" pitchFamily="18" charset="0"/>
                                      </a:rPr>
                                    </m:ctrlPr>
                                  </m:dPr>
                                  <m:e>
                                    <m:r>
                                      <m:rPr>
                                        <m:nor/>
                                      </m:rPr>
                                      <a:rPr lang="en-US" sz="2000" b="0" smtClean="0">
                                        <a:solidFill>
                                          <a:schemeClr val="tx1"/>
                                        </a:solidFill>
                                      </a:rPr>
                                      <m:t>10</m:t>
                                    </m:r>
                                  </m:e>
                                </m:d>
                              </m:oMath>
                            </m:oMathPara>
                          </a14:m>
                          <a:endParaRPr lang="en-US" sz="2000" b="0" dirty="0">
                            <a:solidFill>
                              <a:schemeClr val="tx1"/>
                            </a:solidFill>
                          </a:endParaRPr>
                        </a:p>
                      </a:txBody>
                      <a:tcPr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2000" b="0" i="1" smtClean="0">
                                        <a:solidFill>
                                          <a:schemeClr val="tx1"/>
                                        </a:solidFill>
                                        <a:latin typeface="Cambria Math" panose="02040503050406030204" pitchFamily="18" charset="0"/>
                                        <a:ea typeface="Cambria Math" panose="02040503050406030204" pitchFamily="18" charset="0"/>
                                      </a:rPr>
                                    </m:ctrlPr>
                                  </m:dPr>
                                  <m:e>
                                    <m:r>
                                      <m:rPr>
                                        <m:nor/>
                                      </m:rPr>
                                      <a:rPr lang="en-US" sz="2000" b="0" smtClean="0">
                                        <a:solidFill>
                                          <a:schemeClr val="tx1"/>
                                        </a:solidFill>
                                        <a:latin typeface="Cambria Math" panose="02040503050406030204" pitchFamily="18" charset="0"/>
                                        <a:ea typeface="Cambria Math" panose="02040503050406030204" pitchFamily="18" charset="0"/>
                                      </a:rPr>
                                      <m:t>1</m:t>
                                    </m:r>
                                  </m:e>
                                </m:d>
                                <m:r>
                                  <a:rPr lang="en-US" sz="2000" b="0" i="1">
                                    <a:solidFill>
                                      <a:schemeClr val="tx1"/>
                                    </a:solidFill>
                                    <a:latin typeface="Cambria Math" panose="02040503050406030204" pitchFamily="18" charset="0"/>
                                    <a:ea typeface="Cambria Math" panose="02040503050406030204" pitchFamily="18" charset="0"/>
                                  </a:rPr>
                                  <m:t>⨂</m:t>
                                </m:r>
                                <m:r>
                                  <a:rPr lang="en-US" sz="2000" b="0" i="1">
                                    <a:solidFill>
                                      <a:schemeClr val="tx1"/>
                                    </a:solidFill>
                                    <a:latin typeface="Cambria Math" panose="02040503050406030204" pitchFamily="18" charset="0"/>
                                    <a:ea typeface="Cambria Math" panose="02040503050406030204" pitchFamily="18" charset="0"/>
                                  </a:rPr>
                                  <m:t>𝐺</m:t>
                                </m:r>
                                <m:d>
                                  <m:dPr>
                                    <m:begChr m:val="|"/>
                                    <m:endChr m:val="⟩"/>
                                    <m:ctrlPr>
                                      <a:rPr lang="en-US" sz="2000" b="0" i="1">
                                        <a:solidFill>
                                          <a:schemeClr val="tx1"/>
                                        </a:solidFill>
                                        <a:latin typeface="Cambria Math" panose="02040503050406030204" pitchFamily="18" charset="0"/>
                                        <a:ea typeface="Cambria Math" panose="02040503050406030204" pitchFamily="18" charset="0"/>
                                      </a:rPr>
                                    </m:ctrlPr>
                                  </m:dPr>
                                  <m:e>
                                    <m:r>
                                      <m:rPr>
                                        <m:nor/>
                                      </m:rPr>
                                      <a:rPr lang="en-US" sz="2000" b="0">
                                        <a:solidFill>
                                          <a:schemeClr val="tx1"/>
                                        </a:solidFill>
                                        <a:latin typeface="Cambria Math" panose="02040503050406030204" pitchFamily="18" charset="0"/>
                                        <a:ea typeface="Cambria Math" panose="02040503050406030204" pitchFamily="18" charset="0"/>
                                      </a:rPr>
                                      <m:t>0</m:t>
                                    </m:r>
                                  </m:e>
                                </m:d>
                              </m:oMath>
                            </m:oMathPara>
                          </a14:m>
                          <a:endParaRPr lang="en-US" sz="2000" b="0" dirty="0">
                            <a:solidFill>
                              <a:schemeClr val="tx1"/>
                            </a:solidFill>
                          </a:endParaRPr>
                        </a:p>
                      </a:txBody>
                      <a:tcPr anchor="ctr"/>
                    </a:tc>
                    <a:tc>
                      <a:txBody>
                        <a:bodyPr/>
                        <a:lstStyle/>
                        <a:p>
                          <a:pPr/>
                          <a14:m>
                            <m:oMathPara xmlns:m="http://schemas.openxmlformats.org/officeDocument/2006/math">
                              <m:oMathParaPr>
                                <m:jc m:val="centerGroup"/>
                              </m:oMathParaPr>
                              <m:oMath xmlns:m="http://schemas.openxmlformats.org/officeDocument/2006/math">
                                <m:d>
                                  <m:dPr>
                                    <m:ctrlPr>
                                      <a:rPr lang="en-US" sz="2000" b="0" i="1" smtClean="0">
                                        <a:solidFill>
                                          <a:schemeClr val="bg1"/>
                                        </a:solidFill>
                                        <a:latin typeface="Cambria Math" panose="02040503050406030204" pitchFamily="18" charset="0"/>
                                        <a:ea typeface="Cambria Math" panose="02040503050406030204" pitchFamily="18" charset="0"/>
                                      </a:rPr>
                                    </m:ctrlPr>
                                  </m:dPr>
                                  <m:e>
                                    <m:m>
                                      <m:mPr>
                                        <m:mcs>
                                          <m:mc>
                                            <m:mcPr>
                                              <m:count m:val="1"/>
                                              <m:mcJc m:val="center"/>
                                            </m:mcPr>
                                          </m:mc>
                                        </m:mcs>
                                        <m:ctrlPr>
                                          <a:rPr lang="en-US" sz="2000" b="0" i="1">
                                            <a:solidFill>
                                              <a:schemeClr val="bg1"/>
                                            </a:solidFill>
                                            <a:latin typeface="Cambria Math" panose="02040503050406030204" pitchFamily="18" charset="0"/>
                                            <a:ea typeface="Cambria Math" panose="02040503050406030204" pitchFamily="18" charset="0"/>
                                          </a:rPr>
                                        </m:ctrlPr>
                                      </m:mPr>
                                      <m:mr>
                                        <m:e>
                                          <m:r>
                                            <m:rPr>
                                              <m:brk m:alnAt="7"/>
                                            </m:rPr>
                                            <a:rPr lang="en-US" sz="2000" b="0" i="1">
                                              <a:solidFill>
                                                <a:schemeClr val="bg1"/>
                                              </a:solidFill>
                                              <a:latin typeface="Cambria Math" panose="02040503050406030204" pitchFamily="18" charset="0"/>
                                              <a:ea typeface="Cambria Math" panose="02040503050406030204" pitchFamily="18" charset="0"/>
                                            </a:rPr>
                                            <m:t>0</m:t>
                                          </m:r>
                                        </m:e>
                                      </m:mr>
                                      <m:mr>
                                        <m:e>
                                          <m:r>
                                            <a:rPr lang="en-US" sz="2000" b="0" i="1">
                                              <a:solidFill>
                                                <a:schemeClr val="bg1"/>
                                              </a:solidFill>
                                              <a:latin typeface="Cambria Math" panose="02040503050406030204" pitchFamily="18" charset="0"/>
                                              <a:ea typeface="Cambria Math" panose="02040503050406030204" pitchFamily="18" charset="0"/>
                                            </a:rPr>
                                            <m:t>0</m:t>
                                          </m:r>
                                        </m:e>
                                      </m:mr>
                                      <m:mr>
                                        <m:e>
                                          <m:sSub>
                                            <m:sSubPr>
                                              <m:ctrlPr>
                                                <a:rPr lang="en-US" sz="2000" b="0" i="1">
                                                  <a:solidFill>
                                                    <a:schemeClr val="bg1"/>
                                                  </a:solidFill>
                                                  <a:latin typeface="Cambria Math" panose="02040503050406030204" pitchFamily="18" charset="0"/>
                                                </a:rPr>
                                              </m:ctrlPr>
                                            </m:sSubPr>
                                            <m:e>
                                              <m:r>
                                                <a:rPr lang="en-US" sz="2000" b="0" i="1">
                                                  <a:solidFill>
                                                    <a:schemeClr val="bg1"/>
                                                  </a:solidFill>
                                                  <a:latin typeface="Cambria Math" panose="02040503050406030204" pitchFamily="18" charset="0"/>
                                                </a:rPr>
                                                <m:t>𝑔</m:t>
                                              </m:r>
                                            </m:e>
                                            <m:sub>
                                              <m:r>
                                                <a:rPr lang="en-US" sz="2000" b="0" i="1">
                                                  <a:solidFill>
                                                    <a:schemeClr val="bg1"/>
                                                  </a:solidFill>
                                                  <a:latin typeface="Cambria Math" panose="02040503050406030204" pitchFamily="18" charset="0"/>
                                                </a:rPr>
                                                <m:t>00</m:t>
                                              </m:r>
                                            </m:sub>
                                          </m:sSub>
                                        </m:e>
                                      </m:mr>
                                      <m:mr>
                                        <m:e>
                                          <m:sSub>
                                            <m:sSubPr>
                                              <m:ctrlPr>
                                                <a:rPr lang="en-US" sz="2000" b="0" i="1">
                                                  <a:solidFill>
                                                    <a:schemeClr val="bg1"/>
                                                  </a:solidFill>
                                                  <a:latin typeface="Cambria Math" panose="02040503050406030204" pitchFamily="18" charset="0"/>
                                                </a:rPr>
                                              </m:ctrlPr>
                                            </m:sSubPr>
                                            <m:e>
                                              <m:r>
                                                <a:rPr lang="en-US" sz="2000" b="0" i="1">
                                                  <a:solidFill>
                                                    <a:schemeClr val="bg1"/>
                                                  </a:solidFill>
                                                  <a:latin typeface="Cambria Math" panose="02040503050406030204" pitchFamily="18" charset="0"/>
                                                </a:rPr>
                                                <m:t>𝑔</m:t>
                                              </m:r>
                                            </m:e>
                                            <m:sub>
                                              <m:r>
                                                <a:rPr lang="en-US" sz="2000" b="0" i="1">
                                                  <a:solidFill>
                                                    <a:schemeClr val="bg1"/>
                                                  </a:solidFill>
                                                  <a:latin typeface="Cambria Math" panose="02040503050406030204" pitchFamily="18" charset="0"/>
                                                </a:rPr>
                                                <m:t>10</m:t>
                                              </m:r>
                                            </m:sub>
                                          </m:sSub>
                                        </m:e>
                                      </m:mr>
                                    </m:m>
                                  </m:e>
                                </m:d>
                              </m:oMath>
                            </m:oMathPara>
                          </a14:m>
                          <a:endParaRPr lang="en-US" sz="2000" b="0" dirty="0">
                            <a:solidFill>
                              <a:schemeClr val="bg1"/>
                            </a:solidFill>
                          </a:endParaRPr>
                        </a:p>
                      </a:txBody>
                      <a:tcPr anchor="ctr">
                        <a:solidFill>
                          <a:schemeClr val="bg1"/>
                        </a:solidFill>
                      </a:tcPr>
                    </a:tc>
                    <a:extLst>
                      <a:ext uri="{0D108BD9-81ED-4DB2-BD59-A6C34878D82A}">
                        <a16:rowId xmlns:a16="http://schemas.microsoft.com/office/drawing/2014/main" val="26503616"/>
                      </a:ext>
                    </a:extLst>
                  </a:tr>
                  <a:tr h="1187349">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2000" b="0" i="1" smtClean="0">
                                        <a:solidFill>
                                          <a:schemeClr val="tx1"/>
                                        </a:solidFill>
                                        <a:latin typeface="Cambria Math" panose="02040503050406030204" pitchFamily="18" charset="0"/>
                                      </a:rPr>
                                    </m:ctrlPr>
                                  </m:dPr>
                                  <m:e>
                                    <m:r>
                                      <m:rPr>
                                        <m:nor/>
                                      </m:rPr>
                                      <a:rPr lang="en-US" sz="2000" b="0" smtClean="0">
                                        <a:solidFill>
                                          <a:schemeClr val="tx1"/>
                                        </a:solidFill>
                                      </a:rPr>
                                      <m:t>11</m:t>
                                    </m:r>
                                  </m:e>
                                </m:d>
                              </m:oMath>
                            </m:oMathPara>
                          </a14:m>
                          <a:endParaRPr lang="en-US" sz="2000" b="0" dirty="0">
                            <a:solidFill>
                              <a:schemeClr val="tx1"/>
                            </a:solidFill>
                          </a:endParaRPr>
                        </a:p>
                      </a:txBody>
                      <a:tcPr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2000" b="0" i="1" smtClean="0">
                                        <a:solidFill>
                                          <a:schemeClr val="tx1"/>
                                        </a:solidFill>
                                        <a:latin typeface="Cambria Math" panose="02040503050406030204" pitchFamily="18" charset="0"/>
                                        <a:ea typeface="Cambria Math" panose="02040503050406030204" pitchFamily="18" charset="0"/>
                                      </a:rPr>
                                    </m:ctrlPr>
                                  </m:dPr>
                                  <m:e>
                                    <m:r>
                                      <m:rPr>
                                        <m:nor/>
                                      </m:rPr>
                                      <a:rPr lang="en-US" sz="2000" b="0" smtClean="0">
                                        <a:solidFill>
                                          <a:schemeClr val="tx1"/>
                                        </a:solidFill>
                                        <a:latin typeface="Cambria Math" panose="02040503050406030204" pitchFamily="18" charset="0"/>
                                        <a:ea typeface="Cambria Math" panose="02040503050406030204" pitchFamily="18" charset="0"/>
                                      </a:rPr>
                                      <m:t>1</m:t>
                                    </m:r>
                                  </m:e>
                                </m:d>
                                <m:r>
                                  <a:rPr lang="en-US" sz="2000" b="0" i="1">
                                    <a:solidFill>
                                      <a:schemeClr val="tx1"/>
                                    </a:solidFill>
                                    <a:latin typeface="Cambria Math" panose="02040503050406030204" pitchFamily="18" charset="0"/>
                                    <a:ea typeface="Cambria Math" panose="02040503050406030204" pitchFamily="18" charset="0"/>
                                  </a:rPr>
                                  <m:t>⨂</m:t>
                                </m:r>
                                <m:r>
                                  <a:rPr lang="en-US" sz="2000" b="0" i="1">
                                    <a:solidFill>
                                      <a:schemeClr val="tx1"/>
                                    </a:solidFill>
                                    <a:latin typeface="Cambria Math" panose="02040503050406030204" pitchFamily="18" charset="0"/>
                                    <a:ea typeface="Cambria Math" panose="02040503050406030204" pitchFamily="18" charset="0"/>
                                  </a:rPr>
                                  <m:t>𝐺</m:t>
                                </m:r>
                                <m:d>
                                  <m:dPr>
                                    <m:begChr m:val="|"/>
                                    <m:endChr m:val="⟩"/>
                                    <m:ctrlPr>
                                      <a:rPr lang="en-US" sz="2000" b="0" i="1">
                                        <a:solidFill>
                                          <a:schemeClr val="tx1"/>
                                        </a:solidFill>
                                        <a:latin typeface="Cambria Math" panose="02040503050406030204" pitchFamily="18" charset="0"/>
                                        <a:ea typeface="Cambria Math" panose="02040503050406030204" pitchFamily="18" charset="0"/>
                                      </a:rPr>
                                    </m:ctrlPr>
                                  </m:dPr>
                                  <m:e>
                                    <m:r>
                                      <m:rPr>
                                        <m:nor/>
                                      </m:rPr>
                                      <a:rPr lang="en-US" sz="2000" b="0" i="0" smtClean="0">
                                        <a:solidFill>
                                          <a:schemeClr val="tx1"/>
                                        </a:solidFill>
                                        <a:latin typeface="Cambria Math" panose="02040503050406030204" pitchFamily="18" charset="0"/>
                                        <a:ea typeface="Cambria Math" panose="02040503050406030204" pitchFamily="18" charset="0"/>
                                      </a:rPr>
                                      <m:t>1</m:t>
                                    </m:r>
                                  </m:e>
                                </m:d>
                              </m:oMath>
                            </m:oMathPara>
                          </a14:m>
                          <a:endParaRPr lang="en-US" sz="2000" b="0" dirty="0">
                            <a:solidFill>
                              <a:schemeClr val="tx1"/>
                            </a:solidFill>
                          </a:endParaRPr>
                        </a:p>
                      </a:txBody>
                      <a:tcPr anchor="ctr"/>
                    </a:tc>
                    <a:tc>
                      <a:txBody>
                        <a:bodyPr/>
                        <a:lstStyle/>
                        <a:p>
                          <a:pPr/>
                          <a14:m>
                            <m:oMathPara xmlns:m="http://schemas.openxmlformats.org/officeDocument/2006/math">
                              <m:oMathParaPr>
                                <m:jc m:val="centerGroup"/>
                              </m:oMathParaPr>
                              <m:oMath xmlns:m="http://schemas.openxmlformats.org/officeDocument/2006/math">
                                <m:d>
                                  <m:dPr>
                                    <m:ctrlPr>
                                      <a:rPr lang="en-US" sz="2000" b="0" i="1" smtClean="0">
                                        <a:solidFill>
                                          <a:schemeClr val="bg1"/>
                                        </a:solidFill>
                                        <a:latin typeface="Cambria Math" panose="02040503050406030204" pitchFamily="18" charset="0"/>
                                        <a:ea typeface="Cambria Math" panose="02040503050406030204" pitchFamily="18" charset="0"/>
                                      </a:rPr>
                                    </m:ctrlPr>
                                  </m:dPr>
                                  <m:e>
                                    <m:m>
                                      <m:mPr>
                                        <m:mcs>
                                          <m:mc>
                                            <m:mcPr>
                                              <m:count m:val="1"/>
                                              <m:mcJc m:val="center"/>
                                            </m:mcPr>
                                          </m:mc>
                                        </m:mcs>
                                        <m:ctrlPr>
                                          <a:rPr lang="en-US" sz="2000" b="0" i="1">
                                            <a:solidFill>
                                              <a:schemeClr val="bg1"/>
                                            </a:solidFill>
                                            <a:latin typeface="Cambria Math" panose="02040503050406030204" pitchFamily="18" charset="0"/>
                                            <a:ea typeface="Cambria Math" panose="02040503050406030204" pitchFamily="18" charset="0"/>
                                          </a:rPr>
                                        </m:ctrlPr>
                                      </m:mPr>
                                      <m:mr>
                                        <m:e>
                                          <m:r>
                                            <m:rPr>
                                              <m:brk m:alnAt="7"/>
                                            </m:rPr>
                                            <a:rPr lang="en-US" sz="2000" b="0" i="1">
                                              <a:solidFill>
                                                <a:schemeClr val="bg1"/>
                                              </a:solidFill>
                                              <a:latin typeface="Cambria Math" panose="02040503050406030204" pitchFamily="18" charset="0"/>
                                              <a:ea typeface="Cambria Math" panose="02040503050406030204" pitchFamily="18" charset="0"/>
                                            </a:rPr>
                                            <m:t>0</m:t>
                                          </m:r>
                                        </m:e>
                                      </m:mr>
                                      <m:mr>
                                        <m:e>
                                          <m:r>
                                            <a:rPr lang="en-US" sz="2000" b="0" i="1">
                                              <a:solidFill>
                                                <a:schemeClr val="bg1"/>
                                              </a:solidFill>
                                              <a:latin typeface="Cambria Math" panose="02040503050406030204" pitchFamily="18" charset="0"/>
                                              <a:ea typeface="Cambria Math" panose="02040503050406030204" pitchFamily="18" charset="0"/>
                                            </a:rPr>
                                            <m:t>0</m:t>
                                          </m:r>
                                        </m:e>
                                      </m:mr>
                                      <m:mr>
                                        <m:e>
                                          <m:sSub>
                                            <m:sSubPr>
                                              <m:ctrlPr>
                                                <a:rPr lang="en-US" sz="2000" b="0" i="1">
                                                  <a:solidFill>
                                                    <a:schemeClr val="bg1"/>
                                                  </a:solidFill>
                                                  <a:latin typeface="Cambria Math" panose="02040503050406030204" pitchFamily="18" charset="0"/>
                                                </a:rPr>
                                              </m:ctrlPr>
                                            </m:sSubPr>
                                            <m:e>
                                              <m:r>
                                                <a:rPr lang="en-US" sz="2000" b="0" i="1">
                                                  <a:solidFill>
                                                    <a:schemeClr val="bg1"/>
                                                  </a:solidFill>
                                                  <a:latin typeface="Cambria Math" panose="02040503050406030204" pitchFamily="18" charset="0"/>
                                                </a:rPr>
                                                <m:t>𝑔</m:t>
                                              </m:r>
                                            </m:e>
                                            <m:sub>
                                              <m:r>
                                                <a:rPr lang="en-US" sz="2000" b="0" i="1">
                                                  <a:solidFill>
                                                    <a:schemeClr val="bg1"/>
                                                  </a:solidFill>
                                                  <a:latin typeface="Cambria Math" panose="02040503050406030204" pitchFamily="18" charset="0"/>
                                                </a:rPr>
                                                <m:t>01</m:t>
                                              </m:r>
                                            </m:sub>
                                          </m:sSub>
                                        </m:e>
                                      </m:mr>
                                      <m:mr>
                                        <m:e>
                                          <m:sSub>
                                            <m:sSubPr>
                                              <m:ctrlPr>
                                                <a:rPr lang="en-US" sz="2000" b="0" i="1">
                                                  <a:solidFill>
                                                    <a:schemeClr val="bg1"/>
                                                  </a:solidFill>
                                                  <a:latin typeface="Cambria Math" panose="02040503050406030204" pitchFamily="18" charset="0"/>
                                                </a:rPr>
                                              </m:ctrlPr>
                                            </m:sSubPr>
                                            <m:e>
                                              <m:r>
                                                <a:rPr lang="en-US" sz="2000" b="0" i="1">
                                                  <a:solidFill>
                                                    <a:schemeClr val="bg1"/>
                                                  </a:solidFill>
                                                  <a:latin typeface="Cambria Math" panose="02040503050406030204" pitchFamily="18" charset="0"/>
                                                </a:rPr>
                                                <m:t>𝑔</m:t>
                                              </m:r>
                                            </m:e>
                                            <m:sub>
                                              <m:r>
                                                <a:rPr lang="en-US" sz="2000" b="0" i="1">
                                                  <a:solidFill>
                                                    <a:schemeClr val="bg1"/>
                                                  </a:solidFill>
                                                  <a:latin typeface="Cambria Math" panose="02040503050406030204" pitchFamily="18" charset="0"/>
                                                </a:rPr>
                                                <m:t>11</m:t>
                                              </m:r>
                                            </m:sub>
                                          </m:sSub>
                                        </m:e>
                                      </m:mr>
                                    </m:m>
                                  </m:e>
                                </m:d>
                              </m:oMath>
                            </m:oMathPara>
                          </a14:m>
                          <a:endParaRPr lang="en-US" sz="2000" b="0" dirty="0">
                            <a:solidFill>
                              <a:schemeClr val="bg1"/>
                            </a:solidFill>
                          </a:endParaRPr>
                        </a:p>
                      </a:txBody>
                      <a:tcPr anchor="ctr">
                        <a:solidFill>
                          <a:schemeClr val="bg1"/>
                        </a:solidFill>
                      </a:tcPr>
                    </a:tc>
                    <a:extLst>
                      <a:ext uri="{0D108BD9-81ED-4DB2-BD59-A6C34878D82A}">
                        <a16:rowId xmlns:a16="http://schemas.microsoft.com/office/drawing/2014/main" val="628222758"/>
                      </a:ext>
                    </a:extLst>
                  </a:tr>
                </a:tbl>
              </a:graphicData>
            </a:graphic>
          </p:graphicFrame>
        </mc:Choice>
        <mc:Fallback xmlns="">
          <p:graphicFrame>
            <p:nvGraphicFramePr>
              <p:cNvPr id="24" name="Table 23">
                <a:extLst>
                  <a:ext uri="{FF2B5EF4-FFF2-40B4-BE49-F238E27FC236}">
                    <a16:creationId xmlns:a16="http://schemas.microsoft.com/office/drawing/2014/main" id="{86D6A6A8-33F5-2941-8451-A7B1B6E590C8}"/>
                  </a:ext>
                </a:extLst>
              </p:cNvPr>
              <p:cNvGraphicFramePr>
                <a:graphicFrameLocks noGrp="1"/>
              </p:cNvGraphicFramePr>
              <p:nvPr>
                <p:extLst>
                  <p:ext uri="{D42A27DB-BD31-4B8C-83A1-F6EECF244321}">
                    <p14:modId xmlns:p14="http://schemas.microsoft.com/office/powerpoint/2010/main" val="2567165785"/>
                  </p:ext>
                </p:extLst>
              </p:nvPr>
            </p:nvGraphicFramePr>
            <p:xfrm>
              <a:off x="2289145" y="926631"/>
              <a:ext cx="4835568" cy="5780152"/>
            </p:xfrm>
            <a:graphic>
              <a:graphicData uri="http://schemas.openxmlformats.org/drawingml/2006/table">
                <a:tbl>
                  <a:tblPr firstRow="1" bandRow="1">
                    <a:tableStyleId>{F5AB1C69-6EDB-4FF4-983F-18BD219EF322}</a:tableStyleId>
                  </a:tblPr>
                  <a:tblGrid>
                    <a:gridCol w="975766">
                      <a:extLst>
                        <a:ext uri="{9D8B030D-6E8A-4147-A177-3AD203B41FA5}">
                          <a16:colId xmlns:a16="http://schemas.microsoft.com/office/drawing/2014/main" val="3371686391"/>
                        </a:ext>
                      </a:extLst>
                    </a:gridCol>
                    <a:gridCol w="1295829">
                      <a:extLst>
                        <a:ext uri="{9D8B030D-6E8A-4147-A177-3AD203B41FA5}">
                          <a16:colId xmlns:a16="http://schemas.microsoft.com/office/drawing/2014/main" val="1340829466"/>
                        </a:ext>
                      </a:extLst>
                    </a:gridCol>
                    <a:gridCol w="2563973">
                      <a:extLst>
                        <a:ext uri="{9D8B030D-6E8A-4147-A177-3AD203B41FA5}">
                          <a16:colId xmlns:a16="http://schemas.microsoft.com/office/drawing/2014/main" val="2820400135"/>
                        </a:ext>
                      </a:extLst>
                    </a:gridCol>
                  </a:tblGrid>
                  <a:tr h="822960">
                    <a:tc>
                      <a:txBody>
                        <a:bodyPr/>
                        <a:lstStyle/>
                        <a:p>
                          <a:endParaRPr lang="en-US"/>
                        </a:p>
                      </a:txBody>
                      <a:tcPr>
                        <a:blipFill>
                          <a:blip r:embed="rId8"/>
                          <a:stretch>
                            <a:fillRect l="-1299" t="-4615" r="-397403" b="-606154"/>
                          </a:stretch>
                        </a:blipFill>
                      </a:tcPr>
                    </a:tc>
                    <a:tc>
                      <a:txBody>
                        <a:bodyPr/>
                        <a:lstStyle/>
                        <a:p>
                          <a:endParaRPr lang="en-US"/>
                        </a:p>
                      </a:txBody>
                      <a:tcPr>
                        <a:blipFill>
                          <a:blip r:embed="rId8"/>
                          <a:stretch>
                            <a:fillRect l="-76471" t="-4615" r="-200000" b="-606154"/>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2400" b="0" i="0" dirty="0">
                            <a:solidFill>
                              <a:schemeClr val="bg1"/>
                            </a:solidFill>
                          </a:endParaRPr>
                        </a:p>
                      </a:txBody>
                      <a:tcPr>
                        <a:solidFill>
                          <a:schemeClr val="bg1"/>
                        </a:solidFill>
                      </a:tcPr>
                    </a:tc>
                    <a:extLst>
                      <a:ext uri="{0D108BD9-81ED-4DB2-BD59-A6C34878D82A}">
                        <a16:rowId xmlns:a16="http://schemas.microsoft.com/office/drawing/2014/main" val="3902411248"/>
                      </a:ext>
                    </a:extLst>
                  </a:tr>
                  <a:tr h="1229995">
                    <a:tc>
                      <a:txBody>
                        <a:bodyPr/>
                        <a:lstStyle/>
                        <a:p>
                          <a:endParaRPr lang="en-US"/>
                        </a:p>
                      </a:txBody>
                      <a:tcPr anchor="ctr">
                        <a:blipFill>
                          <a:blip r:embed="rId8"/>
                          <a:stretch>
                            <a:fillRect l="-1299" t="-70103" r="-397403" b="-306186"/>
                          </a:stretch>
                        </a:blipFill>
                      </a:tcPr>
                    </a:tc>
                    <a:tc>
                      <a:txBody>
                        <a:bodyPr/>
                        <a:lstStyle/>
                        <a:p>
                          <a:endParaRPr lang="en-US"/>
                        </a:p>
                      </a:txBody>
                      <a:tcPr anchor="ctr">
                        <a:blipFill>
                          <a:blip r:embed="rId8"/>
                          <a:stretch>
                            <a:fillRect l="-76471" t="-70103" r="-200000" b="-306186"/>
                          </a:stretch>
                        </a:blipFill>
                      </a:tcPr>
                    </a:tc>
                    <a:tc>
                      <a:txBody>
                        <a:bodyPr/>
                        <a:lstStyle/>
                        <a:p>
                          <a:endParaRPr lang="en-US"/>
                        </a:p>
                      </a:txBody>
                      <a:tcPr anchor="ctr">
                        <a:blipFill>
                          <a:blip r:embed="rId8"/>
                          <a:stretch>
                            <a:fillRect l="-88670" t="-70103" r="-493" b="-306186"/>
                          </a:stretch>
                        </a:blipFill>
                      </a:tcPr>
                    </a:tc>
                    <a:extLst>
                      <a:ext uri="{0D108BD9-81ED-4DB2-BD59-A6C34878D82A}">
                        <a16:rowId xmlns:a16="http://schemas.microsoft.com/office/drawing/2014/main" val="4274640674"/>
                      </a:ext>
                    </a:extLst>
                  </a:tr>
                  <a:tr h="1229995">
                    <a:tc>
                      <a:txBody>
                        <a:bodyPr/>
                        <a:lstStyle/>
                        <a:p>
                          <a:endParaRPr lang="en-US"/>
                        </a:p>
                      </a:txBody>
                      <a:tcPr anchor="ctr">
                        <a:blipFill>
                          <a:blip r:embed="rId8"/>
                          <a:stretch>
                            <a:fillRect l="-1299" t="-168367" r="-397403" b="-203061"/>
                          </a:stretch>
                        </a:blipFill>
                      </a:tcPr>
                    </a:tc>
                    <a:tc>
                      <a:txBody>
                        <a:bodyPr/>
                        <a:lstStyle/>
                        <a:p>
                          <a:endParaRPr lang="en-US"/>
                        </a:p>
                      </a:txBody>
                      <a:tcPr anchor="ctr">
                        <a:blipFill>
                          <a:blip r:embed="rId8"/>
                          <a:stretch>
                            <a:fillRect l="-76471" t="-168367" r="-200000" b="-203061"/>
                          </a:stretch>
                        </a:blipFill>
                      </a:tcPr>
                    </a:tc>
                    <a:tc>
                      <a:txBody>
                        <a:bodyPr/>
                        <a:lstStyle/>
                        <a:p>
                          <a:endParaRPr lang="en-US"/>
                        </a:p>
                      </a:txBody>
                      <a:tcPr anchor="ctr">
                        <a:blipFill>
                          <a:blip r:embed="rId8"/>
                          <a:stretch>
                            <a:fillRect l="-88670" t="-168367" r="-493" b="-203061"/>
                          </a:stretch>
                        </a:blipFill>
                      </a:tcPr>
                    </a:tc>
                    <a:extLst>
                      <a:ext uri="{0D108BD9-81ED-4DB2-BD59-A6C34878D82A}">
                        <a16:rowId xmlns:a16="http://schemas.microsoft.com/office/drawing/2014/main" val="1780964737"/>
                      </a:ext>
                    </a:extLst>
                  </a:tr>
                  <a:tr h="1248601">
                    <a:tc>
                      <a:txBody>
                        <a:bodyPr/>
                        <a:lstStyle/>
                        <a:p>
                          <a:endParaRPr lang="en-US"/>
                        </a:p>
                      </a:txBody>
                      <a:tcPr anchor="ctr">
                        <a:blipFill>
                          <a:blip r:embed="rId8"/>
                          <a:stretch>
                            <a:fillRect l="-1299" t="-268367" r="-397403" b="-103061"/>
                          </a:stretch>
                        </a:blipFill>
                      </a:tcPr>
                    </a:tc>
                    <a:tc>
                      <a:txBody>
                        <a:bodyPr/>
                        <a:lstStyle/>
                        <a:p>
                          <a:endParaRPr lang="en-US"/>
                        </a:p>
                      </a:txBody>
                      <a:tcPr anchor="ctr">
                        <a:blipFill>
                          <a:blip r:embed="rId8"/>
                          <a:stretch>
                            <a:fillRect l="-76471" t="-268367" r="-200000" b="-103061"/>
                          </a:stretch>
                        </a:blipFill>
                      </a:tcPr>
                    </a:tc>
                    <a:tc>
                      <a:txBody>
                        <a:bodyPr/>
                        <a:lstStyle/>
                        <a:p>
                          <a:endParaRPr lang="en-US"/>
                        </a:p>
                      </a:txBody>
                      <a:tcPr anchor="ctr">
                        <a:blipFill>
                          <a:blip r:embed="rId8"/>
                          <a:stretch>
                            <a:fillRect l="-88670" t="-268367" r="-493" b="-103061"/>
                          </a:stretch>
                        </a:blipFill>
                      </a:tcPr>
                    </a:tc>
                    <a:extLst>
                      <a:ext uri="{0D108BD9-81ED-4DB2-BD59-A6C34878D82A}">
                        <a16:rowId xmlns:a16="http://schemas.microsoft.com/office/drawing/2014/main" val="26503616"/>
                      </a:ext>
                    </a:extLst>
                  </a:tr>
                  <a:tr h="1248601">
                    <a:tc>
                      <a:txBody>
                        <a:bodyPr/>
                        <a:lstStyle/>
                        <a:p>
                          <a:endParaRPr lang="en-US"/>
                        </a:p>
                      </a:txBody>
                      <a:tcPr anchor="ctr">
                        <a:blipFill>
                          <a:blip r:embed="rId8"/>
                          <a:stretch>
                            <a:fillRect l="-1299" t="-364646" r="-397403" b="-2020"/>
                          </a:stretch>
                        </a:blipFill>
                      </a:tcPr>
                    </a:tc>
                    <a:tc>
                      <a:txBody>
                        <a:bodyPr/>
                        <a:lstStyle/>
                        <a:p>
                          <a:endParaRPr lang="en-US"/>
                        </a:p>
                      </a:txBody>
                      <a:tcPr anchor="ctr">
                        <a:blipFill>
                          <a:blip r:embed="rId8"/>
                          <a:stretch>
                            <a:fillRect l="-76471" t="-364646" r="-200000" b="-2020"/>
                          </a:stretch>
                        </a:blipFill>
                      </a:tcPr>
                    </a:tc>
                    <a:tc>
                      <a:txBody>
                        <a:bodyPr/>
                        <a:lstStyle/>
                        <a:p>
                          <a:endParaRPr lang="en-US"/>
                        </a:p>
                      </a:txBody>
                      <a:tcPr anchor="ctr">
                        <a:blipFill>
                          <a:blip r:embed="rId8"/>
                          <a:stretch>
                            <a:fillRect l="-88670" t="-364646" r="-493" b="-2020"/>
                          </a:stretch>
                        </a:blipFill>
                      </a:tcPr>
                    </a:tc>
                    <a:extLst>
                      <a:ext uri="{0D108BD9-81ED-4DB2-BD59-A6C34878D82A}">
                        <a16:rowId xmlns:a16="http://schemas.microsoft.com/office/drawing/2014/main" val="628222758"/>
                      </a:ext>
                    </a:extLst>
                  </a:tr>
                </a:tbl>
              </a:graphicData>
            </a:graphic>
          </p:graphicFrame>
        </mc:Fallback>
      </mc:AlternateContent>
      <p:sp>
        <p:nvSpPr>
          <p:cNvPr id="12" name="Rectangle 11">
            <a:extLst>
              <a:ext uri="{FF2B5EF4-FFF2-40B4-BE49-F238E27FC236}">
                <a16:creationId xmlns:a16="http://schemas.microsoft.com/office/drawing/2014/main" id="{5F72C65E-C047-F34F-844C-2B1B5DABB338}"/>
              </a:ext>
            </a:extLst>
          </p:cNvPr>
          <p:cNvSpPr/>
          <p:nvPr/>
        </p:nvSpPr>
        <p:spPr>
          <a:xfrm>
            <a:off x="9448800" y="612007"/>
            <a:ext cx="1973179" cy="457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F7B6E400-6C4B-E946-9A5E-4420E8576F54}"/>
              </a:ext>
            </a:extLst>
          </p:cNvPr>
          <p:cNvGrpSpPr/>
          <p:nvPr/>
        </p:nvGrpSpPr>
        <p:grpSpPr>
          <a:xfrm>
            <a:off x="10012680" y="2870916"/>
            <a:ext cx="1905000" cy="2118260"/>
            <a:chOff x="10012680" y="2870916"/>
            <a:chExt cx="1905000" cy="2118260"/>
          </a:xfrm>
        </p:grpSpPr>
        <p:sp>
          <p:nvSpPr>
            <p:cNvPr id="20" name="Rectangle 19">
              <a:extLst>
                <a:ext uri="{FF2B5EF4-FFF2-40B4-BE49-F238E27FC236}">
                  <a16:creationId xmlns:a16="http://schemas.microsoft.com/office/drawing/2014/main" id="{B6953F24-5F69-C944-97A1-D9DA88BD4D6A}"/>
                </a:ext>
              </a:extLst>
            </p:cNvPr>
            <p:cNvSpPr/>
            <p:nvPr/>
          </p:nvSpPr>
          <p:spPr>
            <a:xfrm>
              <a:off x="10012680" y="3335569"/>
              <a:ext cx="629319" cy="651145"/>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24A8EAA6-C3B9-0B44-9E76-FE72380C21A3}"/>
                </a:ext>
              </a:extLst>
            </p:cNvPr>
            <p:cNvSpPr/>
            <p:nvPr/>
          </p:nvSpPr>
          <p:spPr>
            <a:xfrm>
              <a:off x="10825395" y="4033781"/>
              <a:ext cx="1092285" cy="572586"/>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60D0A83B-528C-924F-8E6A-BD5530E54B1C}"/>
                    </a:ext>
                  </a:extLst>
                </p:cNvPr>
                <p:cNvSpPr txBox="1"/>
                <p:nvPr/>
              </p:nvSpPr>
              <p:spPr>
                <a:xfrm>
                  <a:off x="10146347" y="2870916"/>
                  <a:ext cx="365165" cy="43088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sr-Latn-RS" sz="2200" b="0" i="1" smtClean="0">
                            <a:solidFill>
                              <a:srgbClr val="FF0000"/>
                            </a:solidFill>
                            <a:latin typeface="Cambria Math" panose="02040503050406030204" pitchFamily="18" charset="0"/>
                          </a:rPr>
                          <m:t>𝐼</m:t>
                        </m:r>
                      </m:oMath>
                    </m:oMathPara>
                  </a14:m>
                  <a:endParaRPr lang="en-US" sz="2200" dirty="0">
                    <a:solidFill>
                      <a:srgbClr val="FF0000"/>
                    </a:solidFill>
                  </a:endParaRPr>
                </a:p>
              </p:txBody>
            </p:sp>
          </mc:Choice>
          <mc:Fallback xmlns="">
            <p:sp>
              <p:nvSpPr>
                <p:cNvPr id="22" name="TextBox 21">
                  <a:extLst>
                    <a:ext uri="{FF2B5EF4-FFF2-40B4-BE49-F238E27FC236}">
                      <a16:creationId xmlns:a16="http://schemas.microsoft.com/office/drawing/2014/main" id="{60D0A83B-528C-924F-8E6A-BD5530E54B1C}"/>
                    </a:ext>
                  </a:extLst>
                </p:cNvPr>
                <p:cNvSpPr txBox="1">
                  <a:spLocks noRot="1" noChangeAspect="1" noMove="1" noResize="1" noEditPoints="1" noAdjustHandles="1" noChangeArrowheads="1" noChangeShapeType="1" noTextEdit="1"/>
                </p:cNvSpPr>
                <p:nvPr/>
              </p:nvSpPr>
              <p:spPr>
                <a:xfrm>
                  <a:off x="10146347" y="2870916"/>
                  <a:ext cx="365165" cy="430887"/>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C985B2D6-98B2-9C4F-ABAA-6B729721E07D}"/>
                    </a:ext>
                  </a:extLst>
                </p:cNvPr>
                <p:cNvSpPr txBox="1"/>
                <p:nvPr/>
              </p:nvSpPr>
              <p:spPr>
                <a:xfrm>
                  <a:off x="11167871" y="4558289"/>
                  <a:ext cx="439095" cy="43088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200" i="1" smtClean="0">
                            <a:solidFill>
                              <a:srgbClr val="FF0000"/>
                            </a:solidFill>
                            <a:latin typeface="Cambria Math" panose="02040503050406030204" pitchFamily="18" charset="0"/>
                          </a:rPr>
                          <m:t>𝐺</m:t>
                        </m:r>
                      </m:oMath>
                    </m:oMathPara>
                  </a14:m>
                  <a:endParaRPr lang="en-US" sz="2200" dirty="0">
                    <a:solidFill>
                      <a:srgbClr val="FF0000"/>
                    </a:solidFill>
                  </a:endParaRPr>
                </a:p>
              </p:txBody>
            </p:sp>
          </mc:Choice>
          <mc:Fallback xmlns="">
            <p:sp>
              <p:nvSpPr>
                <p:cNvPr id="25" name="TextBox 24">
                  <a:extLst>
                    <a:ext uri="{FF2B5EF4-FFF2-40B4-BE49-F238E27FC236}">
                      <a16:creationId xmlns:a16="http://schemas.microsoft.com/office/drawing/2014/main" id="{C985B2D6-98B2-9C4F-ABAA-6B729721E07D}"/>
                    </a:ext>
                  </a:extLst>
                </p:cNvPr>
                <p:cNvSpPr txBox="1">
                  <a:spLocks noRot="1" noChangeAspect="1" noMove="1" noResize="1" noEditPoints="1" noAdjustHandles="1" noChangeArrowheads="1" noChangeShapeType="1" noTextEdit="1"/>
                </p:cNvSpPr>
                <p:nvPr/>
              </p:nvSpPr>
              <p:spPr>
                <a:xfrm>
                  <a:off x="11167871" y="4558289"/>
                  <a:ext cx="439095" cy="430887"/>
                </a:xfrm>
                <a:prstGeom prst="rect">
                  <a:avLst/>
                </a:prstGeom>
                <a:blipFill>
                  <a:blip r:embed="rId10"/>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graphicFrame>
            <p:nvGraphicFramePr>
              <p:cNvPr id="27" name="Table 26">
                <a:extLst>
                  <a:ext uri="{FF2B5EF4-FFF2-40B4-BE49-F238E27FC236}">
                    <a16:creationId xmlns:a16="http://schemas.microsoft.com/office/drawing/2014/main" id="{6205355F-02E2-5C4C-8904-BE4923D211FA}"/>
                  </a:ext>
                </a:extLst>
              </p:cNvPr>
              <p:cNvGraphicFramePr>
                <a:graphicFrameLocks noGrp="1"/>
              </p:cNvGraphicFramePr>
              <p:nvPr>
                <p:extLst>
                  <p:ext uri="{D42A27DB-BD31-4B8C-83A1-F6EECF244321}">
                    <p14:modId xmlns:p14="http://schemas.microsoft.com/office/powerpoint/2010/main" val="3292576141"/>
                  </p:ext>
                </p:extLst>
              </p:nvPr>
            </p:nvGraphicFramePr>
            <p:xfrm>
              <a:off x="4542378" y="926631"/>
              <a:ext cx="4057994" cy="5774955"/>
            </p:xfrm>
            <a:graphic>
              <a:graphicData uri="http://schemas.openxmlformats.org/drawingml/2006/table">
                <a:tbl>
                  <a:tblPr firstRow="1" bandRow="1">
                    <a:tableStyleId>{F5AB1C69-6EDB-4FF4-983F-18BD219EF322}</a:tableStyleId>
                  </a:tblPr>
                  <a:tblGrid>
                    <a:gridCol w="4057994">
                      <a:extLst>
                        <a:ext uri="{9D8B030D-6E8A-4147-A177-3AD203B41FA5}">
                          <a16:colId xmlns:a16="http://schemas.microsoft.com/office/drawing/2014/main" val="2820400135"/>
                        </a:ext>
                      </a:extLst>
                    </a:gridCol>
                  </a:tblGrid>
                  <a:tr h="81776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0" i="0" dirty="0">
                              <a:solidFill>
                                <a:schemeClr val="tx1"/>
                              </a:solidFill>
                            </a:rPr>
                            <a:t>OUTPUT</a:t>
                          </a:r>
                        </a:p>
                      </a:txBody>
                      <a:tcPr/>
                    </a:tc>
                    <a:extLst>
                      <a:ext uri="{0D108BD9-81ED-4DB2-BD59-A6C34878D82A}">
                        <a16:rowId xmlns:a16="http://schemas.microsoft.com/office/drawing/2014/main" val="3902411248"/>
                      </a:ext>
                    </a:extLst>
                  </a:tr>
                  <a:tr h="1202302">
                    <a:tc>
                      <a:txBody>
                        <a:bodyPr/>
                        <a:lstStyle/>
                        <a:p>
                          <a:pPr/>
                          <a14:m>
                            <m:oMathPara xmlns:m="http://schemas.openxmlformats.org/officeDocument/2006/math">
                              <m:oMathParaPr>
                                <m:jc m:val="centerGroup"/>
                              </m:oMathParaPr>
                              <m:oMath xmlns:m="http://schemas.openxmlformats.org/officeDocument/2006/math">
                                <m:d>
                                  <m:dPr>
                                    <m:ctrlPr>
                                      <a:rPr lang="en-US" sz="2000" b="0" i="1" smtClean="0">
                                        <a:solidFill>
                                          <a:schemeClr val="tx1"/>
                                        </a:solidFill>
                                        <a:latin typeface="Cambria Math" panose="02040503050406030204" pitchFamily="18" charset="0"/>
                                        <a:ea typeface="Cambria Math" panose="02040503050406030204" pitchFamily="18" charset="0"/>
                                      </a:rPr>
                                    </m:ctrlPr>
                                  </m:dPr>
                                  <m:e>
                                    <m:m>
                                      <m:mPr>
                                        <m:mcs>
                                          <m:mc>
                                            <m:mcPr>
                                              <m:count m:val="1"/>
                                              <m:mcJc m:val="center"/>
                                            </m:mcPr>
                                          </m:mc>
                                        </m:mcs>
                                        <m:ctrlPr>
                                          <a:rPr lang="en-US" sz="2000" b="0" i="1" smtClean="0">
                                            <a:solidFill>
                                              <a:schemeClr val="tx1"/>
                                            </a:solidFill>
                                            <a:latin typeface="Cambria Math" panose="02040503050406030204" pitchFamily="18" charset="0"/>
                                            <a:ea typeface="Cambria Math" panose="02040503050406030204" pitchFamily="18" charset="0"/>
                                          </a:rPr>
                                        </m:ctrlPr>
                                      </m:mPr>
                                      <m:mr>
                                        <m:e>
                                          <m:r>
                                            <m:rPr>
                                              <m:brk m:alnAt="7"/>
                                            </m:rPr>
                                            <a:rPr lang="en-US" sz="2000" b="0" i="1" smtClean="0">
                                              <a:solidFill>
                                                <a:schemeClr val="tx1"/>
                                              </a:solidFill>
                                              <a:latin typeface="Cambria Math" panose="02040503050406030204" pitchFamily="18" charset="0"/>
                                              <a:ea typeface="Cambria Math" panose="02040503050406030204" pitchFamily="18" charset="0"/>
                                            </a:rPr>
                                            <m:t>1</m:t>
                                          </m:r>
                                        </m:e>
                                      </m:mr>
                                      <m:mr>
                                        <m:e>
                                          <m:r>
                                            <a:rPr lang="en-US" sz="2000" b="0" i="1" smtClean="0">
                                              <a:solidFill>
                                                <a:schemeClr val="tx1"/>
                                              </a:solidFill>
                                              <a:latin typeface="Cambria Math" panose="02040503050406030204" pitchFamily="18" charset="0"/>
                                              <a:ea typeface="Cambria Math" panose="02040503050406030204" pitchFamily="18" charset="0"/>
                                            </a:rPr>
                                            <m:t>0</m:t>
                                          </m:r>
                                        </m:e>
                                      </m:mr>
                                      <m:mr>
                                        <m:e>
                                          <m:r>
                                            <a:rPr lang="en-US" sz="2000" b="0" i="1" smtClean="0">
                                              <a:solidFill>
                                                <a:schemeClr val="tx1"/>
                                              </a:solidFill>
                                              <a:latin typeface="Cambria Math" panose="02040503050406030204" pitchFamily="18" charset="0"/>
                                              <a:ea typeface="Cambria Math" panose="02040503050406030204" pitchFamily="18" charset="0"/>
                                            </a:rPr>
                                            <m:t>0</m:t>
                                          </m:r>
                                        </m:e>
                                      </m:mr>
                                      <m:mr>
                                        <m:e>
                                          <m:r>
                                            <a:rPr lang="en-US" sz="2000" b="0" i="1" smtClean="0">
                                              <a:solidFill>
                                                <a:schemeClr val="tx1"/>
                                              </a:solidFill>
                                              <a:latin typeface="Cambria Math" panose="02040503050406030204" pitchFamily="18" charset="0"/>
                                              <a:ea typeface="Cambria Math" panose="02040503050406030204" pitchFamily="18" charset="0"/>
                                            </a:rPr>
                                            <m:t>0</m:t>
                                          </m:r>
                                        </m:e>
                                      </m:mr>
                                    </m:m>
                                  </m:e>
                                </m:d>
                              </m:oMath>
                            </m:oMathPara>
                          </a14:m>
                          <a:endParaRPr lang="en-US" sz="2000" b="0" dirty="0">
                            <a:solidFill>
                              <a:schemeClr val="tx1"/>
                            </a:solidFill>
                          </a:endParaRPr>
                        </a:p>
                      </a:txBody>
                      <a:tcPr anchor="ctr"/>
                    </a:tc>
                    <a:extLst>
                      <a:ext uri="{0D108BD9-81ED-4DB2-BD59-A6C34878D82A}">
                        <a16:rowId xmlns:a16="http://schemas.microsoft.com/office/drawing/2014/main" val="4274640674"/>
                      </a:ext>
                    </a:extLst>
                  </a:tr>
                  <a:tr h="1202302">
                    <a:tc>
                      <a:txBody>
                        <a:bodyPr/>
                        <a:lstStyle/>
                        <a:p>
                          <a:pPr/>
                          <a14:m>
                            <m:oMathPara xmlns:m="http://schemas.openxmlformats.org/officeDocument/2006/math">
                              <m:oMathParaPr>
                                <m:jc m:val="centerGroup"/>
                              </m:oMathParaPr>
                              <m:oMath xmlns:m="http://schemas.openxmlformats.org/officeDocument/2006/math">
                                <m:d>
                                  <m:dPr>
                                    <m:ctrlPr>
                                      <a:rPr lang="en-US" sz="2000" b="0" i="1" smtClean="0">
                                        <a:solidFill>
                                          <a:schemeClr val="tx1"/>
                                        </a:solidFill>
                                        <a:latin typeface="Cambria Math" panose="02040503050406030204" pitchFamily="18" charset="0"/>
                                        <a:ea typeface="Cambria Math" panose="02040503050406030204" pitchFamily="18" charset="0"/>
                                      </a:rPr>
                                    </m:ctrlPr>
                                  </m:dPr>
                                  <m:e>
                                    <m:m>
                                      <m:mPr>
                                        <m:mcs>
                                          <m:mc>
                                            <m:mcPr>
                                              <m:count m:val="1"/>
                                              <m:mcJc m:val="center"/>
                                            </m:mcPr>
                                          </m:mc>
                                        </m:mcs>
                                        <m:ctrlPr>
                                          <a:rPr lang="en-US" sz="2000" b="0" i="1">
                                            <a:solidFill>
                                              <a:schemeClr val="tx1"/>
                                            </a:solidFill>
                                            <a:latin typeface="Cambria Math" panose="02040503050406030204" pitchFamily="18" charset="0"/>
                                            <a:ea typeface="Cambria Math" panose="02040503050406030204" pitchFamily="18" charset="0"/>
                                          </a:rPr>
                                        </m:ctrlPr>
                                      </m:mPr>
                                      <m:mr>
                                        <m:e>
                                          <m:r>
                                            <m:rPr>
                                              <m:brk m:alnAt="7"/>
                                            </m:rPr>
                                            <a:rPr lang="en-US" sz="2000" b="0" i="1" smtClean="0">
                                              <a:solidFill>
                                                <a:schemeClr val="tx1"/>
                                              </a:solidFill>
                                              <a:latin typeface="Cambria Math" panose="02040503050406030204" pitchFamily="18" charset="0"/>
                                              <a:ea typeface="Cambria Math" panose="02040503050406030204" pitchFamily="18" charset="0"/>
                                            </a:rPr>
                                            <m:t>0</m:t>
                                          </m:r>
                                        </m:e>
                                      </m:mr>
                                      <m:mr>
                                        <m:e>
                                          <m:r>
                                            <a:rPr lang="en-US" sz="2000" b="0" i="1" smtClean="0">
                                              <a:solidFill>
                                                <a:schemeClr val="tx1"/>
                                              </a:solidFill>
                                              <a:latin typeface="Cambria Math" panose="02040503050406030204" pitchFamily="18" charset="0"/>
                                              <a:ea typeface="Cambria Math" panose="02040503050406030204" pitchFamily="18" charset="0"/>
                                            </a:rPr>
                                            <m:t>1</m:t>
                                          </m:r>
                                        </m:e>
                                      </m:mr>
                                      <m:mr>
                                        <m:e>
                                          <m:r>
                                            <a:rPr lang="en-US" sz="2000" b="0" i="1" smtClean="0">
                                              <a:solidFill>
                                                <a:schemeClr val="tx1"/>
                                              </a:solidFill>
                                              <a:latin typeface="Cambria Math" panose="02040503050406030204" pitchFamily="18" charset="0"/>
                                              <a:ea typeface="Cambria Math" panose="02040503050406030204" pitchFamily="18" charset="0"/>
                                            </a:rPr>
                                            <m:t>0</m:t>
                                          </m:r>
                                        </m:e>
                                      </m:mr>
                                      <m:mr>
                                        <m:e>
                                          <m:r>
                                            <a:rPr lang="en-US" sz="2000" b="0" i="1" smtClean="0">
                                              <a:solidFill>
                                                <a:schemeClr val="tx1"/>
                                              </a:solidFill>
                                              <a:latin typeface="Cambria Math" panose="02040503050406030204" pitchFamily="18" charset="0"/>
                                              <a:ea typeface="Cambria Math" panose="02040503050406030204" pitchFamily="18" charset="0"/>
                                            </a:rPr>
                                            <m:t>0</m:t>
                                          </m:r>
                                        </m:e>
                                      </m:mr>
                                    </m:m>
                                  </m:e>
                                </m:d>
                              </m:oMath>
                            </m:oMathPara>
                          </a14:m>
                          <a:endParaRPr lang="en-US" sz="2000" b="0" dirty="0">
                            <a:solidFill>
                              <a:schemeClr val="tx1"/>
                            </a:solidFill>
                          </a:endParaRPr>
                        </a:p>
                      </a:txBody>
                      <a:tcPr anchor="ctr"/>
                    </a:tc>
                    <a:extLst>
                      <a:ext uri="{0D108BD9-81ED-4DB2-BD59-A6C34878D82A}">
                        <a16:rowId xmlns:a16="http://schemas.microsoft.com/office/drawing/2014/main" val="1780964737"/>
                      </a:ext>
                    </a:extLst>
                  </a:tr>
                  <a:tr h="1220489">
                    <a:tc>
                      <a:txBody>
                        <a:bodyPr/>
                        <a:lstStyle/>
                        <a:p>
                          <a:pPr/>
                          <a14:m>
                            <m:oMathPara xmlns:m="http://schemas.openxmlformats.org/officeDocument/2006/math">
                              <m:oMathParaPr>
                                <m:jc m:val="centerGroup"/>
                              </m:oMathParaPr>
                              <m:oMath xmlns:m="http://schemas.openxmlformats.org/officeDocument/2006/math">
                                <m:d>
                                  <m:dPr>
                                    <m:ctrlPr>
                                      <a:rPr lang="en-US" sz="2000" b="0" i="1" smtClean="0">
                                        <a:solidFill>
                                          <a:schemeClr val="tx1"/>
                                        </a:solidFill>
                                        <a:latin typeface="Cambria Math" panose="02040503050406030204" pitchFamily="18" charset="0"/>
                                        <a:ea typeface="Cambria Math" panose="02040503050406030204" pitchFamily="18" charset="0"/>
                                      </a:rPr>
                                    </m:ctrlPr>
                                  </m:dPr>
                                  <m:e>
                                    <m:m>
                                      <m:mPr>
                                        <m:mcs>
                                          <m:mc>
                                            <m:mcPr>
                                              <m:count m:val="1"/>
                                              <m:mcJc m:val="center"/>
                                            </m:mcPr>
                                          </m:mc>
                                        </m:mcs>
                                        <m:ctrlPr>
                                          <a:rPr lang="en-US" sz="2000" b="0" i="1">
                                            <a:solidFill>
                                              <a:schemeClr val="tx1"/>
                                            </a:solidFill>
                                            <a:latin typeface="Cambria Math" panose="02040503050406030204" pitchFamily="18" charset="0"/>
                                            <a:ea typeface="Cambria Math" panose="02040503050406030204" pitchFamily="18" charset="0"/>
                                          </a:rPr>
                                        </m:ctrlPr>
                                      </m:mPr>
                                      <m:mr>
                                        <m:e>
                                          <m:r>
                                            <m:rPr>
                                              <m:brk m:alnAt="7"/>
                                            </m:rPr>
                                            <a:rPr lang="en-US" sz="2000" b="0" i="1" smtClean="0">
                                              <a:solidFill>
                                                <a:schemeClr val="tx1"/>
                                              </a:solidFill>
                                              <a:latin typeface="Cambria Math" panose="02040503050406030204" pitchFamily="18" charset="0"/>
                                              <a:ea typeface="Cambria Math" panose="02040503050406030204" pitchFamily="18" charset="0"/>
                                            </a:rPr>
                                            <m:t>0</m:t>
                                          </m:r>
                                        </m:e>
                                      </m:mr>
                                      <m:mr>
                                        <m:e>
                                          <m:r>
                                            <a:rPr lang="en-US" sz="2000" b="0" i="1" smtClean="0">
                                              <a:solidFill>
                                                <a:schemeClr val="tx1"/>
                                              </a:solidFill>
                                              <a:latin typeface="Cambria Math" panose="02040503050406030204" pitchFamily="18" charset="0"/>
                                              <a:ea typeface="Cambria Math" panose="02040503050406030204" pitchFamily="18" charset="0"/>
                                            </a:rPr>
                                            <m:t>1</m:t>
                                          </m:r>
                                        </m:e>
                                      </m:mr>
                                    </m:m>
                                  </m:e>
                                </m:d>
                                <m:r>
                                  <a:rPr lang="en-US" sz="2000" b="0" i="1">
                                    <a:solidFill>
                                      <a:schemeClr val="tx1"/>
                                    </a:solidFill>
                                    <a:latin typeface="Cambria Math" panose="02040503050406030204" pitchFamily="18" charset="0"/>
                                    <a:ea typeface="Cambria Math" panose="02040503050406030204" pitchFamily="18" charset="0"/>
                                  </a:rPr>
                                  <m:t>⨂</m:t>
                                </m:r>
                                <m:d>
                                  <m:dPr>
                                    <m:ctrlPr>
                                      <a:rPr lang="en-US" sz="2000" b="0" i="1">
                                        <a:solidFill>
                                          <a:schemeClr val="tx1"/>
                                        </a:solidFill>
                                        <a:latin typeface="Cambria Math" panose="02040503050406030204" pitchFamily="18" charset="0"/>
                                      </a:rPr>
                                    </m:ctrlPr>
                                  </m:dPr>
                                  <m:e>
                                    <m:m>
                                      <m:mPr>
                                        <m:plcHide m:val="on"/>
                                        <m:mcs>
                                          <m:mc>
                                            <m:mcPr>
                                              <m:count m:val="2"/>
                                              <m:mcJc m:val="center"/>
                                            </m:mcPr>
                                          </m:mc>
                                        </m:mcs>
                                        <m:ctrlPr>
                                          <a:rPr lang="en-US" sz="2000" b="0" i="1">
                                            <a:solidFill>
                                              <a:schemeClr val="tx1"/>
                                            </a:solidFill>
                                            <a:latin typeface="Cambria Math" panose="02040503050406030204" pitchFamily="18" charset="0"/>
                                          </a:rPr>
                                        </m:ctrlPr>
                                      </m:mPr>
                                      <m:mr>
                                        <m:e>
                                          <m:sSub>
                                            <m:sSubPr>
                                              <m:ctrlPr>
                                                <a:rPr lang="en-US" sz="2000" b="0" i="1">
                                                  <a:solidFill>
                                                    <a:schemeClr val="tx1"/>
                                                  </a:solidFill>
                                                  <a:latin typeface="Cambria Math" panose="02040503050406030204" pitchFamily="18" charset="0"/>
                                                </a:rPr>
                                              </m:ctrlPr>
                                            </m:sSubPr>
                                            <m:e>
                                              <m:r>
                                                <a:rPr lang="en-US" sz="2000" b="0" i="1">
                                                  <a:solidFill>
                                                    <a:schemeClr val="tx1"/>
                                                  </a:solidFill>
                                                  <a:latin typeface="Cambria Math" panose="02040503050406030204" pitchFamily="18" charset="0"/>
                                                </a:rPr>
                                                <m:t>𝑔</m:t>
                                              </m:r>
                                            </m:e>
                                            <m:sub>
                                              <m:r>
                                                <a:rPr lang="en-US" sz="2000" b="0" i="1">
                                                  <a:solidFill>
                                                    <a:schemeClr val="tx1"/>
                                                  </a:solidFill>
                                                  <a:latin typeface="Cambria Math" panose="02040503050406030204" pitchFamily="18" charset="0"/>
                                                </a:rPr>
                                                <m:t>00</m:t>
                                              </m:r>
                                            </m:sub>
                                          </m:sSub>
                                        </m:e>
                                        <m:e>
                                          <m:sSub>
                                            <m:sSubPr>
                                              <m:ctrlPr>
                                                <a:rPr lang="en-US" sz="2000" b="0" i="1">
                                                  <a:solidFill>
                                                    <a:schemeClr val="tx1"/>
                                                  </a:solidFill>
                                                  <a:latin typeface="Cambria Math" panose="02040503050406030204" pitchFamily="18" charset="0"/>
                                                </a:rPr>
                                              </m:ctrlPr>
                                            </m:sSubPr>
                                            <m:e>
                                              <m:r>
                                                <a:rPr lang="en-US" sz="2000" b="0" i="1">
                                                  <a:solidFill>
                                                    <a:schemeClr val="tx1"/>
                                                  </a:solidFill>
                                                  <a:latin typeface="Cambria Math" panose="02040503050406030204" pitchFamily="18" charset="0"/>
                                                </a:rPr>
                                                <m:t>𝑔</m:t>
                                              </m:r>
                                            </m:e>
                                            <m:sub>
                                              <m:r>
                                                <a:rPr lang="en-US" sz="2000" b="0" i="1">
                                                  <a:solidFill>
                                                    <a:schemeClr val="tx1"/>
                                                  </a:solidFill>
                                                  <a:latin typeface="Cambria Math" panose="02040503050406030204" pitchFamily="18" charset="0"/>
                                                </a:rPr>
                                                <m:t>01</m:t>
                                              </m:r>
                                            </m:sub>
                                          </m:sSub>
                                        </m:e>
                                      </m:mr>
                                      <m:mr>
                                        <m:e>
                                          <m:sSub>
                                            <m:sSubPr>
                                              <m:ctrlPr>
                                                <a:rPr lang="en-US" sz="2000" b="0" i="1">
                                                  <a:solidFill>
                                                    <a:schemeClr val="tx1"/>
                                                  </a:solidFill>
                                                  <a:latin typeface="Cambria Math" panose="02040503050406030204" pitchFamily="18" charset="0"/>
                                                </a:rPr>
                                              </m:ctrlPr>
                                            </m:sSubPr>
                                            <m:e>
                                              <m:r>
                                                <a:rPr lang="en-US" sz="2000" b="0" i="1">
                                                  <a:solidFill>
                                                    <a:schemeClr val="tx1"/>
                                                  </a:solidFill>
                                                  <a:latin typeface="Cambria Math" panose="02040503050406030204" pitchFamily="18" charset="0"/>
                                                </a:rPr>
                                                <m:t>𝑔</m:t>
                                              </m:r>
                                            </m:e>
                                            <m:sub>
                                              <m:r>
                                                <a:rPr lang="en-US" sz="2000" b="0" i="1">
                                                  <a:solidFill>
                                                    <a:schemeClr val="tx1"/>
                                                  </a:solidFill>
                                                  <a:latin typeface="Cambria Math" panose="02040503050406030204" pitchFamily="18" charset="0"/>
                                                </a:rPr>
                                                <m:t>10</m:t>
                                              </m:r>
                                            </m:sub>
                                          </m:sSub>
                                        </m:e>
                                        <m:e>
                                          <m:sSub>
                                            <m:sSubPr>
                                              <m:ctrlPr>
                                                <a:rPr lang="en-US" sz="2000" b="0" i="1">
                                                  <a:solidFill>
                                                    <a:schemeClr val="tx1"/>
                                                  </a:solidFill>
                                                  <a:latin typeface="Cambria Math" panose="02040503050406030204" pitchFamily="18" charset="0"/>
                                                </a:rPr>
                                              </m:ctrlPr>
                                            </m:sSubPr>
                                            <m:e>
                                              <m:r>
                                                <a:rPr lang="en-US" sz="2000" b="0" i="1">
                                                  <a:solidFill>
                                                    <a:schemeClr val="tx1"/>
                                                  </a:solidFill>
                                                  <a:latin typeface="Cambria Math" panose="02040503050406030204" pitchFamily="18" charset="0"/>
                                                </a:rPr>
                                                <m:t>𝑔</m:t>
                                              </m:r>
                                            </m:e>
                                            <m:sub>
                                              <m:r>
                                                <a:rPr lang="en-US" sz="2000" b="0" i="1">
                                                  <a:solidFill>
                                                    <a:schemeClr val="tx1"/>
                                                  </a:solidFill>
                                                  <a:latin typeface="Cambria Math" panose="02040503050406030204" pitchFamily="18" charset="0"/>
                                                </a:rPr>
                                                <m:t>11</m:t>
                                              </m:r>
                                            </m:sub>
                                          </m:sSub>
                                        </m:e>
                                      </m:mr>
                                    </m:m>
                                  </m:e>
                                </m:d>
                                <m:d>
                                  <m:dPr>
                                    <m:ctrlPr>
                                      <a:rPr lang="en-US" sz="2000" b="0" i="1">
                                        <a:solidFill>
                                          <a:schemeClr val="tx1"/>
                                        </a:solidFill>
                                        <a:latin typeface="Cambria Math" panose="02040503050406030204" pitchFamily="18" charset="0"/>
                                        <a:ea typeface="Cambria Math" panose="02040503050406030204" pitchFamily="18" charset="0"/>
                                      </a:rPr>
                                    </m:ctrlPr>
                                  </m:dPr>
                                  <m:e>
                                    <m:m>
                                      <m:mPr>
                                        <m:mcs>
                                          <m:mc>
                                            <m:mcPr>
                                              <m:count m:val="1"/>
                                              <m:mcJc m:val="center"/>
                                            </m:mcPr>
                                          </m:mc>
                                        </m:mcs>
                                        <m:ctrlPr>
                                          <a:rPr lang="en-US" sz="2000" b="0" i="1" smtClean="0">
                                            <a:solidFill>
                                              <a:schemeClr val="tx1"/>
                                            </a:solidFill>
                                            <a:latin typeface="Cambria Math" panose="02040503050406030204" pitchFamily="18" charset="0"/>
                                            <a:ea typeface="Cambria Math" panose="02040503050406030204" pitchFamily="18" charset="0"/>
                                          </a:rPr>
                                        </m:ctrlPr>
                                      </m:mPr>
                                      <m:mr>
                                        <m:e>
                                          <m:r>
                                            <m:rPr>
                                              <m:brk m:alnAt="7"/>
                                            </m:rPr>
                                            <a:rPr lang="en-US" sz="2000" b="0" i="1" smtClean="0">
                                              <a:solidFill>
                                                <a:schemeClr val="tx1"/>
                                              </a:solidFill>
                                              <a:latin typeface="Cambria Math" panose="02040503050406030204" pitchFamily="18" charset="0"/>
                                              <a:ea typeface="Cambria Math" panose="02040503050406030204" pitchFamily="18" charset="0"/>
                                            </a:rPr>
                                            <m:t>1</m:t>
                                          </m:r>
                                        </m:e>
                                      </m:mr>
                                      <m:mr>
                                        <m:e>
                                          <m:r>
                                            <a:rPr lang="en-US" sz="2000" b="0" i="1" smtClean="0">
                                              <a:solidFill>
                                                <a:schemeClr val="tx1"/>
                                              </a:solidFill>
                                              <a:latin typeface="Cambria Math" panose="02040503050406030204" pitchFamily="18" charset="0"/>
                                              <a:ea typeface="Cambria Math" panose="02040503050406030204" pitchFamily="18" charset="0"/>
                                            </a:rPr>
                                            <m:t>0</m:t>
                                          </m:r>
                                        </m:e>
                                      </m:mr>
                                    </m:m>
                                  </m:e>
                                </m:d>
                                <m:r>
                                  <a:rPr lang="en-US" sz="2000" b="0" i="1" smtClean="0">
                                    <a:solidFill>
                                      <a:schemeClr val="tx1"/>
                                    </a:solidFill>
                                    <a:latin typeface="Cambria Math" panose="02040503050406030204" pitchFamily="18" charset="0"/>
                                    <a:ea typeface="Cambria Math" panose="02040503050406030204" pitchFamily="18" charset="0"/>
                                  </a:rPr>
                                  <m:t>=</m:t>
                                </m:r>
                                <m:d>
                                  <m:dPr>
                                    <m:ctrlPr>
                                      <a:rPr lang="en-US" sz="2000" b="0" i="1">
                                        <a:solidFill>
                                          <a:schemeClr val="tx1"/>
                                        </a:solidFill>
                                        <a:latin typeface="Cambria Math" panose="02040503050406030204" pitchFamily="18" charset="0"/>
                                        <a:ea typeface="Cambria Math" panose="02040503050406030204" pitchFamily="18" charset="0"/>
                                      </a:rPr>
                                    </m:ctrlPr>
                                  </m:dPr>
                                  <m:e>
                                    <m:m>
                                      <m:mPr>
                                        <m:mcs>
                                          <m:mc>
                                            <m:mcPr>
                                              <m:count m:val="1"/>
                                              <m:mcJc m:val="center"/>
                                            </m:mcPr>
                                          </m:mc>
                                        </m:mcs>
                                        <m:ctrlPr>
                                          <a:rPr lang="en-US" sz="2000" b="0" i="1">
                                            <a:solidFill>
                                              <a:schemeClr val="tx1"/>
                                            </a:solidFill>
                                            <a:latin typeface="Cambria Math" panose="02040503050406030204" pitchFamily="18" charset="0"/>
                                            <a:ea typeface="Cambria Math" panose="02040503050406030204" pitchFamily="18" charset="0"/>
                                          </a:rPr>
                                        </m:ctrlPr>
                                      </m:mPr>
                                      <m:mr>
                                        <m:e>
                                          <m:r>
                                            <m:rPr>
                                              <m:brk m:alnAt="7"/>
                                            </m:rPr>
                                            <a:rPr lang="en-US" sz="2000" b="0" i="1">
                                              <a:solidFill>
                                                <a:schemeClr val="tx1"/>
                                              </a:solidFill>
                                              <a:latin typeface="Cambria Math" panose="02040503050406030204" pitchFamily="18" charset="0"/>
                                              <a:ea typeface="Cambria Math" panose="02040503050406030204" pitchFamily="18" charset="0"/>
                                            </a:rPr>
                                            <m:t>0</m:t>
                                          </m:r>
                                        </m:e>
                                      </m:mr>
                                      <m:mr>
                                        <m:e>
                                          <m:r>
                                            <a:rPr lang="en-US" sz="2000" b="0" i="1">
                                              <a:solidFill>
                                                <a:schemeClr val="tx1"/>
                                              </a:solidFill>
                                              <a:latin typeface="Cambria Math" panose="02040503050406030204" pitchFamily="18" charset="0"/>
                                              <a:ea typeface="Cambria Math" panose="02040503050406030204" pitchFamily="18" charset="0"/>
                                            </a:rPr>
                                            <m:t>0</m:t>
                                          </m:r>
                                        </m:e>
                                      </m:mr>
                                      <m:mr>
                                        <m:e>
                                          <m:sSub>
                                            <m:sSubPr>
                                              <m:ctrlPr>
                                                <a:rPr lang="en-US" sz="2000" b="0" i="1">
                                                  <a:solidFill>
                                                    <a:schemeClr val="tx1"/>
                                                  </a:solidFill>
                                                  <a:latin typeface="Cambria Math" panose="02040503050406030204" pitchFamily="18" charset="0"/>
                                                </a:rPr>
                                              </m:ctrlPr>
                                            </m:sSubPr>
                                            <m:e>
                                              <m:r>
                                                <a:rPr lang="en-US" sz="2000" b="0" i="1">
                                                  <a:solidFill>
                                                    <a:schemeClr val="tx1"/>
                                                  </a:solidFill>
                                                  <a:latin typeface="Cambria Math" panose="02040503050406030204" pitchFamily="18" charset="0"/>
                                                </a:rPr>
                                                <m:t>𝑔</m:t>
                                              </m:r>
                                            </m:e>
                                            <m:sub>
                                              <m:r>
                                                <a:rPr lang="en-US" sz="2000" b="0" i="1">
                                                  <a:solidFill>
                                                    <a:schemeClr val="tx1"/>
                                                  </a:solidFill>
                                                  <a:latin typeface="Cambria Math" panose="02040503050406030204" pitchFamily="18" charset="0"/>
                                                </a:rPr>
                                                <m:t>00</m:t>
                                              </m:r>
                                            </m:sub>
                                          </m:sSub>
                                        </m:e>
                                      </m:mr>
                                      <m:mr>
                                        <m:e>
                                          <m:sSub>
                                            <m:sSubPr>
                                              <m:ctrlPr>
                                                <a:rPr lang="en-US" sz="2000" b="0" i="1">
                                                  <a:solidFill>
                                                    <a:schemeClr val="tx1"/>
                                                  </a:solidFill>
                                                  <a:latin typeface="Cambria Math" panose="02040503050406030204" pitchFamily="18" charset="0"/>
                                                </a:rPr>
                                              </m:ctrlPr>
                                            </m:sSubPr>
                                            <m:e>
                                              <m:r>
                                                <a:rPr lang="en-US" sz="2000" b="0" i="1">
                                                  <a:solidFill>
                                                    <a:schemeClr val="tx1"/>
                                                  </a:solidFill>
                                                  <a:latin typeface="Cambria Math" panose="02040503050406030204" pitchFamily="18" charset="0"/>
                                                </a:rPr>
                                                <m:t>𝑔</m:t>
                                              </m:r>
                                            </m:e>
                                            <m:sub>
                                              <m:r>
                                                <a:rPr lang="en-US" sz="2000" b="0" i="1">
                                                  <a:solidFill>
                                                    <a:schemeClr val="tx1"/>
                                                  </a:solidFill>
                                                  <a:latin typeface="Cambria Math" panose="02040503050406030204" pitchFamily="18" charset="0"/>
                                                </a:rPr>
                                                <m:t>10</m:t>
                                              </m:r>
                                            </m:sub>
                                          </m:sSub>
                                        </m:e>
                                      </m:mr>
                                    </m:m>
                                  </m:e>
                                </m:d>
                              </m:oMath>
                            </m:oMathPara>
                          </a14:m>
                          <a:endParaRPr lang="en-US" sz="2000" b="0" dirty="0">
                            <a:solidFill>
                              <a:schemeClr val="tx1"/>
                            </a:solidFill>
                          </a:endParaRPr>
                        </a:p>
                      </a:txBody>
                      <a:tcPr anchor="ctr"/>
                    </a:tc>
                    <a:extLst>
                      <a:ext uri="{0D108BD9-81ED-4DB2-BD59-A6C34878D82A}">
                        <a16:rowId xmlns:a16="http://schemas.microsoft.com/office/drawing/2014/main" val="26503616"/>
                      </a:ext>
                    </a:extLst>
                  </a:tr>
                  <a:tr h="1220489">
                    <a:tc>
                      <a:txBody>
                        <a:bodyPr/>
                        <a:lstStyle/>
                        <a:p>
                          <a:pPr/>
                          <a14:m>
                            <m:oMathPara xmlns:m="http://schemas.openxmlformats.org/officeDocument/2006/math">
                              <m:oMathParaPr>
                                <m:jc m:val="centerGroup"/>
                              </m:oMathParaPr>
                              <m:oMath xmlns:m="http://schemas.openxmlformats.org/officeDocument/2006/math">
                                <m:d>
                                  <m:dPr>
                                    <m:ctrlPr>
                                      <a:rPr lang="en-US" sz="2000" b="0" i="1" smtClean="0">
                                        <a:solidFill>
                                          <a:schemeClr val="tx1"/>
                                        </a:solidFill>
                                        <a:latin typeface="Cambria Math" panose="02040503050406030204" pitchFamily="18" charset="0"/>
                                        <a:ea typeface="Cambria Math" panose="02040503050406030204" pitchFamily="18" charset="0"/>
                                      </a:rPr>
                                    </m:ctrlPr>
                                  </m:dPr>
                                  <m:e>
                                    <m:m>
                                      <m:mPr>
                                        <m:mcs>
                                          <m:mc>
                                            <m:mcPr>
                                              <m:count m:val="1"/>
                                              <m:mcJc m:val="center"/>
                                            </m:mcPr>
                                          </m:mc>
                                        </m:mcs>
                                        <m:ctrlPr>
                                          <a:rPr lang="en-US" sz="2000" b="0" i="1">
                                            <a:solidFill>
                                              <a:schemeClr val="tx1"/>
                                            </a:solidFill>
                                            <a:latin typeface="Cambria Math" panose="02040503050406030204" pitchFamily="18" charset="0"/>
                                            <a:ea typeface="Cambria Math" panose="02040503050406030204" pitchFamily="18" charset="0"/>
                                          </a:rPr>
                                        </m:ctrlPr>
                                      </m:mPr>
                                      <m:mr>
                                        <m:e>
                                          <m:r>
                                            <m:rPr>
                                              <m:brk m:alnAt="7"/>
                                            </m:rPr>
                                            <a:rPr lang="en-US" sz="2000" b="0" i="1">
                                              <a:solidFill>
                                                <a:schemeClr val="tx1"/>
                                              </a:solidFill>
                                              <a:latin typeface="Cambria Math" panose="02040503050406030204" pitchFamily="18" charset="0"/>
                                              <a:ea typeface="Cambria Math" panose="02040503050406030204" pitchFamily="18" charset="0"/>
                                            </a:rPr>
                                            <m:t>0</m:t>
                                          </m:r>
                                        </m:e>
                                      </m:mr>
                                      <m:mr>
                                        <m:e>
                                          <m:r>
                                            <a:rPr lang="en-US" sz="2000" b="0" i="1">
                                              <a:solidFill>
                                                <a:schemeClr val="tx1"/>
                                              </a:solidFill>
                                              <a:latin typeface="Cambria Math" panose="02040503050406030204" pitchFamily="18" charset="0"/>
                                              <a:ea typeface="Cambria Math" panose="02040503050406030204" pitchFamily="18" charset="0"/>
                                            </a:rPr>
                                            <m:t>1</m:t>
                                          </m:r>
                                        </m:e>
                                      </m:mr>
                                    </m:m>
                                  </m:e>
                                </m:d>
                                <m:r>
                                  <a:rPr lang="en-US" sz="2000" b="0" i="1">
                                    <a:solidFill>
                                      <a:schemeClr val="tx1"/>
                                    </a:solidFill>
                                    <a:latin typeface="Cambria Math" panose="02040503050406030204" pitchFamily="18" charset="0"/>
                                    <a:ea typeface="Cambria Math" panose="02040503050406030204" pitchFamily="18" charset="0"/>
                                  </a:rPr>
                                  <m:t>⨂</m:t>
                                </m:r>
                                <m:d>
                                  <m:dPr>
                                    <m:ctrlPr>
                                      <a:rPr lang="en-US" sz="2000" b="0" i="1">
                                        <a:solidFill>
                                          <a:schemeClr val="tx1"/>
                                        </a:solidFill>
                                        <a:latin typeface="Cambria Math" panose="02040503050406030204" pitchFamily="18" charset="0"/>
                                      </a:rPr>
                                    </m:ctrlPr>
                                  </m:dPr>
                                  <m:e>
                                    <m:m>
                                      <m:mPr>
                                        <m:plcHide m:val="on"/>
                                        <m:mcs>
                                          <m:mc>
                                            <m:mcPr>
                                              <m:count m:val="2"/>
                                              <m:mcJc m:val="center"/>
                                            </m:mcPr>
                                          </m:mc>
                                        </m:mcs>
                                        <m:ctrlPr>
                                          <a:rPr lang="en-US" sz="2000" b="0" i="1">
                                            <a:solidFill>
                                              <a:schemeClr val="tx1"/>
                                            </a:solidFill>
                                            <a:latin typeface="Cambria Math" panose="02040503050406030204" pitchFamily="18" charset="0"/>
                                          </a:rPr>
                                        </m:ctrlPr>
                                      </m:mPr>
                                      <m:mr>
                                        <m:e>
                                          <m:sSub>
                                            <m:sSubPr>
                                              <m:ctrlPr>
                                                <a:rPr lang="en-US" sz="2000" b="0" i="1">
                                                  <a:solidFill>
                                                    <a:schemeClr val="tx1"/>
                                                  </a:solidFill>
                                                  <a:latin typeface="Cambria Math" panose="02040503050406030204" pitchFamily="18" charset="0"/>
                                                </a:rPr>
                                              </m:ctrlPr>
                                            </m:sSubPr>
                                            <m:e>
                                              <m:r>
                                                <a:rPr lang="en-US" sz="2000" b="0" i="1">
                                                  <a:solidFill>
                                                    <a:schemeClr val="tx1"/>
                                                  </a:solidFill>
                                                  <a:latin typeface="Cambria Math" panose="02040503050406030204" pitchFamily="18" charset="0"/>
                                                </a:rPr>
                                                <m:t>𝑔</m:t>
                                              </m:r>
                                            </m:e>
                                            <m:sub>
                                              <m:r>
                                                <a:rPr lang="en-US" sz="2000" b="0" i="1">
                                                  <a:solidFill>
                                                    <a:schemeClr val="tx1"/>
                                                  </a:solidFill>
                                                  <a:latin typeface="Cambria Math" panose="02040503050406030204" pitchFamily="18" charset="0"/>
                                                </a:rPr>
                                                <m:t>00</m:t>
                                              </m:r>
                                            </m:sub>
                                          </m:sSub>
                                        </m:e>
                                        <m:e>
                                          <m:sSub>
                                            <m:sSubPr>
                                              <m:ctrlPr>
                                                <a:rPr lang="en-US" sz="2000" b="0" i="1">
                                                  <a:solidFill>
                                                    <a:schemeClr val="tx1"/>
                                                  </a:solidFill>
                                                  <a:latin typeface="Cambria Math" panose="02040503050406030204" pitchFamily="18" charset="0"/>
                                                </a:rPr>
                                              </m:ctrlPr>
                                            </m:sSubPr>
                                            <m:e>
                                              <m:r>
                                                <a:rPr lang="en-US" sz="2000" b="0" i="1">
                                                  <a:solidFill>
                                                    <a:schemeClr val="tx1"/>
                                                  </a:solidFill>
                                                  <a:latin typeface="Cambria Math" panose="02040503050406030204" pitchFamily="18" charset="0"/>
                                                </a:rPr>
                                                <m:t>𝑔</m:t>
                                              </m:r>
                                            </m:e>
                                            <m:sub>
                                              <m:r>
                                                <a:rPr lang="en-US" sz="2000" b="0" i="1">
                                                  <a:solidFill>
                                                    <a:schemeClr val="tx1"/>
                                                  </a:solidFill>
                                                  <a:latin typeface="Cambria Math" panose="02040503050406030204" pitchFamily="18" charset="0"/>
                                                </a:rPr>
                                                <m:t>01</m:t>
                                              </m:r>
                                            </m:sub>
                                          </m:sSub>
                                        </m:e>
                                      </m:mr>
                                      <m:mr>
                                        <m:e>
                                          <m:sSub>
                                            <m:sSubPr>
                                              <m:ctrlPr>
                                                <a:rPr lang="en-US" sz="2000" b="0" i="1">
                                                  <a:solidFill>
                                                    <a:schemeClr val="tx1"/>
                                                  </a:solidFill>
                                                  <a:latin typeface="Cambria Math" panose="02040503050406030204" pitchFamily="18" charset="0"/>
                                                </a:rPr>
                                              </m:ctrlPr>
                                            </m:sSubPr>
                                            <m:e>
                                              <m:r>
                                                <a:rPr lang="en-US" sz="2000" b="0" i="1">
                                                  <a:solidFill>
                                                    <a:schemeClr val="tx1"/>
                                                  </a:solidFill>
                                                  <a:latin typeface="Cambria Math" panose="02040503050406030204" pitchFamily="18" charset="0"/>
                                                </a:rPr>
                                                <m:t>𝑔</m:t>
                                              </m:r>
                                            </m:e>
                                            <m:sub>
                                              <m:r>
                                                <a:rPr lang="en-US" sz="2000" b="0" i="1">
                                                  <a:solidFill>
                                                    <a:schemeClr val="tx1"/>
                                                  </a:solidFill>
                                                  <a:latin typeface="Cambria Math" panose="02040503050406030204" pitchFamily="18" charset="0"/>
                                                </a:rPr>
                                                <m:t>10</m:t>
                                              </m:r>
                                            </m:sub>
                                          </m:sSub>
                                        </m:e>
                                        <m:e>
                                          <m:sSub>
                                            <m:sSubPr>
                                              <m:ctrlPr>
                                                <a:rPr lang="en-US" sz="2000" b="0" i="1">
                                                  <a:solidFill>
                                                    <a:schemeClr val="tx1"/>
                                                  </a:solidFill>
                                                  <a:latin typeface="Cambria Math" panose="02040503050406030204" pitchFamily="18" charset="0"/>
                                                </a:rPr>
                                              </m:ctrlPr>
                                            </m:sSubPr>
                                            <m:e>
                                              <m:r>
                                                <a:rPr lang="en-US" sz="2000" b="0" i="1">
                                                  <a:solidFill>
                                                    <a:schemeClr val="tx1"/>
                                                  </a:solidFill>
                                                  <a:latin typeface="Cambria Math" panose="02040503050406030204" pitchFamily="18" charset="0"/>
                                                </a:rPr>
                                                <m:t>𝑔</m:t>
                                              </m:r>
                                            </m:e>
                                            <m:sub>
                                              <m:r>
                                                <a:rPr lang="en-US" sz="2000" b="0" i="1">
                                                  <a:solidFill>
                                                    <a:schemeClr val="tx1"/>
                                                  </a:solidFill>
                                                  <a:latin typeface="Cambria Math" panose="02040503050406030204" pitchFamily="18" charset="0"/>
                                                </a:rPr>
                                                <m:t>11</m:t>
                                              </m:r>
                                            </m:sub>
                                          </m:sSub>
                                        </m:e>
                                      </m:mr>
                                    </m:m>
                                  </m:e>
                                </m:d>
                                <m:d>
                                  <m:dPr>
                                    <m:ctrlPr>
                                      <a:rPr lang="en-US" sz="2000" b="0" i="1">
                                        <a:solidFill>
                                          <a:schemeClr val="tx1"/>
                                        </a:solidFill>
                                        <a:latin typeface="Cambria Math" panose="02040503050406030204" pitchFamily="18" charset="0"/>
                                        <a:ea typeface="Cambria Math" panose="02040503050406030204" pitchFamily="18" charset="0"/>
                                      </a:rPr>
                                    </m:ctrlPr>
                                  </m:dPr>
                                  <m:e>
                                    <m:m>
                                      <m:mPr>
                                        <m:mcs>
                                          <m:mc>
                                            <m:mcPr>
                                              <m:count m:val="1"/>
                                              <m:mcJc m:val="center"/>
                                            </m:mcPr>
                                          </m:mc>
                                        </m:mcs>
                                        <m:ctrlPr>
                                          <a:rPr lang="en-US" sz="2000" b="0" i="1">
                                            <a:solidFill>
                                              <a:schemeClr val="tx1"/>
                                            </a:solidFill>
                                            <a:latin typeface="Cambria Math" panose="02040503050406030204" pitchFamily="18" charset="0"/>
                                            <a:ea typeface="Cambria Math" panose="02040503050406030204" pitchFamily="18" charset="0"/>
                                          </a:rPr>
                                        </m:ctrlPr>
                                      </m:mPr>
                                      <m:mr>
                                        <m:e>
                                          <m:r>
                                            <m:rPr>
                                              <m:brk m:alnAt="7"/>
                                            </m:rPr>
                                            <a:rPr lang="en-US" sz="2000" b="0" i="1" smtClean="0">
                                              <a:solidFill>
                                                <a:schemeClr val="tx1"/>
                                              </a:solidFill>
                                              <a:latin typeface="Cambria Math" panose="02040503050406030204" pitchFamily="18" charset="0"/>
                                              <a:ea typeface="Cambria Math" panose="02040503050406030204" pitchFamily="18" charset="0"/>
                                            </a:rPr>
                                            <m:t>0</m:t>
                                          </m:r>
                                        </m:e>
                                      </m:mr>
                                      <m:mr>
                                        <m:e>
                                          <m:r>
                                            <a:rPr lang="en-US" sz="2000" b="0" i="1" smtClean="0">
                                              <a:solidFill>
                                                <a:schemeClr val="tx1"/>
                                              </a:solidFill>
                                              <a:latin typeface="Cambria Math" panose="02040503050406030204" pitchFamily="18" charset="0"/>
                                              <a:ea typeface="Cambria Math" panose="02040503050406030204" pitchFamily="18" charset="0"/>
                                            </a:rPr>
                                            <m:t>1</m:t>
                                          </m:r>
                                        </m:e>
                                      </m:mr>
                                    </m:m>
                                  </m:e>
                                </m:d>
                                <m:r>
                                  <a:rPr lang="en-US" sz="2000" b="0" i="1" smtClean="0">
                                    <a:solidFill>
                                      <a:schemeClr val="tx1"/>
                                    </a:solidFill>
                                    <a:latin typeface="Cambria Math" panose="02040503050406030204" pitchFamily="18" charset="0"/>
                                    <a:ea typeface="Cambria Math" panose="02040503050406030204" pitchFamily="18" charset="0"/>
                                  </a:rPr>
                                  <m:t>=</m:t>
                                </m:r>
                                <m:d>
                                  <m:dPr>
                                    <m:ctrlPr>
                                      <a:rPr lang="en-US" sz="2000" b="0" i="1">
                                        <a:solidFill>
                                          <a:schemeClr val="tx1"/>
                                        </a:solidFill>
                                        <a:latin typeface="Cambria Math" panose="02040503050406030204" pitchFamily="18" charset="0"/>
                                        <a:ea typeface="Cambria Math" panose="02040503050406030204" pitchFamily="18" charset="0"/>
                                      </a:rPr>
                                    </m:ctrlPr>
                                  </m:dPr>
                                  <m:e>
                                    <m:m>
                                      <m:mPr>
                                        <m:mcs>
                                          <m:mc>
                                            <m:mcPr>
                                              <m:count m:val="1"/>
                                              <m:mcJc m:val="center"/>
                                            </m:mcPr>
                                          </m:mc>
                                        </m:mcs>
                                        <m:ctrlPr>
                                          <a:rPr lang="en-US" sz="2000" b="0" i="1">
                                            <a:solidFill>
                                              <a:schemeClr val="tx1"/>
                                            </a:solidFill>
                                            <a:latin typeface="Cambria Math" panose="02040503050406030204" pitchFamily="18" charset="0"/>
                                            <a:ea typeface="Cambria Math" panose="02040503050406030204" pitchFamily="18" charset="0"/>
                                          </a:rPr>
                                        </m:ctrlPr>
                                      </m:mPr>
                                      <m:mr>
                                        <m:e>
                                          <m:r>
                                            <m:rPr>
                                              <m:brk m:alnAt="7"/>
                                            </m:rPr>
                                            <a:rPr lang="en-US" sz="2000" b="0" i="1">
                                              <a:solidFill>
                                                <a:schemeClr val="tx1"/>
                                              </a:solidFill>
                                              <a:latin typeface="Cambria Math" panose="02040503050406030204" pitchFamily="18" charset="0"/>
                                              <a:ea typeface="Cambria Math" panose="02040503050406030204" pitchFamily="18" charset="0"/>
                                            </a:rPr>
                                            <m:t>0</m:t>
                                          </m:r>
                                        </m:e>
                                      </m:mr>
                                      <m:mr>
                                        <m:e>
                                          <m:r>
                                            <a:rPr lang="en-US" sz="2000" b="0" i="1">
                                              <a:solidFill>
                                                <a:schemeClr val="tx1"/>
                                              </a:solidFill>
                                              <a:latin typeface="Cambria Math" panose="02040503050406030204" pitchFamily="18" charset="0"/>
                                              <a:ea typeface="Cambria Math" panose="02040503050406030204" pitchFamily="18" charset="0"/>
                                            </a:rPr>
                                            <m:t>0</m:t>
                                          </m:r>
                                        </m:e>
                                      </m:mr>
                                      <m:mr>
                                        <m:e>
                                          <m:sSub>
                                            <m:sSubPr>
                                              <m:ctrlPr>
                                                <a:rPr lang="en-US" sz="2000" b="0" i="1">
                                                  <a:solidFill>
                                                    <a:schemeClr val="tx1"/>
                                                  </a:solidFill>
                                                  <a:latin typeface="Cambria Math" panose="02040503050406030204" pitchFamily="18" charset="0"/>
                                                </a:rPr>
                                              </m:ctrlPr>
                                            </m:sSubPr>
                                            <m:e>
                                              <m:r>
                                                <a:rPr lang="en-US" sz="2000" b="0" i="1">
                                                  <a:solidFill>
                                                    <a:schemeClr val="tx1"/>
                                                  </a:solidFill>
                                                  <a:latin typeface="Cambria Math" panose="02040503050406030204" pitchFamily="18" charset="0"/>
                                                </a:rPr>
                                                <m:t>𝑔</m:t>
                                              </m:r>
                                            </m:e>
                                            <m:sub>
                                              <m:r>
                                                <a:rPr lang="en-US" sz="2000" b="0" i="1">
                                                  <a:solidFill>
                                                    <a:schemeClr val="tx1"/>
                                                  </a:solidFill>
                                                  <a:latin typeface="Cambria Math" panose="02040503050406030204" pitchFamily="18" charset="0"/>
                                                </a:rPr>
                                                <m:t>01</m:t>
                                              </m:r>
                                            </m:sub>
                                          </m:sSub>
                                        </m:e>
                                      </m:mr>
                                      <m:mr>
                                        <m:e>
                                          <m:sSub>
                                            <m:sSubPr>
                                              <m:ctrlPr>
                                                <a:rPr lang="en-US" sz="2000" b="0" i="1">
                                                  <a:solidFill>
                                                    <a:schemeClr val="tx1"/>
                                                  </a:solidFill>
                                                  <a:latin typeface="Cambria Math" panose="02040503050406030204" pitchFamily="18" charset="0"/>
                                                </a:rPr>
                                              </m:ctrlPr>
                                            </m:sSubPr>
                                            <m:e>
                                              <m:r>
                                                <a:rPr lang="en-US" sz="2000" b="0" i="1">
                                                  <a:solidFill>
                                                    <a:schemeClr val="tx1"/>
                                                  </a:solidFill>
                                                  <a:latin typeface="Cambria Math" panose="02040503050406030204" pitchFamily="18" charset="0"/>
                                                </a:rPr>
                                                <m:t>𝑔</m:t>
                                              </m:r>
                                            </m:e>
                                            <m:sub>
                                              <m:r>
                                                <a:rPr lang="en-US" sz="2000" b="0" i="1">
                                                  <a:solidFill>
                                                    <a:schemeClr val="tx1"/>
                                                  </a:solidFill>
                                                  <a:latin typeface="Cambria Math" panose="02040503050406030204" pitchFamily="18" charset="0"/>
                                                </a:rPr>
                                                <m:t>11</m:t>
                                              </m:r>
                                            </m:sub>
                                          </m:sSub>
                                        </m:e>
                                      </m:mr>
                                    </m:m>
                                  </m:e>
                                </m:d>
                              </m:oMath>
                            </m:oMathPara>
                          </a14:m>
                          <a:endParaRPr lang="en-US" sz="2000" b="0" dirty="0">
                            <a:solidFill>
                              <a:schemeClr val="tx1"/>
                            </a:solidFill>
                          </a:endParaRPr>
                        </a:p>
                      </a:txBody>
                      <a:tcPr anchor="ctr"/>
                    </a:tc>
                    <a:extLst>
                      <a:ext uri="{0D108BD9-81ED-4DB2-BD59-A6C34878D82A}">
                        <a16:rowId xmlns:a16="http://schemas.microsoft.com/office/drawing/2014/main" val="628222758"/>
                      </a:ext>
                    </a:extLst>
                  </a:tr>
                </a:tbl>
              </a:graphicData>
            </a:graphic>
          </p:graphicFrame>
        </mc:Choice>
        <mc:Fallback xmlns="">
          <p:graphicFrame>
            <p:nvGraphicFramePr>
              <p:cNvPr id="27" name="Table 26">
                <a:extLst>
                  <a:ext uri="{FF2B5EF4-FFF2-40B4-BE49-F238E27FC236}">
                    <a16:creationId xmlns:a16="http://schemas.microsoft.com/office/drawing/2014/main" id="{6205355F-02E2-5C4C-8904-BE4923D211FA}"/>
                  </a:ext>
                </a:extLst>
              </p:cNvPr>
              <p:cNvGraphicFramePr>
                <a:graphicFrameLocks noGrp="1"/>
              </p:cNvGraphicFramePr>
              <p:nvPr>
                <p:extLst>
                  <p:ext uri="{D42A27DB-BD31-4B8C-83A1-F6EECF244321}">
                    <p14:modId xmlns:p14="http://schemas.microsoft.com/office/powerpoint/2010/main" val="3292576141"/>
                  </p:ext>
                </p:extLst>
              </p:nvPr>
            </p:nvGraphicFramePr>
            <p:xfrm>
              <a:off x="4542378" y="926631"/>
              <a:ext cx="4057994" cy="5774955"/>
            </p:xfrm>
            <a:graphic>
              <a:graphicData uri="http://schemas.openxmlformats.org/drawingml/2006/table">
                <a:tbl>
                  <a:tblPr firstRow="1" bandRow="1">
                    <a:tableStyleId>{F5AB1C69-6EDB-4FF4-983F-18BD219EF322}</a:tableStyleId>
                  </a:tblPr>
                  <a:tblGrid>
                    <a:gridCol w="4057994">
                      <a:extLst>
                        <a:ext uri="{9D8B030D-6E8A-4147-A177-3AD203B41FA5}">
                          <a16:colId xmlns:a16="http://schemas.microsoft.com/office/drawing/2014/main" val="2820400135"/>
                        </a:ext>
                      </a:extLst>
                    </a:gridCol>
                  </a:tblGrid>
                  <a:tr h="81776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0" i="0" dirty="0">
                              <a:solidFill>
                                <a:schemeClr val="tx1"/>
                              </a:solidFill>
                            </a:rPr>
                            <a:t>OUTPUT</a:t>
                          </a:r>
                        </a:p>
                      </a:txBody>
                      <a:tcPr/>
                    </a:tc>
                    <a:extLst>
                      <a:ext uri="{0D108BD9-81ED-4DB2-BD59-A6C34878D82A}">
                        <a16:rowId xmlns:a16="http://schemas.microsoft.com/office/drawing/2014/main" val="3902411248"/>
                      </a:ext>
                    </a:extLst>
                  </a:tr>
                  <a:tr h="1229995">
                    <a:tc>
                      <a:txBody>
                        <a:bodyPr/>
                        <a:lstStyle/>
                        <a:p>
                          <a:endParaRPr lang="en-US"/>
                        </a:p>
                      </a:txBody>
                      <a:tcPr anchor="ctr">
                        <a:blipFill>
                          <a:blip r:embed="rId11"/>
                          <a:stretch>
                            <a:fillRect t="-70103" r="-312" b="-306186"/>
                          </a:stretch>
                        </a:blipFill>
                      </a:tcPr>
                    </a:tc>
                    <a:extLst>
                      <a:ext uri="{0D108BD9-81ED-4DB2-BD59-A6C34878D82A}">
                        <a16:rowId xmlns:a16="http://schemas.microsoft.com/office/drawing/2014/main" val="4274640674"/>
                      </a:ext>
                    </a:extLst>
                  </a:tr>
                  <a:tr h="1229995">
                    <a:tc>
                      <a:txBody>
                        <a:bodyPr/>
                        <a:lstStyle/>
                        <a:p>
                          <a:endParaRPr lang="en-US"/>
                        </a:p>
                      </a:txBody>
                      <a:tcPr anchor="ctr">
                        <a:blipFill>
                          <a:blip r:embed="rId11"/>
                          <a:stretch>
                            <a:fillRect t="-170103" r="-312" b="-206186"/>
                          </a:stretch>
                        </a:blipFill>
                      </a:tcPr>
                    </a:tc>
                    <a:extLst>
                      <a:ext uri="{0D108BD9-81ED-4DB2-BD59-A6C34878D82A}">
                        <a16:rowId xmlns:a16="http://schemas.microsoft.com/office/drawing/2014/main" val="1780964737"/>
                      </a:ext>
                    </a:extLst>
                  </a:tr>
                  <a:tr h="1248601">
                    <a:tc>
                      <a:txBody>
                        <a:bodyPr/>
                        <a:lstStyle/>
                        <a:p>
                          <a:endParaRPr lang="en-US"/>
                        </a:p>
                      </a:txBody>
                      <a:tcPr anchor="ctr">
                        <a:blipFill>
                          <a:blip r:embed="rId11"/>
                          <a:stretch>
                            <a:fillRect t="-267347" r="-312" b="-104082"/>
                          </a:stretch>
                        </a:blipFill>
                      </a:tcPr>
                    </a:tc>
                    <a:extLst>
                      <a:ext uri="{0D108BD9-81ED-4DB2-BD59-A6C34878D82A}">
                        <a16:rowId xmlns:a16="http://schemas.microsoft.com/office/drawing/2014/main" val="26503616"/>
                      </a:ext>
                    </a:extLst>
                  </a:tr>
                  <a:tr h="1248601">
                    <a:tc>
                      <a:txBody>
                        <a:bodyPr/>
                        <a:lstStyle/>
                        <a:p>
                          <a:endParaRPr lang="en-US"/>
                        </a:p>
                      </a:txBody>
                      <a:tcPr anchor="ctr">
                        <a:blipFill>
                          <a:blip r:embed="rId11"/>
                          <a:stretch>
                            <a:fillRect t="-363636" r="-312" b="-3030"/>
                          </a:stretch>
                        </a:blipFill>
                      </a:tcPr>
                    </a:tc>
                    <a:extLst>
                      <a:ext uri="{0D108BD9-81ED-4DB2-BD59-A6C34878D82A}">
                        <a16:rowId xmlns:a16="http://schemas.microsoft.com/office/drawing/2014/main" val="628222758"/>
                      </a:ext>
                    </a:extLst>
                  </a:tr>
                </a:tbl>
              </a:graphicData>
            </a:graphic>
          </p:graphicFrame>
        </mc:Fallback>
      </mc:AlternateContent>
    </p:spTree>
    <p:extLst>
      <p:ext uri="{BB962C8B-B14F-4D97-AF65-F5344CB8AC3E}">
        <p14:creationId xmlns:p14="http://schemas.microsoft.com/office/powerpoint/2010/main" val="2579959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dissolve">
                                      <p:cBhvr>
                                        <p:cTn id="7" dur="500"/>
                                        <p:tgtEl>
                                          <p:spTgt spid="2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dissolve">
                                      <p:cBhvr>
                                        <p:cTn id="12" dur="500"/>
                                        <p:tgtEl>
                                          <p:spTgt spid="27"/>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dissolve">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dissolve">
                                      <p:cBhvr>
                                        <p:cTn id="2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39EF45-D20A-C54B-9E7B-223F102F5FFB}"/>
              </a:ext>
            </a:extLst>
          </p:cNvPr>
          <p:cNvSpPr>
            <a:spLocks noGrp="1"/>
          </p:cNvSpPr>
          <p:nvPr>
            <p:ph type="title"/>
          </p:nvPr>
        </p:nvSpPr>
        <p:spPr>
          <a:xfrm>
            <a:off x="0" y="0"/>
            <a:ext cx="12192000" cy="928688"/>
          </a:xfrm>
        </p:spPr>
        <p:txBody>
          <a:bodyPr/>
          <a:lstStyle/>
          <a:p>
            <a:r>
              <a:rPr lang="en-US" dirty="0"/>
              <a:t>CX / CNOT gate</a:t>
            </a:r>
          </a:p>
        </p:txBody>
      </p:sp>
      <p:sp>
        <p:nvSpPr>
          <p:cNvPr id="3" name="Slide Number Placeholder 2">
            <a:extLst>
              <a:ext uri="{FF2B5EF4-FFF2-40B4-BE49-F238E27FC236}">
                <a16:creationId xmlns:a16="http://schemas.microsoft.com/office/drawing/2014/main" id="{1DFCF789-A597-7E48-870E-125D0C3A063D}"/>
              </a:ext>
            </a:extLst>
          </p:cNvPr>
          <p:cNvSpPr>
            <a:spLocks noGrp="1"/>
          </p:cNvSpPr>
          <p:nvPr>
            <p:ph type="sldNum" sz="quarter" idx="12"/>
          </p:nvPr>
        </p:nvSpPr>
        <p:spPr/>
        <p:txBody>
          <a:bodyPr/>
          <a:lstStyle/>
          <a:p>
            <a:fld id="{591A223C-FA10-BC46-A853-03BA373D023C}" type="slidenum">
              <a:rPr lang="en-US" smtClean="0"/>
              <a:t>35</a:t>
            </a:fld>
            <a:endParaRPr lang="en-US"/>
          </a:p>
        </p:txBody>
      </p:sp>
      <p:sp>
        <p:nvSpPr>
          <p:cNvPr id="7" name="Rectangle 6">
            <a:extLst>
              <a:ext uri="{FF2B5EF4-FFF2-40B4-BE49-F238E27FC236}">
                <a16:creationId xmlns:a16="http://schemas.microsoft.com/office/drawing/2014/main" id="{01F86251-6DE2-3448-A31F-B8BAA869C571}"/>
              </a:ext>
            </a:extLst>
          </p:cNvPr>
          <p:cNvSpPr/>
          <p:nvPr/>
        </p:nvSpPr>
        <p:spPr>
          <a:xfrm>
            <a:off x="224852" y="1133585"/>
            <a:ext cx="11679658" cy="278309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a:extLst>
              <a:ext uri="{FF2B5EF4-FFF2-40B4-BE49-F238E27FC236}">
                <a16:creationId xmlns:a16="http://schemas.microsoft.com/office/drawing/2014/main" id="{E34E8D00-DC1A-AA45-A7BD-12D4E077C371}"/>
              </a:ext>
            </a:extLst>
          </p:cNvPr>
          <p:cNvGrpSpPr/>
          <p:nvPr/>
        </p:nvGrpSpPr>
        <p:grpSpPr>
          <a:xfrm>
            <a:off x="1816336" y="1133585"/>
            <a:ext cx="7168194" cy="2783095"/>
            <a:chOff x="1816336" y="1133585"/>
            <a:chExt cx="7168194" cy="5172863"/>
          </a:xfrm>
        </p:grpSpPr>
        <p:cxnSp>
          <p:nvCxnSpPr>
            <p:cNvPr id="16" name="Straight Connector 15">
              <a:extLst>
                <a:ext uri="{FF2B5EF4-FFF2-40B4-BE49-F238E27FC236}">
                  <a16:creationId xmlns:a16="http://schemas.microsoft.com/office/drawing/2014/main" id="{1A76F891-5AB6-8649-AA11-DCC61231E1A8}"/>
                </a:ext>
              </a:extLst>
            </p:cNvPr>
            <p:cNvCxnSpPr>
              <a:cxnSpLocks/>
            </p:cNvCxnSpPr>
            <p:nvPr/>
          </p:nvCxnSpPr>
          <p:spPr>
            <a:xfrm>
              <a:off x="1816336" y="1142328"/>
              <a:ext cx="0" cy="516412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98B600C7-EF8F-A54F-A16B-AB413E8AA9CD}"/>
                </a:ext>
              </a:extLst>
            </p:cNvPr>
            <p:cNvCxnSpPr>
              <a:cxnSpLocks/>
            </p:cNvCxnSpPr>
            <p:nvPr/>
          </p:nvCxnSpPr>
          <p:spPr>
            <a:xfrm>
              <a:off x="5355164" y="1133585"/>
              <a:ext cx="0" cy="5164120"/>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8A527968-DE7C-FE4A-A9DB-19FD054BF655}"/>
                </a:ext>
              </a:extLst>
            </p:cNvPr>
            <p:cNvCxnSpPr>
              <a:cxnSpLocks/>
            </p:cNvCxnSpPr>
            <p:nvPr/>
          </p:nvCxnSpPr>
          <p:spPr>
            <a:xfrm flipV="1">
              <a:off x="8984530" y="1133586"/>
              <a:ext cx="0" cy="5164119"/>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4" name="Straight Connector 3">
            <a:extLst>
              <a:ext uri="{FF2B5EF4-FFF2-40B4-BE49-F238E27FC236}">
                <a16:creationId xmlns:a16="http://schemas.microsoft.com/office/drawing/2014/main" id="{35913924-2483-E343-99F2-9D1061599CCB}"/>
              </a:ext>
            </a:extLst>
          </p:cNvPr>
          <p:cNvCxnSpPr>
            <a:cxnSpLocks/>
          </p:cNvCxnSpPr>
          <p:nvPr/>
        </p:nvCxnSpPr>
        <p:spPr>
          <a:xfrm>
            <a:off x="208474" y="1924779"/>
            <a:ext cx="1167965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83364821-E044-724C-BCD6-88BE6024389F}"/>
              </a:ext>
            </a:extLst>
          </p:cNvPr>
          <p:cNvCxnSpPr>
            <a:cxnSpLocks/>
          </p:cNvCxnSpPr>
          <p:nvPr/>
        </p:nvCxnSpPr>
        <p:spPr>
          <a:xfrm>
            <a:off x="433982" y="3342459"/>
            <a:ext cx="1165590"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E7759C35-6AD7-5F48-9D46-E6BE14FB285F}"/>
              </a:ext>
            </a:extLst>
          </p:cNvPr>
          <p:cNvSpPr/>
          <p:nvPr/>
        </p:nvSpPr>
        <p:spPr>
          <a:xfrm>
            <a:off x="744927" y="3059699"/>
            <a:ext cx="540000" cy="54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sp>
        <p:nvSpPr>
          <p:cNvPr id="37" name="TextBox 36">
            <a:extLst>
              <a:ext uri="{FF2B5EF4-FFF2-40B4-BE49-F238E27FC236}">
                <a16:creationId xmlns:a16="http://schemas.microsoft.com/office/drawing/2014/main" id="{A41F298D-2142-3447-964A-88FBF8974F35}"/>
              </a:ext>
            </a:extLst>
          </p:cNvPr>
          <p:cNvSpPr txBox="1"/>
          <p:nvPr/>
        </p:nvSpPr>
        <p:spPr>
          <a:xfrm>
            <a:off x="5392779" y="2049706"/>
            <a:ext cx="3313814" cy="1569660"/>
          </a:xfrm>
          <a:prstGeom prst="rect">
            <a:avLst/>
          </a:prstGeom>
          <a:noFill/>
        </p:spPr>
        <p:txBody>
          <a:bodyPr wrap="square" rtlCol="0">
            <a:spAutoFit/>
          </a:bodyPr>
          <a:lstStyle/>
          <a:p>
            <a:pPr algn="just"/>
            <a:r>
              <a:rPr lang="en-ZA" sz="2400" dirty="0">
                <a:latin typeface="+mj-lt"/>
              </a:rPr>
              <a:t>CX applies the X gate to the target qubit (t) when the control qubit (c) is ∣1⟩. </a:t>
            </a:r>
            <a:endParaRPr lang="en-US" sz="2100" dirty="0">
              <a:latin typeface="+mj-lt"/>
            </a:endParaRPr>
          </a:p>
        </p:txBody>
      </p:sp>
      <p:sp>
        <p:nvSpPr>
          <p:cNvPr id="43" name="Rectangle 42">
            <a:extLst>
              <a:ext uri="{FF2B5EF4-FFF2-40B4-BE49-F238E27FC236}">
                <a16:creationId xmlns:a16="http://schemas.microsoft.com/office/drawing/2014/main" id="{0824DC6C-CEC9-3E4E-8DF1-99A0070F2BD7}"/>
              </a:ext>
            </a:extLst>
          </p:cNvPr>
          <p:cNvSpPr/>
          <p:nvPr/>
        </p:nvSpPr>
        <p:spPr>
          <a:xfrm>
            <a:off x="9117480" y="2583993"/>
            <a:ext cx="2747913" cy="461665"/>
          </a:xfrm>
          <a:prstGeom prst="rect">
            <a:avLst/>
          </a:prstGeom>
        </p:spPr>
        <p:txBody>
          <a:bodyPr wrap="square">
            <a:spAutoFit/>
          </a:bodyPr>
          <a:lstStyle/>
          <a:p>
            <a:r>
              <a:rPr lang="en-US" sz="2400" dirty="0">
                <a:latin typeface="AndaleMono" panose="020B0509000000000004" pitchFamily="49" charset="0"/>
              </a:rPr>
              <a:t>cx q[0], q[1]; </a:t>
            </a:r>
            <a:endParaRPr lang="en-US" sz="2400" dirty="0">
              <a:effectLst/>
            </a:endParaRPr>
          </a:p>
        </p:txBody>
      </p:sp>
      <p:sp>
        <p:nvSpPr>
          <p:cNvPr id="38" name="Oval 37">
            <a:extLst>
              <a:ext uri="{FF2B5EF4-FFF2-40B4-BE49-F238E27FC236}">
                <a16:creationId xmlns:a16="http://schemas.microsoft.com/office/drawing/2014/main" id="{69002E74-4715-7846-AD6D-077E1BE4461B}"/>
              </a:ext>
            </a:extLst>
          </p:cNvPr>
          <p:cNvSpPr/>
          <p:nvPr/>
        </p:nvSpPr>
        <p:spPr>
          <a:xfrm>
            <a:off x="924927" y="2303977"/>
            <a:ext cx="180000" cy="18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cxnSp>
        <p:nvCxnSpPr>
          <p:cNvPr id="15" name="Straight Connector 14">
            <a:extLst>
              <a:ext uri="{FF2B5EF4-FFF2-40B4-BE49-F238E27FC236}">
                <a16:creationId xmlns:a16="http://schemas.microsoft.com/office/drawing/2014/main" id="{257E0AFF-39A4-2741-BC3C-B2C0F59BC751}"/>
              </a:ext>
            </a:extLst>
          </p:cNvPr>
          <p:cNvCxnSpPr>
            <a:cxnSpLocks/>
            <a:stCxn id="38" idx="4"/>
            <a:endCxn id="13" idx="0"/>
          </p:cNvCxnSpPr>
          <p:nvPr/>
        </p:nvCxnSpPr>
        <p:spPr>
          <a:xfrm>
            <a:off x="1014927" y="2483977"/>
            <a:ext cx="0" cy="575722"/>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E667040F-665E-5242-BB46-9F9E18E502E7}"/>
              </a:ext>
            </a:extLst>
          </p:cNvPr>
          <p:cNvCxnSpPr>
            <a:cxnSpLocks/>
          </p:cNvCxnSpPr>
          <p:nvPr/>
        </p:nvCxnSpPr>
        <p:spPr>
          <a:xfrm>
            <a:off x="461127" y="2402598"/>
            <a:ext cx="1165590" cy="0"/>
          </a:xfrm>
          <a:prstGeom prst="line">
            <a:avLst/>
          </a:prstGeom>
          <a:ln w="254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 name="Rectangle 25">
                <a:extLst>
                  <a:ext uri="{FF2B5EF4-FFF2-40B4-BE49-F238E27FC236}">
                    <a16:creationId xmlns:a16="http://schemas.microsoft.com/office/drawing/2014/main" id="{CE57BBB8-E581-FE46-94A7-A7C965C7F037}"/>
                  </a:ext>
                </a:extLst>
              </p:cNvPr>
              <p:cNvSpPr/>
              <p:nvPr/>
            </p:nvSpPr>
            <p:spPr>
              <a:xfrm>
                <a:off x="1728684" y="2180282"/>
                <a:ext cx="3098797" cy="147194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𝐶𝑋</m:t>
                      </m:r>
                      <m:r>
                        <a:rPr lang="en-US" sz="2400" b="0" i="1" smtClean="0">
                          <a:latin typeface="Cambria Math" panose="02040503050406030204" pitchFamily="18" charset="0"/>
                        </a:rPr>
                        <m:t>=</m:t>
                      </m:r>
                      <m:d>
                        <m:dPr>
                          <m:ctrlPr>
                            <a:rPr lang="en-US" sz="2400" i="1">
                              <a:latin typeface="Cambria Math" panose="02040503050406030204" pitchFamily="18" charset="0"/>
                            </a:rPr>
                          </m:ctrlPr>
                        </m:dPr>
                        <m:e>
                          <m:m>
                            <m:mPr>
                              <m:mcs>
                                <m:mc>
                                  <m:mcPr>
                                    <m:count m:val="4"/>
                                    <m:mcJc m:val="center"/>
                                  </m:mcPr>
                                </m:mc>
                              </m:mcs>
                              <m:ctrlPr>
                                <a:rPr lang="en-US" sz="2400" i="1">
                                  <a:latin typeface="Cambria Math" panose="02040503050406030204" pitchFamily="18" charset="0"/>
                                </a:rPr>
                              </m:ctrlPr>
                            </m:mPr>
                            <m:mr>
                              <m:e>
                                <m:r>
                                  <m:rPr>
                                    <m:brk m:alnAt="7"/>
                                  </m:rPr>
                                  <a:rPr lang="en-US" sz="2400" i="1">
                                    <a:latin typeface="Cambria Math" panose="02040503050406030204" pitchFamily="18" charset="0"/>
                                  </a:rPr>
                                  <m:t>1</m:t>
                                </m:r>
                              </m:e>
                              <m:e>
                                <m:r>
                                  <a:rPr lang="en-US" sz="2400" i="1">
                                    <a:latin typeface="Cambria Math" panose="02040503050406030204" pitchFamily="18" charset="0"/>
                                  </a:rPr>
                                  <m:t>0</m:t>
                                </m:r>
                              </m:e>
                              <m:e>
                                <m:r>
                                  <a:rPr lang="en-US" sz="2400" i="1">
                                    <a:latin typeface="Cambria Math" panose="02040503050406030204" pitchFamily="18" charset="0"/>
                                  </a:rPr>
                                  <m:t>0</m:t>
                                </m:r>
                              </m:e>
                              <m:e>
                                <m:r>
                                  <a:rPr lang="en-US" sz="2400" i="1">
                                    <a:latin typeface="Cambria Math" panose="02040503050406030204" pitchFamily="18" charset="0"/>
                                  </a:rPr>
                                  <m:t>0</m:t>
                                </m:r>
                              </m:e>
                            </m:mr>
                            <m:mr>
                              <m:e>
                                <m:r>
                                  <a:rPr lang="en-US" sz="2400" i="1">
                                    <a:latin typeface="Cambria Math" panose="02040503050406030204" pitchFamily="18" charset="0"/>
                                  </a:rPr>
                                  <m:t>0</m:t>
                                </m:r>
                              </m:e>
                              <m:e>
                                <m:r>
                                  <a:rPr lang="en-US" sz="2400" i="1">
                                    <a:latin typeface="Cambria Math" panose="02040503050406030204" pitchFamily="18" charset="0"/>
                                  </a:rPr>
                                  <m:t>1</m:t>
                                </m:r>
                              </m:e>
                              <m:e>
                                <m:r>
                                  <a:rPr lang="en-US" sz="2400" i="1">
                                    <a:latin typeface="Cambria Math" panose="02040503050406030204" pitchFamily="18" charset="0"/>
                                  </a:rPr>
                                  <m:t>0</m:t>
                                </m:r>
                              </m:e>
                              <m:e>
                                <m:r>
                                  <a:rPr lang="en-US" sz="2400" i="1">
                                    <a:latin typeface="Cambria Math" panose="02040503050406030204" pitchFamily="18" charset="0"/>
                                  </a:rPr>
                                  <m:t>0</m:t>
                                </m:r>
                              </m:e>
                            </m:mr>
                            <m:mr>
                              <m:e>
                                <m:r>
                                  <a:rPr lang="en-US" sz="2400" i="1">
                                    <a:latin typeface="Cambria Math" panose="02040503050406030204" pitchFamily="18" charset="0"/>
                                  </a:rPr>
                                  <m:t>0</m:t>
                                </m:r>
                              </m:e>
                              <m:e>
                                <m:r>
                                  <a:rPr lang="en-US" sz="2400" i="1">
                                    <a:latin typeface="Cambria Math" panose="02040503050406030204" pitchFamily="18" charset="0"/>
                                  </a:rPr>
                                  <m:t>0</m:t>
                                </m:r>
                              </m:e>
                              <m:e>
                                <m:r>
                                  <a:rPr lang="en-US" sz="2400" i="1">
                                    <a:latin typeface="Cambria Math" panose="02040503050406030204" pitchFamily="18" charset="0"/>
                                  </a:rPr>
                                  <m:t>0</m:t>
                                </m:r>
                              </m:e>
                              <m:e>
                                <m:r>
                                  <a:rPr lang="en-US" sz="2400" i="1">
                                    <a:latin typeface="Cambria Math" panose="02040503050406030204" pitchFamily="18" charset="0"/>
                                  </a:rPr>
                                  <m:t>1</m:t>
                                </m:r>
                              </m:e>
                            </m:mr>
                            <m:mr>
                              <m:e>
                                <m:r>
                                  <a:rPr lang="en-US" sz="2400" i="1">
                                    <a:latin typeface="Cambria Math" panose="02040503050406030204" pitchFamily="18" charset="0"/>
                                  </a:rPr>
                                  <m:t>0</m:t>
                                </m:r>
                              </m:e>
                              <m:e>
                                <m:r>
                                  <a:rPr lang="en-US" sz="2400" i="1">
                                    <a:latin typeface="Cambria Math" panose="02040503050406030204" pitchFamily="18" charset="0"/>
                                  </a:rPr>
                                  <m:t>0</m:t>
                                </m:r>
                              </m:e>
                              <m:e>
                                <m:r>
                                  <a:rPr lang="en-US" sz="2400" i="1">
                                    <a:latin typeface="Cambria Math" panose="02040503050406030204" pitchFamily="18" charset="0"/>
                                  </a:rPr>
                                  <m:t>1</m:t>
                                </m:r>
                              </m:e>
                              <m:e>
                                <m:r>
                                  <a:rPr lang="en-US" sz="2400" i="1">
                                    <a:latin typeface="Cambria Math" panose="02040503050406030204" pitchFamily="18" charset="0"/>
                                  </a:rPr>
                                  <m:t>0</m:t>
                                </m:r>
                              </m:e>
                            </m:mr>
                          </m:m>
                        </m:e>
                      </m:d>
                    </m:oMath>
                  </m:oMathPara>
                </a14:m>
                <a:endParaRPr lang="en-US" sz="2400" dirty="0"/>
              </a:p>
            </p:txBody>
          </p:sp>
        </mc:Choice>
        <mc:Fallback xmlns="">
          <p:sp>
            <p:nvSpPr>
              <p:cNvPr id="26" name="Rectangle 25">
                <a:extLst>
                  <a:ext uri="{FF2B5EF4-FFF2-40B4-BE49-F238E27FC236}">
                    <a16:creationId xmlns:a16="http://schemas.microsoft.com/office/drawing/2014/main" id="{CE57BBB8-E581-FE46-94A7-A7C965C7F037}"/>
                  </a:ext>
                </a:extLst>
              </p:cNvPr>
              <p:cNvSpPr>
                <a:spLocks noRot="1" noChangeAspect="1" noMove="1" noResize="1" noEditPoints="1" noAdjustHandles="1" noChangeArrowheads="1" noChangeShapeType="1" noTextEdit="1"/>
              </p:cNvSpPr>
              <p:nvPr/>
            </p:nvSpPr>
            <p:spPr>
              <a:xfrm>
                <a:off x="1728684" y="2180282"/>
                <a:ext cx="3098797" cy="1471941"/>
              </a:xfrm>
              <a:prstGeom prst="rect">
                <a:avLst/>
              </a:prstGeom>
              <a:blipFill>
                <a:blip r:embed="rId3"/>
                <a:stretch>
                  <a:fillRect b="-85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Rectangle 27">
                <a:extLst>
                  <a:ext uri="{FF2B5EF4-FFF2-40B4-BE49-F238E27FC236}">
                    <a16:creationId xmlns:a16="http://schemas.microsoft.com/office/drawing/2014/main" id="{6CFAB81F-91C5-8B4E-8018-BA950ACEB817}"/>
                  </a:ext>
                </a:extLst>
              </p:cNvPr>
              <p:cNvSpPr/>
              <p:nvPr/>
            </p:nvSpPr>
            <p:spPr>
              <a:xfrm>
                <a:off x="376301" y="1927404"/>
                <a:ext cx="404405"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𝑐</m:t>
                      </m:r>
                    </m:oMath>
                  </m:oMathPara>
                </a14:m>
                <a:endParaRPr lang="en-US" sz="2400" dirty="0"/>
              </a:p>
            </p:txBody>
          </p:sp>
        </mc:Choice>
        <mc:Fallback xmlns="">
          <p:sp>
            <p:nvSpPr>
              <p:cNvPr id="28" name="Rectangle 27">
                <a:extLst>
                  <a:ext uri="{FF2B5EF4-FFF2-40B4-BE49-F238E27FC236}">
                    <a16:creationId xmlns:a16="http://schemas.microsoft.com/office/drawing/2014/main" id="{6CFAB81F-91C5-8B4E-8018-BA950ACEB817}"/>
                  </a:ext>
                </a:extLst>
              </p:cNvPr>
              <p:cNvSpPr>
                <a:spLocks noRot="1" noChangeAspect="1" noMove="1" noResize="1" noEditPoints="1" noAdjustHandles="1" noChangeArrowheads="1" noChangeShapeType="1" noTextEdit="1"/>
              </p:cNvSpPr>
              <p:nvPr/>
            </p:nvSpPr>
            <p:spPr>
              <a:xfrm>
                <a:off x="376301" y="1927404"/>
                <a:ext cx="404405" cy="461665"/>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6" name="Rectangle 55">
                <a:extLst>
                  <a:ext uri="{FF2B5EF4-FFF2-40B4-BE49-F238E27FC236}">
                    <a16:creationId xmlns:a16="http://schemas.microsoft.com/office/drawing/2014/main" id="{58858AB7-CC58-F24F-89C7-35BA9F306EA3}"/>
                  </a:ext>
                </a:extLst>
              </p:cNvPr>
              <p:cNvSpPr/>
              <p:nvPr/>
            </p:nvSpPr>
            <p:spPr>
              <a:xfrm>
                <a:off x="326607" y="2870243"/>
                <a:ext cx="382925"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𝑡</m:t>
                      </m:r>
                    </m:oMath>
                  </m:oMathPara>
                </a14:m>
                <a:endParaRPr lang="en-US" sz="2400" dirty="0"/>
              </a:p>
            </p:txBody>
          </p:sp>
        </mc:Choice>
        <mc:Fallback xmlns="">
          <p:sp>
            <p:nvSpPr>
              <p:cNvPr id="56" name="Rectangle 55">
                <a:extLst>
                  <a:ext uri="{FF2B5EF4-FFF2-40B4-BE49-F238E27FC236}">
                    <a16:creationId xmlns:a16="http://schemas.microsoft.com/office/drawing/2014/main" id="{58858AB7-CC58-F24F-89C7-35BA9F306EA3}"/>
                  </a:ext>
                </a:extLst>
              </p:cNvPr>
              <p:cNvSpPr>
                <a:spLocks noRot="1" noChangeAspect="1" noMove="1" noResize="1" noEditPoints="1" noAdjustHandles="1" noChangeArrowheads="1" noChangeShapeType="1" noTextEdit="1"/>
              </p:cNvSpPr>
              <p:nvPr/>
            </p:nvSpPr>
            <p:spPr>
              <a:xfrm>
                <a:off x="326607" y="2870243"/>
                <a:ext cx="382925" cy="461665"/>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3" name="Rectangle 72">
                <a:extLst>
                  <a:ext uri="{FF2B5EF4-FFF2-40B4-BE49-F238E27FC236}">
                    <a16:creationId xmlns:a16="http://schemas.microsoft.com/office/drawing/2014/main" id="{339873E2-CDB8-4C46-B3DF-E8E019A18EA7}"/>
                  </a:ext>
                </a:extLst>
              </p:cNvPr>
              <p:cNvSpPr/>
              <p:nvPr/>
            </p:nvSpPr>
            <p:spPr>
              <a:xfrm>
                <a:off x="376301" y="4573780"/>
                <a:ext cx="281152" cy="46166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ZA" sz="2400" i="1" smtClean="0">
                              <a:latin typeface="Cambria Math" panose="02040503050406030204" pitchFamily="18" charset="0"/>
                            </a:rPr>
                          </m:ctrlPr>
                        </m:dPr>
                        <m:e>
                          <m:r>
                            <m:rPr>
                              <m:sty m:val="p"/>
                            </m:rPr>
                            <a:rPr lang="sr-Latn-RS" sz="2400" b="0" i="0" smtClean="0">
                              <a:latin typeface="Cambria Math" panose="02040503050406030204" pitchFamily="18" charset="0"/>
                            </a:rPr>
                            <m:t>c</m:t>
                          </m:r>
                        </m:e>
                      </m:d>
                    </m:oMath>
                  </m:oMathPara>
                </a14:m>
                <a:endParaRPr lang="en-US" sz="2400" dirty="0"/>
              </a:p>
            </p:txBody>
          </p:sp>
        </mc:Choice>
        <mc:Fallback xmlns="">
          <p:sp>
            <p:nvSpPr>
              <p:cNvPr id="73" name="Rectangle 72">
                <a:extLst>
                  <a:ext uri="{FF2B5EF4-FFF2-40B4-BE49-F238E27FC236}">
                    <a16:creationId xmlns:a16="http://schemas.microsoft.com/office/drawing/2014/main" id="{339873E2-CDB8-4C46-B3DF-E8E019A18EA7}"/>
                  </a:ext>
                </a:extLst>
              </p:cNvPr>
              <p:cNvSpPr>
                <a:spLocks noRot="1" noChangeAspect="1" noMove="1" noResize="1" noEditPoints="1" noAdjustHandles="1" noChangeArrowheads="1" noChangeShapeType="1" noTextEdit="1"/>
              </p:cNvSpPr>
              <p:nvPr/>
            </p:nvSpPr>
            <p:spPr>
              <a:xfrm>
                <a:off x="376301" y="4573780"/>
                <a:ext cx="281152" cy="461665"/>
              </a:xfrm>
              <a:prstGeom prst="rect">
                <a:avLst/>
              </a:prstGeom>
              <a:blipFill>
                <a:blip r:embed="rId6"/>
                <a:stretch>
                  <a:fillRect r="-434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1DE9941E-E996-544F-9738-878BE96DABC2}"/>
                  </a:ext>
                </a:extLst>
              </p:cNvPr>
              <p:cNvSpPr/>
              <p:nvPr/>
            </p:nvSpPr>
            <p:spPr>
              <a:xfrm>
                <a:off x="2711458" y="5674920"/>
                <a:ext cx="100944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rPr>
                          </m:ctrlPr>
                        </m:dPr>
                        <m:e>
                          <m:r>
                            <a:rPr lang="sr-Latn-RS" sz="2400" i="1">
                              <a:latin typeface="Cambria Math" panose="02040503050406030204" pitchFamily="18" charset="0"/>
                            </a:rPr>
                            <m:t>𝑐</m:t>
                          </m:r>
                          <m:r>
                            <a:rPr lang="sr-Latn-RS" sz="2400" i="1">
                              <a:latin typeface="Cambria Math" panose="02040503050406030204" pitchFamily="18" charset="0"/>
                            </a:rPr>
                            <m:t>⨁</m:t>
                          </m:r>
                          <m:r>
                            <a:rPr lang="sr-Latn-RS" sz="2400" b="0" i="1" smtClean="0">
                              <a:latin typeface="Cambria Math" panose="02040503050406030204" pitchFamily="18" charset="0"/>
                            </a:rPr>
                            <m:t>𝑡</m:t>
                          </m:r>
                        </m:e>
                      </m:d>
                    </m:oMath>
                  </m:oMathPara>
                </a14:m>
                <a:endParaRPr lang="en-US" sz="2400" dirty="0"/>
              </a:p>
            </p:txBody>
          </p:sp>
        </mc:Choice>
        <mc:Fallback xmlns="">
          <p:sp>
            <p:nvSpPr>
              <p:cNvPr id="8" name="Rectangle 7">
                <a:extLst>
                  <a:ext uri="{FF2B5EF4-FFF2-40B4-BE49-F238E27FC236}">
                    <a16:creationId xmlns:a16="http://schemas.microsoft.com/office/drawing/2014/main" id="{1DE9941E-E996-544F-9738-878BE96DABC2}"/>
                  </a:ext>
                </a:extLst>
              </p:cNvPr>
              <p:cNvSpPr>
                <a:spLocks noRot="1" noChangeAspect="1" noMove="1" noResize="1" noEditPoints="1" noAdjustHandles="1" noChangeArrowheads="1" noChangeShapeType="1" noTextEdit="1"/>
              </p:cNvSpPr>
              <p:nvPr/>
            </p:nvSpPr>
            <p:spPr>
              <a:xfrm>
                <a:off x="2711458" y="5674920"/>
                <a:ext cx="1009444" cy="461665"/>
              </a:xfrm>
              <a:prstGeom prst="rect">
                <a:avLst/>
              </a:prstGeom>
              <a:blipFill>
                <a:blip r:embed="rId7"/>
                <a:stretch>
                  <a:fillRect b="-2703"/>
                </a:stretch>
              </a:blipFill>
            </p:spPr>
            <p:txBody>
              <a:bodyPr/>
              <a:lstStyle/>
              <a:p>
                <a:r>
                  <a:rPr lang="en-US">
                    <a:noFill/>
                  </a:rPr>
                  <a:t> </a:t>
                </a:r>
              </a:p>
            </p:txBody>
          </p:sp>
        </mc:Fallback>
      </mc:AlternateContent>
      <p:cxnSp>
        <p:nvCxnSpPr>
          <p:cNvPr id="49" name="Straight Connector 48">
            <a:extLst>
              <a:ext uri="{FF2B5EF4-FFF2-40B4-BE49-F238E27FC236}">
                <a16:creationId xmlns:a16="http://schemas.microsoft.com/office/drawing/2014/main" id="{675A914F-DF58-5548-8698-4B65903FB645}"/>
              </a:ext>
            </a:extLst>
          </p:cNvPr>
          <p:cNvCxnSpPr>
            <a:cxnSpLocks/>
          </p:cNvCxnSpPr>
          <p:nvPr/>
        </p:nvCxnSpPr>
        <p:spPr>
          <a:xfrm>
            <a:off x="912876" y="4804614"/>
            <a:ext cx="1798582" cy="68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C5FE7ECC-A293-394D-BA04-B5B4D1A54B32}"/>
              </a:ext>
            </a:extLst>
          </p:cNvPr>
          <p:cNvCxnSpPr>
            <a:cxnSpLocks/>
          </p:cNvCxnSpPr>
          <p:nvPr/>
        </p:nvCxnSpPr>
        <p:spPr>
          <a:xfrm>
            <a:off x="912876" y="5905754"/>
            <a:ext cx="179858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1" name="Oval 60">
            <a:extLst>
              <a:ext uri="{FF2B5EF4-FFF2-40B4-BE49-F238E27FC236}">
                <a16:creationId xmlns:a16="http://schemas.microsoft.com/office/drawing/2014/main" id="{52721E41-795B-284E-AF24-728490AE0A03}"/>
              </a:ext>
            </a:extLst>
          </p:cNvPr>
          <p:cNvSpPr/>
          <p:nvPr/>
        </p:nvSpPr>
        <p:spPr>
          <a:xfrm>
            <a:off x="1449273" y="5509571"/>
            <a:ext cx="792000" cy="79236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sp>
        <p:nvSpPr>
          <p:cNvPr id="72" name="Oval 71">
            <a:extLst>
              <a:ext uri="{FF2B5EF4-FFF2-40B4-BE49-F238E27FC236}">
                <a16:creationId xmlns:a16="http://schemas.microsoft.com/office/drawing/2014/main" id="{7D1FFB82-637F-0A42-9016-390E83C9461A}"/>
              </a:ext>
            </a:extLst>
          </p:cNvPr>
          <p:cNvSpPr/>
          <p:nvPr/>
        </p:nvSpPr>
        <p:spPr>
          <a:xfrm>
            <a:off x="1665273" y="4624614"/>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a:extLst>
              <a:ext uri="{FF2B5EF4-FFF2-40B4-BE49-F238E27FC236}">
                <a16:creationId xmlns:a16="http://schemas.microsoft.com/office/drawing/2014/main" id="{EA6CCDC6-AAA2-F644-AD37-517A99856F38}"/>
              </a:ext>
            </a:extLst>
          </p:cNvPr>
          <p:cNvCxnSpPr>
            <a:cxnSpLocks/>
            <a:stCxn id="72" idx="4"/>
            <a:endCxn id="61" idx="0"/>
          </p:cNvCxnSpPr>
          <p:nvPr/>
        </p:nvCxnSpPr>
        <p:spPr>
          <a:xfrm>
            <a:off x="1845273" y="4984614"/>
            <a:ext cx="0" cy="52495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75" name="Rectangle 74">
            <a:extLst>
              <a:ext uri="{FF2B5EF4-FFF2-40B4-BE49-F238E27FC236}">
                <a16:creationId xmlns:a16="http://schemas.microsoft.com/office/drawing/2014/main" id="{84246C88-C7A1-7043-BA5D-29E9A301C86F}"/>
              </a:ext>
            </a:extLst>
          </p:cNvPr>
          <p:cNvSpPr/>
          <p:nvPr/>
        </p:nvSpPr>
        <p:spPr>
          <a:xfrm>
            <a:off x="2848673" y="4573781"/>
            <a:ext cx="281152" cy="461665"/>
          </a:xfrm>
          <a:prstGeom prst="rect">
            <a:avLst/>
          </a:prstGeom>
        </p:spPr>
        <p:txBody>
          <a:bodyPr wrap="square">
            <a:spAutoFit/>
          </a:bodyPr>
          <a:lstStyle/>
          <a:p>
            <a:endParaRPr lang="en-US" sz="2400" dirty="0"/>
          </a:p>
        </p:txBody>
      </p:sp>
      <mc:AlternateContent xmlns:mc="http://schemas.openxmlformats.org/markup-compatibility/2006" xmlns:a14="http://schemas.microsoft.com/office/drawing/2010/main">
        <mc:Choice Requires="a14">
          <p:sp>
            <p:nvSpPr>
              <p:cNvPr id="77" name="Rectangle 76">
                <a:extLst>
                  <a:ext uri="{FF2B5EF4-FFF2-40B4-BE49-F238E27FC236}">
                    <a16:creationId xmlns:a16="http://schemas.microsoft.com/office/drawing/2014/main" id="{926A4986-8EA8-1E45-B3C3-2F2ECDA1B555}"/>
                  </a:ext>
                </a:extLst>
              </p:cNvPr>
              <p:cNvSpPr/>
              <p:nvPr/>
            </p:nvSpPr>
            <p:spPr>
              <a:xfrm>
                <a:off x="396632" y="5652934"/>
                <a:ext cx="281152" cy="46166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ZA" sz="2400" i="1" smtClean="0">
                              <a:latin typeface="Cambria Math" panose="02040503050406030204" pitchFamily="18" charset="0"/>
                            </a:rPr>
                          </m:ctrlPr>
                        </m:dPr>
                        <m:e>
                          <m:r>
                            <m:rPr>
                              <m:sty m:val="p"/>
                            </m:rPr>
                            <a:rPr lang="sr-Latn-RS" sz="2400" b="0" i="0" smtClean="0">
                              <a:latin typeface="Cambria Math" panose="02040503050406030204" pitchFamily="18" charset="0"/>
                            </a:rPr>
                            <m:t>t</m:t>
                          </m:r>
                        </m:e>
                      </m:d>
                    </m:oMath>
                  </m:oMathPara>
                </a14:m>
                <a:endParaRPr lang="en-US" sz="2400" dirty="0"/>
              </a:p>
            </p:txBody>
          </p:sp>
        </mc:Choice>
        <mc:Fallback xmlns="">
          <p:sp>
            <p:nvSpPr>
              <p:cNvPr id="77" name="Rectangle 76">
                <a:extLst>
                  <a:ext uri="{FF2B5EF4-FFF2-40B4-BE49-F238E27FC236}">
                    <a16:creationId xmlns:a16="http://schemas.microsoft.com/office/drawing/2014/main" id="{926A4986-8EA8-1E45-B3C3-2F2ECDA1B555}"/>
                  </a:ext>
                </a:extLst>
              </p:cNvPr>
              <p:cNvSpPr>
                <a:spLocks noRot="1" noChangeAspect="1" noMove="1" noResize="1" noEditPoints="1" noAdjustHandles="1" noChangeArrowheads="1" noChangeShapeType="1" noTextEdit="1"/>
              </p:cNvSpPr>
              <p:nvPr/>
            </p:nvSpPr>
            <p:spPr>
              <a:xfrm>
                <a:off x="396632" y="5652934"/>
                <a:ext cx="281152" cy="461665"/>
              </a:xfrm>
              <a:prstGeom prst="rect">
                <a:avLst/>
              </a:prstGeom>
              <a:blipFill>
                <a:blip r:embed="rId8"/>
                <a:stretch>
                  <a:fillRect r="-3478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4" name="Rectangle 83">
                <a:extLst>
                  <a:ext uri="{FF2B5EF4-FFF2-40B4-BE49-F238E27FC236}">
                    <a16:creationId xmlns:a16="http://schemas.microsoft.com/office/drawing/2014/main" id="{FA5FB329-820C-D044-B438-85995B13E275}"/>
                  </a:ext>
                </a:extLst>
              </p:cNvPr>
              <p:cNvSpPr/>
              <p:nvPr/>
            </p:nvSpPr>
            <p:spPr>
              <a:xfrm>
                <a:off x="2717061" y="4573780"/>
                <a:ext cx="281152" cy="46166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ZA" sz="2400" i="1" smtClean="0">
                              <a:latin typeface="Cambria Math" panose="02040503050406030204" pitchFamily="18" charset="0"/>
                            </a:rPr>
                          </m:ctrlPr>
                        </m:dPr>
                        <m:e>
                          <m:r>
                            <m:rPr>
                              <m:sty m:val="p"/>
                            </m:rPr>
                            <a:rPr lang="sr-Latn-RS" sz="2400" b="0" i="0" smtClean="0">
                              <a:latin typeface="Cambria Math" panose="02040503050406030204" pitchFamily="18" charset="0"/>
                            </a:rPr>
                            <m:t>c</m:t>
                          </m:r>
                        </m:e>
                      </m:d>
                    </m:oMath>
                  </m:oMathPara>
                </a14:m>
                <a:endParaRPr lang="en-US" sz="2400" dirty="0"/>
              </a:p>
            </p:txBody>
          </p:sp>
        </mc:Choice>
        <mc:Fallback xmlns="">
          <p:sp>
            <p:nvSpPr>
              <p:cNvPr id="84" name="Rectangle 83">
                <a:extLst>
                  <a:ext uri="{FF2B5EF4-FFF2-40B4-BE49-F238E27FC236}">
                    <a16:creationId xmlns:a16="http://schemas.microsoft.com/office/drawing/2014/main" id="{FA5FB329-820C-D044-B438-85995B13E275}"/>
                  </a:ext>
                </a:extLst>
              </p:cNvPr>
              <p:cNvSpPr>
                <a:spLocks noRot="1" noChangeAspect="1" noMove="1" noResize="1" noEditPoints="1" noAdjustHandles="1" noChangeArrowheads="1" noChangeShapeType="1" noTextEdit="1"/>
              </p:cNvSpPr>
              <p:nvPr/>
            </p:nvSpPr>
            <p:spPr>
              <a:xfrm>
                <a:off x="2717061" y="4573780"/>
                <a:ext cx="281152" cy="461665"/>
              </a:xfrm>
              <a:prstGeom prst="rect">
                <a:avLst/>
              </a:prstGeom>
              <a:blipFill>
                <a:blip r:embed="rId9"/>
                <a:stretch>
                  <a:fillRect r="-434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88" name="Table 87">
                <a:extLst>
                  <a:ext uri="{FF2B5EF4-FFF2-40B4-BE49-F238E27FC236}">
                    <a16:creationId xmlns:a16="http://schemas.microsoft.com/office/drawing/2014/main" id="{14B77F54-82D4-9141-8917-4D2955711486}"/>
                  </a:ext>
                </a:extLst>
              </p:cNvPr>
              <p:cNvGraphicFramePr>
                <a:graphicFrameLocks noGrp="1"/>
              </p:cNvGraphicFramePr>
              <p:nvPr>
                <p:extLst/>
              </p:nvPr>
            </p:nvGraphicFramePr>
            <p:xfrm>
              <a:off x="4094010" y="4052938"/>
              <a:ext cx="2518847" cy="2590800"/>
            </p:xfrm>
            <a:graphic>
              <a:graphicData uri="http://schemas.openxmlformats.org/drawingml/2006/table">
                <a:tbl>
                  <a:tblPr firstRow="1" bandRow="1">
                    <a:tableStyleId>{F5AB1C69-6EDB-4FF4-983F-18BD219EF322}</a:tableStyleId>
                  </a:tblPr>
                  <a:tblGrid>
                    <a:gridCol w="1019516">
                      <a:extLst>
                        <a:ext uri="{9D8B030D-6E8A-4147-A177-3AD203B41FA5}">
                          <a16:colId xmlns:a16="http://schemas.microsoft.com/office/drawing/2014/main" val="3371686391"/>
                        </a:ext>
                      </a:extLst>
                    </a:gridCol>
                    <a:gridCol w="1499331">
                      <a:extLst>
                        <a:ext uri="{9D8B030D-6E8A-4147-A177-3AD203B41FA5}">
                          <a16:colId xmlns:a16="http://schemas.microsoft.com/office/drawing/2014/main" val="1340829466"/>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nor/>
                                  </m:rPr>
                                  <a:rPr lang="en-US" sz="2800" i="1" smtClean="0">
                                    <a:solidFill>
                                      <a:schemeClr val="tx1"/>
                                    </a:solidFill>
                                  </a:rPr>
                                  <m:t>c</m:t>
                                </m:r>
                                <m:r>
                                  <m:rPr>
                                    <m:nor/>
                                  </m:rPr>
                                  <a:rPr lang="en-US" sz="2800" b="1" i="1" smtClean="0">
                                    <a:solidFill>
                                      <a:schemeClr val="tx1"/>
                                    </a:solidFill>
                                  </a:rPr>
                                  <m:t> </m:t>
                                </m:r>
                                <m:r>
                                  <m:rPr>
                                    <m:nor/>
                                  </m:rPr>
                                  <a:rPr lang="en-US" sz="2800" i="1" smtClean="0">
                                    <a:solidFill>
                                      <a:schemeClr val="tx1"/>
                                    </a:solidFill>
                                  </a:rPr>
                                  <m:t>t</m:t>
                                </m:r>
                              </m:oMath>
                            </m:oMathPara>
                          </a14:m>
                          <a:endParaRPr lang="en-US" sz="2800" i="1" dirty="0">
                            <a:solidFill>
                              <a:schemeClr val="tx1"/>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2800" i="1" smtClean="0">
                                    <a:solidFill>
                                      <a:schemeClr val="tx1"/>
                                    </a:solidFill>
                                    <a:latin typeface="Cambria Math" panose="02040503050406030204" pitchFamily="18" charset="0"/>
                                  </a:rPr>
                                  <m:t>𝑐</m:t>
                                </m:r>
                                <m:r>
                                  <a:rPr lang="en-US" sz="2800" i="1" smtClean="0">
                                    <a:solidFill>
                                      <a:schemeClr val="tx1"/>
                                    </a:solidFill>
                                    <a:latin typeface="Cambria Math" panose="02040503050406030204" pitchFamily="18" charset="0"/>
                                  </a:rPr>
                                  <m:t> ⨁ </m:t>
                                </m:r>
                                <m:r>
                                  <a:rPr lang="sr-Latn-RS" sz="2800" i="1" smtClean="0">
                                    <a:solidFill>
                                      <a:schemeClr val="tx1"/>
                                    </a:solidFill>
                                    <a:latin typeface="Cambria Math" panose="02040503050406030204" pitchFamily="18" charset="0"/>
                                  </a:rPr>
                                  <m:t>𝑡</m:t>
                                </m:r>
                              </m:oMath>
                            </m:oMathPara>
                          </a14:m>
                          <a:endParaRPr lang="en-US" sz="2800" i="1" dirty="0">
                            <a:solidFill>
                              <a:schemeClr val="tx1"/>
                            </a:solidFill>
                          </a:endParaRPr>
                        </a:p>
                      </a:txBody>
                      <a:tcPr/>
                    </a:tc>
                    <a:extLst>
                      <a:ext uri="{0D108BD9-81ED-4DB2-BD59-A6C34878D82A}">
                        <a16:rowId xmlns:a16="http://schemas.microsoft.com/office/drawing/2014/main" val="1039419296"/>
                      </a:ext>
                    </a:extLst>
                  </a:tr>
                  <a:tr h="370840">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2800" i="1" smtClean="0">
                                        <a:solidFill>
                                          <a:schemeClr val="tx1"/>
                                        </a:solidFill>
                                        <a:latin typeface="Cambria Math" panose="02040503050406030204" pitchFamily="18" charset="0"/>
                                      </a:rPr>
                                    </m:ctrlPr>
                                  </m:dPr>
                                  <m:e>
                                    <m:r>
                                      <m:rPr>
                                        <m:nor/>
                                      </m:rPr>
                                      <a:rPr lang="en-US" sz="2800">
                                        <a:solidFill>
                                          <a:schemeClr val="tx1"/>
                                        </a:solidFill>
                                      </a:rPr>
                                      <m:t>0</m:t>
                                    </m:r>
                                    <m:r>
                                      <a:rPr lang="en-US" sz="2800" smtClean="0">
                                        <a:solidFill>
                                          <a:schemeClr val="tx1"/>
                                        </a:solidFill>
                                        <a:latin typeface="Cambria Math" panose="02040503050406030204" pitchFamily="18" charset="0"/>
                                      </a:rPr>
                                      <m:t>0</m:t>
                                    </m:r>
                                  </m:e>
                                </m:d>
                              </m:oMath>
                            </m:oMathPara>
                          </a14:m>
                          <a:endParaRPr lang="en-US" sz="2800" dirty="0">
                            <a:solidFill>
                              <a:schemeClr val="tx1"/>
                            </a:solidFill>
                          </a:endParaRPr>
                        </a:p>
                      </a:txBody>
                      <a:tcP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2800" i="1" smtClean="0">
                                        <a:solidFill>
                                          <a:schemeClr val="tx1"/>
                                        </a:solidFill>
                                        <a:latin typeface="Cambria Math" panose="02040503050406030204" pitchFamily="18" charset="0"/>
                                      </a:rPr>
                                    </m:ctrlPr>
                                  </m:dPr>
                                  <m:e>
                                    <m:r>
                                      <m:rPr>
                                        <m:nor/>
                                      </m:rPr>
                                      <a:rPr lang="en-US" sz="2800" b="0" i="0" smtClean="0">
                                        <a:solidFill>
                                          <a:schemeClr val="tx1"/>
                                        </a:solidFill>
                                      </a:rPr>
                                      <m:t>0</m:t>
                                    </m:r>
                                  </m:e>
                                </m:d>
                              </m:oMath>
                            </m:oMathPara>
                          </a14:m>
                          <a:endParaRPr lang="en-US" sz="2800" dirty="0">
                            <a:solidFill>
                              <a:schemeClr val="tx1"/>
                            </a:solidFill>
                          </a:endParaRPr>
                        </a:p>
                      </a:txBody>
                      <a:tcPr/>
                    </a:tc>
                    <a:extLst>
                      <a:ext uri="{0D108BD9-81ED-4DB2-BD59-A6C34878D82A}">
                        <a16:rowId xmlns:a16="http://schemas.microsoft.com/office/drawing/2014/main" val="4274640674"/>
                      </a:ext>
                    </a:extLst>
                  </a:tr>
                  <a:tr h="370840">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2800" i="1" smtClean="0">
                                        <a:solidFill>
                                          <a:schemeClr val="tx1"/>
                                        </a:solidFill>
                                        <a:latin typeface="Cambria Math" panose="02040503050406030204" pitchFamily="18" charset="0"/>
                                      </a:rPr>
                                    </m:ctrlPr>
                                  </m:dPr>
                                  <m:e>
                                    <m:r>
                                      <m:rPr>
                                        <m:nor/>
                                      </m:rPr>
                                      <a:rPr lang="en-US" sz="2800">
                                        <a:solidFill>
                                          <a:schemeClr val="tx1"/>
                                        </a:solidFill>
                                      </a:rPr>
                                      <m:t>0</m:t>
                                    </m:r>
                                    <m:r>
                                      <m:rPr>
                                        <m:nor/>
                                      </m:rPr>
                                      <a:rPr lang="en-US" sz="2800" smtClean="0">
                                        <a:solidFill>
                                          <a:schemeClr val="tx1"/>
                                        </a:solidFill>
                                      </a:rPr>
                                      <m:t>1</m:t>
                                    </m:r>
                                  </m:e>
                                </m:d>
                              </m:oMath>
                            </m:oMathPara>
                          </a14:m>
                          <a:endParaRPr lang="en-US" sz="2800" dirty="0">
                            <a:solidFill>
                              <a:schemeClr val="tx1"/>
                            </a:solidFill>
                          </a:endParaRPr>
                        </a:p>
                      </a:txBody>
                      <a:tcP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2800" i="1" smtClean="0">
                                        <a:solidFill>
                                          <a:schemeClr val="tx1"/>
                                        </a:solidFill>
                                        <a:latin typeface="Cambria Math" panose="02040503050406030204" pitchFamily="18" charset="0"/>
                                      </a:rPr>
                                    </m:ctrlPr>
                                  </m:dPr>
                                  <m:e>
                                    <m:r>
                                      <m:rPr>
                                        <m:nor/>
                                      </m:rPr>
                                      <a:rPr lang="en-US" sz="2800" smtClean="0">
                                        <a:solidFill>
                                          <a:schemeClr val="tx1"/>
                                        </a:solidFill>
                                      </a:rPr>
                                      <m:t>1</m:t>
                                    </m:r>
                                  </m:e>
                                </m:d>
                              </m:oMath>
                            </m:oMathPara>
                          </a14:m>
                          <a:endParaRPr lang="en-US" sz="2800" dirty="0">
                            <a:solidFill>
                              <a:schemeClr val="tx1"/>
                            </a:solidFill>
                          </a:endParaRPr>
                        </a:p>
                      </a:txBody>
                      <a:tcPr/>
                    </a:tc>
                    <a:extLst>
                      <a:ext uri="{0D108BD9-81ED-4DB2-BD59-A6C34878D82A}">
                        <a16:rowId xmlns:a16="http://schemas.microsoft.com/office/drawing/2014/main" val="1780964737"/>
                      </a:ext>
                    </a:extLst>
                  </a:tr>
                  <a:tr h="370840">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2800" i="1" smtClean="0">
                                        <a:solidFill>
                                          <a:schemeClr val="tx1"/>
                                        </a:solidFill>
                                        <a:latin typeface="Cambria Math" panose="02040503050406030204" pitchFamily="18" charset="0"/>
                                      </a:rPr>
                                    </m:ctrlPr>
                                  </m:dPr>
                                  <m:e>
                                    <m:r>
                                      <m:rPr>
                                        <m:nor/>
                                      </m:rPr>
                                      <a:rPr lang="en-US" sz="2800" smtClean="0">
                                        <a:solidFill>
                                          <a:schemeClr val="tx1"/>
                                        </a:solidFill>
                                      </a:rPr>
                                      <m:t>10</m:t>
                                    </m:r>
                                  </m:e>
                                </m:d>
                              </m:oMath>
                            </m:oMathPara>
                          </a14:m>
                          <a:endParaRPr lang="en-US" sz="2800" dirty="0">
                            <a:solidFill>
                              <a:schemeClr val="tx1"/>
                            </a:solidFill>
                          </a:endParaRPr>
                        </a:p>
                      </a:txBody>
                      <a:tcP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2800" i="1" smtClean="0">
                                        <a:solidFill>
                                          <a:schemeClr val="tx1"/>
                                        </a:solidFill>
                                        <a:latin typeface="Cambria Math" panose="02040503050406030204" pitchFamily="18" charset="0"/>
                                      </a:rPr>
                                    </m:ctrlPr>
                                  </m:dPr>
                                  <m:e>
                                    <m:r>
                                      <m:rPr>
                                        <m:nor/>
                                      </m:rPr>
                                      <a:rPr lang="en-US" sz="2800" b="0" i="0" smtClean="0">
                                        <a:solidFill>
                                          <a:schemeClr val="tx1"/>
                                        </a:solidFill>
                                      </a:rPr>
                                      <m:t>1</m:t>
                                    </m:r>
                                  </m:e>
                                </m:d>
                              </m:oMath>
                            </m:oMathPara>
                          </a14:m>
                          <a:endParaRPr lang="en-US" sz="2800" dirty="0">
                            <a:solidFill>
                              <a:schemeClr val="tx1"/>
                            </a:solidFill>
                          </a:endParaRPr>
                        </a:p>
                      </a:txBody>
                      <a:tcPr/>
                    </a:tc>
                    <a:extLst>
                      <a:ext uri="{0D108BD9-81ED-4DB2-BD59-A6C34878D82A}">
                        <a16:rowId xmlns:a16="http://schemas.microsoft.com/office/drawing/2014/main" val="26503616"/>
                      </a:ext>
                    </a:extLst>
                  </a:tr>
                  <a:tr h="370840">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2800" i="1" smtClean="0">
                                        <a:solidFill>
                                          <a:schemeClr val="tx1"/>
                                        </a:solidFill>
                                        <a:latin typeface="Cambria Math" panose="02040503050406030204" pitchFamily="18" charset="0"/>
                                      </a:rPr>
                                    </m:ctrlPr>
                                  </m:dPr>
                                  <m:e>
                                    <m:r>
                                      <m:rPr>
                                        <m:nor/>
                                      </m:rPr>
                                      <a:rPr lang="en-US" sz="2800" smtClean="0">
                                        <a:solidFill>
                                          <a:schemeClr val="tx1"/>
                                        </a:solidFill>
                                      </a:rPr>
                                      <m:t>11</m:t>
                                    </m:r>
                                  </m:e>
                                </m:d>
                              </m:oMath>
                            </m:oMathPara>
                          </a14:m>
                          <a:endParaRPr lang="en-US" sz="2800" dirty="0">
                            <a:solidFill>
                              <a:schemeClr val="tx1"/>
                            </a:solidFill>
                          </a:endParaRPr>
                        </a:p>
                      </a:txBody>
                      <a:tcP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2800" i="1" smtClean="0">
                                        <a:solidFill>
                                          <a:schemeClr val="tx1"/>
                                        </a:solidFill>
                                        <a:latin typeface="Cambria Math" panose="02040503050406030204" pitchFamily="18" charset="0"/>
                                      </a:rPr>
                                    </m:ctrlPr>
                                  </m:dPr>
                                  <m:e>
                                    <m:r>
                                      <a:rPr lang="en-US" sz="2800" b="0" i="0" smtClean="0">
                                        <a:solidFill>
                                          <a:schemeClr val="tx1"/>
                                        </a:solidFill>
                                        <a:latin typeface="Cambria Math" panose="02040503050406030204" pitchFamily="18" charset="0"/>
                                      </a:rPr>
                                      <m:t>0</m:t>
                                    </m:r>
                                  </m:e>
                                </m:d>
                              </m:oMath>
                            </m:oMathPara>
                          </a14:m>
                          <a:endParaRPr lang="en-US" sz="2800" dirty="0">
                            <a:solidFill>
                              <a:schemeClr val="tx1"/>
                            </a:solidFill>
                          </a:endParaRPr>
                        </a:p>
                      </a:txBody>
                      <a:tcPr/>
                    </a:tc>
                    <a:extLst>
                      <a:ext uri="{0D108BD9-81ED-4DB2-BD59-A6C34878D82A}">
                        <a16:rowId xmlns:a16="http://schemas.microsoft.com/office/drawing/2014/main" val="628222758"/>
                      </a:ext>
                    </a:extLst>
                  </a:tr>
                </a:tbl>
              </a:graphicData>
            </a:graphic>
          </p:graphicFrame>
        </mc:Choice>
        <mc:Fallback xmlns="">
          <p:graphicFrame>
            <p:nvGraphicFramePr>
              <p:cNvPr id="88" name="Table 87">
                <a:extLst>
                  <a:ext uri="{FF2B5EF4-FFF2-40B4-BE49-F238E27FC236}">
                    <a16:creationId xmlns:a16="http://schemas.microsoft.com/office/drawing/2014/main" id="{14B77F54-82D4-9141-8917-4D2955711486}"/>
                  </a:ext>
                </a:extLst>
              </p:cNvPr>
              <p:cNvGraphicFramePr>
                <a:graphicFrameLocks noGrp="1"/>
              </p:cNvGraphicFramePr>
              <p:nvPr>
                <p:extLst>
                  <p:ext uri="{D42A27DB-BD31-4B8C-83A1-F6EECF244321}">
                    <p14:modId xmlns:p14="http://schemas.microsoft.com/office/powerpoint/2010/main" val="3456868549"/>
                  </p:ext>
                </p:extLst>
              </p:nvPr>
            </p:nvGraphicFramePr>
            <p:xfrm>
              <a:off x="4094010" y="4052938"/>
              <a:ext cx="2518847" cy="2590800"/>
            </p:xfrm>
            <a:graphic>
              <a:graphicData uri="http://schemas.openxmlformats.org/drawingml/2006/table">
                <a:tbl>
                  <a:tblPr firstRow="1" bandRow="1">
                    <a:tableStyleId>{F5AB1C69-6EDB-4FF4-983F-18BD219EF322}</a:tableStyleId>
                  </a:tblPr>
                  <a:tblGrid>
                    <a:gridCol w="1019516">
                      <a:extLst>
                        <a:ext uri="{9D8B030D-6E8A-4147-A177-3AD203B41FA5}">
                          <a16:colId xmlns:a16="http://schemas.microsoft.com/office/drawing/2014/main" val="3371686391"/>
                        </a:ext>
                      </a:extLst>
                    </a:gridCol>
                    <a:gridCol w="1499331">
                      <a:extLst>
                        <a:ext uri="{9D8B030D-6E8A-4147-A177-3AD203B41FA5}">
                          <a16:colId xmlns:a16="http://schemas.microsoft.com/office/drawing/2014/main" val="1340829466"/>
                        </a:ext>
                      </a:extLst>
                    </a:gridCol>
                  </a:tblGrid>
                  <a:tr h="518160">
                    <a:tc>
                      <a:txBody>
                        <a:bodyPr/>
                        <a:lstStyle/>
                        <a:p>
                          <a:endParaRPr lang="en-US"/>
                        </a:p>
                      </a:txBody>
                      <a:tcPr>
                        <a:blipFill>
                          <a:blip r:embed="rId10"/>
                          <a:stretch>
                            <a:fillRect l="-1235" t="-12195" r="-146914" b="-400000"/>
                          </a:stretch>
                        </a:blipFill>
                      </a:tcPr>
                    </a:tc>
                    <a:tc>
                      <a:txBody>
                        <a:bodyPr/>
                        <a:lstStyle/>
                        <a:p>
                          <a:endParaRPr lang="en-US"/>
                        </a:p>
                      </a:txBody>
                      <a:tcPr>
                        <a:blipFill>
                          <a:blip r:embed="rId10"/>
                          <a:stretch>
                            <a:fillRect l="-69492" t="-12195" r="-847" b="-400000"/>
                          </a:stretch>
                        </a:blipFill>
                      </a:tcPr>
                    </a:tc>
                    <a:extLst>
                      <a:ext uri="{0D108BD9-81ED-4DB2-BD59-A6C34878D82A}">
                        <a16:rowId xmlns:a16="http://schemas.microsoft.com/office/drawing/2014/main" val="1039419296"/>
                      </a:ext>
                    </a:extLst>
                  </a:tr>
                  <a:tr h="518160">
                    <a:tc>
                      <a:txBody>
                        <a:bodyPr/>
                        <a:lstStyle/>
                        <a:p>
                          <a:endParaRPr lang="en-US"/>
                        </a:p>
                      </a:txBody>
                      <a:tcPr>
                        <a:blipFill>
                          <a:blip r:embed="rId10"/>
                          <a:stretch>
                            <a:fillRect l="-1235" t="-112195" r="-146914" b="-300000"/>
                          </a:stretch>
                        </a:blipFill>
                      </a:tcPr>
                    </a:tc>
                    <a:tc>
                      <a:txBody>
                        <a:bodyPr/>
                        <a:lstStyle/>
                        <a:p>
                          <a:endParaRPr lang="en-US"/>
                        </a:p>
                      </a:txBody>
                      <a:tcPr>
                        <a:blipFill>
                          <a:blip r:embed="rId10"/>
                          <a:stretch>
                            <a:fillRect l="-69492" t="-112195" r="-847" b="-300000"/>
                          </a:stretch>
                        </a:blipFill>
                      </a:tcPr>
                    </a:tc>
                    <a:extLst>
                      <a:ext uri="{0D108BD9-81ED-4DB2-BD59-A6C34878D82A}">
                        <a16:rowId xmlns:a16="http://schemas.microsoft.com/office/drawing/2014/main" val="4274640674"/>
                      </a:ext>
                    </a:extLst>
                  </a:tr>
                  <a:tr h="518160">
                    <a:tc>
                      <a:txBody>
                        <a:bodyPr/>
                        <a:lstStyle/>
                        <a:p>
                          <a:endParaRPr lang="en-US"/>
                        </a:p>
                      </a:txBody>
                      <a:tcPr>
                        <a:blipFill>
                          <a:blip r:embed="rId10"/>
                          <a:stretch>
                            <a:fillRect l="-1235" t="-212195" r="-146914" b="-200000"/>
                          </a:stretch>
                        </a:blipFill>
                      </a:tcPr>
                    </a:tc>
                    <a:tc>
                      <a:txBody>
                        <a:bodyPr/>
                        <a:lstStyle/>
                        <a:p>
                          <a:endParaRPr lang="en-US"/>
                        </a:p>
                      </a:txBody>
                      <a:tcPr>
                        <a:blipFill>
                          <a:blip r:embed="rId10"/>
                          <a:stretch>
                            <a:fillRect l="-69492" t="-212195" r="-847" b="-200000"/>
                          </a:stretch>
                        </a:blipFill>
                      </a:tcPr>
                    </a:tc>
                    <a:extLst>
                      <a:ext uri="{0D108BD9-81ED-4DB2-BD59-A6C34878D82A}">
                        <a16:rowId xmlns:a16="http://schemas.microsoft.com/office/drawing/2014/main" val="1780964737"/>
                      </a:ext>
                    </a:extLst>
                  </a:tr>
                  <a:tr h="518160">
                    <a:tc>
                      <a:txBody>
                        <a:bodyPr/>
                        <a:lstStyle/>
                        <a:p>
                          <a:endParaRPr lang="en-US"/>
                        </a:p>
                      </a:txBody>
                      <a:tcPr>
                        <a:blipFill>
                          <a:blip r:embed="rId10"/>
                          <a:stretch>
                            <a:fillRect l="-1235" t="-312195" r="-146914" b="-100000"/>
                          </a:stretch>
                        </a:blipFill>
                      </a:tcPr>
                    </a:tc>
                    <a:tc>
                      <a:txBody>
                        <a:bodyPr/>
                        <a:lstStyle/>
                        <a:p>
                          <a:endParaRPr lang="en-US"/>
                        </a:p>
                      </a:txBody>
                      <a:tcPr>
                        <a:blipFill>
                          <a:blip r:embed="rId10"/>
                          <a:stretch>
                            <a:fillRect l="-69492" t="-312195" r="-847" b="-100000"/>
                          </a:stretch>
                        </a:blipFill>
                      </a:tcPr>
                    </a:tc>
                    <a:extLst>
                      <a:ext uri="{0D108BD9-81ED-4DB2-BD59-A6C34878D82A}">
                        <a16:rowId xmlns:a16="http://schemas.microsoft.com/office/drawing/2014/main" val="26503616"/>
                      </a:ext>
                    </a:extLst>
                  </a:tr>
                  <a:tr h="518160">
                    <a:tc>
                      <a:txBody>
                        <a:bodyPr/>
                        <a:lstStyle/>
                        <a:p>
                          <a:endParaRPr lang="en-US"/>
                        </a:p>
                      </a:txBody>
                      <a:tcPr>
                        <a:blipFill>
                          <a:blip r:embed="rId10"/>
                          <a:stretch>
                            <a:fillRect l="-1235" t="-412195" r="-146914"/>
                          </a:stretch>
                        </a:blipFill>
                      </a:tcPr>
                    </a:tc>
                    <a:tc>
                      <a:txBody>
                        <a:bodyPr/>
                        <a:lstStyle/>
                        <a:p>
                          <a:endParaRPr lang="en-US"/>
                        </a:p>
                      </a:txBody>
                      <a:tcPr>
                        <a:blipFill>
                          <a:blip r:embed="rId10"/>
                          <a:stretch>
                            <a:fillRect l="-69492" t="-412195" r="-847"/>
                          </a:stretch>
                        </a:blipFill>
                      </a:tcPr>
                    </a:tc>
                    <a:extLst>
                      <a:ext uri="{0D108BD9-81ED-4DB2-BD59-A6C34878D82A}">
                        <a16:rowId xmlns:a16="http://schemas.microsoft.com/office/drawing/2014/main" val="628222758"/>
                      </a:ext>
                    </a:extLst>
                  </a:tr>
                </a:tbl>
              </a:graphicData>
            </a:graphic>
          </p:graphicFrame>
        </mc:Fallback>
      </mc:AlternateContent>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F44961C2-20B6-E945-9DE4-0555E4E81209}"/>
                  </a:ext>
                </a:extLst>
              </p:cNvPr>
              <p:cNvSpPr/>
              <p:nvPr/>
            </p:nvSpPr>
            <p:spPr>
              <a:xfrm>
                <a:off x="6612857" y="4330944"/>
                <a:ext cx="3109249" cy="203478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sr-Latn-RS" sz="2800" i="1" smtClean="0">
                          <a:latin typeface="Cambria Math" panose="02040503050406030204" pitchFamily="18" charset="0"/>
                        </a:rPr>
                        <m:t>𝑐</m:t>
                      </m:r>
                      <m:r>
                        <a:rPr lang="sr-Latn-RS" sz="2800" i="1" smtClean="0">
                          <a:latin typeface="Cambria Math" panose="02040503050406030204" pitchFamily="18" charset="0"/>
                        </a:rPr>
                        <m:t>⨁</m:t>
                      </m:r>
                      <m:r>
                        <a:rPr lang="sr-Latn-RS" sz="2800" i="1" smtClean="0">
                          <a:latin typeface="Cambria Math" panose="02040503050406030204" pitchFamily="18" charset="0"/>
                        </a:rPr>
                        <m:t>𝑡</m:t>
                      </m:r>
                      <m:r>
                        <a:rPr lang="sr-Latn-RS" sz="2800" b="0" i="1" smtClean="0">
                          <a:latin typeface="Cambria Math" panose="02040503050406030204" pitchFamily="18" charset="0"/>
                        </a:rPr>
                        <m:t>=</m:t>
                      </m:r>
                      <m:d>
                        <m:dPr>
                          <m:begChr m:val="{"/>
                          <m:endChr m:val=""/>
                          <m:ctrlPr>
                            <a:rPr lang="sr-Latn-RS" sz="2800" b="0" i="1" smtClean="0">
                              <a:latin typeface="Cambria Math" panose="02040503050406030204" pitchFamily="18" charset="0"/>
                            </a:rPr>
                          </m:ctrlPr>
                        </m:dPr>
                        <m:e>
                          <m:m>
                            <m:mPr>
                              <m:mcs>
                                <m:mc>
                                  <m:mcPr>
                                    <m:count m:val="1"/>
                                    <m:mcJc m:val="center"/>
                                  </m:mcPr>
                                </m:mc>
                              </m:mcs>
                              <m:ctrlPr>
                                <a:rPr lang="sr-Latn-RS" sz="2800" b="0" i="1" smtClean="0">
                                  <a:latin typeface="Cambria Math" panose="02040503050406030204" pitchFamily="18" charset="0"/>
                                </a:rPr>
                              </m:ctrlPr>
                            </m:mPr>
                            <m:mr>
                              <m:e>
                                <m:r>
                                  <m:rPr>
                                    <m:brk m:alnAt="7"/>
                                  </m:rPr>
                                  <a:rPr lang="sr-Latn-RS" sz="2800" b="0" i="1" smtClean="0">
                                    <a:latin typeface="Cambria Math" panose="02040503050406030204" pitchFamily="18" charset="0"/>
                                  </a:rPr>
                                  <m:t>0</m:t>
                                </m:r>
                                <m:r>
                                  <a:rPr lang="sr-Latn-RS" sz="2800" b="0" i="1" smtClean="0">
                                    <a:latin typeface="Cambria Math" panose="02040503050406030204" pitchFamily="18" charset="0"/>
                                  </a:rPr>
                                  <m:t>+0=0</m:t>
                                </m:r>
                              </m:e>
                            </m:mr>
                            <m:mr>
                              <m:e>
                                <m:r>
                                  <m:rPr>
                                    <m:brk m:alnAt="7"/>
                                  </m:rPr>
                                  <a:rPr lang="sr-Latn-RS" sz="2800" i="1">
                                    <a:latin typeface="Cambria Math" panose="02040503050406030204" pitchFamily="18" charset="0"/>
                                  </a:rPr>
                                  <m:t>0</m:t>
                                </m:r>
                                <m:r>
                                  <a:rPr lang="sr-Latn-RS" sz="2800" i="1">
                                    <a:latin typeface="Cambria Math" panose="02040503050406030204" pitchFamily="18" charset="0"/>
                                  </a:rPr>
                                  <m:t>+</m:t>
                                </m:r>
                                <m:r>
                                  <a:rPr lang="sr-Latn-RS" sz="2800" b="0" i="1" smtClean="0">
                                    <a:latin typeface="Cambria Math" panose="02040503050406030204" pitchFamily="18" charset="0"/>
                                  </a:rPr>
                                  <m:t>1</m:t>
                                </m:r>
                                <m:r>
                                  <a:rPr lang="sr-Latn-RS" sz="2800" i="1">
                                    <a:latin typeface="Cambria Math" panose="02040503050406030204" pitchFamily="18" charset="0"/>
                                  </a:rPr>
                                  <m:t>=</m:t>
                                </m:r>
                                <m:r>
                                  <a:rPr lang="sr-Latn-RS" sz="2800" b="0" i="1" smtClean="0">
                                    <a:latin typeface="Cambria Math" panose="02040503050406030204" pitchFamily="18" charset="0"/>
                                  </a:rPr>
                                  <m:t>1</m:t>
                                </m:r>
                              </m:e>
                            </m:mr>
                            <m:mr>
                              <m:e>
                                <m:r>
                                  <a:rPr lang="sr-Latn-RS" sz="2800" b="0" i="1" smtClean="0">
                                    <a:latin typeface="Cambria Math" panose="02040503050406030204" pitchFamily="18" charset="0"/>
                                  </a:rPr>
                                  <m:t>1</m:t>
                                </m:r>
                                <m:r>
                                  <a:rPr lang="sr-Latn-RS" sz="2800" i="1">
                                    <a:latin typeface="Cambria Math" panose="02040503050406030204" pitchFamily="18" charset="0"/>
                                  </a:rPr>
                                  <m:t>+0=</m:t>
                                </m:r>
                                <m:r>
                                  <a:rPr lang="sr-Latn-RS" sz="2800" b="0" i="1" smtClean="0">
                                    <a:latin typeface="Cambria Math" panose="02040503050406030204" pitchFamily="18" charset="0"/>
                                  </a:rPr>
                                  <m:t>1</m:t>
                                </m:r>
                              </m:e>
                            </m:mr>
                            <m:mr>
                              <m:e>
                                <m:r>
                                  <a:rPr lang="sr-Latn-RS" sz="2800" b="0" i="1" smtClean="0">
                                    <a:latin typeface="Cambria Math" panose="02040503050406030204" pitchFamily="18" charset="0"/>
                                  </a:rPr>
                                  <m:t>1</m:t>
                                </m:r>
                                <m:r>
                                  <a:rPr lang="sr-Latn-RS" sz="2800" i="1">
                                    <a:latin typeface="Cambria Math" panose="02040503050406030204" pitchFamily="18" charset="0"/>
                                  </a:rPr>
                                  <m:t>+</m:t>
                                </m:r>
                                <m:r>
                                  <a:rPr lang="sr-Latn-RS" sz="2800" b="0" i="1" smtClean="0">
                                    <a:latin typeface="Cambria Math" panose="02040503050406030204" pitchFamily="18" charset="0"/>
                                  </a:rPr>
                                  <m:t>1</m:t>
                                </m:r>
                                <m:r>
                                  <a:rPr lang="sr-Latn-RS" sz="2800" i="1">
                                    <a:latin typeface="Cambria Math" panose="02040503050406030204" pitchFamily="18" charset="0"/>
                                  </a:rPr>
                                  <m:t>=0</m:t>
                                </m:r>
                              </m:e>
                            </m:mr>
                          </m:m>
                        </m:e>
                      </m:d>
                    </m:oMath>
                  </m:oMathPara>
                </a14:m>
                <a:endParaRPr lang="en-US" sz="2800" dirty="0"/>
              </a:p>
            </p:txBody>
          </p:sp>
        </mc:Choice>
        <mc:Fallback xmlns="">
          <p:sp>
            <p:nvSpPr>
              <p:cNvPr id="17" name="Rectangle 16">
                <a:extLst>
                  <a:ext uri="{FF2B5EF4-FFF2-40B4-BE49-F238E27FC236}">
                    <a16:creationId xmlns:a16="http://schemas.microsoft.com/office/drawing/2014/main" id="{F44961C2-20B6-E945-9DE4-0555E4E81209}"/>
                  </a:ext>
                </a:extLst>
              </p:cNvPr>
              <p:cNvSpPr>
                <a:spLocks noRot="1" noChangeAspect="1" noMove="1" noResize="1" noEditPoints="1" noAdjustHandles="1" noChangeArrowheads="1" noChangeShapeType="1" noTextEdit="1"/>
              </p:cNvSpPr>
              <p:nvPr/>
            </p:nvSpPr>
            <p:spPr>
              <a:xfrm>
                <a:off x="6612857" y="4330944"/>
                <a:ext cx="3109249" cy="2034788"/>
              </a:xfrm>
              <a:prstGeom prst="rect">
                <a:avLst/>
              </a:prstGeom>
              <a:blipFill>
                <a:blip r:embed="rId11"/>
                <a:stretch>
                  <a:fillRect/>
                </a:stretch>
              </a:blipFill>
            </p:spPr>
            <p:txBody>
              <a:bodyPr/>
              <a:lstStyle/>
              <a:p>
                <a:r>
                  <a:rPr lang="en-US">
                    <a:noFill/>
                  </a:rPr>
                  <a:t> </a:t>
                </a:r>
              </a:p>
            </p:txBody>
          </p:sp>
        </mc:Fallback>
      </mc:AlternateContent>
      <p:sp>
        <p:nvSpPr>
          <p:cNvPr id="41" name="TextBox 40">
            <a:extLst>
              <a:ext uri="{FF2B5EF4-FFF2-40B4-BE49-F238E27FC236}">
                <a16:creationId xmlns:a16="http://schemas.microsoft.com/office/drawing/2014/main" id="{2DCC3005-5954-0842-BEA7-463FBFFD637A}"/>
              </a:ext>
            </a:extLst>
          </p:cNvPr>
          <p:cNvSpPr txBox="1"/>
          <p:nvPr/>
        </p:nvSpPr>
        <p:spPr>
          <a:xfrm>
            <a:off x="461127" y="1323444"/>
            <a:ext cx="1065100" cy="461665"/>
          </a:xfrm>
          <a:prstGeom prst="rect">
            <a:avLst/>
          </a:prstGeom>
          <a:noFill/>
        </p:spPr>
        <p:txBody>
          <a:bodyPr wrap="none" rtlCol="0">
            <a:spAutoFit/>
          </a:bodyPr>
          <a:lstStyle/>
          <a:p>
            <a:r>
              <a:rPr lang="en-US" sz="2400" dirty="0">
                <a:latin typeface="+mj-lt"/>
              </a:rPr>
              <a:t>symbol</a:t>
            </a:r>
          </a:p>
        </p:txBody>
      </p:sp>
      <p:sp>
        <p:nvSpPr>
          <p:cNvPr id="42" name="TextBox 41">
            <a:extLst>
              <a:ext uri="{FF2B5EF4-FFF2-40B4-BE49-F238E27FC236}">
                <a16:creationId xmlns:a16="http://schemas.microsoft.com/office/drawing/2014/main" id="{248C6AD6-9E3A-D14F-9AA3-C7926CA40BD5}"/>
              </a:ext>
            </a:extLst>
          </p:cNvPr>
          <p:cNvSpPr txBox="1"/>
          <p:nvPr/>
        </p:nvSpPr>
        <p:spPr>
          <a:xfrm>
            <a:off x="2946245" y="1323444"/>
            <a:ext cx="1262653" cy="461665"/>
          </a:xfrm>
          <a:prstGeom prst="rect">
            <a:avLst/>
          </a:prstGeom>
          <a:noFill/>
        </p:spPr>
        <p:txBody>
          <a:bodyPr wrap="none" rtlCol="0">
            <a:spAutoFit/>
          </a:bodyPr>
          <a:lstStyle/>
          <a:p>
            <a:r>
              <a:rPr lang="en-US" sz="2400" dirty="0">
                <a:latin typeface="+mj-lt"/>
              </a:rPr>
              <a:t>operator</a:t>
            </a:r>
          </a:p>
        </p:txBody>
      </p:sp>
      <p:sp>
        <p:nvSpPr>
          <p:cNvPr id="48" name="TextBox 47">
            <a:extLst>
              <a:ext uri="{FF2B5EF4-FFF2-40B4-BE49-F238E27FC236}">
                <a16:creationId xmlns:a16="http://schemas.microsoft.com/office/drawing/2014/main" id="{7E085810-5956-184D-B79C-4A4203D6801C}"/>
              </a:ext>
            </a:extLst>
          </p:cNvPr>
          <p:cNvSpPr txBox="1"/>
          <p:nvPr/>
        </p:nvSpPr>
        <p:spPr>
          <a:xfrm>
            <a:off x="6152256" y="1323444"/>
            <a:ext cx="1568186" cy="461665"/>
          </a:xfrm>
          <a:prstGeom prst="rect">
            <a:avLst/>
          </a:prstGeom>
          <a:noFill/>
        </p:spPr>
        <p:txBody>
          <a:bodyPr wrap="none" rtlCol="0">
            <a:spAutoFit/>
          </a:bodyPr>
          <a:lstStyle/>
          <a:p>
            <a:r>
              <a:rPr lang="en-US" sz="2400" dirty="0">
                <a:latin typeface="+mj-lt"/>
              </a:rPr>
              <a:t>description</a:t>
            </a:r>
          </a:p>
        </p:txBody>
      </p:sp>
      <p:sp>
        <p:nvSpPr>
          <p:cNvPr id="50" name="TextBox 49">
            <a:extLst>
              <a:ext uri="{FF2B5EF4-FFF2-40B4-BE49-F238E27FC236}">
                <a16:creationId xmlns:a16="http://schemas.microsoft.com/office/drawing/2014/main" id="{155F4731-1D5C-EF42-9144-577C459B8099}"/>
              </a:ext>
            </a:extLst>
          </p:cNvPr>
          <p:cNvSpPr txBox="1"/>
          <p:nvPr/>
        </p:nvSpPr>
        <p:spPr>
          <a:xfrm>
            <a:off x="10114439" y="1323444"/>
            <a:ext cx="962123" cy="461665"/>
          </a:xfrm>
          <a:prstGeom prst="rect">
            <a:avLst/>
          </a:prstGeom>
          <a:noFill/>
        </p:spPr>
        <p:txBody>
          <a:bodyPr wrap="none" rtlCol="0">
            <a:spAutoFit/>
          </a:bodyPr>
          <a:lstStyle/>
          <a:p>
            <a:r>
              <a:rPr lang="en-US" sz="2400" dirty="0">
                <a:latin typeface="+mj-lt"/>
              </a:rPr>
              <a:t>QASM</a:t>
            </a:r>
          </a:p>
        </p:txBody>
      </p:sp>
    </p:spTree>
    <p:extLst>
      <p:ext uri="{BB962C8B-B14F-4D97-AF65-F5344CB8AC3E}">
        <p14:creationId xmlns:p14="http://schemas.microsoft.com/office/powerpoint/2010/main" val="24827744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88"/>
                                        </p:tgtEl>
                                        <p:attrNameLst>
                                          <p:attrName>style.visibility</p:attrName>
                                        </p:attrNameLst>
                                      </p:cBhvr>
                                      <p:to>
                                        <p:strVal val="visible"/>
                                      </p:to>
                                    </p:set>
                                    <p:animEffect transition="in" filter="dissolve">
                                      <p:cBhvr>
                                        <p:cTn id="7" dur="500"/>
                                        <p:tgtEl>
                                          <p:spTgt spid="88"/>
                                        </p:tgtEl>
                                      </p:cBhvr>
                                    </p:animEffect>
                                  </p:childTnLst>
                                </p:cTn>
                              </p:par>
                              <p:par>
                                <p:cTn id="8" presetID="9"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dissolve">
                                      <p:cBhvr>
                                        <p:cTn id="10"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39EF45-D20A-C54B-9E7B-223F102F5FFB}"/>
              </a:ext>
            </a:extLst>
          </p:cNvPr>
          <p:cNvSpPr>
            <a:spLocks noGrp="1"/>
          </p:cNvSpPr>
          <p:nvPr>
            <p:ph type="title"/>
          </p:nvPr>
        </p:nvSpPr>
        <p:spPr>
          <a:xfrm>
            <a:off x="0" y="0"/>
            <a:ext cx="12192000" cy="928688"/>
          </a:xfrm>
        </p:spPr>
        <p:txBody>
          <a:bodyPr/>
          <a:lstStyle/>
          <a:p>
            <a:r>
              <a:rPr lang="en-ZA" dirty="0"/>
              <a:t>Controlled Pauli Gates</a:t>
            </a:r>
            <a:endParaRPr lang="en-US" dirty="0"/>
          </a:p>
        </p:txBody>
      </p:sp>
      <p:sp>
        <p:nvSpPr>
          <p:cNvPr id="3" name="Slide Number Placeholder 2">
            <a:extLst>
              <a:ext uri="{FF2B5EF4-FFF2-40B4-BE49-F238E27FC236}">
                <a16:creationId xmlns:a16="http://schemas.microsoft.com/office/drawing/2014/main" id="{1DFCF789-A597-7E48-870E-125D0C3A063D}"/>
              </a:ext>
            </a:extLst>
          </p:cNvPr>
          <p:cNvSpPr>
            <a:spLocks noGrp="1"/>
          </p:cNvSpPr>
          <p:nvPr>
            <p:ph type="sldNum" sz="quarter" idx="12"/>
          </p:nvPr>
        </p:nvSpPr>
        <p:spPr/>
        <p:txBody>
          <a:bodyPr/>
          <a:lstStyle/>
          <a:p>
            <a:fld id="{591A223C-FA10-BC46-A853-03BA373D023C}" type="slidenum">
              <a:rPr lang="en-US" smtClean="0"/>
              <a:t>36</a:t>
            </a:fld>
            <a:endParaRPr lang="en-US"/>
          </a:p>
        </p:txBody>
      </p:sp>
      <p:sp>
        <p:nvSpPr>
          <p:cNvPr id="7" name="Rectangle 6">
            <a:extLst>
              <a:ext uri="{FF2B5EF4-FFF2-40B4-BE49-F238E27FC236}">
                <a16:creationId xmlns:a16="http://schemas.microsoft.com/office/drawing/2014/main" id="{01F86251-6DE2-3448-A31F-B8BAA869C571}"/>
              </a:ext>
            </a:extLst>
          </p:cNvPr>
          <p:cNvSpPr/>
          <p:nvPr/>
        </p:nvSpPr>
        <p:spPr>
          <a:xfrm>
            <a:off x="224852" y="882105"/>
            <a:ext cx="11679658" cy="575431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Connector 15">
            <a:extLst>
              <a:ext uri="{FF2B5EF4-FFF2-40B4-BE49-F238E27FC236}">
                <a16:creationId xmlns:a16="http://schemas.microsoft.com/office/drawing/2014/main" id="{1A76F891-5AB6-8649-AA11-DCC61231E1A8}"/>
              </a:ext>
            </a:extLst>
          </p:cNvPr>
          <p:cNvCxnSpPr>
            <a:cxnSpLocks/>
          </p:cNvCxnSpPr>
          <p:nvPr/>
        </p:nvCxnSpPr>
        <p:spPr>
          <a:xfrm>
            <a:off x="1816336" y="882105"/>
            <a:ext cx="0" cy="5754311"/>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98B600C7-EF8F-A54F-A16B-AB413E8AA9CD}"/>
              </a:ext>
            </a:extLst>
          </p:cNvPr>
          <p:cNvCxnSpPr>
            <a:cxnSpLocks/>
          </p:cNvCxnSpPr>
          <p:nvPr/>
        </p:nvCxnSpPr>
        <p:spPr>
          <a:xfrm>
            <a:off x="5355164" y="882105"/>
            <a:ext cx="0" cy="5754311"/>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8A527968-DE7C-FE4A-A9DB-19FD054BF655}"/>
              </a:ext>
            </a:extLst>
          </p:cNvPr>
          <p:cNvCxnSpPr>
            <a:cxnSpLocks/>
          </p:cNvCxnSpPr>
          <p:nvPr/>
        </p:nvCxnSpPr>
        <p:spPr>
          <a:xfrm flipV="1">
            <a:off x="8984530" y="882105"/>
            <a:ext cx="0" cy="5754311"/>
          </a:xfrm>
          <a:prstGeom prst="line">
            <a:avLst/>
          </a:prstGeom>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35913924-2483-E343-99F2-9D1061599CCB}"/>
              </a:ext>
            </a:extLst>
          </p:cNvPr>
          <p:cNvCxnSpPr>
            <a:cxnSpLocks/>
          </p:cNvCxnSpPr>
          <p:nvPr/>
        </p:nvCxnSpPr>
        <p:spPr>
          <a:xfrm>
            <a:off x="211654" y="3086434"/>
            <a:ext cx="11679658" cy="0"/>
          </a:xfrm>
          <a:prstGeom prst="line">
            <a:avLst/>
          </a:prstGeom>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A41F298D-2142-3447-964A-88FBF8974F35}"/>
              </a:ext>
            </a:extLst>
          </p:cNvPr>
          <p:cNvSpPr txBox="1"/>
          <p:nvPr/>
        </p:nvSpPr>
        <p:spPr>
          <a:xfrm>
            <a:off x="5463867" y="3413937"/>
            <a:ext cx="3313814" cy="1015663"/>
          </a:xfrm>
          <a:prstGeom prst="rect">
            <a:avLst/>
          </a:prstGeom>
          <a:noFill/>
        </p:spPr>
        <p:txBody>
          <a:bodyPr wrap="square" rtlCol="0">
            <a:spAutoFit/>
          </a:bodyPr>
          <a:lstStyle/>
          <a:p>
            <a:pPr algn="just"/>
            <a:r>
              <a:rPr lang="en-ZA" sz="2000" dirty="0">
                <a:latin typeface="+mj-lt"/>
              </a:rPr>
              <a:t>CY applies the Y gate to the target qubit (t) when the control qubit (c) is ∣1⟩. </a:t>
            </a:r>
            <a:endParaRPr lang="en-US" sz="2000" dirty="0">
              <a:latin typeface="+mj-lt"/>
            </a:endParaRPr>
          </a:p>
        </p:txBody>
      </p:sp>
      <p:sp>
        <p:nvSpPr>
          <p:cNvPr id="43" name="Rectangle 42">
            <a:extLst>
              <a:ext uri="{FF2B5EF4-FFF2-40B4-BE49-F238E27FC236}">
                <a16:creationId xmlns:a16="http://schemas.microsoft.com/office/drawing/2014/main" id="{0824DC6C-CEC9-3E4E-8DF1-99A0070F2BD7}"/>
              </a:ext>
            </a:extLst>
          </p:cNvPr>
          <p:cNvSpPr/>
          <p:nvPr/>
        </p:nvSpPr>
        <p:spPr>
          <a:xfrm>
            <a:off x="9094741" y="3845572"/>
            <a:ext cx="2747913" cy="400110"/>
          </a:xfrm>
          <a:prstGeom prst="rect">
            <a:avLst/>
          </a:prstGeom>
        </p:spPr>
        <p:txBody>
          <a:bodyPr wrap="square">
            <a:spAutoFit/>
          </a:bodyPr>
          <a:lstStyle/>
          <a:p>
            <a:r>
              <a:rPr lang="en-US" sz="2000" dirty="0">
                <a:latin typeface="AndaleMono" panose="020B0509000000000004" pitchFamily="49" charset="0"/>
              </a:rPr>
              <a:t>cy q[0], q[1]; </a:t>
            </a:r>
            <a:endParaRPr lang="en-US" sz="2000" dirty="0">
              <a:effectLst/>
            </a:endParaRPr>
          </a:p>
        </p:txBody>
      </p:sp>
      <p:cxnSp>
        <p:nvCxnSpPr>
          <p:cNvPr id="27" name="Straight Connector 26">
            <a:extLst>
              <a:ext uri="{FF2B5EF4-FFF2-40B4-BE49-F238E27FC236}">
                <a16:creationId xmlns:a16="http://schemas.microsoft.com/office/drawing/2014/main" id="{9E1E96CB-BD07-654D-8D99-6321F484621B}"/>
              </a:ext>
            </a:extLst>
          </p:cNvPr>
          <p:cNvCxnSpPr>
            <a:cxnSpLocks/>
          </p:cNvCxnSpPr>
          <p:nvPr/>
        </p:nvCxnSpPr>
        <p:spPr>
          <a:xfrm>
            <a:off x="211654" y="4937431"/>
            <a:ext cx="11679658" cy="0"/>
          </a:xfrm>
          <a:prstGeom prst="line">
            <a:avLst/>
          </a:prstGeom>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C1AB35FC-5528-9947-B727-38970289AFAA}"/>
              </a:ext>
            </a:extLst>
          </p:cNvPr>
          <p:cNvSpPr txBox="1"/>
          <p:nvPr/>
        </p:nvSpPr>
        <p:spPr>
          <a:xfrm>
            <a:off x="5463867" y="5167906"/>
            <a:ext cx="3313814" cy="1015663"/>
          </a:xfrm>
          <a:prstGeom prst="rect">
            <a:avLst/>
          </a:prstGeom>
          <a:noFill/>
        </p:spPr>
        <p:txBody>
          <a:bodyPr wrap="square" rtlCol="0">
            <a:spAutoFit/>
          </a:bodyPr>
          <a:lstStyle/>
          <a:p>
            <a:pPr algn="just"/>
            <a:r>
              <a:rPr lang="en-ZA" sz="2000" dirty="0">
                <a:latin typeface="+mj-lt"/>
              </a:rPr>
              <a:t>CZ applies the Z gate to the target qubit (t) when the control qubit (c) is ∣1⟩. </a:t>
            </a:r>
            <a:endParaRPr lang="en-US" sz="2000" dirty="0">
              <a:latin typeface="+mj-lt"/>
            </a:endParaRPr>
          </a:p>
        </p:txBody>
      </p:sp>
      <p:sp>
        <p:nvSpPr>
          <p:cNvPr id="31" name="Rectangle 30">
            <a:extLst>
              <a:ext uri="{FF2B5EF4-FFF2-40B4-BE49-F238E27FC236}">
                <a16:creationId xmlns:a16="http://schemas.microsoft.com/office/drawing/2014/main" id="{66745C00-344B-064D-AAF3-8B05CA537162}"/>
              </a:ext>
            </a:extLst>
          </p:cNvPr>
          <p:cNvSpPr/>
          <p:nvPr/>
        </p:nvSpPr>
        <p:spPr>
          <a:xfrm>
            <a:off x="9094741" y="5606677"/>
            <a:ext cx="2747913" cy="400110"/>
          </a:xfrm>
          <a:prstGeom prst="rect">
            <a:avLst/>
          </a:prstGeom>
        </p:spPr>
        <p:txBody>
          <a:bodyPr wrap="square">
            <a:spAutoFit/>
          </a:bodyPr>
          <a:lstStyle/>
          <a:p>
            <a:r>
              <a:rPr lang="en-US" sz="2000" dirty="0" err="1">
                <a:latin typeface="AndaleMono" panose="020B0509000000000004" pitchFamily="49" charset="0"/>
              </a:rPr>
              <a:t>cz</a:t>
            </a:r>
            <a:r>
              <a:rPr lang="en-US" sz="2000" dirty="0">
                <a:latin typeface="AndaleMono" panose="020B0509000000000004" pitchFamily="49" charset="0"/>
              </a:rPr>
              <a:t> q[0], q[1]; </a:t>
            </a:r>
            <a:endParaRPr lang="en-US" sz="2000" dirty="0">
              <a:effectLst/>
            </a:endParaRPr>
          </a:p>
        </p:txBody>
      </p:sp>
      <p:grpSp>
        <p:nvGrpSpPr>
          <p:cNvPr id="17" name="Group 16">
            <a:extLst>
              <a:ext uri="{FF2B5EF4-FFF2-40B4-BE49-F238E27FC236}">
                <a16:creationId xmlns:a16="http://schemas.microsoft.com/office/drawing/2014/main" id="{5202C56B-FC50-8041-853F-A34F225DA3B9}"/>
              </a:ext>
            </a:extLst>
          </p:cNvPr>
          <p:cNvGrpSpPr/>
          <p:nvPr/>
        </p:nvGrpSpPr>
        <p:grpSpPr>
          <a:xfrm>
            <a:off x="1947303" y="5040171"/>
            <a:ext cx="3076483" cy="1596245"/>
            <a:chOff x="1947303" y="5175567"/>
            <a:chExt cx="3076483" cy="1596245"/>
          </a:xfrm>
        </p:grpSpPr>
        <mc:AlternateContent xmlns:mc="http://schemas.openxmlformats.org/markup-compatibility/2006" xmlns:a14="http://schemas.microsoft.com/office/drawing/2010/main">
          <mc:Choice Requires="a14">
            <p:sp>
              <p:nvSpPr>
                <p:cNvPr id="35" name="Rectangle 34">
                  <a:extLst>
                    <a:ext uri="{FF2B5EF4-FFF2-40B4-BE49-F238E27FC236}">
                      <a16:creationId xmlns:a16="http://schemas.microsoft.com/office/drawing/2014/main" id="{60530FAB-ADD9-7749-86C0-8FE1BD5D8780}"/>
                    </a:ext>
                  </a:extLst>
                </p:cNvPr>
                <p:cNvSpPr/>
                <p:nvPr/>
              </p:nvSpPr>
              <p:spPr>
                <a:xfrm>
                  <a:off x="2104782" y="5529805"/>
                  <a:ext cx="2761525" cy="124200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ea typeface="Cambria Math" panose="02040503050406030204" pitchFamily="18" charset="0"/>
                          </a:rPr>
                          <m:t>𝑐</m:t>
                        </m:r>
                        <m:r>
                          <a:rPr lang="sr-Latn-RS" sz="2000" b="0" i="1" smtClean="0">
                            <a:latin typeface="Cambria Math" panose="02040503050406030204" pitchFamily="18" charset="0"/>
                            <a:ea typeface="Cambria Math" panose="02040503050406030204" pitchFamily="18" charset="0"/>
                          </a:rPr>
                          <m:t>𝑍</m:t>
                        </m:r>
                        <m:r>
                          <a:rPr lang="en-US" sz="2000" b="0" i="1" smtClean="0">
                            <a:latin typeface="Cambria Math" panose="02040503050406030204" pitchFamily="18" charset="0"/>
                            <a:ea typeface="Cambria Math" panose="02040503050406030204" pitchFamily="18" charset="0"/>
                          </a:rPr>
                          <m:t>=</m:t>
                        </m:r>
                        <m:d>
                          <m:dPr>
                            <m:ctrlPr>
                              <a:rPr lang="en-ZA" sz="2000" i="1">
                                <a:latin typeface="Cambria Math" panose="02040503050406030204" pitchFamily="18" charset="0"/>
                                <a:ea typeface="Cambria Math" panose="02040503050406030204" pitchFamily="18" charset="0"/>
                              </a:rPr>
                            </m:ctrlPr>
                          </m:dPr>
                          <m:e>
                            <m:m>
                              <m:mPr>
                                <m:mcs>
                                  <m:mc>
                                    <m:mcPr>
                                      <m:count m:val="4"/>
                                      <m:mcJc m:val="center"/>
                                    </m:mcPr>
                                  </m:mc>
                                </m:mcs>
                                <m:ctrlPr>
                                  <a:rPr lang="en-ZA" sz="2000" i="1">
                                    <a:latin typeface="Cambria Math" panose="02040503050406030204" pitchFamily="18" charset="0"/>
                                    <a:ea typeface="Cambria Math" panose="02040503050406030204" pitchFamily="18" charset="0"/>
                                  </a:rPr>
                                </m:ctrlPr>
                              </m:mPr>
                              <m:mr>
                                <m:e>
                                  <m:r>
                                    <a:rPr lang="sr-Latn-RS" sz="2000" i="1">
                                      <a:latin typeface="Cambria Math" panose="02040503050406030204" pitchFamily="18" charset="0"/>
                                      <a:ea typeface="Cambria Math" panose="02040503050406030204" pitchFamily="18" charset="0"/>
                                    </a:rPr>
                                    <m:t>1</m:t>
                                  </m:r>
                                </m:e>
                                <m:e>
                                  <m:r>
                                    <a:rPr lang="sr-Latn-RS" sz="2000" i="1">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0</m:t>
                                  </m:r>
                                </m:e>
                              </m:mr>
                              <m:mr>
                                <m:e>
                                  <m:r>
                                    <a:rPr lang="sr-Latn-RS" sz="2000" i="1">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1</m:t>
                                  </m:r>
                                </m:e>
                                <m:e>
                                  <m:r>
                                    <a:rPr lang="sr-Latn-RS" sz="2000" i="1">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0</m:t>
                                  </m:r>
                                </m:e>
                              </m:mr>
                              <m:mr>
                                <m:e>
                                  <m:r>
                                    <a:rPr lang="sr-Latn-RS" sz="2000" i="1">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0</m:t>
                                  </m:r>
                                </m:e>
                                <m:e>
                                  <m:r>
                                    <a:rPr lang="sr-Latn-RS" sz="2000" b="0" i="1" smtClean="0">
                                      <a:latin typeface="Cambria Math" panose="02040503050406030204" pitchFamily="18" charset="0"/>
                                      <a:ea typeface="Cambria Math" panose="02040503050406030204" pitchFamily="18" charset="0"/>
                                    </a:rPr>
                                    <m:t>1</m:t>
                                  </m:r>
                                </m:e>
                                <m:e>
                                  <m:r>
                                    <a:rPr lang="sr-Latn-RS" sz="2000" b="0" i="1" smtClean="0">
                                      <a:latin typeface="Cambria Math" panose="02040503050406030204" pitchFamily="18" charset="0"/>
                                      <a:ea typeface="Cambria Math" panose="02040503050406030204" pitchFamily="18" charset="0"/>
                                    </a:rPr>
                                    <m:t>0</m:t>
                                  </m:r>
                                </m:e>
                              </m:mr>
                              <m:mr>
                                <m:e>
                                  <m:r>
                                    <a:rPr lang="sr-Latn-RS" sz="2000" i="1">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0</m:t>
                                  </m:r>
                                </m:e>
                                <m:e>
                                  <m:r>
                                    <a:rPr lang="sr-Latn-RS" sz="2000" b="0" i="1" smtClean="0">
                                      <a:latin typeface="Cambria Math" panose="02040503050406030204" pitchFamily="18" charset="0"/>
                                      <a:ea typeface="Cambria Math" panose="02040503050406030204" pitchFamily="18" charset="0"/>
                                    </a:rPr>
                                    <m:t>0</m:t>
                                  </m:r>
                                </m:e>
                                <m:e>
                                  <m:r>
                                    <a:rPr lang="sr-Latn-RS" sz="2000" b="0" i="1" smtClean="0">
                                      <a:latin typeface="Cambria Math" panose="02040503050406030204" pitchFamily="18" charset="0"/>
                                      <a:ea typeface="Cambria Math" panose="02040503050406030204" pitchFamily="18" charset="0"/>
                                    </a:rPr>
                                    <m:t>−1</m:t>
                                  </m:r>
                                </m:e>
                              </m:mr>
                            </m:m>
                          </m:e>
                        </m:d>
                      </m:oMath>
                    </m:oMathPara>
                  </a14:m>
                  <a:endParaRPr lang="en-US" sz="2000" dirty="0">
                    <a:latin typeface="Cambria Math" panose="02040503050406030204" pitchFamily="18" charset="0"/>
                    <a:ea typeface="Cambria Math" panose="02040503050406030204" pitchFamily="18" charset="0"/>
                  </a:endParaRPr>
                </a:p>
              </p:txBody>
            </p:sp>
          </mc:Choice>
          <mc:Fallback xmlns="">
            <p:sp>
              <p:nvSpPr>
                <p:cNvPr id="35" name="Rectangle 34">
                  <a:extLst>
                    <a:ext uri="{FF2B5EF4-FFF2-40B4-BE49-F238E27FC236}">
                      <a16:creationId xmlns:a16="http://schemas.microsoft.com/office/drawing/2014/main" id="{60530FAB-ADD9-7749-86C0-8FE1BD5D8780}"/>
                    </a:ext>
                  </a:extLst>
                </p:cNvPr>
                <p:cNvSpPr>
                  <a:spLocks noRot="1" noChangeAspect="1" noMove="1" noResize="1" noEditPoints="1" noAdjustHandles="1" noChangeArrowheads="1" noChangeShapeType="1" noTextEdit="1"/>
                </p:cNvSpPr>
                <p:nvPr/>
              </p:nvSpPr>
              <p:spPr>
                <a:xfrm>
                  <a:off x="2104782" y="5529805"/>
                  <a:ext cx="2761525" cy="1242007"/>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Rectangle 41">
                  <a:extLst>
                    <a:ext uri="{FF2B5EF4-FFF2-40B4-BE49-F238E27FC236}">
                      <a16:creationId xmlns:a16="http://schemas.microsoft.com/office/drawing/2014/main" id="{F3B7A2AB-010B-1D4F-B5E4-365A318704DC}"/>
                    </a:ext>
                  </a:extLst>
                </p:cNvPr>
                <p:cNvSpPr/>
                <p:nvPr/>
              </p:nvSpPr>
              <p:spPr>
                <a:xfrm>
                  <a:off x="1947303" y="5175567"/>
                  <a:ext cx="3076483"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ea typeface="Cambria Math" panose="02040503050406030204" pitchFamily="18" charset="0"/>
                          </a:rPr>
                          <m:t>𝑐</m:t>
                        </m:r>
                        <m:r>
                          <a:rPr lang="sr-Latn-RS" sz="2000" b="0" i="1" smtClean="0">
                            <a:latin typeface="Cambria Math" panose="02040503050406030204" pitchFamily="18" charset="0"/>
                            <a:ea typeface="Cambria Math" panose="02040503050406030204" pitchFamily="18" charset="0"/>
                          </a:rPr>
                          <m:t>𝑍</m:t>
                        </m:r>
                        <m:r>
                          <a:rPr lang="en-US" sz="2000" b="0" i="1" smtClean="0">
                            <a:latin typeface="Cambria Math" panose="02040503050406030204" pitchFamily="18" charset="0"/>
                            <a:ea typeface="Cambria Math" panose="02040503050406030204" pitchFamily="18" charset="0"/>
                          </a:rPr>
                          <m:t>=</m:t>
                        </m:r>
                        <m:d>
                          <m:dPr>
                            <m:begChr m:val="|"/>
                            <m:endChr m:val="⟩"/>
                            <m:ctrlPr>
                              <a:rPr lang="en-ZA" sz="2000" i="1">
                                <a:latin typeface="Cambria Math" panose="02040503050406030204" pitchFamily="18" charset="0"/>
                              </a:rPr>
                            </m:ctrlPr>
                          </m:dPr>
                          <m:e>
                            <m:r>
                              <a:rPr lang="en-US" sz="2000" i="1">
                                <a:latin typeface="Cambria Math" panose="02040503050406030204" pitchFamily="18" charset="0"/>
                              </a:rPr>
                              <m:t>0</m:t>
                            </m:r>
                          </m:e>
                        </m:d>
                        <m:box>
                          <m:boxPr>
                            <m:ctrlPr>
                              <a:rPr lang="en-ZA" sz="2000" i="1">
                                <a:latin typeface="Cambria Math" panose="02040503050406030204" pitchFamily="18" charset="0"/>
                              </a:rPr>
                            </m:ctrlPr>
                          </m:boxPr>
                          <m:e>
                            <m:d>
                              <m:dPr>
                                <m:begChr m:val="⟨"/>
                                <m:endChr m:val="|"/>
                                <m:ctrlPr>
                                  <a:rPr lang="en-ZA" sz="2000" i="1">
                                    <a:latin typeface="Cambria Math" panose="02040503050406030204" pitchFamily="18" charset="0"/>
                                  </a:rPr>
                                </m:ctrlPr>
                              </m:dPr>
                              <m:e>
                                <m:r>
                                  <a:rPr lang="en-US" sz="2000" i="1">
                                    <a:latin typeface="Cambria Math" panose="02040503050406030204" pitchFamily="18" charset="0"/>
                                  </a:rPr>
                                  <m:t>0</m:t>
                                </m:r>
                              </m:e>
                            </m:d>
                            <m:r>
                              <a:rPr lang="en-US" sz="2000" i="1">
                                <a:latin typeface="Cambria Math" panose="02040503050406030204" pitchFamily="18" charset="0"/>
                              </a:rPr>
                              <m:t>⨂</m:t>
                            </m:r>
                            <m:r>
                              <a:rPr lang="en-US" sz="2000" i="1">
                                <a:latin typeface="Cambria Math" panose="02040503050406030204" pitchFamily="18" charset="0"/>
                              </a:rPr>
                              <m:t>𝐼</m:t>
                            </m:r>
                            <m:r>
                              <a:rPr lang="en-US" sz="2000" i="1">
                                <a:latin typeface="Cambria Math" panose="02040503050406030204" pitchFamily="18" charset="0"/>
                              </a:rPr>
                              <m:t>+</m:t>
                            </m:r>
                          </m:e>
                        </m:box>
                        <m:d>
                          <m:dPr>
                            <m:begChr m:val="|"/>
                            <m:endChr m:val="⟩"/>
                            <m:ctrlPr>
                              <a:rPr lang="en-ZA" sz="2000" i="1">
                                <a:latin typeface="Cambria Math" panose="02040503050406030204" pitchFamily="18" charset="0"/>
                              </a:rPr>
                            </m:ctrlPr>
                          </m:dPr>
                          <m:e>
                            <m:r>
                              <a:rPr lang="en-US" sz="2000" i="1">
                                <a:latin typeface="Cambria Math" panose="02040503050406030204" pitchFamily="18" charset="0"/>
                              </a:rPr>
                              <m:t>1</m:t>
                            </m:r>
                          </m:e>
                        </m:d>
                        <m:box>
                          <m:boxPr>
                            <m:ctrlPr>
                              <a:rPr lang="en-ZA" sz="2000" i="1">
                                <a:latin typeface="Cambria Math" panose="02040503050406030204" pitchFamily="18" charset="0"/>
                              </a:rPr>
                            </m:ctrlPr>
                          </m:boxPr>
                          <m:e>
                            <m:d>
                              <m:dPr>
                                <m:begChr m:val="⟨"/>
                                <m:endChr m:val="|"/>
                                <m:ctrlPr>
                                  <a:rPr lang="en-ZA" sz="2000" i="1">
                                    <a:latin typeface="Cambria Math" panose="02040503050406030204" pitchFamily="18" charset="0"/>
                                  </a:rPr>
                                </m:ctrlPr>
                              </m:dPr>
                              <m:e>
                                <m:r>
                                  <a:rPr lang="en-US" sz="2000" i="1">
                                    <a:latin typeface="Cambria Math" panose="02040503050406030204" pitchFamily="18" charset="0"/>
                                  </a:rPr>
                                  <m:t>1</m:t>
                                </m:r>
                              </m:e>
                            </m:d>
                            <m:r>
                              <a:rPr lang="en-US" sz="2000" i="1">
                                <a:latin typeface="Cambria Math" panose="02040503050406030204" pitchFamily="18" charset="0"/>
                              </a:rPr>
                              <m:t>⨂</m:t>
                            </m:r>
                            <m:r>
                              <a:rPr lang="sr-Latn-RS" sz="2000" b="0" i="1" smtClean="0">
                                <a:latin typeface="Cambria Math" panose="02040503050406030204" pitchFamily="18" charset="0"/>
                              </a:rPr>
                              <m:t>𝑍</m:t>
                            </m:r>
                          </m:e>
                        </m:box>
                      </m:oMath>
                    </m:oMathPara>
                  </a14:m>
                  <a:endParaRPr lang="en-US" sz="2000" dirty="0">
                    <a:latin typeface="Cambria Math" panose="02040503050406030204" pitchFamily="18" charset="0"/>
                    <a:ea typeface="Cambria Math" panose="02040503050406030204" pitchFamily="18" charset="0"/>
                  </a:endParaRPr>
                </a:p>
              </p:txBody>
            </p:sp>
          </mc:Choice>
          <mc:Fallback xmlns="">
            <p:sp>
              <p:nvSpPr>
                <p:cNvPr id="42" name="Rectangle 41">
                  <a:extLst>
                    <a:ext uri="{FF2B5EF4-FFF2-40B4-BE49-F238E27FC236}">
                      <a16:creationId xmlns:a16="http://schemas.microsoft.com/office/drawing/2014/main" id="{F3B7A2AB-010B-1D4F-B5E4-365A318704DC}"/>
                    </a:ext>
                  </a:extLst>
                </p:cNvPr>
                <p:cNvSpPr>
                  <a:spLocks noRot="1" noChangeAspect="1" noMove="1" noResize="1" noEditPoints="1" noAdjustHandles="1" noChangeArrowheads="1" noChangeShapeType="1" noTextEdit="1"/>
                </p:cNvSpPr>
                <p:nvPr/>
              </p:nvSpPr>
              <p:spPr>
                <a:xfrm>
                  <a:off x="1947303" y="5175567"/>
                  <a:ext cx="3076483" cy="400110"/>
                </a:xfrm>
                <a:prstGeom prst="rect">
                  <a:avLst/>
                </a:prstGeom>
                <a:blipFill>
                  <a:blip r:embed="rId4"/>
                  <a:stretch>
                    <a:fillRect b="-3125"/>
                  </a:stretch>
                </a:blipFill>
              </p:spPr>
              <p:txBody>
                <a:bodyPr/>
                <a:lstStyle/>
                <a:p>
                  <a:r>
                    <a:rPr lang="en-US">
                      <a:noFill/>
                    </a:rPr>
                    <a:t> </a:t>
                  </a:r>
                </a:p>
              </p:txBody>
            </p:sp>
          </mc:Fallback>
        </mc:AlternateContent>
      </p:grpSp>
      <p:grpSp>
        <p:nvGrpSpPr>
          <p:cNvPr id="19" name="Group 18">
            <a:extLst>
              <a:ext uri="{FF2B5EF4-FFF2-40B4-BE49-F238E27FC236}">
                <a16:creationId xmlns:a16="http://schemas.microsoft.com/office/drawing/2014/main" id="{A1BA66C1-C0B6-2E47-A70C-C1E4B5C27D3B}"/>
              </a:ext>
            </a:extLst>
          </p:cNvPr>
          <p:cNvGrpSpPr/>
          <p:nvPr/>
        </p:nvGrpSpPr>
        <p:grpSpPr>
          <a:xfrm>
            <a:off x="211654" y="4849492"/>
            <a:ext cx="1392324" cy="1520392"/>
            <a:chOff x="211654" y="4659673"/>
            <a:chExt cx="1392324" cy="1520392"/>
          </a:xfrm>
        </p:grpSpPr>
        <p:cxnSp>
          <p:nvCxnSpPr>
            <p:cNvPr id="29" name="Straight Connector 28">
              <a:extLst>
                <a:ext uri="{FF2B5EF4-FFF2-40B4-BE49-F238E27FC236}">
                  <a16:creationId xmlns:a16="http://schemas.microsoft.com/office/drawing/2014/main" id="{7E65A109-15EF-3444-BF9D-81DBA43B9EC2}"/>
                </a:ext>
              </a:extLst>
            </p:cNvPr>
            <p:cNvCxnSpPr>
              <a:cxnSpLocks/>
            </p:cNvCxnSpPr>
            <p:nvPr/>
          </p:nvCxnSpPr>
          <p:spPr>
            <a:xfrm>
              <a:off x="405644" y="5910065"/>
              <a:ext cx="116559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2" name="Oval 31">
              <a:extLst>
                <a:ext uri="{FF2B5EF4-FFF2-40B4-BE49-F238E27FC236}">
                  <a16:creationId xmlns:a16="http://schemas.microsoft.com/office/drawing/2014/main" id="{A46409A5-26EF-DF4A-B8A3-0A87A9BFEDEE}"/>
                </a:ext>
              </a:extLst>
            </p:cNvPr>
            <p:cNvSpPr/>
            <p:nvPr/>
          </p:nvSpPr>
          <p:spPr>
            <a:xfrm>
              <a:off x="902188" y="4966664"/>
              <a:ext cx="180000" cy="180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cxnSp>
          <p:nvCxnSpPr>
            <p:cNvPr id="33" name="Straight Connector 32">
              <a:extLst>
                <a:ext uri="{FF2B5EF4-FFF2-40B4-BE49-F238E27FC236}">
                  <a16:creationId xmlns:a16="http://schemas.microsoft.com/office/drawing/2014/main" id="{D1809586-440E-A941-A4FB-D1C3628D7C58}"/>
                </a:ext>
              </a:extLst>
            </p:cNvPr>
            <p:cNvCxnSpPr>
              <a:cxnSpLocks/>
              <a:stCxn id="32" idx="4"/>
            </p:cNvCxnSpPr>
            <p:nvPr/>
          </p:nvCxnSpPr>
          <p:spPr>
            <a:xfrm>
              <a:off x="992188" y="5146664"/>
              <a:ext cx="0" cy="57572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D192F77D-E8A3-E545-AE29-160B8AE758EC}"/>
                </a:ext>
              </a:extLst>
            </p:cNvPr>
            <p:cNvCxnSpPr>
              <a:cxnSpLocks/>
            </p:cNvCxnSpPr>
            <p:nvPr/>
          </p:nvCxnSpPr>
          <p:spPr>
            <a:xfrm>
              <a:off x="438388" y="5065285"/>
              <a:ext cx="116559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6" name="Rectangle 35">
                  <a:extLst>
                    <a:ext uri="{FF2B5EF4-FFF2-40B4-BE49-F238E27FC236}">
                      <a16:creationId xmlns:a16="http://schemas.microsoft.com/office/drawing/2014/main" id="{C3391ECE-11CC-4C43-ACDE-7926DEE26E56}"/>
                    </a:ext>
                  </a:extLst>
                </p:cNvPr>
                <p:cNvSpPr/>
                <p:nvPr/>
              </p:nvSpPr>
              <p:spPr>
                <a:xfrm>
                  <a:off x="211654" y="5481147"/>
                  <a:ext cx="382925"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𝑡</m:t>
                        </m:r>
                      </m:oMath>
                    </m:oMathPara>
                  </a14:m>
                  <a:endParaRPr lang="en-US" sz="2400" dirty="0"/>
                </a:p>
              </p:txBody>
            </p:sp>
          </mc:Choice>
          <mc:Fallback xmlns="">
            <p:sp>
              <p:nvSpPr>
                <p:cNvPr id="36" name="Rectangle 35">
                  <a:extLst>
                    <a:ext uri="{FF2B5EF4-FFF2-40B4-BE49-F238E27FC236}">
                      <a16:creationId xmlns:a16="http://schemas.microsoft.com/office/drawing/2014/main" id="{C3391ECE-11CC-4C43-ACDE-7926DEE26E56}"/>
                    </a:ext>
                  </a:extLst>
                </p:cNvPr>
                <p:cNvSpPr>
                  <a:spLocks noRot="1" noChangeAspect="1" noMove="1" noResize="1" noEditPoints="1" noAdjustHandles="1" noChangeArrowheads="1" noChangeShapeType="1" noTextEdit="1"/>
                </p:cNvSpPr>
                <p:nvPr/>
              </p:nvSpPr>
              <p:spPr>
                <a:xfrm>
                  <a:off x="211654" y="5481147"/>
                  <a:ext cx="382925" cy="461665"/>
                </a:xfrm>
                <a:prstGeom prst="rect">
                  <a:avLst/>
                </a:prstGeom>
                <a:blipFill>
                  <a:blip r:embed="rId5"/>
                  <a:stretch>
                    <a:fillRect/>
                  </a:stretch>
                </a:blipFill>
              </p:spPr>
              <p:txBody>
                <a:bodyPr/>
                <a:lstStyle/>
                <a:p>
                  <a:r>
                    <a:rPr lang="en-US">
                      <a:noFill/>
                    </a:rPr>
                    <a:t> </a:t>
                  </a:r>
                </a:p>
              </p:txBody>
            </p:sp>
          </mc:Fallback>
        </mc:AlternateContent>
        <p:sp>
          <p:nvSpPr>
            <p:cNvPr id="40" name="Rectangle 39">
              <a:extLst>
                <a:ext uri="{FF2B5EF4-FFF2-40B4-BE49-F238E27FC236}">
                  <a16:creationId xmlns:a16="http://schemas.microsoft.com/office/drawing/2014/main" id="{9BF89B09-4D9D-DD40-841A-9633EC2EFB3F}"/>
                </a:ext>
              </a:extLst>
            </p:cNvPr>
            <p:cNvSpPr>
              <a:spLocks/>
            </p:cNvSpPr>
            <p:nvPr/>
          </p:nvSpPr>
          <p:spPr>
            <a:xfrm>
              <a:off x="718439" y="5640065"/>
              <a:ext cx="540000" cy="540000"/>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Times" pitchFamily="2" charset="0"/>
                </a:rPr>
                <a:t>Z</a:t>
              </a:r>
            </a:p>
          </p:txBody>
        </p:sp>
        <mc:AlternateContent xmlns:mc="http://schemas.openxmlformats.org/markup-compatibility/2006" xmlns:a14="http://schemas.microsoft.com/office/drawing/2010/main">
          <mc:Choice Requires="a14">
            <p:sp>
              <p:nvSpPr>
                <p:cNvPr id="48" name="Rectangle 47">
                  <a:extLst>
                    <a:ext uri="{FF2B5EF4-FFF2-40B4-BE49-F238E27FC236}">
                      <a16:creationId xmlns:a16="http://schemas.microsoft.com/office/drawing/2014/main" id="{AFD1F23B-B1C4-A744-82A5-FAA9DFC5A4A1}"/>
                    </a:ext>
                  </a:extLst>
                </p:cNvPr>
                <p:cNvSpPr/>
                <p:nvPr/>
              </p:nvSpPr>
              <p:spPr>
                <a:xfrm>
                  <a:off x="237304" y="4659673"/>
                  <a:ext cx="404405"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𝑐</m:t>
                        </m:r>
                      </m:oMath>
                    </m:oMathPara>
                  </a14:m>
                  <a:endParaRPr lang="en-US" sz="2400" dirty="0"/>
                </a:p>
              </p:txBody>
            </p:sp>
          </mc:Choice>
          <mc:Fallback xmlns="">
            <p:sp>
              <p:nvSpPr>
                <p:cNvPr id="48" name="Rectangle 47">
                  <a:extLst>
                    <a:ext uri="{FF2B5EF4-FFF2-40B4-BE49-F238E27FC236}">
                      <a16:creationId xmlns:a16="http://schemas.microsoft.com/office/drawing/2014/main" id="{AFD1F23B-B1C4-A744-82A5-FAA9DFC5A4A1}"/>
                    </a:ext>
                  </a:extLst>
                </p:cNvPr>
                <p:cNvSpPr>
                  <a:spLocks noRot="1" noChangeAspect="1" noMove="1" noResize="1" noEditPoints="1" noAdjustHandles="1" noChangeArrowheads="1" noChangeShapeType="1" noTextEdit="1"/>
                </p:cNvSpPr>
                <p:nvPr/>
              </p:nvSpPr>
              <p:spPr>
                <a:xfrm>
                  <a:off x="237304" y="4659673"/>
                  <a:ext cx="404405" cy="461665"/>
                </a:xfrm>
                <a:prstGeom prst="rect">
                  <a:avLst/>
                </a:prstGeom>
                <a:blipFill>
                  <a:blip r:embed="rId6"/>
                  <a:stretch>
                    <a:fillRect/>
                  </a:stretch>
                </a:blipFill>
              </p:spPr>
              <p:txBody>
                <a:bodyPr/>
                <a:lstStyle/>
                <a:p>
                  <a:r>
                    <a:rPr lang="en-US">
                      <a:noFill/>
                    </a:rPr>
                    <a:t> </a:t>
                  </a:r>
                </a:p>
              </p:txBody>
            </p:sp>
          </mc:Fallback>
        </mc:AlternateContent>
      </p:grpSp>
      <p:grpSp>
        <p:nvGrpSpPr>
          <p:cNvPr id="14" name="Group 13">
            <a:extLst>
              <a:ext uri="{FF2B5EF4-FFF2-40B4-BE49-F238E27FC236}">
                <a16:creationId xmlns:a16="http://schemas.microsoft.com/office/drawing/2014/main" id="{72643C02-303E-0F47-8DDC-8A0C047BBE32}"/>
              </a:ext>
            </a:extLst>
          </p:cNvPr>
          <p:cNvGrpSpPr/>
          <p:nvPr/>
        </p:nvGrpSpPr>
        <p:grpSpPr>
          <a:xfrm>
            <a:off x="1849020" y="3201521"/>
            <a:ext cx="3079689" cy="1594721"/>
            <a:chOff x="1945700" y="3098748"/>
            <a:chExt cx="3079689" cy="1594721"/>
          </a:xfrm>
        </p:grpSpPr>
        <mc:AlternateContent xmlns:mc="http://schemas.openxmlformats.org/markup-compatibility/2006" xmlns:a14="http://schemas.microsoft.com/office/drawing/2010/main">
          <mc:Choice Requires="a14">
            <p:sp>
              <p:nvSpPr>
                <p:cNvPr id="26" name="Rectangle 25">
                  <a:extLst>
                    <a:ext uri="{FF2B5EF4-FFF2-40B4-BE49-F238E27FC236}">
                      <a16:creationId xmlns:a16="http://schemas.microsoft.com/office/drawing/2014/main" id="{CE57BBB8-E581-FE46-94A7-A7C965C7F037}"/>
                    </a:ext>
                  </a:extLst>
                </p:cNvPr>
                <p:cNvSpPr/>
                <p:nvPr/>
              </p:nvSpPr>
              <p:spPr>
                <a:xfrm>
                  <a:off x="2130366" y="3451462"/>
                  <a:ext cx="2710357" cy="124200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ea typeface="Cambria Math" panose="02040503050406030204" pitchFamily="18" charset="0"/>
                          </a:rPr>
                          <m:t>𝑐𝑌</m:t>
                        </m:r>
                        <m:r>
                          <a:rPr lang="en-US" sz="2000" b="0" i="1" smtClean="0">
                            <a:latin typeface="Cambria Math" panose="02040503050406030204" pitchFamily="18" charset="0"/>
                            <a:ea typeface="Cambria Math" panose="02040503050406030204" pitchFamily="18" charset="0"/>
                          </a:rPr>
                          <m:t>=</m:t>
                        </m:r>
                        <m:d>
                          <m:dPr>
                            <m:ctrlPr>
                              <a:rPr lang="en-ZA" sz="2000" i="1">
                                <a:latin typeface="Cambria Math" panose="02040503050406030204" pitchFamily="18" charset="0"/>
                                <a:ea typeface="Cambria Math" panose="02040503050406030204" pitchFamily="18" charset="0"/>
                              </a:rPr>
                            </m:ctrlPr>
                          </m:dPr>
                          <m:e>
                            <m:m>
                              <m:mPr>
                                <m:mcs>
                                  <m:mc>
                                    <m:mcPr>
                                      <m:count m:val="4"/>
                                      <m:mcJc m:val="center"/>
                                    </m:mcPr>
                                  </m:mc>
                                </m:mcs>
                                <m:ctrlPr>
                                  <a:rPr lang="en-ZA" sz="2000" i="1">
                                    <a:latin typeface="Cambria Math" panose="02040503050406030204" pitchFamily="18" charset="0"/>
                                    <a:ea typeface="Cambria Math" panose="02040503050406030204" pitchFamily="18" charset="0"/>
                                  </a:rPr>
                                </m:ctrlPr>
                              </m:mPr>
                              <m:mr>
                                <m:e>
                                  <m:r>
                                    <a:rPr lang="sr-Latn-RS" sz="2000" i="1">
                                      <a:latin typeface="Cambria Math" panose="02040503050406030204" pitchFamily="18" charset="0"/>
                                      <a:ea typeface="Cambria Math" panose="02040503050406030204" pitchFamily="18" charset="0"/>
                                    </a:rPr>
                                    <m:t>1</m:t>
                                  </m:r>
                                </m:e>
                                <m:e>
                                  <m:r>
                                    <a:rPr lang="sr-Latn-RS" sz="2000" i="1">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0</m:t>
                                  </m:r>
                                </m:e>
                              </m:mr>
                              <m:mr>
                                <m:e>
                                  <m:r>
                                    <a:rPr lang="sr-Latn-RS" sz="2000" i="1">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1</m:t>
                                  </m:r>
                                </m:e>
                                <m:e>
                                  <m:r>
                                    <a:rPr lang="sr-Latn-RS" sz="2000" i="1">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0</m:t>
                                  </m:r>
                                </m:e>
                              </m:mr>
                              <m:mr>
                                <m:e>
                                  <m:r>
                                    <a:rPr lang="sr-Latn-RS" sz="2000" i="1">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m:t>
                                  </m:r>
                                  <m:r>
                                    <a:rPr lang="sr-Latn-RS" sz="2000" i="1">
                                      <a:latin typeface="Cambria Math" panose="02040503050406030204" pitchFamily="18" charset="0"/>
                                      <a:ea typeface="Cambria Math" panose="02040503050406030204" pitchFamily="18" charset="0"/>
                                    </a:rPr>
                                    <m:t>𝑖</m:t>
                                  </m:r>
                                </m:e>
                              </m:mr>
                              <m:mr>
                                <m:e>
                                  <m:r>
                                    <a:rPr lang="sr-Latn-RS" sz="2000" i="1">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0</m:t>
                                  </m:r>
                                </m:e>
                                <m:e>
                                  <m:r>
                                    <a:rPr lang="sr-Latn-RS" sz="2000" i="1">
                                      <a:latin typeface="Cambria Math" panose="02040503050406030204" pitchFamily="18" charset="0"/>
                                      <a:ea typeface="Cambria Math" panose="02040503050406030204" pitchFamily="18" charset="0"/>
                                    </a:rPr>
                                    <m:t>𝑖</m:t>
                                  </m:r>
                                </m:e>
                                <m:e>
                                  <m:r>
                                    <a:rPr lang="sr-Latn-RS" sz="2000" i="1">
                                      <a:latin typeface="Cambria Math" panose="02040503050406030204" pitchFamily="18" charset="0"/>
                                      <a:ea typeface="Cambria Math" panose="02040503050406030204" pitchFamily="18" charset="0"/>
                                    </a:rPr>
                                    <m:t>0</m:t>
                                  </m:r>
                                </m:e>
                              </m:mr>
                            </m:m>
                          </m:e>
                        </m:d>
                      </m:oMath>
                    </m:oMathPara>
                  </a14:m>
                  <a:endParaRPr lang="en-US" sz="2000" dirty="0">
                    <a:latin typeface="Cambria Math" panose="02040503050406030204" pitchFamily="18" charset="0"/>
                    <a:ea typeface="Cambria Math" panose="02040503050406030204" pitchFamily="18" charset="0"/>
                  </a:endParaRPr>
                </a:p>
              </p:txBody>
            </p:sp>
          </mc:Choice>
          <mc:Fallback xmlns="">
            <p:sp>
              <p:nvSpPr>
                <p:cNvPr id="26" name="Rectangle 25">
                  <a:extLst>
                    <a:ext uri="{FF2B5EF4-FFF2-40B4-BE49-F238E27FC236}">
                      <a16:creationId xmlns:a16="http://schemas.microsoft.com/office/drawing/2014/main" id="{CE57BBB8-E581-FE46-94A7-A7C965C7F037}"/>
                    </a:ext>
                  </a:extLst>
                </p:cNvPr>
                <p:cNvSpPr>
                  <a:spLocks noRot="1" noChangeAspect="1" noMove="1" noResize="1" noEditPoints="1" noAdjustHandles="1" noChangeArrowheads="1" noChangeShapeType="1" noTextEdit="1"/>
                </p:cNvSpPr>
                <p:nvPr/>
              </p:nvSpPr>
              <p:spPr>
                <a:xfrm>
                  <a:off x="2130366" y="3451462"/>
                  <a:ext cx="2710357" cy="1242007"/>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Rectangle 40">
                  <a:extLst>
                    <a:ext uri="{FF2B5EF4-FFF2-40B4-BE49-F238E27FC236}">
                      <a16:creationId xmlns:a16="http://schemas.microsoft.com/office/drawing/2014/main" id="{5EFAA184-8217-6F46-A5FC-0E8F59D8CAF6}"/>
                    </a:ext>
                  </a:extLst>
                </p:cNvPr>
                <p:cNvSpPr/>
                <p:nvPr/>
              </p:nvSpPr>
              <p:spPr>
                <a:xfrm>
                  <a:off x="1945700" y="3098748"/>
                  <a:ext cx="3079689"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ea typeface="Cambria Math" panose="02040503050406030204" pitchFamily="18" charset="0"/>
                          </a:rPr>
                          <m:t>𝑐𝑌</m:t>
                        </m:r>
                        <m:r>
                          <a:rPr lang="en-US" sz="2000" b="0" i="1" smtClean="0">
                            <a:latin typeface="Cambria Math" panose="02040503050406030204" pitchFamily="18" charset="0"/>
                            <a:ea typeface="Cambria Math" panose="02040503050406030204" pitchFamily="18" charset="0"/>
                          </a:rPr>
                          <m:t>=</m:t>
                        </m:r>
                        <m:d>
                          <m:dPr>
                            <m:begChr m:val="|"/>
                            <m:endChr m:val="⟩"/>
                            <m:ctrlPr>
                              <a:rPr lang="en-ZA" sz="2000" i="1">
                                <a:latin typeface="Cambria Math" panose="02040503050406030204" pitchFamily="18" charset="0"/>
                              </a:rPr>
                            </m:ctrlPr>
                          </m:dPr>
                          <m:e>
                            <m:r>
                              <a:rPr lang="en-US" sz="2000" i="1">
                                <a:latin typeface="Cambria Math" panose="02040503050406030204" pitchFamily="18" charset="0"/>
                              </a:rPr>
                              <m:t>0</m:t>
                            </m:r>
                          </m:e>
                        </m:d>
                        <m:box>
                          <m:boxPr>
                            <m:ctrlPr>
                              <a:rPr lang="en-ZA" sz="2000" i="1">
                                <a:latin typeface="Cambria Math" panose="02040503050406030204" pitchFamily="18" charset="0"/>
                              </a:rPr>
                            </m:ctrlPr>
                          </m:boxPr>
                          <m:e>
                            <m:d>
                              <m:dPr>
                                <m:begChr m:val="⟨"/>
                                <m:endChr m:val="|"/>
                                <m:ctrlPr>
                                  <a:rPr lang="en-ZA" sz="2000" i="1">
                                    <a:latin typeface="Cambria Math" panose="02040503050406030204" pitchFamily="18" charset="0"/>
                                  </a:rPr>
                                </m:ctrlPr>
                              </m:dPr>
                              <m:e>
                                <m:r>
                                  <a:rPr lang="en-US" sz="2000" i="1">
                                    <a:latin typeface="Cambria Math" panose="02040503050406030204" pitchFamily="18" charset="0"/>
                                  </a:rPr>
                                  <m:t>0</m:t>
                                </m:r>
                              </m:e>
                            </m:d>
                            <m:r>
                              <a:rPr lang="en-US" sz="2000" i="1">
                                <a:latin typeface="Cambria Math" panose="02040503050406030204" pitchFamily="18" charset="0"/>
                              </a:rPr>
                              <m:t>⨂</m:t>
                            </m:r>
                            <m:r>
                              <a:rPr lang="en-US" sz="2000" i="1">
                                <a:latin typeface="Cambria Math" panose="02040503050406030204" pitchFamily="18" charset="0"/>
                              </a:rPr>
                              <m:t>𝐼</m:t>
                            </m:r>
                            <m:r>
                              <a:rPr lang="en-US" sz="2000" i="1">
                                <a:latin typeface="Cambria Math" panose="02040503050406030204" pitchFamily="18" charset="0"/>
                              </a:rPr>
                              <m:t>+</m:t>
                            </m:r>
                          </m:e>
                        </m:box>
                        <m:d>
                          <m:dPr>
                            <m:begChr m:val="|"/>
                            <m:endChr m:val="⟩"/>
                            <m:ctrlPr>
                              <a:rPr lang="en-ZA" sz="2000" i="1">
                                <a:latin typeface="Cambria Math" panose="02040503050406030204" pitchFamily="18" charset="0"/>
                              </a:rPr>
                            </m:ctrlPr>
                          </m:dPr>
                          <m:e>
                            <m:r>
                              <a:rPr lang="en-US" sz="2000" i="1">
                                <a:latin typeface="Cambria Math" panose="02040503050406030204" pitchFamily="18" charset="0"/>
                              </a:rPr>
                              <m:t>1</m:t>
                            </m:r>
                          </m:e>
                        </m:d>
                        <m:box>
                          <m:boxPr>
                            <m:ctrlPr>
                              <a:rPr lang="en-ZA" sz="2000" i="1">
                                <a:latin typeface="Cambria Math" panose="02040503050406030204" pitchFamily="18" charset="0"/>
                              </a:rPr>
                            </m:ctrlPr>
                          </m:boxPr>
                          <m:e>
                            <m:d>
                              <m:dPr>
                                <m:begChr m:val="⟨"/>
                                <m:endChr m:val="|"/>
                                <m:ctrlPr>
                                  <a:rPr lang="en-ZA" sz="2000" i="1">
                                    <a:latin typeface="Cambria Math" panose="02040503050406030204" pitchFamily="18" charset="0"/>
                                  </a:rPr>
                                </m:ctrlPr>
                              </m:dPr>
                              <m:e>
                                <m:r>
                                  <a:rPr lang="en-US" sz="2000" i="1">
                                    <a:latin typeface="Cambria Math" panose="02040503050406030204" pitchFamily="18" charset="0"/>
                                  </a:rPr>
                                  <m:t>1</m:t>
                                </m:r>
                              </m:e>
                            </m:d>
                            <m:r>
                              <a:rPr lang="en-US" sz="2000" i="1">
                                <a:latin typeface="Cambria Math" panose="02040503050406030204" pitchFamily="18" charset="0"/>
                              </a:rPr>
                              <m:t>⨂</m:t>
                            </m:r>
                            <m:r>
                              <a:rPr lang="en-US" sz="2000" i="1">
                                <a:latin typeface="Cambria Math" panose="02040503050406030204" pitchFamily="18" charset="0"/>
                              </a:rPr>
                              <m:t>𝑌</m:t>
                            </m:r>
                          </m:e>
                        </m:box>
                      </m:oMath>
                    </m:oMathPara>
                  </a14:m>
                  <a:endParaRPr lang="en-US" sz="2000" dirty="0">
                    <a:latin typeface="Cambria Math" panose="02040503050406030204" pitchFamily="18" charset="0"/>
                    <a:ea typeface="Cambria Math" panose="02040503050406030204" pitchFamily="18" charset="0"/>
                  </a:endParaRPr>
                </a:p>
              </p:txBody>
            </p:sp>
          </mc:Choice>
          <mc:Fallback xmlns="">
            <p:sp>
              <p:nvSpPr>
                <p:cNvPr id="41" name="Rectangle 40">
                  <a:extLst>
                    <a:ext uri="{FF2B5EF4-FFF2-40B4-BE49-F238E27FC236}">
                      <a16:creationId xmlns:a16="http://schemas.microsoft.com/office/drawing/2014/main" id="{5EFAA184-8217-6F46-A5FC-0E8F59D8CAF6}"/>
                    </a:ext>
                  </a:extLst>
                </p:cNvPr>
                <p:cNvSpPr>
                  <a:spLocks noRot="1" noChangeAspect="1" noMove="1" noResize="1" noEditPoints="1" noAdjustHandles="1" noChangeArrowheads="1" noChangeShapeType="1" noTextEdit="1"/>
                </p:cNvSpPr>
                <p:nvPr/>
              </p:nvSpPr>
              <p:spPr>
                <a:xfrm>
                  <a:off x="1945700" y="3098748"/>
                  <a:ext cx="3079689" cy="400110"/>
                </a:xfrm>
                <a:prstGeom prst="rect">
                  <a:avLst/>
                </a:prstGeom>
                <a:blipFill>
                  <a:blip r:embed="rId8"/>
                  <a:stretch>
                    <a:fillRect/>
                  </a:stretch>
                </a:blipFill>
              </p:spPr>
              <p:txBody>
                <a:bodyPr/>
                <a:lstStyle/>
                <a:p>
                  <a:r>
                    <a:rPr lang="en-US">
                      <a:noFill/>
                    </a:rPr>
                    <a:t> </a:t>
                  </a:r>
                </a:p>
              </p:txBody>
            </p:sp>
          </mc:Fallback>
        </mc:AlternateContent>
      </p:grpSp>
      <p:grpSp>
        <p:nvGrpSpPr>
          <p:cNvPr id="63" name="Group 62">
            <a:extLst>
              <a:ext uri="{FF2B5EF4-FFF2-40B4-BE49-F238E27FC236}">
                <a16:creationId xmlns:a16="http://schemas.microsoft.com/office/drawing/2014/main" id="{0AFCD455-F1B7-F740-89C1-3E97210CC0FA}"/>
              </a:ext>
            </a:extLst>
          </p:cNvPr>
          <p:cNvGrpSpPr/>
          <p:nvPr/>
        </p:nvGrpSpPr>
        <p:grpSpPr>
          <a:xfrm>
            <a:off x="267374" y="3045250"/>
            <a:ext cx="1392324" cy="1520392"/>
            <a:chOff x="211654" y="4659673"/>
            <a:chExt cx="1392324" cy="1520392"/>
          </a:xfrm>
        </p:grpSpPr>
        <p:cxnSp>
          <p:nvCxnSpPr>
            <p:cNvPr id="64" name="Straight Connector 63">
              <a:extLst>
                <a:ext uri="{FF2B5EF4-FFF2-40B4-BE49-F238E27FC236}">
                  <a16:creationId xmlns:a16="http://schemas.microsoft.com/office/drawing/2014/main" id="{E896C286-AE92-334C-9816-BE40E2C31D5E}"/>
                </a:ext>
              </a:extLst>
            </p:cNvPr>
            <p:cNvCxnSpPr>
              <a:cxnSpLocks/>
            </p:cNvCxnSpPr>
            <p:nvPr/>
          </p:nvCxnSpPr>
          <p:spPr>
            <a:xfrm>
              <a:off x="405644" y="5910065"/>
              <a:ext cx="116559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5" name="Oval 64">
              <a:extLst>
                <a:ext uri="{FF2B5EF4-FFF2-40B4-BE49-F238E27FC236}">
                  <a16:creationId xmlns:a16="http://schemas.microsoft.com/office/drawing/2014/main" id="{8C6D3A3D-1D66-7A43-A76D-842C5D0B77D9}"/>
                </a:ext>
              </a:extLst>
            </p:cNvPr>
            <p:cNvSpPr/>
            <p:nvPr/>
          </p:nvSpPr>
          <p:spPr>
            <a:xfrm>
              <a:off x="902188" y="4966664"/>
              <a:ext cx="180000" cy="180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cxnSp>
          <p:nvCxnSpPr>
            <p:cNvPr id="66" name="Straight Connector 65">
              <a:extLst>
                <a:ext uri="{FF2B5EF4-FFF2-40B4-BE49-F238E27FC236}">
                  <a16:creationId xmlns:a16="http://schemas.microsoft.com/office/drawing/2014/main" id="{4F1A04B3-A893-F94B-941C-78A6DF974429}"/>
                </a:ext>
              </a:extLst>
            </p:cNvPr>
            <p:cNvCxnSpPr>
              <a:cxnSpLocks/>
              <a:stCxn id="65" idx="4"/>
            </p:cNvCxnSpPr>
            <p:nvPr/>
          </p:nvCxnSpPr>
          <p:spPr>
            <a:xfrm>
              <a:off x="992188" y="5146664"/>
              <a:ext cx="0" cy="57572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0AF870B9-C903-2C48-B7F2-3AF4DF5EEC64}"/>
                </a:ext>
              </a:extLst>
            </p:cNvPr>
            <p:cNvCxnSpPr>
              <a:cxnSpLocks/>
            </p:cNvCxnSpPr>
            <p:nvPr/>
          </p:nvCxnSpPr>
          <p:spPr>
            <a:xfrm>
              <a:off x="438388" y="5065285"/>
              <a:ext cx="116559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8" name="Rectangle 67">
                  <a:extLst>
                    <a:ext uri="{FF2B5EF4-FFF2-40B4-BE49-F238E27FC236}">
                      <a16:creationId xmlns:a16="http://schemas.microsoft.com/office/drawing/2014/main" id="{FCF017B6-4B4B-9648-87A7-1E0F029EAF36}"/>
                    </a:ext>
                  </a:extLst>
                </p:cNvPr>
                <p:cNvSpPr/>
                <p:nvPr/>
              </p:nvSpPr>
              <p:spPr>
                <a:xfrm>
                  <a:off x="211654" y="5481147"/>
                  <a:ext cx="382925"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𝑡</m:t>
                        </m:r>
                      </m:oMath>
                    </m:oMathPara>
                  </a14:m>
                  <a:endParaRPr lang="en-US" sz="2400" dirty="0"/>
                </a:p>
              </p:txBody>
            </p:sp>
          </mc:Choice>
          <mc:Fallback xmlns="">
            <p:sp>
              <p:nvSpPr>
                <p:cNvPr id="68" name="Rectangle 67">
                  <a:extLst>
                    <a:ext uri="{FF2B5EF4-FFF2-40B4-BE49-F238E27FC236}">
                      <a16:creationId xmlns:a16="http://schemas.microsoft.com/office/drawing/2014/main" id="{FCF017B6-4B4B-9648-87A7-1E0F029EAF36}"/>
                    </a:ext>
                  </a:extLst>
                </p:cNvPr>
                <p:cNvSpPr>
                  <a:spLocks noRot="1" noChangeAspect="1" noMove="1" noResize="1" noEditPoints="1" noAdjustHandles="1" noChangeArrowheads="1" noChangeShapeType="1" noTextEdit="1"/>
                </p:cNvSpPr>
                <p:nvPr/>
              </p:nvSpPr>
              <p:spPr>
                <a:xfrm>
                  <a:off x="211654" y="5481147"/>
                  <a:ext cx="382925" cy="461665"/>
                </a:xfrm>
                <a:prstGeom prst="rect">
                  <a:avLst/>
                </a:prstGeom>
                <a:blipFill>
                  <a:blip r:embed="rId9"/>
                  <a:stretch>
                    <a:fillRect/>
                  </a:stretch>
                </a:blipFill>
              </p:spPr>
              <p:txBody>
                <a:bodyPr/>
                <a:lstStyle/>
                <a:p>
                  <a:r>
                    <a:rPr lang="en-US">
                      <a:noFill/>
                    </a:rPr>
                    <a:t> </a:t>
                  </a:r>
                </a:p>
              </p:txBody>
            </p:sp>
          </mc:Fallback>
        </mc:AlternateContent>
        <p:sp>
          <p:nvSpPr>
            <p:cNvPr id="69" name="Rectangle 68">
              <a:extLst>
                <a:ext uri="{FF2B5EF4-FFF2-40B4-BE49-F238E27FC236}">
                  <a16:creationId xmlns:a16="http://schemas.microsoft.com/office/drawing/2014/main" id="{845A1CFF-A97B-1B41-96A1-2822DE8B4266}"/>
                </a:ext>
              </a:extLst>
            </p:cNvPr>
            <p:cNvSpPr>
              <a:spLocks/>
            </p:cNvSpPr>
            <p:nvPr/>
          </p:nvSpPr>
          <p:spPr>
            <a:xfrm>
              <a:off x="718439" y="5640065"/>
              <a:ext cx="540000" cy="540000"/>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Times" pitchFamily="2" charset="0"/>
                </a:rPr>
                <a:t>Y</a:t>
              </a:r>
            </a:p>
          </p:txBody>
        </p:sp>
        <mc:AlternateContent xmlns:mc="http://schemas.openxmlformats.org/markup-compatibility/2006" xmlns:a14="http://schemas.microsoft.com/office/drawing/2010/main">
          <mc:Choice Requires="a14">
            <p:sp>
              <p:nvSpPr>
                <p:cNvPr id="70" name="Rectangle 69">
                  <a:extLst>
                    <a:ext uri="{FF2B5EF4-FFF2-40B4-BE49-F238E27FC236}">
                      <a16:creationId xmlns:a16="http://schemas.microsoft.com/office/drawing/2014/main" id="{C6F87BC6-CA1C-E54A-BDF7-6641E4E3514A}"/>
                    </a:ext>
                  </a:extLst>
                </p:cNvPr>
                <p:cNvSpPr/>
                <p:nvPr/>
              </p:nvSpPr>
              <p:spPr>
                <a:xfrm>
                  <a:off x="237304" y="4659673"/>
                  <a:ext cx="404405"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𝑐</m:t>
                        </m:r>
                      </m:oMath>
                    </m:oMathPara>
                  </a14:m>
                  <a:endParaRPr lang="en-US" sz="2400" dirty="0"/>
                </a:p>
              </p:txBody>
            </p:sp>
          </mc:Choice>
          <mc:Fallback xmlns="">
            <p:sp>
              <p:nvSpPr>
                <p:cNvPr id="70" name="Rectangle 69">
                  <a:extLst>
                    <a:ext uri="{FF2B5EF4-FFF2-40B4-BE49-F238E27FC236}">
                      <a16:creationId xmlns:a16="http://schemas.microsoft.com/office/drawing/2014/main" id="{C6F87BC6-CA1C-E54A-BDF7-6641E4E3514A}"/>
                    </a:ext>
                  </a:extLst>
                </p:cNvPr>
                <p:cNvSpPr>
                  <a:spLocks noRot="1" noChangeAspect="1" noMove="1" noResize="1" noEditPoints="1" noAdjustHandles="1" noChangeArrowheads="1" noChangeShapeType="1" noTextEdit="1"/>
                </p:cNvSpPr>
                <p:nvPr/>
              </p:nvSpPr>
              <p:spPr>
                <a:xfrm>
                  <a:off x="237304" y="4659673"/>
                  <a:ext cx="404405" cy="461665"/>
                </a:xfrm>
                <a:prstGeom prst="rect">
                  <a:avLst/>
                </a:prstGeom>
                <a:blipFill>
                  <a:blip r:embed="rId10"/>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78" name="Rectangle 77">
                <a:extLst>
                  <a:ext uri="{FF2B5EF4-FFF2-40B4-BE49-F238E27FC236}">
                    <a16:creationId xmlns:a16="http://schemas.microsoft.com/office/drawing/2014/main" id="{CEF44876-7500-544F-9576-3D7D139D5BF9}"/>
                  </a:ext>
                </a:extLst>
              </p:cNvPr>
              <p:cNvSpPr/>
              <p:nvPr/>
            </p:nvSpPr>
            <p:spPr>
              <a:xfrm>
                <a:off x="296834" y="1329134"/>
                <a:ext cx="404405"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𝑐</m:t>
                      </m:r>
                    </m:oMath>
                  </m:oMathPara>
                </a14:m>
                <a:endParaRPr lang="en-US" sz="2400" dirty="0"/>
              </a:p>
            </p:txBody>
          </p:sp>
        </mc:Choice>
        <mc:Fallback xmlns="">
          <p:sp>
            <p:nvSpPr>
              <p:cNvPr id="78" name="Rectangle 77">
                <a:extLst>
                  <a:ext uri="{FF2B5EF4-FFF2-40B4-BE49-F238E27FC236}">
                    <a16:creationId xmlns:a16="http://schemas.microsoft.com/office/drawing/2014/main" id="{CEF44876-7500-544F-9576-3D7D139D5BF9}"/>
                  </a:ext>
                </a:extLst>
              </p:cNvPr>
              <p:cNvSpPr>
                <a:spLocks noRot="1" noChangeAspect="1" noMove="1" noResize="1" noEditPoints="1" noAdjustHandles="1" noChangeArrowheads="1" noChangeShapeType="1" noTextEdit="1"/>
              </p:cNvSpPr>
              <p:nvPr/>
            </p:nvSpPr>
            <p:spPr>
              <a:xfrm>
                <a:off x="296834" y="1329134"/>
                <a:ext cx="404405" cy="461665"/>
              </a:xfrm>
              <a:prstGeom prst="rect">
                <a:avLst/>
              </a:prstGeom>
              <a:blipFill>
                <a:blip r:embed="rId11"/>
                <a:stretch>
                  <a:fillRect/>
                </a:stretch>
              </a:blipFill>
            </p:spPr>
            <p:txBody>
              <a:bodyPr/>
              <a:lstStyle/>
              <a:p>
                <a:r>
                  <a:rPr lang="en-US">
                    <a:noFill/>
                  </a:rPr>
                  <a:t> </a:t>
                </a:r>
              </a:p>
            </p:txBody>
          </p:sp>
        </mc:Fallback>
      </mc:AlternateContent>
      <p:grpSp>
        <p:nvGrpSpPr>
          <p:cNvPr id="13" name="Group 12">
            <a:extLst>
              <a:ext uri="{FF2B5EF4-FFF2-40B4-BE49-F238E27FC236}">
                <a16:creationId xmlns:a16="http://schemas.microsoft.com/office/drawing/2014/main" id="{71EDF2AE-9E69-3B43-B545-AB439181CABE}"/>
              </a:ext>
            </a:extLst>
          </p:cNvPr>
          <p:cNvGrpSpPr/>
          <p:nvPr/>
        </p:nvGrpSpPr>
        <p:grpSpPr>
          <a:xfrm>
            <a:off x="1933677" y="1352868"/>
            <a:ext cx="3103735" cy="1604724"/>
            <a:chOff x="1933677" y="1352868"/>
            <a:chExt cx="3103735" cy="1604724"/>
          </a:xfrm>
        </p:grpSpPr>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22A0A7C2-F961-F247-B2DA-3A5536130BAE}"/>
                    </a:ext>
                  </a:extLst>
                </p:cNvPr>
                <p:cNvSpPr txBox="1"/>
                <p:nvPr/>
              </p:nvSpPr>
              <p:spPr>
                <a:xfrm>
                  <a:off x="1933677" y="1352868"/>
                  <a:ext cx="3103735"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sr-Latn-RS" sz="2000" b="0" i="1" smtClean="0">
                            <a:latin typeface="Cambria Math" panose="02040503050406030204" pitchFamily="18" charset="0"/>
                          </a:rPr>
                          <m:t>𝑐𝑋</m:t>
                        </m:r>
                        <m:r>
                          <a:rPr lang="sr-Latn-RS" sz="2000" b="0" i="1" smtClean="0">
                            <a:latin typeface="Cambria Math" panose="02040503050406030204" pitchFamily="18" charset="0"/>
                          </a:rPr>
                          <m:t>=</m:t>
                        </m:r>
                        <m:d>
                          <m:dPr>
                            <m:begChr m:val="|"/>
                            <m:endChr m:val="⟩"/>
                            <m:ctrlPr>
                              <a:rPr lang="en-ZA" sz="2000" i="1">
                                <a:latin typeface="Cambria Math" panose="02040503050406030204" pitchFamily="18" charset="0"/>
                              </a:rPr>
                            </m:ctrlPr>
                          </m:dPr>
                          <m:e>
                            <m:r>
                              <a:rPr lang="en-US" sz="2000" b="0" i="1">
                                <a:latin typeface="Cambria Math" panose="02040503050406030204" pitchFamily="18" charset="0"/>
                              </a:rPr>
                              <m:t>0</m:t>
                            </m:r>
                          </m:e>
                        </m:d>
                        <m:box>
                          <m:boxPr>
                            <m:ctrlPr>
                              <a:rPr lang="en-ZA" sz="2000" i="1">
                                <a:latin typeface="Cambria Math" panose="02040503050406030204" pitchFamily="18" charset="0"/>
                              </a:rPr>
                            </m:ctrlPr>
                          </m:boxPr>
                          <m:e>
                            <m:d>
                              <m:dPr>
                                <m:begChr m:val="⟨"/>
                                <m:endChr m:val="|"/>
                                <m:ctrlPr>
                                  <a:rPr lang="en-ZA" sz="2000" i="1">
                                    <a:latin typeface="Cambria Math" panose="02040503050406030204" pitchFamily="18" charset="0"/>
                                  </a:rPr>
                                </m:ctrlPr>
                              </m:dPr>
                              <m:e>
                                <m:r>
                                  <a:rPr lang="en-US" sz="2000" b="0" i="1">
                                    <a:latin typeface="Cambria Math" panose="02040503050406030204" pitchFamily="18" charset="0"/>
                                  </a:rPr>
                                  <m:t>0</m:t>
                                </m:r>
                              </m:e>
                            </m:d>
                            <m:r>
                              <a:rPr lang="en-US" sz="2000" b="0" i="1">
                                <a:latin typeface="Cambria Math" panose="02040503050406030204" pitchFamily="18" charset="0"/>
                              </a:rPr>
                              <m:t>⨂</m:t>
                            </m:r>
                            <m:r>
                              <a:rPr lang="sr-Latn-RS" sz="2000" b="0" i="1">
                                <a:latin typeface="Cambria Math" panose="02040503050406030204" pitchFamily="18" charset="0"/>
                              </a:rPr>
                              <m:t>𝐼</m:t>
                            </m:r>
                            <m:r>
                              <a:rPr lang="en-US" sz="2000" b="0" i="1">
                                <a:latin typeface="Cambria Math" panose="02040503050406030204" pitchFamily="18" charset="0"/>
                              </a:rPr>
                              <m:t>+</m:t>
                            </m:r>
                          </m:e>
                        </m:box>
                        <m:d>
                          <m:dPr>
                            <m:begChr m:val="|"/>
                            <m:endChr m:val="⟩"/>
                            <m:ctrlPr>
                              <a:rPr lang="en-ZA" sz="2000" i="1">
                                <a:latin typeface="Cambria Math" panose="02040503050406030204" pitchFamily="18" charset="0"/>
                              </a:rPr>
                            </m:ctrlPr>
                          </m:dPr>
                          <m:e>
                            <m:r>
                              <a:rPr lang="en-US" sz="2000" b="0" i="1">
                                <a:latin typeface="Cambria Math" panose="02040503050406030204" pitchFamily="18" charset="0"/>
                              </a:rPr>
                              <m:t>1</m:t>
                            </m:r>
                          </m:e>
                        </m:d>
                        <m:box>
                          <m:boxPr>
                            <m:ctrlPr>
                              <a:rPr lang="en-ZA" sz="2000" i="1">
                                <a:latin typeface="Cambria Math" panose="02040503050406030204" pitchFamily="18" charset="0"/>
                              </a:rPr>
                            </m:ctrlPr>
                          </m:boxPr>
                          <m:e>
                            <m:d>
                              <m:dPr>
                                <m:begChr m:val="⟨"/>
                                <m:endChr m:val="|"/>
                                <m:ctrlPr>
                                  <a:rPr lang="en-ZA" sz="2000" i="1">
                                    <a:latin typeface="Cambria Math" panose="02040503050406030204" pitchFamily="18" charset="0"/>
                                  </a:rPr>
                                </m:ctrlPr>
                              </m:dPr>
                              <m:e>
                                <m:r>
                                  <a:rPr lang="en-US" sz="2000" b="0" i="1">
                                    <a:latin typeface="Cambria Math" panose="02040503050406030204" pitchFamily="18" charset="0"/>
                                  </a:rPr>
                                  <m:t>1</m:t>
                                </m:r>
                              </m:e>
                            </m:d>
                            <m:r>
                              <a:rPr lang="en-US" sz="2000" b="0" i="1">
                                <a:latin typeface="Cambria Math" panose="02040503050406030204" pitchFamily="18" charset="0"/>
                              </a:rPr>
                              <m:t>⨂</m:t>
                            </m:r>
                          </m:e>
                        </m:box>
                        <m:r>
                          <a:rPr lang="en-US" sz="2000" b="0" i="1">
                            <a:latin typeface="Cambria Math" panose="02040503050406030204" pitchFamily="18" charset="0"/>
                          </a:rPr>
                          <m:t>𝑋</m:t>
                        </m:r>
                      </m:oMath>
                    </m:oMathPara>
                  </a14:m>
                  <a:endParaRPr lang="en-US" sz="2000" dirty="0"/>
                </a:p>
              </p:txBody>
            </p:sp>
          </mc:Choice>
          <mc:Fallback xmlns="">
            <p:sp>
              <p:nvSpPr>
                <p:cNvPr id="11" name="TextBox 10">
                  <a:extLst>
                    <a:ext uri="{FF2B5EF4-FFF2-40B4-BE49-F238E27FC236}">
                      <a16:creationId xmlns:a16="http://schemas.microsoft.com/office/drawing/2014/main" id="{22A0A7C2-F961-F247-B2DA-3A5536130BAE}"/>
                    </a:ext>
                  </a:extLst>
                </p:cNvPr>
                <p:cNvSpPr txBox="1">
                  <a:spLocks noRot="1" noChangeAspect="1" noMove="1" noResize="1" noEditPoints="1" noAdjustHandles="1" noChangeArrowheads="1" noChangeShapeType="1" noTextEdit="1"/>
                </p:cNvSpPr>
                <p:nvPr/>
              </p:nvSpPr>
              <p:spPr>
                <a:xfrm>
                  <a:off x="1933677" y="1352868"/>
                  <a:ext cx="3103735" cy="400110"/>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F13AB44F-9747-F74E-9594-16A5A4547E2A}"/>
                    </a:ext>
                  </a:extLst>
                </p:cNvPr>
                <p:cNvSpPr/>
                <p:nvPr/>
              </p:nvSpPr>
              <p:spPr>
                <a:xfrm>
                  <a:off x="2506174" y="1715585"/>
                  <a:ext cx="1958741" cy="124200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ctrlPr>
                              <a:rPr lang="en-US" sz="2000" i="1">
                                <a:latin typeface="Cambria Math" panose="02040503050406030204" pitchFamily="18" charset="0"/>
                              </a:rPr>
                            </m:ctrlPr>
                          </m:dPr>
                          <m:e>
                            <m:m>
                              <m:mPr>
                                <m:mcs>
                                  <m:mc>
                                    <m:mcPr>
                                      <m:count m:val="4"/>
                                      <m:mcJc m:val="center"/>
                                    </m:mcPr>
                                  </m:mc>
                                </m:mcs>
                                <m:ctrlPr>
                                  <a:rPr lang="en-US" sz="2000" i="1">
                                    <a:latin typeface="Cambria Math" panose="02040503050406030204" pitchFamily="18" charset="0"/>
                                  </a:rPr>
                                </m:ctrlPr>
                              </m:mPr>
                              <m:mr>
                                <m:e>
                                  <m:r>
                                    <m:rPr>
                                      <m:brk m:alnAt="7"/>
                                    </m:rPr>
                                    <a:rPr lang="en-US" sz="2000" i="1">
                                      <a:latin typeface="Cambria Math" panose="02040503050406030204" pitchFamily="18" charset="0"/>
                                    </a:rPr>
                                    <m:t>1</m:t>
                                  </m:r>
                                </m:e>
                                <m:e>
                                  <m:r>
                                    <a:rPr lang="en-US" sz="2000" i="1">
                                      <a:latin typeface="Cambria Math" panose="02040503050406030204" pitchFamily="18" charset="0"/>
                                    </a:rPr>
                                    <m:t>0</m:t>
                                  </m:r>
                                </m:e>
                                <m:e>
                                  <m:r>
                                    <a:rPr lang="en-US" sz="2000" i="1">
                                      <a:latin typeface="Cambria Math" panose="02040503050406030204" pitchFamily="18" charset="0"/>
                                    </a:rPr>
                                    <m:t>0</m:t>
                                  </m:r>
                                </m:e>
                                <m:e>
                                  <m:r>
                                    <a:rPr lang="en-US" sz="2000" i="1">
                                      <a:latin typeface="Cambria Math" panose="02040503050406030204" pitchFamily="18" charset="0"/>
                                    </a:rPr>
                                    <m:t>0</m:t>
                                  </m:r>
                                </m:e>
                              </m:mr>
                              <m:mr>
                                <m:e>
                                  <m:r>
                                    <a:rPr lang="en-US" sz="2000" i="1">
                                      <a:latin typeface="Cambria Math" panose="02040503050406030204" pitchFamily="18" charset="0"/>
                                    </a:rPr>
                                    <m:t>0</m:t>
                                  </m:r>
                                </m:e>
                                <m:e>
                                  <m:r>
                                    <a:rPr lang="en-US" sz="2000" i="1">
                                      <a:latin typeface="Cambria Math" panose="02040503050406030204" pitchFamily="18" charset="0"/>
                                    </a:rPr>
                                    <m:t>1</m:t>
                                  </m:r>
                                </m:e>
                                <m:e>
                                  <m:r>
                                    <a:rPr lang="en-US" sz="2000" i="1">
                                      <a:latin typeface="Cambria Math" panose="02040503050406030204" pitchFamily="18" charset="0"/>
                                    </a:rPr>
                                    <m:t>0</m:t>
                                  </m:r>
                                </m:e>
                                <m:e>
                                  <m:r>
                                    <a:rPr lang="en-US" sz="2000" i="1">
                                      <a:latin typeface="Cambria Math" panose="02040503050406030204" pitchFamily="18" charset="0"/>
                                    </a:rPr>
                                    <m:t>0</m:t>
                                  </m:r>
                                </m:e>
                              </m:mr>
                              <m:mr>
                                <m:e>
                                  <m:r>
                                    <a:rPr lang="en-US" sz="2000" i="1">
                                      <a:latin typeface="Cambria Math" panose="02040503050406030204" pitchFamily="18" charset="0"/>
                                    </a:rPr>
                                    <m:t>0</m:t>
                                  </m:r>
                                </m:e>
                                <m:e>
                                  <m:r>
                                    <a:rPr lang="en-US" sz="2000" i="1">
                                      <a:latin typeface="Cambria Math" panose="02040503050406030204" pitchFamily="18" charset="0"/>
                                    </a:rPr>
                                    <m:t>0</m:t>
                                  </m:r>
                                </m:e>
                                <m:e>
                                  <m:r>
                                    <a:rPr lang="en-US" sz="2000" i="1">
                                      <a:latin typeface="Cambria Math" panose="02040503050406030204" pitchFamily="18" charset="0"/>
                                    </a:rPr>
                                    <m:t>0</m:t>
                                  </m:r>
                                </m:e>
                                <m:e>
                                  <m:r>
                                    <a:rPr lang="en-US" sz="2000" i="1">
                                      <a:latin typeface="Cambria Math" panose="02040503050406030204" pitchFamily="18" charset="0"/>
                                    </a:rPr>
                                    <m:t>1</m:t>
                                  </m:r>
                                </m:e>
                              </m:mr>
                              <m:mr>
                                <m:e>
                                  <m:r>
                                    <a:rPr lang="en-US" sz="2000" i="1">
                                      <a:latin typeface="Cambria Math" panose="02040503050406030204" pitchFamily="18" charset="0"/>
                                    </a:rPr>
                                    <m:t>0</m:t>
                                  </m:r>
                                </m:e>
                                <m:e>
                                  <m:r>
                                    <a:rPr lang="en-US" sz="2000" i="1">
                                      <a:latin typeface="Cambria Math" panose="02040503050406030204" pitchFamily="18" charset="0"/>
                                    </a:rPr>
                                    <m:t>0</m:t>
                                  </m:r>
                                </m:e>
                                <m:e>
                                  <m:r>
                                    <a:rPr lang="en-US" sz="2000" i="1">
                                      <a:latin typeface="Cambria Math" panose="02040503050406030204" pitchFamily="18" charset="0"/>
                                    </a:rPr>
                                    <m:t>1</m:t>
                                  </m:r>
                                </m:e>
                                <m:e>
                                  <m:r>
                                    <a:rPr lang="en-US" sz="2000" i="1">
                                      <a:latin typeface="Cambria Math" panose="02040503050406030204" pitchFamily="18" charset="0"/>
                                    </a:rPr>
                                    <m:t>0</m:t>
                                  </m:r>
                                </m:e>
                              </m:mr>
                            </m:m>
                          </m:e>
                        </m:d>
                      </m:oMath>
                    </m:oMathPara>
                  </a14:m>
                  <a:endParaRPr lang="en-US" sz="2000" dirty="0"/>
                </a:p>
              </p:txBody>
            </p:sp>
          </mc:Choice>
          <mc:Fallback xmlns="">
            <p:sp>
              <p:nvSpPr>
                <p:cNvPr id="12" name="Rectangle 11">
                  <a:extLst>
                    <a:ext uri="{FF2B5EF4-FFF2-40B4-BE49-F238E27FC236}">
                      <a16:creationId xmlns:a16="http://schemas.microsoft.com/office/drawing/2014/main" id="{F13AB44F-9747-F74E-9594-16A5A4547E2A}"/>
                    </a:ext>
                  </a:extLst>
                </p:cNvPr>
                <p:cNvSpPr>
                  <a:spLocks noRot="1" noChangeAspect="1" noMove="1" noResize="1" noEditPoints="1" noAdjustHandles="1" noChangeArrowheads="1" noChangeShapeType="1" noTextEdit="1"/>
                </p:cNvSpPr>
                <p:nvPr/>
              </p:nvSpPr>
              <p:spPr>
                <a:xfrm>
                  <a:off x="2506174" y="1715585"/>
                  <a:ext cx="1958741" cy="1242007"/>
                </a:xfrm>
                <a:prstGeom prst="rect">
                  <a:avLst/>
                </a:prstGeom>
                <a:blipFill>
                  <a:blip r:embed="rId13"/>
                  <a:stretch>
                    <a:fillRect b="-1010"/>
                  </a:stretch>
                </a:blipFill>
              </p:spPr>
              <p:txBody>
                <a:bodyPr/>
                <a:lstStyle/>
                <a:p>
                  <a:r>
                    <a:rPr lang="en-US">
                      <a:noFill/>
                    </a:rPr>
                    <a:t> </a:t>
                  </a:r>
                </a:p>
              </p:txBody>
            </p:sp>
          </mc:Fallback>
        </mc:AlternateContent>
      </p:grpSp>
      <p:grpSp>
        <p:nvGrpSpPr>
          <p:cNvPr id="20" name="Group 19">
            <a:extLst>
              <a:ext uri="{FF2B5EF4-FFF2-40B4-BE49-F238E27FC236}">
                <a16:creationId xmlns:a16="http://schemas.microsoft.com/office/drawing/2014/main" id="{9E6F313A-75C6-0141-A143-7234F4750279}"/>
              </a:ext>
            </a:extLst>
          </p:cNvPr>
          <p:cNvGrpSpPr/>
          <p:nvPr/>
        </p:nvGrpSpPr>
        <p:grpSpPr>
          <a:xfrm>
            <a:off x="259198" y="1696058"/>
            <a:ext cx="1392324" cy="1190516"/>
            <a:chOff x="362208" y="1512793"/>
            <a:chExt cx="1392324" cy="1190516"/>
          </a:xfrm>
        </p:grpSpPr>
        <p:cxnSp>
          <p:nvCxnSpPr>
            <p:cNvPr id="72" name="Straight Connector 71">
              <a:extLst>
                <a:ext uri="{FF2B5EF4-FFF2-40B4-BE49-F238E27FC236}">
                  <a16:creationId xmlns:a16="http://schemas.microsoft.com/office/drawing/2014/main" id="{7760B8C7-66E3-3846-862C-9193D87E6C21}"/>
                </a:ext>
              </a:extLst>
            </p:cNvPr>
            <p:cNvCxnSpPr>
              <a:cxnSpLocks/>
            </p:cNvCxnSpPr>
            <p:nvPr/>
          </p:nvCxnSpPr>
          <p:spPr>
            <a:xfrm>
              <a:off x="556198" y="2456194"/>
              <a:ext cx="116559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73" name="Oval 72">
              <a:extLst>
                <a:ext uri="{FF2B5EF4-FFF2-40B4-BE49-F238E27FC236}">
                  <a16:creationId xmlns:a16="http://schemas.microsoft.com/office/drawing/2014/main" id="{D9569D84-2897-C04D-9939-11A5A38EC7BE}"/>
                </a:ext>
              </a:extLst>
            </p:cNvPr>
            <p:cNvSpPr/>
            <p:nvPr/>
          </p:nvSpPr>
          <p:spPr>
            <a:xfrm>
              <a:off x="1052742" y="1512793"/>
              <a:ext cx="180000" cy="180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cxnSp>
          <p:nvCxnSpPr>
            <p:cNvPr id="74" name="Straight Connector 73">
              <a:extLst>
                <a:ext uri="{FF2B5EF4-FFF2-40B4-BE49-F238E27FC236}">
                  <a16:creationId xmlns:a16="http://schemas.microsoft.com/office/drawing/2014/main" id="{6DA46F2C-BEB8-8942-BD07-8A23EB2D3FBC}"/>
                </a:ext>
              </a:extLst>
            </p:cNvPr>
            <p:cNvCxnSpPr>
              <a:cxnSpLocks/>
              <a:stCxn id="73" idx="4"/>
            </p:cNvCxnSpPr>
            <p:nvPr/>
          </p:nvCxnSpPr>
          <p:spPr>
            <a:xfrm>
              <a:off x="1142742" y="1692793"/>
              <a:ext cx="0" cy="57572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5C347228-9D08-5441-B41A-64DF8CA680BE}"/>
                </a:ext>
              </a:extLst>
            </p:cNvPr>
            <p:cNvCxnSpPr>
              <a:cxnSpLocks/>
            </p:cNvCxnSpPr>
            <p:nvPr/>
          </p:nvCxnSpPr>
          <p:spPr>
            <a:xfrm>
              <a:off x="588942" y="1611414"/>
              <a:ext cx="116559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6" name="Rectangle 75">
                  <a:extLst>
                    <a:ext uri="{FF2B5EF4-FFF2-40B4-BE49-F238E27FC236}">
                      <a16:creationId xmlns:a16="http://schemas.microsoft.com/office/drawing/2014/main" id="{8AD58469-9B38-214F-ACE1-59FC8714C168}"/>
                    </a:ext>
                  </a:extLst>
                </p:cNvPr>
                <p:cNvSpPr/>
                <p:nvPr/>
              </p:nvSpPr>
              <p:spPr>
                <a:xfrm>
                  <a:off x="362208" y="2027276"/>
                  <a:ext cx="382925"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𝑡</m:t>
                        </m:r>
                      </m:oMath>
                    </m:oMathPara>
                  </a14:m>
                  <a:endParaRPr lang="en-US" sz="2400" dirty="0"/>
                </a:p>
              </p:txBody>
            </p:sp>
          </mc:Choice>
          <mc:Fallback xmlns="">
            <p:sp>
              <p:nvSpPr>
                <p:cNvPr id="76" name="Rectangle 75">
                  <a:extLst>
                    <a:ext uri="{FF2B5EF4-FFF2-40B4-BE49-F238E27FC236}">
                      <a16:creationId xmlns:a16="http://schemas.microsoft.com/office/drawing/2014/main" id="{8AD58469-9B38-214F-ACE1-59FC8714C168}"/>
                    </a:ext>
                  </a:extLst>
                </p:cNvPr>
                <p:cNvSpPr>
                  <a:spLocks noRot="1" noChangeAspect="1" noMove="1" noResize="1" noEditPoints="1" noAdjustHandles="1" noChangeArrowheads="1" noChangeShapeType="1" noTextEdit="1"/>
                </p:cNvSpPr>
                <p:nvPr/>
              </p:nvSpPr>
              <p:spPr>
                <a:xfrm>
                  <a:off x="362208" y="2027276"/>
                  <a:ext cx="382925" cy="461665"/>
                </a:xfrm>
                <a:prstGeom prst="rect">
                  <a:avLst/>
                </a:prstGeom>
                <a:blipFill>
                  <a:blip r:embed="rId14"/>
                  <a:stretch>
                    <a:fillRect/>
                  </a:stretch>
                </a:blipFill>
              </p:spPr>
              <p:txBody>
                <a:bodyPr/>
                <a:lstStyle/>
                <a:p>
                  <a:r>
                    <a:rPr lang="en-US">
                      <a:noFill/>
                    </a:rPr>
                    <a:t> </a:t>
                  </a:r>
                </a:p>
              </p:txBody>
            </p:sp>
          </mc:Fallback>
        </mc:AlternateContent>
        <p:sp>
          <p:nvSpPr>
            <p:cNvPr id="62" name="Oval 61">
              <a:extLst>
                <a:ext uri="{FF2B5EF4-FFF2-40B4-BE49-F238E27FC236}">
                  <a16:creationId xmlns:a16="http://schemas.microsoft.com/office/drawing/2014/main" id="{D3225E68-64E0-5648-9F55-B0659D6BD51D}"/>
                </a:ext>
              </a:extLst>
            </p:cNvPr>
            <p:cNvSpPr>
              <a:spLocks noChangeAspect="1"/>
            </p:cNvSpPr>
            <p:nvPr/>
          </p:nvSpPr>
          <p:spPr>
            <a:xfrm>
              <a:off x="857298" y="2163309"/>
              <a:ext cx="540000" cy="54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grpSp>
      <p:sp>
        <p:nvSpPr>
          <p:cNvPr id="82" name="TextBox 81">
            <a:extLst>
              <a:ext uri="{FF2B5EF4-FFF2-40B4-BE49-F238E27FC236}">
                <a16:creationId xmlns:a16="http://schemas.microsoft.com/office/drawing/2014/main" id="{A587D970-5FC5-3F48-9C51-66F3D8053DA7}"/>
              </a:ext>
            </a:extLst>
          </p:cNvPr>
          <p:cNvSpPr txBox="1"/>
          <p:nvPr/>
        </p:nvSpPr>
        <p:spPr>
          <a:xfrm>
            <a:off x="5463867" y="1716751"/>
            <a:ext cx="3313814" cy="1015663"/>
          </a:xfrm>
          <a:prstGeom prst="rect">
            <a:avLst/>
          </a:prstGeom>
          <a:noFill/>
        </p:spPr>
        <p:txBody>
          <a:bodyPr wrap="square" rtlCol="0">
            <a:spAutoFit/>
          </a:bodyPr>
          <a:lstStyle/>
          <a:p>
            <a:pPr algn="just"/>
            <a:r>
              <a:rPr lang="en-ZA" sz="2000" dirty="0">
                <a:latin typeface="+mj-lt"/>
              </a:rPr>
              <a:t>CX applies the X gate to the target qubit (t) when the control qubit (c) is ∣1⟩. </a:t>
            </a:r>
            <a:endParaRPr lang="en-US" sz="2000" dirty="0">
              <a:latin typeface="+mj-lt"/>
            </a:endParaRPr>
          </a:p>
        </p:txBody>
      </p:sp>
      <p:cxnSp>
        <p:nvCxnSpPr>
          <p:cNvPr id="83" name="Straight Connector 82">
            <a:extLst>
              <a:ext uri="{FF2B5EF4-FFF2-40B4-BE49-F238E27FC236}">
                <a16:creationId xmlns:a16="http://schemas.microsoft.com/office/drawing/2014/main" id="{7228116C-041D-804C-8E82-FDD488443204}"/>
              </a:ext>
            </a:extLst>
          </p:cNvPr>
          <p:cNvCxnSpPr>
            <a:cxnSpLocks/>
          </p:cNvCxnSpPr>
          <p:nvPr/>
        </p:nvCxnSpPr>
        <p:spPr>
          <a:xfrm>
            <a:off x="256171" y="1335970"/>
            <a:ext cx="11679658" cy="0"/>
          </a:xfrm>
          <a:prstGeom prst="line">
            <a:avLst/>
          </a:prstGeom>
        </p:spPr>
        <p:style>
          <a:lnRef idx="1">
            <a:schemeClr val="accent1"/>
          </a:lnRef>
          <a:fillRef idx="0">
            <a:schemeClr val="accent1"/>
          </a:fillRef>
          <a:effectRef idx="0">
            <a:schemeClr val="accent1"/>
          </a:effectRef>
          <a:fontRef idx="minor">
            <a:schemeClr val="tx1"/>
          </a:fontRef>
        </p:style>
      </p:cxnSp>
      <p:sp>
        <p:nvSpPr>
          <p:cNvPr id="87" name="Rectangle 86">
            <a:extLst>
              <a:ext uri="{FF2B5EF4-FFF2-40B4-BE49-F238E27FC236}">
                <a16:creationId xmlns:a16="http://schemas.microsoft.com/office/drawing/2014/main" id="{AAA9D22E-B2A8-034A-A729-DDB16C65CD2B}"/>
              </a:ext>
            </a:extLst>
          </p:cNvPr>
          <p:cNvSpPr/>
          <p:nvPr/>
        </p:nvSpPr>
        <p:spPr>
          <a:xfrm>
            <a:off x="9169795" y="1933086"/>
            <a:ext cx="2747913" cy="400110"/>
          </a:xfrm>
          <a:prstGeom prst="rect">
            <a:avLst/>
          </a:prstGeom>
        </p:spPr>
        <p:txBody>
          <a:bodyPr wrap="square">
            <a:spAutoFit/>
          </a:bodyPr>
          <a:lstStyle/>
          <a:p>
            <a:r>
              <a:rPr lang="en-US" sz="2000" dirty="0">
                <a:latin typeface="AndaleMono" panose="020B0509000000000004" pitchFamily="49" charset="0"/>
              </a:rPr>
              <a:t>cx q[0], q[1]; </a:t>
            </a:r>
            <a:endParaRPr lang="en-US" sz="2000" dirty="0">
              <a:effectLst/>
            </a:endParaRPr>
          </a:p>
        </p:txBody>
      </p:sp>
      <p:sp>
        <p:nvSpPr>
          <p:cNvPr id="55" name="TextBox 54">
            <a:extLst>
              <a:ext uri="{FF2B5EF4-FFF2-40B4-BE49-F238E27FC236}">
                <a16:creationId xmlns:a16="http://schemas.microsoft.com/office/drawing/2014/main" id="{F27BBE07-A260-A149-BDC6-725EC4543459}"/>
              </a:ext>
            </a:extLst>
          </p:cNvPr>
          <p:cNvSpPr txBox="1"/>
          <p:nvPr/>
        </p:nvSpPr>
        <p:spPr>
          <a:xfrm>
            <a:off x="485771" y="874741"/>
            <a:ext cx="1065100" cy="461665"/>
          </a:xfrm>
          <a:prstGeom prst="rect">
            <a:avLst/>
          </a:prstGeom>
          <a:noFill/>
        </p:spPr>
        <p:txBody>
          <a:bodyPr wrap="none" rtlCol="0">
            <a:spAutoFit/>
          </a:bodyPr>
          <a:lstStyle/>
          <a:p>
            <a:r>
              <a:rPr lang="en-US" sz="2400" dirty="0">
                <a:latin typeface="+mj-lt"/>
              </a:rPr>
              <a:t>symbol</a:t>
            </a:r>
          </a:p>
        </p:txBody>
      </p:sp>
      <p:sp>
        <p:nvSpPr>
          <p:cNvPr id="56" name="TextBox 55">
            <a:extLst>
              <a:ext uri="{FF2B5EF4-FFF2-40B4-BE49-F238E27FC236}">
                <a16:creationId xmlns:a16="http://schemas.microsoft.com/office/drawing/2014/main" id="{E835DA48-7D5B-F84C-B614-CB7472F46F1A}"/>
              </a:ext>
            </a:extLst>
          </p:cNvPr>
          <p:cNvSpPr txBox="1"/>
          <p:nvPr/>
        </p:nvSpPr>
        <p:spPr>
          <a:xfrm>
            <a:off x="2851208" y="874741"/>
            <a:ext cx="1262653" cy="461665"/>
          </a:xfrm>
          <a:prstGeom prst="rect">
            <a:avLst/>
          </a:prstGeom>
          <a:noFill/>
        </p:spPr>
        <p:txBody>
          <a:bodyPr wrap="none" rtlCol="0">
            <a:spAutoFit/>
          </a:bodyPr>
          <a:lstStyle/>
          <a:p>
            <a:r>
              <a:rPr lang="en-US" sz="2400" dirty="0">
                <a:latin typeface="+mj-lt"/>
              </a:rPr>
              <a:t>operator</a:t>
            </a:r>
          </a:p>
        </p:txBody>
      </p:sp>
      <p:sp>
        <p:nvSpPr>
          <p:cNvPr id="57" name="TextBox 56">
            <a:extLst>
              <a:ext uri="{FF2B5EF4-FFF2-40B4-BE49-F238E27FC236}">
                <a16:creationId xmlns:a16="http://schemas.microsoft.com/office/drawing/2014/main" id="{44F49341-EF77-1047-B85E-A11742C47585}"/>
              </a:ext>
            </a:extLst>
          </p:cNvPr>
          <p:cNvSpPr txBox="1"/>
          <p:nvPr/>
        </p:nvSpPr>
        <p:spPr>
          <a:xfrm>
            <a:off x="6176900" y="874741"/>
            <a:ext cx="1568186" cy="461665"/>
          </a:xfrm>
          <a:prstGeom prst="rect">
            <a:avLst/>
          </a:prstGeom>
          <a:noFill/>
        </p:spPr>
        <p:txBody>
          <a:bodyPr wrap="none" rtlCol="0">
            <a:spAutoFit/>
          </a:bodyPr>
          <a:lstStyle/>
          <a:p>
            <a:r>
              <a:rPr lang="en-US" sz="2400" dirty="0">
                <a:latin typeface="+mj-lt"/>
              </a:rPr>
              <a:t>description</a:t>
            </a:r>
          </a:p>
        </p:txBody>
      </p:sp>
      <p:sp>
        <p:nvSpPr>
          <p:cNvPr id="58" name="TextBox 57">
            <a:extLst>
              <a:ext uri="{FF2B5EF4-FFF2-40B4-BE49-F238E27FC236}">
                <a16:creationId xmlns:a16="http://schemas.microsoft.com/office/drawing/2014/main" id="{A39986B2-0B80-A24D-B3C4-26FD70EE2446}"/>
              </a:ext>
            </a:extLst>
          </p:cNvPr>
          <p:cNvSpPr txBox="1"/>
          <p:nvPr/>
        </p:nvSpPr>
        <p:spPr>
          <a:xfrm>
            <a:off x="10139083" y="874741"/>
            <a:ext cx="962123" cy="461665"/>
          </a:xfrm>
          <a:prstGeom prst="rect">
            <a:avLst/>
          </a:prstGeom>
          <a:noFill/>
        </p:spPr>
        <p:txBody>
          <a:bodyPr wrap="none" rtlCol="0">
            <a:spAutoFit/>
          </a:bodyPr>
          <a:lstStyle/>
          <a:p>
            <a:r>
              <a:rPr lang="en-US" sz="2400" dirty="0">
                <a:latin typeface="+mj-lt"/>
              </a:rPr>
              <a:t>QASM</a:t>
            </a:r>
          </a:p>
        </p:txBody>
      </p:sp>
    </p:spTree>
    <p:extLst>
      <p:ext uri="{BB962C8B-B14F-4D97-AF65-F5344CB8AC3E}">
        <p14:creationId xmlns:p14="http://schemas.microsoft.com/office/powerpoint/2010/main" val="179684994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39EF45-D20A-C54B-9E7B-223F102F5FFB}"/>
              </a:ext>
            </a:extLst>
          </p:cNvPr>
          <p:cNvSpPr>
            <a:spLocks noGrp="1"/>
          </p:cNvSpPr>
          <p:nvPr>
            <p:ph type="title"/>
          </p:nvPr>
        </p:nvSpPr>
        <p:spPr>
          <a:xfrm>
            <a:off x="0" y="0"/>
            <a:ext cx="12192000" cy="928688"/>
          </a:xfrm>
        </p:spPr>
        <p:txBody>
          <a:bodyPr/>
          <a:lstStyle/>
          <a:p>
            <a:r>
              <a:rPr lang="en-US" dirty="0"/>
              <a:t>Controlled Hadamard Gate / CH</a:t>
            </a:r>
          </a:p>
        </p:txBody>
      </p:sp>
      <p:sp>
        <p:nvSpPr>
          <p:cNvPr id="3" name="Slide Number Placeholder 2">
            <a:extLst>
              <a:ext uri="{FF2B5EF4-FFF2-40B4-BE49-F238E27FC236}">
                <a16:creationId xmlns:a16="http://schemas.microsoft.com/office/drawing/2014/main" id="{1DFCF789-A597-7E48-870E-125D0C3A063D}"/>
              </a:ext>
            </a:extLst>
          </p:cNvPr>
          <p:cNvSpPr>
            <a:spLocks noGrp="1"/>
          </p:cNvSpPr>
          <p:nvPr>
            <p:ph type="sldNum" sz="quarter" idx="12"/>
          </p:nvPr>
        </p:nvSpPr>
        <p:spPr/>
        <p:txBody>
          <a:bodyPr/>
          <a:lstStyle/>
          <a:p>
            <a:fld id="{591A223C-FA10-BC46-A853-03BA373D023C}" type="slidenum">
              <a:rPr lang="en-US" smtClean="0"/>
              <a:t>37</a:t>
            </a:fld>
            <a:endParaRPr lang="en-US"/>
          </a:p>
        </p:txBody>
      </p:sp>
      <p:sp>
        <p:nvSpPr>
          <p:cNvPr id="7" name="Rectangle 6">
            <a:extLst>
              <a:ext uri="{FF2B5EF4-FFF2-40B4-BE49-F238E27FC236}">
                <a16:creationId xmlns:a16="http://schemas.microsoft.com/office/drawing/2014/main" id="{01F86251-6DE2-3448-A31F-B8BAA869C571}"/>
              </a:ext>
            </a:extLst>
          </p:cNvPr>
          <p:cNvSpPr/>
          <p:nvPr/>
        </p:nvSpPr>
        <p:spPr>
          <a:xfrm>
            <a:off x="224852" y="1133586"/>
            <a:ext cx="11679658" cy="403277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Connector 15">
            <a:extLst>
              <a:ext uri="{FF2B5EF4-FFF2-40B4-BE49-F238E27FC236}">
                <a16:creationId xmlns:a16="http://schemas.microsoft.com/office/drawing/2014/main" id="{1A76F891-5AB6-8649-AA11-DCC61231E1A8}"/>
              </a:ext>
            </a:extLst>
          </p:cNvPr>
          <p:cNvCxnSpPr>
            <a:cxnSpLocks/>
          </p:cNvCxnSpPr>
          <p:nvPr/>
        </p:nvCxnSpPr>
        <p:spPr>
          <a:xfrm>
            <a:off x="1816336" y="1138289"/>
            <a:ext cx="0" cy="4028071"/>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98B600C7-EF8F-A54F-A16B-AB413E8AA9CD}"/>
              </a:ext>
            </a:extLst>
          </p:cNvPr>
          <p:cNvCxnSpPr>
            <a:cxnSpLocks/>
          </p:cNvCxnSpPr>
          <p:nvPr/>
        </p:nvCxnSpPr>
        <p:spPr>
          <a:xfrm>
            <a:off x="5671690" y="1133585"/>
            <a:ext cx="0" cy="4032775"/>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8A527968-DE7C-FE4A-A9DB-19FD054BF655}"/>
              </a:ext>
            </a:extLst>
          </p:cNvPr>
          <p:cNvCxnSpPr>
            <a:cxnSpLocks/>
          </p:cNvCxnSpPr>
          <p:nvPr/>
        </p:nvCxnSpPr>
        <p:spPr>
          <a:xfrm flipV="1">
            <a:off x="9267112" y="1133588"/>
            <a:ext cx="0" cy="4032772"/>
          </a:xfrm>
          <a:prstGeom prst="line">
            <a:avLst/>
          </a:prstGeom>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35913924-2483-E343-99F2-9D1061599CCB}"/>
              </a:ext>
            </a:extLst>
          </p:cNvPr>
          <p:cNvCxnSpPr>
            <a:cxnSpLocks/>
          </p:cNvCxnSpPr>
          <p:nvPr/>
        </p:nvCxnSpPr>
        <p:spPr>
          <a:xfrm>
            <a:off x="208474" y="1924779"/>
            <a:ext cx="1167965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83364821-E044-724C-BCD6-88BE6024389F}"/>
              </a:ext>
            </a:extLst>
          </p:cNvPr>
          <p:cNvCxnSpPr>
            <a:cxnSpLocks/>
          </p:cNvCxnSpPr>
          <p:nvPr/>
        </p:nvCxnSpPr>
        <p:spPr>
          <a:xfrm>
            <a:off x="434540" y="3861344"/>
            <a:ext cx="1165590"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A41F298D-2142-3447-964A-88FBF8974F35}"/>
              </a:ext>
            </a:extLst>
          </p:cNvPr>
          <p:cNvSpPr txBox="1"/>
          <p:nvPr/>
        </p:nvSpPr>
        <p:spPr>
          <a:xfrm>
            <a:off x="5842783" y="2557198"/>
            <a:ext cx="3313814" cy="1569660"/>
          </a:xfrm>
          <a:prstGeom prst="rect">
            <a:avLst/>
          </a:prstGeom>
          <a:noFill/>
        </p:spPr>
        <p:txBody>
          <a:bodyPr wrap="square" rtlCol="0">
            <a:spAutoFit/>
          </a:bodyPr>
          <a:lstStyle/>
          <a:p>
            <a:pPr algn="just"/>
            <a:r>
              <a:rPr lang="en-ZA" sz="2400" dirty="0">
                <a:latin typeface="+mj-lt"/>
              </a:rPr>
              <a:t>CH applies the H gate to the target qubit (t) when the control qubit (c) is ∣1⟩. </a:t>
            </a:r>
            <a:endParaRPr lang="en-US" sz="2400" dirty="0">
              <a:latin typeface="+mj-lt"/>
            </a:endParaRPr>
          </a:p>
        </p:txBody>
      </p:sp>
      <p:sp>
        <p:nvSpPr>
          <p:cNvPr id="43" name="Rectangle 42">
            <a:extLst>
              <a:ext uri="{FF2B5EF4-FFF2-40B4-BE49-F238E27FC236}">
                <a16:creationId xmlns:a16="http://schemas.microsoft.com/office/drawing/2014/main" id="{0824DC6C-CEC9-3E4E-8DF1-99A0070F2BD7}"/>
              </a:ext>
            </a:extLst>
          </p:cNvPr>
          <p:cNvSpPr/>
          <p:nvPr/>
        </p:nvSpPr>
        <p:spPr>
          <a:xfrm>
            <a:off x="9327689" y="3129705"/>
            <a:ext cx="2747913" cy="461665"/>
          </a:xfrm>
          <a:prstGeom prst="rect">
            <a:avLst/>
          </a:prstGeom>
        </p:spPr>
        <p:txBody>
          <a:bodyPr wrap="square">
            <a:spAutoFit/>
          </a:bodyPr>
          <a:lstStyle/>
          <a:p>
            <a:r>
              <a:rPr lang="en-US" sz="2400" dirty="0" err="1">
                <a:latin typeface="AndaleMono" panose="020B0509000000000004" pitchFamily="49" charset="0"/>
              </a:rPr>
              <a:t>ch</a:t>
            </a:r>
            <a:r>
              <a:rPr lang="en-US" sz="2400" dirty="0">
                <a:latin typeface="AndaleMono" panose="020B0509000000000004" pitchFamily="49" charset="0"/>
              </a:rPr>
              <a:t> q[0], q[1]; </a:t>
            </a:r>
            <a:endParaRPr lang="en-US" sz="2400" dirty="0">
              <a:effectLst/>
            </a:endParaRPr>
          </a:p>
        </p:txBody>
      </p:sp>
      <p:sp>
        <p:nvSpPr>
          <p:cNvPr id="38" name="Oval 37">
            <a:extLst>
              <a:ext uri="{FF2B5EF4-FFF2-40B4-BE49-F238E27FC236}">
                <a16:creationId xmlns:a16="http://schemas.microsoft.com/office/drawing/2014/main" id="{69002E74-4715-7846-AD6D-077E1BE4461B}"/>
              </a:ext>
            </a:extLst>
          </p:cNvPr>
          <p:cNvSpPr/>
          <p:nvPr/>
        </p:nvSpPr>
        <p:spPr>
          <a:xfrm>
            <a:off x="925485" y="2822862"/>
            <a:ext cx="180000" cy="180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cxnSp>
        <p:nvCxnSpPr>
          <p:cNvPr id="15" name="Straight Connector 14">
            <a:extLst>
              <a:ext uri="{FF2B5EF4-FFF2-40B4-BE49-F238E27FC236}">
                <a16:creationId xmlns:a16="http://schemas.microsoft.com/office/drawing/2014/main" id="{257E0AFF-39A4-2741-BC3C-B2C0F59BC751}"/>
              </a:ext>
            </a:extLst>
          </p:cNvPr>
          <p:cNvCxnSpPr>
            <a:cxnSpLocks/>
            <a:stCxn id="38" idx="4"/>
          </p:cNvCxnSpPr>
          <p:nvPr/>
        </p:nvCxnSpPr>
        <p:spPr>
          <a:xfrm>
            <a:off x="1015485" y="3002862"/>
            <a:ext cx="0" cy="57572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E667040F-665E-5242-BB46-9F9E18E502E7}"/>
              </a:ext>
            </a:extLst>
          </p:cNvPr>
          <p:cNvCxnSpPr>
            <a:cxnSpLocks/>
          </p:cNvCxnSpPr>
          <p:nvPr/>
        </p:nvCxnSpPr>
        <p:spPr>
          <a:xfrm>
            <a:off x="461685" y="2921483"/>
            <a:ext cx="116559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 name="Rectangle 25">
                <a:extLst>
                  <a:ext uri="{FF2B5EF4-FFF2-40B4-BE49-F238E27FC236}">
                    <a16:creationId xmlns:a16="http://schemas.microsoft.com/office/drawing/2014/main" id="{CE57BBB8-E581-FE46-94A7-A7C965C7F037}"/>
                  </a:ext>
                </a:extLst>
              </p:cNvPr>
              <p:cNvSpPr/>
              <p:nvPr/>
            </p:nvSpPr>
            <p:spPr>
              <a:xfrm>
                <a:off x="1869298" y="2692667"/>
                <a:ext cx="3781228" cy="234012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ea typeface="Cambria Math" panose="02040503050406030204" pitchFamily="18" charset="0"/>
                        </a:rPr>
                        <m:t>𝑐</m:t>
                      </m:r>
                      <m:r>
                        <a:rPr lang="sr-Latn-RS" sz="2400" b="0" i="1" smtClean="0">
                          <a:latin typeface="Cambria Math" panose="02040503050406030204" pitchFamily="18" charset="0"/>
                          <a:ea typeface="Cambria Math" panose="02040503050406030204" pitchFamily="18" charset="0"/>
                        </a:rPr>
                        <m:t>𝐻</m:t>
                      </m:r>
                      <m:r>
                        <a:rPr lang="en-US" sz="2400" b="0" i="1" smtClean="0">
                          <a:latin typeface="Cambria Math" panose="02040503050406030204" pitchFamily="18" charset="0"/>
                          <a:ea typeface="Cambria Math" panose="02040503050406030204" pitchFamily="18" charset="0"/>
                        </a:rPr>
                        <m:t>=</m:t>
                      </m:r>
                      <m:d>
                        <m:dPr>
                          <m:ctrlPr>
                            <a:rPr lang="en-ZA" sz="2400" i="1">
                              <a:latin typeface="Cambria Math" panose="02040503050406030204" pitchFamily="18" charset="0"/>
                              <a:ea typeface="Cambria Math" panose="02040503050406030204" pitchFamily="18" charset="0"/>
                            </a:rPr>
                          </m:ctrlPr>
                        </m:dPr>
                        <m:e>
                          <m:m>
                            <m:mPr>
                              <m:mcs>
                                <m:mc>
                                  <m:mcPr>
                                    <m:count m:val="4"/>
                                    <m:mcJc m:val="center"/>
                                  </m:mcPr>
                                </m:mc>
                              </m:mcs>
                              <m:ctrlPr>
                                <a:rPr lang="en-ZA" sz="2400" i="1">
                                  <a:latin typeface="Cambria Math" panose="02040503050406030204" pitchFamily="18" charset="0"/>
                                  <a:ea typeface="Cambria Math" panose="02040503050406030204" pitchFamily="18" charset="0"/>
                                </a:rPr>
                              </m:ctrlPr>
                            </m:mPr>
                            <m:mr>
                              <m:e>
                                <m:r>
                                  <a:rPr lang="sr-Latn-RS" sz="2400" i="1">
                                    <a:latin typeface="Cambria Math" panose="02040503050406030204" pitchFamily="18" charset="0"/>
                                    <a:ea typeface="Cambria Math" panose="02040503050406030204" pitchFamily="18" charset="0"/>
                                  </a:rPr>
                                  <m:t>1</m:t>
                                </m:r>
                              </m:e>
                              <m:e>
                                <m:r>
                                  <a:rPr lang="sr-Latn-RS" sz="2400" i="1">
                                    <a:latin typeface="Cambria Math" panose="02040503050406030204" pitchFamily="18" charset="0"/>
                                    <a:ea typeface="Cambria Math" panose="02040503050406030204" pitchFamily="18" charset="0"/>
                                  </a:rPr>
                                  <m:t>0</m:t>
                                </m:r>
                              </m:e>
                              <m:e>
                                <m:r>
                                  <a:rPr lang="sr-Latn-RS" sz="2400" i="1">
                                    <a:latin typeface="Cambria Math" panose="02040503050406030204" pitchFamily="18" charset="0"/>
                                    <a:ea typeface="Cambria Math" panose="02040503050406030204" pitchFamily="18" charset="0"/>
                                  </a:rPr>
                                  <m:t>0</m:t>
                                </m:r>
                              </m:e>
                              <m:e>
                                <m:r>
                                  <a:rPr lang="sr-Latn-RS" sz="2400" i="1">
                                    <a:latin typeface="Cambria Math" panose="02040503050406030204" pitchFamily="18" charset="0"/>
                                    <a:ea typeface="Cambria Math" panose="02040503050406030204" pitchFamily="18" charset="0"/>
                                  </a:rPr>
                                  <m:t>0</m:t>
                                </m:r>
                              </m:e>
                            </m:mr>
                            <m:mr>
                              <m:e>
                                <m:r>
                                  <a:rPr lang="sr-Latn-RS" sz="2400" i="1">
                                    <a:latin typeface="Cambria Math" panose="02040503050406030204" pitchFamily="18" charset="0"/>
                                    <a:ea typeface="Cambria Math" panose="02040503050406030204" pitchFamily="18" charset="0"/>
                                  </a:rPr>
                                  <m:t>0</m:t>
                                </m:r>
                              </m:e>
                              <m:e>
                                <m:r>
                                  <a:rPr lang="sr-Latn-RS" sz="2400" i="1">
                                    <a:latin typeface="Cambria Math" panose="02040503050406030204" pitchFamily="18" charset="0"/>
                                    <a:ea typeface="Cambria Math" panose="02040503050406030204" pitchFamily="18" charset="0"/>
                                  </a:rPr>
                                  <m:t>1</m:t>
                                </m:r>
                              </m:e>
                              <m:e>
                                <m:r>
                                  <a:rPr lang="sr-Latn-RS" sz="2400" i="1">
                                    <a:latin typeface="Cambria Math" panose="02040503050406030204" pitchFamily="18" charset="0"/>
                                    <a:ea typeface="Cambria Math" panose="02040503050406030204" pitchFamily="18" charset="0"/>
                                  </a:rPr>
                                  <m:t>0</m:t>
                                </m:r>
                              </m:e>
                              <m:e>
                                <m:r>
                                  <a:rPr lang="sr-Latn-RS" sz="2400" i="1">
                                    <a:latin typeface="Cambria Math" panose="02040503050406030204" pitchFamily="18" charset="0"/>
                                    <a:ea typeface="Cambria Math" panose="02040503050406030204" pitchFamily="18" charset="0"/>
                                  </a:rPr>
                                  <m:t>0</m:t>
                                </m:r>
                              </m:e>
                            </m:mr>
                            <m:mr>
                              <m:e>
                                <m:r>
                                  <a:rPr lang="sr-Latn-RS" sz="2400" i="1">
                                    <a:latin typeface="Cambria Math" panose="02040503050406030204" pitchFamily="18" charset="0"/>
                                    <a:ea typeface="Cambria Math" panose="02040503050406030204" pitchFamily="18" charset="0"/>
                                  </a:rPr>
                                  <m:t>0</m:t>
                                </m:r>
                              </m:e>
                              <m:e>
                                <m:r>
                                  <a:rPr lang="sr-Latn-RS" sz="2400" i="1">
                                    <a:latin typeface="Cambria Math" panose="02040503050406030204" pitchFamily="18" charset="0"/>
                                    <a:ea typeface="Cambria Math" panose="02040503050406030204" pitchFamily="18" charset="0"/>
                                  </a:rPr>
                                  <m:t>0</m:t>
                                </m:r>
                              </m:e>
                              <m:e>
                                <m:f>
                                  <m:fPr>
                                    <m:ctrlPr>
                                      <a:rPr lang="sr-Latn-RS" sz="2400" i="1" smtClean="0">
                                        <a:latin typeface="Cambria Math" panose="02040503050406030204" pitchFamily="18" charset="0"/>
                                        <a:ea typeface="Cambria Math" panose="02040503050406030204" pitchFamily="18" charset="0"/>
                                      </a:rPr>
                                    </m:ctrlPr>
                                  </m:fPr>
                                  <m:num>
                                    <m:r>
                                      <a:rPr lang="sr-Latn-RS" sz="2400" b="0" i="1" smtClean="0">
                                        <a:latin typeface="Cambria Math" panose="02040503050406030204" pitchFamily="18" charset="0"/>
                                        <a:ea typeface="Cambria Math" panose="02040503050406030204" pitchFamily="18" charset="0"/>
                                      </a:rPr>
                                      <m:t>1</m:t>
                                    </m:r>
                                  </m:num>
                                  <m:den>
                                    <m:rad>
                                      <m:radPr>
                                        <m:degHide m:val="on"/>
                                        <m:ctrlPr>
                                          <a:rPr lang="sr-Latn-RS" sz="2400" i="1" smtClean="0">
                                            <a:latin typeface="Cambria Math" panose="02040503050406030204" pitchFamily="18" charset="0"/>
                                            <a:ea typeface="Cambria Math" panose="02040503050406030204" pitchFamily="18" charset="0"/>
                                          </a:rPr>
                                        </m:ctrlPr>
                                      </m:radPr>
                                      <m:deg/>
                                      <m:e>
                                        <m:r>
                                          <a:rPr lang="sr-Latn-RS" sz="2400" b="0" i="1" smtClean="0">
                                            <a:latin typeface="Cambria Math" panose="02040503050406030204" pitchFamily="18" charset="0"/>
                                            <a:ea typeface="Cambria Math" panose="02040503050406030204" pitchFamily="18" charset="0"/>
                                          </a:rPr>
                                          <m:t>2</m:t>
                                        </m:r>
                                      </m:e>
                                    </m:rad>
                                  </m:den>
                                </m:f>
                              </m:e>
                              <m:e>
                                <m:f>
                                  <m:fPr>
                                    <m:ctrlPr>
                                      <a:rPr lang="sr-Latn-RS" sz="2400" i="1">
                                        <a:latin typeface="Cambria Math" panose="02040503050406030204" pitchFamily="18" charset="0"/>
                                        <a:ea typeface="Cambria Math" panose="02040503050406030204" pitchFamily="18" charset="0"/>
                                      </a:rPr>
                                    </m:ctrlPr>
                                  </m:fPr>
                                  <m:num>
                                    <m:r>
                                      <a:rPr lang="sr-Latn-RS" sz="2400" i="1">
                                        <a:latin typeface="Cambria Math" panose="02040503050406030204" pitchFamily="18" charset="0"/>
                                        <a:ea typeface="Cambria Math" panose="02040503050406030204" pitchFamily="18" charset="0"/>
                                      </a:rPr>
                                      <m:t>1</m:t>
                                    </m:r>
                                  </m:num>
                                  <m:den>
                                    <m:rad>
                                      <m:radPr>
                                        <m:degHide m:val="on"/>
                                        <m:ctrlPr>
                                          <a:rPr lang="sr-Latn-RS" sz="2400" i="1">
                                            <a:latin typeface="Cambria Math" panose="02040503050406030204" pitchFamily="18" charset="0"/>
                                            <a:ea typeface="Cambria Math" panose="02040503050406030204" pitchFamily="18" charset="0"/>
                                          </a:rPr>
                                        </m:ctrlPr>
                                      </m:radPr>
                                      <m:deg/>
                                      <m:e>
                                        <m:r>
                                          <a:rPr lang="sr-Latn-RS" sz="2400" i="1">
                                            <a:latin typeface="Cambria Math" panose="02040503050406030204" pitchFamily="18" charset="0"/>
                                            <a:ea typeface="Cambria Math" panose="02040503050406030204" pitchFamily="18" charset="0"/>
                                          </a:rPr>
                                          <m:t>2</m:t>
                                        </m:r>
                                      </m:e>
                                    </m:rad>
                                  </m:den>
                                </m:f>
                              </m:e>
                            </m:mr>
                            <m:mr>
                              <m:e>
                                <m:r>
                                  <a:rPr lang="sr-Latn-RS" sz="2400" i="1">
                                    <a:latin typeface="Cambria Math" panose="02040503050406030204" pitchFamily="18" charset="0"/>
                                    <a:ea typeface="Cambria Math" panose="02040503050406030204" pitchFamily="18" charset="0"/>
                                  </a:rPr>
                                  <m:t>0</m:t>
                                </m:r>
                              </m:e>
                              <m:e>
                                <m:r>
                                  <a:rPr lang="sr-Latn-RS" sz="2400" i="1">
                                    <a:latin typeface="Cambria Math" panose="02040503050406030204" pitchFamily="18" charset="0"/>
                                    <a:ea typeface="Cambria Math" panose="02040503050406030204" pitchFamily="18" charset="0"/>
                                  </a:rPr>
                                  <m:t>0</m:t>
                                </m:r>
                              </m:e>
                              <m:e>
                                <m:f>
                                  <m:fPr>
                                    <m:ctrlPr>
                                      <a:rPr lang="sr-Latn-RS" sz="2400" i="1">
                                        <a:latin typeface="Cambria Math" panose="02040503050406030204" pitchFamily="18" charset="0"/>
                                        <a:ea typeface="Cambria Math" panose="02040503050406030204" pitchFamily="18" charset="0"/>
                                      </a:rPr>
                                    </m:ctrlPr>
                                  </m:fPr>
                                  <m:num>
                                    <m:r>
                                      <a:rPr lang="sr-Latn-RS" sz="2400" i="1">
                                        <a:latin typeface="Cambria Math" panose="02040503050406030204" pitchFamily="18" charset="0"/>
                                        <a:ea typeface="Cambria Math" panose="02040503050406030204" pitchFamily="18" charset="0"/>
                                      </a:rPr>
                                      <m:t>1</m:t>
                                    </m:r>
                                  </m:num>
                                  <m:den>
                                    <m:rad>
                                      <m:radPr>
                                        <m:degHide m:val="on"/>
                                        <m:ctrlPr>
                                          <a:rPr lang="sr-Latn-RS" sz="2400" i="1">
                                            <a:latin typeface="Cambria Math" panose="02040503050406030204" pitchFamily="18" charset="0"/>
                                            <a:ea typeface="Cambria Math" panose="02040503050406030204" pitchFamily="18" charset="0"/>
                                          </a:rPr>
                                        </m:ctrlPr>
                                      </m:radPr>
                                      <m:deg/>
                                      <m:e>
                                        <m:r>
                                          <a:rPr lang="sr-Latn-RS" sz="2400" i="1">
                                            <a:latin typeface="Cambria Math" panose="02040503050406030204" pitchFamily="18" charset="0"/>
                                            <a:ea typeface="Cambria Math" panose="02040503050406030204" pitchFamily="18" charset="0"/>
                                          </a:rPr>
                                          <m:t>2</m:t>
                                        </m:r>
                                      </m:e>
                                    </m:rad>
                                  </m:den>
                                </m:f>
                              </m:e>
                              <m:e>
                                <m:r>
                                  <a:rPr lang="sr-Latn-RS" sz="2400" b="0" i="1" smtClean="0">
                                    <a:latin typeface="Cambria Math" panose="02040503050406030204" pitchFamily="18" charset="0"/>
                                    <a:ea typeface="Cambria Math" panose="02040503050406030204" pitchFamily="18" charset="0"/>
                                  </a:rPr>
                                  <m:t>−</m:t>
                                </m:r>
                                <m:f>
                                  <m:fPr>
                                    <m:ctrlPr>
                                      <a:rPr lang="sr-Latn-RS" sz="2400" i="1">
                                        <a:latin typeface="Cambria Math" panose="02040503050406030204" pitchFamily="18" charset="0"/>
                                        <a:ea typeface="Cambria Math" panose="02040503050406030204" pitchFamily="18" charset="0"/>
                                      </a:rPr>
                                    </m:ctrlPr>
                                  </m:fPr>
                                  <m:num>
                                    <m:r>
                                      <a:rPr lang="sr-Latn-RS" sz="2400" i="1">
                                        <a:latin typeface="Cambria Math" panose="02040503050406030204" pitchFamily="18" charset="0"/>
                                        <a:ea typeface="Cambria Math" panose="02040503050406030204" pitchFamily="18" charset="0"/>
                                      </a:rPr>
                                      <m:t>1</m:t>
                                    </m:r>
                                  </m:num>
                                  <m:den>
                                    <m:rad>
                                      <m:radPr>
                                        <m:degHide m:val="on"/>
                                        <m:ctrlPr>
                                          <a:rPr lang="sr-Latn-RS" sz="2400" i="1">
                                            <a:latin typeface="Cambria Math" panose="02040503050406030204" pitchFamily="18" charset="0"/>
                                            <a:ea typeface="Cambria Math" panose="02040503050406030204" pitchFamily="18" charset="0"/>
                                          </a:rPr>
                                        </m:ctrlPr>
                                      </m:radPr>
                                      <m:deg/>
                                      <m:e>
                                        <m:r>
                                          <a:rPr lang="sr-Latn-RS" sz="2400" i="1">
                                            <a:latin typeface="Cambria Math" panose="02040503050406030204" pitchFamily="18" charset="0"/>
                                            <a:ea typeface="Cambria Math" panose="02040503050406030204" pitchFamily="18" charset="0"/>
                                          </a:rPr>
                                          <m:t>2</m:t>
                                        </m:r>
                                      </m:e>
                                    </m:rad>
                                  </m:den>
                                </m:f>
                              </m:e>
                            </m:mr>
                          </m:m>
                        </m:e>
                      </m:d>
                    </m:oMath>
                  </m:oMathPara>
                </a14:m>
                <a:endParaRPr lang="en-US" sz="2400" dirty="0">
                  <a:latin typeface="Cambria Math" panose="02040503050406030204" pitchFamily="18" charset="0"/>
                  <a:ea typeface="Cambria Math" panose="02040503050406030204" pitchFamily="18" charset="0"/>
                </a:endParaRPr>
              </a:p>
            </p:txBody>
          </p:sp>
        </mc:Choice>
        <mc:Fallback xmlns="">
          <p:sp>
            <p:nvSpPr>
              <p:cNvPr id="26" name="Rectangle 25">
                <a:extLst>
                  <a:ext uri="{FF2B5EF4-FFF2-40B4-BE49-F238E27FC236}">
                    <a16:creationId xmlns:a16="http://schemas.microsoft.com/office/drawing/2014/main" id="{CE57BBB8-E581-FE46-94A7-A7C965C7F037}"/>
                  </a:ext>
                </a:extLst>
              </p:cNvPr>
              <p:cNvSpPr>
                <a:spLocks noRot="1" noChangeAspect="1" noMove="1" noResize="1" noEditPoints="1" noAdjustHandles="1" noChangeArrowheads="1" noChangeShapeType="1" noTextEdit="1"/>
              </p:cNvSpPr>
              <p:nvPr/>
            </p:nvSpPr>
            <p:spPr>
              <a:xfrm>
                <a:off x="1869298" y="2692667"/>
                <a:ext cx="3781228" cy="2340128"/>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Rectangle 27">
                <a:extLst>
                  <a:ext uri="{FF2B5EF4-FFF2-40B4-BE49-F238E27FC236}">
                    <a16:creationId xmlns:a16="http://schemas.microsoft.com/office/drawing/2014/main" id="{6CFAB81F-91C5-8B4E-8018-BA950ACEB817}"/>
                  </a:ext>
                </a:extLst>
              </p:cNvPr>
              <p:cNvSpPr/>
              <p:nvPr/>
            </p:nvSpPr>
            <p:spPr>
              <a:xfrm>
                <a:off x="295214" y="2446289"/>
                <a:ext cx="404405"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𝑐</m:t>
                      </m:r>
                    </m:oMath>
                  </m:oMathPara>
                </a14:m>
                <a:endParaRPr lang="en-US" sz="2400" dirty="0"/>
              </a:p>
            </p:txBody>
          </p:sp>
        </mc:Choice>
        <mc:Fallback xmlns="">
          <p:sp>
            <p:nvSpPr>
              <p:cNvPr id="28" name="Rectangle 27">
                <a:extLst>
                  <a:ext uri="{FF2B5EF4-FFF2-40B4-BE49-F238E27FC236}">
                    <a16:creationId xmlns:a16="http://schemas.microsoft.com/office/drawing/2014/main" id="{6CFAB81F-91C5-8B4E-8018-BA950ACEB817}"/>
                  </a:ext>
                </a:extLst>
              </p:cNvPr>
              <p:cNvSpPr>
                <a:spLocks noRot="1" noChangeAspect="1" noMove="1" noResize="1" noEditPoints="1" noAdjustHandles="1" noChangeArrowheads="1" noChangeShapeType="1" noTextEdit="1"/>
              </p:cNvSpPr>
              <p:nvPr/>
            </p:nvSpPr>
            <p:spPr>
              <a:xfrm>
                <a:off x="295214" y="2446289"/>
                <a:ext cx="404405" cy="461665"/>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6" name="Rectangle 55">
                <a:extLst>
                  <a:ext uri="{FF2B5EF4-FFF2-40B4-BE49-F238E27FC236}">
                    <a16:creationId xmlns:a16="http://schemas.microsoft.com/office/drawing/2014/main" id="{58858AB7-CC58-F24F-89C7-35BA9F306EA3}"/>
                  </a:ext>
                </a:extLst>
              </p:cNvPr>
              <p:cNvSpPr/>
              <p:nvPr/>
            </p:nvSpPr>
            <p:spPr>
              <a:xfrm>
                <a:off x="245520" y="3389128"/>
                <a:ext cx="382925"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𝑡</m:t>
                      </m:r>
                    </m:oMath>
                  </m:oMathPara>
                </a14:m>
                <a:endParaRPr lang="en-US" sz="2400" dirty="0"/>
              </a:p>
            </p:txBody>
          </p:sp>
        </mc:Choice>
        <mc:Fallback xmlns="">
          <p:sp>
            <p:nvSpPr>
              <p:cNvPr id="56" name="Rectangle 55">
                <a:extLst>
                  <a:ext uri="{FF2B5EF4-FFF2-40B4-BE49-F238E27FC236}">
                    <a16:creationId xmlns:a16="http://schemas.microsoft.com/office/drawing/2014/main" id="{58858AB7-CC58-F24F-89C7-35BA9F306EA3}"/>
                  </a:ext>
                </a:extLst>
              </p:cNvPr>
              <p:cNvSpPr>
                <a:spLocks noRot="1" noChangeAspect="1" noMove="1" noResize="1" noEditPoints="1" noAdjustHandles="1" noChangeArrowheads="1" noChangeShapeType="1" noTextEdit="1"/>
              </p:cNvSpPr>
              <p:nvPr/>
            </p:nvSpPr>
            <p:spPr>
              <a:xfrm>
                <a:off x="245520" y="3389128"/>
                <a:ext cx="382925" cy="461665"/>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Rectangle 40">
                <a:extLst>
                  <a:ext uri="{FF2B5EF4-FFF2-40B4-BE49-F238E27FC236}">
                    <a16:creationId xmlns:a16="http://schemas.microsoft.com/office/drawing/2014/main" id="{5EFAA184-8217-6F46-A5FC-0E8F59D8CAF6}"/>
                  </a:ext>
                </a:extLst>
              </p:cNvPr>
              <p:cNvSpPr/>
              <p:nvPr/>
            </p:nvSpPr>
            <p:spPr>
              <a:xfrm>
                <a:off x="1790338" y="2095533"/>
                <a:ext cx="3731663" cy="461665"/>
              </a:xfrm>
              <a:prstGeom prst="rect">
                <a:avLst/>
              </a:prstGeom>
            </p:spPr>
            <p:txBody>
              <a:bodyPr wrap="none">
                <a:spAutoFit/>
              </a:bodyPr>
              <a:lstStyle/>
              <a:p>
                <a:r>
                  <a:rPr lang="sr-Latn-RS" sz="2400" b="0" dirty="0">
                    <a:ea typeface="Cambria Math" panose="02040503050406030204" pitchFamily="18" charset="0"/>
                  </a:rPr>
                  <a:t>C</a:t>
                </a:r>
                <a14:m>
                  <m:oMath xmlns:m="http://schemas.openxmlformats.org/officeDocument/2006/math">
                    <m:r>
                      <a:rPr lang="sr-Latn-RS" sz="2400" b="0" i="1" smtClean="0">
                        <a:latin typeface="Cambria Math" panose="02040503050406030204" pitchFamily="18" charset="0"/>
                        <a:ea typeface="Cambria Math" panose="02040503050406030204" pitchFamily="18" charset="0"/>
                      </a:rPr>
                      <m:t>𝐻</m:t>
                    </m:r>
                    <m:r>
                      <a:rPr lang="en-US" sz="2400" b="0" i="1" smtClean="0">
                        <a:latin typeface="Cambria Math" panose="02040503050406030204" pitchFamily="18" charset="0"/>
                        <a:ea typeface="Cambria Math" panose="02040503050406030204" pitchFamily="18" charset="0"/>
                      </a:rPr>
                      <m:t>=</m:t>
                    </m:r>
                    <m:d>
                      <m:dPr>
                        <m:begChr m:val="|"/>
                        <m:endChr m:val="⟩"/>
                        <m:ctrlPr>
                          <a:rPr lang="en-ZA" sz="2400" i="1">
                            <a:latin typeface="Cambria Math" panose="02040503050406030204" pitchFamily="18" charset="0"/>
                          </a:rPr>
                        </m:ctrlPr>
                      </m:dPr>
                      <m:e>
                        <m:r>
                          <a:rPr lang="en-US" sz="2400" i="1">
                            <a:latin typeface="Cambria Math" panose="02040503050406030204" pitchFamily="18" charset="0"/>
                          </a:rPr>
                          <m:t>0</m:t>
                        </m:r>
                      </m:e>
                    </m:d>
                    <m:box>
                      <m:boxPr>
                        <m:ctrlPr>
                          <a:rPr lang="en-ZA" sz="2400" i="1">
                            <a:latin typeface="Cambria Math" panose="02040503050406030204" pitchFamily="18" charset="0"/>
                          </a:rPr>
                        </m:ctrlPr>
                      </m:boxPr>
                      <m:e>
                        <m:d>
                          <m:dPr>
                            <m:begChr m:val="⟨"/>
                            <m:endChr m:val="|"/>
                            <m:ctrlPr>
                              <a:rPr lang="en-ZA" sz="2400" i="1">
                                <a:latin typeface="Cambria Math" panose="02040503050406030204" pitchFamily="18" charset="0"/>
                              </a:rPr>
                            </m:ctrlPr>
                          </m:dPr>
                          <m:e>
                            <m:r>
                              <a:rPr lang="en-US" sz="2400" i="1">
                                <a:latin typeface="Cambria Math" panose="02040503050406030204" pitchFamily="18" charset="0"/>
                              </a:rPr>
                              <m:t>0</m:t>
                            </m:r>
                          </m:e>
                        </m:d>
                        <m:r>
                          <a:rPr lang="en-US" sz="2400" i="1">
                            <a:latin typeface="Cambria Math" panose="02040503050406030204" pitchFamily="18" charset="0"/>
                          </a:rPr>
                          <m:t>⨂</m:t>
                        </m:r>
                        <m:r>
                          <a:rPr lang="en-US" sz="2400" i="1">
                            <a:latin typeface="Cambria Math" panose="02040503050406030204" pitchFamily="18" charset="0"/>
                          </a:rPr>
                          <m:t>𝐼</m:t>
                        </m:r>
                        <m:r>
                          <a:rPr lang="en-US" sz="2400" i="1">
                            <a:latin typeface="Cambria Math" panose="02040503050406030204" pitchFamily="18" charset="0"/>
                          </a:rPr>
                          <m:t>+</m:t>
                        </m:r>
                      </m:e>
                    </m:box>
                    <m:d>
                      <m:dPr>
                        <m:begChr m:val="|"/>
                        <m:endChr m:val="⟩"/>
                        <m:ctrlPr>
                          <a:rPr lang="en-ZA" sz="2400" i="1">
                            <a:latin typeface="Cambria Math" panose="02040503050406030204" pitchFamily="18" charset="0"/>
                          </a:rPr>
                        </m:ctrlPr>
                      </m:dPr>
                      <m:e>
                        <m:r>
                          <a:rPr lang="en-US" sz="2400" i="1">
                            <a:latin typeface="Cambria Math" panose="02040503050406030204" pitchFamily="18" charset="0"/>
                          </a:rPr>
                          <m:t>1</m:t>
                        </m:r>
                      </m:e>
                    </m:d>
                    <m:box>
                      <m:boxPr>
                        <m:ctrlPr>
                          <a:rPr lang="en-ZA" sz="2400" i="1">
                            <a:latin typeface="Cambria Math" panose="02040503050406030204" pitchFamily="18" charset="0"/>
                          </a:rPr>
                        </m:ctrlPr>
                      </m:boxPr>
                      <m:e>
                        <m:d>
                          <m:dPr>
                            <m:begChr m:val="⟨"/>
                            <m:endChr m:val="|"/>
                            <m:ctrlPr>
                              <a:rPr lang="en-ZA" sz="2400" i="1">
                                <a:latin typeface="Cambria Math" panose="02040503050406030204" pitchFamily="18" charset="0"/>
                              </a:rPr>
                            </m:ctrlPr>
                          </m:dPr>
                          <m:e>
                            <m:r>
                              <a:rPr lang="en-US" sz="2400" i="1">
                                <a:latin typeface="Cambria Math" panose="02040503050406030204" pitchFamily="18" charset="0"/>
                              </a:rPr>
                              <m:t>1</m:t>
                            </m:r>
                          </m:e>
                        </m:d>
                        <m:r>
                          <a:rPr lang="en-US" sz="2400" i="1">
                            <a:latin typeface="Cambria Math" panose="02040503050406030204" pitchFamily="18" charset="0"/>
                          </a:rPr>
                          <m:t>⨂</m:t>
                        </m:r>
                        <m:r>
                          <a:rPr lang="sr-Latn-RS" sz="2400" b="0" i="1" smtClean="0">
                            <a:latin typeface="Cambria Math" panose="02040503050406030204" pitchFamily="18" charset="0"/>
                          </a:rPr>
                          <m:t>𝐻</m:t>
                        </m:r>
                      </m:e>
                    </m:box>
                  </m:oMath>
                </a14:m>
                <a:endParaRPr lang="en-US" sz="2400" dirty="0">
                  <a:latin typeface="Cambria Math" panose="02040503050406030204" pitchFamily="18" charset="0"/>
                  <a:ea typeface="Cambria Math" panose="02040503050406030204" pitchFamily="18" charset="0"/>
                </a:endParaRPr>
              </a:p>
            </p:txBody>
          </p:sp>
        </mc:Choice>
        <mc:Fallback xmlns="">
          <p:sp>
            <p:nvSpPr>
              <p:cNvPr id="41" name="Rectangle 40">
                <a:extLst>
                  <a:ext uri="{FF2B5EF4-FFF2-40B4-BE49-F238E27FC236}">
                    <a16:creationId xmlns:a16="http://schemas.microsoft.com/office/drawing/2014/main" id="{5EFAA184-8217-6F46-A5FC-0E8F59D8CAF6}"/>
                  </a:ext>
                </a:extLst>
              </p:cNvPr>
              <p:cNvSpPr>
                <a:spLocks noRot="1" noChangeAspect="1" noMove="1" noResize="1" noEditPoints="1" noAdjustHandles="1" noChangeArrowheads="1" noChangeShapeType="1" noTextEdit="1"/>
              </p:cNvSpPr>
              <p:nvPr/>
            </p:nvSpPr>
            <p:spPr>
              <a:xfrm>
                <a:off x="1790338" y="2095533"/>
                <a:ext cx="3731663" cy="461665"/>
              </a:xfrm>
              <a:prstGeom prst="rect">
                <a:avLst/>
              </a:prstGeom>
              <a:blipFill>
                <a:blip r:embed="rId6"/>
                <a:stretch>
                  <a:fillRect l="-2373" t="-8108" b="-27027"/>
                </a:stretch>
              </a:blipFill>
            </p:spPr>
            <p:txBody>
              <a:bodyPr/>
              <a:lstStyle/>
              <a:p>
                <a:r>
                  <a:rPr lang="en-US">
                    <a:noFill/>
                  </a:rPr>
                  <a:t> </a:t>
                </a:r>
              </a:p>
            </p:txBody>
          </p:sp>
        </mc:Fallback>
      </mc:AlternateContent>
      <p:sp>
        <p:nvSpPr>
          <p:cNvPr id="27" name="Rectangle 26">
            <a:extLst>
              <a:ext uri="{FF2B5EF4-FFF2-40B4-BE49-F238E27FC236}">
                <a16:creationId xmlns:a16="http://schemas.microsoft.com/office/drawing/2014/main" id="{4FAB5BC1-8070-2B4B-B879-B5FFF69A7053}"/>
              </a:ext>
            </a:extLst>
          </p:cNvPr>
          <p:cNvSpPr>
            <a:spLocks noChangeAspect="1"/>
          </p:cNvSpPr>
          <p:nvPr/>
        </p:nvSpPr>
        <p:spPr>
          <a:xfrm>
            <a:off x="669473" y="3501344"/>
            <a:ext cx="720000" cy="72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H</a:t>
            </a:r>
          </a:p>
        </p:txBody>
      </p:sp>
      <p:sp>
        <p:nvSpPr>
          <p:cNvPr id="25" name="TextBox 24">
            <a:extLst>
              <a:ext uri="{FF2B5EF4-FFF2-40B4-BE49-F238E27FC236}">
                <a16:creationId xmlns:a16="http://schemas.microsoft.com/office/drawing/2014/main" id="{C7C1906B-BA60-0D4A-8EBB-90DA46614142}"/>
              </a:ext>
            </a:extLst>
          </p:cNvPr>
          <p:cNvSpPr txBox="1"/>
          <p:nvPr/>
        </p:nvSpPr>
        <p:spPr>
          <a:xfrm>
            <a:off x="452634" y="1307578"/>
            <a:ext cx="1065100" cy="461665"/>
          </a:xfrm>
          <a:prstGeom prst="rect">
            <a:avLst/>
          </a:prstGeom>
          <a:noFill/>
        </p:spPr>
        <p:txBody>
          <a:bodyPr wrap="none" rtlCol="0">
            <a:spAutoFit/>
          </a:bodyPr>
          <a:lstStyle/>
          <a:p>
            <a:r>
              <a:rPr lang="en-US" sz="2400" dirty="0">
                <a:latin typeface="+mj-lt"/>
              </a:rPr>
              <a:t>symbol</a:t>
            </a:r>
          </a:p>
        </p:txBody>
      </p:sp>
      <p:sp>
        <p:nvSpPr>
          <p:cNvPr id="29" name="TextBox 28">
            <a:extLst>
              <a:ext uri="{FF2B5EF4-FFF2-40B4-BE49-F238E27FC236}">
                <a16:creationId xmlns:a16="http://schemas.microsoft.com/office/drawing/2014/main" id="{5C4869D2-A7F4-ED46-B65A-B78D0242CDA0}"/>
              </a:ext>
            </a:extLst>
          </p:cNvPr>
          <p:cNvSpPr txBox="1"/>
          <p:nvPr/>
        </p:nvSpPr>
        <p:spPr>
          <a:xfrm>
            <a:off x="3070688" y="1307578"/>
            <a:ext cx="1262653" cy="461665"/>
          </a:xfrm>
          <a:prstGeom prst="rect">
            <a:avLst/>
          </a:prstGeom>
          <a:noFill/>
        </p:spPr>
        <p:txBody>
          <a:bodyPr wrap="none" rtlCol="0">
            <a:spAutoFit/>
          </a:bodyPr>
          <a:lstStyle/>
          <a:p>
            <a:r>
              <a:rPr lang="en-US" sz="2400" dirty="0">
                <a:latin typeface="+mj-lt"/>
              </a:rPr>
              <a:t>operator</a:t>
            </a:r>
          </a:p>
        </p:txBody>
      </p:sp>
      <p:sp>
        <p:nvSpPr>
          <p:cNvPr id="30" name="TextBox 29">
            <a:extLst>
              <a:ext uri="{FF2B5EF4-FFF2-40B4-BE49-F238E27FC236}">
                <a16:creationId xmlns:a16="http://schemas.microsoft.com/office/drawing/2014/main" id="{1194E06A-9A14-254B-84C0-870A3D0D1B20}"/>
              </a:ext>
            </a:extLst>
          </p:cNvPr>
          <p:cNvSpPr txBox="1"/>
          <p:nvPr/>
        </p:nvSpPr>
        <p:spPr>
          <a:xfrm>
            <a:off x="6620508" y="1292361"/>
            <a:ext cx="1568186" cy="461665"/>
          </a:xfrm>
          <a:prstGeom prst="rect">
            <a:avLst/>
          </a:prstGeom>
          <a:noFill/>
        </p:spPr>
        <p:txBody>
          <a:bodyPr wrap="none" rtlCol="0">
            <a:spAutoFit/>
          </a:bodyPr>
          <a:lstStyle/>
          <a:p>
            <a:r>
              <a:rPr lang="en-US" sz="2400" dirty="0">
                <a:latin typeface="+mj-lt"/>
              </a:rPr>
              <a:t>description</a:t>
            </a:r>
          </a:p>
        </p:txBody>
      </p:sp>
      <p:sp>
        <p:nvSpPr>
          <p:cNvPr id="31" name="TextBox 30">
            <a:extLst>
              <a:ext uri="{FF2B5EF4-FFF2-40B4-BE49-F238E27FC236}">
                <a16:creationId xmlns:a16="http://schemas.microsoft.com/office/drawing/2014/main" id="{B4E409DB-1DE3-EE4A-B606-D5D78CBBFE89}"/>
              </a:ext>
            </a:extLst>
          </p:cNvPr>
          <p:cNvSpPr txBox="1"/>
          <p:nvPr/>
        </p:nvSpPr>
        <p:spPr>
          <a:xfrm>
            <a:off x="10096561" y="1307578"/>
            <a:ext cx="962123" cy="461665"/>
          </a:xfrm>
          <a:prstGeom prst="rect">
            <a:avLst/>
          </a:prstGeom>
          <a:noFill/>
        </p:spPr>
        <p:txBody>
          <a:bodyPr wrap="none" rtlCol="0">
            <a:spAutoFit/>
          </a:bodyPr>
          <a:lstStyle/>
          <a:p>
            <a:r>
              <a:rPr lang="en-US" sz="2400" dirty="0">
                <a:latin typeface="+mj-lt"/>
              </a:rPr>
              <a:t>QASM</a:t>
            </a:r>
          </a:p>
        </p:txBody>
      </p:sp>
    </p:spTree>
    <p:extLst>
      <p:ext uri="{BB962C8B-B14F-4D97-AF65-F5344CB8AC3E}">
        <p14:creationId xmlns:p14="http://schemas.microsoft.com/office/powerpoint/2010/main" val="141482668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39EF45-D20A-C54B-9E7B-223F102F5FFB}"/>
              </a:ext>
            </a:extLst>
          </p:cNvPr>
          <p:cNvSpPr>
            <a:spLocks noGrp="1"/>
          </p:cNvSpPr>
          <p:nvPr>
            <p:ph type="title"/>
          </p:nvPr>
        </p:nvSpPr>
        <p:spPr>
          <a:xfrm>
            <a:off x="0" y="0"/>
            <a:ext cx="12192000" cy="928688"/>
          </a:xfrm>
        </p:spPr>
        <p:txBody>
          <a:bodyPr/>
          <a:lstStyle/>
          <a:p>
            <a:r>
              <a:rPr lang="en-ZA" dirty="0"/>
              <a:t>Controlled Phase Gate</a:t>
            </a:r>
            <a:r>
              <a:rPr lang="en-US" dirty="0"/>
              <a:t> / CP</a:t>
            </a:r>
          </a:p>
        </p:txBody>
      </p:sp>
      <p:sp>
        <p:nvSpPr>
          <p:cNvPr id="3" name="Slide Number Placeholder 2">
            <a:extLst>
              <a:ext uri="{FF2B5EF4-FFF2-40B4-BE49-F238E27FC236}">
                <a16:creationId xmlns:a16="http://schemas.microsoft.com/office/drawing/2014/main" id="{1DFCF789-A597-7E48-870E-125D0C3A063D}"/>
              </a:ext>
            </a:extLst>
          </p:cNvPr>
          <p:cNvSpPr>
            <a:spLocks noGrp="1"/>
          </p:cNvSpPr>
          <p:nvPr>
            <p:ph type="sldNum" sz="quarter" idx="12"/>
          </p:nvPr>
        </p:nvSpPr>
        <p:spPr/>
        <p:txBody>
          <a:bodyPr/>
          <a:lstStyle/>
          <a:p>
            <a:fld id="{591A223C-FA10-BC46-A853-03BA373D023C}" type="slidenum">
              <a:rPr lang="en-US" smtClean="0"/>
              <a:t>38</a:t>
            </a:fld>
            <a:endParaRPr lang="en-US"/>
          </a:p>
        </p:txBody>
      </p:sp>
      <p:sp>
        <p:nvSpPr>
          <p:cNvPr id="7" name="Rectangle 6">
            <a:extLst>
              <a:ext uri="{FF2B5EF4-FFF2-40B4-BE49-F238E27FC236}">
                <a16:creationId xmlns:a16="http://schemas.microsoft.com/office/drawing/2014/main" id="{01F86251-6DE2-3448-A31F-B8BAA869C571}"/>
              </a:ext>
            </a:extLst>
          </p:cNvPr>
          <p:cNvSpPr/>
          <p:nvPr/>
        </p:nvSpPr>
        <p:spPr>
          <a:xfrm>
            <a:off x="224852" y="1133586"/>
            <a:ext cx="11679658" cy="403277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Connector 15">
            <a:extLst>
              <a:ext uri="{FF2B5EF4-FFF2-40B4-BE49-F238E27FC236}">
                <a16:creationId xmlns:a16="http://schemas.microsoft.com/office/drawing/2014/main" id="{1A76F891-5AB6-8649-AA11-DCC61231E1A8}"/>
              </a:ext>
            </a:extLst>
          </p:cNvPr>
          <p:cNvCxnSpPr>
            <a:cxnSpLocks/>
          </p:cNvCxnSpPr>
          <p:nvPr/>
        </p:nvCxnSpPr>
        <p:spPr>
          <a:xfrm>
            <a:off x="1816336" y="1138289"/>
            <a:ext cx="0" cy="4028071"/>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98B600C7-EF8F-A54F-A16B-AB413E8AA9CD}"/>
              </a:ext>
            </a:extLst>
          </p:cNvPr>
          <p:cNvCxnSpPr>
            <a:cxnSpLocks/>
          </p:cNvCxnSpPr>
          <p:nvPr/>
        </p:nvCxnSpPr>
        <p:spPr>
          <a:xfrm>
            <a:off x="5671690" y="1133585"/>
            <a:ext cx="0" cy="4032775"/>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8A527968-DE7C-FE4A-A9DB-19FD054BF655}"/>
              </a:ext>
            </a:extLst>
          </p:cNvPr>
          <p:cNvCxnSpPr>
            <a:cxnSpLocks/>
          </p:cNvCxnSpPr>
          <p:nvPr/>
        </p:nvCxnSpPr>
        <p:spPr>
          <a:xfrm flipV="1">
            <a:off x="9267112" y="1133588"/>
            <a:ext cx="0" cy="4032772"/>
          </a:xfrm>
          <a:prstGeom prst="line">
            <a:avLst/>
          </a:prstGeom>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35913924-2483-E343-99F2-9D1061599CCB}"/>
              </a:ext>
            </a:extLst>
          </p:cNvPr>
          <p:cNvCxnSpPr>
            <a:cxnSpLocks/>
          </p:cNvCxnSpPr>
          <p:nvPr/>
        </p:nvCxnSpPr>
        <p:spPr>
          <a:xfrm>
            <a:off x="208474" y="1924779"/>
            <a:ext cx="1167965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83364821-E044-724C-BCD6-88BE6024389F}"/>
              </a:ext>
            </a:extLst>
          </p:cNvPr>
          <p:cNvCxnSpPr>
            <a:cxnSpLocks/>
          </p:cNvCxnSpPr>
          <p:nvPr/>
        </p:nvCxnSpPr>
        <p:spPr>
          <a:xfrm>
            <a:off x="434540" y="3861344"/>
            <a:ext cx="1165590" cy="0"/>
          </a:xfrm>
          <a:prstGeom prst="line">
            <a:avLst/>
          </a:prstGeom>
          <a:ln w="254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A41F298D-2142-3447-964A-88FBF8974F35}"/>
                  </a:ext>
                </a:extLst>
              </p:cNvPr>
              <p:cNvSpPr txBox="1"/>
              <p:nvPr/>
            </p:nvSpPr>
            <p:spPr>
              <a:xfrm>
                <a:off x="5819576" y="2029375"/>
                <a:ext cx="3313814" cy="1459246"/>
              </a:xfrm>
              <a:prstGeom prst="rect">
                <a:avLst/>
              </a:prstGeom>
              <a:noFill/>
            </p:spPr>
            <p:txBody>
              <a:bodyPr wrap="square" rtlCol="0">
                <a:spAutoFit/>
              </a:bodyPr>
              <a:lstStyle/>
              <a:p>
                <a:pPr algn="just"/>
                <a:r>
                  <a:rPr lang="en-ZA" sz="2200" dirty="0">
                    <a:latin typeface="+mj-lt"/>
                  </a:rPr>
                  <a:t>The CP gate applies a phase </a:t>
                </a:r>
                <a14:m>
                  <m:oMath xmlns:m="http://schemas.openxmlformats.org/officeDocument/2006/math">
                    <m:sSup>
                      <m:sSupPr>
                        <m:ctrlPr>
                          <a:rPr lang="en-ZA" sz="2200" i="1">
                            <a:latin typeface="Cambria Math" panose="02040503050406030204" pitchFamily="18" charset="0"/>
                          </a:rPr>
                        </m:ctrlPr>
                      </m:sSupPr>
                      <m:e>
                        <m:r>
                          <a:rPr lang="sr-Latn-RS" sz="2200" i="1">
                            <a:latin typeface="Cambria Math" panose="02040503050406030204" pitchFamily="18" charset="0"/>
                          </a:rPr>
                          <m:t>𝑒</m:t>
                        </m:r>
                      </m:e>
                      <m:sup>
                        <m:r>
                          <a:rPr lang="sr-Latn-RS" sz="2200" i="1">
                            <a:latin typeface="Cambria Math" panose="02040503050406030204" pitchFamily="18" charset="0"/>
                          </a:rPr>
                          <m:t>𝑖</m:t>
                        </m:r>
                        <m:r>
                          <a:rPr lang="sr-Latn-RS" sz="2200" i="1">
                            <a:latin typeface="Cambria Math" panose="02040503050406030204" pitchFamily="18" charset="0"/>
                          </a:rPr>
                          <m:t>𝜆</m:t>
                        </m:r>
                      </m:sup>
                    </m:sSup>
                  </m:oMath>
                </a14:m>
                <a:r>
                  <a:rPr lang="en-ZA" sz="2200" dirty="0">
                    <a:latin typeface="+mj-lt"/>
                  </a:rPr>
                  <a:t> to the </a:t>
                </a:r>
                <a14:m>
                  <m:oMath xmlns:m="http://schemas.openxmlformats.org/officeDocument/2006/math">
                    <m:d>
                      <m:dPr>
                        <m:begChr m:val="|"/>
                        <m:endChr m:val="⟩"/>
                        <m:ctrlPr>
                          <a:rPr lang="en-ZA" sz="2200" i="1">
                            <a:latin typeface="Cambria Math" panose="02040503050406030204" pitchFamily="18" charset="0"/>
                          </a:rPr>
                        </m:ctrlPr>
                      </m:dPr>
                      <m:e>
                        <m:r>
                          <a:rPr lang="en-US" sz="2200" i="1">
                            <a:latin typeface="Cambria Math" panose="02040503050406030204" pitchFamily="18" charset="0"/>
                          </a:rPr>
                          <m:t>1</m:t>
                        </m:r>
                        <m:r>
                          <a:rPr lang="en-US" sz="2200" b="0" i="1" smtClean="0">
                            <a:latin typeface="Cambria Math" panose="02040503050406030204" pitchFamily="18" charset="0"/>
                          </a:rPr>
                          <m:t>1</m:t>
                        </m:r>
                      </m:e>
                    </m:d>
                  </m:oMath>
                </a14:m>
                <a:r>
                  <a:rPr lang="en-ZA" sz="2200" dirty="0">
                    <a:latin typeface="+mj-lt"/>
                  </a:rPr>
                  <a:t> state while leaving other states unchanged.</a:t>
                </a:r>
                <a:endParaRPr lang="en-US" sz="2200" dirty="0">
                  <a:latin typeface="+mj-lt"/>
                </a:endParaRPr>
              </a:p>
            </p:txBody>
          </p:sp>
        </mc:Choice>
        <mc:Fallback xmlns="">
          <p:sp>
            <p:nvSpPr>
              <p:cNvPr id="37" name="TextBox 36">
                <a:extLst>
                  <a:ext uri="{FF2B5EF4-FFF2-40B4-BE49-F238E27FC236}">
                    <a16:creationId xmlns:a16="http://schemas.microsoft.com/office/drawing/2014/main" id="{A41F298D-2142-3447-964A-88FBF8974F35}"/>
                  </a:ext>
                </a:extLst>
              </p:cNvPr>
              <p:cNvSpPr txBox="1">
                <a:spLocks noRot="1" noChangeAspect="1" noMove="1" noResize="1" noEditPoints="1" noAdjustHandles="1" noChangeArrowheads="1" noChangeShapeType="1" noTextEdit="1"/>
              </p:cNvSpPr>
              <p:nvPr/>
            </p:nvSpPr>
            <p:spPr>
              <a:xfrm>
                <a:off x="5819576" y="2029375"/>
                <a:ext cx="3313814" cy="1459246"/>
              </a:xfrm>
              <a:prstGeom prst="rect">
                <a:avLst/>
              </a:prstGeom>
              <a:blipFill>
                <a:blip r:embed="rId3"/>
                <a:stretch>
                  <a:fillRect l="-1908" t="-2586" r="-2290" b="-6897"/>
                </a:stretch>
              </a:blipFill>
            </p:spPr>
            <p:txBody>
              <a:bodyPr/>
              <a:lstStyle/>
              <a:p>
                <a:r>
                  <a:rPr lang="en-US">
                    <a:noFill/>
                  </a:rPr>
                  <a:t> </a:t>
                </a:r>
              </a:p>
            </p:txBody>
          </p:sp>
        </mc:Fallback>
      </mc:AlternateContent>
      <p:sp>
        <p:nvSpPr>
          <p:cNvPr id="43" name="Rectangle 42">
            <a:extLst>
              <a:ext uri="{FF2B5EF4-FFF2-40B4-BE49-F238E27FC236}">
                <a16:creationId xmlns:a16="http://schemas.microsoft.com/office/drawing/2014/main" id="{0824DC6C-CEC9-3E4E-8DF1-99A0070F2BD7}"/>
              </a:ext>
            </a:extLst>
          </p:cNvPr>
          <p:cNvSpPr/>
          <p:nvPr/>
        </p:nvSpPr>
        <p:spPr>
          <a:xfrm>
            <a:off x="9288739" y="2659065"/>
            <a:ext cx="2907149" cy="415498"/>
          </a:xfrm>
          <a:prstGeom prst="rect">
            <a:avLst/>
          </a:prstGeom>
        </p:spPr>
        <p:txBody>
          <a:bodyPr wrap="square">
            <a:spAutoFit/>
          </a:bodyPr>
          <a:lstStyle/>
          <a:p>
            <a:r>
              <a:rPr lang="sr-Latn-RS" sz="2100" dirty="0" err="1">
                <a:latin typeface="Menlo" panose="020B0609030804020204" pitchFamily="49" charset="0"/>
                <a:ea typeface="Menlo" panose="020B0609030804020204" pitchFamily="49" charset="0"/>
                <a:cs typeface="Menlo" panose="020B0609030804020204" pitchFamily="49" charset="0"/>
              </a:rPr>
              <a:t>cp</a:t>
            </a:r>
            <a:r>
              <a:rPr lang="sr-Latn-RS" sz="2100" dirty="0">
                <a:latin typeface="Menlo" panose="020B0609030804020204" pitchFamily="49" charset="0"/>
                <a:ea typeface="Menlo" panose="020B0609030804020204" pitchFamily="49" charset="0"/>
                <a:cs typeface="Menlo" panose="020B0609030804020204" pitchFamily="49" charset="0"/>
              </a:rPr>
              <a:t>(l) </a:t>
            </a:r>
            <a:r>
              <a:rPr lang="sr-Latn-RS" sz="2100" dirty="0" err="1">
                <a:latin typeface="Menlo" panose="020B0609030804020204" pitchFamily="49" charset="0"/>
                <a:ea typeface="Menlo" panose="020B0609030804020204" pitchFamily="49" charset="0"/>
                <a:cs typeface="Menlo" panose="020B0609030804020204" pitchFamily="49" charset="0"/>
              </a:rPr>
              <a:t>q</a:t>
            </a:r>
            <a:r>
              <a:rPr lang="sr-Latn-RS" sz="2100" dirty="0">
                <a:latin typeface="Menlo" panose="020B0609030804020204" pitchFamily="49" charset="0"/>
                <a:ea typeface="Menlo" panose="020B0609030804020204" pitchFamily="49" charset="0"/>
                <a:cs typeface="Menlo" panose="020B0609030804020204" pitchFamily="49" charset="0"/>
              </a:rPr>
              <a:t>[i],</a:t>
            </a:r>
            <a:r>
              <a:rPr lang="sr-Latn-RS" sz="2100" dirty="0" err="1">
                <a:latin typeface="Menlo" panose="020B0609030804020204" pitchFamily="49" charset="0"/>
                <a:ea typeface="Menlo" panose="020B0609030804020204" pitchFamily="49" charset="0"/>
                <a:cs typeface="Menlo" panose="020B0609030804020204" pitchFamily="49" charset="0"/>
              </a:rPr>
              <a:t>q</a:t>
            </a:r>
            <a:r>
              <a:rPr lang="sr-Latn-RS" sz="2100" dirty="0">
                <a:latin typeface="Menlo" panose="020B0609030804020204" pitchFamily="49" charset="0"/>
                <a:ea typeface="Menlo" panose="020B0609030804020204" pitchFamily="49" charset="0"/>
                <a:cs typeface="Menlo" panose="020B0609030804020204" pitchFamily="49" charset="0"/>
              </a:rPr>
              <a:t>[</a:t>
            </a:r>
            <a:r>
              <a:rPr lang="sr-Latn-RS" sz="2100" dirty="0" err="1">
                <a:latin typeface="Menlo" panose="020B0609030804020204" pitchFamily="49" charset="0"/>
                <a:ea typeface="Menlo" panose="020B0609030804020204" pitchFamily="49" charset="0"/>
                <a:cs typeface="Menlo" panose="020B0609030804020204" pitchFamily="49" charset="0"/>
              </a:rPr>
              <a:t>j</a:t>
            </a:r>
            <a:r>
              <a:rPr lang="sr-Latn-RS" sz="2100" dirty="0">
                <a:latin typeface="Menlo" panose="020B0609030804020204" pitchFamily="49" charset="0"/>
                <a:ea typeface="Menlo" panose="020B0609030804020204" pitchFamily="49" charset="0"/>
                <a:cs typeface="Menlo" panose="020B0609030804020204" pitchFamily="49" charset="0"/>
              </a:rPr>
              <a:t>];</a:t>
            </a:r>
            <a:endParaRPr lang="en-US" sz="2100" dirty="0">
              <a:effectLst/>
              <a:latin typeface="Menlo" panose="020B0609030804020204" pitchFamily="49" charset="0"/>
              <a:ea typeface="Menlo" panose="020B0609030804020204" pitchFamily="49" charset="0"/>
              <a:cs typeface="Menlo" panose="020B0609030804020204" pitchFamily="49" charset="0"/>
            </a:endParaRPr>
          </a:p>
        </p:txBody>
      </p:sp>
      <p:sp>
        <p:nvSpPr>
          <p:cNvPr id="38" name="Oval 37">
            <a:extLst>
              <a:ext uri="{FF2B5EF4-FFF2-40B4-BE49-F238E27FC236}">
                <a16:creationId xmlns:a16="http://schemas.microsoft.com/office/drawing/2014/main" id="{69002E74-4715-7846-AD6D-077E1BE4461B}"/>
              </a:ext>
            </a:extLst>
          </p:cNvPr>
          <p:cNvSpPr/>
          <p:nvPr/>
        </p:nvSpPr>
        <p:spPr>
          <a:xfrm>
            <a:off x="925485" y="2822862"/>
            <a:ext cx="180000" cy="18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cxnSp>
        <p:nvCxnSpPr>
          <p:cNvPr id="15" name="Straight Connector 14">
            <a:extLst>
              <a:ext uri="{FF2B5EF4-FFF2-40B4-BE49-F238E27FC236}">
                <a16:creationId xmlns:a16="http://schemas.microsoft.com/office/drawing/2014/main" id="{257E0AFF-39A4-2741-BC3C-B2C0F59BC751}"/>
              </a:ext>
            </a:extLst>
          </p:cNvPr>
          <p:cNvCxnSpPr>
            <a:cxnSpLocks/>
            <a:stCxn id="38" idx="4"/>
          </p:cNvCxnSpPr>
          <p:nvPr/>
        </p:nvCxnSpPr>
        <p:spPr>
          <a:xfrm>
            <a:off x="1015485" y="3002862"/>
            <a:ext cx="0" cy="575722"/>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E667040F-665E-5242-BB46-9F9E18E502E7}"/>
              </a:ext>
            </a:extLst>
          </p:cNvPr>
          <p:cNvCxnSpPr>
            <a:cxnSpLocks/>
          </p:cNvCxnSpPr>
          <p:nvPr/>
        </p:nvCxnSpPr>
        <p:spPr>
          <a:xfrm>
            <a:off x="461685" y="2921483"/>
            <a:ext cx="1165590" cy="0"/>
          </a:xfrm>
          <a:prstGeom prst="line">
            <a:avLst/>
          </a:prstGeom>
          <a:ln w="254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 name="Rectangle 25">
                <a:extLst>
                  <a:ext uri="{FF2B5EF4-FFF2-40B4-BE49-F238E27FC236}">
                    <a16:creationId xmlns:a16="http://schemas.microsoft.com/office/drawing/2014/main" id="{CE57BBB8-E581-FE46-94A7-A7C965C7F037}"/>
                  </a:ext>
                </a:extLst>
              </p:cNvPr>
              <p:cNvSpPr/>
              <p:nvPr/>
            </p:nvSpPr>
            <p:spPr>
              <a:xfrm>
                <a:off x="1978293" y="2768825"/>
                <a:ext cx="3383555" cy="147194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ea typeface="Cambria Math" panose="02040503050406030204" pitchFamily="18" charset="0"/>
                        </a:rPr>
                        <m:t>𝑐</m:t>
                      </m:r>
                      <m:r>
                        <a:rPr lang="sr-Latn-RS" sz="2400" b="0" i="1" smtClean="0">
                          <a:latin typeface="Cambria Math" panose="02040503050406030204" pitchFamily="18" charset="0"/>
                          <a:ea typeface="Cambria Math" panose="02040503050406030204" pitchFamily="18" charset="0"/>
                        </a:rPr>
                        <m:t>𝑃</m:t>
                      </m:r>
                      <m:r>
                        <a:rPr lang="en-US" sz="2400" b="0" i="1" smtClean="0">
                          <a:latin typeface="Cambria Math" panose="02040503050406030204" pitchFamily="18" charset="0"/>
                          <a:ea typeface="Cambria Math" panose="02040503050406030204" pitchFamily="18" charset="0"/>
                        </a:rPr>
                        <m:t>=</m:t>
                      </m:r>
                      <m:d>
                        <m:dPr>
                          <m:ctrlPr>
                            <a:rPr lang="en-ZA" sz="2400" i="1">
                              <a:latin typeface="Cambria Math" panose="02040503050406030204" pitchFamily="18" charset="0"/>
                              <a:ea typeface="Cambria Math" panose="02040503050406030204" pitchFamily="18" charset="0"/>
                            </a:rPr>
                          </m:ctrlPr>
                        </m:dPr>
                        <m:e>
                          <m:m>
                            <m:mPr>
                              <m:mcs>
                                <m:mc>
                                  <m:mcPr>
                                    <m:count m:val="4"/>
                                    <m:mcJc m:val="center"/>
                                  </m:mcPr>
                                </m:mc>
                              </m:mcs>
                              <m:ctrlPr>
                                <a:rPr lang="en-ZA" sz="2400" i="1">
                                  <a:latin typeface="Cambria Math" panose="02040503050406030204" pitchFamily="18" charset="0"/>
                                  <a:ea typeface="Cambria Math" panose="02040503050406030204" pitchFamily="18" charset="0"/>
                                </a:rPr>
                              </m:ctrlPr>
                            </m:mPr>
                            <m:mr>
                              <m:e>
                                <m:r>
                                  <a:rPr lang="sr-Latn-RS" sz="2400" i="1">
                                    <a:latin typeface="Cambria Math" panose="02040503050406030204" pitchFamily="18" charset="0"/>
                                    <a:ea typeface="Cambria Math" panose="02040503050406030204" pitchFamily="18" charset="0"/>
                                  </a:rPr>
                                  <m:t>1</m:t>
                                </m:r>
                              </m:e>
                              <m:e>
                                <m:r>
                                  <a:rPr lang="sr-Latn-RS" sz="2400" i="1">
                                    <a:latin typeface="Cambria Math" panose="02040503050406030204" pitchFamily="18" charset="0"/>
                                    <a:ea typeface="Cambria Math" panose="02040503050406030204" pitchFamily="18" charset="0"/>
                                  </a:rPr>
                                  <m:t>0</m:t>
                                </m:r>
                              </m:e>
                              <m:e>
                                <m:r>
                                  <a:rPr lang="sr-Latn-RS" sz="2400" i="1">
                                    <a:latin typeface="Cambria Math" panose="02040503050406030204" pitchFamily="18" charset="0"/>
                                    <a:ea typeface="Cambria Math" panose="02040503050406030204" pitchFamily="18" charset="0"/>
                                  </a:rPr>
                                  <m:t>0</m:t>
                                </m:r>
                              </m:e>
                              <m:e>
                                <m:r>
                                  <a:rPr lang="sr-Latn-RS" sz="2400" i="1">
                                    <a:latin typeface="Cambria Math" panose="02040503050406030204" pitchFamily="18" charset="0"/>
                                    <a:ea typeface="Cambria Math" panose="02040503050406030204" pitchFamily="18" charset="0"/>
                                  </a:rPr>
                                  <m:t>0</m:t>
                                </m:r>
                              </m:e>
                            </m:mr>
                            <m:mr>
                              <m:e>
                                <m:r>
                                  <a:rPr lang="sr-Latn-RS" sz="2400" i="1">
                                    <a:latin typeface="Cambria Math" panose="02040503050406030204" pitchFamily="18" charset="0"/>
                                    <a:ea typeface="Cambria Math" panose="02040503050406030204" pitchFamily="18" charset="0"/>
                                  </a:rPr>
                                  <m:t>0</m:t>
                                </m:r>
                              </m:e>
                              <m:e>
                                <m:r>
                                  <a:rPr lang="sr-Latn-RS" sz="2400" i="1">
                                    <a:latin typeface="Cambria Math" panose="02040503050406030204" pitchFamily="18" charset="0"/>
                                    <a:ea typeface="Cambria Math" panose="02040503050406030204" pitchFamily="18" charset="0"/>
                                  </a:rPr>
                                  <m:t>1</m:t>
                                </m:r>
                              </m:e>
                              <m:e>
                                <m:r>
                                  <a:rPr lang="sr-Latn-RS" sz="2400" i="1">
                                    <a:latin typeface="Cambria Math" panose="02040503050406030204" pitchFamily="18" charset="0"/>
                                    <a:ea typeface="Cambria Math" panose="02040503050406030204" pitchFamily="18" charset="0"/>
                                  </a:rPr>
                                  <m:t>0</m:t>
                                </m:r>
                              </m:e>
                              <m:e>
                                <m:r>
                                  <a:rPr lang="sr-Latn-RS" sz="2400" i="1">
                                    <a:latin typeface="Cambria Math" panose="02040503050406030204" pitchFamily="18" charset="0"/>
                                    <a:ea typeface="Cambria Math" panose="02040503050406030204" pitchFamily="18" charset="0"/>
                                  </a:rPr>
                                  <m:t>0</m:t>
                                </m:r>
                              </m:e>
                            </m:mr>
                            <m:mr>
                              <m:e>
                                <m:r>
                                  <a:rPr lang="sr-Latn-RS" sz="2400" i="1">
                                    <a:latin typeface="Cambria Math" panose="02040503050406030204" pitchFamily="18" charset="0"/>
                                    <a:ea typeface="Cambria Math" panose="02040503050406030204" pitchFamily="18" charset="0"/>
                                  </a:rPr>
                                  <m:t>0</m:t>
                                </m:r>
                              </m:e>
                              <m:e>
                                <m:r>
                                  <a:rPr lang="sr-Latn-RS" sz="2400" i="1">
                                    <a:latin typeface="Cambria Math" panose="02040503050406030204" pitchFamily="18" charset="0"/>
                                    <a:ea typeface="Cambria Math" panose="02040503050406030204" pitchFamily="18" charset="0"/>
                                  </a:rPr>
                                  <m:t>0</m:t>
                                </m:r>
                              </m:e>
                              <m:e>
                                <m:r>
                                  <a:rPr lang="sr-Latn-RS" sz="2400" b="0" i="1" smtClean="0">
                                    <a:latin typeface="Cambria Math" panose="02040503050406030204" pitchFamily="18" charset="0"/>
                                    <a:ea typeface="Cambria Math" panose="02040503050406030204" pitchFamily="18" charset="0"/>
                                  </a:rPr>
                                  <m:t>1</m:t>
                                </m:r>
                              </m:e>
                              <m:e>
                                <m:r>
                                  <a:rPr lang="sr-Latn-RS" sz="2400" b="0" i="1" smtClean="0">
                                    <a:latin typeface="Cambria Math" panose="02040503050406030204" pitchFamily="18" charset="0"/>
                                    <a:ea typeface="Cambria Math" panose="02040503050406030204" pitchFamily="18" charset="0"/>
                                  </a:rPr>
                                  <m:t>0</m:t>
                                </m:r>
                              </m:e>
                            </m:mr>
                            <m:mr>
                              <m:e>
                                <m:r>
                                  <a:rPr lang="sr-Latn-RS" sz="2400" i="1">
                                    <a:latin typeface="Cambria Math" panose="02040503050406030204" pitchFamily="18" charset="0"/>
                                    <a:ea typeface="Cambria Math" panose="02040503050406030204" pitchFamily="18" charset="0"/>
                                  </a:rPr>
                                  <m:t>0</m:t>
                                </m:r>
                              </m:e>
                              <m:e>
                                <m:r>
                                  <a:rPr lang="sr-Latn-RS" sz="2400" i="1">
                                    <a:latin typeface="Cambria Math" panose="02040503050406030204" pitchFamily="18" charset="0"/>
                                    <a:ea typeface="Cambria Math" panose="02040503050406030204" pitchFamily="18" charset="0"/>
                                  </a:rPr>
                                  <m:t>0</m:t>
                                </m:r>
                              </m:e>
                              <m:e>
                                <m:r>
                                  <a:rPr lang="sr-Latn-RS" sz="2400" b="0" i="1" smtClean="0">
                                    <a:latin typeface="Cambria Math" panose="02040503050406030204" pitchFamily="18" charset="0"/>
                                    <a:ea typeface="Cambria Math" panose="02040503050406030204" pitchFamily="18" charset="0"/>
                                  </a:rPr>
                                  <m:t>0</m:t>
                                </m:r>
                              </m:e>
                              <m:e>
                                <m:sSup>
                                  <m:sSupPr>
                                    <m:ctrlPr>
                                      <a:rPr lang="en-ZA" sz="2400" i="1">
                                        <a:latin typeface="Cambria Math" panose="02040503050406030204" pitchFamily="18" charset="0"/>
                                      </a:rPr>
                                    </m:ctrlPr>
                                  </m:sSupPr>
                                  <m:e>
                                    <m:r>
                                      <a:rPr lang="sr-Latn-RS" sz="2400" i="1">
                                        <a:latin typeface="Cambria Math" panose="02040503050406030204" pitchFamily="18" charset="0"/>
                                      </a:rPr>
                                      <m:t>𝑒</m:t>
                                    </m:r>
                                  </m:e>
                                  <m:sup>
                                    <m:r>
                                      <a:rPr lang="sr-Latn-RS" sz="2400" i="1">
                                        <a:latin typeface="Cambria Math" panose="02040503050406030204" pitchFamily="18" charset="0"/>
                                      </a:rPr>
                                      <m:t>𝑖</m:t>
                                    </m:r>
                                    <m:r>
                                      <a:rPr lang="sr-Latn-RS" sz="2400" i="1">
                                        <a:latin typeface="Cambria Math" panose="02040503050406030204" pitchFamily="18" charset="0"/>
                                      </a:rPr>
                                      <m:t>𝜆</m:t>
                                    </m:r>
                                  </m:sup>
                                </m:sSup>
                              </m:e>
                            </m:mr>
                          </m:m>
                        </m:e>
                      </m:d>
                    </m:oMath>
                  </m:oMathPara>
                </a14:m>
                <a:endParaRPr lang="en-US" sz="2400" dirty="0">
                  <a:latin typeface="Cambria Math" panose="02040503050406030204" pitchFamily="18" charset="0"/>
                  <a:ea typeface="Cambria Math" panose="02040503050406030204" pitchFamily="18" charset="0"/>
                </a:endParaRPr>
              </a:p>
            </p:txBody>
          </p:sp>
        </mc:Choice>
        <mc:Fallback xmlns="">
          <p:sp>
            <p:nvSpPr>
              <p:cNvPr id="26" name="Rectangle 25">
                <a:extLst>
                  <a:ext uri="{FF2B5EF4-FFF2-40B4-BE49-F238E27FC236}">
                    <a16:creationId xmlns:a16="http://schemas.microsoft.com/office/drawing/2014/main" id="{CE57BBB8-E581-FE46-94A7-A7C965C7F037}"/>
                  </a:ext>
                </a:extLst>
              </p:cNvPr>
              <p:cNvSpPr>
                <a:spLocks noRot="1" noChangeAspect="1" noMove="1" noResize="1" noEditPoints="1" noAdjustHandles="1" noChangeArrowheads="1" noChangeShapeType="1" noTextEdit="1"/>
              </p:cNvSpPr>
              <p:nvPr/>
            </p:nvSpPr>
            <p:spPr>
              <a:xfrm>
                <a:off x="1978293" y="2768825"/>
                <a:ext cx="3383555" cy="1471941"/>
              </a:xfrm>
              <a:prstGeom prst="rect">
                <a:avLst/>
              </a:prstGeom>
              <a:blipFill>
                <a:blip r:embed="rId4"/>
                <a:stretch>
                  <a:fillRect b="-85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Rectangle 27">
                <a:extLst>
                  <a:ext uri="{FF2B5EF4-FFF2-40B4-BE49-F238E27FC236}">
                    <a16:creationId xmlns:a16="http://schemas.microsoft.com/office/drawing/2014/main" id="{6CFAB81F-91C5-8B4E-8018-BA950ACEB817}"/>
                  </a:ext>
                </a:extLst>
              </p:cNvPr>
              <p:cNvSpPr/>
              <p:nvPr/>
            </p:nvSpPr>
            <p:spPr>
              <a:xfrm>
                <a:off x="295214" y="2446289"/>
                <a:ext cx="404405"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𝑐</m:t>
                      </m:r>
                    </m:oMath>
                  </m:oMathPara>
                </a14:m>
                <a:endParaRPr lang="en-US" sz="2400" dirty="0"/>
              </a:p>
            </p:txBody>
          </p:sp>
        </mc:Choice>
        <mc:Fallback xmlns="">
          <p:sp>
            <p:nvSpPr>
              <p:cNvPr id="28" name="Rectangle 27">
                <a:extLst>
                  <a:ext uri="{FF2B5EF4-FFF2-40B4-BE49-F238E27FC236}">
                    <a16:creationId xmlns:a16="http://schemas.microsoft.com/office/drawing/2014/main" id="{6CFAB81F-91C5-8B4E-8018-BA950ACEB817}"/>
                  </a:ext>
                </a:extLst>
              </p:cNvPr>
              <p:cNvSpPr>
                <a:spLocks noRot="1" noChangeAspect="1" noMove="1" noResize="1" noEditPoints="1" noAdjustHandles="1" noChangeArrowheads="1" noChangeShapeType="1" noTextEdit="1"/>
              </p:cNvSpPr>
              <p:nvPr/>
            </p:nvSpPr>
            <p:spPr>
              <a:xfrm>
                <a:off x="295214" y="2446289"/>
                <a:ext cx="404405" cy="461665"/>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6" name="Rectangle 55">
                <a:extLst>
                  <a:ext uri="{FF2B5EF4-FFF2-40B4-BE49-F238E27FC236}">
                    <a16:creationId xmlns:a16="http://schemas.microsoft.com/office/drawing/2014/main" id="{58858AB7-CC58-F24F-89C7-35BA9F306EA3}"/>
                  </a:ext>
                </a:extLst>
              </p:cNvPr>
              <p:cNvSpPr/>
              <p:nvPr/>
            </p:nvSpPr>
            <p:spPr>
              <a:xfrm>
                <a:off x="245520" y="3389128"/>
                <a:ext cx="382925"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𝑡</m:t>
                      </m:r>
                    </m:oMath>
                  </m:oMathPara>
                </a14:m>
                <a:endParaRPr lang="en-US" sz="2400" dirty="0"/>
              </a:p>
            </p:txBody>
          </p:sp>
        </mc:Choice>
        <mc:Fallback xmlns="">
          <p:sp>
            <p:nvSpPr>
              <p:cNvPr id="56" name="Rectangle 55">
                <a:extLst>
                  <a:ext uri="{FF2B5EF4-FFF2-40B4-BE49-F238E27FC236}">
                    <a16:creationId xmlns:a16="http://schemas.microsoft.com/office/drawing/2014/main" id="{58858AB7-CC58-F24F-89C7-35BA9F306EA3}"/>
                  </a:ext>
                </a:extLst>
              </p:cNvPr>
              <p:cNvSpPr>
                <a:spLocks noRot="1" noChangeAspect="1" noMove="1" noResize="1" noEditPoints="1" noAdjustHandles="1" noChangeArrowheads="1" noChangeShapeType="1" noTextEdit="1"/>
              </p:cNvSpPr>
              <p:nvPr/>
            </p:nvSpPr>
            <p:spPr>
              <a:xfrm>
                <a:off x="245520" y="3389128"/>
                <a:ext cx="382925" cy="461665"/>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Rectangle 40">
                <a:extLst>
                  <a:ext uri="{FF2B5EF4-FFF2-40B4-BE49-F238E27FC236}">
                    <a16:creationId xmlns:a16="http://schemas.microsoft.com/office/drawing/2014/main" id="{5EFAA184-8217-6F46-A5FC-0E8F59D8CAF6}"/>
                  </a:ext>
                </a:extLst>
              </p:cNvPr>
              <p:cNvSpPr/>
              <p:nvPr/>
            </p:nvSpPr>
            <p:spPr>
              <a:xfrm>
                <a:off x="1848475" y="2115970"/>
                <a:ext cx="3661259"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ea typeface="Cambria Math" panose="02040503050406030204" pitchFamily="18" charset="0"/>
                        </a:rPr>
                        <m:t>𝑐</m:t>
                      </m:r>
                      <m:r>
                        <a:rPr lang="sr-Latn-RS" sz="2400" b="0" i="1" smtClean="0">
                          <a:latin typeface="Cambria Math" panose="02040503050406030204" pitchFamily="18" charset="0"/>
                          <a:ea typeface="Cambria Math" panose="02040503050406030204" pitchFamily="18" charset="0"/>
                        </a:rPr>
                        <m:t>𝑃</m:t>
                      </m:r>
                      <m:r>
                        <a:rPr lang="en-US" sz="2400" b="0" i="1" smtClean="0">
                          <a:latin typeface="Cambria Math" panose="02040503050406030204" pitchFamily="18" charset="0"/>
                          <a:ea typeface="Cambria Math" panose="02040503050406030204" pitchFamily="18" charset="0"/>
                        </a:rPr>
                        <m:t>=</m:t>
                      </m:r>
                      <m:d>
                        <m:dPr>
                          <m:begChr m:val="|"/>
                          <m:endChr m:val="⟩"/>
                          <m:ctrlPr>
                            <a:rPr lang="en-ZA" sz="2400" i="1">
                              <a:latin typeface="Cambria Math" panose="02040503050406030204" pitchFamily="18" charset="0"/>
                            </a:rPr>
                          </m:ctrlPr>
                        </m:dPr>
                        <m:e>
                          <m:r>
                            <a:rPr lang="en-US" sz="2400" i="1">
                              <a:latin typeface="Cambria Math" panose="02040503050406030204" pitchFamily="18" charset="0"/>
                            </a:rPr>
                            <m:t>0</m:t>
                          </m:r>
                        </m:e>
                      </m:d>
                      <m:box>
                        <m:boxPr>
                          <m:ctrlPr>
                            <a:rPr lang="en-ZA" sz="2400" i="1">
                              <a:latin typeface="Cambria Math" panose="02040503050406030204" pitchFamily="18" charset="0"/>
                            </a:rPr>
                          </m:ctrlPr>
                        </m:boxPr>
                        <m:e>
                          <m:d>
                            <m:dPr>
                              <m:begChr m:val="⟨"/>
                              <m:endChr m:val="|"/>
                              <m:ctrlPr>
                                <a:rPr lang="en-ZA" sz="2400" i="1">
                                  <a:latin typeface="Cambria Math" panose="02040503050406030204" pitchFamily="18" charset="0"/>
                                </a:rPr>
                              </m:ctrlPr>
                            </m:dPr>
                            <m:e>
                              <m:r>
                                <a:rPr lang="en-US" sz="2400" i="1">
                                  <a:latin typeface="Cambria Math" panose="02040503050406030204" pitchFamily="18" charset="0"/>
                                </a:rPr>
                                <m:t>0</m:t>
                              </m:r>
                            </m:e>
                          </m:d>
                          <m:r>
                            <a:rPr lang="en-US" sz="2400" i="1">
                              <a:latin typeface="Cambria Math" panose="02040503050406030204" pitchFamily="18" charset="0"/>
                            </a:rPr>
                            <m:t>⨂</m:t>
                          </m:r>
                          <m:r>
                            <a:rPr lang="en-US" sz="2400" i="1">
                              <a:latin typeface="Cambria Math" panose="02040503050406030204" pitchFamily="18" charset="0"/>
                            </a:rPr>
                            <m:t>𝐼</m:t>
                          </m:r>
                          <m:r>
                            <a:rPr lang="en-US" sz="2400" i="1">
                              <a:latin typeface="Cambria Math" panose="02040503050406030204" pitchFamily="18" charset="0"/>
                            </a:rPr>
                            <m:t>+</m:t>
                          </m:r>
                        </m:e>
                      </m:box>
                      <m:d>
                        <m:dPr>
                          <m:begChr m:val="|"/>
                          <m:endChr m:val="⟩"/>
                          <m:ctrlPr>
                            <a:rPr lang="en-ZA" sz="2400" i="1">
                              <a:latin typeface="Cambria Math" panose="02040503050406030204" pitchFamily="18" charset="0"/>
                            </a:rPr>
                          </m:ctrlPr>
                        </m:dPr>
                        <m:e>
                          <m:r>
                            <a:rPr lang="en-US" sz="2400" i="1">
                              <a:latin typeface="Cambria Math" panose="02040503050406030204" pitchFamily="18" charset="0"/>
                            </a:rPr>
                            <m:t>1</m:t>
                          </m:r>
                        </m:e>
                      </m:d>
                      <m:box>
                        <m:boxPr>
                          <m:ctrlPr>
                            <a:rPr lang="en-ZA" sz="2400" i="1">
                              <a:latin typeface="Cambria Math" panose="02040503050406030204" pitchFamily="18" charset="0"/>
                            </a:rPr>
                          </m:ctrlPr>
                        </m:boxPr>
                        <m:e>
                          <m:d>
                            <m:dPr>
                              <m:begChr m:val="⟨"/>
                              <m:endChr m:val="|"/>
                              <m:ctrlPr>
                                <a:rPr lang="en-ZA" sz="2400" i="1">
                                  <a:latin typeface="Cambria Math" panose="02040503050406030204" pitchFamily="18" charset="0"/>
                                </a:rPr>
                              </m:ctrlPr>
                            </m:dPr>
                            <m:e>
                              <m:r>
                                <a:rPr lang="en-US" sz="2400" i="1">
                                  <a:latin typeface="Cambria Math" panose="02040503050406030204" pitchFamily="18" charset="0"/>
                                </a:rPr>
                                <m:t>1</m:t>
                              </m:r>
                            </m:e>
                          </m:d>
                          <m:r>
                            <a:rPr lang="en-US" sz="2400" i="1">
                              <a:latin typeface="Cambria Math" panose="02040503050406030204" pitchFamily="18" charset="0"/>
                            </a:rPr>
                            <m:t>⨂</m:t>
                          </m:r>
                          <m:r>
                            <a:rPr lang="sr-Latn-RS" sz="2400" b="0" i="1" smtClean="0">
                              <a:latin typeface="Cambria Math" panose="02040503050406030204" pitchFamily="18" charset="0"/>
                            </a:rPr>
                            <m:t>𝑃</m:t>
                          </m:r>
                        </m:e>
                      </m:box>
                    </m:oMath>
                  </m:oMathPara>
                </a14:m>
                <a:endParaRPr lang="en-US" sz="2400" dirty="0">
                  <a:latin typeface="Cambria Math" panose="02040503050406030204" pitchFamily="18" charset="0"/>
                  <a:ea typeface="Cambria Math" panose="02040503050406030204" pitchFamily="18" charset="0"/>
                </a:endParaRPr>
              </a:p>
            </p:txBody>
          </p:sp>
        </mc:Choice>
        <mc:Fallback xmlns="">
          <p:sp>
            <p:nvSpPr>
              <p:cNvPr id="41" name="Rectangle 40">
                <a:extLst>
                  <a:ext uri="{FF2B5EF4-FFF2-40B4-BE49-F238E27FC236}">
                    <a16:creationId xmlns:a16="http://schemas.microsoft.com/office/drawing/2014/main" id="{5EFAA184-8217-6F46-A5FC-0E8F59D8CAF6}"/>
                  </a:ext>
                </a:extLst>
              </p:cNvPr>
              <p:cNvSpPr>
                <a:spLocks noRot="1" noChangeAspect="1" noMove="1" noResize="1" noEditPoints="1" noAdjustHandles="1" noChangeArrowheads="1" noChangeShapeType="1" noTextEdit="1"/>
              </p:cNvSpPr>
              <p:nvPr/>
            </p:nvSpPr>
            <p:spPr>
              <a:xfrm>
                <a:off x="1848475" y="2115970"/>
                <a:ext cx="3661259" cy="461665"/>
              </a:xfrm>
              <a:prstGeom prst="rect">
                <a:avLst/>
              </a:prstGeom>
              <a:blipFill>
                <a:blip r:embed="rId7"/>
                <a:stretch>
                  <a:fillRect/>
                </a:stretch>
              </a:blipFill>
            </p:spPr>
            <p:txBody>
              <a:bodyPr/>
              <a:lstStyle/>
              <a:p>
                <a:r>
                  <a:rPr lang="en-US">
                    <a:noFill/>
                  </a:rPr>
                  <a:t> </a:t>
                </a:r>
              </a:p>
            </p:txBody>
          </p:sp>
        </mc:Fallback>
      </mc:AlternateContent>
      <p:sp>
        <p:nvSpPr>
          <p:cNvPr id="24" name="Rectangle 23">
            <a:extLst>
              <a:ext uri="{FF2B5EF4-FFF2-40B4-BE49-F238E27FC236}">
                <a16:creationId xmlns:a16="http://schemas.microsoft.com/office/drawing/2014/main" id="{AA7196C6-DD04-DF44-B30C-99552BAD9298}"/>
              </a:ext>
            </a:extLst>
          </p:cNvPr>
          <p:cNvSpPr/>
          <p:nvPr/>
        </p:nvSpPr>
        <p:spPr>
          <a:xfrm>
            <a:off x="685157" y="3511459"/>
            <a:ext cx="704223" cy="678668"/>
          </a:xfrm>
          <a:prstGeom prst="rect">
            <a:avLst/>
          </a:prstGeom>
          <a:solidFill>
            <a:srgbClr val="33B1F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Times" pitchFamily="2" charset="0"/>
              </a:rPr>
              <a:t>P</a:t>
            </a:r>
          </a:p>
        </p:txBody>
      </p:sp>
      <p:sp>
        <p:nvSpPr>
          <p:cNvPr id="27" name="TextBox 26">
            <a:extLst>
              <a:ext uri="{FF2B5EF4-FFF2-40B4-BE49-F238E27FC236}">
                <a16:creationId xmlns:a16="http://schemas.microsoft.com/office/drawing/2014/main" id="{2011F682-9612-6945-AF90-D26E41510965}"/>
              </a:ext>
            </a:extLst>
          </p:cNvPr>
          <p:cNvSpPr txBox="1"/>
          <p:nvPr/>
        </p:nvSpPr>
        <p:spPr>
          <a:xfrm>
            <a:off x="461685" y="1338904"/>
            <a:ext cx="1065100" cy="461665"/>
          </a:xfrm>
          <a:prstGeom prst="rect">
            <a:avLst/>
          </a:prstGeom>
          <a:noFill/>
        </p:spPr>
        <p:txBody>
          <a:bodyPr wrap="none" rtlCol="0">
            <a:spAutoFit/>
          </a:bodyPr>
          <a:lstStyle/>
          <a:p>
            <a:r>
              <a:rPr lang="en-US" sz="2400" dirty="0">
                <a:latin typeface="+mj-lt"/>
              </a:rPr>
              <a:t>symbol</a:t>
            </a:r>
          </a:p>
        </p:txBody>
      </p:sp>
      <p:sp>
        <p:nvSpPr>
          <p:cNvPr id="30" name="TextBox 29">
            <a:extLst>
              <a:ext uri="{FF2B5EF4-FFF2-40B4-BE49-F238E27FC236}">
                <a16:creationId xmlns:a16="http://schemas.microsoft.com/office/drawing/2014/main" id="{0D9BCEE2-BBCB-F246-97B2-B91848FC0B5E}"/>
              </a:ext>
            </a:extLst>
          </p:cNvPr>
          <p:cNvSpPr txBox="1"/>
          <p:nvPr/>
        </p:nvSpPr>
        <p:spPr>
          <a:xfrm>
            <a:off x="3112687" y="1353659"/>
            <a:ext cx="1262653" cy="461665"/>
          </a:xfrm>
          <a:prstGeom prst="rect">
            <a:avLst/>
          </a:prstGeom>
          <a:noFill/>
        </p:spPr>
        <p:txBody>
          <a:bodyPr wrap="none" rtlCol="0">
            <a:spAutoFit/>
          </a:bodyPr>
          <a:lstStyle/>
          <a:p>
            <a:r>
              <a:rPr lang="en-US" sz="2400" dirty="0">
                <a:latin typeface="+mj-lt"/>
              </a:rPr>
              <a:t>operator</a:t>
            </a:r>
          </a:p>
        </p:txBody>
      </p:sp>
      <p:sp>
        <p:nvSpPr>
          <p:cNvPr id="31" name="TextBox 30">
            <a:extLst>
              <a:ext uri="{FF2B5EF4-FFF2-40B4-BE49-F238E27FC236}">
                <a16:creationId xmlns:a16="http://schemas.microsoft.com/office/drawing/2014/main" id="{057739A4-8843-2141-B979-642DCB59AB92}"/>
              </a:ext>
            </a:extLst>
          </p:cNvPr>
          <p:cNvSpPr txBox="1"/>
          <p:nvPr/>
        </p:nvSpPr>
        <p:spPr>
          <a:xfrm>
            <a:off x="6609885" y="1338904"/>
            <a:ext cx="1568186" cy="461665"/>
          </a:xfrm>
          <a:prstGeom prst="rect">
            <a:avLst/>
          </a:prstGeom>
          <a:noFill/>
        </p:spPr>
        <p:txBody>
          <a:bodyPr wrap="none" rtlCol="0">
            <a:spAutoFit/>
          </a:bodyPr>
          <a:lstStyle/>
          <a:p>
            <a:r>
              <a:rPr lang="en-US" sz="2400" dirty="0">
                <a:latin typeface="+mj-lt"/>
              </a:rPr>
              <a:t>description</a:t>
            </a:r>
          </a:p>
        </p:txBody>
      </p:sp>
      <p:sp>
        <p:nvSpPr>
          <p:cNvPr id="32" name="TextBox 31">
            <a:extLst>
              <a:ext uri="{FF2B5EF4-FFF2-40B4-BE49-F238E27FC236}">
                <a16:creationId xmlns:a16="http://schemas.microsoft.com/office/drawing/2014/main" id="{8EA8C202-1A7E-8849-B49B-44A13196687D}"/>
              </a:ext>
            </a:extLst>
          </p:cNvPr>
          <p:cNvSpPr txBox="1"/>
          <p:nvPr/>
        </p:nvSpPr>
        <p:spPr>
          <a:xfrm>
            <a:off x="10114997" y="1338904"/>
            <a:ext cx="962123" cy="461665"/>
          </a:xfrm>
          <a:prstGeom prst="rect">
            <a:avLst/>
          </a:prstGeom>
          <a:noFill/>
        </p:spPr>
        <p:txBody>
          <a:bodyPr wrap="none" rtlCol="0">
            <a:spAutoFit/>
          </a:bodyPr>
          <a:lstStyle/>
          <a:p>
            <a:r>
              <a:rPr lang="en-US" sz="2400" dirty="0">
                <a:latin typeface="+mj-lt"/>
              </a:rPr>
              <a:t>QASM</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EFF5C84F-AAFE-1F4E-8E5C-B3DDB4389378}"/>
                  </a:ext>
                </a:extLst>
              </p:cNvPr>
              <p:cNvSpPr txBox="1"/>
              <p:nvPr/>
            </p:nvSpPr>
            <p:spPr>
              <a:xfrm>
                <a:off x="6609885" y="3675832"/>
                <a:ext cx="1910716" cy="1400127"/>
              </a:xfrm>
              <a:prstGeom prst="rect">
                <a:avLst/>
              </a:prstGeom>
              <a:noFill/>
            </p:spPr>
            <p:txBody>
              <a:bodyPr wrap="none" rtlCol="0">
                <a:spAutoFit/>
              </a:bodyPr>
              <a:lstStyle/>
              <a:p>
                <a14:m>
                  <m:oMath xmlns:m="http://schemas.openxmlformats.org/officeDocument/2006/math">
                    <m:d>
                      <m:dPr>
                        <m:begChr m:val="|"/>
                        <m:endChr m:val="⟩"/>
                        <m:ctrlPr>
                          <a:rPr lang="en-ZA" sz="2100" i="1" smtClean="0">
                            <a:latin typeface="Cambria Math" panose="02040503050406030204" pitchFamily="18" charset="0"/>
                          </a:rPr>
                        </m:ctrlPr>
                      </m:dPr>
                      <m:e>
                        <m:r>
                          <a:rPr lang="en-US" sz="2100" b="0" i="1" smtClean="0">
                            <a:latin typeface="Cambria Math" panose="02040503050406030204" pitchFamily="18" charset="0"/>
                          </a:rPr>
                          <m:t>00</m:t>
                        </m:r>
                      </m:e>
                    </m:d>
                    <m:r>
                      <a:rPr lang="en-US" sz="2100" i="1" smtClean="0">
                        <a:latin typeface="Cambria Math" panose="02040503050406030204" pitchFamily="18" charset="0"/>
                        <a:ea typeface="Cambria Math" panose="02040503050406030204" pitchFamily="18" charset="0"/>
                      </a:rPr>
                      <m:t>→</m:t>
                    </m:r>
                  </m:oMath>
                </a14:m>
                <a:r>
                  <a:rPr lang="en-ZA" sz="2100" dirty="0"/>
                  <a:t> </a:t>
                </a:r>
                <a14:m>
                  <m:oMath xmlns:m="http://schemas.openxmlformats.org/officeDocument/2006/math">
                    <m:d>
                      <m:dPr>
                        <m:begChr m:val="|"/>
                        <m:endChr m:val="⟩"/>
                        <m:ctrlPr>
                          <a:rPr lang="en-ZA" sz="2100" i="1">
                            <a:latin typeface="Cambria Math" panose="02040503050406030204" pitchFamily="18" charset="0"/>
                          </a:rPr>
                        </m:ctrlPr>
                      </m:dPr>
                      <m:e>
                        <m:r>
                          <a:rPr lang="en-US" sz="2100" b="0" i="1" smtClean="0">
                            <a:latin typeface="Cambria Math" panose="02040503050406030204" pitchFamily="18" charset="0"/>
                          </a:rPr>
                          <m:t>00</m:t>
                        </m:r>
                      </m:e>
                    </m:d>
                  </m:oMath>
                </a14:m>
                <a:endParaRPr lang="en-US" sz="2100" dirty="0"/>
              </a:p>
              <a:p>
                <a14:m>
                  <m:oMath xmlns:m="http://schemas.openxmlformats.org/officeDocument/2006/math">
                    <m:d>
                      <m:dPr>
                        <m:begChr m:val="|"/>
                        <m:endChr m:val="⟩"/>
                        <m:ctrlPr>
                          <a:rPr lang="en-ZA" sz="2100" i="1">
                            <a:latin typeface="Cambria Math" panose="02040503050406030204" pitchFamily="18" charset="0"/>
                          </a:rPr>
                        </m:ctrlPr>
                      </m:dPr>
                      <m:e>
                        <m:r>
                          <a:rPr lang="en-US" sz="2100" i="1">
                            <a:latin typeface="Cambria Math" panose="02040503050406030204" pitchFamily="18" charset="0"/>
                          </a:rPr>
                          <m:t>0</m:t>
                        </m:r>
                        <m:r>
                          <a:rPr lang="en-US" sz="2100" b="0" i="1" smtClean="0">
                            <a:latin typeface="Cambria Math" panose="02040503050406030204" pitchFamily="18" charset="0"/>
                          </a:rPr>
                          <m:t>1</m:t>
                        </m:r>
                      </m:e>
                    </m:d>
                    <m:r>
                      <a:rPr lang="en-US" sz="2100" i="1">
                        <a:latin typeface="Cambria Math" panose="02040503050406030204" pitchFamily="18" charset="0"/>
                        <a:ea typeface="Cambria Math" panose="02040503050406030204" pitchFamily="18" charset="0"/>
                      </a:rPr>
                      <m:t>→</m:t>
                    </m:r>
                  </m:oMath>
                </a14:m>
                <a:r>
                  <a:rPr lang="en-ZA" sz="2100" dirty="0"/>
                  <a:t> </a:t>
                </a:r>
                <a14:m>
                  <m:oMath xmlns:m="http://schemas.openxmlformats.org/officeDocument/2006/math">
                    <m:d>
                      <m:dPr>
                        <m:begChr m:val="|"/>
                        <m:endChr m:val="⟩"/>
                        <m:ctrlPr>
                          <a:rPr lang="en-ZA" sz="2100" i="1">
                            <a:latin typeface="Cambria Math" panose="02040503050406030204" pitchFamily="18" charset="0"/>
                          </a:rPr>
                        </m:ctrlPr>
                      </m:dPr>
                      <m:e>
                        <m:r>
                          <a:rPr lang="en-US" sz="2100" b="0" i="1" smtClean="0">
                            <a:latin typeface="Cambria Math" panose="02040503050406030204" pitchFamily="18" charset="0"/>
                          </a:rPr>
                          <m:t>0</m:t>
                        </m:r>
                        <m:r>
                          <a:rPr lang="en-US" sz="2100" i="1">
                            <a:latin typeface="Cambria Math" panose="02040503050406030204" pitchFamily="18" charset="0"/>
                          </a:rPr>
                          <m:t>1</m:t>
                        </m:r>
                      </m:e>
                    </m:d>
                  </m:oMath>
                </a14:m>
                <a:endParaRPr lang="en-US" sz="2100" dirty="0"/>
              </a:p>
              <a:p>
                <a14:m>
                  <m:oMath xmlns:m="http://schemas.openxmlformats.org/officeDocument/2006/math">
                    <m:d>
                      <m:dPr>
                        <m:begChr m:val="|"/>
                        <m:endChr m:val="⟩"/>
                        <m:ctrlPr>
                          <a:rPr lang="en-ZA" sz="2100" i="1">
                            <a:latin typeface="Cambria Math" panose="02040503050406030204" pitchFamily="18" charset="0"/>
                          </a:rPr>
                        </m:ctrlPr>
                      </m:dPr>
                      <m:e>
                        <m:r>
                          <a:rPr lang="en-US" sz="2100" b="0" i="1" smtClean="0">
                            <a:latin typeface="Cambria Math" panose="02040503050406030204" pitchFamily="18" charset="0"/>
                          </a:rPr>
                          <m:t>1</m:t>
                        </m:r>
                        <m:r>
                          <a:rPr lang="en-US" sz="2100" i="1">
                            <a:latin typeface="Cambria Math" panose="02040503050406030204" pitchFamily="18" charset="0"/>
                          </a:rPr>
                          <m:t>0</m:t>
                        </m:r>
                      </m:e>
                    </m:d>
                    <m:r>
                      <a:rPr lang="en-US" sz="2100" i="1">
                        <a:latin typeface="Cambria Math" panose="02040503050406030204" pitchFamily="18" charset="0"/>
                        <a:ea typeface="Cambria Math" panose="02040503050406030204" pitchFamily="18" charset="0"/>
                      </a:rPr>
                      <m:t>→</m:t>
                    </m:r>
                  </m:oMath>
                </a14:m>
                <a:r>
                  <a:rPr lang="en-ZA" sz="2100" dirty="0"/>
                  <a:t> </a:t>
                </a:r>
                <a14:m>
                  <m:oMath xmlns:m="http://schemas.openxmlformats.org/officeDocument/2006/math">
                    <m:d>
                      <m:dPr>
                        <m:begChr m:val="|"/>
                        <m:endChr m:val="⟩"/>
                        <m:ctrlPr>
                          <a:rPr lang="en-ZA" sz="2100" i="1">
                            <a:latin typeface="Cambria Math" panose="02040503050406030204" pitchFamily="18" charset="0"/>
                          </a:rPr>
                        </m:ctrlPr>
                      </m:dPr>
                      <m:e>
                        <m:r>
                          <a:rPr lang="en-US" sz="2100" i="1">
                            <a:latin typeface="Cambria Math" panose="02040503050406030204" pitchFamily="18" charset="0"/>
                          </a:rPr>
                          <m:t>1</m:t>
                        </m:r>
                        <m:r>
                          <a:rPr lang="en-US" sz="2100" b="0" i="1" smtClean="0">
                            <a:latin typeface="Cambria Math" panose="02040503050406030204" pitchFamily="18" charset="0"/>
                          </a:rPr>
                          <m:t>0</m:t>
                        </m:r>
                      </m:e>
                    </m:d>
                  </m:oMath>
                </a14:m>
                <a:endParaRPr lang="en-US" sz="2100" dirty="0"/>
              </a:p>
              <a:p>
                <a14:m>
                  <m:oMath xmlns:m="http://schemas.openxmlformats.org/officeDocument/2006/math">
                    <m:d>
                      <m:dPr>
                        <m:begChr m:val="|"/>
                        <m:endChr m:val="⟩"/>
                        <m:ctrlPr>
                          <a:rPr lang="en-ZA" sz="2100" i="1">
                            <a:latin typeface="Cambria Math" panose="02040503050406030204" pitchFamily="18" charset="0"/>
                          </a:rPr>
                        </m:ctrlPr>
                      </m:dPr>
                      <m:e>
                        <m:r>
                          <a:rPr lang="en-US" sz="2100" b="0" i="1" smtClean="0">
                            <a:latin typeface="Cambria Math" panose="02040503050406030204" pitchFamily="18" charset="0"/>
                          </a:rPr>
                          <m:t>11</m:t>
                        </m:r>
                      </m:e>
                    </m:d>
                    <m:r>
                      <a:rPr lang="en-US" sz="2100" i="1">
                        <a:latin typeface="Cambria Math" panose="02040503050406030204" pitchFamily="18" charset="0"/>
                        <a:ea typeface="Cambria Math" panose="02040503050406030204" pitchFamily="18" charset="0"/>
                      </a:rPr>
                      <m:t>→</m:t>
                    </m:r>
                  </m:oMath>
                </a14:m>
                <a:r>
                  <a:rPr lang="en-ZA" sz="2100" dirty="0"/>
                  <a:t> </a:t>
                </a:r>
                <a14:m>
                  <m:oMath xmlns:m="http://schemas.openxmlformats.org/officeDocument/2006/math">
                    <m:sSup>
                      <m:sSupPr>
                        <m:ctrlPr>
                          <a:rPr lang="en-ZA" sz="2100" i="1">
                            <a:latin typeface="Cambria Math" panose="02040503050406030204" pitchFamily="18" charset="0"/>
                          </a:rPr>
                        </m:ctrlPr>
                      </m:sSupPr>
                      <m:e>
                        <m:r>
                          <a:rPr lang="sr-Latn-RS" sz="2100" i="1">
                            <a:latin typeface="Cambria Math" panose="02040503050406030204" pitchFamily="18" charset="0"/>
                          </a:rPr>
                          <m:t>𝑒</m:t>
                        </m:r>
                      </m:e>
                      <m:sup>
                        <m:r>
                          <a:rPr lang="sr-Latn-RS" sz="2100" i="1">
                            <a:latin typeface="Cambria Math" panose="02040503050406030204" pitchFamily="18" charset="0"/>
                          </a:rPr>
                          <m:t>𝑖</m:t>
                        </m:r>
                        <m:r>
                          <a:rPr lang="sr-Latn-RS" sz="2100" i="1">
                            <a:latin typeface="Cambria Math" panose="02040503050406030204" pitchFamily="18" charset="0"/>
                          </a:rPr>
                          <m:t>𝜆</m:t>
                        </m:r>
                      </m:sup>
                    </m:sSup>
                    <m:r>
                      <a:rPr lang="sr-Latn-RS" sz="2100" i="1">
                        <a:latin typeface="Cambria Math" panose="02040503050406030204" pitchFamily="18" charset="0"/>
                      </a:rPr>
                      <m:t> </m:t>
                    </m:r>
                    <m:d>
                      <m:dPr>
                        <m:begChr m:val="|"/>
                        <m:endChr m:val="⟩"/>
                        <m:ctrlPr>
                          <a:rPr lang="en-ZA" sz="2100" i="1">
                            <a:latin typeface="Cambria Math" panose="02040503050406030204" pitchFamily="18" charset="0"/>
                          </a:rPr>
                        </m:ctrlPr>
                      </m:dPr>
                      <m:e>
                        <m:r>
                          <a:rPr lang="en-US" sz="2100" i="1">
                            <a:latin typeface="Cambria Math" panose="02040503050406030204" pitchFamily="18" charset="0"/>
                          </a:rPr>
                          <m:t>11</m:t>
                        </m:r>
                      </m:e>
                    </m:d>
                  </m:oMath>
                </a14:m>
                <a:endParaRPr lang="en-US" sz="2100" dirty="0"/>
              </a:p>
            </p:txBody>
          </p:sp>
        </mc:Choice>
        <mc:Fallback xmlns="">
          <p:sp>
            <p:nvSpPr>
              <p:cNvPr id="5" name="TextBox 4">
                <a:extLst>
                  <a:ext uri="{FF2B5EF4-FFF2-40B4-BE49-F238E27FC236}">
                    <a16:creationId xmlns:a16="http://schemas.microsoft.com/office/drawing/2014/main" id="{EFF5C84F-AAFE-1F4E-8E5C-B3DDB4389378}"/>
                  </a:ext>
                </a:extLst>
              </p:cNvPr>
              <p:cNvSpPr txBox="1">
                <a:spLocks noRot="1" noChangeAspect="1" noMove="1" noResize="1" noEditPoints="1" noAdjustHandles="1" noChangeArrowheads="1" noChangeShapeType="1" noTextEdit="1"/>
              </p:cNvSpPr>
              <p:nvPr/>
            </p:nvSpPr>
            <p:spPr>
              <a:xfrm>
                <a:off x="6609885" y="3675832"/>
                <a:ext cx="1910716" cy="1400127"/>
              </a:xfrm>
              <a:prstGeom prst="rect">
                <a:avLst/>
              </a:prstGeom>
              <a:blipFill>
                <a:blip r:embed="rId8"/>
                <a:stretch>
                  <a:fillRect b="-4464"/>
                </a:stretch>
              </a:blipFill>
            </p:spPr>
            <p:txBody>
              <a:bodyPr/>
              <a:lstStyle/>
              <a:p>
                <a:r>
                  <a:rPr lang="en-US">
                    <a:noFill/>
                  </a:rPr>
                  <a:t> </a:t>
                </a:r>
              </a:p>
            </p:txBody>
          </p:sp>
        </mc:Fallback>
      </mc:AlternateContent>
    </p:spTree>
    <p:extLst>
      <p:ext uri="{BB962C8B-B14F-4D97-AF65-F5344CB8AC3E}">
        <p14:creationId xmlns:p14="http://schemas.microsoft.com/office/powerpoint/2010/main" val="42552282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8" name="Straight Connector 27">
            <a:extLst>
              <a:ext uri="{FF2B5EF4-FFF2-40B4-BE49-F238E27FC236}">
                <a16:creationId xmlns:a16="http://schemas.microsoft.com/office/drawing/2014/main" id="{2A02FF2E-5D61-D349-B5CA-B6A3B17CF7A6}"/>
              </a:ext>
            </a:extLst>
          </p:cNvPr>
          <p:cNvCxnSpPr>
            <a:cxnSpLocks/>
          </p:cNvCxnSpPr>
          <p:nvPr/>
        </p:nvCxnSpPr>
        <p:spPr>
          <a:xfrm>
            <a:off x="979661" y="1138738"/>
            <a:ext cx="180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Oval 28">
            <a:extLst>
              <a:ext uri="{FF2B5EF4-FFF2-40B4-BE49-F238E27FC236}">
                <a16:creationId xmlns:a16="http://schemas.microsoft.com/office/drawing/2014/main" id="{48612512-8C10-9143-89F1-E456A20B737C}"/>
              </a:ext>
            </a:extLst>
          </p:cNvPr>
          <p:cNvSpPr/>
          <p:nvPr/>
        </p:nvSpPr>
        <p:spPr>
          <a:xfrm>
            <a:off x="1740970" y="987188"/>
            <a:ext cx="251999" cy="25199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Straight Connector 26">
            <a:extLst>
              <a:ext uri="{FF2B5EF4-FFF2-40B4-BE49-F238E27FC236}">
                <a16:creationId xmlns:a16="http://schemas.microsoft.com/office/drawing/2014/main" id="{8CD7F352-E3A8-FB42-B2CF-55ED3060ABA3}"/>
              </a:ext>
            </a:extLst>
          </p:cNvPr>
          <p:cNvCxnSpPr>
            <a:cxnSpLocks/>
            <a:endCxn id="29" idx="4"/>
          </p:cNvCxnSpPr>
          <p:nvPr/>
        </p:nvCxnSpPr>
        <p:spPr>
          <a:xfrm flipV="1">
            <a:off x="1866970" y="1239187"/>
            <a:ext cx="0" cy="56681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04B35C2C-49B0-C443-B4BE-CA64F85C0DC1}"/>
              </a:ext>
            </a:extLst>
          </p:cNvPr>
          <p:cNvCxnSpPr>
            <a:cxnSpLocks/>
          </p:cNvCxnSpPr>
          <p:nvPr/>
        </p:nvCxnSpPr>
        <p:spPr>
          <a:xfrm>
            <a:off x="979661" y="2163280"/>
            <a:ext cx="180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6ABDC3DA-11EE-9647-818F-B519555588F4}"/>
              </a:ext>
            </a:extLst>
          </p:cNvPr>
          <p:cNvCxnSpPr>
            <a:cxnSpLocks/>
          </p:cNvCxnSpPr>
          <p:nvPr/>
        </p:nvCxnSpPr>
        <p:spPr>
          <a:xfrm>
            <a:off x="5196142" y="1137049"/>
            <a:ext cx="180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3" name="Oval 32">
            <a:extLst>
              <a:ext uri="{FF2B5EF4-FFF2-40B4-BE49-F238E27FC236}">
                <a16:creationId xmlns:a16="http://schemas.microsoft.com/office/drawing/2014/main" id="{4102C193-B277-4C4D-85A1-54D2E890749F}"/>
              </a:ext>
            </a:extLst>
          </p:cNvPr>
          <p:cNvSpPr/>
          <p:nvPr/>
        </p:nvSpPr>
        <p:spPr>
          <a:xfrm>
            <a:off x="5957451" y="985499"/>
            <a:ext cx="251999" cy="25199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4" name="Straight Connector 33">
            <a:extLst>
              <a:ext uri="{FF2B5EF4-FFF2-40B4-BE49-F238E27FC236}">
                <a16:creationId xmlns:a16="http://schemas.microsoft.com/office/drawing/2014/main" id="{74990838-35E6-5241-952D-20BEB95F31A4}"/>
              </a:ext>
            </a:extLst>
          </p:cNvPr>
          <p:cNvCxnSpPr>
            <a:cxnSpLocks/>
            <a:endCxn id="33" idx="4"/>
          </p:cNvCxnSpPr>
          <p:nvPr/>
        </p:nvCxnSpPr>
        <p:spPr>
          <a:xfrm flipV="1">
            <a:off x="6083451" y="1237498"/>
            <a:ext cx="0" cy="56681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FA09F344-7F3B-0248-9D45-6FC65FBEFC18}"/>
              </a:ext>
            </a:extLst>
          </p:cNvPr>
          <p:cNvCxnSpPr>
            <a:cxnSpLocks/>
          </p:cNvCxnSpPr>
          <p:nvPr/>
        </p:nvCxnSpPr>
        <p:spPr>
          <a:xfrm>
            <a:off x="5196142" y="2161591"/>
            <a:ext cx="180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0B67B06E-DEC1-8743-8C39-2A7F08FF202B}"/>
              </a:ext>
            </a:extLst>
          </p:cNvPr>
          <p:cNvCxnSpPr>
            <a:cxnSpLocks/>
          </p:cNvCxnSpPr>
          <p:nvPr/>
        </p:nvCxnSpPr>
        <p:spPr>
          <a:xfrm>
            <a:off x="9052623" y="1143873"/>
            <a:ext cx="180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8" name="Oval 37">
            <a:extLst>
              <a:ext uri="{FF2B5EF4-FFF2-40B4-BE49-F238E27FC236}">
                <a16:creationId xmlns:a16="http://schemas.microsoft.com/office/drawing/2014/main" id="{0DA372C1-597D-DE49-AFDD-ECDFD3B4A712}"/>
              </a:ext>
            </a:extLst>
          </p:cNvPr>
          <p:cNvSpPr/>
          <p:nvPr/>
        </p:nvSpPr>
        <p:spPr>
          <a:xfrm>
            <a:off x="9813932" y="992323"/>
            <a:ext cx="251999" cy="25199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9" name="Straight Connector 38">
            <a:extLst>
              <a:ext uri="{FF2B5EF4-FFF2-40B4-BE49-F238E27FC236}">
                <a16:creationId xmlns:a16="http://schemas.microsoft.com/office/drawing/2014/main" id="{7678C9A0-D679-F64D-8911-304363170672}"/>
              </a:ext>
            </a:extLst>
          </p:cNvPr>
          <p:cNvCxnSpPr>
            <a:cxnSpLocks/>
            <a:endCxn id="38" idx="4"/>
          </p:cNvCxnSpPr>
          <p:nvPr/>
        </p:nvCxnSpPr>
        <p:spPr>
          <a:xfrm flipV="1">
            <a:off x="9939932" y="1244322"/>
            <a:ext cx="0" cy="56681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AE12D4FE-CBFD-414B-B90C-C47CBC656CD5}"/>
              </a:ext>
            </a:extLst>
          </p:cNvPr>
          <p:cNvCxnSpPr>
            <a:cxnSpLocks/>
          </p:cNvCxnSpPr>
          <p:nvPr/>
        </p:nvCxnSpPr>
        <p:spPr>
          <a:xfrm>
            <a:off x="9052623" y="2168415"/>
            <a:ext cx="180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Slide Number Placeholder 1">
            <a:extLst>
              <a:ext uri="{FF2B5EF4-FFF2-40B4-BE49-F238E27FC236}">
                <a16:creationId xmlns:a16="http://schemas.microsoft.com/office/drawing/2014/main" id="{9D927338-0DF6-B342-8271-499464712562}"/>
              </a:ext>
            </a:extLst>
          </p:cNvPr>
          <p:cNvSpPr>
            <a:spLocks noGrp="1"/>
          </p:cNvSpPr>
          <p:nvPr>
            <p:ph type="sldNum" sz="quarter" idx="12"/>
          </p:nvPr>
        </p:nvSpPr>
        <p:spPr/>
        <p:txBody>
          <a:bodyPr/>
          <a:lstStyle/>
          <a:p>
            <a:fld id="{591A223C-FA10-BC46-A853-03BA373D023C}" type="slidenum">
              <a:rPr lang="en-US" smtClean="0"/>
              <a:t>39</a:t>
            </a:fld>
            <a:endParaRPr lang="en-US"/>
          </a:p>
        </p:txBody>
      </p:sp>
      <p:sp>
        <p:nvSpPr>
          <p:cNvPr id="3" name="Title 2">
            <a:extLst>
              <a:ext uri="{FF2B5EF4-FFF2-40B4-BE49-F238E27FC236}">
                <a16:creationId xmlns:a16="http://schemas.microsoft.com/office/drawing/2014/main" id="{26767095-F28D-5A4C-888A-82853724AF1D}"/>
              </a:ext>
            </a:extLst>
          </p:cNvPr>
          <p:cNvSpPr>
            <a:spLocks noGrp="1"/>
          </p:cNvSpPr>
          <p:nvPr>
            <p:ph type="title"/>
          </p:nvPr>
        </p:nvSpPr>
        <p:spPr/>
        <p:txBody>
          <a:bodyPr/>
          <a:lstStyle/>
          <a:p>
            <a:r>
              <a:rPr lang="en-ZA" dirty="0"/>
              <a:t>Controlled Rotation Gates</a:t>
            </a:r>
            <a:endParaRPr lang="en-US" dirty="0"/>
          </a:p>
        </p:txBody>
      </p:sp>
      <p:sp>
        <p:nvSpPr>
          <p:cNvPr id="11" name="Rectangle 10">
            <a:extLst>
              <a:ext uri="{FF2B5EF4-FFF2-40B4-BE49-F238E27FC236}">
                <a16:creationId xmlns:a16="http://schemas.microsoft.com/office/drawing/2014/main" id="{DBA019F9-4D4E-BD4E-B1FC-069E6F7805C6}"/>
              </a:ext>
            </a:extLst>
          </p:cNvPr>
          <p:cNvSpPr/>
          <p:nvPr/>
        </p:nvSpPr>
        <p:spPr>
          <a:xfrm>
            <a:off x="357630" y="6031210"/>
            <a:ext cx="3387466" cy="461665"/>
          </a:xfrm>
          <a:prstGeom prst="rect">
            <a:avLst/>
          </a:prstGeom>
        </p:spPr>
        <p:txBody>
          <a:bodyPr wrap="none">
            <a:spAutoFit/>
          </a:bodyPr>
          <a:lstStyle/>
          <a:p>
            <a:r>
              <a:rPr lang="sr-Latn-RS" sz="2400" dirty="0" err="1">
                <a:latin typeface="Andale Mono" panose="020B0509000000000004" pitchFamily="49" charset="0"/>
                <a:ea typeface="Times New Roman" panose="02020603050405020304" pitchFamily="18" charset="0"/>
                <a:cs typeface="Times New Roman" panose="02020603050405020304" pitchFamily="18" charset="0"/>
              </a:rPr>
              <a:t>crx</a:t>
            </a:r>
            <a:r>
              <a:rPr lang="sr-Latn-RS" sz="2400" dirty="0">
                <a:latin typeface="Andale Mono" panose="020B0509000000000004" pitchFamily="49" charset="0"/>
                <a:ea typeface="Times New Roman" panose="02020603050405020304" pitchFamily="18" charset="0"/>
                <a:cs typeface="Times New Roman" panose="02020603050405020304" pitchFamily="18" charset="0"/>
              </a:rPr>
              <a:t>(</a:t>
            </a:r>
            <a:r>
              <a:rPr lang="sr-Latn-RS" sz="2400" dirty="0" err="1">
                <a:latin typeface="Andale Mono" panose="020B0509000000000004" pitchFamily="49" charset="0"/>
                <a:ea typeface="Times New Roman" panose="02020603050405020304" pitchFamily="18" charset="0"/>
                <a:cs typeface="Times New Roman" panose="02020603050405020304" pitchFamily="18" charset="0"/>
              </a:rPr>
              <a:t>t</a:t>
            </a:r>
            <a:r>
              <a:rPr lang="sr-Latn-RS" sz="2400" dirty="0">
                <a:latin typeface="Andale Mono" panose="020B0509000000000004" pitchFamily="49" charset="0"/>
                <a:ea typeface="Times New Roman" panose="02020603050405020304" pitchFamily="18" charset="0"/>
                <a:cs typeface="Times New Roman" panose="02020603050405020304" pitchFamily="18" charset="0"/>
              </a:rPr>
              <a:t>) </a:t>
            </a:r>
            <a:r>
              <a:rPr lang="sr-Latn-RS" sz="2400" dirty="0" err="1">
                <a:latin typeface="Andale Mono" panose="020B0509000000000004" pitchFamily="49" charset="0"/>
                <a:ea typeface="Times New Roman" panose="02020603050405020304" pitchFamily="18" charset="0"/>
                <a:cs typeface="Courier New" panose="02070309020205020404" pitchFamily="49" charset="0"/>
              </a:rPr>
              <a:t>q</a:t>
            </a:r>
            <a:r>
              <a:rPr lang="sr-Latn-RS" sz="2400" dirty="0">
                <a:latin typeface="Andale Mono" panose="020B0509000000000004" pitchFamily="49" charset="0"/>
                <a:ea typeface="Times New Roman" panose="02020603050405020304" pitchFamily="18" charset="0"/>
                <a:cs typeface="Courier New" panose="02070309020205020404" pitchFamily="49" charset="0"/>
              </a:rPr>
              <a:t>[i],</a:t>
            </a:r>
            <a:r>
              <a:rPr lang="sr-Latn-RS" sz="2400" dirty="0" err="1">
                <a:latin typeface="Andale Mono" panose="020B0509000000000004" pitchFamily="49" charset="0"/>
                <a:ea typeface="Times New Roman" panose="02020603050405020304" pitchFamily="18" charset="0"/>
                <a:cs typeface="Courier New" panose="02070309020205020404" pitchFamily="49" charset="0"/>
              </a:rPr>
              <a:t>q</a:t>
            </a:r>
            <a:r>
              <a:rPr lang="sr-Latn-RS" sz="2400" dirty="0">
                <a:latin typeface="Andale Mono" panose="020B0509000000000004" pitchFamily="49" charset="0"/>
                <a:ea typeface="Times New Roman" panose="02020603050405020304" pitchFamily="18" charset="0"/>
                <a:cs typeface="Courier New" panose="02070309020205020404" pitchFamily="49" charset="0"/>
              </a:rPr>
              <a:t>[</a:t>
            </a:r>
            <a:r>
              <a:rPr lang="sr-Latn-RS" sz="2400" dirty="0" err="1">
                <a:latin typeface="Andale Mono" panose="020B0509000000000004" pitchFamily="49" charset="0"/>
                <a:ea typeface="Times New Roman" panose="02020603050405020304" pitchFamily="18" charset="0"/>
                <a:cs typeface="Courier New" panose="02070309020205020404" pitchFamily="49" charset="0"/>
              </a:rPr>
              <a:t>j</a:t>
            </a:r>
            <a:r>
              <a:rPr lang="sr-Latn-RS" sz="2400" dirty="0">
                <a:latin typeface="Andale Mono" panose="020B0509000000000004" pitchFamily="49" charset="0"/>
                <a:ea typeface="Times New Roman" panose="02020603050405020304" pitchFamily="18" charset="0"/>
                <a:cs typeface="Courier New" panose="02070309020205020404" pitchFamily="49" charset="0"/>
              </a:rPr>
              <a:t>];</a:t>
            </a:r>
            <a:r>
              <a:rPr lang="en-ZA" sz="2400" dirty="0"/>
              <a:t> </a:t>
            </a:r>
            <a:endParaRPr lang="en-US" sz="2400" dirty="0"/>
          </a:p>
        </p:txBody>
      </p:sp>
      <p:sp>
        <p:nvSpPr>
          <p:cNvPr id="13" name="Rectangle 12">
            <a:extLst>
              <a:ext uri="{FF2B5EF4-FFF2-40B4-BE49-F238E27FC236}">
                <a16:creationId xmlns:a16="http://schemas.microsoft.com/office/drawing/2014/main" id="{E2FC4252-BF61-0D46-83E8-802B7DB52988}"/>
              </a:ext>
            </a:extLst>
          </p:cNvPr>
          <p:cNvSpPr/>
          <p:nvPr/>
        </p:nvSpPr>
        <p:spPr>
          <a:xfrm>
            <a:off x="4558094" y="6031209"/>
            <a:ext cx="3387466" cy="461665"/>
          </a:xfrm>
          <a:prstGeom prst="rect">
            <a:avLst/>
          </a:prstGeom>
        </p:spPr>
        <p:txBody>
          <a:bodyPr wrap="none">
            <a:spAutoFit/>
          </a:bodyPr>
          <a:lstStyle/>
          <a:p>
            <a:r>
              <a:rPr lang="sr-Latn-RS" sz="2400" dirty="0" err="1">
                <a:latin typeface="Andale Mono" panose="020B0509000000000004" pitchFamily="49" charset="0"/>
                <a:ea typeface="Times New Roman" panose="02020603050405020304" pitchFamily="18" charset="0"/>
                <a:cs typeface="Times New Roman" panose="02020603050405020304" pitchFamily="18" charset="0"/>
              </a:rPr>
              <a:t>cry</a:t>
            </a:r>
            <a:r>
              <a:rPr lang="sr-Latn-RS" sz="2400" dirty="0">
                <a:latin typeface="Andale Mono" panose="020B0509000000000004" pitchFamily="49" charset="0"/>
                <a:ea typeface="Times New Roman" panose="02020603050405020304" pitchFamily="18" charset="0"/>
                <a:cs typeface="Times New Roman" panose="02020603050405020304" pitchFamily="18" charset="0"/>
              </a:rPr>
              <a:t>(</a:t>
            </a:r>
            <a:r>
              <a:rPr lang="sr-Latn-RS" sz="2400" dirty="0" err="1">
                <a:latin typeface="Andale Mono" panose="020B0509000000000004" pitchFamily="49" charset="0"/>
                <a:ea typeface="Times New Roman" panose="02020603050405020304" pitchFamily="18" charset="0"/>
                <a:cs typeface="Times New Roman" panose="02020603050405020304" pitchFamily="18" charset="0"/>
              </a:rPr>
              <a:t>t</a:t>
            </a:r>
            <a:r>
              <a:rPr lang="sr-Latn-RS" sz="2400" dirty="0">
                <a:latin typeface="Andale Mono" panose="020B0509000000000004" pitchFamily="49" charset="0"/>
                <a:ea typeface="Times New Roman" panose="02020603050405020304" pitchFamily="18" charset="0"/>
                <a:cs typeface="Times New Roman" panose="02020603050405020304" pitchFamily="18" charset="0"/>
              </a:rPr>
              <a:t>) </a:t>
            </a:r>
            <a:r>
              <a:rPr lang="sr-Latn-RS" sz="2400" dirty="0" err="1">
                <a:latin typeface="Andale Mono" panose="020B0509000000000004" pitchFamily="49" charset="0"/>
                <a:ea typeface="Times New Roman" panose="02020603050405020304" pitchFamily="18" charset="0"/>
                <a:cs typeface="Courier New" panose="02070309020205020404" pitchFamily="49" charset="0"/>
              </a:rPr>
              <a:t>q</a:t>
            </a:r>
            <a:r>
              <a:rPr lang="sr-Latn-RS" sz="2400" dirty="0">
                <a:latin typeface="Andale Mono" panose="020B0509000000000004" pitchFamily="49" charset="0"/>
                <a:ea typeface="Times New Roman" panose="02020603050405020304" pitchFamily="18" charset="0"/>
                <a:cs typeface="Courier New" panose="02070309020205020404" pitchFamily="49" charset="0"/>
              </a:rPr>
              <a:t>[i],</a:t>
            </a:r>
            <a:r>
              <a:rPr lang="sr-Latn-RS" sz="2400" dirty="0" err="1">
                <a:latin typeface="Andale Mono" panose="020B0509000000000004" pitchFamily="49" charset="0"/>
                <a:ea typeface="Times New Roman" panose="02020603050405020304" pitchFamily="18" charset="0"/>
                <a:cs typeface="Courier New" panose="02070309020205020404" pitchFamily="49" charset="0"/>
              </a:rPr>
              <a:t>q</a:t>
            </a:r>
            <a:r>
              <a:rPr lang="sr-Latn-RS" sz="2400" dirty="0">
                <a:latin typeface="Andale Mono" panose="020B0509000000000004" pitchFamily="49" charset="0"/>
                <a:ea typeface="Times New Roman" panose="02020603050405020304" pitchFamily="18" charset="0"/>
                <a:cs typeface="Courier New" panose="02070309020205020404" pitchFamily="49" charset="0"/>
              </a:rPr>
              <a:t>[</a:t>
            </a:r>
            <a:r>
              <a:rPr lang="sr-Latn-RS" sz="2400" dirty="0" err="1">
                <a:latin typeface="Andale Mono" panose="020B0509000000000004" pitchFamily="49" charset="0"/>
                <a:ea typeface="Times New Roman" panose="02020603050405020304" pitchFamily="18" charset="0"/>
                <a:cs typeface="Courier New" panose="02070309020205020404" pitchFamily="49" charset="0"/>
              </a:rPr>
              <a:t>j</a:t>
            </a:r>
            <a:r>
              <a:rPr lang="sr-Latn-RS" sz="2400" dirty="0">
                <a:latin typeface="Andale Mono" panose="020B0509000000000004" pitchFamily="49" charset="0"/>
                <a:ea typeface="Times New Roman" panose="02020603050405020304" pitchFamily="18" charset="0"/>
                <a:cs typeface="Courier New" panose="02070309020205020404" pitchFamily="49" charset="0"/>
              </a:rPr>
              <a:t>];</a:t>
            </a:r>
            <a:r>
              <a:rPr lang="en-ZA" sz="2400" dirty="0"/>
              <a:t> </a:t>
            </a:r>
            <a:endParaRPr lang="en-US" sz="2400" dirty="0"/>
          </a:p>
        </p:txBody>
      </p:sp>
      <p:sp>
        <p:nvSpPr>
          <p:cNvPr id="15" name="Rectangle 14">
            <a:extLst>
              <a:ext uri="{FF2B5EF4-FFF2-40B4-BE49-F238E27FC236}">
                <a16:creationId xmlns:a16="http://schemas.microsoft.com/office/drawing/2014/main" id="{90C4C0C0-C7C7-9F4E-80C2-48409D6DB611}"/>
              </a:ext>
            </a:extLst>
          </p:cNvPr>
          <p:cNvSpPr/>
          <p:nvPr/>
        </p:nvSpPr>
        <p:spPr>
          <a:xfrm>
            <a:off x="8572851" y="6031208"/>
            <a:ext cx="3387466" cy="461665"/>
          </a:xfrm>
          <a:prstGeom prst="rect">
            <a:avLst/>
          </a:prstGeom>
        </p:spPr>
        <p:txBody>
          <a:bodyPr wrap="none">
            <a:spAutoFit/>
          </a:bodyPr>
          <a:lstStyle/>
          <a:p>
            <a:r>
              <a:rPr lang="sr-Latn-RS" sz="2400" dirty="0" err="1">
                <a:latin typeface="Andale Mono" panose="020B0509000000000004" pitchFamily="49" charset="0"/>
                <a:ea typeface="Times New Roman" panose="02020603050405020304" pitchFamily="18" charset="0"/>
                <a:cs typeface="Times New Roman" panose="02020603050405020304" pitchFamily="18" charset="0"/>
              </a:rPr>
              <a:t>crz</a:t>
            </a:r>
            <a:r>
              <a:rPr lang="sr-Latn-RS" sz="2400" dirty="0">
                <a:latin typeface="Andale Mono" panose="020B0509000000000004" pitchFamily="49" charset="0"/>
                <a:ea typeface="Times New Roman" panose="02020603050405020304" pitchFamily="18" charset="0"/>
                <a:cs typeface="Times New Roman" panose="02020603050405020304" pitchFamily="18" charset="0"/>
              </a:rPr>
              <a:t>(l) </a:t>
            </a:r>
            <a:r>
              <a:rPr lang="sr-Latn-RS" sz="2400" dirty="0" err="1">
                <a:latin typeface="Andale Mono" panose="020B0509000000000004" pitchFamily="49" charset="0"/>
                <a:ea typeface="Times New Roman" panose="02020603050405020304" pitchFamily="18" charset="0"/>
                <a:cs typeface="Courier New" panose="02070309020205020404" pitchFamily="49" charset="0"/>
              </a:rPr>
              <a:t>q</a:t>
            </a:r>
            <a:r>
              <a:rPr lang="sr-Latn-RS" sz="2400" dirty="0">
                <a:latin typeface="Andale Mono" panose="020B0509000000000004" pitchFamily="49" charset="0"/>
                <a:ea typeface="Times New Roman" panose="02020603050405020304" pitchFamily="18" charset="0"/>
                <a:cs typeface="Courier New" panose="02070309020205020404" pitchFamily="49" charset="0"/>
              </a:rPr>
              <a:t>[i],</a:t>
            </a:r>
            <a:r>
              <a:rPr lang="sr-Latn-RS" sz="2400" dirty="0" err="1">
                <a:latin typeface="Andale Mono" panose="020B0509000000000004" pitchFamily="49" charset="0"/>
                <a:ea typeface="Times New Roman" panose="02020603050405020304" pitchFamily="18" charset="0"/>
                <a:cs typeface="Courier New" panose="02070309020205020404" pitchFamily="49" charset="0"/>
              </a:rPr>
              <a:t>q</a:t>
            </a:r>
            <a:r>
              <a:rPr lang="sr-Latn-RS" sz="2400" dirty="0">
                <a:latin typeface="Andale Mono" panose="020B0509000000000004" pitchFamily="49" charset="0"/>
                <a:ea typeface="Times New Roman" panose="02020603050405020304" pitchFamily="18" charset="0"/>
                <a:cs typeface="Courier New" panose="02070309020205020404" pitchFamily="49" charset="0"/>
              </a:rPr>
              <a:t>[</a:t>
            </a:r>
            <a:r>
              <a:rPr lang="sr-Latn-RS" sz="2400" dirty="0" err="1">
                <a:latin typeface="Andale Mono" panose="020B0509000000000004" pitchFamily="49" charset="0"/>
                <a:ea typeface="Times New Roman" panose="02020603050405020304" pitchFamily="18" charset="0"/>
                <a:cs typeface="Courier New" panose="02070309020205020404" pitchFamily="49" charset="0"/>
              </a:rPr>
              <a:t>j</a:t>
            </a:r>
            <a:r>
              <a:rPr lang="sr-Latn-RS" sz="2400" dirty="0">
                <a:latin typeface="Andale Mono" panose="020B0509000000000004" pitchFamily="49" charset="0"/>
                <a:ea typeface="Times New Roman" panose="02020603050405020304" pitchFamily="18" charset="0"/>
                <a:cs typeface="Courier New" panose="02070309020205020404" pitchFamily="49" charset="0"/>
              </a:rPr>
              <a:t>];</a:t>
            </a:r>
            <a:r>
              <a:rPr lang="en-ZA" sz="2400" dirty="0"/>
              <a:t> </a:t>
            </a:r>
            <a:endParaRPr lang="en-US" sz="2400" dirty="0"/>
          </a:p>
        </p:txBody>
      </p:sp>
      <mc:AlternateContent xmlns:mc="http://schemas.openxmlformats.org/markup-compatibility/2006" xmlns:a14="http://schemas.microsoft.com/office/drawing/2010/main">
        <mc:Choice Requires="a14">
          <p:sp>
            <p:nvSpPr>
              <p:cNvPr id="16" name="Rectangle 15">
                <a:extLst>
                  <a:ext uri="{FF2B5EF4-FFF2-40B4-BE49-F238E27FC236}">
                    <a16:creationId xmlns:a16="http://schemas.microsoft.com/office/drawing/2014/main" id="{1E419030-24FE-9747-A01B-ECFF94CF1CA5}"/>
                  </a:ext>
                </a:extLst>
              </p:cNvPr>
              <p:cNvSpPr/>
              <p:nvPr/>
            </p:nvSpPr>
            <p:spPr>
              <a:xfrm>
                <a:off x="100910" y="2833244"/>
                <a:ext cx="3532121"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ZA" sz="2400" i="1">
                              <a:latin typeface="Cambria Math" panose="02040503050406030204" pitchFamily="18" charset="0"/>
                            </a:rPr>
                          </m:ctrlPr>
                        </m:dPr>
                        <m:e>
                          <m:r>
                            <a:rPr lang="en-US" sz="2400" i="1">
                              <a:latin typeface="Cambria Math" panose="02040503050406030204" pitchFamily="18" charset="0"/>
                            </a:rPr>
                            <m:t>0</m:t>
                          </m:r>
                        </m:e>
                      </m:d>
                      <m:box>
                        <m:boxPr>
                          <m:ctrlPr>
                            <a:rPr lang="en-ZA" sz="2400" i="1">
                              <a:latin typeface="Cambria Math" panose="02040503050406030204" pitchFamily="18" charset="0"/>
                            </a:rPr>
                          </m:ctrlPr>
                        </m:boxPr>
                        <m:e>
                          <m:d>
                            <m:dPr>
                              <m:begChr m:val="⟨"/>
                              <m:endChr m:val="|"/>
                              <m:ctrlPr>
                                <a:rPr lang="en-ZA" sz="2400" i="1">
                                  <a:latin typeface="Cambria Math" panose="02040503050406030204" pitchFamily="18" charset="0"/>
                                </a:rPr>
                              </m:ctrlPr>
                            </m:dPr>
                            <m:e>
                              <m:r>
                                <a:rPr lang="en-US" sz="2400" i="1">
                                  <a:latin typeface="Cambria Math" panose="02040503050406030204" pitchFamily="18" charset="0"/>
                                </a:rPr>
                                <m:t>0</m:t>
                              </m:r>
                            </m:e>
                          </m:d>
                          <m:r>
                            <a:rPr lang="en-US" sz="2400" i="1">
                              <a:latin typeface="Cambria Math" panose="02040503050406030204" pitchFamily="18" charset="0"/>
                            </a:rPr>
                            <m:t>⨂</m:t>
                          </m:r>
                          <m:r>
                            <a:rPr lang="en-US" sz="2400" i="1">
                              <a:latin typeface="Cambria Math" panose="02040503050406030204" pitchFamily="18" charset="0"/>
                            </a:rPr>
                            <m:t>𝐼</m:t>
                          </m:r>
                          <m:r>
                            <a:rPr lang="en-US" sz="2400" i="1">
                              <a:latin typeface="Cambria Math" panose="02040503050406030204" pitchFamily="18" charset="0"/>
                            </a:rPr>
                            <m:t>+</m:t>
                          </m:r>
                        </m:e>
                      </m:box>
                      <m:d>
                        <m:dPr>
                          <m:begChr m:val="|"/>
                          <m:endChr m:val="⟩"/>
                          <m:ctrlPr>
                            <a:rPr lang="en-ZA" sz="2400" i="1">
                              <a:latin typeface="Cambria Math" panose="02040503050406030204" pitchFamily="18" charset="0"/>
                            </a:rPr>
                          </m:ctrlPr>
                        </m:dPr>
                        <m:e>
                          <m:r>
                            <a:rPr lang="en-US" sz="2400" i="1">
                              <a:latin typeface="Cambria Math" panose="02040503050406030204" pitchFamily="18" charset="0"/>
                            </a:rPr>
                            <m:t>1</m:t>
                          </m:r>
                        </m:e>
                      </m:d>
                      <m:box>
                        <m:boxPr>
                          <m:ctrlPr>
                            <a:rPr lang="en-ZA" sz="2400" i="1">
                              <a:latin typeface="Cambria Math" panose="02040503050406030204" pitchFamily="18" charset="0"/>
                            </a:rPr>
                          </m:ctrlPr>
                        </m:boxPr>
                        <m:e>
                          <m:d>
                            <m:dPr>
                              <m:begChr m:val="⟨"/>
                              <m:endChr m:val="|"/>
                              <m:ctrlPr>
                                <a:rPr lang="en-ZA" sz="2400" i="1">
                                  <a:latin typeface="Cambria Math" panose="02040503050406030204" pitchFamily="18" charset="0"/>
                                </a:rPr>
                              </m:ctrlPr>
                            </m:dPr>
                            <m:e>
                              <m:r>
                                <a:rPr lang="en-US" sz="2400" i="1">
                                  <a:latin typeface="Cambria Math" panose="02040503050406030204" pitchFamily="18" charset="0"/>
                                </a:rPr>
                                <m:t>1</m:t>
                              </m:r>
                            </m:e>
                          </m:d>
                          <m:r>
                            <a:rPr lang="en-US" sz="2400" i="1">
                              <a:latin typeface="Cambria Math" panose="02040503050406030204" pitchFamily="18" charset="0"/>
                            </a:rPr>
                            <m:t>⨂</m:t>
                          </m:r>
                          <m:r>
                            <a:rPr lang="en-US" sz="2400" i="1">
                              <a:latin typeface="Cambria Math" panose="02040503050406030204" pitchFamily="18" charset="0"/>
                            </a:rPr>
                            <m:t>𝑅𝑥</m:t>
                          </m:r>
                          <m:r>
                            <a:rPr lang="en-US" sz="2400" i="1">
                              <a:latin typeface="Cambria Math" panose="02040503050406030204" pitchFamily="18" charset="0"/>
                            </a:rPr>
                            <m:t>(</m:t>
                          </m:r>
                          <m:r>
                            <a:rPr lang="sr-Latn-RS" sz="2400" i="1">
                              <a:latin typeface="Cambria Math" panose="02040503050406030204" pitchFamily="18" charset="0"/>
                            </a:rPr>
                            <m:t>𝜃</m:t>
                          </m:r>
                          <m:r>
                            <a:rPr lang="en-US" sz="2400" i="1">
                              <a:latin typeface="Cambria Math" panose="02040503050406030204" pitchFamily="18" charset="0"/>
                            </a:rPr>
                            <m:t>)</m:t>
                          </m:r>
                        </m:e>
                      </m:box>
                    </m:oMath>
                  </m:oMathPara>
                </a14:m>
                <a:endParaRPr lang="en-US" sz="2400" dirty="0"/>
              </a:p>
            </p:txBody>
          </p:sp>
        </mc:Choice>
        <mc:Fallback xmlns="">
          <p:sp>
            <p:nvSpPr>
              <p:cNvPr id="16" name="Rectangle 15">
                <a:extLst>
                  <a:ext uri="{FF2B5EF4-FFF2-40B4-BE49-F238E27FC236}">
                    <a16:creationId xmlns:a16="http://schemas.microsoft.com/office/drawing/2014/main" id="{1E419030-24FE-9747-A01B-ECFF94CF1CA5}"/>
                  </a:ext>
                </a:extLst>
              </p:cNvPr>
              <p:cNvSpPr>
                <a:spLocks noRot="1" noChangeAspect="1" noMove="1" noResize="1" noEditPoints="1" noAdjustHandles="1" noChangeArrowheads="1" noChangeShapeType="1" noTextEdit="1"/>
              </p:cNvSpPr>
              <p:nvPr/>
            </p:nvSpPr>
            <p:spPr>
              <a:xfrm>
                <a:off x="100910" y="2833244"/>
                <a:ext cx="3532121" cy="461665"/>
              </a:xfrm>
              <a:prstGeom prst="rect">
                <a:avLst/>
              </a:prstGeom>
              <a:blipFill>
                <a:blip r:embed="rId6"/>
                <a:stretch>
                  <a:fillRect b="-162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EA283BA5-571A-4043-AC51-71A9EE88873F}"/>
                  </a:ext>
                </a:extLst>
              </p:cNvPr>
              <p:cNvSpPr/>
              <p:nvPr/>
            </p:nvSpPr>
            <p:spPr>
              <a:xfrm>
                <a:off x="0" y="3517602"/>
                <a:ext cx="4102726" cy="220342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ctrlPr>
                            <a:rPr lang="en-US" sz="2400" i="1">
                              <a:latin typeface="Cambria Math" panose="02040503050406030204" pitchFamily="18" charset="0"/>
                            </a:rPr>
                          </m:ctrlPr>
                        </m:dPr>
                        <m:e>
                          <m:m>
                            <m:mPr>
                              <m:plcHide m:val="on"/>
                              <m:mcs>
                                <m:mc>
                                  <m:mcPr>
                                    <m:count m:val="4"/>
                                    <m:mcJc m:val="center"/>
                                  </m:mcPr>
                                </m:mc>
                              </m:mcs>
                              <m:ctrlPr>
                                <a:rPr lang="en-US" sz="2400" i="1">
                                  <a:latin typeface="Cambria Math" panose="02040503050406030204" pitchFamily="18" charset="0"/>
                                </a:rPr>
                              </m:ctrlPr>
                            </m:mPr>
                            <m:mr>
                              <m:e>
                                <m:r>
                                  <a:rPr lang="en-US" sz="2400">
                                    <a:latin typeface="Cambria Math" panose="02040503050406030204" pitchFamily="18" charset="0"/>
                                  </a:rPr>
                                  <m:t>1</m:t>
                                </m:r>
                              </m:e>
                              <m:e>
                                <m:r>
                                  <a:rPr lang="en-US" sz="2400" i="0">
                                    <a:latin typeface="Cambria Math" panose="02040503050406030204" pitchFamily="18" charset="0"/>
                                  </a:rPr>
                                  <m:t>0</m:t>
                                </m:r>
                              </m:e>
                              <m:e>
                                <m:r>
                                  <a:rPr lang="en-US" sz="2400" i="0">
                                    <a:latin typeface="Cambria Math" panose="02040503050406030204" pitchFamily="18" charset="0"/>
                                  </a:rPr>
                                  <m:t>0</m:t>
                                </m:r>
                              </m:e>
                              <m:e>
                                <m:r>
                                  <a:rPr lang="en-US" sz="2400" i="0">
                                    <a:latin typeface="Cambria Math" panose="02040503050406030204" pitchFamily="18" charset="0"/>
                                  </a:rPr>
                                  <m:t>0</m:t>
                                </m:r>
                              </m:e>
                            </m:mr>
                            <m:mr>
                              <m:e>
                                <m:r>
                                  <a:rPr lang="en-US" sz="2400" i="0">
                                    <a:latin typeface="Cambria Math" panose="02040503050406030204" pitchFamily="18" charset="0"/>
                                  </a:rPr>
                                  <m:t>0</m:t>
                                </m:r>
                              </m:e>
                              <m:e>
                                <m:r>
                                  <a:rPr lang="en-US" sz="2400" i="0">
                                    <a:latin typeface="Cambria Math" panose="02040503050406030204" pitchFamily="18" charset="0"/>
                                  </a:rPr>
                                  <m:t>1</m:t>
                                </m:r>
                              </m:e>
                              <m:e>
                                <m:r>
                                  <a:rPr lang="en-US" sz="2400" i="0">
                                    <a:latin typeface="Cambria Math" panose="02040503050406030204" pitchFamily="18" charset="0"/>
                                  </a:rPr>
                                  <m:t>0</m:t>
                                </m:r>
                              </m:e>
                              <m:e>
                                <m:r>
                                  <a:rPr lang="en-US" sz="2400" i="0">
                                    <a:latin typeface="Cambria Math" panose="02040503050406030204" pitchFamily="18" charset="0"/>
                                  </a:rPr>
                                  <m:t>0</m:t>
                                </m:r>
                              </m:e>
                            </m:mr>
                            <m:mr>
                              <m:e>
                                <m:r>
                                  <a:rPr lang="en-US" sz="2400" i="0">
                                    <a:latin typeface="Cambria Math" panose="02040503050406030204" pitchFamily="18" charset="0"/>
                                  </a:rPr>
                                  <m:t>0</m:t>
                                </m:r>
                              </m:e>
                              <m:e>
                                <m:r>
                                  <a:rPr lang="en-US" sz="2400" i="0">
                                    <a:latin typeface="Cambria Math" panose="02040503050406030204" pitchFamily="18" charset="0"/>
                                  </a:rPr>
                                  <m:t>0</m:t>
                                </m:r>
                              </m:e>
                              <m:e>
                                <m:func>
                                  <m:funcPr>
                                    <m:ctrlPr>
                                      <a:rPr lang="en-US" sz="2400" i="1">
                                        <a:latin typeface="Cambria Math" panose="02040503050406030204" pitchFamily="18" charset="0"/>
                                      </a:rPr>
                                    </m:ctrlPr>
                                  </m:funcPr>
                                  <m:fName>
                                    <m:r>
                                      <a:rPr lang="en-US" sz="2400" i="1">
                                        <a:latin typeface="Cambria Math" panose="02040503050406030204" pitchFamily="18" charset="0"/>
                                      </a:rPr>
                                      <m:t>𝑐𝑜𝑠</m:t>
                                    </m:r>
                                  </m:fName>
                                  <m:e>
                                    <m:f>
                                      <m:fPr>
                                        <m:ctrlPr>
                                          <a:rPr lang="en-US" sz="2400" i="1">
                                            <a:latin typeface="Cambria Math" panose="02040503050406030204" pitchFamily="18" charset="0"/>
                                          </a:rPr>
                                        </m:ctrlPr>
                                      </m:fPr>
                                      <m:num>
                                        <m:r>
                                          <a:rPr lang="en-US" sz="2400" i="1">
                                            <a:latin typeface="Cambria Math" panose="02040503050406030204" pitchFamily="18" charset="0"/>
                                          </a:rPr>
                                          <m:t>𝜃</m:t>
                                        </m:r>
                                      </m:num>
                                      <m:den>
                                        <m:r>
                                          <a:rPr lang="en-US" sz="2400" i="0">
                                            <a:latin typeface="Cambria Math" panose="02040503050406030204" pitchFamily="18" charset="0"/>
                                          </a:rPr>
                                          <m:t>2</m:t>
                                        </m:r>
                                      </m:den>
                                    </m:f>
                                  </m:e>
                                </m:func>
                              </m:e>
                              <m:e>
                                <m:func>
                                  <m:funcPr>
                                    <m:ctrlPr>
                                      <a:rPr lang="en-US" sz="2400" i="1">
                                        <a:latin typeface="Cambria Math" panose="02040503050406030204" pitchFamily="18" charset="0"/>
                                      </a:rPr>
                                    </m:ctrlPr>
                                  </m:funcPr>
                                  <m:fName>
                                    <m:r>
                                      <a:rPr lang="en-US" sz="2400" i="0">
                                        <a:latin typeface="Cambria Math" panose="02040503050406030204" pitchFamily="18" charset="0"/>
                                      </a:rPr>
                                      <m:t>−</m:t>
                                    </m:r>
                                    <m:r>
                                      <a:rPr lang="en-US" sz="2400" i="1">
                                        <a:latin typeface="Cambria Math" panose="02040503050406030204" pitchFamily="18" charset="0"/>
                                      </a:rPr>
                                      <m:t>𝑖</m:t>
                                    </m:r>
                                    <m:r>
                                      <a:rPr lang="en-US" sz="2400" i="0">
                                        <a:latin typeface="Cambria Math" panose="02040503050406030204" pitchFamily="18" charset="0"/>
                                      </a:rPr>
                                      <m:t> </m:t>
                                    </m:r>
                                    <m:r>
                                      <a:rPr lang="en-US" sz="2400" i="1">
                                        <a:latin typeface="Cambria Math" panose="02040503050406030204" pitchFamily="18" charset="0"/>
                                      </a:rPr>
                                      <m:t>𝑠𝑖𝑛</m:t>
                                    </m:r>
                                  </m:fName>
                                  <m:e>
                                    <m:f>
                                      <m:fPr>
                                        <m:ctrlPr>
                                          <a:rPr lang="en-US" sz="2400" i="1">
                                            <a:latin typeface="Cambria Math" panose="02040503050406030204" pitchFamily="18" charset="0"/>
                                          </a:rPr>
                                        </m:ctrlPr>
                                      </m:fPr>
                                      <m:num>
                                        <m:r>
                                          <a:rPr lang="en-US" sz="2400" i="1">
                                            <a:latin typeface="Cambria Math" panose="02040503050406030204" pitchFamily="18" charset="0"/>
                                          </a:rPr>
                                          <m:t>𝜃</m:t>
                                        </m:r>
                                      </m:num>
                                      <m:den>
                                        <m:r>
                                          <a:rPr lang="en-US" sz="2400" i="0">
                                            <a:latin typeface="Cambria Math" panose="02040503050406030204" pitchFamily="18" charset="0"/>
                                          </a:rPr>
                                          <m:t>2</m:t>
                                        </m:r>
                                      </m:den>
                                    </m:f>
                                  </m:e>
                                </m:func>
                              </m:e>
                            </m:mr>
                            <m:mr>
                              <m:e>
                                <m:r>
                                  <a:rPr lang="en-US" sz="2400" i="0">
                                    <a:latin typeface="Cambria Math" panose="02040503050406030204" pitchFamily="18" charset="0"/>
                                  </a:rPr>
                                  <m:t>0</m:t>
                                </m:r>
                              </m:e>
                              <m:e>
                                <m:r>
                                  <a:rPr lang="en-US" sz="2400" i="0">
                                    <a:latin typeface="Cambria Math" panose="02040503050406030204" pitchFamily="18" charset="0"/>
                                  </a:rPr>
                                  <m:t>0</m:t>
                                </m:r>
                              </m:e>
                              <m:e>
                                <m:func>
                                  <m:funcPr>
                                    <m:ctrlPr>
                                      <a:rPr lang="en-US" sz="2400" i="1">
                                        <a:latin typeface="Cambria Math" panose="02040503050406030204" pitchFamily="18" charset="0"/>
                                      </a:rPr>
                                    </m:ctrlPr>
                                  </m:funcPr>
                                  <m:fName>
                                    <m:r>
                                      <a:rPr lang="en-US" sz="2400" i="0">
                                        <a:latin typeface="Cambria Math" panose="02040503050406030204" pitchFamily="18" charset="0"/>
                                      </a:rPr>
                                      <m:t>−</m:t>
                                    </m:r>
                                    <m:r>
                                      <a:rPr lang="en-US" sz="2400" i="1">
                                        <a:latin typeface="Cambria Math" panose="02040503050406030204" pitchFamily="18" charset="0"/>
                                      </a:rPr>
                                      <m:t>𝑖</m:t>
                                    </m:r>
                                    <m:r>
                                      <a:rPr lang="en-US" sz="2400" i="0">
                                        <a:latin typeface="Cambria Math" panose="02040503050406030204" pitchFamily="18" charset="0"/>
                                      </a:rPr>
                                      <m:t> </m:t>
                                    </m:r>
                                    <m:r>
                                      <a:rPr lang="en-US" sz="2400" i="1">
                                        <a:latin typeface="Cambria Math" panose="02040503050406030204" pitchFamily="18" charset="0"/>
                                      </a:rPr>
                                      <m:t>𝑠𝑖𝑛</m:t>
                                    </m:r>
                                  </m:fName>
                                  <m:e>
                                    <m:f>
                                      <m:fPr>
                                        <m:ctrlPr>
                                          <a:rPr lang="en-US" sz="2400" i="1">
                                            <a:latin typeface="Cambria Math" panose="02040503050406030204" pitchFamily="18" charset="0"/>
                                          </a:rPr>
                                        </m:ctrlPr>
                                      </m:fPr>
                                      <m:num>
                                        <m:r>
                                          <a:rPr lang="en-US" sz="2400" i="1">
                                            <a:latin typeface="Cambria Math" panose="02040503050406030204" pitchFamily="18" charset="0"/>
                                          </a:rPr>
                                          <m:t>𝜃</m:t>
                                        </m:r>
                                      </m:num>
                                      <m:den>
                                        <m:r>
                                          <a:rPr lang="en-US" sz="2400" i="0">
                                            <a:latin typeface="Cambria Math" panose="02040503050406030204" pitchFamily="18" charset="0"/>
                                          </a:rPr>
                                          <m:t>2</m:t>
                                        </m:r>
                                      </m:den>
                                    </m:f>
                                  </m:e>
                                </m:func>
                              </m:e>
                              <m:e>
                                <m:func>
                                  <m:funcPr>
                                    <m:ctrlPr>
                                      <a:rPr lang="en-US" sz="2400" i="1">
                                        <a:latin typeface="Cambria Math" panose="02040503050406030204" pitchFamily="18" charset="0"/>
                                      </a:rPr>
                                    </m:ctrlPr>
                                  </m:funcPr>
                                  <m:fName>
                                    <m:r>
                                      <a:rPr lang="en-US" sz="2400" i="1">
                                        <a:latin typeface="Cambria Math" panose="02040503050406030204" pitchFamily="18" charset="0"/>
                                      </a:rPr>
                                      <m:t>𝑐𝑜𝑠</m:t>
                                    </m:r>
                                  </m:fName>
                                  <m:e>
                                    <m:f>
                                      <m:fPr>
                                        <m:ctrlPr>
                                          <a:rPr lang="en-US" sz="2400" i="1">
                                            <a:latin typeface="Cambria Math" panose="02040503050406030204" pitchFamily="18" charset="0"/>
                                          </a:rPr>
                                        </m:ctrlPr>
                                      </m:fPr>
                                      <m:num>
                                        <m:r>
                                          <a:rPr lang="en-US" sz="2400" i="1">
                                            <a:latin typeface="Cambria Math" panose="02040503050406030204" pitchFamily="18" charset="0"/>
                                          </a:rPr>
                                          <m:t>𝜃</m:t>
                                        </m:r>
                                      </m:num>
                                      <m:den>
                                        <m:r>
                                          <a:rPr lang="en-US" sz="2400" i="0">
                                            <a:latin typeface="Cambria Math" panose="02040503050406030204" pitchFamily="18" charset="0"/>
                                          </a:rPr>
                                          <m:t>2</m:t>
                                        </m:r>
                                      </m:den>
                                    </m:f>
                                  </m:e>
                                </m:func>
                              </m:e>
                            </m:mr>
                          </m:m>
                        </m:e>
                      </m:d>
                    </m:oMath>
                  </m:oMathPara>
                </a14:m>
                <a:endParaRPr lang="en-US" sz="2400" dirty="0"/>
              </a:p>
            </p:txBody>
          </p:sp>
        </mc:Choice>
        <mc:Fallback xmlns="">
          <p:sp>
            <p:nvSpPr>
              <p:cNvPr id="17" name="Rectangle 16">
                <a:extLst>
                  <a:ext uri="{FF2B5EF4-FFF2-40B4-BE49-F238E27FC236}">
                    <a16:creationId xmlns:a16="http://schemas.microsoft.com/office/drawing/2014/main" id="{EA283BA5-571A-4043-AC51-71A9EE88873F}"/>
                  </a:ext>
                </a:extLst>
              </p:cNvPr>
              <p:cNvSpPr>
                <a:spLocks noRot="1" noChangeAspect="1" noMove="1" noResize="1" noEditPoints="1" noAdjustHandles="1" noChangeArrowheads="1" noChangeShapeType="1" noTextEdit="1"/>
              </p:cNvSpPr>
              <p:nvPr/>
            </p:nvSpPr>
            <p:spPr>
              <a:xfrm>
                <a:off x="0" y="3517602"/>
                <a:ext cx="4102726" cy="2203424"/>
              </a:xfrm>
              <a:prstGeom prst="rect">
                <a:avLst/>
              </a:prstGeom>
              <a:blipFill>
                <a:blip r:embed="rId7"/>
                <a:stretch>
                  <a:fillRect b="-17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Rectangle 21">
                <a:extLst>
                  <a:ext uri="{FF2B5EF4-FFF2-40B4-BE49-F238E27FC236}">
                    <a16:creationId xmlns:a16="http://schemas.microsoft.com/office/drawing/2014/main" id="{FC43B742-A976-4045-BCCE-7E28D7C1BED2}"/>
                  </a:ext>
                </a:extLst>
              </p:cNvPr>
              <p:cNvSpPr/>
              <p:nvPr/>
            </p:nvSpPr>
            <p:spPr>
              <a:xfrm>
                <a:off x="4327952" y="2833243"/>
                <a:ext cx="3536096"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ZA" sz="2400" i="1">
                              <a:latin typeface="Cambria Math" panose="02040503050406030204" pitchFamily="18" charset="0"/>
                            </a:rPr>
                          </m:ctrlPr>
                        </m:dPr>
                        <m:e>
                          <m:r>
                            <a:rPr lang="en-US" sz="2400" i="1">
                              <a:latin typeface="Cambria Math" panose="02040503050406030204" pitchFamily="18" charset="0"/>
                            </a:rPr>
                            <m:t>0</m:t>
                          </m:r>
                        </m:e>
                      </m:d>
                      <m:box>
                        <m:boxPr>
                          <m:ctrlPr>
                            <a:rPr lang="en-ZA" sz="2400" i="1">
                              <a:latin typeface="Cambria Math" panose="02040503050406030204" pitchFamily="18" charset="0"/>
                            </a:rPr>
                          </m:ctrlPr>
                        </m:boxPr>
                        <m:e>
                          <m:d>
                            <m:dPr>
                              <m:begChr m:val="⟨"/>
                              <m:endChr m:val="|"/>
                              <m:ctrlPr>
                                <a:rPr lang="en-ZA" sz="2400" i="1">
                                  <a:latin typeface="Cambria Math" panose="02040503050406030204" pitchFamily="18" charset="0"/>
                                </a:rPr>
                              </m:ctrlPr>
                            </m:dPr>
                            <m:e>
                              <m:r>
                                <a:rPr lang="en-US" sz="2400" i="1">
                                  <a:latin typeface="Cambria Math" panose="02040503050406030204" pitchFamily="18" charset="0"/>
                                </a:rPr>
                                <m:t>0</m:t>
                              </m:r>
                            </m:e>
                          </m:d>
                          <m:r>
                            <a:rPr lang="en-US" sz="2400" i="1">
                              <a:latin typeface="Cambria Math" panose="02040503050406030204" pitchFamily="18" charset="0"/>
                            </a:rPr>
                            <m:t>⨂</m:t>
                          </m:r>
                          <m:r>
                            <a:rPr lang="en-US" sz="2400" i="1">
                              <a:latin typeface="Cambria Math" panose="02040503050406030204" pitchFamily="18" charset="0"/>
                            </a:rPr>
                            <m:t>𝐼</m:t>
                          </m:r>
                          <m:r>
                            <a:rPr lang="en-US" sz="2400" i="1">
                              <a:latin typeface="Cambria Math" panose="02040503050406030204" pitchFamily="18" charset="0"/>
                            </a:rPr>
                            <m:t>+</m:t>
                          </m:r>
                        </m:e>
                      </m:box>
                      <m:d>
                        <m:dPr>
                          <m:begChr m:val="|"/>
                          <m:endChr m:val="⟩"/>
                          <m:ctrlPr>
                            <a:rPr lang="en-ZA" sz="2400" i="1">
                              <a:latin typeface="Cambria Math" panose="02040503050406030204" pitchFamily="18" charset="0"/>
                            </a:rPr>
                          </m:ctrlPr>
                        </m:dPr>
                        <m:e>
                          <m:r>
                            <a:rPr lang="en-US" sz="2400" i="1">
                              <a:latin typeface="Cambria Math" panose="02040503050406030204" pitchFamily="18" charset="0"/>
                            </a:rPr>
                            <m:t>1</m:t>
                          </m:r>
                        </m:e>
                      </m:d>
                      <m:box>
                        <m:boxPr>
                          <m:ctrlPr>
                            <a:rPr lang="en-ZA" sz="2400" i="1">
                              <a:latin typeface="Cambria Math" panose="02040503050406030204" pitchFamily="18" charset="0"/>
                            </a:rPr>
                          </m:ctrlPr>
                        </m:boxPr>
                        <m:e>
                          <m:d>
                            <m:dPr>
                              <m:begChr m:val="⟨"/>
                              <m:endChr m:val="|"/>
                              <m:ctrlPr>
                                <a:rPr lang="en-ZA" sz="2400" i="1">
                                  <a:latin typeface="Cambria Math" panose="02040503050406030204" pitchFamily="18" charset="0"/>
                                </a:rPr>
                              </m:ctrlPr>
                            </m:dPr>
                            <m:e>
                              <m:r>
                                <a:rPr lang="en-US" sz="2400" i="1">
                                  <a:latin typeface="Cambria Math" panose="02040503050406030204" pitchFamily="18" charset="0"/>
                                </a:rPr>
                                <m:t>1</m:t>
                              </m:r>
                            </m:e>
                          </m:d>
                          <m:r>
                            <a:rPr lang="en-US" sz="2400" i="1">
                              <a:latin typeface="Cambria Math" panose="02040503050406030204" pitchFamily="18" charset="0"/>
                            </a:rPr>
                            <m:t>⨂</m:t>
                          </m:r>
                          <m:r>
                            <a:rPr lang="en-US" sz="2400" i="1">
                              <a:latin typeface="Cambria Math" panose="02040503050406030204" pitchFamily="18" charset="0"/>
                            </a:rPr>
                            <m:t>𝑅𝑦</m:t>
                          </m:r>
                          <m:r>
                            <a:rPr lang="en-US" sz="2400" i="1">
                              <a:latin typeface="Cambria Math" panose="02040503050406030204" pitchFamily="18" charset="0"/>
                            </a:rPr>
                            <m:t>(</m:t>
                          </m:r>
                          <m:r>
                            <a:rPr lang="sr-Latn-RS" sz="2400" i="1">
                              <a:latin typeface="Cambria Math" panose="02040503050406030204" pitchFamily="18" charset="0"/>
                            </a:rPr>
                            <m:t>𝜃</m:t>
                          </m:r>
                          <m:r>
                            <a:rPr lang="en-US" sz="2400" i="1">
                              <a:latin typeface="Cambria Math" panose="02040503050406030204" pitchFamily="18" charset="0"/>
                            </a:rPr>
                            <m:t>)</m:t>
                          </m:r>
                        </m:e>
                      </m:box>
                    </m:oMath>
                  </m:oMathPara>
                </a14:m>
                <a:endParaRPr lang="en-US" sz="2400" dirty="0"/>
              </a:p>
            </p:txBody>
          </p:sp>
        </mc:Choice>
        <mc:Fallback xmlns="">
          <p:sp>
            <p:nvSpPr>
              <p:cNvPr id="22" name="Rectangle 21">
                <a:extLst>
                  <a:ext uri="{FF2B5EF4-FFF2-40B4-BE49-F238E27FC236}">
                    <a16:creationId xmlns:a16="http://schemas.microsoft.com/office/drawing/2014/main" id="{FC43B742-A976-4045-BCCE-7E28D7C1BED2}"/>
                  </a:ext>
                </a:extLst>
              </p:cNvPr>
              <p:cNvSpPr>
                <a:spLocks noRot="1" noChangeAspect="1" noMove="1" noResize="1" noEditPoints="1" noAdjustHandles="1" noChangeArrowheads="1" noChangeShapeType="1" noTextEdit="1"/>
              </p:cNvSpPr>
              <p:nvPr/>
            </p:nvSpPr>
            <p:spPr>
              <a:xfrm>
                <a:off x="4327952" y="2833243"/>
                <a:ext cx="3536096" cy="461665"/>
              </a:xfrm>
              <a:prstGeom prst="rect">
                <a:avLst/>
              </a:prstGeom>
              <a:blipFill>
                <a:blip r:embed="rId8"/>
                <a:stretch>
                  <a:fillRect b="-162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Rectangle 22">
                <a:extLst>
                  <a:ext uri="{FF2B5EF4-FFF2-40B4-BE49-F238E27FC236}">
                    <a16:creationId xmlns:a16="http://schemas.microsoft.com/office/drawing/2014/main" id="{10C5307A-148B-7E4C-82A0-E69B4996FF67}"/>
                  </a:ext>
                </a:extLst>
              </p:cNvPr>
              <p:cNvSpPr/>
              <p:nvPr/>
            </p:nvSpPr>
            <p:spPr>
              <a:xfrm>
                <a:off x="4440530" y="3517602"/>
                <a:ext cx="3622595" cy="220342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ctrlPr>
                            <a:rPr lang="en-US" sz="2400" i="1">
                              <a:latin typeface="Cambria Math" panose="02040503050406030204" pitchFamily="18" charset="0"/>
                            </a:rPr>
                          </m:ctrlPr>
                        </m:dPr>
                        <m:e>
                          <m:m>
                            <m:mPr>
                              <m:plcHide m:val="on"/>
                              <m:mcs>
                                <m:mc>
                                  <m:mcPr>
                                    <m:count m:val="4"/>
                                    <m:mcJc m:val="center"/>
                                  </m:mcPr>
                                </m:mc>
                              </m:mcs>
                              <m:ctrlPr>
                                <a:rPr lang="en-US" sz="2400" i="1">
                                  <a:latin typeface="Cambria Math" panose="02040503050406030204" pitchFamily="18" charset="0"/>
                                </a:rPr>
                              </m:ctrlPr>
                            </m:mPr>
                            <m:mr>
                              <m:e>
                                <m:r>
                                  <a:rPr lang="en-US" sz="2400">
                                    <a:latin typeface="Cambria Math" panose="02040503050406030204" pitchFamily="18" charset="0"/>
                                  </a:rPr>
                                  <m:t>1</m:t>
                                </m:r>
                              </m:e>
                              <m:e>
                                <m:r>
                                  <a:rPr lang="en-US" sz="2400" i="0">
                                    <a:latin typeface="Cambria Math" panose="02040503050406030204" pitchFamily="18" charset="0"/>
                                  </a:rPr>
                                  <m:t>0</m:t>
                                </m:r>
                              </m:e>
                              <m:e>
                                <m:r>
                                  <a:rPr lang="en-US" sz="2400" i="0">
                                    <a:latin typeface="Cambria Math" panose="02040503050406030204" pitchFamily="18" charset="0"/>
                                  </a:rPr>
                                  <m:t>0</m:t>
                                </m:r>
                              </m:e>
                              <m:e>
                                <m:r>
                                  <a:rPr lang="en-US" sz="2400" i="0">
                                    <a:latin typeface="Cambria Math" panose="02040503050406030204" pitchFamily="18" charset="0"/>
                                  </a:rPr>
                                  <m:t>0</m:t>
                                </m:r>
                              </m:e>
                            </m:mr>
                            <m:mr>
                              <m:e>
                                <m:r>
                                  <a:rPr lang="en-US" sz="2400" i="0">
                                    <a:latin typeface="Cambria Math" panose="02040503050406030204" pitchFamily="18" charset="0"/>
                                  </a:rPr>
                                  <m:t>0</m:t>
                                </m:r>
                              </m:e>
                              <m:e>
                                <m:r>
                                  <a:rPr lang="en-US" sz="2400" i="0">
                                    <a:latin typeface="Cambria Math" panose="02040503050406030204" pitchFamily="18" charset="0"/>
                                  </a:rPr>
                                  <m:t>1</m:t>
                                </m:r>
                              </m:e>
                              <m:e>
                                <m:r>
                                  <a:rPr lang="en-US" sz="2400" i="0">
                                    <a:latin typeface="Cambria Math" panose="02040503050406030204" pitchFamily="18" charset="0"/>
                                  </a:rPr>
                                  <m:t>0</m:t>
                                </m:r>
                              </m:e>
                              <m:e>
                                <m:r>
                                  <a:rPr lang="en-US" sz="2400" i="0">
                                    <a:latin typeface="Cambria Math" panose="02040503050406030204" pitchFamily="18" charset="0"/>
                                  </a:rPr>
                                  <m:t>0</m:t>
                                </m:r>
                              </m:e>
                            </m:mr>
                            <m:mr>
                              <m:e>
                                <m:r>
                                  <a:rPr lang="en-US" sz="2400" i="0">
                                    <a:latin typeface="Cambria Math" panose="02040503050406030204" pitchFamily="18" charset="0"/>
                                  </a:rPr>
                                  <m:t>0</m:t>
                                </m:r>
                              </m:e>
                              <m:e>
                                <m:r>
                                  <a:rPr lang="en-US" sz="2400" i="0">
                                    <a:latin typeface="Cambria Math" panose="02040503050406030204" pitchFamily="18" charset="0"/>
                                  </a:rPr>
                                  <m:t>0</m:t>
                                </m:r>
                              </m:e>
                              <m:e>
                                <m:func>
                                  <m:funcPr>
                                    <m:ctrlPr>
                                      <a:rPr lang="en-US" sz="2400" i="1">
                                        <a:latin typeface="Cambria Math" panose="02040503050406030204" pitchFamily="18" charset="0"/>
                                      </a:rPr>
                                    </m:ctrlPr>
                                  </m:funcPr>
                                  <m:fName>
                                    <m:r>
                                      <a:rPr lang="en-US" sz="2400" i="1">
                                        <a:latin typeface="Cambria Math" panose="02040503050406030204" pitchFamily="18" charset="0"/>
                                      </a:rPr>
                                      <m:t>𝑐𝑜𝑠</m:t>
                                    </m:r>
                                  </m:fName>
                                  <m:e>
                                    <m:f>
                                      <m:fPr>
                                        <m:ctrlPr>
                                          <a:rPr lang="en-US" sz="2400" i="1">
                                            <a:latin typeface="Cambria Math" panose="02040503050406030204" pitchFamily="18" charset="0"/>
                                          </a:rPr>
                                        </m:ctrlPr>
                                      </m:fPr>
                                      <m:num>
                                        <m:r>
                                          <a:rPr lang="en-US" sz="2400" i="1">
                                            <a:latin typeface="Cambria Math" panose="02040503050406030204" pitchFamily="18" charset="0"/>
                                          </a:rPr>
                                          <m:t>𝜃</m:t>
                                        </m:r>
                                      </m:num>
                                      <m:den>
                                        <m:r>
                                          <a:rPr lang="en-US" sz="2400" i="0">
                                            <a:latin typeface="Cambria Math" panose="02040503050406030204" pitchFamily="18" charset="0"/>
                                          </a:rPr>
                                          <m:t>2</m:t>
                                        </m:r>
                                      </m:den>
                                    </m:f>
                                  </m:e>
                                </m:func>
                              </m:e>
                              <m:e>
                                <m:func>
                                  <m:funcPr>
                                    <m:ctrlPr>
                                      <a:rPr lang="en-US" sz="2400" i="1">
                                        <a:latin typeface="Cambria Math" panose="02040503050406030204" pitchFamily="18" charset="0"/>
                                      </a:rPr>
                                    </m:ctrlPr>
                                  </m:funcPr>
                                  <m:fName>
                                    <m:r>
                                      <a:rPr lang="en-US" sz="2400" i="0">
                                        <a:latin typeface="Cambria Math" panose="02040503050406030204" pitchFamily="18" charset="0"/>
                                      </a:rPr>
                                      <m:t>− </m:t>
                                    </m:r>
                                    <m:r>
                                      <a:rPr lang="en-US" sz="2400" i="1">
                                        <a:latin typeface="Cambria Math" panose="02040503050406030204" pitchFamily="18" charset="0"/>
                                      </a:rPr>
                                      <m:t>𝑠𝑖𝑛</m:t>
                                    </m:r>
                                  </m:fName>
                                  <m:e>
                                    <m:f>
                                      <m:fPr>
                                        <m:ctrlPr>
                                          <a:rPr lang="en-US" sz="2400" i="1">
                                            <a:latin typeface="Cambria Math" panose="02040503050406030204" pitchFamily="18" charset="0"/>
                                          </a:rPr>
                                        </m:ctrlPr>
                                      </m:fPr>
                                      <m:num>
                                        <m:r>
                                          <a:rPr lang="en-US" sz="2400" i="1">
                                            <a:latin typeface="Cambria Math" panose="02040503050406030204" pitchFamily="18" charset="0"/>
                                          </a:rPr>
                                          <m:t>𝜃</m:t>
                                        </m:r>
                                      </m:num>
                                      <m:den>
                                        <m:r>
                                          <a:rPr lang="en-US" sz="2400" i="0">
                                            <a:latin typeface="Cambria Math" panose="02040503050406030204" pitchFamily="18" charset="0"/>
                                          </a:rPr>
                                          <m:t>2</m:t>
                                        </m:r>
                                      </m:den>
                                    </m:f>
                                  </m:e>
                                </m:func>
                              </m:e>
                            </m:mr>
                            <m:mr>
                              <m:e>
                                <m:r>
                                  <a:rPr lang="en-US" sz="2400" i="0">
                                    <a:latin typeface="Cambria Math" panose="02040503050406030204" pitchFamily="18" charset="0"/>
                                  </a:rPr>
                                  <m:t>0</m:t>
                                </m:r>
                              </m:e>
                              <m:e>
                                <m:r>
                                  <a:rPr lang="en-US" sz="2400" i="0">
                                    <a:latin typeface="Cambria Math" panose="02040503050406030204" pitchFamily="18" charset="0"/>
                                  </a:rPr>
                                  <m:t>0</m:t>
                                </m:r>
                              </m:e>
                              <m:e>
                                <m:func>
                                  <m:funcPr>
                                    <m:ctrlPr>
                                      <a:rPr lang="en-US" sz="2400" i="1">
                                        <a:latin typeface="Cambria Math" panose="02040503050406030204" pitchFamily="18" charset="0"/>
                                      </a:rPr>
                                    </m:ctrlPr>
                                  </m:funcPr>
                                  <m:fName>
                                    <m:r>
                                      <a:rPr lang="en-US" sz="2400" i="1">
                                        <a:latin typeface="Cambria Math" panose="02040503050406030204" pitchFamily="18" charset="0"/>
                                      </a:rPr>
                                      <m:t>𝑠𝑖𝑛</m:t>
                                    </m:r>
                                  </m:fName>
                                  <m:e>
                                    <m:f>
                                      <m:fPr>
                                        <m:ctrlPr>
                                          <a:rPr lang="en-US" sz="2400" i="1">
                                            <a:latin typeface="Cambria Math" panose="02040503050406030204" pitchFamily="18" charset="0"/>
                                          </a:rPr>
                                        </m:ctrlPr>
                                      </m:fPr>
                                      <m:num>
                                        <m:r>
                                          <a:rPr lang="en-US" sz="2400" i="1">
                                            <a:latin typeface="Cambria Math" panose="02040503050406030204" pitchFamily="18" charset="0"/>
                                          </a:rPr>
                                          <m:t>𝜃</m:t>
                                        </m:r>
                                      </m:num>
                                      <m:den>
                                        <m:r>
                                          <a:rPr lang="en-US" sz="2400" i="0">
                                            <a:latin typeface="Cambria Math" panose="02040503050406030204" pitchFamily="18" charset="0"/>
                                          </a:rPr>
                                          <m:t>2</m:t>
                                        </m:r>
                                      </m:den>
                                    </m:f>
                                  </m:e>
                                </m:func>
                              </m:e>
                              <m:e>
                                <m:func>
                                  <m:funcPr>
                                    <m:ctrlPr>
                                      <a:rPr lang="en-US" sz="2400" i="1">
                                        <a:latin typeface="Cambria Math" panose="02040503050406030204" pitchFamily="18" charset="0"/>
                                      </a:rPr>
                                    </m:ctrlPr>
                                  </m:funcPr>
                                  <m:fName>
                                    <m:r>
                                      <a:rPr lang="en-US" sz="2400" i="1">
                                        <a:latin typeface="Cambria Math" panose="02040503050406030204" pitchFamily="18" charset="0"/>
                                      </a:rPr>
                                      <m:t>𝑐𝑜𝑠</m:t>
                                    </m:r>
                                  </m:fName>
                                  <m:e>
                                    <m:f>
                                      <m:fPr>
                                        <m:ctrlPr>
                                          <a:rPr lang="en-US" sz="2400" i="1">
                                            <a:latin typeface="Cambria Math" panose="02040503050406030204" pitchFamily="18" charset="0"/>
                                          </a:rPr>
                                        </m:ctrlPr>
                                      </m:fPr>
                                      <m:num>
                                        <m:r>
                                          <a:rPr lang="en-US" sz="2400" i="1">
                                            <a:latin typeface="Cambria Math" panose="02040503050406030204" pitchFamily="18" charset="0"/>
                                          </a:rPr>
                                          <m:t>𝜃</m:t>
                                        </m:r>
                                      </m:num>
                                      <m:den>
                                        <m:r>
                                          <a:rPr lang="en-US" sz="2400" i="0">
                                            <a:latin typeface="Cambria Math" panose="02040503050406030204" pitchFamily="18" charset="0"/>
                                          </a:rPr>
                                          <m:t>2</m:t>
                                        </m:r>
                                      </m:den>
                                    </m:f>
                                  </m:e>
                                </m:func>
                              </m:e>
                            </m:mr>
                          </m:m>
                        </m:e>
                      </m:d>
                    </m:oMath>
                  </m:oMathPara>
                </a14:m>
                <a:endParaRPr lang="en-US" sz="2400" dirty="0"/>
              </a:p>
            </p:txBody>
          </p:sp>
        </mc:Choice>
        <mc:Fallback xmlns="">
          <p:sp>
            <p:nvSpPr>
              <p:cNvPr id="23" name="Rectangle 22">
                <a:extLst>
                  <a:ext uri="{FF2B5EF4-FFF2-40B4-BE49-F238E27FC236}">
                    <a16:creationId xmlns:a16="http://schemas.microsoft.com/office/drawing/2014/main" id="{10C5307A-148B-7E4C-82A0-E69B4996FF67}"/>
                  </a:ext>
                </a:extLst>
              </p:cNvPr>
              <p:cNvSpPr>
                <a:spLocks noRot="1" noChangeAspect="1" noMove="1" noResize="1" noEditPoints="1" noAdjustHandles="1" noChangeArrowheads="1" noChangeShapeType="1" noTextEdit="1"/>
              </p:cNvSpPr>
              <p:nvPr/>
            </p:nvSpPr>
            <p:spPr>
              <a:xfrm>
                <a:off x="4440530" y="3517602"/>
                <a:ext cx="3622595" cy="2203424"/>
              </a:xfrm>
              <a:prstGeom prst="rect">
                <a:avLst/>
              </a:prstGeom>
              <a:blipFill>
                <a:blip r:embed="rId9"/>
                <a:stretch>
                  <a:fillRect b="-17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Rectangle 23">
                <a:extLst>
                  <a:ext uri="{FF2B5EF4-FFF2-40B4-BE49-F238E27FC236}">
                    <a16:creationId xmlns:a16="http://schemas.microsoft.com/office/drawing/2014/main" id="{E8A88E5E-F078-DF4B-B170-775112161E37}"/>
                  </a:ext>
                </a:extLst>
              </p:cNvPr>
              <p:cNvSpPr/>
              <p:nvPr/>
            </p:nvSpPr>
            <p:spPr>
              <a:xfrm>
                <a:off x="8301720" y="2833242"/>
                <a:ext cx="349544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ZA" sz="2400" i="1">
                              <a:latin typeface="Cambria Math" panose="02040503050406030204" pitchFamily="18" charset="0"/>
                            </a:rPr>
                          </m:ctrlPr>
                        </m:dPr>
                        <m:e>
                          <m:r>
                            <a:rPr lang="en-US" sz="2400" i="1">
                              <a:latin typeface="Cambria Math" panose="02040503050406030204" pitchFamily="18" charset="0"/>
                            </a:rPr>
                            <m:t>0</m:t>
                          </m:r>
                        </m:e>
                      </m:d>
                      <m:box>
                        <m:boxPr>
                          <m:ctrlPr>
                            <a:rPr lang="en-ZA" sz="2400" i="1">
                              <a:latin typeface="Cambria Math" panose="02040503050406030204" pitchFamily="18" charset="0"/>
                            </a:rPr>
                          </m:ctrlPr>
                        </m:boxPr>
                        <m:e>
                          <m:d>
                            <m:dPr>
                              <m:begChr m:val="⟨"/>
                              <m:endChr m:val="|"/>
                              <m:ctrlPr>
                                <a:rPr lang="en-ZA" sz="2400" i="1">
                                  <a:latin typeface="Cambria Math" panose="02040503050406030204" pitchFamily="18" charset="0"/>
                                </a:rPr>
                              </m:ctrlPr>
                            </m:dPr>
                            <m:e>
                              <m:r>
                                <a:rPr lang="en-US" sz="2400" i="1">
                                  <a:latin typeface="Cambria Math" panose="02040503050406030204" pitchFamily="18" charset="0"/>
                                </a:rPr>
                                <m:t>0</m:t>
                              </m:r>
                            </m:e>
                          </m:d>
                          <m:r>
                            <a:rPr lang="en-US" sz="2400" i="1">
                              <a:latin typeface="Cambria Math" panose="02040503050406030204" pitchFamily="18" charset="0"/>
                            </a:rPr>
                            <m:t>⨂</m:t>
                          </m:r>
                          <m:r>
                            <a:rPr lang="en-US" sz="2400" i="1">
                              <a:latin typeface="Cambria Math" panose="02040503050406030204" pitchFamily="18" charset="0"/>
                            </a:rPr>
                            <m:t>𝐼</m:t>
                          </m:r>
                          <m:r>
                            <a:rPr lang="en-US" sz="2400" i="1">
                              <a:latin typeface="Cambria Math" panose="02040503050406030204" pitchFamily="18" charset="0"/>
                            </a:rPr>
                            <m:t>+</m:t>
                          </m:r>
                        </m:e>
                      </m:box>
                      <m:d>
                        <m:dPr>
                          <m:begChr m:val="|"/>
                          <m:endChr m:val="⟩"/>
                          <m:ctrlPr>
                            <a:rPr lang="en-ZA" sz="2400" i="1">
                              <a:latin typeface="Cambria Math" panose="02040503050406030204" pitchFamily="18" charset="0"/>
                            </a:rPr>
                          </m:ctrlPr>
                        </m:dPr>
                        <m:e>
                          <m:r>
                            <a:rPr lang="en-US" sz="2400" i="1">
                              <a:latin typeface="Cambria Math" panose="02040503050406030204" pitchFamily="18" charset="0"/>
                            </a:rPr>
                            <m:t>1</m:t>
                          </m:r>
                        </m:e>
                      </m:d>
                      <m:box>
                        <m:boxPr>
                          <m:ctrlPr>
                            <a:rPr lang="en-ZA" sz="2400" i="1">
                              <a:latin typeface="Cambria Math" panose="02040503050406030204" pitchFamily="18" charset="0"/>
                            </a:rPr>
                          </m:ctrlPr>
                        </m:boxPr>
                        <m:e>
                          <m:d>
                            <m:dPr>
                              <m:begChr m:val="⟨"/>
                              <m:endChr m:val="|"/>
                              <m:ctrlPr>
                                <a:rPr lang="en-ZA" sz="2400" i="1">
                                  <a:latin typeface="Cambria Math" panose="02040503050406030204" pitchFamily="18" charset="0"/>
                                </a:rPr>
                              </m:ctrlPr>
                            </m:dPr>
                            <m:e>
                              <m:r>
                                <a:rPr lang="en-US" sz="2400" i="1">
                                  <a:latin typeface="Cambria Math" panose="02040503050406030204" pitchFamily="18" charset="0"/>
                                </a:rPr>
                                <m:t>1</m:t>
                              </m:r>
                            </m:e>
                          </m:d>
                          <m:r>
                            <a:rPr lang="en-US" sz="2400" i="1">
                              <a:latin typeface="Cambria Math" panose="02040503050406030204" pitchFamily="18" charset="0"/>
                            </a:rPr>
                            <m:t>⨂</m:t>
                          </m:r>
                          <m:r>
                            <a:rPr lang="en-US" sz="2400" i="1">
                              <a:latin typeface="Cambria Math" panose="02040503050406030204" pitchFamily="18" charset="0"/>
                            </a:rPr>
                            <m:t>𝑅𝑧</m:t>
                          </m:r>
                          <m:r>
                            <a:rPr lang="en-US" sz="2400" i="1">
                              <a:latin typeface="Cambria Math" panose="02040503050406030204" pitchFamily="18" charset="0"/>
                            </a:rPr>
                            <m:t>(</m:t>
                          </m:r>
                          <m:r>
                            <a:rPr lang="sr-Latn-RS" sz="2400" i="1">
                              <a:latin typeface="Cambria Math" panose="02040503050406030204" pitchFamily="18" charset="0"/>
                            </a:rPr>
                            <m:t>𝜆</m:t>
                          </m:r>
                          <m:r>
                            <a:rPr lang="en-US" sz="2400" i="1">
                              <a:latin typeface="Cambria Math" panose="02040503050406030204" pitchFamily="18" charset="0"/>
                            </a:rPr>
                            <m:t>)</m:t>
                          </m:r>
                        </m:e>
                      </m:box>
                    </m:oMath>
                  </m:oMathPara>
                </a14:m>
                <a:endParaRPr lang="en-US" sz="2400" dirty="0"/>
              </a:p>
            </p:txBody>
          </p:sp>
        </mc:Choice>
        <mc:Fallback xmlns="">
          <p:sp>
            <p:nvSpPr>
              <p:cNvPr id="24" name="Rectangle 23">
                <a:extLst>
                  <a:ext uri="{FF2B5EF4-FFF2-40B4-BE49-F238E27FC236}">
                    <a16:creationId xmlns:a16="http://schemas.microsoft.com/office/drawing/2014/main" id="{E8A88E5E-F078-DF4B-B170-775112161E37}"/>
                  </a:ext>
                </a:extLst>
              </p:cNvPr>
              <p:cNvSpPr>
                <a:spLocks noRot="1" noChangeAspect="1" noMove="1" noResize="1" noEditPoints="1" noAdjustHandles="1" noChangeArrowheads="1" noChangeShapeType="1" noTextEdit="1"/>
              </p:cNvSpPr>
              <p:nvPr/>
            </p:nvSpPr>
            <p:spPr>
              <a:xfrm>
                <a:off x="8301720" y="2833242"/>
                <a:ext cx="3495444" cy="461665"/>
              </a:xfrm>
              <a:prstGeom prst="rect">
                <a:avLst/>
              </a:prstGeom>
              <a:blipFill>
                <a:blip r:embed="rId10"/>
                <a:stretch>
                  <a:fillRect b="-162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Rectangle 24">
                <a:extLst>
                  <a:ext uri="{FF2B5EF4-FFF2-40B4-BE49-F238E27FC236}">
                    <a16:creationId xmlns:a16="http://schemas.microsoft.com/office/drawing/2014/main" id="{68A7D9FC-75ED-8845-BEF8-F6955740CB25}"/>
                  </a:ext>
                </a:extLst>
              </p:cNvPr>
              <p:cNvSpPr/>
              <p:nvPr/>
            </p:nvSpPr>
            <p:spPr>
              <a:xfrm>
                <a:off x="8572851" y="3517598"/>
                <a:ext cx="2953181" cy="184576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ctrlPr>
                            <a:rPr lang="en-US" sz="2400" i="1">
                              <a:latin typeface="Cambria Math" panose="02040503050406030204" pitchFamily="18" charset="0"/>
                            </a:rPr>
                          </m:ctrlPr>
                        </m:dPr>
                        <m:e>
                          <m:m>
                            <m:mPr>
                              <m:plcHide m:val="on"/>
                              <m:mcs>
                                <m:mc>
                                  <m:mcPr>
                                    <m:count m:val="4"/>
                                    <m:mcJc m:val="center"/>
                                  </m:mcPr>
                                </m:mc>
                              </m:mcs>
                              <m:ctrlPr>
                                <a:rPr lang="en-US" sz="2400" i="1">
                                  <a:latin typeface="Cambria Math" panose="02040503050406030204" pitchFamily="18" charset="0"/>
                                </a:rPr>
                              </m:ctrlPr>
                            </m:mPr>
                            <m:mr>
                              <m:e>
                                <m:r>
                                  <a:rPr lang="en-US" sz="2400">
                                    <a:latin typeface="Cambria Math" panose="02040503050406030204" pitchFamily="18" charset="0"/>
                                  </a:rPr>
                                  <m:t>1</m:t>
                                </m:r>
                              </m:e>
                              <m:e>
                                <m:r>
                                  <a:rPr lang="en-US" sz="2400" i="0">
                                    <a:latin typeface="Cambria Math" panose="02040503050406030204" pitchFamily="18" charset="0"/>
                                  </a:rPr>
                                  <m:t>0</m:t>
                                </m:r>
                              </m:e>
                              <m:e>
                                <m:r>
                                  <a:rPr lang="en-US" sz="2400" i="0">
                                    <a:latin typeface="Cambria Math" panose="02040503050406030204" pitchFamily="18" charset="0"/>
                                  </a:rPr>
                                  <m:t>0</m:t>
                                </m:r>
                              </m:e>
                              <m:e>
                                <m:r>
                                  <a:rPr lang="en-US" sz="2400" i="0">
                                    <a:latin typeface="Cambria Math" panose="02040503050406030204" pitchFamily="18" charset="0"/>
                                  </a:rPr>
                                  <m:t>0</m:t>
                                </m:r>
                              </m:e>
                            </m:mr>
                            <m:mr>
                              <m:e>
                                <m:r>
                                  <a:rPr lang="en-US" sz="2400" i="0">
                                    <a:latin typeface="Cambria Math" panose="02040503050406030204" pitchFamily="18" charset="0"/>
                                  </a:rPr>
                                  <m:t>0</m:t>
                                </m:r>
                              </m:e>
                              <m:e>
                                <m:r>
                                  <a:rPr lang="en-US" sz="2400" i="0">
                                    <a:latin typeface="Cambria Math" panose="02040503050406030204" pitchFamily="18" charset="0"/>
                                  </a:rPr>
                                  <m:t>1</m:t>
                                </m:r>
                              </m:e>
                              <m:e>
                                <m:r>
                                  <a:rPr lang="en-US" sz="2400" i="0">
                                    <a:latin typeface="Cambria Math" panose="02040503050406030204" pitchFamily="18" charset="0"/>
                                  </a:rPr>
                                  <m:t>0</m:t>
                                </m:r>
                              </m:e>
                              <m:e>
                                <m:r>
                                  <a:rPr lang="en-US" sz="2400" i="0">
                                    <a:latin typeface="Cambria Math" panose="02040503050406030204" pitchFamily="18" charset="0"/>
                                  </a:rPr>
                                  <m:t>0</m:t>
                                </m:r>
                              </m:e>
                            </m:mr>
                            <m:mr>
                              <m:e>
                                <m:r>
                                  <a:rPr lang="en-US" sz="2400" i="0">
                                    <a:latin typeface="Cambria Math" panose="02040503050406030204" pitchFamily="18" charset="0"/>
                                  </a:rPr>
                                  <m:t>0</m:t>
                                </m:r>
                              </m:e>
                              <m:e>
                                <m:r>
                                  <a:rPr lang="en-US" sz="2400" i="0">
                                    <a:latin typeface="Cambria Math" panose="02040503050406030204" pitchFamily="18" charset="0"/>
                                  </a:rPr>
                                  <m:t>0</m:t>
                                </m:r>
                              </m:e>
                              <m:e>
                                <m:sSup>
                                  <m:sSupPr>
                                    <m:ctrlPr>
                                      <a:rPr lang="en-US" sz="2400" i="1">
                                        <a:latin typeface="Cambria Math" panose="02040503050406030204" pitchFamily="18" charset="0"/>
                                      </a:rPr>
                                    </m:ctrlPr>
                                  </m:sSupPr>
                                  <m:e>
                                    <m:r>
                                      <a:rPr lang="en-US" sz="2400" i="1">
                                        <a:latin typeface="Cambria Math" panose="02040503050406030204" pitchFamily="18" charset="0"/>
                                      </a:rPr>
                                      <m:t>𝑒</m:t>
                                    </m:r>
                                  </m:e>
                                  <m:sup>
                                    <m:r>
                                      <a:rPr lang="en-US" sz="2400" i="0">
                                        <a:latin typeface="Cambria Math" panose="02040503050406030204" pitchFamily="18" charset="0"/>
                                      </a:rPr>
                                      <m:t>−</m:t>
                                    </m:r>
                                    <m:r>
                                      <a:rPr lang="en-US" sz="2400" i="1">
                                        <a:latin typeface="Cambria Math" panose="02040503050406030204" pitchFamily="18" charset="0"/>
                                      </a:rPr>
                                      <m:t>𝑖</m:t>
                                    </m:r>
                                    <m:f>
                                      <m:fPr>
                                        <m:ctrlPr>
                                          <a:rPr lang="en-US" sz="2400" i="1">
                                            <a:latin typeface="Cambria Math" panose="02040503050406030204" pitchFamily="18" charset="0"/>
                                          </a:rPr>
                                        </m:ctrlPr>
                                      </m:fPr>
                                      <m:num>
                                        <m:r>
                                          <a:rPr lang="en-US" sz="2400" i="1">
                                            <a:latin typeface="Cambria Math" panose="02040503050406030204" pitchFamily="18" charset="0"/>
                                          </a:rPr>
                                          <m:t>𝜆</m:t>
                                        </m:r>
                                      </m:num>
                                      <m:den>
                                        <m:r>
                                          <a:rPr lang="en-US" sz="2400" i="0">
                                            <a:latin typeface="Cambria Math" panose="02040503050406030204" pitchFamily="18" charset="0"/>
                                          </a:rPr>
                                          <m:t>2</m:t>
                                        </m:r>
                                      </m:den>
                                    </m:f>
                                  </m:sup>
                                </m:sSup>
                              </m:e>
                              <m:e>
                                <m:r>
                                  <a:rPr lang="en-US" sz="2400" i="0">
                                    <a:latin typeface="Cambria Math" panose="02040503050406030204" pitchFamily="18" charset="0"/>
                                  </a:rPr>
                                  <m:t>0</m:t>
                                </m:r>
                              </m:e>
                            </m:mr>
                            <m:mr>
                              <m:e>
                                <m:r>
                                  <a:rPr lang="en-US" sz="2400" i="0">
                                    <a:latin typeface="Cambria Math" panose="02040503050406030204" pitchFamily="18" charset="0"/>
                                  </a:rPr>
                                  <m:t>0</m:t>
                                </m:r>
                              </m:e>
                              <m:e>
                                <m:r>
                                  <a:rPr lang="en-US" sz="2400" i="0">
                                    <a:latin typeface="Cambria Math" panose="02040503050406030204" pitchFamily="18" charset="0"/>
                                  </a:rPr>
                                  <m:t>0</m:t>
                                </m:r>
                              </m:e>
                              <m:e>
                                <m:r>
                                  <a:rPr lang="en-US" sz="2400" i="0">
                                    <a:latin typeface="Cambria Math" panose="02040503050406030204" pitchFamily="18" charset="0"/>
                                  </a:rPr>
                                  <m:t>0</m:t>
                                </m:r>
                              </m:e>
                              <m:e>
                                <m:sSup>
                                  <m:sSupPr>
                                    <m:ctrlPr>
                                      <a:rPr lang="en-US" sz="2400" i="1">
                                        <a:latin typeface="Cambria Math" panose="02040503050406030204" pitchFamily="18" charset="0"/>
                                      </a:rPr>
                                    </m:ctrlPr>
                                  </m:sSupPr>
                                  <m:e>
                                    <m:r>
                                      <a:rPr lang="en-US" sz="2400" i="1">
                                        <a:latin typeface="Cambria Math" panose="02040503050406030204" pitchFamily="18" charset="0"/>
                                      </a:rPr>
                                      <m:t>𝑒</m:t>
                                    </m:r>
                                  </m:e>
                                  <m:sup>
                                    <m:r>
                                      <a:rPr lang="en-US" sz="2400" i="1">
                                        <a:latin typeface="Cambria Math" panose="02040503050406030204" pitchFamily="18" charset="0"/>
                                      </a:rPr>
                                      <m:t>𝑖</m:t>
                                    </m:r>
                                    <m:f>
                                      <m:fPr>
                                        <m:ctrlPr>
                                          <a:rPr lang="en-US" sz="2400" i="1">
                                            <a:latin typeface="Cambria Math" panose="02040503050406030204" pitchFamily="18" charset="0"/>
                                          </a:rPr>
                                        </m:ctrlPr>
                                      </m:fPr>
                                      <m:num>
                                        <m:r>
                                          <a:rPr lang="en-US" sz="2400" i="1">
                                            <a:latin typeface="Cambria Math" panose="02040503050406030204" pitchFamily="18" charset="0"/>
                                          </a:rPr>
                                          <m:t>𝜆</m:t>
                                        </m:r>
                                      </m:num>
                                      <m:den>
                                        <m:r>
                                          <a:rPr lang="en-US" sz="2400" i="0">
                                            <a:latin typeface="Cambria Math" panose="02040503050406030204" pitchFamily="18" charset="0"/>
                                          </a:rPr>
                                          <m:t>2</m:t>
                                        </m:r>
                                      </m:den>
                                    </m:f>
                                  </m:sup>
                                </m:sSup>
                              </m:e>
                            </m:mr>
                          </m:m>
                        </m:e>
                      </m:d>
                    </m:oMath>
                  </m:oMathPara>
                </a14:m>
                <a:endParaRPr lang="en-US" sz="2400" dirty="0"/>
              </a:p>
            </p:txBody>
          </p:sp>
        </mc:Choice>
        <mc:Fallback xmlns="">
          <p:sp>
            <p:nvSpPr>
              <p:cNvPr id="25" name="Rectangle 24">
                <a:extLst>
                  <a:ext uri="{FF2B5EF4-FFF2-40B4-BE49-F238E27FC236}">
                    <a16:creationId xmlns:a16="http://schemas.microsoft.com/office/drawing/2014/main" id="{68A7D9FC-75ED-8845-BEF8-F6955740CB25}"/>
                  </a:ext>
                </a:extLst>
              </p:cNvPr>
              <p:cNvSpPr>
                <a:spLocks noRot="1" noChangeAspect="1" noMove="1" noResize="1" noEditPoints="1" noAdjustHandles="1" noChangeArrowheads="1" noChangeShapeType="1" noTextEdit="1"/>
              </p:cNvSpPr>
              <p:nvPr/>
            </p:nvSpPr>
            <p:spPr>
              <a:xfrm>
                <a:off x="8572851" y="3517598"/>
                <a:ext cx="2953181" cy="1845762"/>
              </a:xfrm>
              <a:prstGeom prst="rect">
                <a:avLst/>
              </a:prstGeom>
              <a:blipFill>
                <a:blip r:embed="rId11"/>
                <a:stretch>
                  <a:fillRect b="-685"/>
                </a:stretch>
              </a:blipFill>
            </p:spPr>
            <p:txBody>
              <a:bodyPr/>
              <a:lstStyle/>
              <a:p>
                <a:r>
                  <a:rPr lang="en-US">
                    <a:noFill/>
                  </a:rPr>
                  <a:t> </a:t>
                </a:r>
              </a:p>
            </p:txBody>
          </p:sp>
        </mc:Fallback>
      </mc:AlternateContent>
      <p:sp>
        <p:nvSpPr>
          <p:cNvPr id="18" name="Rectangle 17">
            <a:extLst>
              <a:ext uri="{FF2B5EF4-FFF2-40B4-BE49-F238E27FC236}">
                <a16:creationId xmlns:a16="http://schemas.microsoft.com/office/drawing/2014/main" id="{FBF93282-429A-9B45-9EF1-D1B2AD9F43E5}"/>
              </a:ext>
            </a:extLst>
          </p:cNvPr>
          <p:cNvSpPr/>
          <p:nvPr/>
        </p:nvSpPr>
        <p:spPr>
          <a:xfrm>
            <a:off x="1506970" y="1803603"/>
            <a:ext cx="720000" cy="720000"/>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RX</a:t>
            </a:r>
          </a:p>
        </p:txBody>
      </p:sp>
      <p:sp>
        <p:nvSpPr>
          <p:cNvPr id="19" name="Rectangle 18">
            <a:extLst>
              <a:ext uri="{FF2B5EF4-FFF2-40B4-BE49-F238E27FC236}">
                <a16:creationId xmlns:a16="http://schemas.microsoft.com/office/drawing/2014/main" id="{444909CD-A0AF-3A4F-A207-85767BA000D7}"/>
              </a:ext>
            </a:extLst>
          </p:cNvPr>
          <p:cNvSpPr/>
          <p:nvPr/>
        </p:nvSpPr>
        <p:spPr>
          <a:xfrm>
            <a:off x="5736000" y="1803060"/>
            <a:ext cx="720000" cy="720000"/>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RY</a:t>
            </a:r>
          </a:p>
        </p:txBody>
      </p:sp>
      <p:sp>
        <p:nvSpPr>
          <p:cNvPr id="20" name="Rectangle 19">
            <a:extLst>
              <a:ext uri="{FF2B5EF4-FFF2-40B4-BE49-F238E27FC236}">
                <a16:creationId xmlns:a16="http://schemas.microsoft.com/office/drawing/2014/main" id="{997844ED-E7E7-9B4C-AB5C-3A322897831C}"/>
              </a:ext>
            </a:extLst>
          </p:cNvPr>
          <p:cNvSpPr/>
          <p:nvPr/>
        </p:nvSpPr>
        <p:spPr>
          <a:xfrm>
            <a:off x="9605030" y="1803060"/>
            <a:ext cx="720000" cy="720000"/>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RZ</a:t>
            </a:r>
          </a:p>
        </p:txBody>
      </p:sp>
    </p:spTree>
    <p:extLst>
      <p:ext uri="{BB962C8B-B14F-4D97-AF65-F5344CB8AC3E}">
        <p14:creationId xmlns:p14="http://schemas.microsoft.com/office/powerpoint/2010/main" val="125478499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39EF45-D20A-C54B-9E7B-223F102F5FFB}"/>
              </a:ext>
            </a:extLst>
          </p:cNvPr>
          <p:cNvSpPr>
            <a:spLocks noGrp="1"/>
          </p:cNvSpPr>
          <p:nvPr>
            <p:ph type="title"/>
          </p:nvPr>
        </p:nvSpPr>
        <p:spPr>
          <a:xfrm>
            <a:off x="0" y="0"/>
            <a:ext cx="12192000" cy="928688"/>
          </a:xfrm>
        </p:spPr>
        <p:txBody>
          <a:bodyPr/>
          <a:lstStyle/>
          <a:p>
            <a:r>
              <a:rPr lang="en-US" dirty="0"/>
              <a:t>SWAP gate</a:t>
            </a:r>
          </a:p>
        </p:txBody>
      </p:sp>
      <p:sp>
        <p:nvSpPr>
          <p:cNvPr id="3" name="Slide Number Placeholder 2">
            <a:extLst>
              <a:ext uri="{FF2B5EF4-FFF2-40B4-BE49-F238E27FC236}">
                <a16:creationId xmlns:a16="http://schemas.microsoft.com/office/drawing/2014/main" id="{1DFCF789-A597-7E48-870E-125D0C3A063D}"/>
              </a:ext>
            </a:extLst>
          </p:cNvPr>
          <p:cNvSpPr>
            <a:spLocks noGrp="1"/>
          </p:cNvSpPr>
          <p:nvPr>
            <p:ph type="sldNum" sz="quarter" idx="12"/>
          </p:nvPr>
        </p:nvSpPr>
        <p:spPr/>
        <p:txBody>
          <a:bodyPr/>
          <a:lstStyle/>
          <a:p>
            <a:fld id="{591A223C-FA10-BC46-A853-03BA373D023C}" type="slidenum">
              <a:rPr lang="en-US" smtClean="0"/>
              <a:t>40</a:t>
            </a:fld>
            <a:endParaRPr lang="en-US"/>
          </a:p>
        </p:txBody>
      </p:sp>
      <p:sp>
        <p:nvSpPr>
          <p:cNvPr id="7" name="Rectangle 6">
            <a:extLst>
              <a:ext uri="{FF2B5EF4-FFF2-40B4-BE49-F238E27FC236}">
                <a16:creationId xmlns:a16="http://schemas.microsoft.com/office/drawing/2014/main" id="{01F86251-6DE2-3448-A31F-B8BAA869C571}"/>
              </a:ext>
            </a:extLst>
          </p:cNvPr>
          <p:cNvSpPr/>
          <p:nvPr/>
        </p:nvSpPr>
        <p:spPr>
          <a:xfrm>
            <a:off x="193233" y="1109274"/>
            <a:ext cx="11679658" cy="260150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ED40A760-B9C9-0640-B698-035B353FFF31}"/>
              </a:ext>
            </a:extLst>
          </p:cNvPr>
          <p:cNvGrpSpPr/>
          <p:nvPr/>
        </p:nvGrpSpPr>
        <p:grpSpPr>
          <a:xfrm>
            <a:off x="1784717" y="1109274"/>
            <a:ext cx="7168194" cy="2601507"/>
            <a:chOff x="1816336" y="1133585"/>
            <a:chExt cx="7168194" cy="5172863"/>
          </a:xfrm>
        </p:grpSpPr>
        <p:cxnSp>
          <p:nvCxnSpPr>
            <p:cNvPr id="16" name="Straight Connector 15">
              <a:extLst>
                <a:ext uri="{FF2B5EF4-FFF2-40B4-BE49-F238E27FC236}">
                  <a16:creationId xmlns:a16="http://schemas.microsoft.com/office/drawing/2014/main" id="{1A76F891-5AB6-8649-AA11-DCC61231E1A8}"/>
                </a:ext>
              </a:extLst>
            </p:cNvPr>
            <p:cNvCxnSpPr>
              <a:cxnSpLocks/>
            </p:cNvCxnSpPr>
            <p:nvPr/>
          </p:nvCxnSpPr>
          <p:spPr>
            <a:xfrm>
              <a:off x="1816336" y="1142328"/>
              <a:ext cx="0" cy="516412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98B600C7-EF8F-A54F-A16B-AB413E8AA9CD}"/>
                </a:ext>
              </a:extLst>
            </p:cNvPr>
            <p:cNvCxnSpPr>
              <a:cxnSpLocks/>
            </p:cNvCxnSpPr>
            <p:nvPr/>
          </p:nvCxnSpPr>
          <p:spPr>
            <a:xfrm>
              <a:off x="5355164" y="1133585"/>
              <a:ext cx="0" cy="5164120"/>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8A527968-DE7C-FE4A-A9DB-19FD054BF655}"/>
                </a:ext>
              </a:extLst>
            </p:cNvPr>
            <p:cNvCxnSpPr>
              <a:cxnSpLocks/>
            </p:cNvCxnSpPr>
            <p:nvPr/>
          </p:nvCxnSpPr>
          <p:spPr>
            <a:xfrm flipV="1">
              <a:off x="8984530" y="1133586"/>
              <a:ext cx="0" cy="5164119"/>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4" name="Straight Connector 3">
            <a:extLst>
              <a:ext uri="{FF2B5EF4-FFF2-40B4-BE49-F238E27FC236}">
                <a16:creationId xmlns:a16="http://schemas.microsoft.com/office/drawing/2014/main" id="{35913924-2483-E343-99F2-9D1061599CCB}"/>
              </a:ext>
            </a:extLst>
          </p:cNvPr>
          <p:cNvCxnSpPr>
            <a:cxnSpLocks/>
          </p:cNvCxnSpPr>
          <p:nvPr/>
        </p:nvCxnSpPr>
        <p:spPr>
          <a:xfrm>
            <a:off x="176855" y="1900468"/>
            <a:ext cx="11679658" cy="0"/>
          </a:xfrm>
          <a:prstGeom prst="line">
            <a:avLst/>
          </a:prstGeom>
        </p:spPr>
        <p:style>
          <a:lnRef idx="1">
            <a:schemeClr val="accent1"/>
          </a:lnRef>
          <a:fillRef idx="0">
            <a:schemeClr val="accent1"/>
          </a:fillRef>
          <a:effectRef idx="0">
            <a:schemeClr val="accent1"/>
          </a:effectRef>
          <a:fontRef idx="minor">
            <a:schemeClr val="tx1"/>
          </a:fontRef>
        </p:style>
      </p:cxnSp>
      <p:sp>
        <p:nvSpPr>
          <p:cNvPr id="59" name="Rectangle 58">
            <a:extLst>
              <a:ext uri="{FF2B5EF4-FFF2-40B4-BE49-F238E27FC236}">
                <a16:creationId xmlns:a16="http://schemas.microsoft.com/office/drawing/2014/main" id="{1B69D39A-30C4-CB4F-B648-45D294508B18}"/>
              </a:ext>
            </a:extLst>
          </p:cNvPr>
          <p:cNvSpPr/>
          <p:nvPr/>
        </p:nvSpPr>
        <p:spPr>
          <a:xfrm>
            <a:off x="8873463" y="2628962"/>
            <a:ext cx="3318537" cy="461665"/>
          </a:xfrm>
          <a:prstGeom prst="rect">
            <a:avLst/>
          </a:prstGeom>
        </p:spPr>
        <p:txBody>
          <a:bodyPr wrap="none">
            <a:spAutoFit/>
          </a:bodyPr>
          <a:lstStyle/>
          <a:p>
            <a:r>
              <a:rPr lang="en-US" sz="2400" dirty="0">
                <a:latin typeface="AndaleMono" panose="020B0509000000000004" pitchFamily="49" charset="0"/>
              </a:rPr>
              <a:t>swap q[</a:t>
            </a:r>
            <a:r>
              <a:rPr lang="en-US" sz="2400" dirty="0" err="1">
                <a:latin typeface="AndaleMono" panose="020B0509000000000004" pitchFamily="49" charset="0"/>
              </a:rPr>
              <a:t>i</a:t>
            </a:r>
            <a:r>
              <a:rPr lang="en-US" sz="2400" dirty="0">
                <a:latin typeface="AndaleMono" panose="020B0509000000000004" pitchFamily="49" charset="0"/>
              </a:rPr>
              <a:t>], q[j]; </a:t>
            </a:r>
            <a:endParaRPr lang="en-US" sz="2400" dirty="0">
              <a:effectLst/>
            </a:endParaRPr>
          </a:p>
        </p:txBody>
      </p:sp>
      <mc:AlternateContent xmlns:mc="http://schemas.openxmlformats.org/markup-compatibility/2006" xmlns:a14="http://schemas.microsoft.com/office/drawing/2010/main">
        <mc:Choice Requires="a14">
          <p:sp>
            <p:nvSpPr>
              <p:cNvPr id="57" name="Rectangle 56">
                <a:extLst>
                  <a:ext uri="{FF2B5EF4-FFF2-40B4-BE49-F238E27FC236}">
                    <a16:creationId xmlns:a16="http://schemas.microsoft.com/office/drawing/2014/main" id="{755505FD-3E1B-1F4C-AA7C-97BAE46B9AAC}"/>
                  </a:ext>
                </a:extLst>
              </p:cNvPr>
              <p:cNvSpPr/>
              <p:nvPr/>
            </p:nvSpPr>
            <p:spPr>
              <a:xfrm>
                <a:off x="1693856" y="2123823"/>
                <a:ext cx="3669466" cy="147194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𝑆𝑊𝐴𝑃</m:t>
                      </m:r>
                      <m:r>
                        <a:rPr lang="en-US" sz="2400" b="0" i="1" smtClean="0">
                          <a:latin typeface="Cambria Math" panose="02040503050406030204" pitchFamily="18" charset="0"/>
                        </a:rPr>
                        <m:t>=</m:t>
                      </m:r>
                      <m:d>
                        <m:dPr>
                          <m:ctrlPr>
                            <a:rPr lang="en-US" sz="2400" i="1">
                              <a:latin typeface="Cambria Math" panose="02040503050406030204" pitchFamily="18" charset="0"/>
                            </a:rPr>
                          </m:ctrlPr>
                        </m:dPr>
                        <m:e>
                          <m:m>
                            <m:mPr>
                              <m:mcs>
                                <m:mc>
                                  <m:mcPr>
                                    <m:count m:val="4"/>
                                    <m:mcJc m:val="center"/>
                                  </m:mcPr>
                                </m:mc>
                              </m:mcs>
                              <m:ctrlPr>
                                <a:rPr lang="en-US" sz="2400" i="1">
                                  <a:latin typeface="Cambria Math" panose="02040503050406030204" pitchFamily="18" charset="0"/>
                                </a:rPr>
                              </m:ctrlPr>
                            </m:mPr>
                            <m:mr>
                              <m:e>
                                <m:r>
                                  <m:rPr>
                                    <m:brk m:alnAt="7"/>
                                  </m:rPr>
                                  <a:rPr lang="en-US" sz="2400" i="1">
                                    <a:latin typeface="Cambria Math" panose="02040503050406030204" pitchFamily="18" charset="0"/>
                                  </a:rPr>
                                  <m:t>1</m:t>
                                </m:r>
                              </m:e>
                              <m:e>
                                <m:r>
                                  <a:rPr lang="en-US" sz="2400" i="1">
                                    <a:latin typeface="Cambria Math" panose="02040503050406030204" pitchFamily="18" charset="0"/>
                                  </a:rPr>
                                  <m:t>0</m:t>
                                </m:r>
                              </m:e>
                              <m:e>
                                <m:r>
                                  <a:rPr lang="en-US" sz="2400" i="1">
                                    <a:latin typeface="Cambria Math" panose="02040503050406030204" pitchFamily="18" charset="0"/>
                                  </a:rPr>
                                  <m:t>0</m:t>
                                </m:r>
                              </m:e>
                              <m:e>
                                <m:r>
                                  <a:rPr lang="en-US" sz="2400" i="1">
                                    <a:latin typeface="Cambria Math" panose="02040503050406030204" pitchFamily="18" charset="0"/>
                                  </a:rPr>
                                  <m:t>0</m:t>
                                </m:r>
                              </m:e>
                            </m:mr>
                            <m:mr>
                              <m:e>
                                <m:r>
                                  <a:rPr lang="en-US" sz="2400" i="1">
                                    <a:latin typeface="Cambria Math" panose="02040503050406030204" pitchFamily="18" charset="0"/>
                                  </a:rPr>
                                  <m:t>0</m:t>
                                </m:r>
                              </m:e>
                              <m:e>
                                <m:r>
                                  <a:rPr lang="en-US" sz="2400" b="0" i="1" smtClean="0">
                                    <a:latin typeface="Cambria Math" panose="02040503050406030204" pitchFamily="18" charset="0"/>
                                  </a:rPr>
                                  <m:t>0</m:t>
                                </m:r>
                              </m:e>
                              <m:e>
                                <m:r>
                                  <a:rPr lang="en-US" sz="2400" b="0" i="1" smtClean="0">
                                    <a:latin typeface="Cambria Math" panose="02040503050406030204" pitchFamily="18" charset="0"/>
                                  </a:rPr>
                                  <m:t>1</m:t>
                                </m:r>
                              </m:e>
                              <m:e>
                                <m:r>
                                  <a:rPr lang="en-US" sz="2400" i="1">
                                    <a:latin typeface="Cambria Math" panose="02040503050406030204" pitchFamily="18" charset="0"/>
                                  </a:rPr>
                                  <m:t>0</m:t>
                                </m:r>
                              </m:e>
                            </m:mr>
                            <m:mr>
                              <m:e>
                                <m:r>
                                  <a:rPr lang="en-US" sz="2400" i="1">
                                    <a:latin typeface="Cambria Math" panose="02040503050406030204" pitchFamily="18" charset="0"/>
                                  </a:rPr>
                                  <m:t>0</m:t>
                                </m:r>
                              </m:e>
                              <m:e>
                                <m:r>
                                  <a:rPr lang="en-US" sz="2400" b="0" i="1" smtClean="0">
                                    <a:latin typeface="Cambria Math" panose="02040503050406030204" pitchFamily="18" charset="0"/>
                                  </a:rPr>
                                  <m:t>1</m:t>
                                </m:r>
                              </m:e>
                              <m:e>
                                <m:r>
                                  <a:rPr lang="en-US" sz="2400" i="1">
                                    <a:latin typeface="Cambria Math" panose="02040503050406030204" pitchFamily="18" charset="0"/>
                                  </a:rPr>
                                  <m:t>0</m:t>
                                </m:r>
                              </m:e>
                              <m:e>
                                <m:r>
                                  <a:rPr lang="en-US" sz="2400" b="0" i="1" smtClean="0">
                                    <a:latin typeface="Cambria Math" panose="02040503050406030204" pitchFamily="18" charset="0"/>
                                  </a:rPr>
                                  <m:t>0</m:t>
                                </m:r>
                              </m:e>
                            </m:mr>
                            <m:mr>
                              <m:e>
                                <m:r>
                                  <a:rPr lang="en-US" sz="2400" i="1">
                                    <a:latin typeface="Cambria Math" panose="02040503050406030204" pitchFamily="18" charset="0"/>
                                  </a:rPr>
                                  <m:t>0</m:t>
                                </m:r>
                              </m:e>
                              <m:e>
                                <m:r>
                                  <a:rPr lang="en-US" sz="2400" i="1">
                                    <a:latin typeface="Cambria Math" panose="02040503050406030204" pitchFamily="18" charset="0"/>
                                  </a:rPr>
                                  <m:t>0</m:t>
                                </m:r>
                              </m:e>
                              <m:e>
                                <m:r>
                                  <a:rPr lang="en-US" sz="2400" b="0" i="1" smtClean="0">
                                    <a:latin typeface="Cambria Math" panose="02040503050406030204" pitchFamily="18" charset="0"/>
                                  </a:rPr>
                                  <m:t>0</m:t>
                                </m:r>
                              </m:e>
                              <m:e>
                                <m:r>
                                  <a:rPr lang="en-US" sz="2400" b="0" i="1" smtClean="0">
                                    <a:latin typeface="Cambria Math" panose="02040503050406030204" pitchFamily="18" charset="0"/>
                                  </a:rPr>
                                  <m:t>1</m:t>
                                </m:r>
                              </m:e>
                            </m:mr>
                          </m:m>
                        </m:e>
                      </m:d>
                    </m:oMath>
                  </m:oMathPara>
                </a14:m>
                <a:endParaRPr lang="en-US" sz="2400" dirty="0"/>
              </a:p>
            </p:txBody>
          </p:sp>
        </mc:Choice>
        <mc:Fallback xmlns="">
          <p:sp>
            <p:nvSpPr>
              <p:cNvPr id="57" name="Rectangle 56">
                <a:extLst>
                  <a:ext uri="{FF2B5EF4-FFF2-40B4-BE49-F238E27FC236}">
                    <a16:creationId xmlns:a16="http://schemas.microsoft.com/office/drawing/2014/main" id="{755505FD-3E1B-1F4C-AA7C-97BAE46B9AAC}"/>
                  </a:ext>
                </a:extLst>
              </p:cNvPr>
              <p:cNvSpPr>
                <a:spLocks noRot="1" noChangeAspect="1" noMove="1" noResize="1" noEditPoints="1" noAdjustHandles="1" noChangeArrowheads="1" noChangeShapeType="1" noTextEdit="1"/>
              </p:cNvSpPr>
              <p:nvPr/>
            </p:nvSpPr>
            <p:spPr>
              <a:xfrm>
                <a:off x="1693856" y="2123823"/>
                <a:ext cx="3669466" cy="1471941"/>
              </a:xfrm>
              <a:prstGeom prst="rect">
                <a:avLst/>
              </a:prstGeom>
              <a:blipFill>
                <a:blip r:embed="rId3"/>
                <a:stretch>
                  <a:fillRect b="-1709"/>
                </a:stretch>
              </a:blipFill>
            </p:spPr>
            <p:txBody>
              <a:bodyPr/>
              <a:lstStyle/>
              <a:p>
                <a:r>
                  <a:rPr lang="en-US">
                    <a:noFill/>
                  </a:rPr>
                  <a:t> </a:t>
                </a:r>
              </a:p>
            </p:txBody>
          </p:sp>
        </mc:Fallback>
      </mc:AlternateContent>
      <p:sp>
        <p:nvSpPr>
          <p:cNvPr id="58" name="TextBox 57">
            <a:extLst>
              <a:ext uri="{FF2B5EF4-FFF2-40B4-BE49-F238E27FC236}">
                <a16:creationId xmlns:a16="http://schemas.microsoft.com/office/drawing/2014/main" id="{A7A55591-9566-D24E-85A3-E9C122FC503F}"/>
              </a:ext>
            </a:extLst>
          </p:cNvPr>
          <p:cNvSpPr txBox="1"/>
          <p:nvPr/>
        </p:nvSpPr>
        <p:spPr>
          <a:xfrm>
            <a:off x="5416803" y="2017170"/>
            <a:ext cx="3449042" cy="830997"/>
          </a:xfrm>
          <a:prstGeom prst="rect">
            <a:avLst/>
          </a:prstGeom>
          <a:noFill/>
        </p:spPr>
        <p:txBody>
          <a:bodyPr wrap="square" rtlCol="0">
            <a:spAutoFit/>
          </a:bodyPr>
          <a:lstStyle/>
          <a:p>
            <a:r>
              <a:rPr lang="en-ZA" sz="2400" dirty="0">
                <a:latin typeface="+mj-lt"/>
              </a:rPr>
              <a:t>Exchanges the states of two qubits</a:t>
            </a:r>
            <a:r>
              <a:rPr lang="en-US" sz="2200" dirty="0">
                <a:latin typeface="+mj-lt"/>
              </a:rPr>
              <a:t>:</a:t>
            </a:r>
          </a:p>
        </p:txBody>
      </p:sp>
      <p:cxnSp>
        <p:nvCxnSpPr>
          <p:cNvPr id="65" name="Straight Connector 64">
            <a:extLst>
              <a:ext uri="{FF2B5EF4-FFF2-40B4-BE49-F238E27FC236}">
                <a16:creationId xmlns:a16="http://schemas.microsoft.com/office/drawing/2014/main" id="{4D6DCD65-ABD0-2745-9357-5B325ADFB2AA}"/>
              </a:ext>
            </a:extLst>
          </p:cNvPr>
          <p:cNvCxnSpPr>
            <a:cxnSpLocks/>
          </p:cNvCxnSpPr>
          <p:nvPr/>
        </p:nvCxnSpPr>
        <p:spPr>
          <a:xfrm>
            <a:off x="425102" y="3437085"/>
            <a:ext cx="1165590"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8E80F919-F4BF-2845-B0D6-B14E67D7040B}"/>
              </a:ext>
            </a:extLst>
          </p:cNvPr>
          <p:cNvCxnSpPr>
            <a:cxnSpLocks/>
          </p:cNvCxnSpPr>
          <p:nvPr/>
        </p:nvCxnSpPr>
        <p:spPr>
          <a:xfrm>
            <a:off x="1006047" y="2483695"/>
            <a:ext cx="0" cy="95339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ABF08A3A-7F30-D249-AFC8-CF4268247CCD}"/>
              </a:ext>
            </a:extLst>
          </p:cNvPr>
          <p:cNvCxnSpPr>
            <a:cxnSpLocks/>
          </p:cNvCxnSpPr>
          <p:nvPr/>
        </p:nvCxnSpPr>
        <p:spPr>
          <a:xfrm>
            <a:off x="452247" y="2497224"/>
            <a:ext cx="1165590" cy="0"/>
          </a:xfrm>
          <a:prstGeom prst="line">
            <a:avLst/>
          </a:prstGeom>
          <a:ln w="254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0" name="Rectangle 69">
                <a:extLst>
                  <a:ext uri="{FF2B5EF4-FFF2-40B4-BE49-F238E27FC236}">
                    <a16:creationId xmlns:a16="http://schemas.microsoft.com/office/drawing/2014/main" id="{ACCC9776-F9D7-9548-B267-8D2863234B29}"/>
                  </a:ext>
                </a:extLst>
              </p:cNvPr>
              <p:cNvSpPr/>
              <p:nvPr/>
            </p:nvSpPr>
            <p:spPr>
              <a:xfrm>
                <a:off x="229943" y="1988538"/>
                <a:ext cx="612282"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a:latin typeface="Cambria Math" panose="02040503050406030204" pitchFamily="18" charset="0"/>
                              <a:ea typeface="Cambria Math" panose="02040503050406030204" pitchFamily="18" charset="0"/>
                            </a:rPr>
                          </m:ctrlPr>
                        </m:dPr>
                        <m:e>
                          <m:r>
                            <m:rPr>
                              <m:nor/>
                            </m:rPr>
                            <a:rPr lang="sr-Latn-RS" sz="2400" i="1">
                              <a:latin typeface="Cambria Math" panose="02040503050406030204" pitchFamily="18" charset="0"/>
                              <a:ea typeface="Cambria Math" panose="02040503050406030204" pitchFamily="18" charset="0"/>
                            </a:rPr>
                            <m:t>a</m:t>
                          </m:r>
                        </m:e>
                      </m:d>
                    </m:oMath>
                  </m:oMathPara>
                </a14:m>
                <a:endParaRPr lang="en-US" sz="2400" dirty="0"/>
              </a:p>
            </p:txBody>
          </p:sp>
        </mc:Choice>
        <mc:Fallback xmlns="">
          <p:sp>
            <p:nvSpPr>
              <p:cNvPr id="70" name="Rectangle 69">
                <a:extLst>
                  <a:ext uri="{FF2B5EF4-FFF2-40B4-BE49-F238E27FC236}">
                    <a16:creationId xmlns:a16="http://schemas.microsoft.com/office/drawing/2014/main" id="{ACCC9776-F9D7-9548-B267-8D2863234B29}"/>
                  </a:ext>
                </a:extLst>
              </p:cNvPr>
              <p:cNvSpPr>
                <a:spLocks noRot="1" noChangeAspect="1" noMove="1" noResize="1" noEditPoints="1" noAdjustHandles="1" noChangeArrowheads="1" noChangeShapeType="1" noTextEdit="1"/>
              </p:cNvSpPr>
              <p:nvPr/>
            </p:nvSpPr>
            <p:spPr>
              <a:xfrm>
                <a:off x="229943" y="1988538"/>
                <a:ext cx="612282" cy="461665"/>
              </a:xfrm>
              <a:prstGeom prst="rect">
                <a:avLst/>
              </a:prstGeom>
              <a:blipFill>
                <a:blip r:embed="rId4"/>
                <a:stretch>
                  <a:fillRect/>
                </a:stretch>
              </a:blipFill>
            </p:spPr>
            <p:txBody>
              <a:bodyPr/>
              <a:lstStyle/>
              <a:p>
                <a:r>
                  <a:rPr lang="en-US">
                    <a:noFill/>
                  </a:rPr>
                  <a:t> </a:t>
                </a:r>
              </a:p>
            </p:txBody>
          </p:sp>
        </mc:Fallback>
      </mc:AlternateContent>
      <p:grpSp>
        <p:nvGrpSpPr>
          <p:cNvPr id="79" name="Group 78">
            <a:extLst>
              <a:ext uri="{FF2B5EF4-FFF2-40B4-BE49-F238E27FC236}">
                <a16:creationId xmlns:a16="http://schemas.microsoft.com/office/drawing/2014/main" id="{3356BEA2-8AEB-A242-9285-133270566302}"/>
              </a:ext>
            </a:extLst>
          </p:cNvPr>
          <p:cNvGrpSpPr/>
          <p:nvPr/>
        </p:nvGrpSpPr>
        <p:grpSpPr>
          <a:xfrm>
            <a:off x="874516" y="2363642"/>
            <a:ext cx="270000" cy="270000"/>
            <a:chOff x="1181306" y="4249176"/>
            <a:chExt cx="270000" cy="270000"/>
          </a:xfrm>
        </p:grpSpPr>
        <p:cxnSp>
          <p:nvCxnSpPr>
            <p:cNvPr id="76" name="Straight Connector 75">
              <a:extLst>
                <a:ext uri="{FF2B5EF4-FFF2-40B4-BE49-F238E27FC236}">
                  <a16:creationId xmlns:a16="http://schemas.microsoft.com/office/drawing/2014/main" id="{C96B4AC4-A049-2E42-B51D-FFC7FD58729C}"/>
                </a:ext>
              </a:extLst>
            </p:cNvPr>
            <p:cNvCxnSpPr>
              <a:cxnSpLocks/>
            </p:cNvCxnSpPr>
            <p:nvPr/>
          </p:nvCxnSpPr>
          <p:spPr>
            <a:xfrm rot="-2700000">
              <a:off x="1181306" y="4384177"/>
              <a:ext cx="270000"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62219CC1-EB52-3F42-A46E-A1CE0E4F396B}"/>
                </a:ext>
              </a:extLst>
            </p:cNvPr>
            <p:cNvCxnSpPr>
              <a:cxnSpLocks/>
            </p:cNvCxnSpPr>
            <p:nvPr/>
          </p:nvCxnSpPr>
          <p:spPr>
            <a:xfrm rot="2700000">
              <a:off x="1181163" y="4384176"/>
              <a:ext cx="270000" cy="0"/>
            </a:xfrm>
            <a:prstGeom prst="line">
              <a:avLst/>
            </a:prstGeom>
            <a:ln w="25400"/>
          </p:spPr>
          <p:style>
            <a:lnRef idx="1">
              <a:schemeClr val="accent1"/>
            </a:lnRef>
            <a:fillRef idx="0">
              <a:schemeClr val="accent1"/>
            </a:fillRef>
            <a:effectRef idx="0">
              <a:schemeClr val="accent1"/>
            </a:effectRef>
            <a:fontRef idx="minor">
              <a:schemeClr val="tx1"/>
            </a:fontRef>
          </p:style>
        </p:cxnSp>
      </p:grpSp>
      <p:grpSp>
        <p:nvGrpSpPr>
          <p:cNvPr id="80" name="Group 79">
            <a:extLst>
              <a:ext uri="{FF2B5EF4-FFF2-40B4-BE49-F238E27FC236}">
                <a16:creationId xmlns:a16="http://schemas.microsoft.com/office/drawing/2014/main" id="{EE80333F-1A73-3649-BA87-8E42AF635BAC}"/>
              </a:ext>
            </a:extLst>
          </p:cNvPr>
          <p:cNvGrpSpPr/>
          <p:nvPr/>
        </p:nvGrpSpPr>
        <p:grpSpPr>
          <a:xfrm>
            <a:off x="877161" y="3304227"/>
            <a:ext cx="270000" cy="270000"/>
            <a:chOff x="1181306" y="4249176"/>
            <a:chExt cx="270000" cy="270000"/>
          </a:xfrm>
        </p:grpSpPr>
        <p:cxnSp>
          <p:nvCxnSpPr>
            <p:cNvPr id="81" name="Straight Connector 80">
              <a:extLst>
                <a:ext uri="{FF2B5EF4-FFF2-40B4-BE49-F238E27FC236}">
                  <a16:creationId xmlns:a16="http://schemas.microsoft.com/office/drawing/2014/main" id="{EE447F36-4CAC-DA49-A3A0-976B4E58147C}"/>
                </a:ext>
              </a:extLst>
            </p:cNvPr>
            <p:cNvCxnSpPr>
              <a:cxnSpLocks/>
            </p:cNvCxnSpPr>
            <p:nvPr/>
          </p:nvCxnSpPr>
          <p:spPr>
            <a:xfrm rot="-2700000">
              <a:off x="1181306" y="4384177"/>
              <a:ext cx="270000"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84AFC947-6FC5-9C4A-93E4-499A0FA42906}"/>
                </a:ext>
              </a:extLst>
            </p:cNvPr>
            <p:cNvCxnSpPr>
              <a:cxnSpLocks/>
            </p:cNvCxnSpPr>
            <p:nvPr/>
          </p:nvCxnSpPr>
          <p:spPr>
            <a:xfrm rot="2700000">
              <a:off x="1181163" y="4384176"/>
              <a:ext cx="270000" cy="0"/>
            </a:xfrm>
            <a:prstGeom prst="line">
              <a:avLst/>
            </a:prstGeom>
            <a:ln w="25400"/>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graphicFrame>
            <p:nvGraphicFramePr>
              <p:cNvPr id="48" name="Table 47">
                <a:extLst>
                  <a:ext uri="{FF2B5EF4-FFF2-40B4-BE49-F238E27FC236}">
                    <a16:creationId xmlns:a16="http://schemas.microsoft.com/office/drawing/2014/main" id="{8C447613-76A8-0A46-9AA8-AB37CAC89F95}"/>
                  </a:ext>
                </a:extLst>
              </p:cNvPr>
              <p:cNvGraphicFramePr>
                <a:graphicFrameLocks noGrp="1"/>
              </p:cNvGraphicFramePr>
              <p:nvPr>
                <p:extLst>
                  <p:ext uri="{D42A27DB-BD31-4B8C-83A1-F6EECF244321}">
                    <p14:modId xmlns:p14="http://schemas.microsoft.com/office/powerpoint/2010/main" val="2389510653"/>
                  </p:ext>
                </p:extLst>
              </p:nvPr>
            </p:nvGraphicFramePr>
            <p:xfrm>
              <a:off x="5746406" y="3911530"/>
              <a:ext cx="2416797" cy="2590800"/>
            </p:xfrm>
            <a:graphic>
              <a:graphicData uri="http://schemas.openxmlformats.org/drawingml/2006/table">
                <a:tbl>
                  <a:tblPr firstRow="1" bandRow="1">
                    <a:tableStyleId>{F5AB1C69-6EDB-4FF4-983F-18BD219EF322}</a:tableStyleId>
                  </a:tblPr>
                  <a:tblGrid>
                    <a:gridCol w="978211">
                      <a:extLst>
                        <a:ext uri="{9D8B030D-6E8A-4147-A177-3AD203B41FA5}">
                          <a16:colId xmlns:a16="http://schemas.microsoft.com/office/drawing/2014/main" val="3371686391"/>
                        </a:ext>
                      </a:extLst>
                    </a:gridCol>
                    <a:gridCol w="1438586">
                      <a:extLst>
                        <a:ext uri="{9D8B030D-6E8A-4147-A177-3AD203B41FA5}">
                          <a16:colId xmlns:a16="http://schemas.microsoft.com/office/drawing/2014/main" val="1340829466"/>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2800" b="1" i="1" smtClean="0">
                                    <a:latin typeface="Cambria Math" panose="02040503050406030204" pitchFamily="18" charset="0"/>
                                  </a:rPr>
                                  <m:t>𝒊𝒏</m:t>
                                </m:r>
                              </m:oMath>
                            </m:oMathPara>
                          </a14:m>
                          <a:endParaRPr lang="en-US" sz="2800" i="1"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2800" b="1" i="1" smtClean="0">
                                    <a:latin typeface="Cambria Math" panose="02040503050406030204" pitchFamily="18" charset="0"/>
                                  </a:rPr>
                                  <m:t>𝒐𝒖𝒕</m:t>
                                </m:r>
                              </m:oMath>
                            </m:oMathPara>
                          </a14:m>
                          <a:endParaRPr lang="en-US" sz="2800" i="1" dirty="0"/>
                        </a:p>
                      </a:txBody>
                      <a:tcPr/>
                    </a:tc>
                    <a:extLst>
                      <a:ext uri="{0D108BD9-81ED-4DB2-BD59-A6C34878D82A}">
                        <a16:rowId xmlns:a16="http://schemas.microsoft.com/office/drawing/2014/main" val="1039419296"/>
                      </a:ext>
                    </a:extLst>
                  </a:tr>
                  <a:tr h="370840">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2800" i="1" smtClean="0">
                                        <a:latin typeface="Cambria Math" panose="02040503050406030204" pitchFamily="18" charset="0"/>
                                      </a:rPr>
                                    </m:ctrlPr>
                                  </m:dPr>
                                  <m:e>
                                    <m:r>
                                      <m:rPr>
                                        <m:nor/>
                                      </m:rPr>
                                      <a:rPr lang="sr-Latn-RS" sz="2800" b="0" i="0" smtClean="0">
                                        <a:latin typeface="Cambria Math" panose="02040503050406030204" pitchFamily="18" charset="0"/>
                                      </a:rPr>
                                      <m:t>00</m:t>
                                    </m:r>
                                  </m:e>
                                </m:d>
                              </m:oMath>
                            </m:oMathPara>
                          </a14:m>
                          <a:endParaRPr lang="en-US" sz="2800" dirty="0">
                            <a:solidFill>
                              <a:schemeClr val="tx1"/>
                            </a:solidFill>
                          </a:endParaRPr>
                        </a:p>
                      </a:txBody>
                      <a:tcP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2800" i="1" smtClean="0">
                                        <a:latin typeface="Cambria Math" panose="02040503050406030204" pitchFamily="18" charset="0"/>
                                      </a:rPr>
                                    </m:ctrlPr>
                                  </m:dPr>
                                  <m:e>
                                    <m:r>
                                      <m:rPr>
                                        <m:nor/>
                                      </m:rPr>
                                      <a:rPr lang="sr-Latn-RS" sz="2800" b="0" i="0" smtClean="0">
                                        <a:latin typeface="Cambria Math" panose="02040503050406030204" pitchFamily="18" charset="0"/>
                                      </a:rPr>
                                      <m:t>00</m:t>
                                    </m:r>
                                  </m:e>
                                </m:d>
                              </m:oMath>
                            </m:oMathPara>
                          </a14:m>
                          <a:endParaRPr lang="en-US" sz="2800" dirty="0">
                            <a:solidFill>
                              <a:schemeClr val="tx1"/>
                            </a:solidFill>
                          </a:endParaRPr>
                        </a:p>
                      </a:txBody>
                      <a:tcPr/>
                    </a:tc>
                    <a:extLst>
                      <a:ext uri="{0D108BD9-81ED-4DB2-BD59-A6C34878D82A}">
                        <a16:rowId xmlns:a16="http://schemas.microsoft.com/office/drawing/2014/main" val="4274640674"/>
                      </a:ext>
                    </a:extLst>
                  </a:tr>
                  <a:tr h="370840">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2800" i="1" smtClean="0">
                                        <a:latin typeface="Cambria Math" panose="02040503050406030204" pitchFamily="18" charset="0"/>
                                      </a:rPr>
                                    </m:ctrlPr>
                                  </m:dPr>
                                  <m:e>
                                    <m:r>
                                      <m:rPr>
                                        <m:nor/>
                                      </m:rPr>
                                      <a:rPr lang="sr-Latn-RS" sz="2800" b="0" i="0" smtClean="0">
                                        <a:latin typeface="Cambria Math" panose="02040503050406030204" pitchFamily="18" charset="0"/>
                                      </a:rPr>
                                      <m:t>0</m:t>
                                    </m:r>
                                    <m:r>
                                      <m:rPr>
                                        <m:nor/>
                                      </m:rPr>
                                      <a:rPr lang="en-US" sz="2800" smtClean="0"/>
                                      <m:t>1</m:t>
                                    </m:r>
                                  </m:e>
                                </m:d>
                              </m:oMath>
                            </m:oMathPara>
                          </a14:m>
                          <a:endParaRPr lang="en-US" sz="2800" dirty="0">
                            <a:solidFill>
                              <a:schemeClr val="tx1"/>
                            </a:solidFill>
                          </a:endParaRPr>
                        </a:p>
                      </a:txBody>
                      <a:tcP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2800" i="1" smtClean="0">
                                        <a:latin typeface="Cambria Math" panose="02040503050406030204" pitchFamily="18" charset="0"/>
                                      </a:rPr>
                                    </m:ctrlPr>
                                  </m:dPr>
                                  <m:e>
                                    <m:r>
                                      <m:rPr>
                                        <m:nor/>
                                      </m:rPr>
                                      <a:rPr lang="sr-Latn-RS" sz="2800" b="0" i="0" smtClean="0">
                                        <a:latin typeface="Cambria Math" panose="02040503050406030204" pitchFamily="18" charset="0"/>
                                      </a:rPr>
                                      <m:t>10</m:t>
                                    </m:r>
                                  </m:e>
                                </m:d>
                              </m:oMath>
                            </m:oMathPara>
                          </a14:m>
                          <a:endParaRPr lang="en-US" sz="2800" dirty="0">
                            <a:solidFill>
                              <a:schemeClr val="tx1"/>
                            </a:solidFill>
                          </a:endParaRPr>
                        </a:p>
                      </a:txBody>
                      <a:tcPr/>
                    </a:tc>
                    <a:extLst>
                      <a:ext uri="{0D108BD9-81ED-4DB2-BD59-A6C34878D82A}">
                        <a16:rowId xmlns:a16="http://schemas.microsoft.com/office/drawing/2014/main" val="1780964737"/>
                      </a:ext>
                    </a:extLst>
                  </a:tr>
                  <a:tr h="370840">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2800" i="1" smtClean="0">
                                        <a:latin typeface="Cambria Math" panose="02040503050406030204" pitchFamily="18" charset="0"/>
                                      </a:rPr>
                                    </m:ctrlPr>
                                  </m:dPr>
                                  <m:e>
                                    <m:r>
                                      <m:rPr>
                                        <m:nor/>
                                      </m:rPr>
                                      <a:rPr lang="en-US" sz="2800" smtClean="0"/>
                                      <m:t>10</m:t>
                                    </m:r>
                                  </m:e>
                                </m:d>
                              </m:oMath>
                            </m:oMathPara>
                          </a14:m>
                          <a:endParaRPr lang="en-US" sz="2800" dirty="0">
                            <a:solidFill>
                              <a:schemeClr val="tx1"/>
                            </a:solidFill>
                          </a:endParaRPr>
                        </a:p>
                      </a:txBody>
                      <a:tcP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2800" i="1" smtClean="0">
                                        <a:latin typeface="Cambria Math" panose="02040503050406030204" pitchFamily="18" charset="0"/>
                                      </a:rPr>
                                    </m:ctrlPr>
                                  </m:dPr>
                                  <m:e>
                                    <m:r>
                                      <m:rPr>
                                        <m:nor/>
                                      </m:rPr>
                                      <a:rPr lang="sr-Latn-RS" sz="2800" b="0" i="0" smtClean="0">
                                        <a:latin typeface="Cambria Math" panose="02040503050406030204" pitchFamily="18" charset="0"/>
                                      </a:rPr>
                                      <m:t>0</m:t>
                                    </m:r>
                                    <m:r>
                                      <m:rPr>
                                        <m:nor/>
                                      </m:rPr>
                                      <a:rPr lang="en-US" sz="2800" b="0" i="0" smtClean="0"/>
                                      <m:t>1</m:t>
                                    </m:r>
                                  </m:e>
                                </m:d>
                              </m:oMath>
                            </m:oMathPara>
                          </a14:m>
                          <a:endParaRPr lang="en-US" sz="2800" dirty="0">
                            <a:solidFill>
                              <a:schemeClr val="tx1"/>
                            </a:solidFill>
                          </a:endParaRPr>
                        </a:p>
                      </a:txBody>
                      <a:tcPr/>
                    </a:tc>
                    <a:extLst>
                      <a:ext uri="{0D108BD9-81ED-4DB2-BD59-A6C34878D82A}">
                        <a16:rowId xmlns:a16="http://schemas.microsoft.com/office/drawing/2014/main" val="26503616"/>
                      </a:ext>
                    </a:extLst>
                  </a:tr>
                  <a:tr h="370840">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2800" i="1" smtClean="0">
                                        <a:latin typeface="Cambria Math" panose="02040503050406030204" pitchFamily="18" charset="0"/>
                                      </a:rPr>
                                    </m:ctrlPr>
                                  </m:dPr>
                                  <m:e>
                                    <m:r>
                                      <m:rPr>
                                        <m:nor/>
                                      </m:rPr>
                                      <a:rPr lang="en-US" sz="2800" smtClean="0"/>
                                      <m:t>11</m:t>
                                    </m:r>
                                  </m:e>
                                </m:d>
                              </m:oMath>
                            </m:oMathPara>
                          </a14:m>
                          <a:endParaRPr lang="en-US" sz="2800" dirty="0">
                            <a:solidFill>
                              <a:schemeClr val="tx1"/>
                            </a:solidFill>
                          </a:endParaRPr>
                        </a:p>
                      </a:txBody>
                      <a:tcP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2800" i="1" smtClean="0">
                                        <a:latin typeface="Cambria Math" panose="02040503050406030204" pitchFamily="18" charset="0"/>
                                      </a:rPr>
                                    </m:ctrlPr>
                                  </m:dPr>
                                  <m:e>
                                    <m:r>
                                      <m:rPr>
                                        <m:nor/>
                                      </m:rPr>
                                      <a:rPr lang="en-US" sz="2800" smtClean="0"/>
                                      <m:t>1</m:t>
                                    </m:r>
                                    <m:r>
                                      <a:rPr lang="sr-Latn-RS" sz="2800" b="0" i="0" smtClean="0">
                                        <a:latin typeface="Cambria Math" panose="02040503050406030204" pitchFamily="18" charset="0"/>
                                      </a:rPr>
                                      <m:t>1</m:t>
                                    </m:r>
                                  </m:e>
                                </m:d>
                              </m:oMath>
                            </m:oMathPara>
                          </a14:m>
                          <a:endParaRPr lang="en-US" sz="2800" dirty="0">
                            <a:solidFill>
                              <a:schemeClr val="tx1"/>
                            </a:solidFill>
                          </a:endParaRPr>
                        </a:p>
                      </a:txBody>
                      <a:tcPr/>
                    </a:tc>
                    <a:extLst>
                      <a:ext uri="{0D108BD9-81ED-4DB2-BD59-A6C34878D82A}">
                        <a16:rowId xmlns:a16="http://schemas.microsoft.com/office/drawing/2014/main" val="628222758"/>
                      </a:ext>
                    </a:extLst>
                  </a:tr>
                </a:tbl>
              </a:graphicData>
            </a:graphic>
          </p:graphicFrame>
        </mc:Choice>
        <mc:Fallback xmlns="">
          <p:graphicFrame>
            <p:nvGraphicFramePr>
              <p:cNvPr id="48" name="Table 47">
                <a:extLst>
                  <a:ext uri="{FF2B5EF4-FFF2-40B4-BE49-F238E27FC236}">
                    <a16:creationId xmlns:a16="http://schemas.microsoft.com/office/drawing/2014/main" id="{8C447613-76A8-0A46-9AA8-AB37CAC89F95}"/>
                  </a:ext>
                </a:extLst>
              </p:cNvPr>
              <p:cNvGraphicFramePr>
                <a:graphicFrameLocks noGrp="1"/>
              </p:cNvGraphicFramePr>
              <p:nvPr>
                <p:extLst>
                  <p:ext uri="{D42A27DB-BD31-4B8C-83A1-F6EECF244321}">
                    <p14:modId xmlns:p14="http://schemas.microsoft.com/office/powerpoint/2010/main" val="2389510653"/>
                  </p:ext>
                </p:extLst>
              </p:nvPr>
            </p:nvGraphicFramePr>
            <p:xfrm>
              <a:off x="5746406" y="3911530"/>
              <a:ext cx="2416797" cy="2590800"/>
            </p:xfrm>
            <a:graphic>
              <a:graphicData uri="http://schemas.openxmlformats.org/drawingml/2006/table">
                <a:tbl>
                  <a:tblPr firstRow="1" bandRow="1">
                    <a:tableStyleId>{F5AB1C69-6EDB-4FF4-983F-18BD219EF322}</a:tableStyleId>
                  </a:tblPr>
                  <a:tblGrid>
                    <a:gridCol w="978211">
                      <a:extLst>
                        <a:ext uri="{9D8B030D-6E8A-4147-A177-3AD203B41FA5}">
                          <a16:colId xmlns:a16="http://schemas.microsoft.com/office/drawing/2014/main" val="3371686391"/>
                        </a:ext>
                      </a:extLst>
                    </a:gridCol>
                    <a:gridCol w="1438586">
                      <a:extLst>
                        <a:ext uri="{9D8B030D-6E8A-4147-A177-3AD203B41FA5}">
                          <a16:colId xmlns:a16="http://schemas.microsoft.com/office/drawing/2014/main" val="1340829466"/>
                        </a:ext>
                      </a:extLst>
                    </a:gridCol>
                  </a:tblGrid>
                  <a:tr h="518160">
                    <a:tc>
                      <a:txBody>
                        <a:bodyPr/>
                        <a:lstStyle/>
                        <a:p>
                          <a:endParaRPr lang="en-US"/>
                        </a:p>
                      </a:txBody>
                      <a:tcPr>
                        <a:blipFill>
                          <a:blip r:embed="rId5"/>
                          <a:stretch>
                            <a:fillRect l="-1299" r="-150649" b="-402439"/>
                          </a:stretch>
                        </a:blipFill>
                      </a:tcPr>
                    </a:tc>
                    <a:tc>
                      <a:txBody>
                        <a:bodyPr/>
                        <a:lstStyle/>
                        <a:p>
                          <a:endParaRPr lang="en-US"/>
                        </a:p>
                      </a:txBody>
                      <a:tcPr>
                        <a:blipFill>
                          <a:blip r:embed="rId5"/>
                          <a:stretch>
                            <a:fillRect l="-68421" r="-1754" b="-402439"/>
                          </a:stretch>
                        </a:blipFill>
                      </a:tcPr>
                    </a:tc>
                    <a:extLst>
                      <a:ext uri="{0D108BD9-81ED-4DB2-BD59-A6C34878D82A}">
                        <a16:rowId xmlns:a16="http://schemas.microsoft.com/office/drawing/2014/main" val="1039419296"/>
                      </a:ext>
                    </a:extLst>
                  </a:tr>
                  <a:tr h="518160">
                    <a:tc>
                      <a:txBody>
                        <a:bodyPr/>
                        <a:lstStyle/>
                        <a:p>
                          <a:endParaRPr lang="en-US"/>
                        </a:p>
                      </a:txBody>
                      <a:tcPr>
                        <a:blipFill>
                          <a:blip r:embed="rId5"/>
                          <a:stretch>
                            <a:fillRect l="-1299" t="-100000" r="-150649" b="-302439"/>
                          </a:stretch>
                        </a:blipFill>
                      </a:tcPr>
                    </a:tc>
                    <a:tc>
                      <a:txBody>
                        <a:bodyPr/>
                        <a:lstStyle/>
                        <a:p>
                          <a:endParaRPr lang="en-US"/>
                        </a:p>
                      </a:txBody>
                      <a:tcPr>
                        <a:blipFill>
                          <a:blip r:embed="rId5"/>
                          <a:stretch>
                            <a:fillRect l="-68421" t="-100000" r="-1754" b="-302439"/>
                          </a:stretch>
                        </a:blipFill>
                      </a:tcPr>
                    </a:tc>
                    <a:extLst>
                      <a:ext uri="{0D108BD9-81ED-4DB2-BD59-A6C34878D82A}">
                        <a16:rowId xmlns:a16="http://schemas.microsoft.com/office/drawing/2014/main" val="4274640674"/>
                      </a:ext>
                    </a:extLst>
                  </a:tr>
                  <a:tr h="518160">
                    <a:tc>
                      <a:txBody>
                        <a:bodyPr/>
                        <a:lstStyle/>
                        <a:p>
                          <a:endParaRPr lang="en-US"/>
                        </a:p>
                      </a:txBody>
                      <a:tcPr>
                        <a:blipFill>
                          <a:blip r:embed="rId5"/>
                          <a:stretch>
                            <a:fillRect l="-1299" t="-200000" r="-150649" b="-202439"/>
                          </a:stretch>
                        </a:blipFill>
                      </a:tcPr>
                    </a:tc>
                    <a:tc>
                      <a:txBody>
                        <a:bodyPr/>
                        <a:lstStyle/>
                        <a:p>
                          <a:endParaRPr lang="en-US"/>
                        </a:p>
                      </a:txBody>
                      <a:tcPr>
                        <a:blipFill>
                          <a:blip r:embed="rId5"/>
                          <a:stretch>
                            <a:fillRect l="-68421" t="-200000" r="-1754" b="-202439"/>
                          </a:stretch>
                        </a:blipFill>
                      </a:tcPr>
                    </a:tc>
                    <a:extLst>
                      <a:ext uri="{0D108BD9-81ED-4DB2-BD59-A6C34878D82A}">
                        <a16:rowId xmlns:a16="http://schemas.microsoft.com/office/drawing/2014/main" val="1780964737"/>
                      </a:ext>
                    </a:extLst>
                  </a:tr>
                  <a:tr h="518160">
                    <a:tc>
                      <a:txBody>
                        <a:bodyPr/>
                        <a:lstStyle/>
                        <a:p>
                          <a:endParaRPr lang="en-US"/>
                        </a:p>
                      </a:txBody>
                      <a:tcPr>
                        <a:blipFill>
                          <a:blip r:embed="rId5"/>
                          <a:stretch>
                            <a:fillRect l="-1299" t="-300000" r="-150649" b="-102439"/>
                          </a:stretch>
                        </a:blipFill>
                      </a:tcPr>
                    </a:tc>
                    <a:tc>
                      <a:txBody>
                        <a:bodyPr/>
                        <a:lstStyle/>
                        <a:p>
                          <a:endParaRPr lang="en-US"/>
                        </a:p>
                      </a:txBody>
                      <a:tcPr>
                        <a:blipFill>
                          <a:blip r:embed="rId5"/>
                          <a:stretch>
                            <a:fillRect l="-68421" t="-300000" r="-1754" b="-102439"/>
                          </a:stretch>
                        </a:blipFill>
                      </a:tcPr>
                    </a:tc>
                    <a:extLst>
                      <a:ext uri="{0D108BD9-81ED-4DB2-BD59-A6C34878D82A}">
                        <a16:rowId xmlns:a16="http://schemas.microsoft.com/office/drawing/2014/main" val="26503616"/>
                      </a:ext>
                    </a:extLst>
                  </a:tr>
                  <a:tr h="518160">
                    <a:tc>
                      <a:txBody>
                        <a:bodyPr/>
                        <a:lstStyle/>
                        <a:p>
                          <a:endParaRPr lang="en-US"/>
                        </a:p>
                      </a:txBody>
                      <a:tcPr>
                        <a:blipFill>
                          <a:blip r:embed="rId5"/>
                          <a:stretch>
                            <a:fillRect l="-1299" t="-400000" r="-150649" b="-2439"/>
                          </a:stretch>
                        </a:blipFill>
                      </a:tcPr>
                    </a:tc>
                    <a:tc>
                      <a:txBody>
                        <a:bodyPr/>
                        <a:lstStyle/>
                        <a:p>
                          <a:endParaRPr lang="en-US"/>
                        </a:p>
                      </a:txBody>
                      <a:tcPr>
                        <a:blipFill>
                          <a:blip r:embed="rId5"/>
                          <a:stretch>
                            <a:fillRect l="-68421" t="-400000" r="-1754" b="-2439"/>
                          </a:stretch>
                        </a:blipFill>
                      </a:tcPr>
                    </a:tc>
                    <a:extLst>
                      <a:ext uri="{0D108BD9-81ED-4DB2-BD59-A6C34878D82A}">
                        <a16:rowId xmlns:a16="http://schemas.microsoft.com/office/drawing/2014/main" val="628222758"/>
                      </a:ext>
                    </a:extLst>
                  </a:tr>
                </a:tbl>
              </a:graphicData>
            </a:graphic>
          </p:graphicFrame>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6C7A2169-D2D1-AB43-9F56-A5215EE3D325}"/>
                  </a:ext>
                </a:extLst>
              </p:cNvPr>
              <p:cNvSpPr txBox="1"/>
              <p:nvPr/>
            </p:nvSpPr>
            <p:spPr>
              <a:xfrm>
                <a:off x="6086491" y="2819167"/>
                <a:ext cx="1736629"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solidFill>
                                <a:schemeClr val="tx1"/>
                              </a:solidFill>
                              <a:latin typeface="Cambria Math" panose="02040503050406030204" pitchFamily="18" charset="0"/>
                              <a:ea typeface="Cambria Math" panose="02040503050406030204" pitchFamily="18" charset="0"/>
                            </a:rPr>
                          </m:ctrlPr>
                        </m:dPr>
                        <m:e>
                          <m:r>
                            <m:rPr>
                              <m:nor/>
                            </m:rPr>
                            <a:rPr lang="sr-Latn-RS" sz="2400" b="0" i="1" smtClean="0">
                              <a:solidFill>
                                <a:schemeClr val="tx1"/>
                              </a:solidFill>
                              <a:latin typeface="Cambria Math" panose="02040503050406030204" pitchFamily="18" charset="0"/>
                              <a:ea typeface="Cambria Math" panose="02040503050406030204" pitchFamily="18" charset="0"/>
                            </a:rPr>
                            <m:t>ab</m:t>
                          </m:r>
                        </m:e>
                      </m:d>
                      <m:r>
                        <a:rPr lang="en-US" sz="2400" i="1" smtClean="0">
                          <a:solidFill>
                            <a:schemeClr val="tx1"/>
                          </a:solidFill>
                          <a:latin typeface="Cambria Math" panose="02040503050406030204" pitchFamily="18" charset="0"/>
                          <a:ea typeface="Cambria Math" panose="02040503050406030204" pitchFamily="18" charset="0"/>
                        </a:rPr>
                        <m:t>→</m:t>
                      </m:r>
                      <m:d>
                        <m:dPr>
                          <m:begChr m:val="|"/>
                          <m:endChr m:val="⟩"/>
                          <m:ctrlPr>
                            <a:rPr lang="en-US" sz="2400" i="1">
                              <a:solidFill>
                                <a:schemeClr val="tx1"/>
                              </a:solidFill>
                              <a:latin typeface="Cambria Math" panose="02040503050406030204" pitchFamily="18" charset="0"/>
                              <a:ea typeface="Cambria Math" panose="02040503050406030204" pitchFamily="18" charset="0"/>
                            </a:rPr>
                          </m:ctrlPr>
                        </m:dPr>
                        <m:e>
                          <m:r>
                            <m:rPr>
                              <m:nor/>
                            </m:rPr>
                            <a:rPr lang="sr-Latn-RS" sz="2400" b="0" i="1" smtClean="0">
                              <a:solidFill>
                                <a:schemeClr val="tx1"/>
                              </a:solidFill>
                              <a:latin typeface="Cambria Math" panose="02040503050406030204" pitchFamily="18" charset="0"/>
                              <a:ea typeface="Cambria Math" panose="02040503050406030204" pitchFamily="18" charset="0"/>
                            </a:rPr>
                            <m:t>ba</m:t>
                          </m:r>
                        </m:e>
                      </m:d>
                    </m:oMath>
                  </m:oMathPara>
                </a14:m>
                <a:endParaRPr lang="en-US" sz="2400" i="1" dirty="0">
                  <a:solidFill>
                    <a:schemeClr val="tx1"/>
                  </a:solidFill>
                </a:endParaRPr>
              </a:p>
            </p:txBody>
          </p:sp>
        </mc:Choice>
        <mc:Fallback xmlns="">
          <p:sp>
            <p:nvSpPr>
              <p:cNvPr id="20" name="TextBox 19">
                <a:extLst>
                  <a:ext uri="{FF2B5EF4-FFF2-40B4-BE49-F238E27FC236}">
                    <a16:creationId xmlns:a16="http://schemas.microsoft.com/office/drawing/2014/main" id="{6C7A2169-D2D1-AB43-9F56-A5215EE3D325}"/>
                  </a:ext>
                </a:extLst>
              </p:cNvPr>
              <p:cNvSpPr txBox="1">
                <a:spLocks noRot="1" noChangeAspect="1" noMove="1" noResize="1" noEditPoints="1" noAdjustHandles="1" noChangeArrowheads="1" noChangeShapeType="1" noTextEdit="1"/>
              </p:cNvSpPr>
              <p:nvPr/>
            </p:nvSpPr>
            <p:spPr>
              <a:xfrm>
                <a:off x="6086491" y="2819167"/>
                <a:ext cx="1736629" cy="461665"/>
              </a:xfrm>
              <a:prstGeom prst="rect">
                <a:avLst/>
              </a:prstGeom>
              <a:blipFill>
                <a:blip r:embed="rId16"/>
                <a:stretch>
                  <a:fillRect/>
                </a:stretch>
              </a:blipFill>
            </p:spPr>
            <p:txBody>
              <a:bodyPr/>
              <a:lstStyle/>
              <a:p>
                <a:r>
                  <a:rPr lang="en-US">
                    <a:noFill/>
                  </a:rPr>
                  <a:t> </a:t>
                </a:r>
              </a:p>
            </p:txBody>
          </p:sp>
        </mc:Fallback>
      </mc:AlternateContent>
      <p:sp>
        <p:nvSpPr>
          <p:cNvPr id="37" name="TextBox 36">
            <a:extLst>
              <a:ext uri="{FF2B5EF4-FFF2-40B4-BE49-F238E27FC236}">
                <a16:creationId xmlns:a16="http://schemas.microsoft.com/office/drawing/2014/main" id="{04F28713-98A3-9A45-882F-EF3B17F84A7A}"/>
              </a:ext>
            </a:extLst>
          </p:cNvPr>
          <p:cNvSpPr txBox="1"/>
          <p:nvPr/>
        </p:nvSpPr>
        <p:spPr>
          <a:xfrm>
            <a:off x="452247" y="1310023"/>
            <a:ext cx="1065100" cy="461665"/>
          </a:xfrm>
          <a:prstGeom prst="rect">
            <a:avLst/>
          </a:prstGeom>
          <a:noFill/>
        </p:spPr>
        <p:txBody>
          <a:bodyPr wrap="none" rtlCol="0">
            <a:spAutoFit/>
          </a:bodyPr>
          <a:lstStyle/>
          <a:p>
            <a:r>
              <a:rPr lang="en-US" sz="2400" dirty="0">
                <a:latin typeface="+mj-lt"/>
              </a:rPr>
              <a:t>symbol</a:t>
            </a:r>
          </a:p>
        </p:txBody>
      </p:sp>
      <p:sp>
        <p:nvSpPr>
          <p:cNvPr id="38" name="TextBox 37">
            <a:extLst>
              <a:ext uri="{FF2B5EF4-FFF2-40B4-BE49-F238E27FC236}">
                <a16:creationId xmlns:a16="http://schemas.microsoft.com/office/drawing/2014/main" id="{1410F50D-87D1-AA4F-B923-50F438F35235}"/>
              </a:ext>
            </a:extLst>
          </p:cNvPr>
          <p:cNvSpPr txBox="1"/>
          <p:nvPr/>
        </p:nvSpPr>
        <p:spPr>
          <a:xfrm>
            <a:off x="2812824" y="1310023"/>
            <a:ext cx="1262653" cy="461665"/>
          </a:xfrm>
          <a:prstGeom prst="rect">
            <a:avLst/>
          </a:prstGeom>
          <a:noFill/>
        </p:spPr>
        <p:txBody>
          <a:bodyPr wrap="none" rtlCol="0">
            <a:spAutoFit/>
          </a:bodyPr>
          <a:lstStyle/>
          <a:p>
            <a:r>
              <a:rPr lang="en-US" sz="2400" dirty="0">
                <a:latin typeface="+mj-lt"/>
              </a:rPr>
              <a:t>operator</a:t>
            </a:r>
          </a:p>
        </p:txBody>
      </p:sp>
      <p:sp>
        <p:nvSpPr>
          <p:cNvPr id="39" name="TextBox 38">
            <a:extLst>
              <a:ext uri="{FF2B5EF4-FFF2-40B4-BE49-F238E27FC236}">
                <a16:creationId xmlns:a16="http://schemas.microsoft.com/office/drawing/2014/main" id="{5C31F2BF-9A6E-3D4E-B4C3-0EBE1A7FCEDB}"/>
              </a:ext>
            </a:extLst>
          </p:cNvPr>
          <p:cNvSpPr txBox="1"/>
          <p:nvPr/>
        </p:nvSpPr>
        <p:spPr>
          <a:xfrm>
            <a:off x="6143376" y="1310023"/>
            <a:ext cx="1568186" cy="461665"/>
          </a:xfrm>
          <a:prstGeom prst="rect">
            <a:avLst/>
          </a:prstGeom>
          <a:noFill/>
        </p:spPr>
        <p:txBody>
          <a:bodyPr wrap="none" rtlCol="0">
            <a:spAutoFit/>
          </a:bodyPr>
          <a:lstStyle/>
          <a:p>
            <a:r>
              <a:rPr lang="en-US" sz="2400" dirty="0">
                <a:latin typeface="+mj-lt"/>
              </a:rPr>
              <a:t>description</a:t>
            </a:r>
          </a:p>
        </p:txBody>
      </p:sp>
      <p:sp>
        <p:nvSpPr>
          <p:cNvPr id="40" name="TextBox 39">
            <a:extLst>
              <a:ext uri="{FF2B5EF4-FFF2-40B4-BE49-F238E27FC236}">
                <a16:creationId xmlns:a16="http://schemas.microsoft.com/office/drawing/2014/main" id="{73656C20-E5EE-E844-9AFE-529259C95CA1}"/>
              </a:ext>
            </a:extLst>
          </p:cNvPr>
          <p:cNvSpPr txBox="1"/>
          <p:nvPr/>
        </p:nvSpPr>
        <p:spPr>
          <a:xfrm>
            <a:off x="10105559" y="1310023"/>
            <a:ext cx="962123" cy="461665"/>
          </a:xfrm>
          <a:prstGeom prst="rect">
            <a:avLst/>
          </a:prstGeom>
          <a:noFill/>
        </p:spPr>
        <p:txBody>
          <a:bodyPr wrap="none" rtlCol="0">
            <a:spAutoFit/>
          </a:bodyPr>
          <a:lstStyle/>
          <a:p>
            <a:r>
              <a:rPr lang="en-US" sz="2400" dirty="0">
                <a:latin typeface="+mj-lt"/>
              </a:rPr>
              <a:t>QASM</a:t>
            </a:r>
          </a:p>
        </p:txBody>
      </p:sp>
      <mc:AlternateContent xmlns:mc="http://schemas.openxmlformats.org/markup-compatibility/2006" xmlns:a14="http://schemas.microsoft.com/office/drawing/2010/main">
        <mc:Choice Requires="a14">
          <p:sp>
            <p:nvSpPr>
              <p:cNvPr id="36" name="Rectangle 35">
                <a:extLst>
                  <a:ext uri="{FF2B5EF4-FFF2-40B4-BE49-F238E27FC236}">
                    <a16:creationId xmlns:a16="http://schemas.microsoft.com/office/drawing/2014/main" id="{0135C7BA-8EA7-3D4E-9030-FD699D0C59EF}"/>
                  </a:ext>
                </a:extLst>
              </p:cNvPr>
              <p:cNvSpPr/>
              <p:nvPr/>
            </p:nvSpPr>
            <p:spPr>
              <a:xfrm>
                <a:off x="1143732" y="2951705"/>
                <a:ext cx="612282"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a:latin typeface="Cambria Math" panose="02040503050406030204" pitchFamily="18" charset="0"/>
                              <a:ea typeface="Cambria Math" panose="02040503050406030204" pitchFamily="18" charset="0"/>
                            </a:rPr>
                          </m:ctrlPr>
                        </m:dPr>
                        <m:e>
                          <m:r>
                            <m:rPr>
                              <m:nor/>
                            </m:rPr>
                            <a:rPr lang="sr-Latn-RS" sz="2400" i="1">
                              <a:latin typeface="Cambria Math" panose="02040503050406030204" pitchFamily="18" charset="0"/>
                              <a:ea typeface="Cambria Math" panose="02040503050406030204" pitchFamily="18" charset="0"/>
                            </a:rPr>
                            <m:t>a</m:t>
                          </m:r>
                        </m:e>
                      </m:d>
                    </m:oMath>
                  </m:oMathPara>
                </a14:m>
                <a:endParaRPr lang="en-US" sz="2400" dirty="0"/>
              </a:p>
            </p:txBody>
          </p:sp>
        </mc:Choice>
        <mc:Fallback xmlns="">
          <p:sp>
            <p:nvSpPr>
              <p:cNvPr id="36" name="Rectangle 35">
                <a:extLst>
                  <a:ext uri="{FF2B5EF4-FFF2-40B4-BE49-F238E27FC236}">
                    <a16:creationId xmlns:a16="http://schemas.microsoft.com/office/drawing/2014/main" id="{0135C7BA-8EA7-3D4E-9030-FD699D0C59EF}"/>
                  </a:ext>
                </a:extLst>
              </p:cNvPr>
              <p:cNvSpPr>
                <a:spLocks noRot="1" noChangeAspect="1" noMove="1" noResize="1" noEditPoints="1" noAdjustHandles="1" noChangeArrowheads="1" noChangeShapeType="1" noTextEdit="1"/>
              </p:cNvSpPr>
              <p:nvPr/>
            </p:nvSpPr>
            <p:spPr>
              <a:xfrm>
                <a:off x="1143732" y="2951705"/>
                <a:ext cx="612282" cy="461665"/>
              </a:xfrm>
              <a:prstGeom prst="rect">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Rectangle 40">
                <a:extLst>
                  <a:ext uri="{FF2B5EF4-FFF2-40B4-BE49-F238E27FC236}">
                    <a16:creationId xmlns:a16="http://schemas.microsoft.com/office/drawing/2014/main" id="{752FD79E-01E8-BB44-B010-A8E457BEC906}"/>
                  </a:ext>
                </a:extLst>
              </p:cNvPr>
              <p:cNvSpPr/>
              <p:nvPr/>
            </p:nvSpPr>
            <p:spPr>
              <a:xfrm>
                <a:off x="1126829" y="1969216"/>
                <a:ext cx="629916"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a:latin typeface="Cambria Math" panose="02040503050406030204" pitchFamily="18" charset="0"/>
                              <a:ea typeface="Cambria Math" panose="02040503050406030204" pitchFamily="18" charset="0"/>
                            </a:rPr>
                          </m:ctrlPr>
                        </m:dPr>
                        <m:e>
                          <m:r>
                            <m:rPr>
                              <m:nor/>
                            </m:rPr>
                            <a:rPr lang="en-US" sz="2400" b="0" i="1" smtClean="0">
                              <a:latin typeface="Cambria Math" panose="02040503050406030204" pitchFamily="18" charset="0"/>
                              <a:ea typeface="Cambria Math" panose="02040503050406030204" pitchFamily="18" charset="0"/>
                            </a:rPr>
                            <m:t>b</m:t>
                          </m:r>
                        </m:e>
                      </m:d>
                    </m:oMath>
                  </m:oMathPara>
                </a14:m>
                <a:endParaRPr lang="en-US" sz="2400" dirty="0"/>
              </a:p>
            </p:txBody>
          </p:sp>
        </mc:Choice>
        <mc:Fallback xmlns="">
          <p:sp>
            <p:nvSpPr>
              <p:cNvPr id="41" name="Rectangle 40">
                <a:extLst>
                  <a:ext uri="{FF2B5EF4-FFF2-40B4-BE49-F238E27FC236}">
                    <a16:creationId xmlns:a16="http://schemas.microsoft.com/office/drawing/2014/main" id="{752FD79E-01E8-BB44-B010-A8E457BEC906}"/>
                  </a:ext>
                </a:extLst>
              </p:cNvPr>
              <p:cNvSpPr>
                <a:spLocks noRot="1" noChangeAspect="1" noMove="1" noResize="1" noEditPoints="1" noAdjustHandles="1" noChangeArrowheads="1" noChangeShapeType="1" noTextEdit="1"/>
              </p:cNvSpPr>
              <p:nvPr/>
            </p:nvSpPr>
            <p:spPr>
              <a:xfrm>
                <a:off x="1126829" y="1969216"/>
                <a:ext cx="629916" cy="461665"/>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Rectangle 41">
                <a:extLst>
                  <a:ext uri="{FF2B5EF4-FFF2-40B4-BE49-F238E27FC236}">
                    <a16:creationId xmlns:a16="http://schemas.microsoft.com/office/drawing/2014/main" id="{8C65DEEA-4B3A-4446-84B9-4877F14C9258}"/>
                  </a:ext>
                </a:extLst>
              </p:cNvPr>
              <p:cNvSpPr/>
              <p:nvPr/>
            </p:nvSpPr>
            <p:spPr>
              <a:xfrm>
                <a:off x="264169" y="2931915"/>
                <a:ext cx="629916"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a:latin typeface="Cambria Math" panose="02040503050406030204" pitchFamily="18" charset="0"/>
                              <a:ea typeface="Cambria Math" panose="02040503050406030204" pitchFamily="18" charset="0"/>
                            </a:rPr>
                          </m:ctrlPr>
                        </m:dPr>
                        <m:e>
                          <m:r>
                            <m:rPr>
                              <m:nor/>
                            </m:rPr>
                            <a:rPr lang="en-US" sz="2400" b="0" i="1" smtClean="0">
                              <a:latin typeface="Cambria Math" panose="02040503050406030204" pitchFamily="18" charset="0"/>
                              <a:ea typeface="Cambria Math" panose="02040503050406030204" pitchFamily="18" charset="0"/>
                            </a:rPr>
                            <m:t>b</m:t>
                          </m:r>
                        </m:e>
                      </m:d>
                    </m:oMath>
                  </m:oMathPara>
                </a14:m>
                <a:endParaRPr lang="en-US" sz="2400" dirty="0"/>
              </a:p>
            </p:txBody>
          </p:sp>
        </mc:Choice>
        <mc:Fallback xmlns="">
          <p:sp>
            <p:nvSpPr>
              <p:cNvPr id="42" name="Rectangle 41">
                <a:extLst>
                  <a:ext uri="{FF2B5EF4-FFF2-40B4-BE49-F238E27FC236}">
                    <a16:creationId xmlns:a16="http://schemas.microsoft.com/office/drawing/2014/main" id="{8C65DEEA-4B3A-4446-84B9-4877F14C9258}"/>
                  </a:ext>
                </a:extLst>
              </p:cNvPr>
              <p:cNvSpPr>
                <a:spLocks noRot="1" noChangeAspect="1" noMove="1" noResize="1" noEditPoints="1" noAdjustHandles="1" noChangeArrowheads="1" noChangeShapeType="1" noTextEdit="1"/>
              </p:cNvSpPr>
              <p:nvPr/>
            </p:nvSpPr>
            <p:spPr>
              <a:xfrm>
                <a:off x="264169" y="2931915"/>
                <a:ext cx="629916" cy="461665"/>
              </a:xfrm>
              <a:prstGeom prst="rect">
                <a:avLst/>
              </a:prstGeom>
              <a:blipFill>
                <a:blip r:embed="rId19"/>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36971955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39EF45-D20A-C54B-9E7B-223F102F5FFB}"/>
              </a:ext>
            </a:extLst>
          </p:cNvPr>
          <p:cNvSpPr>
            <a:spLocks noGrp="1"/>
          </p:cNvSpPr>
          <p:nvPr>
            <p:ph type="title"/>
          </p:nvPr>
        </p:nvSpPr>
        <p:spPr>
          <a:xfrm>
            <a:off x="0" y="0"/>
            <a:ext cx="12192000" cy="928688"/>
          </a:xfrm>
        </p:spPr>
        <p:txBody>
          <a:bodyPr/>
          <a:lstStyle/>
          <a:p>
            <a:r>
              <a:rPr lang="en-US" dirty="0"/>
              <a:t>Controlled U gate</a:t>
            </a:r>
          </a:p>
        </p:txBody>
      </p:sp>
      <p:sp>
        <p:nvSpPr>
          <p:cNvPr id="3" name="Slide Number Placeholder 2">
            <a:extLst>
              <a:ext uri="{FF2B5EF4-FFF2-40B4-BE49-F238E27FC236}">
                <a16:creationId xmlns:a16="http://schemas.microsoft.com/office/drawing/2014/main" id="{1DFCF789-A597-7E48-870E-125D0C3A063D}"/>
              </a:ext>
            </a:extLst>
          </p:cNvPr>
          <p:cNvSpPr>
            <a:spLocks noGrp="1"/>
          </p:cNvSpPr>
          <p:nvPr>
            <p:ph type="sldNum" sz="quarter" idx="12"/>
          </p:nvPr>
        </p:nvSpPr>
        <p:spPr/>
        <p:txBody>
          <a:bodyPr/>
          <a:lstStyle/>
          <a:p>
            <a:fld id="{591A223C-FA10-BC46-A853-03BA373D023C}" type="slidenum">
              <a:rPr lang="en-US" smtClean="0"/>
              <a:t>41</a:t>
            </a:fld>
            <a:endParaRPr lang="en-US"/>
          </a:p>
        </p:txBody>
      </p:sp>
      <p:sp>
        <p:nvSpPr>
          <p:cNvPr id="7" name="Rectangle 6">
            <a:extLst>
              <a:ext uri="{FF2B5EF4-FFF2-40B4-BE49-F238E27FC236}">
                <a16:creationId xmlns:a16="http://schemas.microsoft.com/office/drawing/2014/main" id="{01F86251-6DE2-3448-A31F-B8BAA869C571}"/>
              </a:ext>
            </a:extLst>
          </p:cNvPr>
          <p:cNvSpPr/>
          <p:nvPr/>
        </p:nvSpPr>
        <p:spPr>
          <a:xfrm>
            <a:off x="224852" y="1133585"/>
            <a:ext cx="11679658" cy="53592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Connector 15">
            <a:extLst>
              <a:ext uri="{FF2B5EF4-FFF2-40B4-BE49-F238E27FC236}">
                <a16:creationId xmlns:a16="http://schemas.microsoft.com/office/drawing/2014/main" id="{1A76F891-5AB6-8649-AA11-DCC61231E1A8}"/>
              </a:ext>
            </a:extLst>
          </p:cNvPr>
          <p:cNvCxnSpPr>
            <a:cxnSpLocks/>
          </p:cNvCxnSpPr>
          <p:nvPr/>
        </p:nvCxnSpPr>
        <p:spPr>
          <a:xfrm>
            <a:off x="1816336" y="1138289"/>
            <a:ext cx="0" cy="5354585"/>
          </a:xfrm>
          <a:prstGeom prst="line">
            <a:avLst/>
          </a:prstGeom>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35913924-2483-E343-99F2-9D1061599CCB}"/>
              </a:ext>
            </a:extLst>
          </p:cNvPr>
          <p:cNvCxnSpPr>
            <a:cxnSpLocks/>
          </p:cNvCxnSpPr>
          <p:nvPr/>
        </p:nvCxnSpPr>
        <p:spPr>
          <a:xfrm>
            <a:off x="208474" y="1924779"/>
            <a:ext cx="11679658" cy="0"/>
          </a:xfrm>
          <a:prstGeom prst="line">
            <a:avLst/>
          </a:prstGeom>
        </p:spPr>
        <p:style>
          <a:lnRef idx="1">
            <a:schemeClr val="accent1"/>
          </a:lnRef>
          <a:fillRef idx="0">
            <a:schemeClr val="accent1"/>
          </a:fillRef>
          <a:effectRef idx="0">
            <a:schemeClr val="accent1"/>
          </a:effectRef>
          <a:fontRef idx="minor">
            <a:schemeClr val="tx1"/>
          </a:fontRef>
        </p:style>
      </p:cxnSp>
      <p:sp>
        <p:nvSpPr>
          <p:cNvPr id="43" name="Rectangle 42">
            <a:extLst>
              <a:ext uri="{FF2B5EF4-FFF2-40B4-BE49-F238E27FC236}">
                <a16:creationId xmlns:a16="http://schemas.microsoft.com/office/drawing/2014/main" id="{0824DC6C-CEC9-3E4E-8DF1-99A0070F2BD7}"/>
              </a:ext>
            </a:extLst>
          </p:cNvPr>
          <p:cNvSpPr/>
          <p:nvPr/>
        </p:nvSpPr>
        <p:spPr>
          <a:xfrm>
            <a:off x="4704073" y="5592346"/>
            <a:ext cx="4744727" cy="461665"/>
          </a:xfrm>
          <a:prstGeom prst="rect">
            <a:avLst/>
          </a:prstGeom>
        </p:spPr>
        <p:txBody>
          <a:bodyPr wrap="square">
            <a:spAutoFit/>
          </a:bodyPr>
          <a:lstStyle/>
          <a:p>
            <a:r>
              <a:rPr lang="sr-Latn-RS" sz="2400" dirty="0" err="1">
                <a:latin typeface="Andale Mono" panose="020B0509000000000004" pitchFamily="49" charset="0"/>
              </a:rPr>
              <a:t>cu</a:t>
            </a:r>
            <a:r>
              <a:rPr lang="sr-Latn-RS" sz="2400" dirty="0">
                <a:latin typeface="Andale Mono" panose="020B0509000000000004" pitchFamily="49" charset="0"/>
              </a:rPr>
              <a:t>(</a:t>
            </a:r>
            <a:r>
              <a:rPr lang="sr-Latn-RS" sz="2400" dirty="0" err="1">
                <a:latin typeface="Andale Mono" panose="020B0509000000000004" pitchFamily="49" charset="0"/>
              </a:rPr>
              <a:t>t,p,l,g</a:t>
            </a:r>
            <a:r>
              <a:rPr lang="sr-Latn-RS" sz="2400" dirty="0">
                <a:latin typeface="Andale Mono" panose="020B0509000000000004" pitchFamily="49" charset="0"/>
              </a:rPr>
              <a:t>) </a:t>
            </a:r>
            <a:r>
              <a:rPr lang="sr-Latn-RS" sz="2400" dirty="0" err="1">
                <a:latin typeface="Andale Mono" panose="020B0509000000000004" pitchFamily="49" charset="0"/>
              </a:rPr>
              <a:t>q</a:t>
            </a:r>
            <a:r>
              <a:rPr lang="sr-Latn-RS" sz="2400" dirty="0">
                <a:latin typeface="Andale Mono" panose="020B0509000000000004" pitchFamily="49" charset="0"/>
              </a:rPr>
              <a:t>[i],</a:t>
            </a:r>
            <a:r>
              <a:rPr lang="sr-Latn-RS" sz="2400" dirty="0" err="1">
                <a:latin typeface="Andale Mono" panose="020B0509000000000004" pitchFamily="49" charset="0"/>
              </a:rPr>
              <a:t>q</a:t>
            </a:r>
            <a:r>
              <a:rPr lang="sr-Latn-RS" sz="2400" dirty="0">
                <a:latin typeface="Andale Mono" panose="020B0509000000000004" pitchFamily="49" charset="0"/>
              </a:rPr>
              <a:t>[</a:t>
            </a:r>
            <a:r>
              <a:rPr lang="sr-Latn-RS" sz="2400" dirty="0" err="1">
                <a:latin typeface="Andale Mono" panose="020B0509000000000004" pitchFamily="49" charset="0"/>
              </a:rPr>
              <a:t>j</a:t>
            </a:r>
            <a:r>
              <a:rPr lang="sr-Latn-RS" sz="2400" dirty="0">
                <a:latin typeface="Andale Mono" panose="020B0509000000000004" pitchFamily="49" charset="0"/>
              </a:rPr>
              <a:t>];</a:t>
            </a:r>
            <a:endParaRPr lang="en-US" sz="2400" dirty="0">
              <a:effectLst/>
              <a:latin typeface="Andale Mono" panose="020B0509000000000004" pitchFamily="49" charset="0"/>
              <a:ea typeface="Menlo" panose="020B0609030804020204" pitchFamily="49" charset="0"/>
              <a:cs typeface="Menlo" panose="020B0609030804020204" pitchFamily="49" charset="0"/>
            </a:endParaRPr>
          </a:p>
        </p:txBody>
      </p:sp>
      <mc:AlternateContent xmlns:mc="http://schemas.openxmlformats.org/markup-compatibility/2006" xmlns:a14="http://schemas.microsoft.com/office/drawing/2010/main">
        <mc:Choice Requires="a14">
          <p:sp>
            <p:nvSpPr>
              <p:cNvPr id="26" name="Rectangle 25">
                <a:extLst>
                  <a:ext uri="{FF2B5EF4-FFF2-40B4-BE49-F238E27FC236}">
                    <a16:creationId xmlns:a16="http://schemas.microsoft.com/office/drawing/2014/main" id="{CE57BBB8-E581-FE46-94A7-A7C965C7F037}"/>
                  </a:ext>
                </a:extLst>
              </p:cNvPr>
              <p:cNvSpPr/>
              <p:nvPr/>
            </p:nvSpPr>
            <p:spPr>
              <a:xfrm>
                <a:off x="2740839" y="2771637"/>
                <a:ext cx="7609071" cy="220342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sr-Latn-RS" sz="2400" b="0" i="1">
                          <a:latin typeface="Cambria Math" panose="02040503050406030204" pitchFamily="18" charset="0"/>
                        </a:rPr>
                        <m:t>𝑐</m:t>
                      </m:r>
                      <m:r>
                        <a:rPr lang="sr-Latn-RS" sz="2400" i="1">
                          <a:latin typeface="Cambria Math" panose="02040503050406030204" pitchFamily="18" charset="0"/>
                        </a:rPr>
                        <m:t>𝑈</m:t>
                      </m:r>
                      <m:r>
                        <a:rPr lang="sr-Latn-RS" sz="2400" i="1">
                          <a:latin typeface="Cambria Math" panose="02040503050406030204" pitchFamily="18" charset="0"/>
                        </a:rPr>
                        <m:t>(</m:t>
                      </m:r>
                      <m:r>
                        <a:rPr lang="sr-Latn-RS" sz="2400" i="1">
                          <a:latin typeface="Cambria Math" panose="02040503050406030204" pitchFamily="18" charset="0"/>
                        </a:rPr>
                        <m:t>𝜃</m:t>
                      </m:r>
                      <m:r>
                        <a:rPr lang="sr-Latn-RS" sz="2400" i="1">
                          <a:latin typeface="Cambria Math" panose="02040503050406030204" pitchFamily="18" charset="0"/>
                        </a:rPr>
                        <m:t>,</m:t>
                      </m:r>
                      <m:r>
                        <a:rPr lang="sr-Latn-RS" sz="2400" i="1">
                          <a:latin typeface="Cambria Math" panose="02040503050406030204" pitchFamily="18" charset="0"/>
                        </a:rPr>
                        <m:t>𝜑</m:t>
                      </m:r>
                      <m:r>
                        <a:rPr lang="sr-Latn-RS" sz="2400" i="1">
                          <a:latin typeface="Cambria Math" panose="02040503050406030204" pitchFamily="18" charset="0"/>
                        </a:rPr>
                        <m:t>,</m:t>
                      </m:r>
                      <m:r>
                        <a:rPr lang="sr-Latn-RS" sz="2400" i="1">
                          <a:latin typeface="Cambria Math" panose="02040503050406030204" pitchFamily="18" charset="0"/>
                        </a:rPr>
                        <m:t>𝜆</m:t>
                      </m:r>
                      <m:r>
                        <a:rPr lang="sr-Latn-RS" sz="2400" i="1">
                          <a:latin typeface="Cambria Math" panose="02040503050406030204" pitchFamily="18" charset="0"/>
                        </a:rPr>
                        <m:t>,</m:t>
                      </m:r>
                      <m:r>
                        <a:rPr lang="sr-Latn-RS" sz="2400" i="1">
                          <a:latin typeface="Cambria Math" panose="02040503050406030204" pitchFamily="18" charset="0"/>
                        </a:rPr>
                        <m:t>𝛾</m:t>
                      </m:r>
                      <m:r>
                        <a:rPr lang="sr-Latn-RS" sz="2400" i="1">
                          <a:latin typeface="Cambria Math" panose="02040503050406030204" pitchFamily="18" charset="0"/>
                        </a:rPr>
                        <m:t>)=</m:t>
                      </m:r>
                      <m:d>
                        <m:dPr>
                          <m:ctrlPr>
                            <a:rPr lang="en-ZA" sz="2400" i="1">
                              <a:latin typeface="Cambria Math" panose="02040503050406030204" pitchFamily="18" charset="0"/>
                            </a:rPr>
                          </m:ctrlPr>
                        </m:dPr>
                        <m:e>
                          <m:m>
                            <m:mPr>
                              <m:mcs>
                                <m:mc>
                                  <m:mcPr>
                                    <m:count m:val="4"/>
                                    <m:mcJc m:val="center"/>
                                  </m:mcPr>
                                </m:mc>
                              </m:mcs>
                              <m:ctrlPr>
                                <a:rPr lang="en-ZA" sz="2400" i="1">
                                  <a:latin typeface="Cambria Math" panose="02040503050406030204" pitchFamily="18" charset="0"/>
                                </a:rPr>
                              </m:ctrlPr>
                            </m:mPr>
                            <m:mr>
                              <m:e>
                                <m:r>
                                  <a:rPr lang="sr-Latn-RS" sz="2400" i="1">
                                    <a:latin typeface="Cambria Math" panose="02040503050406030204" pitchFamily="18" charset="0"/>
                                  </a:rPr>
                                  <m:t>1</m:t>
                                </m:r>
                              </m:e>
                              <m:e>
                                <m:r>
                                  <a:rPr lang="sr-Latn-RS" sz="2400" i="1">
                                    <a:latin typeface="Cambria Math" panose="02040503050406030204" pitchFamily="18" charset="0"/>
                                  </a:rPr>
                                  <m:t>0</m:t>
                                </m:r>
                              </m:e>
                              <m:e>
                                <m:r>
                                  <a:rPr lang="sr-Latn-RS" sz="2400" i="1">
                                    <a:latin typeface="Cambria Math" panose="02040503050406030204" pitchFamily="18" charset="0"/>
                                  </a:rPr>
                                  <m:t>0</m:t>
                                </m:r>
                              </m:e>
                              <m:e>
                                <m:r>
                                  <a:rPr lang="sr-Latn-RS" sz="2400" i="1">
                                    <a:latin typeface="Cambria Math" panose="02040503050406030204" pitchFamily="18" charset="0"/>
                                  </a:rPr>
                                  <m:t>0</m:t>
                                </m:r>
                              </m:e>
                            </m:mr>
                            <m:mr>
                              <m:e>
                                <m:r>
                                  <a:rPr lang="sr-Latn-RS" sz="2400" i="1">
                                    <a:latin typeface="Cambria Math" panose="02040503050406030204" pitchFamily="18" charset="0"/>
                                  </a:rPr>
                                  <m:t>0</m:t>
                                </m:r>
                              </m:e>
                              <m:e>
                                <m:r>
                                  <a:rPr lang="sr-Latn-RS" sz="2400" i="1">
                                    <a:latin typeface="Cambria Math" panose="02040503050406030204" pitchFamily="18" charset="0"/>
                                  </a:rPr>
                                  <m:t>1</m:t>
                                </m:r>
                              </m:e>
                              <m:e>
                                <m:r>
                                  <a:rPr lang="sr-Latn-RS" sz="2400" i="1">
                                    <a:latin typeface="Cambria Math" panose="02040503050406030204" pitchFamily="18" charset="0"/>
                                  </a:rPr>
                                  <m:t>0</m:t>
                                </m:r>
                              </m:e>
                              <m:e>
                                <m:r>
                                  <a:rPr lang="sr-Latn-RS" sz="2400" i="1">
                                    <a:latin typeface="Cambria Math" panose="02040503050406030204" pitchFamily="18" charset="0"/>
                                  </a:rPr>
                                  <m:t>0</m:t>
                                </m:r>
                              </m:e>
                            </m:mr>
                            <m:mr>
                              <m:e>
                                <m:r>
                                  <a:rPr lang="sr-Latn-RS" sz="2400" i="1">
                                    <a:latin typeface="Cambria Math" panose="02040503050406030204" pitchFamily="18" charset="0"/>
                                  </a:rPr>
                                  <m:t>0</m:t>
                                </m:r>
                              </m:e>
                              <m:e>
                                <m:r>
                                  <a:rPr lang="sr-Latn-RS" sz="2400" i="1">
                                    <a:latin typeface="Cambria Math" panose="02040503050406030204" pitchFamily="18" charset="0"/>
                                  </a:rPr>
                                  <m:t>0</m:t>
                                </m:r>
                              </m:e>
                              <m:e>
                                <m:sSup>
                                  <m:sSupPr>
                                    <m:ctrlPr>
                                      <a:rPr lang="en-ZA" sz="2400" i="1">
                                        <a:latin typeface="Cambria Math" panose="02040503050406030204" pitchFamily="18" charset="0"/>
                                      </a:rPr>
                                    </m:ctrlPr>
                                  </m:sSupPr>
                                  <m:e>
                                    <m:r>
                                      <a:rPr lang="sr-Latn-RS" sz="2400" i="1">
                                        <a:latin typeface="Cambria Math" panose="02040503050406030204" pitchFamily="18" charset="0"/>
                                      </a:rPr>
                                      <m:t>𝑒</m:t>
                                    </m:r>
                                  </m:e>
                                  <m:sup>
                                    <m:r>
                                      <a:rPr lang="sr-Latn-RS" sz="2400" i="1">
                                        <a:latin typeface="Cambria Math" panose="02040503050406030204" pitchFamily="18" charset="0"/>
                                      </a:rPr>
                                      <m:t>𝑖</m:t>
                                    </m:r>
                                    <m:r>
                                      <a:rPr lang="sr-Latn-RS" sz="2400" i="1">
                                        <a:latin typeface="Cambria Math" panose="02040503050406030204" pitchFamily="18" charset="0"/>
                                      </a:rPr>
                                      <m:t>𝛾</m:t>
                                    </m:r>
                                  </m:sup>
                                </m:sSup>
                                <m:func>
                                  <m:funcPr>
                                    <m:ctrlPr>
                                      <a:rPr lang="en-ZA" sz="2400" i="1">
                                        <a:latin typeface="Cambria Math" panose="02040503050406030204" pitchFamily="18" charset="0"/>
                                      </a:rPr>
                                    </m:ctrlPr>
                                  </m:funcPr>
                                  <m:fName>
                                    <m:r>
                                      <a:rPr lang="sr-Latn-RS" sz="2400" i="1">
                                        <a:latin typeface="Cambria Math" panose="02040503050406030204" pitchFamily="18" charset="0"/>
                                      </a:rPr>
                                      <m:t>𝑐𝑜𝑠</m:t>
                                    </m:r>
                                  </m:fName>
                                  <m:e>
                                    <m:f>
                                      <m:fPr>
                                        <m:ctrlPr>
                                          <a:rPr lang="en-ZA" sz="2400" i="1">
                                            <a:latin typeface="Cambria Math" panose="02040503050406030204" pitchFamily="18" charset="0"/>
                                          </a:rPr>
                                        </m:ctrlPr>
                                      </m:fPr>
                                      <m:num>
                                        <m:r>
                                          <a:rPr lang="sr-Latn-RS" sz="2400" i="1">
                                            <a:latin typeface="Cambria Math" panose="02040503050406030204" pitchFamily="18" charset="0"/>
                                          </a:rPr>
                                          <m:t>𝜃</m:t>
                                        </m:r>
                                      </m:num>
                                      <m:den>
                                        <m:r>
                                          <a:rPr lang="sr-Latn-RS" sz="2400" i="1">
                                            <a:latin typeface="Cambria Math" panose="02040503050406030204" pitchFamily="18" charset="0"/>
                                          </a:rPr>
                                          <m:t>2</m:t>
                                        </m:r>
                                      </m:den>
                                    </m:f>
                                  </m:e>
                                </m:func>
                              </m:e>
                              <m:e>
                                <m:sSup>
                                  <m:sSupPr>
                                    <m:ctrlPr>
                                      <a:rPr lang="en-ZA" sz="2400" i="1">
                                        <a:latin typeface="Cambria Math" panose="02040503050406030204" pitchFamily="18" charset="0"/>
                                      </a:rPr>
                                    </m:ctrlPr>
                                  </m:sSupPr>
                                  <m:e>
                                    <m:r>
                                      <a:rPr lang="sr-Latn-RS" sz="2400" i="1">
                                        <a:latin typeface="Cambria Math" panose="02040503050406030204" pitchFamily="18" charset="0"/>
                                      </a:rPr>
                                      <m:t>−</m:t>
                                    </m:r>
                                    <m:r>
                                      <a:rPr lang="sr-Latn-RS" sz="2400" i="1">
                                        <a:latin typeface="Cambria Math" panose="02040503050406030204" pitchFamily="18" charset="0"/>
                                      </a:rPr>
                                      <m:t>𝑒</m:t>
                                    </m:r>
                                  </m:e>
                                  <m:sup>
                                    <m:r>
                                      <a:rPr lang="sr-Latn-RS" sz="2400" i="1">
                                        <a:latin typeface="Cambria Math" panose="02040503050406030204" pitchFamily="18" charset="0"/>
                                      </a:rPr>
                                      <m:t>𝑖</m:t>
                                    </m:r>
                                    <m:r>
                                      <a:rPr lang="sr-Latn-RS" sz="2400" i="1">
                                        <a:latin typeface="Cambria Math" panose="02040503050406030204" pitchFamily="18" charset="0"/>
                                      </a:rPr>
                                      <m:t>(</m:t>
                                    </m:r>
                                    <m:r>
                                      <a:rPr lang="sr-Latn-RS" sz="2400" i="1">
                                        <a:latin typeface="Cambria Math" panose="02040503050406030204" pitchFamily="18" charset="0"/>
                                      </a:rPr>
                                      <m:t>𝛾</m:t>
                                    </m:r>
                                    <m:r>
                                      <a:rPr lang="sr-Latn-RS" sz="2400" i="1">
                                        <a:latin typeface="Cambria Math" panose="02040503050406030204" pitchFamily="18" charset="0"/>
                                      </a:rPr>
                                      <m:t>+</m:t>
                                    </m:r>
                                    <m:r>
                                      <a:rPr lang="sr-Latn-RS" sz="2400" i="1">
                                        <a:latin typeface="Cambria Math" panose="02040503050406030204" pitchFamily="18" charset="0"/>
                                      </a:rPr>
                                      <m:t>𝜆</m:t>
                                    </m:r>
                                    <m:r>
                                      <a:rPr lang="sr-Latn-RS" sz="2400" i="1">
                                        <a:latin typeface="Cambria Math" panose="02040503050406030204" pitchFamily="18" charset="0"/>
                                      </a:rPr>
                                      <m:t>)</m:t>
                                    </m:r>
                                  </m:sup>
                                </m:sSup>
                                <m:func>
                                  <m:funcPr>
                                    <m:ctrlPr>
                                      <a:rPr lang="en-ZA" sz="2400" i="1">
                                        <a:latin typeface="Cambria Math" panose="02040503050406030204" pitchFamily="18" charset="0"/>
                                      </a:rPr>
                                    </m:ctrlPr>
                                  </m:funcPr>
                                  <m:fName>
                                    <m:r>
                                      <a:rPr lang="sr-Latn-RS" sz="2400" i="1">
                                        <a:latin typeface="Cambria Math" panose="02040503050406030204" pitchFamily="18" charset="0"/>
                                      </a:rPr>
                                      <m:t>𝑠𝑖𝑛</m:t>
                                    </m:r>
                                  </m:fName>
                                  <m:e>
                                    <m:f>
                                      <m:fPr>
                                        <m:ctrlPr>
                                          <a:rPr lang="en-ZA" sz="2400" i="1">
                                            <a:latin typeface="Cambria Math" panose="02040503050406030204" pitchFamily="18" charset="0"/>
                                          </a:rPr>
                                        </m:ctrlPr>
                                      </m:fPr>
                                      <m:num>
                                        <m:r>
                                          <a:rPr lang="sr-Latn-RS" sz="2400" i="1">
                                            <a:latin typeface="Cambria Math" panose="02040503050406030204" pitchFamily="18" charset="0"/>
                                          </a:rPr>
                                          <m:t>𝜃</m:t>
                                        </m:r>
                                      </m:num>
                                      <m:den>
                                        <m:r>
                                          <a:rPr lang="sr-Latn-RS" sz="2400" i="1">
                                            <a:latin typeface="Cambria Math" panose="02040503050406030204" pitchFamily="18" charset="0"/>
                                          </a:rPr>
                                          <m:t>2</m:t>
                                        </m:r>
                                      </m:den>
                                    </m:f>
                                  </m:e>
                                </m:func>
                              </m:e>
                            </m:mr>
                            <m:mr>
                              <m:e>
                                <m:r>
                                  <a:rPr lang="sr-Latn-RS" sz="2400" i="1">
                                    <a:latin typeface="Cambria Math" panose="02040503050406030204" pitchFamily="18" charset="0"/>
                                  </a:rPr>
                                  <m:t>0</m:t>
                                </m:r>
                              </m:e>
                              <m:e>
                                <m:r>
                                  <a:rPr lang="sr-Latn-RS" sz="2400" i="1">
                                    <a:latin typeface="Cambria Math" panose="02040503050406030204" pitchFamily="18" charset="0"/>
                                  </a:rPr>
                                  <m:t>0</m:t>
                                </m:r>
                              </m:e>
                              <m:e>
                                <m:sSup>
                                  <m:sSupPr>
                                    <m:ctrlPr>
                                      <a:rPr lang="en-ZA" sz="2400" i="1">
                                        <a:latin typeface="Cambria Math" panose="02040503050406030204" pitchFamily="18" charset="0"/>
                                      </a:rPr>
                                    </m:ctrlPr>
                                  </m:sSupPr>
                                  <m:e>
                                    <m:r>
                                      <a:rPr lang="sr-Latn-RS" sz="2400" i="1">
                                        <a:latin typeface="Cambria Math" panose="02040503050406030204" pitchFamily="18" charset="0"/>
                                      </a:rPr>
                                      <m:t>𝑒</m:t>
                                    </m:r>
                                  </m:e>
                                  <m:sup>
                                    <m:r>
                                      <a:rPr lang="sr-Latn-RS" sz="2400" i="1">
                                        <a:latin typeface="Cambria Math" panose="02040503050406030204" pitchFamily="18" charset="0"/>
                                      </a:rPr>
                                      <m:t>𝑖</m:t>
                                    </m:r>
                                    <m:r>
                                      <a:rPr lang="sr-Latn-RS" sz="2400" i="1">
                                        <a:latin typeface="Cambria Math" panose="02040503050406030204" pitchFamily="18" charset="0"/>
                                      </a:rPr>
                                      <m:t>(</m:t>
                                    </m:r>
                                    <m:r>
                                      <a:rPr lang="sr-Latn-RS" sz="2400" i="1">
                                        <a:latin typeface="Cambria Math" panose="02040503050406030204" pitchFamily="18" charset="0"/>
                                      </a:rPr>
                                      <m:t>𝛾</m:t>
                                    </m:r>
                                    <m:r>
                                      <a:rPr lang="sr-Latn-RS" sz="2400" i="1">
                                        <a:latin typeface="Cambria Math" panose="02040503050406030204" pitchFamily="18" charset="0"/>
                                      </a:rPr>
                                      <m:t>+</m:t>
                                    </m:r>
                                    <m:r>
                                      <a:rPr lang="sr-Latn-RS" sz="2400" i="1">
                                        <a:latin typeface="Cambria Math" panose="02040503050406030204" pitchFamily="18" charset="0"/>
                                      </a:rPr>
                                      <m:t>𝜑</m:t>
                                    </m:r>
                                    <m:r>
                                      <a:rPr lang="sr-Latn-RS" sz="2400" i="1">
                                        <a:latin typeface="Cambria Math" panose="02040503050406030204" pitchFamily="18" charset="0"/>
                                      </a:rPr>
                                      <m:t>)</m:t>
                                    </m:r>
                                  </m:sup>
                                </m:sSup>
                                <m:func>
                                  <m:funcPr>
                                    <m:ctrlPr>
                                      <a:rPr lang="en-ZA" sz="2400" i="1">
                                        <a:latin typeface="Cambria Math" panose="02040503050406030204" pitchFamily="18" charset="0"/>
                                      </a:rPr>
                                    </m:ctrlPr>
                                  </m:funcPr>
                                  <m:fName>
                                    <m:r>
                                      <a:rPr lang="sr-Latn-RS" sz="2400" i="1">
                                        <a:latin typeface="Cambria Math" panose="02040503050406030204" pitchFamily="18" charset="0"/>
                                      </a:rPr>
                                      <m:t>𝑠𝑖𝑛</m:t>
                                    </m:r>
                                  </m:fName>
                                  <m:e>
                                    <m:f>
                                      <m:fPr>
                                        <m:ctrlPr>
                                          <a:rPr lang="en-ZA" sz="2400" i="1">
                                            <a:latin typeface="Cambria Math" panose="02040503050406030204" pitchFamily="18" charset="0"/>
                                          </a:rPr>
                                        </m:ctrlPr>
                                      </m:fPr>
                                      <m:num>
                                        <m:r>
                                          <a:rPr lang="sr-Latn-RS" sz="2400" i="1">
                                            <a:latin typeface="Cambria Math" panose="02040503050406030204" pitchFamily="18" charset="0"/>
                                          </a:rPr>
                                          <m:t>𝜃</m:t>
                                        </m:r>
                                      </m:num>
                                      <m:den>
                                        <m:r>
                                          <a:rPr lang="sr-Latn-RS" sz="2400" i="1">
                                            <a:latin typeface="Cambria Math" panose="02040503050406030204" pitchFamily="18" charset="0"/>
                                          </a:rPr>
                                          <m:t>2</m:t>
                                        </m:r>
                                      </m:den>
                                    </m:f>
                                  </m:e>
                                </m:func>
                              </m:e>
                              <m:e>
                                <m:sSup>
                                  <m:sSupPr>
                                    <m:ctrlPr>
                                      <a:rPr lang="en-ZA" sz="2400" i="1">
                                        <a:latin typeface="Cambria Math" panose="02040503050406030204" pitchFamily="18" charset="0"/>
                                      </a:rPr>
                                    </m:ctrlPr>
                                  </m:sSupPr>
                                  <m:e>
                                    <m:r>
                                      <a:rPr lang="sr-Latn-RS" sz="2400" i="1">
                                        <a:latin typeface="Cambria Math" panose="02040503050406030204" pitchFamily="18" charset="0"/>
                                      </a:rPr>
                                      <m:t>𝑒</m:t>
                                    </m:r>
                                  </m:e>
                                  <m:sup>
                                    <m:r>
                                      <a:rPr lang="sr-Latn-RS" sz="2400" i="1">
                                        <a:latin typeface="Cambria Math" panose="02040503050406030204" pitchFamily="18" charset="0"/>
                                      </a:rPr>
                                      <m:t>𝑖</m:t>
                                    </m:r>
                                    <m:r>
                                      <a:rPr lang="sr-Latn-RS" sz="2400" i="1">
                                        <a:latin typeface="Cambria Math" panose="02040503050406030204" pitchFamily="18" charset="0"/>
                                      </a:rPr>
                                      <m:t>(</m:t>
                                    </m:r>
                                    <m:r>
                                      <a:rPr lang="sr-Latn-RS" sz="2400" i="1">
                                        <a:latin typeface="Cambria Math" panose="02040503050406030204" pitchFamily="18" charset="0"/>
                                      </a:rPr>
                                      <m:t>𝛾</m:t>
                                    </m:r>
                                    <m:r>
                                      <a:rPr lang="sr-Latn-RS" sz="2400" i="1">
                                        <a:latin typeface="Cambria Math" panose="02040503050406030204" pitchFamily="18" charset="0"/>
                                      </a:rPr>
                                      <m:t>+</m:t>
                                    </m:r>
                                    <m:r>
                                      <a:rPr lang="sr-Latn-RS" sz="2400" i="1">
                                        <a:latin typeface="Cambria Math" panose="02040503050406030204" pitchFamily="18" charset="0"/>
                                      </a:rPr>
                                      <m:t>𝜑</m:t>
                                    </m:r>
                                    <m:r>
                                      <a:rPr lang="sr-Latn-RS" sz="2400" i="1">
                                        <a:latin typeface="Cambria Math" panose="02040503050406030204" pitchFamily="18" charset="0"/>
                                      </a:rPr>
                                      <m:t>+</m:t>
                                    </m:r>
                                    <m:r>
                                      <a:rPr lang="sr-Latn-RS" sz="2400" i="1">
                                        <a:latin typeface="Cambria Math" panose="02040503050406030204" pitchFamily="18" charset="0"/>
                                      </a:rPr>
                                      <m:t>𝜆</m:t>
                                    </m:r>
                                    <m:r>
                                      <a:rPr lang="sr-Latn-RS" sz="2400" i="1">
                                        <a:latin typeface="Cambria Math" panose="02040503050406030204" pitchFamily="18" charset="0"/>
                                      </a:rPr>
                                      <m:t>)</m:t>
                                    </m:r>
                                  </m:sup>
                                </m:sSup>
                                <m:func>
                                  <m:funcPr>
                                    <m:ctrlPr>
                                      <a:rPr lang="en-ZA" sz="2400" i="1">
                                        <a:latin typeface="Cambria Math" panose="02040503050406030204" pitchFamily="18" charset="0"/>
                                      </a:rPr>
                                    </m:ctrlPr>
                                  </m:funcPr>
                                  <m:fName>
                                    <m:r>
                                      <a:rPr lang="sr-Latn-RS" sz="2400" i="1">
                                        <a:latin typeface="Cambria Math" panose="02040503050406030204" pitchFamily="18" charset="0"/>
                                      </a:rPr>
                                      <m:t>𝑐𝑜𝑠</m:t>
                                    </m:r>
                                  </m:fName>
                                  <m:e>
                                    <m:f>
                                      <m:fPr>
                                        <m:ctrlPr>
                                          <a:rPr lang="en-ZA" sz="2400" i="1">
                                            <a:latin typeface="Cambria Math" panose="02040503050406030204" pitchFamily="18" charset="0"/>
                                          </a:rPr>
                                        </m:ctrlPr>
                                      </m:fPr>
                                      <m:num>
                                        <m:r>
                                          <a:rPr lang="sr-Latn-RS" sz="2400" i="1">
                                            <a:latin typeface="Cambria Math" panose="02040503050406030204" pitchFamily="18" charset="0"/>
                                          </a:rPr>
                                          <m:t>𝜃</m:t>
                                        </m:r>
                                      </m:num>
                                      <m:den>
                                        <m:r>
                                          <a:rPr lang="sr-Latn-RS" sz="2400" i="1">
                                            <a:latin typeface="Cambria Math" panose="02040503050406030204" pitchFamily="18" charset="0"/>
                                          </a:rPr>
                                          <m:t>2</m:t>
                                        </m:r>
                                      </m:den>
                                    </m:f>
                                  </m:e>
                                </m:func>
                              </m:e>
                            </m:mr>
                          </m:m>
                        </m:e>
                      </m:d>
                    </m:oMath>
                  </m:oMathPara>
                </a14:m>
                <a:endParaRPr lang="en-US" sz="2400" dirty="0">
                  <a:latin typeface="Cambria Math" panose="02040503050406030204" pitchFamily="18" charset="0"/>
                  <a:ea typeface="Cambria Math" panose="02040503050406030204" pitchFamily="18" charset="0"/>
                </a:endParaRPr>
              </a:p>
            </p:txBody>
          </p:sp>
        </mc:Choice>
        <mc:Fallback xmlns="">
          <p:sp>
            <p:nvSpPr>
              <p:cNvPr id="26" name="Rectangle 25">
                <a:extLst>
                  <a:ext uri="{FF2B5EF4-FFF2-40B4-BE49-F238E27FC236}">
                    <a16:creationId xmlns:a16="http://schemas.microsoft.com/office/drawing/2014/main" id="{CE57BBB8-E581-FE46-94A7-A7C965C7F037}"/>
                  </a:ext>
                </a:extLst>
              </p:cNvPr>
              <p:cNvSpPr>
                <a:spLocks noRot="1" noChangeAspect="1" noMove="1" noResize="1" noEditPoints="1" noAdjustHandles="1" noChangeArrowheads="1" noChangeShapeType="1" noTextEdit="1"/>
              </p:cNvSpPr>
              <p:nvPr/>
            </p:nvSpPr>
            <p:spPr>
              <a:xfrm>
                <a:off x="2740839" y="2771637"/>
                <a:ext cx="7609071" cy="2203424"/>
              </a:xfrm>
              <a:prstGeom prst="rect">
                <a:avLst/>
              </a:prstGeom>
              <a:blipFill>
                <a:blip r:embed="rId3"/>
                <a:stretch>
                  <a:fillRect b="-11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Rectangle 40">
                <a:extLst>
                  <a:ext uri="{FF2B5EF4-FFF2-40B4-BE49-F238E27FC236}">
                    <a16:creationId xmlns:a16="http://schemas.microsoft.com/office/drawing/2014/main" id="{5EFAA184-8217-6F46-A5FC-0E8F59D8CAF6}"/>
                  </a:ext>
                </a:extLst>
              </p:cNvPr>
              <p:cNvSpPr/>
              <p:nvPr/>
            </p:nvSpPr>
            <p:spPr>
              <a:xfrm>
                <a:off x="3512685" y="2059265"/>
                <a:ext cx="6065378" cy="46634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sr-Latn-RS" sz="2400" b="0" i="1">
                          <a:latin typeface="Cambria Math" panose="02040503050406030204" pitchFamily="18" charset="0"/>
                        </a:rPr>
                        <m:t>𝑐</m:t>
                      </m:r>
                      <m:r>
                        <a:rPr lang="sr-Latn-RS" sz="2400" i="1">
                          <a:latin typeface="Cambria Math" panose="02040503050406030204" pitchFamily="18" charset="0"/>
                        </a:rPr>
                        <m:t>𝑈</m:t>
                      </m:r>
                      <m:r>
                        <a:rPr lang="sr-Latn-RS" sz="2400" i="1">
                          <a:latin typeface="Cambria Math" panose="02040503050406030204" pitchFamily="18" charset="0"/>
                        </a:rPr>
                        <m:t>(</m:t>
                      </m:r>
                      <m:r>
                        <a:rPr lang="sr-Latn-RS" sz="2400" i="1">
                          <a:latin typeface="Cambria Math" panose="02040503050406030204" pitchFamily="18" charset="0"/>
                        </a:rPr>
                        <m:t>𝜃</m:t>
                      </m:r>
                      <m:r>
                        <a:rPr lang="sr-Latn-RS" sz="2400" i="1">
                          <a:latin typeface="Cambria Math" panose="02040503050406030204" pitchFamily="18" charset="0"/>
                        </a:rPr>
                        <m:t>,</m:t>
                      </m:r>
                      <m:r>
                        <a:rPr lang="sr-Latn-RS" sz="2400" i="1">
                          <a:latin typeface="Cambria Math" panose="02040503050406030204" pitchFamily="18" charset="0"/>
                        </a:rPr>
                        <m:t>𝜑</m:t>
                      </m:r>
                      <m:r>
                        <a:rPr lang="sr-Latn-RS" sz="2400" i="1">
                          <a:latin typeface="Cambria Math" panose="02040503050406030204" pitchFamily="18" charset="0"/>
                        </a:rPr>
                        <m:t>,</m:t>
                      </m:r>
                      <m:r>
                        <a:rPr lang="sr-Latn-RS" sz="2400" i="1">
                          <a:latin typeface="Cambria Math" panose="02040503050406030204" pitchFamily="18" charset="0"/>
                        </a:rPr>
                        <m:t>𝜆</m:t>
                      </m:r>
                      <m:r>
                        <a:rPr lang="sr-Latn-RS" sz="2400" i="1">
                          <a:latin typeface="Cambria Math" panose="02040503050406030204" pitchFamily="18" charset="0"/>
                        </a:rPr>
                        <m:t>,</m:t>
                      </m:r>
                      <m:r>
                        <a:rPr lang="sr-Latn-RS" sz="2400" i="1">
                          <a:latin typeface="Cambria Math" panose="02040503050406030204" pitchFamily="18" charset="0"/>
                        </a:rPr>
                        <m:t>𝛾</m:t>
                      </m:r>
                      <m:r>
                        <a:rPr lang="sr-Latn-RS" sz="2400" i="1">
                          <a:latin typeface="Cambria Math" panose="02040503050406030204" pitchFamily="18" charset="0"/>
                        </a:rPr>
                        <m:t>)</m:t>
                      </m:r>
                      <m:d>
                        <m:dPr>
                          <m:begChr m:val="|"/>
                          <m:endChr m:val="⟩"/>
                          <m:ctrlPr>
                            <a:rPr lang="en-ZA" sz="2400" i="1">
                              <a:latin typeface="Cambria Math" panose="02040503050406030204" pitchFamily="18" charset="0"/>
                            </a:rPr>
                          </m:ctrlPr>
                        </m:dPr>
                        <m:e>
                          <m:r>
                            <a:rPr lang="en-US" sz="2400" i="1">
                              <a:latin typeface="Cambria Math" panose="02040503050406030204" pitchFamily="18" charset="0"/>
                            </a:rPr>
                            <m:t>0</m:t>
                          </m:r>
                        </m:e>
                      </m:d>
                      <m:box>
                        <m:boxPr>
                          <m:ctrlPr>
                            <a:rPr lang="en-ZA" sz="2400" i="1">
                              <a:latin typeface="Cambria Math" panose="02040503050406030204" pitchFamily="18" charset="0"/>
                            </a:rPr>
                          </m:ctrlPr>
                        </m:boxPr>
                        <m:e>
                          <m:d>
                            <m:dPr>
                              <m:begChr m:val="⟨"/>
                              <m:endChr m:val="|"/>
                              <m:ctrlPr>
                                <a:rPr lang="en-ZA" sz="2400" i="1">
                                  <a:latin typeface="Cambria Math" panose="02040503050406030204" pitchFamily="18" charset="0"/>
                                </a:rPr>
                              </m:ctrlPr>
                            </m:dPr>
                            <m:e>
                              <m:r>
                                <a:rPr lang="en-US" sz="2400" i="1">
                                  <a:latin typeface="Cambria Math" panose="02040503050406030204" pitchFamily="18" charset="0"/>
                                </a:rPr>
                                <m:t>0</m:t>
                              </m:r>
                            </m:e>
                          </m:d>
                          <m:r>
                            <a:rPr lang="en-US" sz="2400" i="1">
                              <a:latin typeface="Cambria Math" panose="02040503050406030204" pitchFamily="18" charset="0"/>
                            </a:rPr>
                            <m:t>⨂</m:t>
                          </m:r>
                          <m:r>
                            <a:rPr lang="en-US" sz="2400" i="1">
                              <a:latin typeface="Cambria Math" panose="02040503050406030204" pitchFamily="18" charset="0"/>
                            </a:rPr>
                            <m:t>𝐼</m:t>
                          </m:r>
                          <m:r>
                            <a:rPr lang="en-US" sz="2400" i="1">
                              <a:latin typeface="Cambria Math" panose="02040503050406030204" pitchFamily="18" charset="0"/>
                            </a:rPr>
                            <m:t>+</m:t>
                          </m:r>
                        </m:e>
                      </m:box>
                      <m:sSup>
                        <m:sSupPr>
                          <m:ctrlPr>
                            <a:rPr lang="en-ZA" sz="2400" i="1">
                              <a:latin typeface="Cambria Math" panose="02040503050406030204" pitchFamily="18" charset="0"/>
                            </a:rPr>
                          </m:ctrlPr>
                        </m:sSupPr>
                        <m:e>
                          <m:r>
                            <a:rPr lang="sr-Latn-RS" sz="2400" i="1">
                              <a:latin typeface="Cambria Math" panose="02040503050406030204" pitchFamily="18" charset="0"/>
                            </a:rPr>
                            <m:t>𝑒</m:t>
                          </m:r>
                        </m:e>
                        <m:sup>
                          <m:r>
                            <a:rPr lang="sr-Latn-RS" sz="2400" i="1">
                              <a:latin typeface="Cambria Math" panose="02040503050406030204" pitchFamily="18" charset="0"/>
                            </a:rPr>
                            <m:t>𝑖</m:t>
                          </m:r>
                          <m:r>
                            <a:rPr lang="sr-Latn-RS" sz="2400" i="1">
                              <a:latin typeface="Cambria Math" panose="02040503050406030204" pitchFamily="18" charset="0"/>
                            </a:rPr>
                            <m:t>𝛾</m:t>
                          </m:r>
                        </m:sup>
                      </m:sSup>
                      <m:d>
                        <m:dPr>
                          <m:begChr m:val="|"/>
                          <m:endChr m:val="⟩"/>
                          <m:ctrlPr>
                            <a:rPr lang="en-ZA" sz="2400" i="1">
                              <a:latin typeface="Cambria Math" panose="02040503050406030204" pitchFamily="18" charset="0"/>
                            </a:rPr>
                          </m:ctrlPr>
                        </m:dPr>
                        <m:e>
                          <m:r>
                            <a:rPr lang="en-US" sz="2400" i="1">
                              <a:latin typeface="Cambria Math" panose="02040503050406030204" pitchFamily="18" charset="0"/>
                            </a:rPr>
                            <m:t>1</m:t>
                          </m:r>
                        </m:e>
                      </m:d>
                      <m:box>
                        <m:boxPr>
                          <m:ctrlPr>
                            <a:rPr lang="en-ZA" sz="2400" i="1">
                              <a:latin typeface="Cambria Math" panose="02040503050406030204" pitchFamily="18" charset="0"/>
                            </a:rPr>
                          </m:ctrlPr>
                        </m:boxPr>
                        <m:e>
                          <m:d>
                            <m:dPr>
                              <m:begChr m:val="⟨"/>
                              <m:endChr m:val="|"/>
                              <m:ctrlPr>
                                <a:rPr lang="en-ZA" sz="2400" i="1">
                                  <a:latin typeface="Cambria Math" panose="02040503050406030204" pitchFamily="18" charset="0"/>
                                </a:rPr>
                              </m:ctrlPr>
                            </m:dPr>
                            <m:e>
                              <m:r>
                                <a:rPr lang="en-US" sz="2400" i="1">
                                  <a:latin typeface="Cambria Math" panose="02040503050406030204" pitchFamily="18" charset="0"/>
                                </a:rPr>
                                <m:t>1</m:t>
                              </m:r>
                            </m:e>
                          </m:d>
                          <m:r>
                            <a:rPr lang="en-US" sz="2400" i="1">
                              <a:latin typeface="Cambria Math" panose="02040503050406030204" pitchFamily="18" charset="0"/>
                            </a:rPr>
                            <m:t>⨂</m:t>
                          </m:r>
                          <m:r>
                            <a:rPr lang="en-US" sz="2400" i="1">
                              <a:latin typeface="Cambria Math" panose="02040503050406030204" pitchFamily="18" charset="0"/>
                            </a:rPr>
                            <m:t>𝑈</m:t>
                          </m:r>
                          <m:r>
                            <a:rPr lang="en-US" sz="2400" i="1">
                              <a:latin typeface="Cambria Math" panose="02040503050406030204" pitchFamily="18" charset="0"/>
                            </a:rPr>
                            <m:t>(</m:t>
                          </m:r>
                          <m:r>
                            <a:rPr lang="sr-Latn-RS" sz="2400" i="1">
                              <a:latin typeface="Cambria Math" panose="02040503050406030204" pitchFamily="18" charset="0"/>
                            </a:rPr>
                            <m:t>𝜃</m:t>
                          </m:r>
                          <m:r>
                            <a:rPr lang="sr-Latn-RS" sz="2400" i="1">
                              <a:latin typeface="Cambria Math" panose="02040503050406030204" pitchFamily="18" charset="0"/>
                            </a:rPr>
                            <m:t>,</m:t>
                          </m:r>
                          <m:r>
                            <a:rPr lang="sr-Latn-RS" sz="2400" i="1">
                              <a:latin typeface="Cambria Math" panose="02040503050406030204" pitchFamily="18" charset="0"/>
                            </a:rPr>
                            <m:t>𝜑</m:t>
                          </m:r>
                          <m:r>
                            <a:rPr lang="sr-Latn-RS" sz="2400" i="1">
                              <a:latin typeface="Cambria Math" panose="02040503050406030204" pitchFamily="18" charset="0"/>
                            </a:rPr>
                            <m:t>,</m:t>
                          </m:r>
                          <m:r>
                            <a:rPr lang="sr-Latn-RS" sz="2400" i="1">
                              <a:latin typeface="Cambria Math" panose="02040503050406030204" pitchFamily="18" charset="0"/>
                            </a:rPr>
                            <m:t>𝜆</m:t>
                          </m:r>
                          <m:r>
                            <a:rPr lang="en-US" sz="2400" i="1">
                              <a:latin typeface="Cambria Math" panose="02040503050406030204" pitchFamily="18" charset="0"/>
                            </a:rPr>
                            <m:t>)</m:t>
                          </m:r>
                        </m:e>
                      </m:box>
                    </m:oMath>
                  </m:oMathPara>
                </a14:m>
                <a:endParaRPr lang="en-US" sz="2400" dirty="0">
                  <a:latin typeface="Cambria Math" panose="02040503050406030204" pitchFamily="18" charset="0"/>
                  <a:ea typeface="Cambria Math" panose="02040503050406030204" pitchFamily="18" charset="0"/>
                </a:endParaRPr>
              </a:p>
            </p:txBody>
          </p:sp>
        </mc:Choice>
        <mc:Fallback xmlns="">
          <p:sp>
            <p:nvSpPr>
              <p:cNvPr id="41" name="Rectangle 40">
                <a:extLst>
                  <a:ext uri="{FF2B5EF4-FFF2-40B4-BE49-F238E27FC236}">
                    <a16:creationId xmlns:a16="http://schemas.microsoft.com/office/drawing/2014/main" id="{5EFAA184-8217-6F46-A5FC-0E8F59D8CAF6}"/>
                  </a:ext>
                </a:extLst>
              </p:cNvPr>
              <p:cNvSpPr>
                <a:spLocks noRot="1" noChangeAspect="1" noMove="1" noResize="1" noEditPoints="1" noAdjustHandles="1" noChangeArrowheads="1" noChangeShapeType="1" noTextEdit="1"/>
              </p:cNvSpPr>
              <p:nvPr/>
            </p:nvSpPr>
            <p:spPr>
              <a:xfrm>
                <a:off x="3512685" y="2059265"/>
                <a:ext cx="6065378" cy="466346"/>
              </a:xfrm>
              <a:prstGeom prst="rect">
                <a:avLst/>
              </a:prstGeom>
              <a:blipFill>
                <a:blip r:embed="rId4"/>
                <a:stretch>
                  <a:fillRect b="-13158"/>
                </a:stretch>
              </a:blipFill>
            </p:spPr>
            <p:txBody>
              <a:bodyPr/>
              <a:lstStyle/>
              <a:p>
                <a:r>
                  <a:rPr lang="en-US">
                    <a:noFill/>
                  </a:rPr>
                  <a:t> </a:t>
                </a:r>
              </a:p>
            </p:txBody>
          </p:sp>
        </mc:Fallback>
      </mc:AlternateContent>
      <p:cxnSp>
        <p:nvCxnSpPr>
          <p:cNvPr id="27" name="Straight Connector 26">
            <a:extLst>
              <a:ext uri="{FF2B5EF4-FFF2-40B4-BE49-F238E27FC236}">
                <a16:creationId xmlns:a16="http://schemas.microsoft.com/office/drawing/2014/main" id="{E6707F01-24FB-D74C-9AB8-4DE675FD574C}"/>
              </a:ext>
            </a:extLst>
          </p:cNvPr>
          <p:cNvCxnSpPr>
            <a:cxnSpLocks/>
          </p:cNvCxnSpPr>
          <p:nvPr/>
        </p:nvCxnSpPr>
        <p:spPr>
          <a:xfrm>
            <a:off x="224852" y="5153482"/>
            <a:ext cx="11679658" cy="0"/>
          </a:xfrm>
          <a:prstGeom prst="line">
            <a:avLst/>
          </a:prstGeom>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68EBC654-77F2-714A-804B-5D1AE04F2195}"/>
              </a:ext>
            </a:extLst>
          </p:cNvPr>
          <p:cNvSpPr txBox="1"/>
          <p:nvPr/>
        </p:nvSpPr>
        <p:spPr>
          <a:xfrm>
            <a:off x="526649" y="5582849"/>
            <a:ext cx="962123" cy="461665"/>
          </a:xfrm>
          <a:prstGeom prst="rect">
            <a:avLst/>
          </a:prstGeom>
          <a:noFill/>
        </p:spPr>
        <p:txBody>
          <a:bodyPr wrap="none" rtlCol="0">
            <a:spAutoFit/>
          </a:bodyPr>
          <a:lstStyle/>
          <a:p>
            <a:r>
              <a:rPr lang="en-US" sz="2400" dirty="0">
                <a:latin typeface="+mj-lt"/>
              </a:rPr>
              <a:t>QASM</a:t>
            </a:r>
          </a:p>
        </p:txBody>
      </p:sp>
      <p:sp>
        <p:nvSpPr>
          <p:cNvPr id="17" name="TextBox 16">
            <a:extLst>
              <a:ext uri="{FF2B5EF4-FFF2-40B4-BE49-F238E27FC236}">
                <a16:creationId xmlns:a16="http://schemas.microsoft.com/office/drawing/2014/main" id="{A4A60184-5CB6-B049-9349-F761BB4E83FC}"/>
              </a:ext>
            </a:extLst>
          </p:cNvPr>
          <p:cNvSpPr txBox="1"/>
          <p:nvPr/>
        </p:nvSpPr>
        <p:spPr>
          <a:xfrm>
            <a:off x="328498" y="1324045"/>
            <a:ext cx="1065100" cy="461665"/>
          </a:xfrm>
          <a:prstGeom prst="rect">
            <a:avLst/>
          </a:prstGeom>
          <a:noFill/>
        </p:spPr>
        <p:txBody>
          <a:bodyPr wrap="none" rtlCol="0">
            <a:spAutoFit/>
          </a:bodyPr>
          <a:lstStyle/>
          <a:p>
            <a:r>
              <a:rPr lang="en-US" sz="2400" dirty="0">
                <a:latin typeface="+mj-lt"/>
              </a:rPr>
              <a:t>symbol</a:t>
            </a:r>
          </a:p>
        </p:txBody>
      </p:sp>
      <p:sp>
        <p:nvSpPr>
          <p:cNvPr id="19" name="TextBox 18">
            <a:extLst>
              <a:ext uri="{FF2B5EF4-FFF2-40B4-BE49-F238E27FC236}">
                <a16:creationId xmlns:a16="http://schemas.microsoft.com/office/drawing/2014/main" id="{E98B988A-5197-1448-9964-40EBF43F11DC}"/>
              </a:ext>
            </a:extLst>
          </p:cNvPr>
          <p:cNvSpPr txBox="1"/>
          <p:nvPr/>
        </p:nvSpPr>
        <p:spPr>
          <a:xfrm>
            <a:off x="6019627" y="1324045"/>
            <a:ext cx="1568186" cy="461665"/>
          </a:xfrm>
          <a:prstGeom prst="rect">
            <a:avLst/>
          </a:prstGeom>
          <a:noFill/>
        </p:spPr>
        <p:txBody>
          <a:bodyPr wrap="none" rtlCol="0">
            <a:spAutoFit/>
          </a:bodyPr>
          <a:lstStyle/>
          <a:p>
            <a:r>
              <a:rPr lang="en-US" sz="2400" dirty="0">
                <a:latin typeface="+mj-lt"/>
              </a:rPr>
              <a:t>description</a:t>
            </a:r>
          </a:p>
        </p:txBody>
      </p:sp>
      <p:grpSp>
        <p:nvGrpSpPr>
          <p:cNvPr id="15" name="Group 14">
            <a:extLst>
              <a:ext uri="{FF2B5EF4-FFF2-40B4-BE49-F238E27FC236}">
                <a16:creationId xmlns:a16="http://schemas.microsoft.com/office/drawing/2014/main" id="{33A72A77-8ABB-834A-A2BB-BD4F5FF2F745}"/>
              </a:ext>
            </a:extLst>
          </p:cNvPr>
          <p:cNvGrpSpPr/>
          <p:nvPr/>
        </p:nvGrpSpPr>
        <p:grpSpPr>
          <a:xfrm>
            <a:off x="261736" y="2572200"/>
            <a:ext cx="1392324" cy="1520392"/>
            <a:chOff x="211654" y="4659673"/>
            <a:chExt cx="1392324" cy="1520392"/>
          </a:xfrm>
        </p:grpSpPr>
        <p:cxnSp>
          <p:nvCxnSpPr>
            <p:cNvPr id="18" name="Straight Connector 17">
              <a:extLst>
                <a:ext uri="{FF2B5EF4-FFF2-40B4-BE49-F238E27FC236}">
                  <a16:creationId xmlns:a16="http://schemas.microsoft.com/office/drawing/2014/main" id="{1834959A-E374-6A4B-A17B-FAE8C1E40AD7}"/>
                </a:ext>
              </a:extLst>
            </p:cNvPr>
            <p:cNvCxnSpPr>
              <a:cxnSpLocks/>
            </p:cNvCxnSpPr>
            <p:nvPr/>
          </p:nvCxnSpPr>
          <p:spPr>
            <a:xfrm>
              <a:off x="405644" y="5910065"/>
              <a:ext cx="116559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Oval 19">
              <a:extLst>
                <a:ext uri="{FF2B5EF4-FFF2-40B4-BE49-F238E27FC236}">
                  <a16:creationId xmlns:a16="http://schemas.microsoft.com/office/drawing/2014/main" id="{19672538-21BD-584B-95CF-7FB5C25D8BCF}"/>
                </a:ext>
              </a:extLst>
            </p:cNvPr>
            <p:cNvSpPr/>
            <p:nvPr/>
          </p:nvSpPr>
          <p:spPr>
            <a:xfrm>
              <a:off x="902188" y="4966664"/>
              <a:ext cx="180000" cy="180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cxnSp>
          <p:nvCxnSpPr>
            <p:cNvPr id="21" name="Straight Connector 20">
              <a:extLst>
                <a:ext uri="{FF2B5EF4-FFF2-40B4-BE49-F238E27FC236}">
                  <a16:creationId xmlns:a16="http://schemas.microsoft.com/office/drawing/2014/main" id="{742660BC-8970-D04F-9A70-008060E71647}"/>
                </a:ext>
              </a:extLst>
            </p:cNvPr>
            <p:cNvCxnSpPr>
              <a:cxnSpLocks/>
              <a:stCxn id="20" idx="4"/>
            </p:cNvCxnSpPr>
            <p:nvPr/>
          </p:nvCxnSpPr>
          <p:spPr>
            <a:xfrm>
              <a:off x="992188" y="5146664"/>
              <a:ext cx="0" cy="57572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99AB62D4-0EDE-774E-8623-8AA48627B7A4}"/>
                </a:ext>
              </a:extLst>
            </p:cNvPr>
            <p:cNvCxnSpPr>
              <a:cxnSpLocks/>
            </p:cNvCxnSpPr>
            <p:nvPr/>
          </p:nvCxnSpPr>
          <p:spPr>
            <a:xfrm>
              <a:off x="438388" y="5065285"/>
              <a:ext cx="116559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 name="Rectangle 22">
                  <a:extLst>
                    <a:ext uri="{FF2B5EF4-FFF2-40B4-BE49-F238E27FC236}">
                      <a16:creationId xmlns:a16="http://schemas.microsoft.com/office/drawing/2014/main" id="{D8C1410A-A958-E04C-B8C7-D6DE2837D2AC}"/>
                    </a:ext>
                  </a:extLst>
                </p:cNvPr>
                <p:cNvSpPr/>
                <p:nvPr/>
              </p:nvSpPr>
              <p:spPr>
                <a:xfrm>
                  <a:off x="211654" y="5481147"/>
                  <a:ext cx="382925"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𝑡</m:t>
                        </m:r>
                      </m:oMath>
                    </m:oMathPara>
                  </a14:m>
                  <a:endParaRPr lang="en-US" sz="2400" dirty="0"/>
                </a:p>
              </p:txBody>
            </p:sp>
          </mc:Choice>
          <mc:Fallback xmlns="">
            <p:sp>
              <p:nvSpPr>
                <p:cNvPr id="68" name="Rectangle 67">
                  <a:extLst>
                    <a:ext uri="{FF2B5EF4-FFF2-40B4-BE49-F238E27FC236}">
                      <a16:creationId xmlns:a16="http://schemas.microsoft.com/office/drawing/2014/main" id="{FCF017B6-4B4B-9648-87A7-1E0F029EAF36}"/>
                    </a:ext>
                  </a:extLst>
                </p:cNvPr>
                <p:cNvSpPr>
                  <a:spLocks noRot="1" noChangeAspect="1" noMove="1" noResize="1" noEditPoints="1" noAdjustHandles="1" noChangeArrowheads="1" noChangeShapeType="1" noTextEdit="1"/>
                </p:cNvSpPr>
                <p:nvPr/>
              </p:nvSpPr>
              <p:spPr>
                <a:xfrm>
                  <a:off x="211654" y="5481147"/>
                  <a:ext cx="382925" cy="461665"/>
                </a:xfrm>
                <a:prstGeom prst="rect">
                  <a:avLst/>
                </a:prstGeom>
                <a:blipFill>
                  <a:blip r:embed="rId9"/>
                  <a:stretch>
                    <a:fillRect/>
                  </a:stretch>
                </a:blipFill>
              </p:spPr>
              <p:txBody>
                <a:bodyPr/>
                <a:lstStyle/>
                <a:p>
                  <a:r>
                    <a:rPr lang="en-US">
                      <a:noFill/>
                    </a:rPr>
                    <a:t> </a:t>
                  </a:r>
                </a:p>
              </p:txBody>
            </p:sp>
          </mc:Fallback>
        </mc:AlternateContent>
        <p:sp>
          <p:nvSpPr>
            <p:cNvPr id="24" name="Rectangle 23">
              <a:extLst>
                <a:ext uri="{FF2B5EF4-FFF2-40B4-BE49-F238E27FC236}">
                  <a16:creationId xmlns:a16="http://schemas.microsoft.com/office/drawing/2014/main" id="{03FE5542-9A0F-994B-9CE8-166B805FDACD}"/>
                </a:ext>
              </a:extLst>
            </p:cNvPr>
            <p:cNvSpPr>
              <a:spLocks/>
            </p:cNvSpPr>
            <p:nvPr/>
          </p:nvSpPr>
          <p:spPr>
            <a:xfrm>
              <a:off x="718439" y="5640065"/>
              <a:ext cx="540000" cy="540000"/>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Times" pitchFamily="2" charset="0"/>
                </a:rPr>
                <a:t>U</a:t>
              </a:r>
            </a:p>
          </p:txBody>
        </p:sp>
        <mc:AlternateContent xmlns:mc="http://schemas.openxmlformats.org/markup-compatibility/2006" xmlns:a14="http://schemas.microsoft.com/office/drawing/2010/main">
          <mc:Choice Requires="a14">
            <p:sp>
              <p:nvSpPr>
                <p:cNvPr id="25" name="Rectangle 24">
                  <a:extLst>
                    <a:ext uri="{FF2B5EF4-FFF2-40B4-BE49-F238E27FC236}">
                      <a16:creationId xmlns:a16="http://schemas.microsoft.com/office/drawing/2014/main" id="{FBA5CCA4-B80F-244E-A0B4-05198CAD68F9}"/>
                    </a:ext>
                  </a:extLst>
                </p:cNvPr>
                <p:cNvSpPr/>
                <p:nvPr/>
              </p:nvSpPr>
              <p:spPr>
                <a:xfrm>
                  <a:off x="237304" y="4659673"/>
                  <a:ext cx="404405"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𝑐</m:t>
                        </m:r>
                      </m:oMath>
                    </m:oMathPara>
                  </a14:m>
                  <a:endParaRPr lang="en-US" sz="2400" dirty="0"/>
                </a:p>
              </p:txBody>
            </p:sp>
          </mc:Choice>
          <mc:Fallback xmlns="">
            <p:sp>
              <p:nvSpPr>
                <p:cNvPr id="70" name="Rectangle 69">
                  <a:extLst>
                    <a:ext uri="{FF2B5EF4-FFF2-40B4-BE49-F238E27FC236}">
                      <a16:creationId xmlns:a16="http://schemas.microsoft.com/office/drawing/2014/main" id="{C6F87BC6-CA1C-E54A-BDF7-6641E4E3514A}"/>
                    </a:ext>
                  </a:extLst>
                </p:cNvPr>
                <p:cNvSpPr>
                  <a:spLocks noRot="1" noChangeAspect="1" noMove="1" noResize="1" noEditPoints="1" noAdjustHandles="1" noChangeArrowheads="1" noChangeShapeType="1" noTextEdit="1"/>
                </p:cNvSpPr>
                <p:nvPr/>
              </p:nvSpPr>
              <p:spPr>
                <a:xfrm>
                  <a:off x="237304" y="4659673"/>
                  <a:ext cx="404405" cy="461665"/>
                </a:xfrm>
                <a:prstGeom prst="rect">
                  <a:avLst/>
                </a:prstGeom>
                <a:blipFill>
                  <a:blip r:embed="rId10"/>
                  <a:stretch>
                    <a:fillRect/>
                  </a:stretch>
                </a:blipFill>
              </p:spPr>
              <p:txBody>
                <a:bodyPr/>
                <a:lstStyle/>
                <a:p>
                  <a:r>
                    <a:rPr lang="en-US">
                      <a:noFill/>
                    </a:rPr>
                    <a:t> </a:t>
                  </a:r>
                </a:p>
              </p:txBody>
            </p:sp>
          </mc:Fallback>
        </mc:AlternateContent>
      </p:grpSp>
    </p:spTree>
    <p:extLst>
      <p:ext uri="{BB962C8B-B14F-4D97-AF65-F5344CB8AC3E}">
        <p14:creationId xmlns:p14="http://schemas.microsoft.com/office/powerpoint/2010/main" val="63278301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38246BC-9083-894C-8F35-F8DB900C5A4D}"/>
              </a:ext>
            </a:extLst>
          </p:cNvPr>
          <p:cNvPicPr>
            <a:picLocks noChangeAspect="1"/>
          </p:cNvPicPr>
          <p:nvPr/>
        </p:nvPicPr>
        <p:blipFill>
          <a:blip r:embed="rId3"/>
          <a:stretch>
            <a:fillRect/>
          </a:stretch>
        </p:blipFill>
        <p:spPr>
          <a:xfrm>
            <a:off x="7924037" y="311068"/>
            <a:ext cx="3941560" cy="4819732"/>
          </a:xfrm>
          <a:prstGeom prst="rect">
            <a:avLst/>
          </a:prstGeom>
        </p:spPr>
      </p:pic>
      <p:pic>
        <p:nvPicPr>
          <p:cNvPr id="3" name="Picture 2">
            <a:extLst>
              <a:ext uri="{FF2B5EF4-FFF2-40B4-BE49-F238E27FC236}">
                <a16:creationId xmlns:a16="http://schemas.microsoft.com/office/drawing/2014/main" id="{0B5EB72E-3B37-6E48-A809-D9D04C0CDEA7}"/>
              </a:ext>
            </a:extLst>
          </p:cNvPr>
          <p:cNvPicPr>
            <a:picLocks noChangeAspect="1"/>
          </p:cNvPicPr>
          <p:nvPr/>
        </p:nvPicPr>
        <p:blipFill>
          <a:blip r:embed="rId3"/>
          <a:stretch>
            <a:fillRect/>
          </a:stretch>
        </p:blipFill>
        <p:spPr>
          <a:xfrm>
            <a:off x="6879594" y="1241842"/>
            <a:ext cx="3941560" cy="4819732"/>
          </a:xfrm>
          <a:prstGeom prst="rect">
            <a:avLst/>
          </a:prstGeom>
        </p:spPr>
      </p:pic>
      <p:sp>
        <p:nvSpPr>
          <p:cNvPr id="9" name="TextBox 8">
            <a:extLst>
              <a:ext uri="{FF2B5EF4-FFF2-40B4-BE49-F238E27FC236}">
                <a16:creationId xmlns:a16="http://schemas.microsoft.com/office/drawing/2014/main" id="{CF4CE3D8-49BE-B84E-A6ED-8813EA0E5C13}"/>
              </a:ext>
            </a:extLst>
          </p:cNvPr>
          <p:cNvSpPr txBox="1"/>
          <p:nvPr/>
        </p:nvSpPr>
        <p:spPr>
          <a:xfrm>
            <a:off x="1091791" y="1174668"/>
            <a:ext cx="4536819" cy="707886"/>
          </a:xfrm>
          <a:prstGeom prst="rect">
            <a:avLst/>
          </a:prstGeom>
          <a:noFill/>
        </p:spPr>
        <p:txBody>
          <a:bodyPr wrap="none" rtlCol="0">
            <a:spAutoFit/>
          </a:bodyPr>
          <a:lstStyle/>
          <a:p>
            <a:pPr algn="ctr"/>
            <a:r>
              <a:rPr lang="en-US" sz="4000" dirty="0">
                <a:latin typeface="Comic Sans MS" panose="030F0902030302020204" pitchFamily="66" charset="0"/>
              </a:rPr>
              <a:t>Three-qubit gates</a:t>
            </a:r>
          </a:p>
        </p:txBody>
      </p:sp>
      <p:pic>
        <p:nvPicPr>
          <p:cNvPr id="6" name="Picture 5">
            <a:extLst>
              <a:ext uri="{FF2B5EF4-FFF2-40B4-BE49-F238E27FC236}">
                <a16:creationId xmlns:a16="http://schemas.microsoft.com/office/drawing/2014/main" id="{21A45C65-34CF-1242-9004-B98C97525EB1}"/>
              </a:ext>
            </a:extLst>
          </p:cNvPr>
          <p:cNvPicPr>
            <a:picLocks noChangeAspect="1"/>
          </p:cNvPicPr>
          <p:nvPr/>
        </p:nvPicPr>
        <p:blipFill>
          <a:blip r:embed="rId4"/>
          <a:stretch>
            <a:fillRect/>
          </a:stretch>
        </p:blipFill>
        <p:spPr>
          <a:xfrm>
            <a:off x="5788522" y="2037270"/>
            <a:ext cx="3939699" cy="4820730"/>
          </a:xfrm>
          <a:prstGeom prst="rect">
            <a:avLst/>
          </a:prstGeom>
        </p:spPr>
      </p:pic>
      <p:pic>
        <p:nvPicPr>
          <p:cNvPr id="8" name="Picture 7">
            <a:extLst>
              <a:ext uri="{FF2B5EF4-FFF2-40B4-BE49-F238E27FC236}">
                <a16:creationId xmlns:a16="http://schemas.microsoft.com/office/drawing/2014/main" id="{6522B5AC-18A5-A446-AEED-02E7DD63A028}"/>
              </a:ext>
            </a:extLst>
          </p:cNvPr>
          <p:cNvPicPr>
            <a:picLocks noChangeAspect="1"/>
          </p:cNvPicPr>
          <p:nvPr/>
        </p:nvPicPr>
        <p:blipFill>
          <a:blip r:embed="rId5"/>
          <a:stretch>
            <a:fillRect/>
          </a:stretch>
        </p:blipFill>
        <p:spPr>
          <a:xfrm flipH="1">
            <a:off x="4346676" y="3995583"/>
            <a:ext cx="2883692" cy="2497292"/>
          </a:xfrm>
          <a:prstGeom prst="rect">
            <a:avLst/>
          </a:prstGeom>
        </p:spPr>
      </p:pic>
      <p:sp>
        <p:nvSpPr>
          <p:cNvPr id="10" name="Slide Number Placeholder 1">
            <a:extLst>
              <a:ext uri="{FF2B5EF4-FFF2-40B4-BE49-F238E27FC236}">
                <a16:creationId xmlns:a16="http://schemas.microsoft.com/office/drawing/2014/main" id="{C4882507-CC0F-AD48-B4DC-1A4B38AD6026}"/>
              </a:ext>
            </a:extLst>
          </p:cNvPr>
          <p:cNvSpPr txBox="1">
            <a:spLocks/>
          </p:cNvSpPr>
          <p:nvPr/>
        </p:nvSpPr>
        <p:spPr>
          <a:xfrm>
            <a:off x="0" y="6400801"/>
            <a:ext cx="1117600" cy="45720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fld id="{591A223C-FA10-BC46-A853-03BA373D023C}" type="slidenum">
              <a:rPr lang="en-US" smtClean="0"/>
              <a:pPr algn="l"/>
              <a:t>42</a:t>
            </a:fld>
            <a:endParaRPr lang="en-US" dirty="0"/>
          </a:p>
        </p:txBody>
      </p:sp>
    </p:spTree>
    <p:extLst>
      <p:ext uri="{BB962C8B-B14F-4D97-AF65-F5344CB8AC3E}">
        <p14:creationId xmlns:p14="http://schemas.microsoft.com/office/powerpoint/2010/main" val="155100951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B1A439EA-F6B6-114F-8170-8B6E9E322D63}"/>
              </a:ext>
            </a:extLst>
          </p:cNvPr>
          <p:cNvGrpSpPr/>
          <p:nvPr/>
        </p:nvGrpSpPr>
        <p:grpSpPr>
          <a:xfrm>
            <a:off x="3951742" y="3117708"/>
            <a:ext cx="6119952" cy="3192836"/>
            <a:chOff x="3951742" y="3117708"/>
            <a:chExt cx="6119952" cy="3192836"/>
          </a:xfrm>
        </p:grpSpPr>
        <p:grpSp>
          <p:nvGrpSpPr>
            <p:cNvPr id="10" name="Group 9">
              <a:extLst>
                <a:ext uri="{FF2B5EF4-FFF2-40B4-BE49-F238E27FC236}">
                  <a16:creationId xmlns:a16="http://schemas.microsoft.com/office/drawing/2014/main" id="{7AB5B3D1-9E52-C546-8AF9-71E83C2891C4}"/>
                </a:ext>
              </a:extLst>
            </p:cNvPr>
            <p:cNvGrpSpPr/>
            <p:nvPr/>
          </p:nvGrpSpPr>
          <p:grpSpPr>
            <a:xfrm>
              <a:off x="3951742" y="3117708"/>
              <a:ext cx="3612849" cy="2861240"/>
              <a:chOff x="3951742" y="3117708"/>
              <a:chExt cx="3612849" cy="2861240"/>
            </a:xfrm>
          </p:grpSpPr>
          <p:sp>
            <p:nvSpPr>
              <p:cNvPr id="34" name="Rectangle 33">
                <a:extLst>
                  <a:ext uri="{FF2B5EF4-FFF2-40B4-BE49-F238E27FC236}">
                    <a16:creationId xmlns:a16="http://schemas.microsoft.com/office/drawing/2014/main" id="{29C84C26-9F09-BA4C-8108-06D5C41D1602}"/>
                  </a:ext>
                </a:extLst>
              </p:cNvPr>
              <p:cNvSpPr/>
              <p:nvPr/>
            </p:nvSpPr>
            <p:spPr>
              <a:xfrm>
                <a:off x="6780820" y="5268418"/>
                <a:ext cx="783771" cy="710530"/>
              </a:xfrm>
              <a:prstGeom prst="rect">
                <a:avLst/>
              </a:prstGeom>
              <a:solidFill>
                <a:schemeClr val="accent4">
                  <a:lumMod val="20000"/>
                  <a:lumOff val="80000"/>
                </a:schemeClr>
              </a:solid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a:extLst>
                  <a:ext uri="{FF2B5EF4-FFF2-40B4-BE49-F238E27FC236}">
                    <a16:creationId xmlns:a16="http://schemas.microsoft.com/office/drawing/2014/main" id="{64F2F938-38BD-C44B-8950-32EFBF53B30C}"/>
                  </a:ext>
                </a:extLst>
              </p:cNvPr>
              <p:cNvSpPr/>
              <p:nvPr/>
            </p:nvSpPr>
            <p:spPr>
              <a:xfrm>
                <a:off x="3951742" y="3117708"/>
                <a:ext cx="2599235" cy="2150710"/>
              </a:xfrm>
              <a:prstGeom prst="roundRect">
                <a:avLst>
                  <a:gd name="adj" fmla="val 0"/>
                </a:avLst>
              </a:prstGeom>
              <a:solidFill>
                <a:schemeClr val="bg1">
                  <a:lumMod val="95000"/>
                </a:schemeClr>
              </a:solid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758D4462-749D-194B-9FC5-0C67DAB87FB0}"/>
                    </a:ext>
                  </a:extLst>
                </p:cNvPr>
                <p:cNvSpPr txBox="1"/>
                <p:nvPr/>
              </p:nvSpPr>
              <p:spPr>
                <a:xfrm>
                  <a:off x="7830503" y="5305974"/>
                  <a:ext cx="2241191" cy="100457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200" i="1">
                            <a:latin typeface="Cambria Math" panose="02040503050406030204" pitchFamily="18" charset="0"/>
                          </a:rPr>
                          <m:t>𝐶𝐶𝑋</m:t>
                        </m:r>
                        <m:r>
                          <a:rPr lang="en-US" sz="2200" i="1">
                            <a:latin typeface="Cambria Math" panose="02040503050406030204" pitchFamily="18" charset="0"/>
                          </a:rPr>
                          <m:t>=</m:t>
                        </m:r>
                        <m:d>
                          <m:dPr>
                            <m:ctrlPr>
                              <a:rPr lang="en-US" sz="2200" i="1">
                                <a:latin typeface="Cambria Math" panose="02040503050406030204" pitchFamily="18" charset="0"/>
                              </a:rPr>
                            </m:ctrlPr>
                          </m:dPr>
                          <m:e>
                            <m:m>
                              <m:mPr>
                                <m:mcs>
                                  <m:mc>
                                    <m:mcPr>
                                      <m:count m:val="2"/>
                                      <m:mcJc m:val="center"/>
                                    </m:mcPr>
                                  </m:mc>
                                </m:mcs>
                                <m:ctrlPr>
                                  <a:rPr lang="en-US" sz="2200" i="1">
                                    <a:latin typeface="Cambria Math" panose="02040503050406030204" pitchFamily="18" charset="0"/>
                                  </a:rPr>
                                </m:ctrlPr>
                              </m:mPr>
                              <m:mr>
                                <m:e>
                                  <m:sSub>
                                    <m:sSubPr>
                                      <m:ctrlPr>
                                        <a:rPr lang="en-US" sz="2200" i="1">
                                          <a:latin typeface="Cambria Math" panose="02040503050406030204" pitchFamily="18" charset="0"/>
                                        </a:rPr>
                                      </m:ctrlPr>
                                    </m:sSubPr>
                                    <m:e>
                                      <m:r>
                                        <a:rPr lang="en-US" sz="2200" i="1">
                                          <a:latin typeface="Cambria Math" panose="02040503050406030204" pitchFamily="18" charset="0"/>
                                        </a:rPr>
                                        <m:t>𝐼</m:t>
                                      </m:r>
                                    </m:e>
                                    <m:sub>
                                      <m:r>
                                        <a:rPr lang="en-US" sz="2200" i="1">
                                          <a:latin typeface="Cambria Math" panose="02040503050406030204" pitchFamily="18" charset="0"/>
                                        </a:rPr>
                                        <m:t>6</m:t>
                                      </m:r>
                                    </m:sub>
                                  </m:sSub>
                                </m:e>
                                <m:e>
                                  <m:r>
                                    <a:rPr lang="en-US" sz="2200" i="1">
                                      <a:latin typeface="Cambria Math" panose="02040503050406030204" pitchFamily="18" charset="0"/>
                                    </a:rPr>
                                    <m:t>0</m:t>
                                  </m:r>
                                </m:e>
                              </m:mr>
                              <m:mr>
                                <m:e>
                                  <m:r>
                                    <a:rPr lang="en-US" sz="2200" i="1">
                                      <a:latin typeface="Cambria Math" panose="02040503050406030204" pitchFamily="18" charset="0"/>
                                    </a:rPr>
                                    <m:t>0</m:t>
                                  </m:r>
                                </m:e>
                                <m:e>
                                  <m:r>
                                    <a:rPr lang="en-US" sz="2200" i="1">
                                      <a:latin typeface="Cambria Math" panose="02040503050406030204" pitchFamily="18" charset="0"/>
                                    </a:rPr>
                                    <m:t>𝑋</m:t>
                                  </m:r>
                                </m:e>
                              </m:mr>
                            </m:m>
                          </m:e>
                        </m:d>
                      </m:oMath>
                    </m:oMathPara>
                  </a14:m>
                  <a:endParaRPr lang="en-ZA" sz="2200" dirty="0"/>
                </a:p>
                <a:p>
                  <a:endParaRPr lang="en-US" sz="2200" dirty="0"/>
                </a:p>
              </p:txBody>
            </p:sp>
          </mc:Choice>
          <mc:Fallback xmlns="">
            <p:sp>
              <p:nvSpPr>
                <p:cNvPr id="11" name="TextBox 10">
                  <a:extLst>
                    <a:ext uri="{FF2B5EF4-FFF2-40B4-BE49-F238E27FC236}">
                      <a16:creationId xmlns:a16="http://schemas.microsoft.com/office/drawing/2014/main" id="{758D4462-749D-194B-9FC5-0C67DAB87FB0}"/>
                    </a:ext>
                  </a:extLst>
                </p:cNvPr>
                <p:cNvSpPr txBox="1">
                  <a:spLocks noRot="1" noChangeAspect="1" noMove="1" noResize="1" noEditPoints="1" noAdjustHandles="1" noChangeArrowheads="1" noChangeShapeType="1" noTextEdit="1"/>
                </p:cNvSpPr>
                <p:nvPr/>
              </p:nvSpPr>
              <p:spPr>
                <a:xfrm>
                  <a:off x="7830503" y="5305974"/>
                  <a:ext cx="2241191" cy="1004570"/>
                </a:xfrm>
                <a:prstGeom prst="rect">
                  <a:avLst/>
                </a:prstGeom>
                <a:blipFill>
                  <a:blip r:embed="rId3"/>
                  <a:stretch>
                    <a:fillRect/>
                  </a:stretch>
                </a:blipFill>
              </p:spPr>
              <p:txBody>
                <a:bodyPr/>
                <a:lstStyle/>
                <a:p>
                  <a:r>
                    <a:rPr lang="en-US">
                      <a:noFill/>
                    </a:rPr>
                    <a:t> </a:t>
                  </a:r>
                </a:p>
              </p:txBody>
            </p:sp>
          </mc:Fallback>
        </mc:AlternateContent>
      </p:grpSp>
      <p:cxnSp>
        <p:nvCxnSpPr>
          <p:cNvPr id="15" name="Straight Connector 14">
            <a:extLst>
              <a:ext uri="{FF2B5EF4-FFF2-40B4-BE49-F238E27FC236}">
                <a16:creationId xmlns:a16="http://schemas.microsoft.com/office/drawing/2014/main" id="{257E0AFF-39A4-2741-BC3C-B2C0F59BC751}"/>
              </a:ext>
            </a:extLst>
          </p:cNvPr>
          <p:cNvCxnSpPr>
            <a:cxnSpLocks/>
            <a:stCxn id="45" idx="4"/>
            <a:endCxn id="13" idx="0"/>
          </p:cNvCxnSpPr>
          <p:nvPr/>
        </p:nvCxnSpPr>
        <p:spPr>
          <a:xfrm flipH="1">
            <a:off x="1116829" y="2956378"/>
            <a:ext cx="3175" cy="133144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E667040F-665E-5242-BB46-9F9E18E502E7}"/>
              </a:ext>
            </a:extLst>
          </p:cNvPr>
          <p:cNvCxnSpPr>
            <a:cxnSpLocks/>
          </p:cNvCxnSpPr>
          <p:nvPr/>
        </p:nvCxnSpPr>
        <p:spPr>
          <a:xfrm>
            <a:off x="549456" y="3630721"/>
            <a:ext cx="116559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B139EF45-D20A-C54B-9E7B-223F102F5FFB}"/>
              </a:ext>
            </a:extLst>
          </p:cNvPr>
          <p:cNvSpPr>
            <a:spLocks noGrp="1"/>
          </p:cNvSpPr>
          <p:nvPr>
            <p:ph type="title"/>
          </p:nvPr>
        </p:nvSpPr>
        <p:spPr>
          <a:xfrm>
            <a:off x="0" y="0"/>
            <a:ext cx="12192000" cy="928688"/>
          </a:xfrm>
        </p:spPr>
        <p:txBody>
          <a:bodyPr/>
          <a:lstStyle/>
          <a:p>
            <a:r>
              <a:rPr lang="en-ZA" dirty="0" err="1"/>
              <a:t>Toffoli</a:t>
            </a:r>
            <a:r>
              <a:rPr lang="en-US" b="1" dirty="0"/>
              <a:t> / </a:t>
            </a:r>
            <a:r>
              <a:rPr lang="en-US" dirty="0"/>
              <a:t>CCNOT  / CCX gate</a:t>
            </a:r>
            <a:endParaRPr lang="en-US" b="1" dirty="0"/>
          </a:p>
        </p:txBody>
      </p:sp>
      <p:sp>
        <p:nvSpPr>
          <p:cNvPr id="3" name="Slide Number Placeholder 2">
            <a:extLst>
              <a:ext uri="{FF2B5EF4-FFF2-40B4-BE49-F238E27FC236}">
                <a16:creationId xmlns:a16="http://schemas.microsoft.com/office/drawing/2014/main" id="{1DFCF789-A597-7E48-870E-125D0C3A063D}"/>
              </a:ext>
            </a:extLst>
          </p:cNvPr>
          <p:cNvSpPr>
            <a:spLocks noGrp="1"/>
          </p:cNvSpPr>
          <p:nvPr>
            <p:ph type="sldNum" sz="quarter" idx="12"/>
          </p:nvPr>
        </p:nvSpPr>
        <p:spPr/>
        <p:txBody>
          <a:bodyPr/>
          <a:lstStyle/>
          <a:p>
            <a:fld id="{591A223C-FA10-BC46-A853-03BA373D023C}" type="slidenum">
              <a:rPr lang="en-US" smtClean="0"/>
              <a:t>43</a:t>
            </a:fld>
            <a:endParaRPr lang="en-US"/>
          </a:p>
        </p:txBody>
      </p:sp>
      <p:sp>
        <p:nvSpPr>
          <p:cNvPr id="7" name="Rectangle 6">
            <a:extLst>
              <a:ext uri="{FF2B5EF4-FFF2-40B4-BE49-F238E27FC236}">
                <a16:creationId xmlns:a16="http://schemas.microsoft.com/office/drawing/2014/main" id="{01F86251-6DE2-3448-A31F-B8BAA869C571}"/>
              </a:ext>
            </a:extLst>
          </p:cNvPr>
          <p:cNvSpPr/>
          <p:nvPr/>
        </p:nvSpPr>
        <p:spPr>
          <a:xfrm>
            <a:off x="224852" y="1599741"/>
            <a:ext cx="11679658" cy="468876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Connector 15">
            <a:extLst>
              <a:ext uri="{FF2B5EF4-FFF2-40B4-BE49-F238E27FC236}">
                <a16:creationId xmlns:a16="http://schemas.microsoft.com/office/drawing/2014/main" id="{1A76F891-5AB6-8649-AA11-DCC61231E1A8}"/>
              </a:ext>
            </a:extLst>
          </p:cNvPr>
          <p:cNvCxnSpPr>
            <a:cxnSpLocks/>
          </p:cNvCxnSpPr>
          <p:nvPr/>
        </p:nvCxnSpPr>
        <p:spPr>
          <a:xfrm>
            <a:off x="2778151" y="1609656"/>
            <a:ext cx="0" cy="791194"/>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8A527968-DE7C-FE4A-A9DB-19FD054BF655}"/>
              </a:ext>
            </a:extLst>
          </p:cNvPr>
          <p:cNvCxnSpPr>
            <a:cxnSpLocks/>
          </p:cNvCxnSpPr>
          <p:nvPr/>
        </p:nvCxnSpPr>
        <p:spPr>
          <a:xfrm flipV="1">
            <a:off x="8031156" y="1599745"/>
            <a:ext cx="0" cy="791191"/>
          </a:xfrm>
          <a:prstGeom prst="line">
            <a:avLst/>
          </a:prstGeom>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35913924-2483-E343-99F2-9D1061599CCB}"/>
              </a:ext>
            </a:extLst>
          </p:cNvPr>
          <p:cNvCxnSpPr>
            <a:cxnSpLocks/>
          </p:cNvCxnSpPr>
          <p:nvPr/>
        </p:nvCxnSpPr>
        <p:spPr>
          <a:xfrm>
            <a:off x="208474" y="2390936"/>
            <a:ext cx="11679658" cy="0"/>
          </a:xfrm>
          <a:prstGeom prst="line">
            <a:avLst/>
          </a:prstGeom>
        </p:spPr>
        <p:style>
          <a:lnRef idx="1">
            <a:schemeClr val="accent1"/>
          </a:lnRef>
          <a:fillRef idx="0">
            <a:schemeClr val="accent1"/>
          </a:fillRef>
          <a:effectRef idx="0">
            <a:schemeClr val="accent1"/>
          </a:effectRef>
          <a:fontRef idx="minor">
            <a:schemeClr val="tx1"/>
          </a:fontRef>
        </p:style>
      </p:cxnSp>
      <p:sp>
        <p:nvSpPr>
          <p:cNvPr id="43" name="Rectangle 42">
            <a:extLst>
              <a:ext uri="{FF2B5EF4-FFF2-40B4-BE49-F238E27FC236}">
                <a16:creationId xmlns:a16="http://schemas.microsoft.com/office/drawing/2014/main" id="{0824DC6C-CEC9-3E4E-8DF1-99A0070F2BD7}"/>
              </a:ext>
            </a:extLst>
          </p:cNvPr>
          <p:cNvSpPr/>
          <p:nvPr/>
        </p:nvSpPr>
        <p:spPr>
          <a:xfrm>
            <a:off x="8165516" y="3608870"/>
            <a:ext cx="3754583" cy="461665"/>
          </a:xfrm>
          <a:prstGeom prst="rect">
            <a:avLst/>
          </a:prstGeom>
        </p:spPr>
        <p:txBody>
          <a:bodyPr wrap="square">
            <a:spAutoFit/>
          </a:bodyPr>
          <a:lstStyle/>
          <a:p>
            <a:r>
              <a:rPr lang="en-US" sz="2400" dirty="0">
                <a:latin typeface="AndaleMono" panose="020B0509000000000004" pitchFamily="49" charset="0"/>
              </a:rPr>
              <a:t>ccx q[0],q[1],q[2];</a:t>
            </a:r>
            <a:endParaRPr lang="en-US" sz="2400" dirty="0">
              <a:effectLst/>
            </a:endParaRPr>
          </a:p>
        </p:txBody>
      </p:sp>
      <p:cxnSp>
        <p:nvCxnSpPr>
          <p:cNvPr id="51" name="Straight Connector 50">
            <a:extLst>
              <a:ext uri="{FF2B5EF4-FFF2-40B4-BE49-F238E27FC236}">
                <a16:creationId xmlns:a16="http://schemas.microsoft.com/office/drawing/2014/main" id="{83364821-E044-724C-BCD6-88BE6024389F}"/>
              </a:ext>
            </a:extLst>
          </p:cNvPr>
          <p:cNvCxnSpPr>
            <a:cxnSpLocks/>
          </p:cNvCxnSpPr>
          <p:nvPr/>
        </p:nvCxnSpPr>
        <p:spPr>
          <a:xfrm>
            <a:off x="535884" y="4570582"/>
            <a:ext cx="116559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E7759C35-6AD7-5F48-9D46-E6BE14FB285F}"/>
              </a:ext>
            </a:extLst>
          </p:cNvPr>
          <p:cNvSpPr/>
          <p:nvPr/>
        </p:nvSpPr>
        <p:spPr>
          <a:xfrm>
            <a:off x="846829" y="4287822"/>
            <a:ext cx="540000" cy="54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sp>
        <p:nvSpPr>
          <p:cNvPr id="38" name="Oval 37">
            <a:extLst>
              <a:ext uri="{FF2B5EF4-FFF2-40B4-BE49-F238E27FC236}">
                <a16:creationId xmlns:a16="http://schemas.microsoft.com/office/drawing/2014/main" id="{69002E74-4715-7846-AD6D-077E1BE4461B}"/>
              </a:ext>
            </a:extLst>
          </p:cNvPr>
          <p:cNvSpPr/>
          <p:nvPr/>
        </p:nvSpPr>
        <p:spPr>
          <a:xfrm>
            <a:off x="1030004" y="3535275"/>
            <a:ext cx="180000" cy="180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mc:AlternateContent xmlns:mc="http://schemas.openxmlformats.org/markup-compatibility/2006" xmlns:a14="http://schemas.microsoft.com/office/drawing/2010/main">
        <mc:Choice Requires="a14">
          <p:sp>
            <p:nvSpPr>
              <p:cNvPr id="28" name="Rectangle 27">
                <a:extLst>
                  <a:ext uri="{FF2B5EF4-FFF2-40B4-BE49-F238E27FC236}">
                    <a16:creationId xmlns:a16="http://schemas.microsoft.com/office/drawing/2014/main" id="{6CFAB81F-91C5-8B4E-8018-BA950ACEB817}"/>
                  </a:ext>
                </a:extLst>
              </p:cNvPr>
              <p:cNvSpPr/>
              <p:nvPr/>
            </p:nvSpPr>
            <p:spPr>
              <a:xfrm>
                <a:off x="352432" y="2390936"/>
                <a:ext cx="634148" cy="83099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a:rPr lang="sr-Latn-RS" sz="2400" b="0" i="1" smtClean="0">
                              <a:latin typeface="Cambria Math" panose="02040503050406030204" pitchFamily="18" charset="0"/>
                            </a:rPr>
                            <m:t>𝑐</m:t>
                          </m:r>
                        </m:e>
                        <m:sub>
                          <m:r>
                            <a:rPr lang="en-US" sz="2400" i="1">
                              <a:latin typeface="Cambria Math" panose="02040503050406030204" pitchFamily="18" charset="0"/>
                            </a:rPr>
                            <m:t>1</m:t>
                          </m:r>
                        </m:sub>
                      </m:sSub>
                    </m:oMath>
                  </m:oMathPara>
                </a14:m>
                <a:endParaRPr lang="en-US" sz="2400" dirty="0"/>
              </a:p>
              <a:p>
                <a:endParaRPr lang="en-US" sz="2400" dirty="0"/>
              </a:p>
            </p:txBody>
          </p:sp>
        </mc:Choice>
        <mc:Fallback xmlns="">
          <p:sp>
            <p:nvSpPr>
              <p:cNvPr id="28" name="Rectangle 27">
                <a:extLst>
                  <a:ext uri="{FF2B5EF4-FFF2-40B4-BE49-F238E27FC236}">
                    <a16:creationId xmlns:a16="http://schemas.microsoft.com/office/drawing/2014/main" id="{6CFAB81F-91C5-8B4E-8018-BA950ACEB817}"/>
                  </a:ext>
                </a:extLst>
              </p:cNvPr>
              <p:cNvSpPr>
                <a:spLocks noRot="1" noChangeAspect="1" noMove="1" noResize="1" noEditPoints="1" noAdjustHandles="1" noChangeArrowheads="1" noChangeShapeType="1" noTextEdit="1"/>
              </p:cNvSpPr>
              <p:nvPr/>
            </p:nvSpPr>
            <p:spPr>
              <a:xfrm>
                <a:off x="352432" y="2390936"/>
                <a:ext cx="634148" cy="830997"/>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6" name="Rectangle 55">
                <a:extLst>
                  <a:ext uri="{FF2B5EF4-FFF2-40B4-BE49-F238E27FC236}">
                    <a16:creationId xmlns:a16="http://schemas.microsoft.com/office/drawing/2014/main" id="{58858AB7-CC58-F24F-89C7-35BA9F306EA3}"/>
                  </a:ext>
                </a:extLst>
              </p:cNvPr>
              <p:cNvSpPr/>
              <p:nvPr/>
            </p:nvSpPr>
            <p:spPr>
              <a:xfrm>
                <a:off x="355991" y="3147205"/>
                <a:ext cx="529760"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rPr>
                          </m:ctrlPr>
                        </m:sSubPr>
                        <m:e>
                          <m:r>
                            <a:rPr lang="sr-Latn-RS" sz="2400" b="0" i="1" smtClean="0">
                              <a:latin typeface="Cambria Math" panose="02040503050406030204" pitchFamily="18" charset="0"/>
                            </a:rPr>
                            <m:t>𝑐</m:t>
                          </m:r>
                        </m:e>
                        <m:sub>
                          <m:r>
                            <a:rPr lang="sr-Latn-RS" sz="2400" b="0" i="1" smtClean="0">
                              <a:latin typeface="Cambria Math" panose="02040503050406030204" pitchFamily="18" charset="0"/>
                            </a:rPr>
                            <m:t>2</m:t>
                          </m:r>
                        </m:sub>
                      </m:sSub>
                    </m:oMath>
                  </m:oMathPara>
                </a14:m>
                <a:endParaRPr lang="en-US" sz="2400" dirty="0"/>
              </a:p>
            </p:txBody>
          </p:sp>
        </mc:Choice>
        <mc:Fallback xmlns="">
          <p:sp>
            <p:nvSpPr>
              <p:cNvPr id="56" name="Rectangle 55">
                <a:extLst>
                  <a:ext uri="{FF2B5EF4-FFF2-40B4-BE49-F238E27FC236}">
                    <a16:creationId xmlns:a16="http://schemas.microsoft.com/office/drawing/2014/main" id="{58858AB7-CC58-F24F-89C7-35BA9F306EA3}"/>
                  </a:ext>
                </a:extLst>
              </p:cNvPr>
              <p:cNvSpPr>
                <a:spLocks noRot="1" noChangeAspect="1" noMove="1" noResize="1" noEditPoints="1" noAdjustHandles="1" noChangeArrowheads="1" noChangeShapeType="1" noTextEdit="1"/>
              </p:cNvSpPr>
              <p:nvPr/>
            </p:nvSpPr>
            <p:spPr>
              <a:xfrm>
                <a:off x="355991" y="3147205"/>
                <a:ext cx="529760" cy="461665"/>
              </a:xfrm>
              <a:prstGeom prst="rect">
                <a:avLst/>
              </a:prstGeom>
              <a:blipFill>
                <a:blip r:embed="rId5"/>
                <a:stretch>
                  <a:fillRect b="-2703"/>
                </a:stretch>
              </a:blipFill>
            </p:spPr>
            <p:txBody>
              <a:bodyPr/>
              <a:lstStyle/>
              <a:p>
                <a:r>
                  <a:rPr lang="en-US">
                    <a:noFill/>
                  </a:rPr>
                  <a:t> </a:t>
                </a:r>
              </a:p>
            </p:txBody>
          </p:sp>
        </mc:Fallback>
      </mc:AlternateContent>
      <p:cxnSp>
        <p:nvCxnSpPr>
          <p:cNvPr id="44" name="Straight Connector 43">
            <a:extLst>
              <a:ext uri="{FF2B5EF4-FFF2-40B4-BE49-F238E27FC236}">
                <a16:creationId xmlns:a16="http://schemas.microsoft.com/office/drawing/2014/main" id="{E14291EC-9CEC-824A-858A-B15D74D456B9}"/>
              </a:ext>
            </a:extLst>
          </p:cNvPr>
          <p:cNvCxnSpPr>
            <a:cxnSpLocks/>
          </p:cNvCxnSpPr>
          <p:nvPr/>
        </p:nvCxnSpPr>
        <p:spPr>
          <a:xfrm>
            <a:off x="563029" y="2877775"/>
            <a:ext cx="116559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45" name="Oval 44">
            <a:extLst>
              <a:ext uri="{FF2B5EF4-FFF2-40B4-BE49-F238E27FC236}">
                <a16:creationId xmlns:a16="http://schemas.microsoft.com/office/drawing/2014/main" id="{9BD86072-4670-E045-AAC4-1D587F95E54E}"/>
              </a:ext>
            </a:extLst>
          </p:cNvPr>
          <p:cNvSpPr/>
          <p:nvPr/>
        </p:nvSpPr>
        <p:spPr>
          <a:xfrm>
            <a:off x="1030004" y="2776378"/>
            <a:ext cx="180000" cy="180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mc:AlternateContent xmlns:mc="http://schemas.openxmlformats.org/markup-compatibility/2006" xmlns:a14="http://schemas.microsoft.com/office/drawing/2010/main">
        <mc:Choice Requires="a14">
          <p:sp>
            <p:nvSpPr>
              <p:cNvPr id="46" name="Rectangle 45">
                <a:extLst>
                  <a:ext uri="{FF2B5EF4-FFF2-40B4-BE49-F238E27FC236}">
                    <a16:creationId xmlns:a16="http://schemas.microsoft.com/office/drawing/2014/main" id="{F079F358-4F7D-7A4E-B451-850F3191BEE0}"/>
                  </a:ext>
                </a:extLst>
              </p:cNvPr>
              <p:cNvSpPr/>
              <p:nvPr/>
            </p:nvSpPr>
            <p:spPr>
              <a:xfrm>
                <a:off x="352432" y="4069073"/>
                <a:ext cx="382925"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sr-Latn-RS" sz="2400" b="0" i="1" smtClean="0">
                          <a:latin typeface="Cambria Math" panose="02040503050406030204" pitchFamily="18" charset="0"/>
                        </a:rPr>
                        <m:t>𝑡</m:t>
                      </m:r>
                    </m:oMath>
                  </m:oMathPara>
                </a14:m>
                <a:endParaRPr lang="en-US" sz="2400" dirty="0"/>
              </a:p>
            </p:txBody>
          </p:sp>
        </mc:Choice>
        <mc:Fallback xmlns="">
          <p:sp>
            <p:nvSpPr>
              <p:cNvPr id="46" name="Rectangle 45">
                <a:extLst>
                  <a:ext uri="{FF2B5EF4-FFF2-40B4-BE49-F238E27FC236}">
                    <a16:creationId xmlns:a16="http://schemas.microsoft.com/office/drawing/2014/main" id="{F079F358-4F7D-7A4E-B451-850F3191BEE0}"/>
                  </a:ext>
                </a:extLst>
              </p:cNvPr>
              <p:cNvSpPr>
                <a:spLocks noRot="1" noChangeAspect="1" noMove="1" noResize="1" noEditPoints="1" noAdjustHandles="1" noChangeArrowheads="1" noChangeShapeType="1" noTextEdit="1"/>
              </p:cNvSpPr>
              <p:nvPr/>
            </p:nvSpPr>
            <p:spPr>
              <a:xfrm>
                <a:off x="352432" y="4069073"/>
                <a:ext cx="382925" cy="461665"/>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Rectangle 49">
                <a:extLst>
                  <a:ext uri="{FF2B5EF4-FFF2-40B4-BE49-F238E27FC236}">
                    <a16:creationId xmlns:a16="http://schemas.microsoft.com/office/drawing/2014/main" id="{4585FB52-22DE-604A-9B62-85CBEDD281BA}"/>
                  </a:ext>
                </a:extLst>
              </p:cNvPr>
              <p:cNvSpPr/>
              <p:nvPr/>
            </p:nvSpPr>
            <p:spPr>
              <a:xfrm>
                <a:off x="1354191" y="4779971"/>
                <a:ext cx="1743041" cy="461665"/>
              </a:xfrm>
              <a:prstGeom prst="rect">
                <a:avLst/>
              </a:prstGeom>
              <a:solidFill>
                <a:schemeClr val="bg1">
                  <a:lumMod val="95000"/>
                </a:schemeClr>
              </a:solidFill>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𝑡</m:t>
                      </m:r>
                      <m:r>
                        <a:rPr lang="en-US" sz="2400" b="0" i="1" smtClean="0">
                          <a:latin typeface="Cambria Math" panose="02040503050406030204" pitchFamily="18" charset="0"/>
                        </a:rPr>
                        <m:t> ⨁</m:t>
                      </m:r>
                      <m:r>
                        <a:rPr lang="sr-Latn-RS" sz="2400" b="0" i="0" smtClean="0">
                          <a:latin typeface="Cambria Math" panose="02040503050406030204" pitchFamily="18" charset="0"/>
                        </a:rPr>
                        <m:t>(</m:t>
                      </m:r>
                      <m:sSub>
                        <m:sSubPr>
                          <m:ctrlPr>
                            <a:rPr lang="en-US" sz="2400" i="1">
                              <a:latin typeface="Cambria Math" panose="02040503050406030204" pitchFamily="18" charset="0"/>
                            </a:rPr>
                          </m:ctrlPr>
                        </m:sSubPr>
                        <m:e>
                          <m:r>
                            <a:rPr lang="sr-Latn-RS" sz="2400" i="1">
                              <a:latin typeface="Cambria Math" panose="02040503050406030204" pitchFamily="18" charset="0"/>
                            </a:rPr>
                            <m:t>𝑐</m:t>
                          </m:r>
                        </m:e>
                        <m:sub>
                          <m:r>
                            <a:rPr lang="en-US" sz="2400" i="1">
                              <a:latin typeface="Cambria Math" panose="02040503050406030204" pitchFamily="18" charset="0"/>
                            </a:rPr>
                            <m:t>1</m:t>
                          </m:r>
                        </m:sub>
                      </m:sSub>
                      <m:sSub>
                        <m:sSubPr>
                          <m:ctrlPr>
                            <a:rPr lang="en-US" sz="2400" i="1">
                              <a:latin typeface="Cambria Math" panose="02040503050406030204" pitchFamily="18" charset="0"/>
                            </a:rPr>
                          </m:ctrlPr>
                        </m:sSubPr>
                        <m:e>
                          <m:r>
                            <a:rPr lang="en-US" sz="2400" i="1" smtClean="0">
                              <a:latin typeface="Cambria Math" panose="02040503050406030204" pitchFamily="18" charset="0"/>
                              <a:ea typeface="Cambria Math" panose="02040503050406030204" pitchFamily="18" charset="0"/>
                            </a:rPr>
                            <m:t>∙</m:t>
                          </m:r>
                          <m:r>
                            <a:rPr lang="sr-Latn-RS" sz="2400" b="0" i="1" smtClean="0">
                              <a:latin typeface="Cambria Math" panose="02040503050406030204" pitchFamily="18" charset="0"/>
                              <a:ea typeface="Cambria Math" panose="02040503050406030204" pitchFamily="18" charset="0"/>
                            </a:rPr>
                            <m:t>𝑐</m:t>
                          </m:r>
                        </m:e>
                        <m:sub>
                          <m:r>
                            <a:rPr lang="sr-Latn-RS" sz="2400" b="0" i="1" smtClean="0">
                              <a:latin typeface="Cambria Math" panose="02040503050406030204" pitchFamily="18" charset="0"/>
                            </a:rPr>
                            <m:t>2</m:t>
                          </m:r>
                        </m:sub>
                      </m:sSub>
                      <m:r>
                        <a:rPr lang="sr-Latn-RS" sz="2400" b="0" i="0" smtClean="0">
                          <a:latin typeface="Cambria Math" panose="02040503050406030204" pitchFamily="18" charset="0"/>
                        </a:rPr>
                        <m:t>)</m:t>
                      </m:r>
                    </m:oMath>
                  </m:oMathPara>
                </a14:m>
                <a:endParaRPr lang="en-US" sz="2400" dirty="0"/>
              </a:p>
            </p:txBody>
          </p:sp>
        </mc:Choice>
        <mc:Fallback xmlns="">
          <p:sp>
            <p:nvSpPr>
              <p:cNvPr id="50" name="Rectangle 49">
                <a:extLst>
                  <a:ext uri="{FF2B5EF4-FFF2-40B4-BE49-F238E27FC236}">
                    <a16:creationId xmlns:a16="http://schemas.microsoft.com/office/drawing/2014/main" id="{4585FB52-22DE-604A-9B62-85CBEDD281BA}"/>
                  </a:ext>
                </a:extLst>
              </p:cNvPr>
              <p:cNvSpPr>
                <a:spLocks noRot="1" noChangeAspect="1" noMove="1" noResize="1" noEditPoints="1" noAdjustHandles="1" noChangeArrowheads="1" noChangeShapeType="1" noTextEdit="1"/>
              </p:cNvSpPr>
              <p:nvPr/>
            </p:nvSpPr>
            <p:spPr>
              <a:xfrm>
                <a:off x="1354191" y="4779971"/>
                <a:ext cx="1743041" cy="461665"/>
              </a:xfrm>
              <a:prstGeom prst="rect">
                <a:avLst/>
              </a:prstGeom>
              <a:blipFill>
                <a:blip r:embed="rId7"/>
                <a:stretch>
                  <a:fillRect b="-1842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Rectangle 32">
                <a:extLst>
                  <a:ext uri="{FF2B5EF4-FFF2-40B4-BE49-F238E27FC236}">
                    <a16:creationId xmlns:a16="http://schemas.microsoft.com/office/drawing/2014/main" id="{4615E8CC-7BAA-694A-95D7-2A092B6A1A34}"/>
                  </a:ext>
                </a:extLst>
              </p:cNvPr>
              <p:cNvSpPr/>
              <p:nvPr/>
            </p:nvSpPr>
            <p:spPr>
              <a:xfrm>
                <a:off x="3671198" y="2501710"/>
                <a:ext cx="3466911"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ZA" sz="2400" i="1" smtClean="0">
                              <a:latin typeface="Cambria Math" panose="02040503050406030204" pitchFamily="18" charset="0"/>
                            </a:rPr>
                          </m:ctrlPr>
                        </m:dPr>
                        <m:e>
                          <m:r>
                            <a:rPr lang="en-US" sz="2400" i="1">
                              <a:latin typeface="Cambria Math" panose="02040503050406030204" pitchFamily="18" charset="0"/>
                            </a:rPr>
                            <m:t>0</m:t>
                          </m:r>
                        </m:e>
                      </m:d>
                      <m:box>
                        <m:boxPr>
                          <m:ctrlPr>
                            <a:rPr lang="en-ZA" sz="2400" i="1">
                              <a:latin typeface="Cambria Math" panose="02040503050406030204" pitchFamily="18" charset="0"/>
                            </a:rPr>
                          </m:ctrlPr>
                        </m:boxPr>
                        <m:e>
                          <m:d>
                            <m:dPr>
                              <m:begChr m:val="⟨"/>
                              <m:endChr m:val="|"/>
                              <m:ctrlPr>
                                <a:rPr lang="en-ZA" sz="2400" i="1">
                                  <a:latin typeface="Cambria Math" panose="02040503050406030204" pitchFamily="18" charset="0"/>
                                </a:rPr>
                              </m:ctrlPr>
                            </m:dPr>
                            <m:e>
                              <m:r>
                                <a:rPr lang="en-US" sz="2400" i="1">
                                  <a:latin typeface="Cambria Math" panose="02040503050406030204" pitchFamily="18" charset="0"/>
                                </a:rPr>
                                <m:t>0</m:t>
                              </m:r>
                            </m:e>
                          </m:d>
                          <m:r>
                            <a:rPr lang="en-US" sz="2400" i="1">
                              <a:latin typeface="Cambria Math" panose="02040503050406030204" pitchFamily="18" charset="0"/>
                            </a:rPr>
                            <m:t>⨂</m:t>
                          </m:r>
                          <m:r>
                            <a:rPr lang="en-US" sz="2400" i="1">
                              <a:latin typeface="Cambria Math" panose="02040503050406030204" pitchFamily="18" charset="0"/>
                            </a:rPr>
                            <m:t>𝐼</m:t>
                          </m:r>
                          <m:r>
                            <a:rPr lang="en-US" sz="2400" i="1">
                              <a:latin typeface="Cambria Math" panose="02040503050406030204" pitchFamily="18" charset="0"/>
                            </a:rPr>
                            <m:t>⨂</m:t>
                          </m:r>
                          <m:r>
                            <a:rPr lang="sr-Latn-RS" sz="2400" b="0" i="1" smtClean="0">
                              <a:latin typeface="Cambria Math" panose="02040503050406030204" pitchFamily="18" charset="0"/>
                            </a:rPr>
                            <m:t>𝐼</m:t>
                          </m:r>
                          <m:r>
                            <a:rPr lang="en-US" sz="2400" i="1">
                              <a:latin typeface="Cambria Math" panose="02040503050406030204" pitchFamily="18" charset="0"/>
                            </a:rPr>
                            <m:t>+</m:t>
                          </m:r>
                        </m:e>
                      </m:box>
                      <m:d>
                        <m:dPr>
                          <m:begChr m:val="|"/>
                          <m:endChr m:val="⟩"/>
                          <m:ctrlPr>
                            <a:rPr lang="en-ZA" sz="2400" i="1">
                              <a:latin typeface="Cambria Math" panose="02040503050406030204" pitchFamily="18" charset="0"/>
                            </a:rPr>
                          </m:ctrlPr>
                        </m:dPr>
                        <m:e>
                          <m:r>
                            <a:rPr lang="en-US" sz="2400" i="1">
                              <a:latin typeface="Cambria Math" panose="02040503050406030204" pitchFamily="18" charset="0"/>
                            </a:rPr>
                            <m:t>1</m:t>
                          </m:r>
                        </m:e>
                      </m:d>
                      <m:box>
                        <m:boxPr>
                          <m:ctrlPr>
                            <a:rPr lang="en-ZA" sz="2400" i="1">
                              <a:latin typeface="Cambria Math" panose="02040503050406030204" pitchFamily="18" charset="0"/>
                            </a:rPr>
                          </m:ctrlPr>
                        </m:boxPr>
                        <m:e>
                          <m:d>
                            <m:dPr>
                              <m:begChr m:val="⟨"/>
                              <m:endChr m:val="|"/>
                              <m:ctrlPr>
                                <a:rPr lang="en-ZA" sz="2400" i="1">
                                  <a:latin typeface="Cambria Math" panose="02040503050406030204" pitchFamily="18" charset="0"/>
                                </a:rPr>
                              </m:ctrlPr>
                            </m:dPr>
                            <m:e>
                              <m:r>
                                <a:rPr lang="en-US" sz="2400" i="1">
                                  <a:latin typeface="Cambria Math" panose="02040503050406030204" pitchFamily="18" charset="0"/>
                                </a:rPr>
                                <m:t>1</m:t>
                              </m:r>
                            </m:e>
                          </m:d>
                          <m:r>
                            <a:rPr lang="en-US" sz="2400" i="1">
                              <a:latin typeface="Cambria Math" panose="02040503050406030204" pitchFamily="18" charset="0"/>
                            </a:rPr>
                            <m:t>⨂</m:t>
                          </m:r>
                          <m:r>
                            <a:rPr lang="sr-Latn-RS" sz="2400" b="0" i="1" smtClean="0">
                              <a:latin typeface="Cambria Math" panose="02040503050406030204" pitchFamily="18" charset="0"/>
                            </a:rPr>
                            <m:t>𝑐𝑋</m:t>
                          </m:r>
                        </m:e>
                      </m:box>
                    </m:oMath>
                  </m:oMathPara>
                </a14:m>
                <a:endParaRPr lang="en-US" sz="2400" dirty="0"/>
              </a:p>
            </p:txBody>
          </p:sp>
        </mc:Choice>
        <mc:Fallback xmlns="">
          <p:sp>
            <p:nvSpPr>
              <p:cNvPr id="33" name="Rectangle 32">
                <a:extLst>
                  <a:ext uri="{FF2B5EF4-FFF2-40B4-BE49-F238E27FC236}">
                    <a16:creationId xmlns:a16="http://schemas.microsoft.com/office/drawing/2014/main" id="{4615E8CC-7BAA-694A-95D7-2A092B6A1A34}"/>
                  </a:ext>
                </a:extLst>
              </p:cNvPr>
              <p:cNvSpPr>
                <a:spLocks noRot="1" noChangeAspect="1" noMove="1" noResize="1" noEditPoints="1" noAdjustHandles="1" noChangeArrowheads="1" noChangeShapeType="1" noTextEdit="1"/>
              </p:cNvSpPr>
              <p:nvPr/>
            </p:nvSpPr>
            <p:spPr>
              <a:xfrm>
                <a:off x="3671198" y="2501710"/>
                <a:ext cx="3466911" cy="461665"/>
              </a:xfrm>
              <a:prstGeom prst="rect">
                <a:avLst/>
              </a:prstGeom>
              <a:blipFill>
                <a:blip r:embed="rId8"/>
                <a:stretch>
                  <a:fillRect b="-2703"/>
                </a:stretch>
              </a:blipFill>
            </p:spPr>
            <p:txBody>
              <a:bodyPr/>
              <a:lstStyle/>
              <a:p>
                <a:r>
                  <a:rPr lang="en-US">
                    <a:noFill/>
                  </a:rPr>
                  <a:t> </a:t>
                </a:r>
              </a:p>
            </p:txBody>
          </p:sp>
        </mc:Fallback>
      </mc:AlternateContent>
      <p:sp>
        <p:nvSpPr>
          <p:cNvPr id="36" name="TextBox 35">
            <a:extLst>
              <a:ext uri="{FF2B5EF4-FFF2-40B4-BE49-F238E27FC236}">
                <a16:creationId xmlns:a16="http://schemas.microsoft.com/office/drawing/2014/main" id="{7D835CCF-C408-EE4E-81A9-C94A2AB3F64E}"/>
              </a:ext>
            </a:extLst>
          </p:cNvPr>
          <p:cNvSpPr txBox="1"/>
          <p:nvPr/>
        </p:nvSpPr>
        <p:spPr>
          <a:xfrm>
            <a:off x="756963" y="1818177"/>
            <a:ext cx="1065100" cy="461665"/>
          </a:xfrm>
          <a:prstGeom prst="rect">
            <a:avLst/>
          </a:prstGeom>
          <a:noFill/>
        </p:spPr>
        <p:txBody>
          <a:bodyPr wrap="none" rtlCol="0">
            <a:spAutoFit/>
          </a:bodyPr>
          <a:lstStyle/>
          <a:p>
            <a:r>
              <a:rPr lang="en-US" sz="2400" dirty="0">
                <a:latin typeface="+mj-lt"/>
              </a:rPr>
              <a:t>symbol</a:t>
            </a:r>
          </a:p>
        </p:txBody>
      </p:sp>
      <p:sp>
        <p:nvSpPr>
          <p:cNvPr id="37" name="TextBox 36">
            <a:extLst>
              <a:ext uri="{FF2B5EF4-FFF2-40B4-BE49-F238E27FC236}">
                <a16:creationId xmlns:a16="http://schemas.microsoft.com/office/drawing/2014/main" id="{D47D120E-E9FF-7A4C-94A7-3B7C8E915651}"/>
              </a:ext>
            </a:extLst>
          </p:cNvPr>
          <p:cNvSpPr txBox="1"/>
          <p:nvPr/>
        </p:nvSpPr>
        <p:spPr>
          <a:xfrm>
            <a:off x="4700124" y="1821880"/>
            <a:ext cx="1262653" cy="461665"/>
          </a:xfrm>
          <a:prstGeom prst="rect">
            <a:avLst/>
          </a:prstGeom>
          <a:noFill/>
        </p:spPr>
        <p:txBody>
          <a:bodyPr wrap="none" rtlCol="0">
            <a:spAutoFit/>
          </a:bodyPr>
          <a:lstStyle/>
          <a:p>
            <a:r>
              <a:rPr lang="en-US" sz="2400" dirty="0">
                <a:latin typeface="+mj-lt"/>
              </a:rPr>
              <a:t>operator</a:t>
            </a:r>
          </a:p>
        </p:txBody>
      </p:sp>
      <p:sp>
        <p:nvSpPr>
          <p:cNvPr id="40" name="TextBox 39">
            <a:extLst>
              <a:ext uri="{FF2B5EF4-FFF2-40B4-BE49-F238E27FC236}">
                <a16:creationId xmlns:a16="http://schemas.microsoft.com/office/drawing/2014/main" id="{88351D55-8720-864D-A544-4F66BC2DA4C2}"/>
              </a:ext>
            </a:extLst>
          </p:cNvPr>
          <p:cNvSpPr txBox="1"/>
          <p:nvPr/>
        </p:nvSpPr>
        <p:spPr>
          <a:xfrm>
            <a:off x="9628367" y="1800625"/>
            <a:ext cx="962123" cy="461665"/>
          </a:xfrm>
          <a:prstGeom prst="rect">
            <a:avLst/>
          </a:prstGeom>
          <a:noFill/>
        </p:spPr>
        <p:txBody>
          <a:bodyPr wrap="none" rtlCol="0">
            <a:spAutoFit/>
          </a:bodyPr>
          <a:lstStyle/>
          <a:p>
            <a:r>
              <a:rPr lang="en-US" sz="2400" dirty="0">
                <a:latin typeface="+mj-lt"/>
              </a:rPr>
              <a:t>QASM</a:t>
            </a:r>
          </a:p>
        </p:txBody>
      </p:sp>
      <mc:AlternateContent xmlns:mc="http://schemas.openxmlformats.org/markup-compatibility/2006" xmlns:a14="http://schemas.microsoft.com/office/drawing/2010/main">
        <mc:Choice Requires="a14">
          <p:sp>
            <p:nvSpPr>
              <p:cNvPr id="26" name="Rectangle 25">
                <a:extLst>
                  <a:ext uri="{FF2B5EF4-FFF2-40B4-BE49-F238E27FC236}">
                    <a16:creationId xmlns:a16="http://schemas.microsoft.com/office/drawing/2014/main" id="{CE57BBB8-E581-FE46-94A7-A7C965C7F037}"/>
                  </a:ext>
                </a:extLst>
              </p:cNvPr>
              <p:cNvSpPr/>
              <p:nvPr/>
            </p:nvSpPr>
            <p:spPr>
              <a:xfrm>
                <a:off x="2580134" y="3094255"/>
                <a:ext cx="5321521" cy="287296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𝐶𝐶𝑋</m:t>
                      </m:r>
                      <m:r>
                        <a:rPr lang="en-US" sz="2400" b="0" i="1" smtClean="0">
                          <a:latin typeface="Cambria Math" panose="02040503050406030204" pitchFamily="18" charset="0"/>
                        </a:rPr>
                        <m:t>=</m:t>
                      </m:r>
                      <m:d>
                        <m:dPr>
                          <m:ctrlPr>
                            <a:rPr lang="en-US" sz="2400" i="1">
                              <a:latin typeface="Cambria Math" panose="02040503050406030204" pitchFamily="18" charset="0"/>
                            </a:rPr>
                          </m:ctrlPr>
                        </m:dPr>
                        <m:e>
                          <m:m>
                            <m:mPr>
                              <m:mcs>
                                <m:mc>
                                  <m:mcPr>
                                    <m:count m:val="8"/>
                                    <m:mcJc m:val="center"/>
                                  </m:mcPr>
                                </m:mc>
                              </m:mcs>
                              <m:ctrlPr>
                                <a:rPr lang="en-US" sz="2400" b="0" i="1">
                                  <a:latin typeface="Cambria Math" panose="02040503050406030204" pitchFamily="18" charset="0"/>
                                </a:rPr>
                              </m:ctrlPr>
                            </m:mPr>
                            <m:mr>
                              <m:e>
                                <m:r>
                                  <m:rPr>
                                    <m:brk m:alnAt="7"/>
                                  </m:rPr>
                                  <a:rPr lang="en-US" sz="2400" b="1" i="1" smtClean="0">
                                    <a:latin typeface="Cambria Math" panose="02040503050406030204" pitchFamily="18" charset="0"/>
                                  </a:rPr>
                                  <m:t>𝟏</m:t>
                                </m:r>
                              </m:e>
                              <m:e>
                                <m:r>
                                  <a:rPr lang="en-US" sz="2400" b="0" i="1" smtClean="0">
                                    <a:latin typeface="Cambria Math" panose="02040503050406030204" pitchFamily="18" charset="0"/>
                                  </a:rPr>
                                  <m:t>0</m:t>
                                </m:r>
                              </m:e>
                              <m:e>
                                <m:r>
                                  <a:rPr lang="en-US" sz="2400" b="0" i="1" smtClean="0">
                                    <a:latin typeface="Cambria Math" panose="02040503050406030204" pitchFamily="18" charset="0"/>
                                  </a:rPr>
                                  <m:t>0</m:t>
                                </m:r>
                              </m:e>
                              <m:e>
                                <m:r>
                                  <a:rPr lang="en-US" sz="2400" b="0" i="1" smtClean="0">
                                    <a:latin typeface="Cambria Math" panose="02040503050406030204" pitchFamily="18" charset="0"/>
                                  </a:rPr>
                                  <m:t>0</m:t>
                                </m:r>
                              </m:e>
                              <m:e>
                                <m:r>
                                  <a:rPr lang="en-US" sz="2400" b="0" i="1" smtClean="0">
                                    <a:latin typeface="Cambria Math" panose="02040503050406030204" pitchFamily="18" charset="0"/>
                                  </a:rPr>
                                  <m:t>0</m:t>
                                </m:r>
                              </m:e>
                              <m:e>
                                <m:r>
                                  <a:rPr lang="en-US" sz="2400" b="0" i="1" smtClean="0">
                                    <a:latin typeface="Cambria Math" panose="02040503050406030204" pitchFamily="18" charset="0"/>
                                  </a:rPr>
                                  <m:t>0</m:t>
                                </m:r>
                              </m:e>
                              <m:e>
                                <m:r>
                                  <a:rPr lang="en-US" sz="2400" b="0" i="1" smtClean="0">
                                    <a:latin typeface="Cambria Math" panose="02040503050406030204" pitchFamily="18" charset="0"/>
                                  </a:rPr>
                                  <m:t>0</m:t>
                                </m:r>
                              </m:e>
                              <m:e>
                                <m:r>
                                  <a:rPr lang="en-US" sz="2400" b="0" i="1" smtClean="0">
                                    <a:latin typeface="Cambria Math" panose="02040503050406030204" pitchFamily="18" charset="0"/>
                                  </a:rPr>
                                  <m:t>0</m:t>
                                </m:r>
                              </m:e>
                            </m:mr>
                            <m:mr>
                              <m:e>
                                <m:r>
                                  <a:rPr lang="en-US" sz="2400" b="0" i="1" smtClean="0">
                                    <a:latin typeface="Cambria Math" panose="02040503050406030204" pitchFamily="18" charset="0"/>
                                  </a:rPr>
                                  <m:t>0</m:t>
                                </m:r>
                              </m:e>
                              <m:e>
                                <m:r>
                                  <a:rPr lang="en-US" sz="2400" b="1" i="1" smtClean="0">
                                    <a:latin typeface="Cambria Math" panose="02040503050406030204" pitchFamily="18" charset="0"/>
                                  </a:rPr>
                                  <m:t>𝟏</m:t>
                                </m:r>
                              </m:e>
                              <m:e>
                                <m:r>
                                  <a:rPr lang="en-US" sz="2400" b="0" i="1" smtClean="0">
                                    <a:latin typeface="Cambria Math" panose="02040503050406030204" pitchFamily="18" charset="0"/>
                                  </a:rPr>
                                  <m:t>0</m:t>
                                </m:r>
                              </m:e>
                              <m:e>
                                <m:r>
                                  <a:rPr lang="en-US" sz="2400" b="0" i="1" smtClean="0">
                                    <a:latin typeface="Cambria Math" panose="02040503050406030204" pitchFamily="18" charset="0"/>
                                  </a:rPr>
                                  <m:t>0</m:t>
                                </m:r>
                              </m:e>
                              <m:e>
                                <m:r>
                                  <a:rPr lang="en-US" sz="2400" b="0" i="1" smtClean="0">
                                    <a:latin typeface="Cambria Math" panose="02040503050406030204" pitchFamily="18" charset="0"/>
                                  </a:rPr>
                                  <m:t>0</m:t>
                                </m:r>
                              </m:e>
                              <m:e>
                                <m:r>
                                  <a:rPr lang="en-US" sz="2400" b="0" i="1" smtClean="0">
                                    <a:latin typeface="Cambria Math" panose="02040503050406030204" pitchFamily="18" charset="0"/>
                                  </a:rPr>
                                  <m:t>0</m:t>
                                </m:r>
                              </m:e>
                              <m:e>
                                <m:r>
                                  <a:rPr lang="en-US" sz="2400" b="0" i="1" smtClean="0">
                                    <a:latin typeface="Cambria Math" panose="02040503050406030204" pitchFamily="18" charset="0"/>
                                  </a:rPr>
                                  <m:t>0</m:t>
                                </m:r>
                              </m:e>
                              <m:e>
                                <m:r>
                                  <a:rPr lang="en-US" sz="2400" b="0" i="1" smtClean="0">
                                    <a:latin typeface="Cambria Math" panose="02040503050406030204" pitchFamily="18" charset="0"/>
                                  </a:rPr>
                                  <m:t>0</m:t>
                                </m:r>
                              </m:e>
                            </m:mr>
                            <m:mr>
                              <m:e>
                                <m:r>
                                  <a:rPr lang="en-US" sz="2400" b="0" i="1" smtClean="0">
                                    <a:latin typeface="Cambria Math" panose="02040503050406030204" pitchFamily="18" charset="0"/>
                                  </a:rPr>
                                  <m:t>0</m:t>
                                </m:r>
                              </m:e>
                              <m:e>
                                <m:r>
                                  <a:rPr lang="en-US" sz="2400" b="0" i="1" smtClean="0">
                                    <a:latin typeface="Cambria Math" panose="02040503050406030204" pitchFamily="18" charset="0"/>
                                  </a:rPr>
                                  <m:t>0</m:t>
                                </m:r>
                              </m:e>
                              <m:e>
                                <m:r>
                                  <a:rPr lang="en-US" sz="2400" b="1" i="1" smtClean="0">
                                    <a:latin typeface="Cambria Math" panose="02040503050406030204" pitchFamily="18" charset="0"/>
                                  </a:rPr>
                                  <m:t>𝟏</m:t>
                                </m:r>
                              </m:e>
                              <m:e>
                                <m:r>
                                  <a:rPr lang="en-US" sz="2400" b="0" i="1" smtClean="0">
                                    <a:latin typeface="Cambria Math" panose="02040503050406030204" pitchFamily="18" charset="0"/>
                                  </a:rPr>
                                  <m:t>0</m:t>
                                </m:r>
                              </m:e>
                              <m:e>
                                <m:r>
                                  <a:rPr lang="en-US" sz="2400" b="0" i="1" smtClean="0">
                                    <a:latin typeface="Cambria Math" panose="02040503050406030204" pitchFamily="18" charset="0"/>
                                  </a:rPr>
                                  <m:t>0</m:t>
                                </m:r>
                              </m:e>
                              <m:e>
                                <m:r>
                                  <a:rPr lang="en-US" sz="2400" b="0" i="1" smtClean="0">
                                    <a:latin typeface="Cambria Math" panose="02040503050406030204" pitchFamily="18" charset="0"/>
                                  </a:rPr>
                                  <m:t>0</m:t>
                                </m:r>
                              </m:e>
                              <m:e>
                                <m:r>
                                  <a:rPr lang="en-US" sz="2400" b="0" i="1" smtClean="0">
                                    <a:latin typeface="Cambria Math" panose="02040503050406030204" pitchFamily="18" charset="0"/>
                                  </a:rPr>
                                  <m:t>0</m:t>
                                </m:r>
                              </m:e>
                              <m:e>
                                <m:r>
                                  <a:rPr lang="en-US" sz="2400" b="0" i="1" smtClean="0">
                                    <a:latin typeface="Cambria Math" panose="02040503050406030204" pitchFamily="18" charset="0"/>
                                  </a:rPr>
                                  <m:t>0</m:t>
                                </m:r>
                              </m:e>
                            </m:mr>
                            <m:mr>
                              <m:e>
                                <m:r>
                                  <a:rPr lang="en-US" sz="2400" b="0" i="1" smtClean="0">
                                    <a:latin typeface="Cambria Math" panose="02040503050406030204" pitchFamily="18" charset="0"/>
                                  </a:rPr>
                                  <m:t>0</m:t>
                                </m:r>
                              </m:e>
                              <m:e>
                                <m:r>
                                  <a:rPr lang="en-US" sz="2400" b="0" i="1" smtClean="0">
                                    <a:latin typeface="Cambria Math" panose="02040503050406030204" pitchFamily="18" charset="0"/>
                                  </a:rPr>
                                  <m:t>0</m:t>
                                </m:r>
                              </m:e>
                              <m:e>
                                <m:r>
                                  <a:rPr lang="en-US" sz="2400" b="0" i="1" smtClean="0">
                                    <a:latin typeface="Cambria Math" panose="02040503050406030204" pitchFamily="18" charset="0"/>
                                  </a:rPr>
                                  <m:t>0</m:t>
                                </m:r>
                              </m:e>
                              <m:e>
                                <m:r>
                                  <a:rPr lang="en-US" sz="2400" b="1" i="1" smtClean="0">
                                    <a:latin typeface="Cambria Math" panose="02040503050406030204" pitchFamily="18" charset="0"/>
                                  </a:rPr>
                                  <m:t>𝟏</m:t>
                                </m:r>
                              </m:e>
                              <m:e>
                                <m:r>
                                  <a:rPr lang="en-US" sz="2400" b="0" i="1" smtClean="0">
                                    <a:latin typeface="Cambria Math" panose="02040503050406030204" pitchFamily="18" charset="0"/>
                                  </a:rPr>
                                  <m:t>0</m:t>
                                </m:r>
                              </m:e>
                              <m:e>
                                <m:r>
                                  <a:rPr lang="en-US" sz="2400" b="0" i="1" smtClean="0">
                                    <a:latin typeface="Cambria Math" panose="02040503050406030204" pitchFamily="18" charset="0"/>
                                  </a:rPr>
                                  <m:t>0</m:t>
                                </m:r>
                              </m:e>
                              <m:e>
                                <m:r>
                                  <a:rPr lang="en-US" sz="2400" b="0" i="1" smtClean="0">
                                    <a:latin typeface="Cambria Math" panose="02040503050406030204" pitchFamily="18" charset="0"/>
                                  </a:rPr>
                                  <m:t>0</m:t>
                                </m:r>
                              </m:e>
                              <m:e>
                                <m:r>
                                  <a:rPr lang="en-US" sz="2400" b="0" i="1" smtClean="0">
                                    <a:latin typeface="Cambria Math" panose="02040503050406030204" pitchFamily="18" charset="0"/>
                                  </a:rPr>
                                  <m:t>0</m:t>
                                </m:r>
                              </m:e>
                            </m:mr>
                            <m:mr>
                              <m:e>
                                <m:r>
                                  <m:rPr>
                                    <m:brk m:alnAt="7"/>
                                  </m:rPr>
                                  <a:rPr lang="en-US" sz="2400" b="0" i="1" smtClean="0">
                                    <a:latin typeface="Cambria Math" panose="02040503050406030204" pitchFamily="18" charset="0"/>
                                  </a:rPr>
                                  <m:t>0</m:t>
                                </m:r>
                              </m:e>
                              <m:e>
                                <m:r>
                                  <a:rPr lang="en-US" sz="2400" i="1">
                                    <a:latin typeface="Cambria Math" panose="02040503050406030204" pitchFamily="18" charset="0"/>
                                  </a:rPr>
                                  <m:t>0</m:t>
                                </m:r>
                              </m:e>
                              <m:e>
                                <m:r>
                                  <a:rPr lang="en-US" sz="2400" i="1">
                                    <a:latin typeface="Cambria Math" panose="02040503050406030204" pitchFamily="18" charset="0"/>
                                  </a:rPr>
                                  <m:t>0</m:t>
                                </m:r>
                              </m:e>
                              <m:e>
                                <m:r>
                                  <a:rPr lang="en-US" sz="2400" i="1">
                                    <a:latin typeface="Cambria Math" panose="02040503050406030204" pitchFamily="18" charset="0"/>
                                  </a:rPr>
                                  <m:t>0</m:t>
                                </m:r>
                              </m:e>
                              <m:e>
                                <m:r>
                                  <a:rPr lang="en-US" sz="2400" b="1" i="1" smtClean="0">
                                    <a:latin typeface="Cambria Math" panose="02040503050406030204" pitchFamily="18" charset="0"/>
                                  </a:rPr>
                                  <m:t>𝟏</m:t>
                                </m:r>
                              </m:e>
                              <m:e>
                                <m:r>
                                  <a:rPr lang="en-US" sz="2400" b="0" i="1" smtClean="0">
                                    <a:latin typeface="Cambria Math" panose="02040503050406030204" pitchFamily="18" charset="0"/>
                                  </a:rPr>
                                  <m:t>0</m:t>
                                </m:r>
                              </m:e>
                              <m:e>
                                <m:r>
                                  <a:rPr lang="en-US" sz="2400" b="0" i="1" smtClean="0">
                                    <a:latin typeface="Cambria Math" panose="02040503050406030204" pitchFamily="18" charset="0"/>
                                  </a:rPr>
                                  <m:t>0</m:t>
                                </m:r>
                              </m:e>
                              <m:e>
                                <m:r>
                                  <a:rPr lang="en-US" sz="2400" b="0" i="1" smtClean="0">
                                    <a:latin typeface="Cambria Math" panose="02040503050406030204" pitchFamily="18" charset="0"/>
                                  </a:rPr>
                                  <m:t>0</m:t>
                                </m:r>
                              </m:e>
                            </m:mr>
                            <m:mr>
                              <m:e>
                                <m:r>
                                  <a:rPr lang="en-US" sz="2400" i="1">
                                    <a:latin typeface="Cambria Math" panose="02040503050406030204" pitchFamily="18" charset="0"/>
                                  </a:rPr>
                                  <m:t>0</m:t>
                                </m:r>
                              </m:e>
                              <m:e>
                                <m:r>
                                  <a:rPr lang="en-US" sz="2400" b="0" i="1" smtClean="0">
                                    <a:latin typeface="Cambria Math" panose="02040503050406030204" pitchFamily="18" charset="0"/>
                                  </a:rPr>
                                  <m:t>0</m:t>
                                </m:r>
                              </m:e>
                              <m:e>
                                <m:r>
                                  <a:rPr lang="en-US" sz="2400" i="1">
                                    <a:latin typeface="Cambria Math" panose="02040503050406030204" pitchFamily="18" charset="0"/>
                                  </a:rPr>
                                  <m:t>0</m:t>
                                </m:r>
                              </m:e>
                              <m:e>
                                <m:r>
                                  <a:rPr lang="en-US" sz="2400" i="1">
                                    <a:latin typeface="Cambria Math" panose="02040503050406030204" pitchFamily="18" charset="0"/>
                                  </a:rPr>
                                  <m:t>0</m:t>
                                </m:r>
                              </m:e>
                              <m:e>
                                <m:r>
                                  <a:rPr lang="en-US" sz="2400" b="0" i="1" smtClean="0">
                                    <a:latin typeface="Cambria Math" panose="02040503050406030204" pitchFamily="18" charset="0"/>
                                  </a:rPr>
                                  <m:t>0</m:t>
                                </m:r>
                              </m:e>
                              <m:e>
                                <m:r>
                                  <a:rPr lang="en-US" sz="2400" b="1" i="1" smtClean="0">
                                    <a:latin typeface="Cambria Math" panose="02040503050406030204" pitchFamily="18" charset="0"/>
                                  </a:rPr>
                                  <m:t>𝟏</m:t>
                                </m:r>
                              </m:e>
                              <m:e>
                                <m:r>
                                  <a:rPr lang="en-US" sz="2400" b="0" i="1" smtClean="0">
                                    <a:latin typeface="Cambria Math" panose="02040503050406030204" pitchFamily="18" charset="0"/>
                                  </a:rPr>
                                  <m:t>0</m:t>
                                </m:r>
                              </m:e>
                              <m:e>
                                <m:r>
                                  <a:rPr lang="en-US" sz="2400" b="0" i="1" smtClean="0">
                                    <a:latin typeface="Cambria Math" panose="02040503050406030204" pitchFamily="18" charset="0"/>
                                  </a:rPr>
                                  <m:t>0</m:t>
                                </m:r>
                              </m:e>
                            </m:mr>
                            <m:mr>
                              <m:e>
                                <m:r>
                                  <a:rPr lang="en-US" sz="2400" i="1">
                                    <a:latin typeface="Cambria Math" panose="02040503050406030204" pitchFamily="18" charset="0"/>
                                  </a:rPr>
                                  <m:t>0</m:t>
                                </m:r>
                              </m:e>
                              <m:e>
                                <m:r>
                                  <a:rPr lang="en-US" sz="2400" i="1">
                                    <a:latin typeface="Cambria Math" panose="02040503050406030204" pitchFamily="18" charset="0"/>
                                  </a:rPr>
                                  <m:t>0</m:t>
                                </m:r>
                              </m:e>
                              <m:e>
                                <m:r>
                                  <a:rPr lang="en-US" sz="2400" i="1">
                                    <a:latin typeface="Cambria Math" panose="02040503050406030204" pitchFamily="18" charset="0"/>
                                  </a:rPr>
                                  <m:t>0</m:t>
                                </m:r>
                              </m:e>
                              <m:e>
                                <m:r>
                                  <a:rPr lang="en-US" sz="2400" b="0" i="1" smtClean="0">
                                    <a:latin typeface="Cambria Math" panose="02040503050406030204" pitchFamily="18" charset="0"/>
                                  </a:rPr>
                                  <m:t>0</m:t>
                                </m:r>
                              </m:e>
                              <m:e>
                                <m:r>
                                  <a:rPr lang="en-US" sz="2400" b="0" i="1" smtClean="0">
                                    <a:latin typeface="Cambria Math" panose="02040503050406030204" pitchFamily="18" charset="0"/>
                                  </a:rPr>
                                  <m:t>0</m:t>
                                </m:r>
                              </m:e>
                              <m:e>
                                <m:r>
                                  <a:rPr lang="en-US" sz="2400" b="0" i="1" smtClean="0">
                                    <a:latin typeface="Cambria Math" panose="02040503050406030204" pitchFamily="18" charset="0"/>
                                  </a:rPr>
                                  <m:t>0</m:t>
                                </m:r>
                              </m:e>
                              <m:e>
                                <m:r>
                                  <a:rPr lang="en-US" sz="2400" b="0" i="1" smtClean="0">
                                    <a:latin typeface="Cambria Math" panose="02040503050406030204" pitchFamily="18" charset="0"/>
                                  </a:rPr>
                                  <m:t>0</m:t>
                                </m:r>
                              </m:e>
                              <m:e>
                                <m:r>
                                  <a:rPr lang="en-US" sz="2400" b="0" i="1" smtClean="0">
                                    <a:latin typeface="Cambria Math" panose="02040503050406030204" pitchFamily="18" charset="0"/>
                                  </a:rPr>
                                  <m:t>1</m:t>
                                </m:r>
                              </m:e>
                            </m:mr>
                            <m:mr>
                              <m:e>
                                <m:r>
                                  <a:rPr lang="en-US" sz="2400" i="1">
                                    <a:latin typeface="Cambria Math" panose="02040503050406030204" pitchFamily="18" charset="0"/>
                                  </a:rPr>
                                  <m:t>0</m:t>
                                </m:r>
                              </m:e>
                              <m:e>
                                <m:r>
                                  <a:rPr lang="en-US" sz="2400" i="1">
                                    <a:latin typeface="Cambria Math" panose="02040503050406030204" pitchFamily="18" charset="0"/>
                                  </a:rPr>
                                  <m:t>0</m:t>
                                </m:r>
                              </m:e>
                              <m:e>
                                <m:r>
                                  <a:rPr lang="en-US" sz="2400" b="0" i="1" smtClean="0">
                                    <a:latin typeface="Cambria Math" panose="02040503050406030204" pitchFamily="18" charset="0"/>
                                  </a:rPr>
                                  <m:t>0</m:t>
                                </m:r>
                              </m:e>
                              <m:e>
                                <m:r>
                                  <a:rPr lang="en-US" sz="2400" b="0" i="1" smtClean="0">
                                    <a:latin typeface="Cambria Math" panose="02040503050406030204" pitchFamily="18" charset="0"/>
                                  </a:rPr>
                                  <m:t>1</m:t>
                                </m:r>
                              </m:e>
                              <m:e>
                                <m:r>
                                  <a:rPr lang="en-US" sz="2400" b="0" i="1" smtClean="0">
                                    <a:latin typeface="Cambria Math" panose="02040503050406030204" pitchFamily="18" charset="0"/>
                                  </a:rPr>
                                  <m:t>0</m:t>
                                </m:r>
                              </m:e>
                              <m:e>
                                <m:r>
                                  <a:rPr lang="en-US" sz="2400" b="0" i="1" smtClean="0">
                                    <a:latin typeface="Cambria Math" panose="02040503050406030204" pitchFamily="18" charset="0"/>
                                  </a:rPr>
                                  <m:t>0</m:t>
                                </m:r>
                              </m:e>
                              <m:e>
                                <m:r>
                                  <a:rPr lang="en-US" sz="2400" b="0" i="1" smtClean="0">
                                    <a:latin typeface="Cambria Math" panose="02040503050406030204" pitchFamily="18" charset="0"/>
                                  </a:rPr>
                                  <m:t>1</m:t>
                                </m:r>
                              </m:e>
                              <m:e>
                                <m:r>
                                  <a:rPr lang="en-US" sz="2400" b="0" i="1" smtClean="0">
                                    <a:latin typeface="Cambria Math" panose="02040503050406030204" pitchFamily="18" charset="0"/>
                                  </a:rPr>
                                  <m:t>0</m:t>
                                </m:r>
                              </m:e>
                            </m:mr>
                          </m:m>
                        </m:e>
                      </m:d>
                    </m:oMath>
                  </m:oMathPara>
                </a14:m>
                <a:endParaRPr lang="en-US" sz="2400" dirty="0"/>
              </a:p>
            </p:txBody>
          </p:sp>
        </mc:Choice>
        <mc:Fallback xmlns="">
          <p:sp>
            <p:nvSpPr>
              <p:cNvPr id="26" name="Rectangle 25">
                <a:extLst>
                  <a:ext uri="{FF2B5EF4-FFF2-40B4-BE49-F238E27FC236}">
                    <a16:creationId xmlns:a16="http://schemas.microsoft.com/office/drawing/2014/main" id="{CE57BBB8-E581-FE46-94A7-A7C965C7F037}"/>
                  </a:ext>
                </a:extLst>
              </p:cNvPr>
              <p:cNvSpPr>
                <a:spLocks noRot="1" noChangeAspect="1" noMove="1" noResize="1" noEditPoints="1" noAdjustHandles="1" noChangeArrowheads="1" noChangeShapeType="1" noTextEdit="1"/>
              </p:cNvSpPr>
              <p:nvPr/>
            </p:nvSpPr>
            <p:spPr>
              <a:xfrm>
                <a:off x="2580134" y="3094255"/>
                <a:ext cx="5321521" cy="2872966"/>
              </a:xfrm>
              <a:prstGeom prst="rect">
                <a:avLst/>
              </a:prstGeom>
              <a:blipFill>
                <a:blip r:embed="rId9"/>
                <a:stretch>
                  <a:fillRect b="-1322"/>
                </a:stretch>
              </a:blipFill>
            </p:spPr>
            <p:txBody>
              <a:bodyPr/>
              <a:lstStyle/>
              <a:p>
                <a:r>
                  <a:rPr lang="en-US">
                    <a:noFill/>
                  </a:rPr>
                  <a:t> </a:t>
                </a:r>
              </a:p>
            </p:txBody>
          </p:sp>
        </mc:Fallback>
      </mc:AlternateContent>
    </p:spTree>
    <p:extLst>
      <p:ext uri="{BB962C8B-B14F-4D97-AF65-F5344CB8AC3E}">
        <p14:creationId xmlns:p14="http://schemas.microsoft.com/office/powerpoint/2010/main" val="15052212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dissolve">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D5DBDC11-F026-CC46-8A53-E0757502B8ED}"/>
              </a:ext>
            </a:extLst>
          </p:cNvPr>
          <p:cNvGrpSpPr/>
          <p:nvPr/>
        </p:nvGrpSpPr>
        <p:grpSpPr>
          <a:xfrm>
            <a:off x="4114801" y="3050753"/>
            <a:ext cx="3586654" cy="2872966"/>
            <a:chOff x="4114801" y="3050753"/>
            <a:chExt cx="3586654" cy="2872966"/>
          </a:xfrm>
          <a:solidFill>
            <a:schemeClr val="bg1">
              <a:lumMod val="95000"/>
            </a:schemeClr>
          </a:solidFill>
        </p:grpSpPr>
        <p:sp>
          <p:nvSpPr>
            <p:cNvPr id="9" name="Rectangle 8">
              <a:extLst>
                <a:ext uri="{FF2B5EF4-FFF2-40B4-BE49-F238E27FC236}">
                  <a16:creationId xmlns:a16="http://schemas.microsoft.com/office/drawing/2014/main" id="{CDE60E5E-3C7A-784F-81C2-EAF1AF5C6890}"/>
                </a:ext>
              </a:extLst>
            </p:cNvPr>
            <p:cNvSpPr/>
            <p:nvPr/>
          </p:nvSpPr>
          <p:spPr>
            <a:xfrm>
              <a:off x="4114801" y="3050753"/>
              <a:ext cx="731656" cy="767024"/>
            </a:xfrm>
            <a:prstGeom prst="rect">
              <a:avLst/>
            </a:prstGeom>
            <a:grp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6720FCD8-8282-3846-B6FB-A974B1834321}"/>
                </a:ext>
              </a:extLst>
            </p:cNvPr>
            <p:cNvSpPr/>
            <p:nvPr/>
          </p:nvSpPr>
          <p:spPr>
            <a:xfrm>
              <a:off x="5038826" y="3737571"/>
              <a:ext cx="731656" cy="767024"/>
            </a:xfrm>
            <a:prstGeom prst="rect">
              <a:avLst/>
            </a:prstGeom>
            <a:grp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ED8912FD-37FE-3A40-8997-DA16B2F7D39F}"/>
                </a:ext>
              </a:extLst>
            </p:cNvPr>
            <p:cNvSpPr/>
            <p:nvPr/>
          </p:nvSpPr>
          <p:spPr>
            <a:xfrm>
              <a:off x="5962851" y="4504595"/>
              <a:ext cx="1738604" cy="1419124"/>
            </a:xfrm>
            <a:prstGeom prst="rect">
              <a:avLst/>
            </a:prstGeom>
            <a:grp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139EF45-D20A-C54B-9E7B-223F102F5FFB}"/>
              </a:ext>
            </a:extLst>
          </p:cNvPr>
          <p:cNvSpPr>
            <a:spLocks noGrp="1"/>
          </p:cNvSpPr>
          <p:nvPr>
            <p:ph type="title"/>
          </p:nvPr>
        </p:nvSpPr>
        <p:spPr>
          <a:xfrm>
            <a:off x="0" y="0"/>
            <a:ext cx="12192000" cy="928688"/>
          </a:xfrm>
        </p:spPr>
        <p:txBody>
          <a:bodyPr/>
          <a:lstStyle/>
          <a:p>
            <a:r>
              <a:rPr lang="en-US" dirty="0" err="1"/>
              <a:t>Fredkin</a:t>
            </a:r>
            <a:r>
              <a:rPr lang="en-US" dirty="0"/>
              <a:t>/ CSWAP Gate</a:t>
            </a:r>
            <a:endParaRPr lang="en-US" b="1" dirty="0"/>
          </a:p>
        </p:txBody>
      </p:sp>
      <p:sp>
        <p:nvSpPr>
          <p:cNvPr id="3" name="Slide Number Placeholder 2">
            <a:extLst>
              <a:ext uri="{FF2B5EF4-FFF2-40B4-BE49-F238E27FC236}">
                <a16:creationId xmlns:a16="http://schemas.microsoft.com/office/drawing/2014/main" id="{1DFCF789-A597-7E48-870E-125D0C3A063D}"/>
              </a:ext>
            </a:extLst>
          </p:cNvPr>
          <p:cNvSpPr>
            <a:spLocks noGrp="1"/>
          </p:cNvSpPr>
          <p:nvPr>
            <p:ph type="sldNum" sz="quarter" idx="12"/>
          </p:nvPr>
        </p:nvSpPr>
        <p:spPr/>
        <p:txBody>
          <a:bodyPr/>
          <a:lstStyle/>
          <a:p>
            <a:fld id="{591A223C-FA10-BC46-A853-03BA373D023C}" type="slidenum">
              <a:rPr lang="en-US" smtClean="0"/>
              <a:t>44</a:t>
            </a:fld>
            <a:endParaRPr lang="en-US"/>
          </a:p>
        </p:txBody>
      </p:sp>
      <p:sp>
        <p:nvSpPr>
          <p:cNvPr id="7" name="Rectangle 6">
            <a:extLst>
              <a:ext uri="{FF2B5EF4-FFF2-40B4-BE49-F238E27FC236}">
                <a16:creationId xmlns:a16="http://schemas.microsoft.com/office/drawing/2014/main" id="{01F86251-6DE2-3448-A31F-B8BAA869C571}"/>
              </a:ext>
            </a:extLst>
          </p:cNvPr>
          <p:cNvSpPr/>
          <p:nvPr/>
        </p:nvSpPr>
        <p:spPr>
          <a:xfrm>
            <a:off x="224852" y="1599742"/>
            <a:ext cx="11679658" cy="444129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Connector 15">
            <a:extLst>
              <a:ext uri="{FF2B5EF4-FFF2-40B4-BE49-F238E27FC236}">
                <a16:creationId xmlns:a16="http://schemas.microsoft.com/office/drawing/2014/main" id="{1A76F891-5AB6-8649-AA11-DCC61231E1A8}"/>
              </a:ext>
            </a:extLst>
          </p:cNvPr>
          <p:cNvCxnSpPr>
            <a:cxnSpLocks/>
          </p:cNvCxnSpPr>
          <p:nvPr/>
        </p:nvCxnSpPr>
        <p:spPr>
          <a:xfrm>
            <a:off x="2778151" y="1609656"/>
            <a:ext cx="0" cy="791194"/>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8A527968-DE7C-FE4A-A9DB-19FD054BF655}"/>
              </a:ext>
            </a:extLst>
          </p:cNvPr>
          <p:cNvCxnSpPr>
            <a:cxnSpLocks/>
          </p:cNvCxnSpPr>
          <p:nvPr/>
        </p:nvCxnSpPr>
        <p:spPr>
          <a:xfrm flipV="1">
            <a:off x="8031156" y="1599745"/>
            <a:ext cx="0" cy="791191"/>
          </a:xfrm>
          <a:prstGeom prst="line">
            <a:avLst/>
          </a:prstGeom>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35913924-2483-E343-99F2-9D1061599CCB}"/>
              </a:ext>
            </a:extLst>
          </p:cNvPr>
          <p:cNvCxnSpPr>
            <a:cxnSpLocks/>
          </p:cNvCxnSpPr>
          <p:nvPr/>
        </p:nvCxnSpPr>
        <p:spPr>
          <a:xfrm>
            <a:off x="208474" y="2390936"/>
            <a:ext cx="1167965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83364821-E044-724C-BCD6-88BE6024389F}"/>
              </a:ext>
            </a:extLst>
          </p:cNvPr>
          <p:cNvCxnSpPr>
            <a:cxnSpLocks/>
          </p:cNvCxnSpPr>
          <p:nvPr/>
        </p:nvCxnSpPr>
        <p:spPr>
          <a:xfrm>
            <a:off x="535884" y="4570582"/>
            <a:ext cx="116559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E667040F-665E-5242-BB46-9F9E18E502E7}"/>
              </a:ext>
            </a:extLst>
          </p:cNvPr>
          <p:cNvCxnSpPr>
            <a:cxnSpLocks/>
          </p:cNvCxnSpPr>
          <p:nvPr/>
        </p:nvCxnSpPr>
        <p:spPr>
          <a:xfrm>
            <a:off x="549456" y="3630721"/>
            <a:ext cx="116559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6CFAB81F-91C5-8B4E-8018-BA950ACEB817}"/>
              </a:ext>
            </a:extLst>
          </p:cNvPr>
          <p:cNvSpPr/>
          <p:nvPr/>
        </p:nvSpPr>
        <p:spPr>
          <a:xfrm>
            <a:off x="352432" y="2390936"/>
            <a:ext cx="314510" cy="461665"/>
          </a:xfrm>
          <a:prstGeom prst="rect">
            <a:avLst/>
          </a:prstGeom>
          <a:noFill/>
        </p:spPr>
        <p:txBody>
          <a:bodyPr wrap="none">
            <a:spAutoFit/>
          </a:bodyPr>
          <a:lstStyle/>
          <a:p>
            <a:r>
              <a:rPr lang="en-US" sz="2400" dirty="0"/>
              <a:t>c</a:t>
            </a:r>
          </a:p>
        </p:txBody>
      </p:sp>
      <p:cxnSp>
        <p:nvCxnSpPr>
          <p:cNvPr id="44" name="Straight Connector 43">
            <a:extLst>
              <a:ext uri="{FF2B5EF4-FFF2-40B4-BE49-F238E27FC236}">
                <a16:creationId xmlns:a16="http://schemas.microsoft.com/office/drawing/2014/main" id="{E14291EC-9CEC-824A-858A-B15D74D456B9}"/>
              </a:ext>
            </a:extLst>
          </p:cNvPr>
          <p:cNvCxnSpPr>
            <a:cxnSpLocks/>
          </p:cNvCxnSpPr>
          <p:nvPr/>
        </p:nvCxnSpPr>
        <p:spPr>
          <a:xfrm>
            <a:off x="563029" y="2877775"/>
            <a:ext cx="116559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45" name="Oval 44">
            <a:extLst>
              <a:ext uri="{FF2B5EF4-FFF2-40B4-BE49-F238E27FC236}">
                <a16:creationId xmlns:a16="http://schemas.microsoft.com/office/drawing/2014/main" id="{9BD86072-4670-E045-AAC4-1D587F95E54E}"/>
              </a:ext>
            </a:extLst>
          </p:cNvPr>
          <p:cNvSpPr/>
          <p:nvPr/>
        </p:nvSpPr>
        <p:spPr>
          <a:xfrm>
            <a:off x="943938" y="2695000"/>
            <a:ext cx="360000" cy="360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mc:AlternateContent xmlns:mc="http://schemas.openxmlformats.org/markup-compatibility/2006" xmlns:a14="http://schemas.microsoft.com/office/drawing/2010/main">
        <mc:Choice Requires="a14">
          <p:sp>
            <p:nvSpPr>
              <p:cNvPr id="46" name="Rectangle 45">
                <a:extLst>
                  <a:ext uri="{FF2B5EF4-FFF2-40B4-BE49-F238E27FC236}">
                    <a16:creationId xmlns:a16="http://schemas.microsoft.com/office/drawing/2014/main" id="{F079F358-4F7D-7A4E-B451-850F3191BEE0}"/>
                  </a:ext>
                </a:extLst>
              </p:cNvPr>
              <p:cNvSpPr/>
              <p:nvPr/>
            </p:nvSpPr>
            <p:spPr>
              <a:xfrm>
                <a:off x="352432" y="4069073"/>
                <a:ext cx="513538" cy="461665"/>
              </a:xfrm>
              <a:prstGeom prst="rect">
                <a:avLst/>
              </a:prstGeom>
              <a:solidFill>
                <a:schemeClr val="bg1"/>
              </a:solidFill>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𝑡</m:t>
                          </m:r>
                        </m:e>
                        <m:sub>
                          <m:r>
                            <a:rPr lang="en-US" sz="2400" b="0" i="1" smtClean="0">
                              <a:latin typeface="Cambria Math" panose="02040503050406030204" pitchFamily="18" charset="0"/>
                            </a:rPr>
                            <m:t>2</m:t>
                          </m:r>
                        </m:sub>
                      </m:sSub>
                    </m:oMath>
                  </m:oMathPara>
                </a14:m>
                <a:endParaRPr lang="en-US" sz="2400" dirty="0"/>
              </a:p>
            </p:txBody>
          </p:sp>
        </mc:Choice>
        <mc:Fallback xmlns="">
          <p:sp>
            <p:nvSpPr>
              <p:cNvPr id="46" name="Rectangle 45">
                <a:extLst>
                  <a:ext uri="{FF2B5EF4-FFF2-40B4-BE49-F238E27FC236}">
                    <a16:creationId xmlns:a16="http://schemas.microsoft.com/office/drawing/2014/main" id="{F079F358-4F7D-7A4E-B451-850F3191BEE0}"/>
                  </a:ext>
                </a:extLst>
              </p:cNvPr>
              <p:cNvSpPr>
                <a:spLocks noRot="1" noChangeAspect="1" noMove="1" noResize="1" noEditPoints="1" noAdjustHandles="1" noChangeArrowheads="1" noChangeShapeType="1" noTextEdit="1"/>
              </p:cNvSpPr>
              <p:nvPr/>
            </p:nvSpPr>
            <p:spPr>
              <a:xfrm>
                <a:off x="352432" y="4069073"/>
                <a:ext cx="513538" cy="461665"/>
              </a:xfrm>
              <a:prstGeom prst="rect">
                <a:avLst/>
              </a:prstGeom>
              <a:blipFill>
                <a:blip r:embed="rId3"/>
                <a:stretch>
                  <a:fillRect/>
                </a:stretch>
              </a:blipFill>
            </p:spPr>
            <p:txBody>
              <a:bodyPr/>
              <a:lstStyle/>
              <a:p>
                <a:r>
                  <a:rPr lang="en-US">
                    <a:noFill/>
                  </a:rPr>
                  <a:t> </a:t>
                </a:r>
              </a:p>
            </p:txBody>
          </p:sp>
        </mc:Fallback>
      </mc:AlternateContent>
      <p:grpSp>
        <p:nvGrpSpPr>
          <p:cNvPr id="6" name="Group 5">
            <a:extLst>
              <a:ext uri="{FF2B5EF4-FFF2-40B4-BE49-F238E27FC236}">
                <a16:creationId xmlns:a16="http://schemas.microsoft.com/office/drawing/2014/main" id="{0A400AB1-BEC0-7C45-8972-2E69D15D3C83}"/>
              </a:ext>
            </a:extLst>
          </p:cNvPr>
          <p:cNvGrpSpPr/>
          <p:nvPr/>
        </p:nvGrpSpPr>
        <p:grpSpPr>
          <a:xfrm>
            <a:off x="2396099" y="3050753"/>
            <a:ext cx="9637395" cy="2872966"/>
            <a:chOff x="2396099" y="3050753"/>
            <a:chExt cx="9637395" cy="2872966"/>
          </a:xfrm>
        </p:grpSpPr>
        <mc:AlternateContent xmlns:mc="http://schemas.openxmlformats.org/markup-compatibility/2006" xmlns:a14="http://schemas.microsoft.com/office/drawing/2010/main">
          <mc:Choice Requires="a14">
            <p:sp>
              <p:nvSpPr>
                <p:cNvPr id="26" name="Rectangle 25">
                  <a:extLst>
                    <a:ext uri="{FF2B5EF4-FFF2-40B4-BE49-F238E27FC236}">
                      <a16:creationId xmlns:a16="http://schemas.microsoft.com/office/drawing/2014/main" id="{CE57BBB8-E581-FE46-94A7-A7C965C7F037}"/>
                    </a:ext>
                  </a:extLst>
                </p:cNvPr>
                <p:cNvSpPr/>
                <p:nvPr/>
              </p:nvSpPr>
              <p:spPr>
                <a:xfrm>
                  <a:off x="2396099" y="3050753"/>
                  <a:ext cx="5624488" cy="287296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sr-Latn-RS" sz="2400" i="1">
                            <a:latin typeface="Cambria Math" panose="02040503050406030204" pitchFamily="18" charset="0"/>
                          </a:rPr>
                          <m:t>𝑐𝑆𝑊𝐴𝑃</m:t>
                        </m:r>
                        <m:r>
                          <a:rPr lang="sr-Latn-RS" sz="2400" i="1">
                            <a:latin typeface="Cambria Math" panose="02040503050406030204" pitchFamily="18" charset="0"/>
                          </a:rPr>
                          <m:t>=</m:t>
                        </m:r>
                        <m:d>
                          <m:dPr>
                            <m:ctrlPr>
                              <a:rPr lang="en-ZA" sz="2400" i="1">
                                <a:latin typeface="Cambria Math" panose="02040503050406030204" pitchFamily="18" charset="0"/>
                              </a:rPr>
                            </m:ctrlPr>
                          </m:dPr>
                          <m:e>
                            <m:m>
                              <m:mPr>
                                <m:mcs>
                                  <m:mc>
                                    <m:mcPr>
                                      <m:count m:val="8"/>
                                      <m:mcJc m:val="center"/>
                                    </m:mcPr>
                                  </m:mc>
                                </m:mcs>
                                <m:ctrlPr>
                                  <a:rPr lang="en-ZA" sz="2400" i="1">
                                    <a:latin typeface="Cambria Math" panose="02040503050406030204" pitchFamily="18" charset="0"/>
                                  </a:rPr>
                                </m:ctrlPr>
                              </m:mPr>
                              <m:mr>
                                <m:e>
                                  <m:r>
                                    <a:rPr lang="sr-Latn-RS" sz="2400" i="1">
                                      <a:latin typeface="Cambria Math" panose="02040503050406030204" pitchFamily="18" charset="0"/>
                                    </a:rPr>
                                    <m:t>1</m:t>
                                  </m:r>
                                </m:e>
                                <m:e>
                                  <m:r>
                                    <a:rPr lang="sr-Latn-RS" sz="2400" i="1">
                                      <a:latin typeface="Cambria Math" panose="02040503050406030204" pitchFamily="18" charset="0"/>
                                    </a:rPr>
                                    <m:t>0</m:t>
                                  </m:r>
                                </m:e>
                                <m:e>
                                  <m:r>
                                    <a:rPr lang="sr-Latn-RS" sz="2400" i="1">
                                      <a:latin typeface="Cambria Math" panose="02040503050406030204" pitchFamily="18" charset="0"/>
                                    </a:rPr>
                                    <m:t>0</m:t>
                                  </m:r>
                                </m:e>
                                <m:e>
                                  <m:r>
                                    <a:rPr lang="sr-Latn-RS" sz="2400" i="1">
                                      <a:latin typeface="Cambria Math" panose="02040503050406030204" pitchFamily="18" charset="0"/>
                                    </a:rPr>
                                    <m:t>0</m:t>
                                  </m:r>
                                </m:e>
                                <m:e>
                                  <m:r>
                                    <a:rPr lang="sr-Latn-RS" sz="2400" i="1">
                                      <a:latin typeface="Cambria Math" panose="02040503050406030204" pitchFamily="18" charset="0"/>
                                    </a:rPr>
                                    <m:t>0</m:t>
                                  </m:r>
                                </m:e>
                                <m:e>
                                  <m:r>
                                    <a:rPr lang="sr-Latn-RS" sz="2400" i="1">
                                      <a:latin typeface="Cambria Math" panose="02040503050406030204" pitchFamily="18" charset="0"/>
                                    </a:rPr>
                                    <m:t>0</m:t>
                                  </m:r>
                                </m:e>
                                <m:e>
                                  <m:r>
                                    <a:rPr lang="sr-Latn-RS" sz="2400" i="1">
                                      <a:latin typeface="Cambria Math" panose="02040503050406030204" pitchFamily="18" charset="0"/>
                                    </a:rPr>
                                    <m:t>0</m:t>
                                  </m:r>
                                </m:e>
                                <m:e>
                                  <m:r>
                                    <a:rPr lang="sr-Latn-RS" sz="2400" i="1">
                                      <a:latin typeface="Cambria Math" panose="02040503050406030204" pitchFamily="18" charset="0"/>
                                    </a:rPr>
                                    <m:t>0</m:t>
                                  </m:r>
                                </m:e>
                              </m:mr>
                              <m:mr>
                                <m:e>
                                  <m:r>
                                    <a:rPr lang="sr-Latn-RS" sz="2400" i="1">
                                      <a:latin typeface="Cambria Math" panose="02040503050406030204" pitchFamily="18" charset="0"/>
                                    </a:rPr>
                                    <m:t>0</m:t>
                                  </m:r>
                                </m:e>
                                <m:e>
                                  <m:r>
                                    <a:rPr lang="sr-Latn-RS" sz="2400" i="1">
                                      <a:latin typeface="Cambria Math" panose="02040503050406030204" pitchFamily="18" charset="0"/>
                                    </a:rPr>
                                    <m:t>1</m:t>
                                  </m:r>
                                </m:e>
                                <m:e>
                                  <m:r>
                                    <a:rPr lang="sr-Latn-RS" sz="2400" i="1">
                                      <a:latin typeface="Cambria Math" panose="02040503050406030204" pitchFamily="18" charset="0"/>
                                    </a:rPr>
                                    <m:t>0</m:t>
                                  </m:r>
                                </m:e>
                                <m:e>
                                  <m:r>
                                    <a:rPr lang="sr-Latn-RS" sz="2400" i="1">
                                      <a:latin typeface="Cambria Math" panose="02040503050406030204" pitchFamily="18" charset="0"/>
                                    </a:rPr>
                                    <m:t>0</m:t>
                                  </m:r>
                                </m:e>
                                <m:e>
                                  <m:r>
                                    <a:rPr lang="sr-Latn-RS" sz="2400" i="1">
                                      <a:latin typeface="Cambria Math" panose="02040503050406030204" pitchFamily="18" charset="0"/>
                                    </a:rPr>
                                    <m:t>0</m:t>
                                  </m:r>
                                </m:e>
                                <m:e>
                                  <m:r>
                                    <a:rPr lang="sr-Latn-RS" sz="2400" i="1">
                                      <a:latin typeface="Cambria Math" panose="02040503050406030204" pitchFamily="18" charset="0"/>
                                    </a:rPr>
                                    <m:t>0</m:t>
                                  </m:r>
                                </m:e>
                                <m:e>
                                  <m:r>
                                    <a:rPr lang="sr-Latn-RS" sz="2400" i="1">
                                      <a:latin typeface="Cambria Math" panose="02040503050406030204" pitchFamily="18" charset="0"/>
                                    </a:rPr>
                                    <m:t>0</m:t>
                                  </m:r>
                                </m:e>
                                <m:e>
                                  <m:r>
                                    <a:rPr lang="sr-Latn-RS" sz="2400" i="1">
                                      <a:latin typeface="Cambria Math" panose="02040503050406030204" pitchFamily="18" charset="0"/>
                                    </a:rPr>
                                    <m:t>0</m:t>
                                  </m:r>
                                </m:e>
                              </m:mr>
                              <m:mr>
                                <m:e>
                                  <m:r>
                                    <a:rPr lang="sr-Latn-RS" sz="2400" i="1">
                                      <a:latin typeface="Cambria Math" panose="02040503050406030204" pitchFamily="18" charset="0"/>
                                    </a:rPr>
                                    <m:t>0</m:t>
                                  </m:r>
                                </m:e>
                                <m:e>
                                  <m:r>
                                    <a:rPr lang="sr-Latn-RS" sz="2400" i="1">
                                      <a:latin typeface="Cambria Math" panose="02040503050406030204" pitchFamily="18" charset="0"/>
                                    </a:rPr>
                                    <m:t>0</m:t>
                                  </m:r>
                                </m:e>
                                <m:e>
                                  <m:r>
                                    <a:rPr lang="sr-Latn-RS" sz="2400" i="1">
                                      <a:latin typeface="Cambria Math" panose="02040503050406030204" pitchFamily="18" charset="0"/>
                                    </a:rPr>
                                    <m:t>1</m:t>
                                  </m:r>
                                </m:e>
                                <m:e>
                                  <m:r>
                                    <a:rPr lang="sr-Latn-RS" sz="2400" i="1">
                                      <a:latin typeface="Cambria Math" panose="02040503050406030204" pitchFamily="18" charset="0"/>
                                    </a:rPr>
                                    <m:t>0</m:t>
                                  </m:r>
                                </m:e>
                                <m:e>
                                  <m:r>
                                    <a:rPr lang="sr-Latn-RS" sz="2400" i="1">
                                      <a:latin typeface="Cambria Math" panose="02040503050406030204" pitchFamily="18" charset="0"/>
                                    </a:rPr>
                                    <m:t>0</m:t>
                                  </m:r>
                                </m:e>
                                <m:e>
                                  <m:r>
                                    <a:rPr lang="sr-Latn-RS" sz="2400" i="1">
                                      <a:latin typeface="Cambria Math" panose="02040503050406030204" pitchFamily="18" charset="0"/>
                                    </a:rPr>
                                    <m:t>0</m:t>
                                  </m:r>
                                </m:e>
                                <m:e>
                                  <m:r>
                                    <a:rPr lang="sr-Latn-RS" sz="2400" i="1">
                                      <a:latin typeface="Cambria Math" panose="02040503050406030204" pitchFamily="18" charset="0"/>
                                    </a:rPr>
                                    <m:t>0</m:t>
                                  </m:r>
                                </m:e>
                                <m:e>
                                  <m:r>
                                    <a:rPr lang="sr-Latn-RS" sz="2400" i="1">
                                      <a:latin typeface="Cambria Math" panose="02040503050406030204" pitchFamily="18" charset="0"/>
                                    </a:rPr>
                                    <m:t>0</m:t>
                                  </m:r>
                                </m:e>
                              </m:mr>
                              <m:mr>
                                <m:e>
                                  <m:r>
                                    <a:rPr lang="sr-Latn-RS" sz="2400" i="1">
                                      <a:latin typeface="Cambria Math" panose="02040503050406030204" pitchFamily="18" charset="0"/>
                                    </a:rPr>
                                    <m:t>0</m:t>
                                  </m:r>
                                </m:e>
                                <m:e>
                                  <m:r>
                                    <a:rPr lang="sr-Latn-RS" sz="2400" i="1">
                                      <a:latin typeface="Cambria Math" panose="02040503050406030204" pitchFamily="18" charset="0"/>
                                    </a:rPr>
                                    <m:t>0</m:t>
                                  </m:r>
                                </m:e>
                                <m:e>
                                  <m:r>
                                    <a:rPr lang="sr-Latn-RS" sz="2400" i="1">
                                      <a:latin typeface="Cambria Math" panose="02040503050406030204" pitchFamily="18" charset="0"/>
                                    </a:rPr>
                                    <m:t>0</m:t>
                                  </m:r>
                                </m:e>
                                <m:e>
                                  <m:r>
                                    <a:rPr lang="sr-Latn-RS" sz="2400" i="1">
                                      <a:latin typeface="Cambria Math" panose="02040503050406030204" pitchFamily="18" charset="0"/>
                                    </a:rPr>
                                    <m:t>1</m:t>
                                  </m:r>
                                </m:e>
                                <m:e>
                                  <m:r>
                                    <a:rPr lang="sr-Latn-RS" sz="2400" i="1">
                                      <a:latin typeface="Cambria Math" panose="02040503050406030204" pitchFamily="18" charset="0"/>
                                    </a:rPr>
                                    <m:t>0</m:t>
                                  </m:r>
                                </m:e>
                                <m:e>
                                  <m:r>
                                    <a:rPr lang="sr-Latn-RS" sz="2400" i="1">
                                      <a:latin typeface="Cambria Math" panose="02040503050406030204" pitchFamily="18" charset="0"/>
                                    </a:rPr>
                                    <m:t>0</m:t>
                                  </m:r>
                                </m:e>
                                <m:e>
                                  <m:r>
                                    <a:rPr lang="sr-Latn-RS" sz="2400" i="1">
                                      <a:latin typeface="Cambria Math" panose="02040503050406030204" pitchFamily="18" charset="0"/>
                                    </a:rPr>
                                    <m:t>0</m:t>
                                  </m:r>
                                </m:e>
                                <m:e>
                                  <m:r>
                                    <a:rPr lang="sr-Latn-RS" sz="2400" i="1">
                                      <a:latin typeface="Cambria Math" panose="02040503050406030204" pitchFamily="18" charset="0"/>
                                    </a:rPr>
                                    <m:t>0</m:t>
                                  </m:r>
                                </m:e>
                              </m:mr>
                              <m:mr>
                                <m:e>
                                  <m:r>
                                    <a:rPr lang="sr-Latn-RS" sz="2400" i="1">
                                      <a:latin typeface="Cambria Math" panose="02040503050406030204" pitchFamily="18" charset="0"/>
                                    </a:rPr>
                                    <m:t>0</m:t>
                                  </m:r>
                                </m:e>
                                <m:e>
                                  <m:r>
                                    <a:rPr lang="sr-Latn-RS" sz="2400" i="1">
                                      <a:latin typeface="Cambria Math" panose="02040503050406030204" pitchFamily="18" charset="0"/>
                                    </a:rPr>
                                    <m:t>0</m:t>
                                  </m:r>
                                </m:e>
                                <m:e>
                                  <m:r>
                                    <a:rPr lang="sr-Latn-RS" sz="2400" i="1">
                                      <a:latin typeface="Cambria Math" panose="02040503050406030204" pitchFamily="18" charset="0"/>
                                    </a:rPr>
                                    <m:t>0</m:t>
                                  </m:r>
                                </m:e>
                                <m:e>
                                  <m:r>
                                    <a:rPr lang="sr-Latn-RS" sz="2400" i="1">
                                      <a:latin typeface="Cambria Math" panose="02040503050406030204" pitchFamily="18" charset="0"/>
                                    </a:rPr>
                                    <m:t>0</m:t>
                                  </m:r>
                                </m:e>
                                <m:e>
                                  <m:r>
                                    <a:rPr lang="sr-Latn-RS" sz="2400" i="1">
                                      <a:latin typeface="Cambria Math" panose="02040503050406030204" pitchFamily="18" charset="0"/>
                                    </a:rPr>
                                    <m:t>1</m:t>
                                  </m:r>
                                </m:e>
                                <m:e>
                                  <m:r>
                                    <a:rPr lang="sr-Latn-RS" sz="2400" i="1">
                                      <a:latin typeface="Cambria Math" panose="02040503050406030204" pitchFamily="18" charset="0"/>
                                    </a:rPr>
                                    <m:t>0</m:t>
                                  </m:r>
                                </m:e>
                                <m:e>
                                  <m:r>
                                    <a:rPr lang="sr-Latn-RS" sz="2400" i="1">
                                      <a:latin typeface="Cambria Math" panose="02040503050406030204" pitchFamily="18" charset="0"/>
                                    </a:rPr>
                                    <m:t>0</m:t>
                                  </m:r>
                                </m:e>
                                <m:e>
                                  <m:r>
                                    <a:rPr lang="sr-Latn-RS" sz="2400" i="1">
                                      <a:latin typeface="Cambria Math" panose="02040503050406030204" pitchFamily="18" charset="0"/>
                                    </a:rPr>
                                    <m:t>0</m:t>
                                  </m:r>
                                </m:e>
                              </m:mr>
                              <m:mr>
                                <m:e>
                                  <m:r>
                                    <a:rPr lang="sr-Latn-RS" sz="2400" i="1">
                                      <a:latin typeface="Cambria Math" panose="02040503050406030204" pitchFamily="18" charset="0"/>
                                    </a:rPr>
                                    <m:t>0</m:t>
                                  </m:r>
                                </m:e>
                                <m:e>
                                  <m:r>
                                    <a:rPr lang="sr-Latn-RS" sz="2400" i="1">
                                      <a:latin typeface="Cambria Math" panose="02040503050406030204" pitchFamily="18" charset="0"/>
                                    </a:rPr>
                                    <m:t>0</m:t>
                                  </m:r>
                                </m:e>
                                <m:e>
                                  <m:r>
                                    <a:rPr lang="sr-Latn-RS" sz="2400" i="1">
                                      <a:latin typeface="Cambria Math" panose="02040503050406030204" pitchFamily="18" charset="0"/>
                                    </a:rPr>
                                    <m:t>0</m:t>
                                  </m:r>
                                </m:e>
                                <m:e>
                                  <m:r>
                                    <a:rPr lang="sr-Latn-RS" sz="2400" i="1">
                                      <a:latin typeface="Cambria Math" panose="02040503050406030204" pitchFamily="18" charset="0"/>
                                    </a:rPr>
                                    <m:t>0</m:t>
                                  </m:r>
                                </m:e>
                                <m:e>
                                  <m:r>
                                    <a:rPr lang="sr-Latn-RS" sz="2400" i="1">
                                      <a:latin typeface="Cambria Math" panose="02040503050406030204" pitchFamily="18" charset="0"/>
                                    </a:rPr>
                                    <m:t>0</m:t>
                                  </m:r>
                                </m:e>
                                <m:e>
                                  <m:r>
                                    <a:rPr lang="sr-Latn-RS" sz="2400" i="1">
                                      <a:latin typeface="Cambria Math" panose="02040503050406030204" pitchFamily="18" charset="0"/>
                                    </a:rPr>
                                    <m:t>0</m:t>
                                  </m:r>
                                </m:e>
                                <m:e>
                                  <m:r>
                                    <a:rPr lang="sr-Latn-RS" sz="2400" i="1">
                                      <a:latin typeface="Cambria Math" panose="02040503050406030204" pitchFamily="18" charset="0"/>
                                    </a:rPr>
                                    <m:t>1</m:t>
                                  </m:r>
                                </m:e>
                                <m:e>
                                  <m:r>
                                    <a:rPr lang="sr-Latn-RS" sz="2400" i="1">
                                      <a:latin typeface="Cambria Math" panose="02040503050406030204" pitchFamily="18" charset="0"/>
                                    </a:rPr>
                                    <m:t>0</m:t>
                                  </m:r>
                                </m:e>
                              </m:mr>
                              <m:mr>
                                <m:e>
                                  <m:r>
                                    <a:rPr lang="sr-Latn-RS" sz="2400" i="1">
                                      <a:latin typeface="Cambria Math" panose="02040503050406030204" pitchFamily="18" charset="0"/>
                                    </a:rPr>
                                    <m:t>0</m:t>
                                  </m:r>
                                </m:e>
                                <m:e>
                                  <m:r>
                                    <a:rPr lang="sr-Latn-RS" sz="2400" i="1">
                                      <a:latin typeface="Cambria Math" panose="02040503050406030204" pitchFamily="18" charset="0"/>
                                    </a:rPr>
                                    <m:t>0</m:t>
                                  </m:r>
                                </m:e>
                                <m:e>
                                  <m:r>
                                    <a:rPr lang="sr-Latn-RS" sz="2400" i="1">
                                      <a:latin typeface="Cambria Math" panose="02040503050406030204" pitchFamily="18" charset="0"/>
                                    </a:rPr>
                                    <m:t>0</m:t>
                                  </m:r>
                                </m:e>
                                <m:e>
                                  <m:r>
                                    <a:rPr lang="sr-Latn-RS" sz="2400" i="1">
                                      <a:latin typeface="Cambria Math" panose="02040503050406030204" pitchFamily="18" charset="0"/>
                                    </a:rPr>
                                    <m:t>0</m:t>
                                  </m:r>
                                </m:e>
                                <m:e>
                                  <m:r>
                                    <a:rPr lang="sr-Latn-RS" sz="2400" i="1">
                                      <a:latin typeface="Cambria Math" panose="02040503050406030204" pitchFamily="18" charset="0"/>
                                    </a:rPr>
                                    <m:t>0</m:t>
                                  </m:r>
                                </m:e>
                                <m:e>
                                  <m:r>
                                    <a:rPr lang="sr-Latn-RS" sz="2400" i="1">
                                      <a:latin typeface="Cambria Math" panose="02040503050406030204" pitchFamily="18" charset="0"/>
                                    </a:rPr>
                                    <m:t>1</m:t>
                                  </m:r>
                                </m:e>
                                <m:e>
                                  <m:r>
                                    <a:rPr lang="sr-Latn-RS" sz="2400" i="1">
                                      <a:latin typeface="Cambria Math" panose="02040503050406030204" pitchFamily="18" charset="0"/>
                                    </a:rPr>
                                    <m:t>0</m:t>
                                  </m:r>
                                </m:e>
                                <m:e>
                                  <m:r>
                                    <a:rPr lang="sr-Latn-RS" sz="2400" i="1">
                                      <a:latin typeface="Cambria Math" panose="02040503050406030204" pitchFamily="18" charset="0"/>
                                    </a:rPr>
                                    <m:t>0</m:t>
                                  </m:r>
                                </m:e>
                              </m:mr>
                              <m:mr>
                                <m:e>
                                  <m:r>
                                    <a:rPr lang="sr-Latn-RS" sz="2400" i="1">
                                      <a:latin typeface="Cambria Math" panose="02040503050406030204" pitchFamily="18" charset="0"/>
                                    </a:rPr>
                                    <m:t>0</m:t>
                                  </m:r>
                                </m:e>
                                <m:e>
                                  <m:r>
                                    <a:rPr lang="sr-Latn-RS" sz="2400" i="1">
                                      <a:latin typeface="Cambria Math" panose="02040503050406030204" pitchFamily="18" charset="0"/>
                                    </a:rPr>
                                    <m:t>0</m:t>
                                  </m:r>
                                </m:e>
                                <m:e>
                                  <m:r>
                                    <a:rPr lang="sr-Latn-RS" sz="2400" i="1">
                                      <a:latin typeface="Cambria Math" panose="02040503050406030204" pitchFamily="18" charset="0"/>
                                    </a:rPr>
                                    <m:t>0</m:t>
                                  </m:r>
                                </m:e>
                                <m:e>
                                  <m:r>
                                    <a:rPr lang="sr-Latn-RS" sz="2400" i="1">
                                      <a:latin typeface="Cambria Math" panose="02040503050406030204" pitchFamily="18" charset="0"/>
                                    </a:rPr>
                                    <m:t>0</m:t>
                                  </m:r>
                                </m:e>
                                <m:e>
                                  <m:r>
                                    <a:rPr lang="sr-Latn-RS" sz="2400" i="1">
                                      <a:latin typeface="Cambria Math" panose="02040503050406030204" pitchFamily="18" charset="0"/>
                                    </a:rPr>
                                    <m:t>0</m:t>
                                  </m:r>
                                </m:e>
                                <m:e>
                                  <m:r>
                                    <a:rPr lang="sr-Latn-RS" sz="2400" i="1">
                                      <a:latin typeface="Cambria Math" panose="02040503050406030204" pitchFamily="18" charset="0"/>
                                    </a:rPr>
                                    <m:t>0</m:t>
                                  </m:r>
                                </m:e>
                                <m:e>
                                  <m:r>
                                    <a:rPr lang="sr-Latn-RS" sz="2400" i="1">
                                      <a:latin typeface="Cambria Math" panose="02040503050406030204" pitchFamily="18" charset="0"/>
                                    </a:rPr>
                                    <m:t>0</m:t>
                                  </m:r>
                                </m:e>
                                <m:e>
                                  <m:r>
                                    <a:rPr lang="sr-Latn-RS" sz="2400" i="1">
                                      <a:latin typeface="Cambria Math" panose="02040503050406030204" pitchFamily="18" charset="0"/>
                                    </a:rPr>
                                    <m:t>1</m:t>
                                  </m:r>
                                </m:e>
                              </m:mr>
                            </m:m>
                          </m:e>
                        </m:d>
                      </m:oMath>
                    </m:oMathPara>
                  </a14:m>
                  <a:endParaRPr lang="en-US" sz="2400" dirty="0"/>
                </a:p>
              </p:txBody>
            </p:sp>
          </mc:Choice>
          <mc:Fallback xmlns="">
            <p:sp>
              <p:nvSpPr>
                <p:cNvPr id="26" name="Rectangle 25">
                  <a:extLst>
                    <a:ext uri="{FF2B5EF4-FFF2-40B4-BE49-F238E27FC236}">
                      <a16:creationId xmlns:a16="http://schemas.microsoft.com/office/drawing/2014/main" id="{CE57BBB8-E581-FE46-94A7-A7C965C7F037}"/>
                    </a:ext>
                  </a:extLst>
                </p:cNvPr>
                <p:cNvSpPr>
                  <a:spLocks noRot="1" noChangeAspect="1" noMove="1" noResize="1" noEditPoints="1" noAdjustHandles="1" noChangeArrowheads="1" noChangeShapeType="1" noTextEdit="1"/>
                </p:cNvSpPr>
                <p:nvPr/>
              </p:nvSpPr>
              <p:spPr>
                <a:xfrm>
                  <a:off x="2396099" y="3050753"/>
                  <a:ext cx="5624488" cy="2872966"/>
                </a:xfrm>
                <a:prstGeom prst="rect">
                  <a:avLst/>
                </a:prstGeom>
                <a:blipFill>
                  <a:blip r:embed="rId5"/>
                  <a:stretch>
                    <a:fillRect b="-1770"/>
                  </a:stretch>
                </a:blipFill>
              </p:spPr>
              <p:txBody>
                <a:bodyPr/>
                <a:lstStyle/>
                <a:p>
                  <a:r>
                    <a:rPr lang="en-US">
                      <a:noFill/>
                    </a:rPr>
                    <a:t> </a:t>
                  </a:r>
                </a:p>
              </p:txBody>
            </p:sp>
          </mc:Fallback>
        </mc:AlternateContent>
        <p:sp>
          <p:nvSpPr>
            <p:cNvPr id="5" name="Rectangle 4">
              <a:extLst>
                <a:ext uri="{FF2B5EF4-FFF2-40B4-BE49-F238E27FC236}">
                  <a16:creationId xmlns:a16="http://schemas.microsoft.com/office/drawing/2014/main" id="{D4ED9BBF-7CB0-1E45-901F-2E4F71FFDAC9}"/>
                </a:ext>
              </a:extLst>
            </p:cNvPr>
            <p:cNvSpPr/>
            <p:nvPr/>
          </p:nvSpPr>
          <p:spPr>
            <a:xfrm>
              <a:off x="7977575" y="3985153"/>
              <a:ext cx="4055919" cy="461665"/>
            </a:xfrm>
            <a:prstGeom prst="rect">
              <a:avLst/>
            </a:prstGeom>
          </p:spPr>
          <p:txBody>
            <a:bodyPr wrap="none">
              <a:spAutoFit/>
            </a:bodyPr>
            <a:lstStyle/>
            <a:p>
              <a:r>
                <a:rPr lang="sr-Latn-RS" sz="2400" dirty="0" err="1">
                  <a:latin typeface="Andale Mono" panose="020B0509000000000004" pitchFamily="49" charset="0"/>
                  <a:ea typeface="Times New Roman" panose="02020603050405020304" pitchFamily="18" charset="0"/>
                  <a:cs typeface="Times New Roman" panose="02020603050405020304" pitchFamily="18" charset="0"/>
                </a:rPr>
                <a:t>cswap</a:t>
              </a:r>
              <a:r>
                <a:rPr lang="sr-Latn-RS" sz="2400" dirty="0">
                  <a:latin typeface="Andale Mono" panose="020B0509000000000004" pitchFamily="49" charset="0"/>
                  <a:ea typeface="Times New Roman" panose="02020603050405020304" pitchFamily="18" charset="0"/>
                  <a:cs typeface="Times New Roman" panose="02020603050405020304" pitchFamily="18" charset="0"/>
                </a:rPr>
                <a:t> </a:t>
              </a:r>
              <a:r>
                <a:rPr lang="sr-Latn-RS" sz="2400" dirty="0" err="1">
                  <a:latin typeface="Andale Mono" panose="020B0509000000000004" pitchFamily="49" charset="0"/>
                  <a:ea typeface="Times New Roman" panose="02020603050405020304" pitchFamily="18" charset="0"/>
                  <a:cs typeface="Courier New" panose="02070309020205020404" pitchFamily="49" charset="0"/>
                </a:rPr>
                <a:t>q</a:t>
              </a:r>
              <a:r>
                <a:rPr lang="sr-Latn-RS" sz="2400" dirty="0">
                  <a:latin typeface="Andale Mono" panose="020B0509000000000004" pitchFamily="49" charset="0"/>
                  <a:ea typeface="Times New Roman" panose="02020603050405020304" pitchFamily="18" charset="0"/>
                  <a:cs typeface="Courier New" panose="02070309020205020404" pitchFamily="49" charset="0"/>
                </a:rPr>
                <a:t>[i],</a:t>
              </a:r>
              <a:r>
                <a:rPr lang="sr-Latn-RS" sz="2400" dirty="0" err="1">
                  <a:latin typeface="Andale Mono" panose="020B0509000000000004" pitchFamily="49" charset="0"/>
                  <a:ea typeface="Times New Roman" panose="02020603050405020304" pitchFamily="18" charset="0"/>
                  <a:cs typeface="Courier New" panose="02070309020205020404" pitchFamily="49" charset="0"/>
                </a:rPr>
                <a:t>q</a:t>
              </a:r>
              <a:r>
                <a:rPr lang="sr-Latn-RS" sz="2400" dirty="0">
                  <a:latin typeface="Andale Mono" panose="020B0509000000000004" pitchFamily="49" charset="0"/>
                  <a:ea typeface="Times New Roman" panose="02020603050405020304" pitchFamily="18" charset="0"/>
                  <a:cs typeface="Courier New" panose="02070309020205020404" pitchFamily="49" charset="0"/>
                </a:rPr>
                <a:t>[</a:t>
              </a:r>
              <a:r>
                <a:rPr lang="sr-Latn-RS" sz="2400" dirty="0" err="1">
                  <a:latin typeface="Andale Mono" panose="020B0509000000000004" pitchFamily="49" charset="0"/>
                  <a:ea typeface="Times New Roman" panose="02020603050405020304" pitchFamily="18" charset="0"/>
                  <a:cs typeface="Courier New" panose="02070309020205020404" pitchFamily="49" charset="0"/>
                </a:rPr>
                <a:t>j</a:t>
              </a:r>
              <a:r>
                <a:rPr lang="sr-Latn-RS" sz="2400" dirty="0">
                  <a:latin typeface="Andale Mono" panose="020B0509000000000004" pitchFamily="49" charset="0"/>
                  <a:ea typeface="Times New Roman" panose="02020603050405020304" pitchFamily="18" charset="0"/>
                  <a:cs typeface="Courier New" panose="02070309020205020404" pitchFamily="49" charset="0"/>
                </a:rPr>
                <a:t>],</a:t>
              </a:r>
              <a:r>
                <a:rPr lang="sr-Latn-RS" sz="2400" dirty="0" err="1">
                  <a:latin typeface="Andale Mono" panose="020B0509000000000004" pitchFamily="49" charset="0"/>
                  <a:ea typeface="Times New Roman" panose="02020603050405020304" pitchFamily="18" charset="0"/>
                  <a:cs typeface="Courier New" panose="02070309020205020404" pitchFamily="49" charset="0"/>
                </a:rPr>
                <a:t>q</a:t>
              </a:r>
              <a:r>
                <a:rPr lang="sr-Latn-RS" sz="2400" dirty="0">
                  <a:latin typeface="Andale Mono" panose="020B0509000000000004" pitchFamily="49" charset="0"/>
                  <a:ea typeface="Times New Roman" panose="02020603050405020304" pitchFamily="18" charset="0"/>
                  <a:cs typeface="Courier New" panose="02070309020205020404" pitchFamily="49" charset="0"/>
                </a:rPr>
                <a:t>[k]</a:t>
              </a:r>
              <a:r>
                <a:rPr lang="en-ZA" sz="2400" dirty="0">
                  <a:latin typeface="Andale Mono" panose="020B0509000000000004" pitchFamily="49" charset="0"/>
                  <a:ea typeface="Times New Roman" panose="02020603050405020304" pitchFamily="18" charset="0"/>
                  <a:cs typeface="Courier New" panose="02070309020205020404" pitchFamily="49" charset="0"/>
                </a:rPr>
                <a:t>;</a:t>
              </a:r>
              <a:endParaRPr lang="en-US" sz="2400" dirty="0"/>
            </a:p>
          </p:txBody>
        </p:sp>
      </p:grpSp>
      <p:cxnSp>
        <p:nvCxnSpPr>
          <p:cNvPr id="29" name="Straight Connector 28">
            <a:extLst>
              <a:ext uri="{FF2B5EF4-FFF2-40B4-BE49-F238E27FC236}">
                <a16:creationId xmlns:a16="http://schemas.microsoft.com/office/drawing/2014/main" id="{9B40D6C4-FCED-E644-8FA4-B3007EB5C100}"/>
              </a:ext>
            </a:extLst>
          </p:cNvPr>
          <p:cNvCxnSpPr>
            <a:cxnSpLocks/>
            <a:stCxn id="45" idx="4"/>
          </p:cNvCxnSpPr>
          <p:nvPr/>
        </p:nvCxnSpPr>
        <p:spPr>
          <a:xfrm>
            <a:off x="1123938" y="3055000"/>
            <a:ext cx="357" cy="152555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8718202E-0271-CF47-A94F-510801C6C9DC}"/>
              </a:ext>
            </a:extLst>
          </p:cNvPr>
          <p:cNvCxnSpPr>
            <a:cxnSpLocks/>
          </p:cNvCxnSpPr>
          <p:nvPr/>
        </p:nvCxnSpPr>
        <p:spPr>
          <a:xfrm rot="18900000">
            <a:off x="992764" y="3642112"/>
            <a:ext cx="27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D0676FE4-ADDD-FF42-AC26-9AA5329D954D}"/>
              </a:ext>
            </a:extLst>
          </p:cNvPr>
          <p:cNvCxnSpPr>
            <a:cxnSpLocks/>
          </p:cNvCxnSpPr>
          <p:nvPr/>
        </p:nvCxnSpPr>
        <p:spPr>
          <a:xfrm rot="2700000">
            <a:off x="992621" y="3642111"/>
            <a:ext cx="27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AEFE47F6-512B-CD44-AB35-9C8B556948A3}"/>
              </a:ext>
            </a:extLst>
          </p:cNvPr>
          <p:cNvCxnSpPr>
            <a:cxnSpLocks/>
          </p:cNvCxnSpPr>
          <p:nvPr/>
        </p:nvCxnSpPr>
        <p:spPr>
          <a:xfrm rot="18900000">
            <a:off x="995409" y="4582697"/>
            <a:ext cx="27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0E058039-E36A-9A45-B62E-D12A7365D77E}"/>
              </a:ext>
            </a:extLst>
          </p:cNvPr>
          <p:cNvCxnSpPr>
            <a:cxnSpLocks/>
          </p:cNvCxnSpPr>
          <p:nvPr/>
        </p:nvCxnSpPr>
        <p:spPr>
          <a:xfrm rot="2700000">
            <a:off x="995266" y="4582696"/>
            <a:ext cx="27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4" name="Rectangle 33">
                <a:extLst>
                  <a:ext uri="{FF2B5EF4-FFF2-40B4-BE49-F238E27FC236}">
                    <a16:creationId xmlns:a16="http://schemas.microsoft.com/office/drawing/2014/main" id="{551478FD-84F9-DF4B-9072-CBB1093D19A9}"/>
                  </a:ext>
                </a:extLst>
              </p:cNvPr>
              <p:cNvSpPr/>
              <p:nvPr/>
            </p:nvSpPr>
            <p:spPr>
              <a:xfrm>
                <a:off x="356908" y="3127021"/>
                <a:ext cx="506421" cy="461665"/>
              </a:xfrm>
              <a:prstGeom prst="rect">
                <a:avLst/>
              </a:prstGeom>
              <a:solidFill>
                <a:schemeClr val="bg1"/>
              </a:solidFill>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𝑡</m:t>
                          </m:r>
                        </m:e>
                        <m:sub>
                          <m:r>
                            <a:rPr lang="en-US" sz="2400" b="0" i="1" smtClean="0">
                              <a:latin typeface="Cambria Math" panose="02040503050406030204" pitchFamily="18" charset="0"/>
                            </a:rPr>
                            <m:t>1</m:t>
                          </m:r>
                        </m:sub>
                      </m:sSub>
                    </m:oMath>
                  </m:oMathPara>
                </a14:m>
                <a:endParaRPr lang="en-US" sz="2400" dirty="0"/>
              </a:p>
            </p:txBody>
          </p:sp>
        </mc:Choice>
        <mc:Fallback xmlns="">
          <p:sp>
            <p:nvSpPr>
              <p:cNvPr id="34" name="Rectangle 33">
                <a:extLst>
                  <a:ext uri="{FF2B5EF4-FFF2-40B4-BE49-F238E27FC236}">
                    <a16:creationId xmlns:a16="http://schemas.microsoft.com/office/drawing/2014/main" id="{551478FD-84F9-DF4B-9072-CBB1093D19A9}"/>
                  </a:ext>
                </a:extLst>
              </p:cNvPr>
              <p:cNvSpPr>
                <a:spLocks noRot="1" noChangeAspect="1" noMove="1" noResize="1" noEditPoints="1" noAdjustHandles="1" noChangeArrowheads="1" noChangeShapeType="1" noTextEdit="1"/>
              </p:cNvSpPr>
              <p:nvPr/>
            </p:nvSpPr>
            <p:spPr>
              <a:xfrm>
                <a:off x="356908" y="3127021"/>
                <a:ext cx="506421" cy="461665"/>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Rectangle 34">
                <a:extLst>
                  <a:ext uri="{FF2B5EF4-FFF2-40B4-BE49-F238E27FC236}">
                    <a16:creationId xmlns:a16="http://schemas.microsoft.com/office/drawing/2014/main" id="{4B59FB51-56BC-804D-B4B5-3E1934A43662}"/>
                  </a:ext>
                </a:extLst>
              </p:cNvPr>
              <p:cNvSpPr/>
              <p:nvPr/>
            </p:nvSpPr>
            <p:spPr>
              <a:xfrm>
                <a:off x="3160262" y="2508392"/>
                <a:ext cx="5358968"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sr-Latn-RS" sz="2400" b="0" i="1" smtClean="0">
                          <a:latin typeface="Cambria Math" panose="02040503050406030204" pitchFamily="18" charset="0"/>
                        </a:rPr>
                        <m:t>𝑐𝑆𝑊𝐴𝑃</m:t>
                      </m:r>
                      <m:r>
                        <a:rPr lang="sr-Latn-RS" sz="2400" b="0" i="1" smtClean="0">
                          <a:latin typeface="Cambria Math" panose="02040503050406030204" pitchFamily="18" charset="0"/>
                        </a:rPr>
                        <m:t>=</m:t>
                      </m:r>
                      <m:d>
                        <m:dPr>
                          <m:begChr m:val="|"/>
                          <m:endChr m:val="⟩"/>
                          <m:ctrlPr>
                            <a:rPr lang="en-ZA" sz="2400" i="1" smtClean="0">
                              <a:latin typeface="Cambria Math" panose="02040503050406030204" pitchFamily="18" charset="0"/>
                            </a:rPr>
                          </m:ctrlPr>
                        </m:dPr>
                        <m:e>
                          <m:r>
                            <a:rPr lang="en-US" sz="2400" i="1">
                              <a:latin typeface="Cambria Math" panose="02040503050406030204" pitchFamily="18" charset="0"/>
                            </a:rPr>
                            <m:t>0</m:t>
                          </m:r>
                        </m:e>
                      </m:d>
                      <m:box>
                        <m:boxPr>
                          <m:ctrlPr>
                            <a:rPr lang="en-ZA" sz="2400" i="1">
                              <a:latin typeface="Cambria Math" panose="02040503050406030204" pitchFamily="18" charset="0"/>
                            </a:rPr>
                          </m:ctrlPr>
                        </m:boxPr>
                        <m:e>
                          <m:d>
                            <m:dPr>
                              <m:begChr m:val="⟨"/>
                              <m:endChr m:val="|"/>
                              <m:ctrlPr>
                                <a:rPr lang="en-ZA" sz="2400" i="1">
                                  <a:latin typeface="Cambria Math" panose="02040503050406030204" pitchFamily="18" charset="0"/>
                                </a:rPr>
                              </m:ctrlPr>
                            </m:dPr>
                            <m:e>
                              <m:r>
                                <a:rPr lang="en-US" sz="2400" i="1">
                                  <a:latin typeface="Cambria Math" panose="02040503050406030204" pitchFamily="18" charset="0"/>
                                </a:rPr>
                                <m:t>0</m:t>
                              </m:r>
                            </m:e>
                          </m:d>
                          <m:r>
                            <a:rPr lang="en-US" sz="2400" i="1">
                              <a:latin typeface="Cambria Math" panose="02040503050406030204" pitchFamily="18" charset="0"/>
                            </a:rPr>
                            <m:t>⨂</m:t>
                          </m:r>
                          <m:r>
                            <a:rPr lang="en-US" sz="2400" i="1">
                              <a:latin typeface="Cambria Math" panose="02040503050406030204" pitchFamily="18" charset="0"/>
                            </a:rPr>
                            <m:t>𝐼</m:t>
                          </m:r>
                          <m:r>
                            <a:rPr lang="en-US" sz="2400" i="1">
                              <a:latin typeface="Cambria Math" panose="02040503050406030204" pitchFamily="18" charset="0"/>
                            </a:rPr>
                            <m:t>⨂</m:t>
                          </m:r>
                          <m:r>
                            <a:rPr lang="sr-Latn-RS" sz="2400" b="0" i="1" smtClean="0">
                              <a:latin typeface="Cambria Math" panose="02040503050406030204" pitchFamily="18" charset="0"/>
                            </a:rPr>
                            <m:t>𝐼</m:t>
                          </m:r>
                          <m:r>
                            <a:rPr lang="en-US" sz="2400" i="1">
                              <a:latin typeface="Cambria Math" panose="02040503050406030204" pitchFamily="18" charset="0"/>
                            </a:rPr>
                            <m:t>+</m:t>
                          </m:r>
                        </m:e>
                      </m:box>
                      <m:d>
                        <m:dPr>
                          <m:begChr m:val="|"/>
                          <m:endChr m:val="⟩"/>
                          <m:ctrlPr>
                            <a:rPr lang="en-ZA" sz="2400" i="1">
                              <a:latin typeface="Cambria Math" panose="02040503050406030204" pitchFamily="18" charset="0"/>
                            </a:rPr>
                          </m:ctrlPr>
                        </m:dPr>
                        <m:e>
                          <m:r>
                            <a:rPr lang="en-US" sz="2400" i="1">
                              <a:latin typeface="Cambria Math" panose="02040503050406030204" pitchFamily="18" charset="0"/>
                            </a:rPr>
                            <m:t>1</m:t>
                          </m:r>
                        </m:e>
                      </m:d>
                      <m:box>
                        <m:boxPr>
                          <m:ctrlPr>
                            <a:rPr lang="en-ZA" sz="2400" i="1">
                              <a:latin typeface="Cambria Math" panose="02040503050406030204" pitchFamily="18" charset="0"/>
                            </a:rPr>
                          </m:ctrlPr>
                        </m:boxPr>
                        <m:e>
                          <m:d>
                            <m:dPr>
                              <m:begChr m:val="⟨"/>
                              <m:endChr m:val="|"/>
                              <m:ctrlPr>
                                <a:rPr lang="en-ZA" sz="2400" i="1">
                                  <a:latin typeface="Cambria Math" panose="02040503050406030204" pitchFamily="18" charset="0"/>
                                </a:rPr>
                              </m:ctrlPr>
                            </m:dPr>
                            <m:e>
                              <m:r>
                                <a:rPr lang="en-US" sz="2400" i="1">
                                  <a:latin typeface="Cambria Math" panose="02040503050406030204" pitchFamily="18" charset="0"/>
                                </a:rPr>
                                <m:t>1</m:t>
                              </m:r>
                            </m:e>
                          </m:d>
                          <m:r>
                            <a:rPr lang="en-US" sz="2400" i="1">
                              <a:latin typeface="Cambria Math" panose="02040503050406030204" pitchFamily="18" charset="0"/>
                            </a:rPr>
                            <m:t>⨂</m:t>
                          </m:r>
                          <m:r>
                            <a:rPr lang="sr-Latn-RS" sz="2400" b="0" i="1" smtClean="0">
                              <a:latin typeface="Cambria Math" panose="02040503050406030204" pitchFamily="18" charset="0"/>
                            </a:rPr>
                            <m:t>𝑆𝑊𝐴𝑃</m:t>
                          </m:r>
                        </m:e>
                      </m:box>
                    </m:oMath>
                  </m:oMathPara>
                </a14:m>
                <a:endParaRPr lang="en-US" sz="2400" dirty="0"/>
              </a:p>
            </p:txBody>
          </p:sp>
        </mc:Choice>
        <mc:Fallback xmlns="">
          <p:sp>
            <p:nvSpPr>
              <p:cNvPr id="35" name="Rectangle 34">
                <a:extLst>
                  <a:ext uri="{FF2B5EF4-FFF2-40B4-BE49-F238E27FC236}">
                    <a16:creationId xmlns:a16="http://schemas.microsoft.com/office/drawing/2014/main" id="{4B59FB51-56BC-804D-B4B5-3E1934A43662}"/>
                  </a:ext>
                </a:extLst>
              </p:cNvPr>
              <p:cNvSpPr>
                <a:spLocks noRot="1" noChangeAspect="1" noMove="1" noResize="1" noEditPoints="1" noAdjustHandles="1" noChangeArrowheads="1" noChangeShapeType="1" noTextEdit="1"/>
              </p:cNvSpPr>
              <p:nvPr/>
            </p:nvSpPr>
            <p:spPr>
              <a:xfrm>
                <a:off x="3160262" y="2508392"/>
                <a:ext cx="5358968" cy="461665"/>
              </a:xfrm>
              <a:prstGeom prst="rect">
                <a:avLst/>
              </a:prstGeom>
              <a:blipFill>
                <a:blip r:embed="rId7"/>
                <a:stretch>
                  <a:fillRect b="-2703"/>
                </a:stretch>
              </a:blipFill>
            </p:spPr>
            <p:txBody>
              <a:bodyPr/>
              <a:lstStyle/>
              <a:p>
                <a:r>
                  <a:rPr lang="en-US">
                    <a:noFill/>
                  </a:rPr>
                  <a:t> </a:t>
                </a:r>
              </a:p>
            </p:txBody>
          </p:sp>
        </mc:Fallback>
      </mc:AlternateContent>
      <p:sp>
        <p:nvSpPr>
          <p:cNvPr id="39" name="TextBox 38">
            <a:extLst>
              <a:ext uri="{FF2B5EF4-FFF2-40B4-BE49-F238E27FC236}">
                <a16:creationId xmlns:a16="http://schemas.microsoft.com/office/drawing/2014/main" id="{EC14C671-67A8-444A-B19C-B3859C8A1C50}"/>
              </a:ext>
            </a:extLst>
          </p:cNvPr>
          <p:cNvSpPr txBox="1"/>
          <p:nvPr/>
        </p:nvSpPr>
        <p:spPr>
          <a:xfrm>
            <a:off x="756963" y="1803308"/>
            <a:ext cx="1065100" cy="461665"/>
          </a:xfrm>
          <a:prstGeom prst="rect">
            <a:avLst/>
          </a:prstGeom>
          <a:noFill/>
        </p:spPr>
        <p:txBody>
          <a:bodyPr wrap="none" rtlCol="0">
            <a:spAutoFit/>
          </a:bodyPr>
          <a:lstStyle/>
          <a:p>
            <a:r>
              <a:rPr lang="en-US" sz="2400" dirty="0">
                <a:latin typeface="+mj-lt"/>
              </a:rPr>
              <a:t>symbol</a:t>
            </a:r>
          </a:p>
        </p:txBody>
      </p:sp>
      <p:sp>
        <p:nvSpPr>
          <p:cNvPr id="40" name="TextBox 39">
            <a:extLst>
              <a:ext uri="{FF2B5EF4-FFF2-40B4-BE49-F238E27FC236}">
                <a16:creationId xmlns:a16="http://schemas.microsoft.com/office/drawing/2014/main" id="{595A4E7F-9112-964F-9547-FFF922CB992A}"/>
              </a:ext>
            </a:extLst>
          </p:cNvPr>
          <p:cNvSpPr txBox="1"/>
          <p:nvPr/>
        </p:nvSpPr>
        <p:spPr>
          <a:xfrm>
            <a:off x="4939921" y="1803308"/>
            <a:ext cx="1262653" cy="461665"/>
          </a:xfrm>
          <a:prstGeom prst="rect">
            <a:avLst/>
          </a:prstGeom>
          <a:noFill/>
        </p:spPr>
        <p:txBody>
          <a:bodyPr wrap="none" rtlCol="0">
            <a:spAutoFit/>
          </a:bodyPr>
          <a:lstStyle/>
          <a:p>
            <a:r>
              <a:rPr lang="en-US" sz="2400" dirty="0">
                <a:latin typeface="+mj-lt"/>
              </a:rPr>
              <a:t>operator</a:t>
            </a:r>
          </a:p>
        </p:txBody>
      </p:sp>
      <p:sp>
        <p:nvSpPr>
          <p:cNvPr id="43" name="TextBox 42">
            <a:extLst>
              <a:ext uri="{FF2B5EF4-FFF2-40B4-BE49-F238E27FC236}">
                <a16:creationId xmlns:a16="http://schemas.microsoft.com/office/drawing/2014/main" id="{F8C3BCE0-9D53-3A45-8705-BCD2575AD9EB}"/>
              </a:ext>
            </a:extLst>
          </p:cNvPr>
          <p:cNvSpPr txBox="1"/>
          <p:nvPr/>
        </p:nvSpPr>
        <p:spPr>
          <a:xfrm>
            <a:off x="9478583" y="1774420"/>
            <a:ext cx="962123" cy="461665"/>
          </a:xfrm>
          <a:prstGeom prst="rect">
            <a:avLst/>
          </a:prstGeom>
          <a:noFill/>
        </p:spPr>
        <p:txBody>
          <a:bodyPr wrap="none" rtlCol="0">
            <a:spAutoFit/>
          </a:bodyPr>
          <a:lstStyle/>
          <a:p>
            <a:r>
              <a:rPr lang="en-US" sz="2400" dirty="0">
                <a:latin typeface="+mj-lt"/>
              </a:rPr>
              <a:t>QASM</a:t>
            </a:r>
          </a:p>
        </p:txBody>
      </p:sp>
    </p:spTree>
    <p:extLst>
      <p:ext uri="{BB962C8B-B14F-4D97-AF65-F5344CB8AC3E}">
        <p14:creationId xmlns:p14="http://schemas.microsoft.com/office/powerpoint/2010/main" val="32482642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dissolv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DF20D24-4DB7-8940-844B-0D1D51C10523}"/>
              </a:ext>
            </a:extLst>
          </p:cNvPr>
          <p:cNvSpPr>
            <a:spLocks noGrp="1"/>
          </p:cNvSpPr>
          <p:nvPr>
            <p:ph type="sldNum" sz="quarter" idx="12"/>
          </p:nvPr>
        </p:nvSpPr>
        <p:spPr/>
        <p:txBody>
          <a:bodyPr/>
          <a:lstStyle/>
          <a:p>
            <a:fld id="{591A223C-FA10-BC46-A853-03BA373D023C}" type="slidenum">
              <a:rPr lang="en-US" smtClean="0"/>
              <a:t>45</a:t>
            </a:fld>
            <a:endParaRPr lang="en-US"/>
          </a:p>
        </p:txBody>
      </p:sp>
      <p:sp>
        <p:nvSpPr>
          <p:cNvPr id="3" name="Title 2">
            <a:extLst>
              <a:ext uri="{FF2B5EF4-FFF2-40B4-BE49-F238E27FC236}">
                <a16:creationId xmlns:a16="http://schemas.microsoft.com/office/drawing/2014/main" id="{954A46D6-D36F-9E4E-B37D-A589BA644FA5}"/>
              </a:ext>
            </a:extLst>
          </p:cNvPr>
          <p:cNvSpPr>
            <a:spLocks noGrp="1"/>
          </p:cNvSpPr>
          <p:nvPr>
            <p:ph type="title"/>
          </p:nvPr>
        </p:nvSpPr>
        <p:spPr/>
        <p:txBody>
          <a:bodyPr/>
          <a:lstStyle/>
          <a:p>
            <a:r>
              <a:rPr lang="en-ZA" dirty="0"/>
              <a:t>Creating Multi-Controlled Gates</a:t>
            </a:r>
            <a:endParaRPr lang="en-US" dirty="0"/>
          </a:p>
        </p:txBody>
      </p:sp>
      <p:cxnSp>
        <p:nvCxnSpPr>
          <p:cNvPr id="4" name="Straight Connector 3">
            <a:extLst>
              <a:ext uri="{FF2B5EF4-FFF2-40B4-BE49-F238E27FC236}">
                <a16:creationId xmlns:a16="http://schemas.microsoft.com/office/drawing/2014/main" id="{A4A2C5ED-AEB5-FE43-A325-901DA0F42132}"/>
              </a:ext>
            </a:extLst>
          </p:cNvPr>
          <p:cNvCxnSpPr>
            <a:cxnSpLocks/>
          </p:cNvCxnSpPr>
          <p:nvPr/>
        </p:nvCxnSpPr>
        <p:spPr>
          <a:xfrm>
            <a:off x="421653" y="5079770"/>
            <a:ext cx="1800000" cy="0"/>
          </a:xfrm>
          <a:prstGeom prst="line">
            <a:avLst/>
          </a:prstGeom>
          <a:solidFill>
            <a:schemeClr val="tx1">
              <a:lumMod val="50000"/>
              <a:lumOff val="50000"/>
            </a:schemeClr>
          </a:solidFill>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CC7EC8EA-4607-0B42-B804-7A79CA2AD63C}"/>
              </a:ext>
            </a:extLst>
          </p:cNvPr>
          <p:cNvSpPr/>
          <p:nvPr/>
        </p:nvSpPr>
        <p:spPr>
          <a:xfrm>
            <a:off x="907653" y="4629770"/>
            <a:ext cx="900000" cy="900000"/>
          </a:xfrm>
          <a:prstGeom prst="rect">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solidFill>
                <a:latin typeface="Times New Roman" panose="02020603050405020304" pitchFamily="18" charset="0"/>
                <a:cs typeface="Times New Roman" panose="02020603050405020304" pitchFamily="18" charset="0"/>
              </a:rPr>
              <a:t>G</a:t>
            </a:r>
          </a:p>
        </p:txBody>
      </p:sp>
      <p:cxnSp>
        <p:nvCxnSpPr>
          <p:cNvPr id="9" name="Straight Connector 8">
            <a:extLst>
              <a:ext uri="{FF2B5EF4-FFF2-40B4-BE49-F238E27FC236}">
                <a16:creationId xmlns:a16="http://schemas.microsoft.com/office/drawing/2014/main" id="{01BEE5FD-61E3-CB4B-ADDE-B93DB3F8E181}"/>
              </a:ext>
            </a:extLst>
          </p:cNvPr>
          <p:cNvCxnSpPr>
            <a:cxnSpLocks/>
          </p:cNvCxnSpPr>
          <p:nvPr/>
        </p:nvCxnSpPr>
        <p:spPr>
          <a:xfrm>
            <a:off x="457653" y="3801662"/>
            <a:ext cx="180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Oval 9">
            <a:extLst>
              <a:ext uri="{FF2B5EF4-FFF2-40B4-BE49-F238E27FC236}">
                <a16:creationId xmlns:a16="http://schemas.microsoft.com/office/drawing/2014/main" id="{B602AD72-3E25-6745-891C-D19B3D991FA8}"/>
              </a:ext>
            </a:extLst>
          </p:cNvPr>
          <p:cNvSpPr/>
          <p:nvPr/>
        </p:nvSpPr>
        <p:spPr>
          <a:xfrm>
            <a:off x="1184633" y="3606272"/>
            <a:ext cx="360000" cy="360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a:extLst>
              <a:ext uri="{FF2B5EF4-FFF2-40B4-BE49-F238E27FC236}">
                <a16:creationId xmlns:a16="http://schemas.microsoft.com/office/drawing/2014/main" id="{356B3C50-D023-2D43-A8C4-300FBB6E9BA6}"/>
              </a:ext>
            </a:extLst>
          </p:cNvPr>
          <p:cNvCxnSpPr>
            <a:cxnSpLocks/>
          </p:cNvCxnSpPr>
          <p:nvPr/>
        </p:nvCxnSpPr>
        <p:spPr>
          <a:xfrm flipV="1">
            <a:off x="1365733" y="2903744"/>
            <a:ext cx="0" cy="172602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CD5D90D-0458-1E42-8517-EEF4EEE9220A}"/>
              </a:ext>
            </a:extLst>
          </p:cNvPr>
          <p:cNvCxnSpPr>
            <a:cxnSpLocks/>
          </p:cNvCxnSpPr>
          <p:nvPr/>
        </p:nvCxnSpPr>
        <p:spPr>
          <a:xfrm>
            <a:off x="457653" y="3241751"/>
            <a:ext cx="1800000" cy="0"/>
          </a:xfrm>
          <a:prstGeom prst="line">
            <a:avLst/>
          </a:prstGeom>
          <a:solidFill>
            <a:schemeClr val="bg1">
              <a:lumMod val="50000"/>
            </a:schemeClr>
          </a:solidFill>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B56B2460-0EEA-7B46-8B8A-AFC1D9477B48}"/>
              </a:ext>
            </a:extLst>
          </p:cNvPr>
          <p:cNvSpPr/>
          <p:nvPr/>
        </p:nvSpPr>
        <p:spPr>
          <a:xfrm>
            <a:off x="1184633" y="3046361"/>
            <a:ext cx="360000" cy="360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Connector 12">
            <a:extLst>
              <a:ext uri="{FF2B5EF4-FFF2-40B4-BE49-F238E27FC236}">
                <a16:creationId xmlns:a16="http://schemas.microsoft.com/office/drawing/2014/main" id="{926691DE-4288-664C-87DD-C777A422299C}"/>
              </a:ext>
            </a:extLst>
          </p:cNvPr>
          <p:cNvCxnSpPr>
            <a:cxnSpLocks/>
          </p:cNvCxnSpPr>
          <p:nvPr/>
        </p:nvCxnSpPr>
        <p:spPr>
          <a:xfrm>
            <a:off x="457653" y="1934236"/>
            <a:ext cx="1800000" cy="0"/>
          </a:xfrm>
          <a:prstGeom prst="line">
            <a:avLst/>
          </a:prstGeom>
          <a:solidFill>
            <a:schemeClr val="tx1">
              <a:lumMod val="50000"/>
              <a:lumOff val="50000"/>
            </a:schemeClr>
          </a:solidFill>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a16="http://schemas.microsoft.com/office/drawing/2014/main" id="{79BE1948-551B-B943-AEFE-D9F6F2F668A0}"/>
              </a:ext>
            </a:extLst>
          </p:cNvPr>
          <p:cNvSpPr/>
          <p:nvPr/>
        </p:nvSpPr>
        <p:spPr>
          <a:xfrm>
            <a:off x="1184633" y="1738846"/>
            <a:ext cx="360000" cy="360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B780C640-1BB9-5648-966D-87366D2CDEA3}"/>
              </a:ext>
            </a:extLst>
          </p:cNvPr>
          <p:cNvSpPr/>
          <p:nvPr/>
        </p:nvSpPr>
        <p:spPr>
          <a:xfrm>
            <a:off x="1321653" y="2225070"/>
            <a:ext cx="72000" cy="72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E7462E2D-A02C-DB47-8C66-3FE936856359}"/>
              </a:ext>
            </a:extLst>
          </p:cNvPr>
          <p:cNvSpPr/>
          <p:nvPr/>
        </p:nvSpPr>
        <p:spPr>
          <a:xfrm>
            <a:off x="1321653" y="2456722"/>
            <a:ext cx="72000" cy="72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66457FE6-69E8-6140-9AFF-1C9369244FB6}"/>
              </a:ext>
            </a:extLst>
          </p:cNvPr>
          <p:cNvSpPr/>
          <p:nvPr/>
        </p:nvSpPr>
        <p:spPr>
          <a:xfrm>
            <a:off x="1321653" y="2688374"/>
            <a:ext cx="72000" cy="72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B7945B27-D19C-4F4D-8220-FE7E865A3243}"/>
              </a:ext>
            </a:extLst>
          </p:cNvPr>
          <p:cNvSpPr txBox="1"/>
          <p:nvPr/>
        </p:nvSpPr>
        <p:spPr>
          <a:xfrm>
            <a:off x="3642319" y="2529541"/>
            <a:ext cx="5577168" cy="461665"/>
          </a:xfrm>
          <a:prstGeom prst="rect">
            <a:avLst/>
          </a:prstGeom>
          <a:solidFill>
            <a:schemeClr val="bg1">
              <a:lumMod val="95000"/>
            </a:schemeClr>
          </a:solidFill>
        </p:spPr>
        <p:txBody>
          <a:bodyPr wrap="none" rtlCol="0">
            <a:spAutoFit/>
          </a:bodyPr>
          <a:lstStyle/>
          <a:p>
            <a:r>
              <a:rPr lang="en-US" sz="2400" b="1" dirty="0">
                <a:latin typeface="Menlo" panose="020B0609030804020204" pitchFamily="49" charset="0"/>
                <a:ea typeface="Menlo" panose="020B0609030804020204" pitchFamily="49" charset="0"/>
                <a:cs typeface="Menlo" panose="020B0609030804020204" pitchFamily="49" charset="0"/>
              </a:rPr>
              <a:t>ctrl</a:t>
            </a:r>
            <a:r>
              <a:rPr lang="en-US" sz="2400" dirty="0">
                <a:latin typeface="Menlo" panose="020B0609030804020204" pitchFamily="49" charset="0"/>
                <a:ea typeface="Menlo" panose="020B0609030804020204" pitchFamily="49" charset="0"/>
                <a:cs typeface="Menlo" panose="020B0609030804020204" pitchFamily="49" charset="0"/>
              </a:rPr>
              <a:t>(2) @ h q[0], q[1], q[2];</a:t>
            </a:r>
          </a:p>
        </p:txBody>
      </p:sp>
      <p:sp>
        <p:nvSpPr>
          <p:cNvPr id="25" name="TextBox 24">
            <a:extLst>
              <a:ext uri="{FF2B5EF4-FFF2-40B4-BE49-F238E27FC236}">
                <a16:creationId xmlns:a16="http://schemas.microsoft.com/office/drawing/2014/main" id="{9480AD37-5848-8843-B81E-135DACC5A17E}"/>
              </a:ext>
            </a:extLst>
          </p:cNvPr>
          <p:cNvSpPr txBox="1"/>
          <p:nvPr/>
        </p:nvSpPr>
        <p:spPr>
          <a:xfrm>
            <a:off x="3642319" y="3918823"/>
            <a:ext cx="7622600" cy="2677656"/>
          </a:xfrm>
          <a:prstGeom prst="rect">
            <a:avLst/>
          </a:prstGeom>
          <a:solidFill>
            <a:schemeClr val="bg1">
              <a:lumMod val="95000"/>
            </a:schemeClr>
          </a:solidFill>
        </p:spPr>
        <p:txBody>
          <a:bodyPr wrap="none" rtlCol="0">
            <a:spAutoFit/>
          </a:bodyPr>
          <a:lstStyle/>
          <a:p>
            <a:r>
              <a:rPr lang="en-US" sz="2400" dirty="0">
                <a:latin typeface="Menlo" panose="020B0609030804020204" pitchFamily="49" charset="0"/>
                <a:ea typeface="Menlo" panose="020B0609030804020204" pitchFamily="49" charset="0"/>
                <a:cs typeface="Menlo" panose="020B0609030804020204" pitchFamily="49" charset="0"/>
              </a:rPr>
              <a:t>from </a:t>
            </a:r>
            <a:r>
              <a:rPr lang="en-US" sz="2400" dirty="0" err="1">
                <a:latin typeface="Menlo" panose="020B0609030804020204" pitchFamily="49" charset="0"/>
                <a:ea typeface="Menlo" panose="020B0609030804020204" pitchFamily="49" charset="0"/>
                <a:cs typeface="Menlo" panose="020B0609030804020204" pitchFamily="49" charset="0"/>
              </a:rPr>
              <a:t>qiskit</a:t>
            </a:r>
            <a:r>
              <a:rPr lang="en-US" sz="2400" dirty="0">
                <a:latin typeface="Menlo" panose="020B0609030804020204" pitchFamily="49" charset="0"/>
                <a:ea typeface="Menlo" panose="020B0609030804020204" pitchFamily="49" charset="0"/>
                <a:cs typeface="Menlo" panose="020B0609030804020204" pitchFamily="49" charset="0"/>
              </a:rPr>
              <a:t> import </a:t>
            </a:r>
            <a:r>
              <a:rPr lang="en-US" sz="2400" dirty="0" err="1">
                <a:latin typeface="Menlo" panose="020B0609030804020204" pitchFamily="49" charset="0"/>
                <a:ea typeface="Menlo" panose="020B0609030804020204" pitchFamily="49" charset="0"/>
                <a:cs typeface="Menlo" panose="020B0609030804020204" pitchFamily="49" charset="0"/>
              </a:rPr>
              <a:t>QuantumCircuit</a:t>
            </a:r>
            <a:endParaRPr lang="en-US" sz="2400" dirty="0">
              <a:latin typeface="Menlo" panose="020B0609030804020204" pitchFamily="49" charset="0"/>
              <a:ea typeface="Menlo" panose="020B0609030804020204" pitchFamily="49" charset="0"/>
              <a:cs typeface="Menlo" panose="020B0609030804020204" pitchFamily="49" charset="0"/>
            </a:endParaRPr>
          </a:p>
          <a:p>
            <a:r>
              <a:rPr lang="en-US" sz="2400" dirty="0">
                <a:latin typeface="Menlo" panose="020B0609030804020204" pitchFamily="49" charset="0"/>
                <a:ea typeface="Menlo" panose="020B0609030804020204" pitchFamily="49" charset="0"/>
                <a:cs typeface="Menlo" panose="020B0609030804020204" pitchFamily="49" charset="0"/>
              </a:rPr>
              <a:t>from </a:t>
            </a:r>
            <a:r>
              <a:rPr lang="en-US" sz="2400" dirty="0" err="1">
                <a:latin typeface="Menlo" panose="020B0609030804020204" pitchFamily="49" charset="0"/>
                <a:ea typeface="Menlo" panose="020B0609030804020204" pitchFamily="49" charset="0"/>
                <a:cs typeface="Menlo" panose="020B0609030804020204" pitchFamily="49" charset="0"/>
              </a:rPr>
              <a:t>qiskit.circuit.library</a:t>
            </a:r>
            <a:r>
              <a:rPr lang="en-US" sz="2400" dirty="0">
                <a:latin typeface="Menlo" panose="020B0609030804020204" pitchFamily="49" charset="0"/>
                <a:ea typeface="Menlo" panose="020B0609030804020204" pitchFamily="49" charset="0"/>
                <a:cs typeface="Menlo" panose="020B0609030804020204" pitchFamily="49" charset="0"/>
              </a:rPr>
              <a:t> import </a:t>
            </a:r>
            <a:r>
              <a:rPr lang="en-US" sz="2400" dirty="0" err="1">
                <a:latin typeface="Menlo" panose="020B0609030804020204" pitchFamily="49" charset="0"/>
                <a:ea typeface="Menlo" panose="020B0609030804020204" pitchFamily="49" charset="0"/>
                <a:cs typeface="Menlo" panose="020B0609030804020204" pitchFamily="49" charset="0"/>
              </a:rPr>
              <a:t>HGate</a:t>
            </a:r>
            <a:endParaRPr lang="en-US" sz="2400" dirty="0">
              <a:latin typeface="Menlo" panose="020B0609030804020204" pitchFamily="49" charset="0"/>
              <a:ea typeface="Menlo" panose="020B0609030804020204" pitchFamily="49" charset="0"/>
              <a:cs typeface="Menlo" panose="020B0609030804020204" pitchFamily="49" charset="0"/>
            </a:endParaRPr>
          </a:p>
          <a:p>
            <a:endParaRPr lang="en-US" sz="2400" dirty="0">
              <a:latin typeface="Menlo" panose="020B0609030804020204" pitchFamily="49" charset="0"/>
              <a:ea typeface="Menlo" panose="020B0609030804020204" pitchFamily="49" charset="0"/>
              <a:cs typeface="Menlo" panose="020B0609030804020204" pitchFamily="49" charset="0"/>
            </a:endParaRPr>
          </a:p>
          <a:p>
            <a:r>
              <a:rPr lang="en-US" sz="2400" dirty="0">
                <a:latin typeface="Menlo" panose="020B0609030804020204" pitchFamily="49" charset="0"/>
                <a:ea typeface="Menlo" panose="020B0609030804020204" pitchFamily="49" charset="0"/>
                <a:cs typeface="Menlo" panose="020B0609030804020204" pitchFamily="49" charset="0"/>
              </a:rPr>
              <a:t>qc = </a:t>
            </a:r>
            <a:r>
              <a:rPr lang="en-US" sz="2400" dirty="0" err="1">
                <a:latin typeface="Menlo" panose="020B0609030804020204" pitchFamily="49" charset="0"/>
                <a:ea typeface="Menlo" panose="020B0609030804020204" pitchFamily="49" charset="0"/>
                <a:cs typeface="Menlo" panose="020B0609030804020204" pitchFamily="49" charset="0"/>
              </a:rPr>
              <a:t>QuantumCircuit</a:t>
            </a:r>
            <a:r>
              <a:rPr lang="en-US" sz="2400" dirty="0">
                <a:latin typeface="Menlo" panose="020B0609030804020204" pitchFamily="49" charset="0"/>
                <a:ea typeface="Menlo" panose="020B0609030804020204" pitchFamily="49" charset="0"/>
                <a:cs typeface="Menlo" panose="020B0609030804020204" pitchFamily="49" charset="0"/>
              </a:rPr>
              <a:t>(3)</a:t>
            </a:r>
          </a:p>
          <a:p>
            <a:endParaRPr lang="en-US" sz="2400" dirty="0">
              <a:latin typeface="Menlo" panose="020B0609030804020204" pitchFamily="49" charset="0"/>
              <a:ea typeface="Menlo" panose="020B0609030804020204" pitchFamily="49" charset="0"/>
              <a:cs typeface="Menlo" panose="020B0609030804020204" pitchFamily="49" charset="0"/>
            </a:endParaRPr>
          </a:p>
          <a:p>
            <a:r>
              <a:rPr lang="en-US" sz="2400" dirty="0" err="1">
                <a:latin typeface="Menlo" panose="020B0609030804020204" pitchFamily="49" charset="0"/>
                <a:ea typeface="Menlo" panose="020B0609030804020204" pitchFamily="49" charset="0"/>
                <a:cs typeface="Menlo" panose="020B0609030804020204" pitchFamily="49" charset="0"/>
              </a:rPr>
              <a:t>mch</a:t>
            </a:r>
            <a:r>
              <a:rPr lang="en-US" sz="2400" dirty="0">
                <a:latin typeface="Menlo" panose="020B0609030804020204" pitchFamily="49" charset="0"/>
                <a:ea typeface="Menlo" panose="020B0609030804020204" pitchFamily="49" charset="0"/>
                <a:cs typeface="Menlo" panose="020B0609030804020204" pitchFamily="49" charset="0"/>
              </a:rPr>
              <a:t> = </a:t>
            </a:r>
            <a:r>
              <a:rPr lang="en-US" sz="2400" dirty="0" err="1">
                <a:latin typeface="Menlo" panose="020B0609030804020204" pitchFamily="49" charset="0"/>
                <a:ea typeface="Menlo" panose="020B0609030804020204" pitchFamily="49" charset="0"/>
                <a:cs typeface="Menlo" panose="020B0609030804020204" pitchFamily="49" charset="0"/>
              </a:rPr>
              <a:t>HGate</a:t>
            </a:r>
            <a:r>
              <a:rPr lang="en-US" sz="2400" dirty="0">
                <a:latin typeface="Menlo" panose="020B0609030804020204" pitchFamily="49" charset="0"/>
                <a:ea typeface="Menlo" panose="020B0609030804020204" pitchFamily="49" charset="0"/>
                <a:cs typeface="Menlo" panose="020B0609030804020204" pitchFamily="49" charset="0"/>
              </a:rPr>
              <a:t>().control(2)</a:t>
            </a:r>
          </a:p>
          <a:p>
            <a:r>
              <a:rPr lang="en-US" sz="2400" dirty="0" err="1">
                <a:latin typeface="Menlo" panose="020B0609030804020204" pitchFamily="49" charset="0"/>
                <a:ea typeface="Menlo" panose="020B0609030804020204" pitchFamily="49" charset="0"/>
                <a:cs typeface="Menlo" panose="020B0609030804020204" pitchFamily="49" charset="0"/>
              </a:rPr>
              <a:t>qc.append</a:t>
            </a:r>
            <a:r>
              <a:rPr lang="en-US" sz="2400" dirty="0">
                <a:latin typeface="Menlo" panose="020B0609030804020204" pitchFamily="49" charset="0"/>
                <a:ea typeface="Menlo" panose="020B0609030804020204" pitchFamily="49" charset="0"/>
                <a:cs typeface="Menlo" panose="020B0609030804020204" pitchFamily="49" charset="0"/>
              </a:rPr>
              <a:t>(</a:t>
            </a:r>
            <a:r>
              <a:rPr lang="en-US" sz="2400" dirty="0" err="1">
                <a:latin typeface="Menlo" panose="020B0609030804020204" pitchFamily="49" charset="0"/>
                <a:ea typeface="Menlo" panose="020B0609030804020204" pitchFamily="49" charset="0"/>
                <a:cs typeface="Menlo" panose="020B0609030804020204" pitchFamily="49" charset="0"/>
              </a:rPr>
              <a:t>mch</a:t>
            </a:r>
            <a:r>
              <a:rPr lang="en-US" sz="2400" dirty="0">
                <a:latin typeface="Menlo" panose="020B0609030804020204" pitchFamily="49" charset="0"/>
                <a:ea typeface="Menlo" panose="020B0609030804020204" pitchFamily="49" charset="0"/>
                <a:cs typeface="Menlo" panose="020B0609030804020204" pitchFamily="49" charset="0"/>
              </a:rPr>
              <a:t>, [0, 1, 2])</a:t>
            </a:r>
          </a:p>
        </p:txBody>
      </p:sp>
      <p:sp>
        <p:nvSpPr>
          <p:cNvPr id="26" name="TextBox 25">
            <a:extLst>
              <a:ext uri="{FF2B5EF4-FFF2-40B4-BE49-F238E27FC236}">
                <a16:creationId xmlns:a16="http://schemas.microsoft.com/office/drawing/2014/main" id="{E4561B4B-E271-ED43-B9E6-60C5E110D64F}"/>
              </a:ext>
            </a:extLst>
          </p:cNvPr>
          <p:cNvSpPr txBox="1"/>
          <p:nvPr/>
        </p:nvSpPr>
        <p:spPr>
          <a:xfrm>
            <a:off x="3642319" y="1920813"/>
            <a:ext cx="1407758" cy="461665"/>
          </a:xfrm>
          <a:prstGeom prst="rect">
            <a:avLst/>
          </a:prstGeom>
          <a:solidFill>
            <a:schemeClr val="accent4">
              <a:lumMod val="20000"/>
              <a:lumOff val="80000"/>
            </a:schemeClr>
          </a:solidFill>
        </p:spPr>
        <p:txBody>
          <a:bodyPr wrap="none" rtlCol="0">
            <a:spAutoFit/>
          </a:bodyPr>
          <a:lstStyle/>
          <a:p>
            <a:r>
              <a:rPr lang="en-US" sz="2400" dirty="0"/>
              <a:t>QASM 3.x</a:t>
            </a:r>
          </a:p>
        </p:txBody>
      </p:sp>
      <p:sp>
        <p:nvSpPr>
          <p:cNvPr id="27" name="TextBox 26">
            <a:extLst>
              <a:ext uri="{FF2B5EF4-FFF2-40B4-BE49-F238E27FC236}">
                <a16:creationId xmlns:a16="http://schemas.microsoft.com/office/drawing/2014/main" id="{85C3DF1D-49FE-2C45-8133-851A52E43EE3}"/>
              </a:ext>
            </a:extLst>
          </p:cNvPr>
          <p:cNvSpPr txBox="1"/>
          <p:nvPr/>
        </p:nvSpPr>
        <p:spPr>
          <a:xfrm>
            <a:off x="3642319" y="3331525"/>
            <a:ext cx="2601994" cy="461665"/>
          </a:xfrm>
          <a:prstGeom prst="rect">
            <a:avLst/>
          </a:prstGeom>
          <a:solidFill>
            <a:schemeClr val="accent4">
              <a:lumMod val="20000"/>
              <a:lumOff val="80000"/>
            </a:schemeClr>
          </a:solidFill>
        </p:spPr>
        <p:txBody>
          <a:bodyPr wrap="none" rtlCol="0">
            <a:spAutoFit/>
          </a:bodyPr>
          <a:lstStyle/>
          <a:p>
            <a:r>
              <a:rPr lang="en-US" sz="2400" dirty="0">
                <a:latin typeface="Menlo" panose="020B0609030804020204" pitchFamily="49" charset="0"/>
                <a:ea typeface="Menlo" panose="020B0609030804020204" pitchFamily="49" charset="0"/>
                <a:cs typeface="Menlo" panose="020B0609030804020204" pitchFamily="49" charset="0"/>
              </a:rPr>
              <a:t>Python/</a:t>
            </a:r>
            <a:r>
              <a:rPr lang="en-US" sz="2400" dirty="0" err="1">
                <a:latin typeface="Menlo" panose="020B0609030804020204" pitchFamily="49" charset="0"/>
                <a:ea typeface="Menlo" panose="020B0609030804020204" pitchFamily="49" charset="0"/>
                <a:cs typeface="Menlo" panose="020B0609030804020204" pitchFamily="49" charset="0"/>
              </a:rPr>
              <a:t>Qiskit</a:t>
            </a:r>
            <a:endParaRPr lang="en-US" sz="2400" dirty="0">
              <a:latin typeface="Menlo" panose="020B0609030804020204" pitchFamily="49" charset="0"/>
              <a:ea typeface="Menlo" panose="020B0609030804020204" pitchFamily="49" charset="0"/>
              <a:cs typeface="Menlo" panose="020B0609030804020204" pitchFamily="49" charset="0"/>
            </a:endParaRPr>
          </a:p>
        </p:txBody>
      </p:sp>
      <p:sp>
        <p:nvSpPr>
          <p:cNvPr id="6" name="TextBox 5">
            <a:extLst>
              <a:ext uri="{FF2B5EF4-FFF2-40B4-BE49-F238E27FC236}">
                <a16:creationId xmlns:a16="http://schemas.microsoft.com/office/drawing/2014/main" id="{8F21D2DD-220E-EB42-A9CB-B9C5B7174F37}"/>
              </a:ext>
            </a:extLst>
          </p:cNvPr>
          <p:cNvSpPr txBox="1"/>
          <p:nvPr/>
        </p:nvSpPr>
        <p:spPr>
          <a:xfrm>
            <a:off x="3642319" y="1272339"/>
            <a:ext cx="6178486" cy="461665"/>
          </a:xfrm>
          <a:prstGeom prst="rect">
            <a:avLst/>
          </a:prstGeom>
          <a:noFill/>
        </p:spPr>
        <p:txBody>
          <a:bodyPr wrap="none" rtlCol="0">
            <a:spAutoFit/>
          </a:bodyPr>
          <a:lstStyle/>
          <a:p>
            <a:r>
              <a:rPr lang="en-ZA" sz="2400" dirty="0"/>
              <a:t>Example: Double-Controlled Hadamard (H) Gate</a:t>
            </a:r>
            <a:endParaRPr lang="en-US" sz="2400" dirty="0"/>
          </a:p>
        </p:txBody>
      </p:sp>
    </p:spTree>
    <p:extLst>
      <p:ext uri="{BB962C8B-B14F-4D97-AF65-F5344CB8AC3E}">
        <p14:creationId xmlns:p14="http://schemas.microsoft.com/office/powerpoint/2010/main" val="136093434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3F3F0A81-45B2-0A49-8C9A-C595BBE261B2}"/>
              </a:ext>
            </a:extLst>
          </p:cNvPr>
          <p:cNvPicPr>
            <a:picLocks noChangeAspect="1"/>
          </p:cNvPicPr>
          <p:nvPr/>
        </p:nvPicPr>
        <p:blipFill>
          <a:blip r:embed="rId3"/>
          <a:stretch>
            <a:fillRect/>
          </a:stretch>
        </p:blipFill>
        <p:spPr>
          <a:xfrm>
            <a:off x="0" y="0"/>
            <a:ext cx="12191999" cy="6835381"/>
          </a:xfrm>
          <a:prstGeom prst="rect">
            <a:avLst/>
          </a:prstGeom>
        </p:spPr>
      </p:pic>
      <p:sp>
        <p:nvSpPr>
          <p:cNvPr id="3" name="Slide Number Placeholder 2">
            <a:extLst>
              <a:ext uri="{FF2B5EF4-FFF2-40B4-BE49-F238E27FC236}">
                <a16:creationId xmlns:a16="http://schemas.microsoft.com/office/drawing/2014/main" id="{60C4B02F-0FE1-7640-89D9-897868D9C7FC}"/>
              </a:ext>
            </a:extLst>
          </p:cNvPr>
          <p:cNvSpPr>
            <a:spLocks noGrp="1"/>
          </p:cNvSpPr>
          <p:nvPr>
            <p:ph type="sldNum" sz="quarter" idx="12"/>
          </p:nvPr>
        </p:nvSpPr>
        <p:spPr/>
        <p:txBody>
          <a:bodyPr/>
          <a:lstStyle/>
          <a:p>
            <a:fld id="{591A223C-FA10-BC46-A853-03BA373D023C}" type="slidenum">
              <a:rPr lang="en-US" smtClean="0"/>
              <a:t>46</a:t>
            </a:fld>
            <a:endParaRPr lang="en-US"/>
          </a:p>
        </p:txBody>
      </p:sp>
      <p:sp>
        <p:nvSpPr>
          <p:cNvPr id="9" name="TextBox 8">
            <a:extLst>
              <a:ext uri="{FF2B5EF4-FFF2-40B4-BE49-F238E27FC236}">
                <a16:creationId xmlns:a16="http://schemas.microsoft.com/office/drawing/2014/main" id="{719C0D81-1920-C34F-B234-53C430C4B1BB}"/>
              </a:ext>
            </a:extLst>
          </p:cNvPr>
          <p:cNvSpPr txBox="1"/>
          <p:nvPr/>
        </p:nvSpPr>
        <p:spPr>
          <a:xfrm>
            <a:off x="7113537" y="2254845"/>
            <a:ext cx="3815468" cy="923330"/>
          </a:xfrm>
          <a:prstGeom prst="rect">
            <a:avLst/>
          </a:prstGeom>
          <a:noFill/>
        </p:spPr>
        <p:txBody>
          <a:bodyPr wrap="none" rtlCol="0">
            <a:spAutoFit/>
          </a:bodyPr>
          <a:lstStyle/>
          <a:p>
            <a:r>
              <a:rPr lang="en-US" sz="5400" dirty="0">
                <a:solidFill>
                  <a:schemeClr val="bg1"/>
                </a:solidFill>
                <a:latin typeface="Comic Sans MS" panose="030F0902030302020204" pitchFamily="66" charset="0"/>
              </a:rPr>
              <a:t>Questions?</a:t>
            </a:r>
          </a:p>
        </p:txBody>
      </p:sp>
      <p:pic>
        <p:nvPicPr>
          <p:cNvPr id="10" name="Picture 9">
            <a:extLst>
              <a:ext uri="{FF2B5EF4-FFF2-40B4-BE49-F238E27FC236}">
                <a16:creationId xmlns:a16="http://schemas.microsoft.com/office/drawing/2014/main" id="{0C8917C3-325D-F84F-87E3-701C88163FBE}"/>
              </a:ext>
            </a:extLst>
          </p:cNvPr>
          <p:cNvPicPr>
            <a:picLocks noChangeAspect="1"/>
          </p:cNvPicPr>
          <p:nvPr/>
        </p:nvPicPr>
        <p:blipFill>
          <a:blip r:embed="rId4"/>
          <a:stretch>
            <a:fillRect/>
          </a:stretch>
        </p:blipFill>
        <p:spPr>
          <a:xfrm>
            <a:off x="3640187" y="3654697"/>
            <a:ext cx="2889913" cy="2889913"/>
          </a:xfrm>
          <a:prstGeom prst="rect">
            <a:avLst/>
          </a:prstGeom>
        </p:spPr>
      </p:pic>
      <p:pic>
        <p:nvPicPr>
          <p:cNvPr id="11" name="Picture 10">
            <a:extLst>
              <a:ext uri="{FF2B5EF4-FFF2-40B4-BE49-F238E27FC236}">
                <a16:creationId xmlns:a16="http://schemas.microsoft.com/office/drawing/2014/main" id="{4380F4B2-F5F9-D14B-A42A-1BCB2C702405}"/>
              </a:ext>
            </a:extLst>
          </p:cNvPr>
          <p:cNvPicPr>
            <a:picLocks noChangeAspect="1"/>
          </p:cNvPicPr>
          <p:nvPr/>
        </p:nvPicPr>
        <p:blipFill>
          <a:blip r:embed="rId5"/>
          <a:stretch>
            <a:fillRect/>
          </a:stretch>
        </p:blipFill>
        <p:spPr>
          <a:xfrm>
            <a:off x="505065" y="1097779"/>
            <a:ext cx="3744255" cy="5113836"/>
          </a:xfrm>
          <a:prstGeom prst="rect">
            <a:avLst/>
          </a:prstGeom>
        </p:spPr>
      </p:pic>
    </p:spTree>
    <p:extLst>
      <p:ext uri="{BB962C8B-B14F-4D97-AF65-F5344CB8AC3E}">
        <p14:creationId xmlns:p14="http://schemas.microsoft.com/office/powerpoint/2010/main" val="27640201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135762</TotalTime>
  <Words>6980</Words>
  <Application>Microsoft Macintosh PowerPoint</Application>
  <PresentationFormat>Widescreen</PresentationFormat>
  <Paragraphs>909</Paragraphs>
  <Slides>46</Slides>
  <Notes>46</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46</vt:i4>
      </vt:variant>
    </vt:vector>
  </HeadingPairs>
  <TitlesOfParts>
    <vt:vector size="58" baseType="lpstr">
      <vt:lpstr>Andale Mono</vt:lpstr>
      <vt:lpstr>AndaleMono</vt:lpstr>
      <vt:lpstr>Arial</vt:lpstr>
      <vt:lpstr>Calibri</vt:lpstr>
      <vt:lpstr>Calibri Light</vt:lpstr>
      <vt:lpstr>Cambria Math</vt:lpstr>
      <vt:lpstr>Comic Sans MS</vt:lpstr>
      <vt:lpstr>Courier New</vt:lpstr>
      <vt:lpstr>Menlo</vt:lpstr>
      <vt:lpstr>Times</vt:lpstr>
      <vt:lpstr>Times New Roman</vt:lpstr>
      <vt:lpstr>Office Theme</vt:lpstr>
      <vt:lpstr>PowerPoint Presentation</vt:lpstr>
      <vt:lpstr>Model of quantum computation</vt:lpstr>
      <vt:lpstr>MathBox: Matrix</vt:lpstr>
      <vt:lpstr>MathBox: Matrix Operations </vt:lpstr>
      <vt:lpstr>MathBox: Matrix Multiplication</vt:lpstr>
      <vt:lpstr>MathBox: Key Matrix Types Used in Quantum Computing</vt:lpstr>
      <vt:lpstr>From Matrices to Quantum Gates</vt:lpstr>
      <vt:lpstr>The Evolution Postulate</vt:lpstr>
      <vt:lpstr>Reversibility of Quantum Operations</vt:lpstr>
      <vt:lpstr>Quantum Gates by Number of Qubits</vt:lpstr>
      <vt:lpstr>PowerPoint Presentation</vt:lpstr>
      <vt:lpstr>Library of Quantum Gates</vt:lpstr>
      <vt:lpstr>Pauli Gates: X,Y,Z</vt:lpstr>
      <vt:lpstr>Identity Gate</vt:lpstr>
      <vt:lpstr>Pauli-X, Pauli-Y and Pauli-Z gates</vt:lpstr>
      <vt:lpstr>Pauli X Gate / NOT Gate</vt:lpstr>
      <vt:lpstr>Pauli Y Gate</vt:lpstr>
      <vt:lpstr>Pauli Z Gate</vt:lpstr>
      <vt:lpstr>Square Root of X Gate</vt:lpstr>
      <vt:lpstr>Hadamard Gate</vt:lpstr>
      <vt:lpstr>PowerPoint Presentation</vt:lpstr>
      <vt:lpstr>Quantum Rotations</vt:lpstr>
      <vt:lpstr>Deriving the RY Rotation Matrix</vt:lpstr>
      <vt:lpstr>Parameterized Rotation Gates</vt:lpstr>
      <vt:lpstr>Phase Shift Gates</vt:lpstr>
      <vt:lpstr>Phase Gates Summary</vt:lpstr>
      <vt:lpstr>The Universal Operator</vt:lpstr>
      <vt:lpstr>Universal Single-Qubit Gate</vt:lpstr>
      <vt:lpstr>Measurement Operation (Gate)</vt:lpstr>
      <vt:lpstr>User-defined quantum gates</vt:lpstr>
      <vt:lpstr>Superconducting Quantum Processing Unit (QPU)</vt:lpstr>
      <vt:lpstr>PowerPoint Presentation</vt:lpstr>
      <vt:lpstr>Controlled Gates</vt:lpstr>
      <vt:lpstr>Controlled Gate Transformation Matrix</vt:lpstr>
      <vt:lpstr>CX / CNOT gate</vt:lpstr>
      <vt:lpstr>Controlled Pauli Gates</vt:lpstr>
      <vt:lpstr>Controlled Hadamard Gate / CH</vt:lpstr>
      <vt:lpstr>Controlled Phase Gate / CP</vt:lpstr>
      <vt:lpstr>Controlled Rotation Gates</vt:lpstr>
      <vt:lpstr>SWAP gate</vt:lpstr>
      <vt:lpstr>Controlled U gate</vt:lpstr>
      <vt:lpstr>PowerPoint Presentation</vt:lpstr>
      <vt:lpstr>Toffoli / CCNOT  / CCX gate</vt:lpstr>
      <vt:lpstr>Fredkin/ CSWAP Gate</vt:lpstr>
      <vt:lpstr>Creating Multi-Controlled Gates</vt:lpstr>
      <vt:lpstr>PowerPoint Presentation</vt:lpstr>
    </vt:vector>
  </TitlesOfParts>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Aleksandar Radovanovic</cp:lastModifiedBy>
  <cp:revision>2436</cp:revision>
  <cp:lastPrinted>2026-08-10T17:13:42Z</cp:lastPrinted>
  <dcterms:created xsi:type="dcterms:W3CDTF">2021-12-18T08:25:37Z</dcterms:created>
  <dcterms:modified xsi:type="dcterms:W3CDTF">2026-10-24T10:24:36Z</dcterms:modified>
</cp:coreProperties>
</file>