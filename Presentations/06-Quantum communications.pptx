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handoutMasterIdLst>
    <p:handoutMasterId r:id="rId45"/>
  </p:handoutMasterIdLst>
  <p:sldIdLst>
    <p:sldId id="726" r:id="rId2"/>
    <p:sldId id="743" r:id="rId3"/>
    <p:sldId id="608" r:id="rId4"/>
    <p:sldId id="776" r:id="rId5"/>
    <p:sldId id="744" r:id="rId6"/>
    <p:sldId id="784" r:id="rId7"/>
    <p:sldId id="785" r:id="rId8"/>
    <p:sldId id="757" r:id="rId9"/>
    <p:sldId id="564" r:id="rId10"/>
    <p:sldId id="760" r:id="rId11"/>
    <p:sldId id="758" r:id="rId12"/>
    <p:sldId id="610" r:id="rId13"/>
    <p:sldId id="563" r:id="rId14"/>
    <p:sldId id="759" r:id="rId15"/>
    <p:sldId id="761" r:id="rId16"/>
    <p:sldId id="565" r:id="rId17"/>
    <p:sldId id="626" r:id="rId18"/>
    <p:sldId id="711" r:id="rId19"/>
    <p:sldId id="741" r:id="rId20"/>
    <p:sldId id="622" r:id="rId21"/>
    <p:sldId id="679" r:id="rId22"/>
    <p:sldId id="788" r:id="rId23"/>
    <p:sldId id="690" r:id="rId24"/>
    <p:sldId id="789" r:id="rId25"/>
    <p:sldId id="747" r:id="rId26"/>
    <p:sldId id="641" r:id="rId27"/>
    <p:sldId id="749" r:id="rId28"/>
    <p:sldId id="790" r:id="rId29"/>
    <p:sldId id="762" r:id="rId30"/>
    <p:sldId id="764" r:id="rId31"/>
    <p:sldId id="766" r:id="rId32"/>
    <p:sldId id="780" r:id="rId33"/>
    <p:sldId id="786" r:id="rId34"/>
    <p:sldId id="783" r:id="rId35"/>
    <p:sldId id="787" r:id="rId36"/>
    <p:sldId id="616" r:id="rId37"/>
    <p:sldId id="611" r:id="rId38"/>
    <p:sldId id="617" r:id="rId39"/>
    <p:sldId id="692" r:id="rId40"/>
    <p:sldId id="646" r:id="rId41"/>
    <p:sldId id="607" r:id="rId42"/>
    <p:sldId id="73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00"/>
    <a:srgbClr val="FA9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27"/>
    <p:restoredTop sz="49212"/>
  </p:normalViewPr>
  <p:slideViewPr>
    <p:cSldViewPr snapToGrid="0" snapToObjects="1">
      <p:cViewPr>
        <p:scale>
          <a:sx n="94" d="100"/>
          <a:sy n="94" d="100"/>
        </p:scale>
        <p:origin x="1144" y="144"/>
      </p:cViewPr>
      <p:guideLst/>
    </p:cSldViewPr>
  </p:slideViewPr>
  <p:outlineViewPr>
    <p:cViewPr>
      <p:scale>
        <a:sx n="33" d="100"/>
        <a:sy n="33" d="100"/>
      </p:scale>
      <p:origin x="0" y="0"/>
    </p:cViewPr>
  </p:outlineViewPr>
  <p:notesTextViewPr>
    <p:cViewPr>
      <p:scale>
        <a:sx n="185" d="100"/>
        <a:sy n="185" d="100"/>
      </p:scale>
      <p:origin x="0" y="-776"/>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040A46-621F-8A4B-84BC-DDE2383CDE36}" type="doc">
      <dgm:prSet loTypeId="urn:microsoft.com/office/officeart/2005/8/layout/lProcess3" loCatId="" qsTypeId="urn:microsoft.com/office/officeart/2005/8/quickstyle/simple1" qsCatId="simple" csTypeId="urn:microsoft.com/office/officeart/2005/8/colors/colorful4" csCatId="colorful" phldr="1"/>
      <dgm:spPr/>
    </dgm:pt>
    <dgm:pt modelId="{537F9B97-4CE6-9B4E-86A7-22EAEDB638C1}">
      <dgm:prSet phldrT="[Text]" custT="1"/>
      <dgm:spPr/>
      <dgm:t>
        <a:bodyPr/>
        <a:lstStyle/>
        <a:p>
          <a:r>
            <a:rPr lang="en-US" sz="2400" dirty="0">
              <a:solidFill>
                <a:schemeClr val="tx1"/>
              </a:solidFill>
            </a:rPr>
            <a:t>1970</a:t>
          </a:r>
        </a:p>
      </dgm:t>
    </dgm:pt>
    <dgm:pt modelId="{9135E362-7CBE-784D-ABD2-29CEEC4026FE}" type="parTrans" cxnId="{80460905-DEDD-B440-AEA8-849D242BC380}">
      <dgm:prSet/>
      <dgm:spPr/>
      <dgm:t>
        <a:bodyPr/>
        <a:lstStyle/>
        <a:p>
          <a:endParaRPr lang="en-US" sz="2400">
            <a:solidFill>
              <a:schemeClr val="tx1"/>
            </a:solidFill>
          </a:endParaRPr>
        </a:p>
      </dgm:t>
    </dgm:pt>
    <dgm:pt modelId="{28139769-59E1-D849-A441-836F8C92FD66}" type="sibTrans" cxnId="{80460905-DEDD-B440-AEA8-849D242BC380}">
      <dgm:prSet/>
      <dgm:spPr/>
      <dgm:t>
        <a:bodyPr/>
        <a:lstStyle/>
        <a:p>
          <a:endParaRPr lang="en-US" sz="2400">
            <a:solidFill>
              <a:schemeClr val="tx1"/>
            </a:solidFill>
          </a:endParaRPr>
        </a:p>
      </dgm:t>
    </dgm:pt>
    <dgm:pt modelId="{CEA9C416-0103-C149-A0AF-577A5A432955}">
      <dgm:prSet phldrT="[Text]" custT="1"/>
      <dgm:spPr/>
      <dgm:t>
        <a:bodyPr/>
        <a:lstStyle/>
        <a:p>
          <a:r>
            <a:rPr lang="en-US" sz="2400" dirty="0">
              <a:solidFill>
                <a:schemeClr val="tx1"/>
              </a:solidFill>
            </a:rPr>
            <a:t>1984</a:t>
          </a:r>
        </a:p>
      </dgm:t>
    </dgm:pt>
    <dgm:pt modelId="{A3B84EC9-372C-F94D-B1C3-63E03682B315}" type="parTrans" cxnId="{135EC4A9-6EB4-B241-85FB-D1A284AA1483}">
      <dgm:prSet/>
      <dgm:spPr/>
      <dgm:t>
        <a:bodyPr/>
        <a:lstStyle/>
        <a:p>
          <a:endParaRPr lang="en-US" sz="2400">
            <a:solidFill>
              <a:schemeClr val="tx1"/>
            </a:solidFill>
          </a:endParaRPr>
        </a:p>
      </dgm:t>
    </dgm:pt>
    <dgm:pt modelId="{CBCC6F2F-7E60-EE47-9570-14D003427848}" type="sibTrans" cxnId="{135EC4A9-6EB4-B241-85FB-D1A284AA1483}">
      <dgm:prSet/>
      <dgm:spPr/>
      <dgm:t>
        <a:bodyPr/>
        <a:lstStyle/>
        <a:p>
          <a:endParaRPr lang="en-US" sz="2400">
            <a:solidFill>
              <a:schemeClr val="tx1"/>
            </a:solidFill>
          </a:endParaRPr>
        </a:p>
      </dgm:t>
    </dgm:pt>
    <dgm:pt modelId="{DAFCD7CC-2163-F14A-9DFB-481DAC800C77}">
      <dgm:prSet phldrT="[Text]" custT="1"/>
      <dgm:spPr/>
      <dgm:t>
        <a:bodyPr/>
        <a:lstStyle/>
        <a:p>
          <a:r>
            <a:rPr lang="en-US" sz="2400" dirty="0">
              <a:solidFill>
                <a:schemeClr val="tx1"/>
              </a:solidFill>
            </a:rPr>
            <a:t>1993</a:t>
          </a:r>
        </a:p>
      </dgm:t>
    </dgm:pt>
    <dgm:pt modelId="{E9442FB3-CAB5-074B-A19A-10BC7D6FD84A}" type="parTrans" cxnId="{AD24B468-54E6-C54E-AA44-D573F96FCBCB}">
      <dgm:prSet/>
      <dgm:spPr/>
      <dgm:t>
        <a:bodyPr/>
        <a:lstStyle/>
        <a:p>
          <a:endParaRPr lang="en-US" sz="2400">
            <a:solidFill>
              <a:schemeClr val="tx1"/>
            </a:solidFill>
          </a:endParaRPr>
        </a:p>
      </dgm:t>
    </dgm:pt>
    <dgm:pt modelId="{F17B856F-C352-5B45-93AE-4B0E24A45951}" type="sibTrans" cxnId="{AD24B468-54E6-C54E-AA44-D573F96FCBCB}">
      <dgm:prSet/>
      <dgm:spPr/>
      <dgm:t>
        <a:bodyPr/>
        <a:lstStyle/>
        <a:p>
          <a:endParaRPr lang="en-US" sz="2400">
            <a:solidFill>
              <a:schemeClr val="tx1"/>
            </a:solidFill>
          </a:endParaRPr>
        </a:p>
      </dgm:t>
    </dgm:pt>
    <dgm:pt modelId="{5799F9A2-69D8-DA4D-B884-C4E6004F33F6}">
      <dgm:prSet phldrT="[Text]" custT="1"/>
      <dgm:spPr/>
      <dgm:t>
        <a:bodyPr/>
        <a:lstStyle/>
        <a:p>
          <a:r>
            <a:rPr lang="en-ZA" sz="2400" b="0" dirty="0">
              <a:solidFill>
                <a:schemeClr val="tx1"/>
              </a:solidFill>
            </a:rPr>
            <a:t>1998/99</a:t>
          </a:r>
          <a:endParaRPr lang="en-US" sz="2400" dirty="0">
            <a:solidFill>
              <a:schemeClr val="tx1"/>
            </a:solidFill>
          </a:endParaRPr>
        </a:p>
      </dgm:t>
    </dgm:pt>
    <dgm:pt modelId="{00168682-ED22-A74F-9EEC-6EBDACE83B68}" type="parTrans" cxnId="{E2CA85B0-7206-6C41-8BBA-F36AB8385AE1}">
      <dgm:prSet/>
      <dgm:spPr/>
      <dgm:t>
        <a:bodyPr/>
        <a:lstStyle/>
        <a:p>
          <a:endParaRPr lang="en-US" sz="2400">
            <a:solidFill>
              <a:schemeClr val="tx1"/>
            </a:solidFill>
          </a:endParaRPr>
        </a:p>
      </dgm:t>
    </dgm:pt>
    <dgm:pt modelId="{C9774699-2202-D24C-827A-F7857630A680}" type="sibTrans" cxnId="{E2CA85B0-7206-6C41-8BBA-F36AB8385AE1}">
      <dgm:prSet/>
      <dgm:spPr/>
      <dgm:t>
        <a:bodyPr/>
        <a:lstStyle/>
        <a:p>
          <a:endParaRPr lang="en-US" sz="2400">
            <a:solidFill>
              <a:schemeClr val="tx1"/>
            </a:solidFill>
          </a:endParaRPr>
        </a:p>
      </dgm:t>
    </dgm:pt>
    <dgm:pt modelId="{B6F04CB1-3019-A04A-83E4-2AA5110D7ECD}">
      <dgm:prSet phldrT="[Text]" custT="1"/>
      <dgm:spPr/>
      <dgm:t>
        <a:bodyPr/>
        <a:lstStyle/>
        <a:p>
          <a:r>
            <a:rPr lang="en-US" sz="2400" dirty="0">
              <a:solidFill>
                <a:schemeClr val="tx1"/>
              </a:solidFill>
            </a:rPr>
            <a:t>2000</a:t>
          </a:r>
        </a:p>
      </dgm:t>
    </dgm:pt>
    <dgm:pt modelId="{D7E7BA20-FE85-D44B-A405-EAEAC17B8996}" type="parTrans" cxnId="{80181E08-3A60-EB46-BAB7-0C15149976E1}">
      <dgm:prSet/>
      <dgm:spPr/>
      <dgm:t>
        <a:bodyPr/>
        <a:lstStyle/>
        <a:p>
          <a:endParaRPr lang="en-US" sz="2400">
            <a:solidFill>
              <a:schemeClr val="tx1"/>
            </a:solidFill>
          </a:endParaRPr>
        </a:p>
      </dgm:t>
    </dgm:pt>
    <dgm:pt modelId="{59DFA4BC-CE4B-AE4B-9A02-A9741FA3AFDE}" type="sibTrans" cxnId="{80181E08-3A60-EB46-BAB7-0C15149976E1}">
      <dgm:prSet/>
      <dgm:spPr/>
      <dgm:t>
        <a:bodyPr/>
        <a:lstStyle/>
        <a:p>
          <a:endParaRPr lang="en-US" sz="2400">
            <a:solidFill>
              <a:schemeClr val="tx1"/>
            </a:solidFill>
          </a:endParaRPr>
        </a:p>
      </dgm:t>
    </dgm:pt>
    <dgm:pt modelId="{EA2031C1-706D-2946-A85E-E9B7E03DB347}">
      <dgm:prSet phldrT="[Text]" custT="1"/>
      <dgm:spPr/>
      <dgm:t>
        <a:bodyPr/>
        <a:lstStyle/>
        <a:p>
          <a:r>
            <a:rPr lang="en-US" sz="2400" b="0" dirty="0"/>
            <a:t>Wiesner proposes quantum encoding of information.</a:t>
          </a:r>
          <a:endParaRPr lang="en-US" sz="2400" dirty="0">
            <a:solidFill>
              <a:schemeClr val="tx1"/>
            </a:solidFill>
          </a:endParaRPr>
        </a:p>
      </dgm:t>
    </dgm:pt>
    <dgm:pt modelId="{2E230370-AE62-FD4A-A8FF-A9A263AF13E9}" type="parTrans" cxnId="{CB7EE3DC-990B-6547-8537-226BD1720E34}">
      <dgm:prSet/>
      <dgm:spPr/>
      <dgm:t>
        <a:bodyPr/>
        <a:lstStyle/>
        <a:p>
          <a:endParaRPr lang="en-US" sz="2400">
            <a:solidFill>
              <a:schemeClr val="tx1"/>
            </a:solidFill>
          </a:endParaRPr>
        </a:p>
      </dgm:t>
    </dgm:pt>
    <dgm:pt modelId="{9C596BDE-658E-2A46-9E60-9FD0FAF8335F}" type="sibTrans" cxnId="{CB7EE3DC-990B-6547-8537-226BD1720E34}">
      <dgm:prSet/>
      <dgm:spPr/>
      <dgm:t>
        <a:bodyPr/>
        <a:lstStyle/>
        <a:p>
          <a:endParaRPr lang="en-US" sz="2400">
            <a:solidFill>
              <a:schemeClr val="tx1"/>
            </a:solidFill>
          </a:endParaRPr>
        </a:p>
      </dgm:t>
    </dgm:pt>
    <dgm:pt modelId="{C0A2ABE6-2B8B-8947-8F5C-2CEDF5F26127}">
      <dgm:prSet phldrT="[Text]" custT="1"/>
      <dgm:spPr/>
      <dgm:t>
        <a:bodyPr/>
        <a:lstStyle/>
        <a:p>
          <a:r>
            <a:rPr lang="en-ZA" sz="2400" b="0" dirty="0"/>
            <a:t>Quantum Key Distribution</a:t>
          </a:r>
          <a:r>
            <a:rPr lang="en-ZA" sz="2400" b="0" dirty="0">
              <a:solidFill>
                <a:schemeClr val="tx1"/>
              </a:solidFill>
            </a:rPr>
            <a:t>(QKD)</a:t>
          </a:r>
          <a:endParaRPr lang="en-US" sz="2400" dirty="0">
            <a:solidFill>
              <a:schemeClr val="tx1"/>
            </a:solidFill>
          </a:endParaRPr>
        </a:p>
      </dgm:t>
    </dgm:pt>
    <dgm:pt modelId="{C7B94F69-9F5D-A244-BBC6-3E0E6B910856}" type="parTrans" cxnId="{141368D2-7100-A84B-9BFE-9713123324FA}">
      <dgm:prSet/>
      <dgm:spPr/>
      <dgm:t>
        <a:bodyPr/>
        <a:lstStyle/>
        <a:p>
          <a:endParaRPr lang="en-US" sz="2400">
            <a:solidFill>
              <a:schemeClr val="tx1"/>
            </a:solidFill>
          </a:endParaRPr>
        </a:p>
      </dgm:t>
    </dgm:pt>
    <dgm:pt modelId="{29C1B0D0-7BC7-DE40-837B-C67F24E674C7}" type="sibTrans" cxnId="{141368D2-7100-A84B-9BFE-9713123324FA}">
      <dgm:prSet/>
      <dgm:spPr/>
      <dgm:t>
        <a:bodyPr/>
        <a:lstStyle/>
        <a:p>
          <a:endParaRPr lang="en-US" sz="2400">
            <a:solidFill>
              <a:schemeClr val="tx1"/>
            </a:solidFill>
          </a:endParaRPr>
        </a:p>
      </dgm:t>
    </dgm:pt>
    <dgm:pt modelId="{E45F4299-682E-B949-8041-934A9ED4BD6E}">
      <dgm:prSet phldrT="[Text]" custT="1"/>
      <dgm:spPr/>
      <dgm:t>
        <a:bodyPr/>
        <a:lstStyle/>
        <a:p>
          <a:r>
            <a:rPr lang="en-ZA" sz="2400" b="0" dirty="0"/>
            <a:t>Quantum Teleportation </a:t>
          </a:r>
          <a:r>
            <a:rPr lang="en-ZA" sz="2400" b="0" dirty="0">
              <a:solidFill>
                <a:schemeClr val="tx1"/>
              </a:solidFill>
            </a:rPr>
            <a:t>(QT)</a:t>
          </a:r>
          <a:endParaRPr lang="en-US" sz="2400" dirty="0">
            <a:solidFill>
              <a:schemeClr val="tx1"/>
            </a:solidFill>
          </a:endParaRPr>
        </a:p>
      </dgm:t>
    </dgm:pt>
    <dgm:pt modelId="{F2E34259-B223-1F42-A439-58A1AAFC92F1}" type="parTrans" cxnId="{DF6BB5E6-82D1-9A44-9D59-CBFC137C059E}">
      <dgm:prSet/>
      <dgm:spPr/>
      <dgm:t>
        <a:bodyPr/>
        <a:lstStyle/>
        <a:p>
          <a:endParaRPr lang="en-US" sz="2400">
            <a:solidFill>
              <a:schemeClr val="tx1"/>
            </a:solidFill>
          </a:endParaRPr>
        </a:p>
      </dgm:t>
    </dgm:pt>
    <dgm:pt modelId="{DF3D99E4-A809-C04C-9942-BCC07DA0B941}" type="sibTrans" cxnId="{DF6BB5E6-82D1-9A44-9D59-CBFC137C059E}">
      <dgm:prSet/>
      <dgm:spPr/>
      <dgm:t>
        <a:bodyPr/>
        <a:lstStyle/>
        <a:p>
          <a:endParaRPr lang="en-US" sz="2400">
            <a:solidFill>
              <a:schemeClr val="tx1"/>
            </a:solidFill>
          </a:endParaRPr>
        </a:p>
      </dgm:t>
    </dgm:pt>
    <dgm:pt modelId="{7B140215-DBF5-584C-8DDD-C7CFFACBDDB7}">
      <dgm:prSet phldrT="[Text]" custT="1"/>
      <dgm:spPr/>
      <dgm:t>
        <a:bodyPr/>
        <a:lstStyle/>
        <a:p>
          <a:r>
            <a:rPr lang="en-ZA" sz="2400" b="0" dirty="0">
              <a:solidFill>
                <a:schemeClr val="tx1"/>
              </a:solidFill>
            </a:rPr>
            <a:t>Quantum Secret Sharing (QSS)</a:t>
          </a:r>
          <a:endParaRPr lang="en-US" sz="2400" dirty="0">
            <a:solidFill>
              <a:schemeClr val="tx1"/>
            </a:solidFill>
          </a:endParaRPr>
        </a:p>
      </dgm:t>
    </dgm:pt>
    <dgm:pt modelId="{5E377BE5-A486-3749-9446-E507B93C29E7}" type="parTrans" cxnId="{5937ECCE-AA6E-7748-AE92-AC4F6FA1AEE2}">
      <dgm:prSet/>
      <dgm:spPr/>
      <dgm:t>
        <a:bodyPr/>
        <a:lstStyle/>
        <a:p>
          <a:endParaRPr lang="en-US" sz="2400">
            <a:solidFill>
              <a:schemeClr val="tx1"/>
            </a:solidFill>
          </a:endParaRPr>
        </a:p>
      </dgm:t>
    </dgm:pt>
    <dgm:pt modelId="{FBF56193-0DE4-174C-83D4-70FCFA380B4A}" type="sibTrans" cxnId="{5937ECCE-AA6E-7748-AE92-AC4F6FA1AEE2}">
      <dgm:prSet/>
      <dgm:spPr/>
      <dgm:t>
        <a:bodyPr/>
        <a:lstStyle/>
        <a:p>
          <a:endParaRPr lang="en-US" sz="2400">
            <a:solidFill>
              <a:schemeClr val="tx1"/>
            </a:solidFill>
          </a:endParaRPr>
        </a:p>
      </dgm:t>
    </dgm:pt>
    <dgm:pt modelId="{B7E19492-31A3-7D4F-80AE-7F95D263212A}">
      <dgm:prSet phldrT="[Text]" custT="1"/>
      <dgm:spPr/>
      <dgm:t>
        <a:bodyPr/>
        <a:lstStyle/>
        <a:p>
          <a:r>
            <a:rPr lang="en-ZA" sz="2400" b="0" dirty="0">
              <a:solidFill>
                <a:schemeClr val="tx1"/>
              </a:solidFill>
            </a:rPr>
            <a:t>Quantum Secure Direct Communication (QSDC)</a:t>
          </a:r>
          <a:endParaRPr lang="en-US" sz="2400" dirty="0">
            <a:solidFill>
              <a:schemeClr val="tx1"/>
            </a:solidFill>
          </a:endParaRPr>
        </a:p>
      </dgm:t>
    </dgm:pt>
    <dgm:pt modelId="{E4BB649D-BCFC-644F-8909-5C89369B3B21}" type="parTrans" cxnId="{07885EE9-4557-4B45-BE94-6B408959DCEE}">
      <dgm:prSet/>
      <dgm:spPr/>
      <dgm:t>
        <a:bodyPr/>
        <a:lstStyle/>
        <a:p>
          <a:endParaRPr lang="en-US" sz="2400">
            <a:solidFill>
              <a:schemeClr val="tx1"/>
            </a:solidFill>
          </a:endParaRPr>
        </a:p>
      </dgm:t>
    </dgm:pt>
    <dgm:pt modelId="{AAF77F28-5EAC-8C4B-B6B0-9730AC2FD356}" type="sibTrans" cxnId="{07885EE9-4557-4B45-BE94-6B408959DCEE}">
      <dgm:prSet/>
      <dgm:spPr/>
      <dgm:t>
        <a:bodyPr/>
        <a:lstStyle/>
        <a:p>
          <a:endParaRPr lang="en-US" sz="2400">
            <a:solidFill>
              <a:schemeClr val="tx1"/>
            </a:solidFill>
          </a:endParaRPr>
        </a:p>
      </dgm:t>
    </dgm:pt>
    <dgm:pt modelId="{8A6738FF-AB23-4E45-A0DE-5C039545FF5C}">
      <dgm:prSet phldrT="[Text]" custT="1"/>
      <dgm:spPr/>
      <dgm:t>
        <a:bodyPr/>
        <a:lstStyle/>
        <a:p>
          <a:r>
            <a:rPr lang="en-US" sz="2400" dirty="0">
              <a:solidFill>
                <a:schemeClr val="tx1"/>
              </a:solidFill>
            </a:rPr>
            <a:t>2000-2004</a:t>
          </a:r>
        </a:p>
      </dgm:t>
    </dgm:pt>
    <dgm:pt modelId="{353EFB4C-8B84-2145-BC4C-F910AA2B2194}" type="parTrans" cxnId="{67915723-3084-DA46-8AFA-C00318EACB46}">
      <dgm:prSet/>
      <dgm:spPr/>
      <dgm:t>
        <a:bodyPr/>
        <a:lstStyle/>
        <a:p>
          <a:endParaRPr lang="en-US" sz="2400">
            <a:solidFill>
              <a:schemeClr val="tx1"/>
            </a:solidFill>
          </a:endParaRPr>
        </a:p>
      </dgm:t>
    </dgm:pt>
    <dgm:pt modelId="{C134995C-87B8-2743-AF55-78FD8F3A6716}" type="sibTrans" cxnId="{67915723-3084-DA46-8AFA-C00318EACB46}">
      <dgm:prSet/>
      <dgm:spPr/>
      <dgm:t>
        <a:bodyPr/>
        <a:lstStyle/>
        <a:p>
          <a:endParaRPr lang="en-US" sz="2400">
            <a:solidFill>
              <a:schemeClr val="tx1"/>
            </a:solidFill>
          </a:endParaRPr>
        </a:p>
      </dgm:t>
    </dgm:pt>
    <dgm:pt modelId="{0D2BFF3F-7609-0A4A-A978-4808233742C0}">
      <dgm:prSet custT="1"/>
      <dgm:spPr/>
      <dgm:t>
        <a:bodyPr/>
        <a:lstStyle/>
        <a:p>
          <a:r>
            <a:rPr lang="en-US" sz="2400" dirty="0">
              <a:solidFill>
                <a:schemeClr val="tx1"/>
              </a:solidFill>
            </a:rPr>
            <a:t>Quantum Repeaters</a:t>
          </a:r>
        </a:p>
      </dgm:t>
    </dgm:pt>
    <dgm:pt modelId="{A6690839-C229-CD40-8A7F-86C36DAC1BB3}" type="parTrans" cxnId="{1FA5D03C-E4B0-F24E-AE86-CC6BD68B184D}">
      <dgm:prSet/>
      <dgm:spPr/>
      <dgm:t>
        <a:bodyPr/>
        <a:lstStyle/>
        <a:p>
          <a:endParaRPr lang="en-US" sz="2400">
            <a:solidFill>
              <a:schemeClr val="tx1"/>
            </a:solidFill>
          </a:endParaRPr>
        </a:p>
      </dgm:t>
    </dgm:pt>
    <dgm:pt modelId="{7DEAAE35-1731-BE4E-9A75-381751A4A1F9}" type="sibTrans" cxnId="{1FA5D03C-E4B0-F24E-AE86-CC6BD68B184D}">
      <dgm:prSet/>
      <dgm:spPr/>
      <dgm:t>
        <a:bodyPr/>
        <a:lstStyle/>
        <a:p>
          <a:endParaRPr lang="en-US" sz="2400">
            <a:solidFill>
              <a:schemeClr val="tx1"/>
            </a:solidFill>
          </a:endParaRPr>
        </a:p>
      </dgm:t>
    </dgm:pt>
    <dgm:pt modelId="{D8C4E349-6858-7A4E-921E-4AE0A3F6AC74}">
      <dgm:prSet custT="1"/>
      <dgm:spPr/>
      <dgm:t>
        <a:bodyPr/>
        <a:lstStyle/>
        <a:p>
          <a:r>
            <a:rPr lang="en-US" sz="2400" dirty="0">
              <a:solidFill>
                <a:schemeClr val="tx1"/>
              </a:solidFill>
            </a:rPr>
            <a:t>2010–2017</a:t>
          </a:r>
        </a:p>
      </dgm:t>
    </dgm:pt>
    <dgm:pt modelId="{835DBDCD-E5FD-7A4E-AF8A-5B91BE805AE5}" type="parTrans" cxnId="{B16F84CC-5062-DB44-9B9E-00E49345FDBF}">
      <dgm:prSet/>
      <dgm:spPr/>
      <dgm:t>
        <a:bodyPr/>
        <a:lstStyle/>
        <a:p>
          <a:endParaRPr lang="en-US" sz="2400">
            <a:solidFill>
              <a:schemeClr val="tx1"/>
            </a:solidFill>
          </a:endParaRPr>
        </a:p>
      </dgm:t>
    </dgm:pt>
    <dgm:pt modelId="{8F1EAA03-6FD0-0F46-B79B-83E0F2BDBDCF}" type="sibTrans" cxnId="{B16F84CC-5062-DB44-9B9E-00E49345FDBF}">
      <dgm:prSet/>
      <dgm:spPr/>
      <dgm:t>
        <a:bodyPr/>
        <a:lstStyle/>
        <a:p>
          <a:endParaRPr lang="en-US" sz="2400">
            <a:solidFill>
              <a:schemeClr val="tx1"/>
            </a:solidFill>
          </a:endParaRPr>
        </a:p>
      </dgm:t>
    </dgm:pt>
    <dgm:pt modelId="{4258CA94-0709-8A40-B27C-D4AF5F9EB44E}">
      <dgm:prSet custT="1"/>
      <dgm:spPr/>
      <dgm:t>
        <a:bodyPr/>
        <a:lstStyle/>
        <a:p>
          <a:r>
            <a:rPr lang="en-US" sz="2400" dirty="0">
              <a:solidFill>
                <a:schemeClr val="tx1"/>
              </a:solidFill>
            </a:rPr>
            <a:t>Quantum Networks and Satellites</a:t>
          </a:r>
        </a:p>
      </dgm:t>
    </dgm:pt>
    <dgm:pt modelId="{64AEEB85-AD6C-5040-8EB2-11AFC93C1B7B}" type="parTrans" cxnId="{D0995AA0-3A84-1F40-9CF3-9A51BEF0A971}">
      <dgm:prSet/>
      <dgm:spPr/>
      <dgm:t>
        <a:bodyPr/>
        <a:lstStyle/>
        <a:p>
          <a:endParaRPr lang="en-US" sz="2400">
            <a:solidFill>
              <a:schemeClr val="tx1"/>
            </a:solidFill>
          </a:endParaRPr>
        </a:p>
      </dgm:t>
    </dgm:pt>
    <dgm:pt modelId="{F3902D52-9F3C-CC48-ACBF-56342EAF85CF}" type="sibTrans" cxnId="{D0995AA0-3A84-1F40-9CF3-9A51BEF0A971}">
      <dgm:prSet/>
      <dgm:spPr/>
      <dgm:t>
        <a:bodyPr/>
        <a:lstStyle/>
        <a:p>
          <a:endParaRPr lang="en-US" sz="2400">
            <a:solidFill>
              <a:schemeClr val="tx1"/>
            </a:solidFill>
          </a:endParaRPr>
        </a:p>
      </dgm:t>
    </dgm:pt>
    <dgm:pt modelId="{8AF24775-15EB-B243-ABD5-0C6F2F3023CA}">
      <dgm:prSet custT="1"/>
      <dgm:spPr/>
      <dgm:t>
        <a:bodyPr/>
        <a:lstStyle/>
        <a:p>
          <a:r>
            <a:rPr lang="en-US" sz="2400" dirty="0">
              <a:solidFill>
                <a:schemeClr val="tx1"/>
              </a:solidFill>
            </a:rPr>
            <a:t>2020 -</a:t>
          </a:r>
        </a:p>
      </dgm:t>
    </dgm:pt>
    <dgm:pt modelId="{CC2D4027-20F4-8E47-8024-CAACB24AF873}" type="parTrans" cxnId="{8A5A6F6F-5A6A-3945-B677-A73F66E80BAD}">
      <dgm:prSet/>
      <dgm:spPr/>
      <dgm:t>
        <a:bodyPr/>
        <a:lstStyle/>
        <a:p>
          <a:endParaRPr lang="en-US" sz="2400">
            <a:solidFill>
              <a:schemeClr val="tx1"/>
            </a:solidFill>
          </a:endParaRPr>
        </a:p>
      </dgm:t>
    </dgm:pt>
    <dgm:pt modelId="{B7EF3768-284C-2941-B590-B086CAE69323}" type="sibTrans" cxnId="{8A5A6F6F-5A6A-3945-B677-A73F66E80BAD}">
      <dgm:prSet/>
      <dgm:spPr/>
      <dgm:t>
        <a:bodyPr/>
        <a:lstStyle/>
        <a:p>
          <a:endParaRPr lang="en-US" sz="2400">
            <a:solidFill>
              <a:schemeClr val="tx1"/>
            </a:solidFill>
          </a:endParaRPr>
        </a:p>
      </dgm:t>
    </dgm:pt>
    <dgm:pt modelId="{94B75D01-D90B-4947-90C9-CB0B17B6E5F8}">
      <dgm:prSet custT="1"/>
      <dgm:spPr/>
      <dgm:t>
        <a:bodyPr/>
        <a:lstStyle/>
        <a:p>
          <a:r>
            <a:rPr lang="en-US" sz="2400" dirty="0">
              <a:solidFill>
                <a:schemeClr val="tx1"/>
              </a:solidFill>
            </a:rPr>
            <a:t>Towards the Quantum Internet</a:t>
          </a:r>
        </a:p>
      </dgm:t>
    </dgm:pt>
    <dgm:pt modelId="{66AEC6B3-10E4-5845-849D-F79B1C8F13BA}" type="parTrans" cxnId="{04B6DAB6-A4A8-6141-B25C-4887C4737193}">
      <dgm:prSet/>
      <dgm:spPr/>
      <dgm:t>
        <a:bodyPr/>
        <a:lstStyle/>
        <a:p>
          <a:endParaRPr lang="en-US" sz="2400">
            <a:solidFill>
              <a:schemeClr val="tx1"/>
            </a:solidFill>
          </a:endParaRPr>
        </a:p>
      </dgm:t>
    </dgm:pt>
    <dgm:pt modelId="{052A4DE1-9A6A-0644-B393-D463BAB6F1C6}" type="sibTrans" cxnId="{04B6DAB6-A4A8-6141-B25C-4887C4737193}">
      <dgm:prSet/>
      <dgm:spPr/>
      <dgm:t>
        <a:bodyPr/>
        <a:lstStyle/>
        <a:p>
          <a:endParaRPr lang="en-US" sz="2400">
            <a:solidFill>
              <a:schemeClr val="tx1"/>
            </a:solidFill>
          </a:endParaRPr>
        </a:p>
      </dgm:t>
    </dgm:pt>
    <dgm:pt modelId="{1EE32CD1-D6A7-3141-9CFE-F38B2E27BEBB}" type="pres">
      <dgm:prSet presAssocID="{5C040A46-621F-8A4B-84BC-DDE2383CDE36}" presName="Name0" presStyleCnt="0">
        <dgm:presLayoutVars>
          <dgm:chPref val="3"/>
          <dgm:dir/>
          <dgm:animLvl val="lvl"/>
          <dgm:resizeHandles/>
        </dgm:presLayoutVars>
      </dgm:prSet>
      <dgm:spPr/>
    </dgm:pt>
    <dgm:pt modelId="{0BCE4433-2753-6743-81C4-471921A4A815}" type="pres">
      <dgm:prSet presAssocID="{537F9B97-4CE6-9B4E-86A7-22EAEDB638C1}" presName="horFlow" presStyleCnt="0"/>
      <dgm:spPr/>
    </dgm:pt>
    <dgm:pt modelId="{B8BD2E83-B86A-4A4B-A77F-FB540A293135}" type="pres">
      <dgm:prSet presAssocID="{537F9B97-4CE6-9B4E-86A7-22EAEDB638C1}" presName="bigChev" presStyleLbl="node1" presStyleIdx="0" presStyleCnt="8" custScaleX="183266"/>
      <dgm:spPr/>
    </dgm:pt>
    <dgm:pt modelId="{C6B8813A-B880-6444-9B9B-F72A45FBBC18}" type="pres">
      <dgm:prSet presAssocID="{2E230370-AE62-FD4A-A8FF-A9A263AF13E9}" presName="parTrans" presStyleCnt="0"/>
      <dgm:spPr/>
    </dgm:pt>
    <dgm:pt modelId="{D00D51EA-361D-C146-AE09-A3BF53879813}" type="pres">
      <dgm:prSet presAssocID="{EA2031C1-706D-2946-A85E-E9B7E03DB347}" presName="node" presStyleLbl="alignAccFollowNode1" presStyleIdx="0" presStyleCnt="8" custScaleX="644363" custScaleY="107746">
        <dgm:presLayoutVars>
          <dgm:bulletEnabled val="1"/>
        </dgm:presLayoutVars>
      </dgm:prSet>
      <dgm:spPr/>
    </dgm:pt>
    <dgm:pt modelId="{1BB2D297-39B4-2349-A464-4C21E97AFF28}" type="pres">
      <dgm:prSet presAssocID="{537F9B97-4CE6-9B4E-86A7-22EAEDB638C1}" presName="vSp" presStyleCnt="0"/>
      <dgm:spPr/>
    </dgm:pt>
    <dgm:pt modelId="{5AE49EEB-2B75-A24F-981F-793234F9B3AB}" type="pres">
      <dgm:prSet presAssocID="{CEA9C416-0103-C149-A0AF-577A5A432955}" presName="horFlow" presStyleCnt="0"/>
      <dgm:spPr/>
    </dgm:pt>
    <dgm:pt modelId="{EE8CB7C1-B22D-EA4C-AC76-5514BD53282C}" type="pres">
      <dgm:prSet presAssocID="{CEA9C416-0103-C149-A0AF-577A5A432955}" presName="bigChev" presStyleLbl="node1" presStyleIdx="1" presStyleCnt="8" custScaleX="183266"/>
      <dgm:spPr/>
    </dgm:pt>
    <dgm:pt modelId="{7040CADF-33DF-4542-921A-0B15396A2FC3}" type="pres">
      <dgm:prSet presAssocID="{C7B94F69-9F5D-A244-BBC6-3E0E6B910856}" presName="parTrans" presStyleCnt="0"/>
      <dgm:spPr/>
    </dgm:pt>
    <dgm:pt modelId="{42D9C8A0-4135-C944-B023-F8539C8D6E7A}" type="pres">
      <dgm:prSet presAssocID="{C0A2ABE6-2B8B-8947-8F5C-2CEDF5F26127}" presName="node" presStyleLbl="alignAccFollowNode1" presStyleIdx="1" presStyleCnt="8" custScaleX="644363" custScaleY="107746">
        <dgm:presLayoutVars>
          <dgm:bulletEnabled val="1"/>
        </dgm:presLayoutVars>
      </dgm:prSet>
      <dgm:spPr/>
    </dgm:pt>
    <dgm:pt modelId="{FCA99A36-C888-CB42-BEB6-384159E8688B}" type="pres">
      <dgm:prSet presAssocID="{CEA9C416-0103-C149-A0AF-577A5A432955}" presName="vSp" presStyleCnt="0"/>
      <dgm:spPr/>
    </dgm:pt>
    <dgm:pt modelId="{70676E72-F4E5-744A-B381-590341070E27}" type="pres">
      <dgm:prSet presAssocID="{DAFCD7CC-2163-F14A-9DFB-481DAC800C77}" presName="horFlow" presStyleCnt="0"/>
      <dgm:spPr/>
    </dgm:pt>
    <dgm:pt modelId="{48A6AFDD-487F-9B42-9CBF-441679B5FA69}" type="pres">
      <dgm:prSet presAssocID="{DAFCD7CC-2163-F14A-9DFB-481DAC800C77}" presName="bigChev" presStyleLbl="node1" presStyleIdx="2" presStyleCnt="8" custScaleX="183266"/>
      <dgm:spPr/>
    </dgm:pt>
    <dgm:pt modelId="{04017C44-8DBD-BC43-966D-2851A0D7848B}" type="pres">
      <dgm:prSet presAssocID="{F2E34259-B223-1F42-A439-58A1AAFC92F1}" presName="parTrans" presStyleCnt="0"/>
      <dgm:spPr/>
    </dgm:pt>
    <dgm:pt modelId="{F4D8776F-913E-1141-A230-6C36C227E0FF}" type="pres">
      <dgm:prSet presAssocID="{E45F4299-682E-B949-8041-934A9ED4BD6E}" presName="node" presStyleLbl="alignAccFollowNode1" presStyleIdx="2" presStyleCnt="8" custScaleX="585785" custScaleY="107746">
        <dgm:presLayoutVars>
          <dgm:bulletEnabled val="1"/>
        </dgm:presLayoutVars>
      </dgm:prSet>
      <dgm:spPr/>
    </dgm:pt>
    <dgm:pt modelId="{723CA6E3-AB86-1343-8265-CF9B4FC8009F}" type="pres">
      <dgm:prSet presAssocID="{DAFCD7CC-2163-F14A-9DFB-481DAC800C77}" presName="vSp" presStyleCnt="0"/>
      <dgm:spPr/>
    </dgm:pt>
    <dgm:pt modelId="{4A83A619-A2D8-9444-9FA1-7BE1A92DCCB3}" type="pres">
      <dgm:prSet presAssocID="{5799F9A2-69D8-DA4D-B884-C4E6004F33F6}" presName="horFlow" presStyleCnt="0"/>
      <dgm:spPr/>
    </dgm:pt>
    <dgm:pt modelId="{373C8D4C-074A-5E4F-9270-42BAAE93ABD8}" type="pres">
      <dgm:prSet presAssocID="{5799F9A2-69D8-DA4D-B884-C4E6004F33F6}" presName="bigChev" presStyleLbl="node1" presStyleIdx="3" presStyleCnt="8" custScaleX="183266"/>
      <dgm:spPr/>
    </dgm:pt>
    <dgm:pt modelId="{C11AAD43-CA73-F743-B7EE-425C337C892C}" type="pres">
      <dgm:prSet presAssocID="{5E377BE5-A486-3749-9446-E507B93C29E7}" presName="parTrans" presStyleCnt="0"/>
      <dgm:spPr/>
    </dgm:pt>
    <dgm:pt modelId="{8D62643A-7617-7640-97CB-315A65F1D23F}" type="pres">
      <dgm:prSet presAssocID="{7B140215-DBF5-584C-8DDD-C7CFFACBDDB7}" presName="node" presStyleLbl="alignAccFollowNode1" presStyleIdx="3" presStyleCnt="8" custScaleX="644363" custScaleY="107746">
        <dgm:presLayoutVars>
          <dgm:bulletEnabled val="1"/>
        </dgm:presLayoutVars>
      </dgm:prSet>
      <dgm:spPr/>
    </dgm:pt>
    <dgm:pt modelId="{DE4AC0C2-E4AD-7941-9339-7086F19B3847}" type="pres">
      <dgm:prSet presAssocID="{5799F9A2-69D8-DA4D-B884-C4E6004F33F6}" presName="vSp" presStyleCnt="0"/>
      <dgm:spPr/>
    </dgm:pt>
    <dgm:pt modelId="{70164533-3FE4-6444-8734-483DD2F2F082}" type="pres">
      <dgm:prSet presAssocID="{B6F04CB1-3019-A04A-83E4-2AA5110D7ECD}" presName="horFlow" presStyleCnt="0"/>
      <dgm:spPr/>
    </dgm:pt>
    <dgm:pt modelId="{B9C63000-41FE-7747-88FA-5408D3B5ED33}" type="pres">
      <dgm:prSet presAssocID="{B6F04CB1-3019-A04A-83E4-2AA5110D7ECD}" presName="bigChev" presStyleLbl="node1" presStyleIdx="4" presStyleCnt="8" custScaleX="183266"/>
      <dgm:spPr/>
    </dgm:pt>
    <dgm:pt modelId="{989F3CDA-9622-BF4D-BBE8-ACC61CD5BD24}" type="pres">
      <dgm:prSet presAssocID="{E4BB649D-BCFC-644F-8909-5C89369B3B21}" presName="parTrans" presStyleCnt="0"/>
      <dgm:spPr/>
    </dgm:pt>
    <dgm:pt modelId="{B1BF0474-E89E-A247-AF49-0ECD174E5624}" type="pres">
      <dgm:prSet presAssocID="{B7E19492-31A3-7D4F-80AE-7F95D263212A}" presName="node" presStyleLbl="alignAccFollowNode1" presStyleIdx="4" presStyleCnt="8" custScaleX="644363" custScaleY="107746">
        <dgm:presLayoutVars>
          <dgm:bulletEnabled val="1"/>
        </dgm:presLayoutVars>
      </dgm:prSet>
      <dgm:spPr/>
    </dgm:pt>
    <dgm:pt modelId="{6181CDA0-EC01-5843-BFAE-CD4BF32D3EFA}" type="pres">
      <dgm:prSet presAssocID="{B6F04CB1-3019-A04A-83E4-2AA5110D7ECD}" presName="vSp" presStyleCnt="0"/>
      <dgm:spPr/>
    </dgm:pt>
    <dgm:pt modelId="{A4033B30-F0AA-0646-A161-40998B8227D7}" type="pres">
      <dgm:prSet presAssocID="{8A6738FF-AB23-4E45-A0DE-5C039545FF5C}" presName="horFlow" presStyleCnt="0"/>
      <dgm:spPr/>
    </dgm:pt>
    <dgm:pt modelId="{5ADD8FB3-1902-CF4C-8CDF-60DD6614C99C}" type="pres">
      <dgm:prSet presAssocID="{8A6738FF-AB23-4E45-A0DE-5C039545FF5C}" presName="bigChev" presStyleLbl="node1" presStyleIdx="5" presStyleCnt="8" custScaleX="183266"/>
      <dgm:spPr/>
    </dgm:pt>
    <dgm:pt modelId="{D8C14136-4D76-0349-992D-42239B761607}" type="pres">
      <dgm:prSet presAssocID="{A6690839-C229-CD40-8A7F-86C36DAC1BB3}" presName="parTrans" presStyleCnt="0"/>
      <dgm:spPr/>
    </dgm:pt>
    <dgm:pt modelId="{107B8631-2151-624E-986A-EB66C09F3B49}" type="pres">
      <dgm:prSet presAssocID="{0D2BFF3F-7609-0A4A-A978-4808233742C0}" presName="node" presStyleLbl="alignAccFollowNode1" presStyleIdx="5" presStyleCnt="8" custScaleX="644363" custScaleY="107746">
        <dgm:presLayoutVars>
          <dgm:bulletEnabled val="1"/>
        </dgm:presLayoutVars>
      </dgm:prSet>
      <dgm:spPr/>
    </dgm:pt>
    <dgm:pt modelId="{A3EF7B73-8427-514A-B4EB-7D2EF6B0FF7D}" type="pres">
      <dgm:prSet presAssocID="{8A6738FF-AB23-4E45-A0DE-5C039545FF5C}" presName="vSp" presStyleCnt="0"/>
      <dgm:spPr/>
    </dgm:pt>
    <dgm:pt modelId="{9403CF79-3192-5742-BEF6-F3EA624B94BA}" type="pres">
      <dgm:prSet presAssocID="{D8C4E349-6858-7A4E-921E-4AE0A3F6AC74}" presName="horFlow" presStyleCnt="0"/>
      <dgm:spPr/>
    </dgm:pt>
    <dgm:pt modelId="{F760BBEA-2F00-8043-A268-63575A1F8008}" type="pres">
      <dgm:prSet presAssocID="{D8C4E349-6858-7A4E-921E-4AE0A3F6AC74}" presName="bigChev" presStyleLbl="node1" presStyleIdx="6" presStyleCnt="8" custScaleX="183266"/>
      <dgm:spPr/>
    </dgm:pt>
    <dgm:pt modelId="{24A778DC-7BCB-6746-AC30-E2A016F87D95}" type="pres">
      <dgm:prSet presAssocID="{64AEEB85-AD6C-5040-8EB2-11AFC93C1B7B}" presName="parTrans" presStyleCnt="0"/>
      <dgm:spPr/>
    </dgm:pt>
    <dgm:pt modelId="{84A4067E-24A6-9F42-BB31-3AA3D47AC17F}" type="pres">
      <dgm:prSet presAssocID="{4258CA94-0709-8A40-B27C-D4AF5F9EB44E}" presName="node" presStyleLbl="alignAccFollowNode1" presStyleIdx="6" presStyleCnt="8" custScaleX="644363" custScaleY="107746">
        <dgm:presLayoutVars>
          <dgm:bulletEnabled val="1"/>
        </dgm:presLayoutVars>
      </dgm:prSet>
      <dgm:spPr/>
    </dgm:pt>
    <dgm:pt modelId="{327DD999-F49E-AE4E-895F-B4CDB2118981}" type="pres">
      <dgm:prSet presAssocID="{D8C4E349-6858-7A4E-921E-4AE0A3F6AC74}" presName="vSp" presStyleCnt="0"/>
      <dgm:spPr/>
    </dgm:pt>
    <dgm:pt modelId="{E32C463B-F38A-4744-AE0B-3A2A4B8732B7}" type="pres">
      <dgm:prSet presAssocID="{8AF24775-15EB-B243-ABD5-0C6F2F3023CA}" presName="horFlow" presStyleCnt="0"/>
      <dgm:spPr/>
    </dgm:pt>
    <dgm:pt modelId="{7B303CD2-3C6C-9940-95FA-F846E2427766}" type="pres">
      <dgm:prSet presAssocID="{8AF24775-15EB-B243-ABD5-0C6F2F3023CA}" presName="bigChev" presStyleLbl="node1" presStyleIdx="7" presStyleCnt="8" custScaleX="183266"/>
      <dgm:spPr/>
    </dgm:pt>
    <dgm:pt modelId="{B37D8BFF-CFD2-224F-9B29-42F13CD9B99F}" type="pres">
      <dgm:prSet presAssocID="{66AEC6B3-10E4-5845-849D-F79B1C8F13BA}" presName="parTrans" presStyleCnt="0"/>
      <dgm:spPr/>
    </dgm:pt>
    <dgm:pt modelId="{00307230-43F6-9340-A7E6-7F530AD2D126}" type="pres">
      <dgm:prSet presAssocID="{94B75D01-D90B-4947-90C9-CB0B17B6E5F8}" presName="node" presStyleLbl="alignAccFollowNode1" presStyleIdx="7" presStyleCnt="8" custScaleX="644363" custScaleY="107746">
        <dgm:presLayoutVars>
          <dgm:bulletEnabled val="1"/>
        </dgm:presLayoutVars>
      </dgm:prSet>
      <dgm:spPr/>
    </dgm:pt>
  </dgm:ptLst>
  <dgm:cxnLst>
    <dgm:cxn modelId="{80460905-DEDD-B440-AEA8-849D242BC380}" srcId="{5C040A46-621F-8A4B-84BC-DDE2383CDE36}" destId="{537F9B97-4CE6-9B4E-86A7-22EAEDB638C1}" srcOrd="0" destOrd="0" parTransId="{9135E362-7CBE-784D-ABD2-29CEEC4026FE}" sibTransId="{28139769-59E1-D849-A441-836F8C92FD66}"/>
    <dgm:cxn modelId="{D5E56407-49F8-D94E-8CA2-12817758C751}" type="presOf" srcId="{7B140215-DBF5-584C-8DDD-C7CFFACBDDB7}" destId="{8D62643A-7617-7640-97CB-315A65F1D23F}" srcOrd="0" destOrd="0" presId="urn:microsoft.com/office/officeart/2005/8/layout/lProcess3"/>
    <dgm:cxn modelId="{80181E08-3A60-EB46-BAB7-0C15149976E1}" srcId="{5C040A46-621F-8A4B-84BC-DDE2383CDE36}" destId="{B6F04CB1-3019-A04A-83E4-2AA5110D7ECD}" srcOrd="4" destOrd="0" parTransId="{D7E7BA20-FE85-D44B-A405-EAEAC17B8996}" sibTransId="{59DFA4BC-CE4B-AE4B-9A02-A9741FA3AFDE}"/>
    <dgm:cxn modelId="{2EDD350B-B195-B34C-96A1-165A5AF6F6A2}" type="presOf" srcId="{537F9B97-4CE6-9B4E-86A7-22EAEDB638C1}" destId="{B8BD2E83-B86A-4A4B-A77F-FB540A293135}" srcOrd="0" destOrd="0" presId="urn:microsoft.com/office/officeart/2005/8/layout/lProcess3"/>
    <dgm:cxn modelId="{983AFD0B-E0E9-A74E-A426-2F20492D6816}" type="presOf" srcId="{CEA9C416-0103-C149-A0AF-577A5A432955}" destId="{EE8CB7C1-B22D-EA4C-AC76-5514BD53282C}" srcOrd="0" destOrd="0" presId="urn:microsoft.com/office/officeart/2005/8/layout/lProcess3"/>
    <dgm:cxn modelId="{67915723-3084-DA46-8AFA-C00318EACB46}" srcId="{5C040A46-621F-8A4B-84BC-DDE2383CDE36}" destId="{8A6738FF-AB23-4E45-A0DE-5C039545FF5C}" srcOrd="5" destOrd="0" parTransId="{353EFB4C-8B84-2145-BC4C-F910AA2B2194}" sibTransId="{C134995C-87B8-2743-AF55-78FD8F3A6716}"/>
    <dgm:cxn modelId="{ADAE5127-7349-684B-BE28-44ECA387D495}" type="presOf" srcId="{5799F9A2-69D8-DA4D-B884-C4E6004F33F6}" destId="{373C8D4C-074A-5E4F-9270-42BAAE93ABD8}" srcOrd="0" destOrd="0" presId="urn:microsoft.com/office/officeart/2005/8/layout/lProcess3"/>
    <dgm:cxn modelId="{68FB2F2D-3F3D-614B-AD47-43E608055172}" type="presOf" srcId="{94B75D01-D90B-4947-90C9-CB0B17B6E5F8}" destId="{00307230-43F6-9340-A7E6-7F530AD2D126}" srcOrd="0" destOrd="0" presId="urn:microsoft.com/office/officeart/2005/8/layout/lProcess3"/>
    <dgm:cxn modelId="{A2BD4E35-6231-E74D-8521-93A162A0AAB8}" type="presOf" srcId="{B7E19492-31A3-7D4F-80AE-7F95D263212A}" destId="{B1BF0474-E89E-A247-AF49-0ECD174E5624}" srcOrd="0" destOrd="0" presId="urn:microsoft.com/office/officeart/2005/8/layout/lProcess3"/>
    <dgm:cxn modelId="{F3AF9937-E0A6-3B46-A4FB-E1BC7C270B37}" type="presOf" srcId="{DAFCD7CC-2163-F14A-9DFB-481DAC800C77}" destId="{48A6AFDD-487F-9B42-9CBF-441679B5FA69}" srcOrd="0" destOrd="0" presId="urn:microsoft.com/office/officeart/2005/8/layout/lProcess3"/>
    <dgm:cxn modelId="{1FA5D03C-E4B0-F24E-AE86-CC6BD68B184D}" srcId="{8A6738FF-AB23-4E45-A0DE-5C039545FF5C}" destId="{0D2BFF3F-7609-0A4A-A978-4808233742C0}" srcOrd="0" destOrd="0" parTransId="{A6690839-C229-CD40-8A7F-86C36DAC1BB3}" sibTransId="{7DEAAE35-1731-BE4E-9A75-381751A4A1F9}"/>
    <dgm:cxn modelId="{AD24B468-54E6-C54E-AA44-D573F96FCBCB}" srcId="{5C040A46-621F-8A4B-84BC-DDE2383CDE36}" destId="{DAFCD7CC-2163-F14A-9DFB-481DAC800C77}" srcOrd="2" destOrd="0" parTransId="{E9442FB3-CAB5-074B-A19A-10BC7D6FD84A}" sibTransId="{F17B856F-C352-5B45-93AE-4B0E24A45951}"/>
    <dgm:cxn modelId="{8A5A6F6F-5A6A-3945-B677-A73F66E80BAD}" srcId="{5C040A46-621F-8A4B-84BC-DDE2383CDE36}" destId="{8AF24775-15EB-B243-ABD5-0C6F2F3023CA}" srcOrd="7" destOrd="0" parTransId="{CC2D4027-20F4-8E47-8024-CAACB24AF873}" sibTransId="{B7EF3768-284C-2941-B590-B086CAE69323}"/>
    <dgm:cxn modelId="{C95C0C72-802E-314E-8732-8049A11F2373}" type="presOf" srcId="{E45F4299-682E-B949-8041-934A9ED4BD6E}" destId="{F4D8776F-913E-1141-A230-6C36C227E0FF}" srcOrd="0" destOrd="0" presId="urn:microsoft.com/office/officeart/2005/8/layout/lProcess3"/>
    <dgm:cxn modelId="{04FD0375-14FE-7740-8AAB-B028D39B325B}" type="presOf" srcId="{8A6738FF-AB23-4E45-A0DE-5C039545FF5C}" destId="{5ADD8FB3-1902-CF4C-8CDF-60DD6614C99C}" srcOrd="0" destOrd="0" presId="urn:microsoft.com/office/officeart/2005/8/layout/lProcess3"/>
    <dgm:cxn modelId="{D8591684-666C-F94D-9611-9E00E2A81001}" type="presOf" srcId="{5C040A46-621F-8A4B-84BC-DDE2383CDE36}" destId="{1EE32CD1-D6A7-3141-9CFE-F38B2E27BEBB}" srcOrd="0" destOrd="0" presId="urn:microsoft.com/office/officeart/2005/8/layout/lProcess3"/>
    <dgm:cxn modelId="{CFBAC89E-1FA2-7A48-8FB0-0F703AB56A35}" type="presOf" srcId="{C0A2ABE6-2B8B-8947-8F5C-2CEDF5F26127}" destId="{42D9C8A0-4135-C944-B023-F8539C8D6E7A}" srcOrd="0" destOrd="0" presId="urn:microsoft.com/office/officeart/2005/8/layout/lProcess3"/>
    <dgm:cxn modelId="{D0995AA0-3A84-1F40-9CF3-9A51BEF0A971}" srcId="{D8C4E349-6858-7A4E-921E-4AE0A3F6AC74}" destId="{4258CA94-0709-8A40-B27C-D4AF5F9EB44E}" srcOrd="0" destOrd="0" parTransId="{64AEEB85-AD6C-5040-8EB2-11AFC93C1B7B}" sibTransId="{F3902D52-9F3C-CC48-ACBF-56342EAF85CF}"/>
    <dgm:cxn modelId="{9772CCA0-4119-6247-AD93-66A95496FB56}" type="presOf" srcId="{D8C4E349-6858-7A4E-921E-4AE0A3F6AC74}" destId="{F760BBEA-2F00-8043-A268-63575A1F8008}" srcOrd="0" destOrd="0" presId="urn:microsoft.com/office/officeart/2005/8/layout/lProcess3"/>
    <dgm:cxn modelId="{135EC4A9-6EB4-B241-85FB-D1A284AA1483}" srcId="{5C040A46-621F-8A4B-84BC-DDE2383CDE36}" destId="{CEA9C416-0103-C149-A0AF-577A5A432955}" srcOrd="1" destOrd="0" parTransId="{A3B84EC9-372C-F94D-B1C3-63E03682B315}" sibTransId="{CBCC6F2F-7E60-EE47-9570-14D003427848}"/>
    <dgm:cxn modelId="{C2CA0DAA-8D66-5E4D-9AEA-9E3F9E555C70}" type="presOf" srcId="{8AF24775-15EB-B243-ABD5-0C6F2F3023CA}" destId="{7B303CD2-3C6C-9940-95FA-F846E2427766}" srcOrd="0" destOrd="0" presId="urn:microsoft.com/office/officeart/2005/8/layout/lProcess3"/>
    <dgm:cxn modelId="{E2CA85B0-7206-6C41-8BBA-F36AB8385AE1}" srcId="{5C040A46-621F-8A4B-84BC-DDE2383CDE36}" destId="{5799F9A2-69D8-DA4D-B884-C4E6004F33F6}" srcOrd="3" destOrd="0" parTransId="{00168682-ED22-A74F-9EEC-6EBDACE83B68}" sibTransId="{C9774699-2202-D24C-827A-F7857630A680}"/>
    <dgm:cxn modelId="{04B6DAB6-A4A8-6141-B25C-4887C4737193}" srcId="{8AF24775-15EB-B243-ABD5-0C6F2F3023CA}" destId="{94B75D01-D90B-4947-90C9-CB0B17B6E5F8}" srcOrd="0" destOrd="0" parTransId="{66AEC6B3-10E4-5845-849D-F79B1C8F13BA}" sibTransId="{052A4DE1-9A6A-0644-B393-D463BAB6F1C6}"/>
    <dgm:cxn modelId="{B16F84CC-5062-DB44-9B9E-00E49345FDBF}" srcId="{5C040A46-621F-8A4B-84BC-DDE2383CDE36}" destId="{D8C4E349-6858-7A4E-921E-4AE0A3F6AC74}" srcOrd="6" destOrd="0" parTransId="{835DBDCD-E5FD-7A4E-AF8A-5B91BE805AE5}" sibTransId="{8F1EAA03-6FD0-0F46-B79B-83E0F2BDBDCF}"/>
    <dgm:cxn modelId="{5937ECCE-AA6E-7748-AE92-AC4F6FA1AEE2}" srcId="{5799F9A2-69D8-DA4D-B884-C4E6004F33F6}" destId="{7B140215-DBF5-584C-8DDD-C7CFFACBDDB7}" srcOrd="0" destOrd="0" parTransId="{5E377BE5-A486-3749-9446-E507B93C29E7}" sibTransId="{FBF56193-0DE4-174C-83D4-70FCFA380B4A}"/>
    <dgm:cxn modelId="{141368D2-7100-A84B-9BFE-9713123324FA}" srcId="{CEA9C416-0103-C149-A0AF-577A5A432955}" destId="{C0A2ABE6-2B8B-8947-8F5C-2CEDF5F26127}" srcOrd="0" destOrd="0" parTransId="{C7B94F69-9F5D-A244-BBC6-3E0E6B910856}" sibTransId="{29C1B0D0-7BC7-DE40-837B-C67F24E674C7}"/>
    <dgm:cxn modelId="{DAECE2DC-AC2D-9A40-AD16-22C74D4D3BE9}" type="presOf" srcId="{B6F04CB1-3019-A04A-83E4-2AA5110D7ECD}" destId="{B9C63000-41FE-7747-88FA-5408D3B5ED33}" srcOrd="0" destOrd="0" presId="urn:microsoft.com/office/officeart/2005/8/layout/lProcess3"/>
    <dgm:cxn modelId="{CB7EE3DC-990B-6547-8537-226BD1720E34}" srcId="{537F9B97-4CE6-9B4E-86A7-22EAEDB638C1}" destId="{EA2031C1-706D-2946-A85E-E9B7E03DB347}" srcOrd="0" destOrd="0" parTransId="{2E230370-AE62-FD4A-A8FF-A9A263AF13E9}" sibTransId="{9C596BDE-658E-2A46-9E60-9FD0FAF8335F}"/>
    <dgm:cxn modelId="{9A2D3CDD-E88D-034C-B23B-8593AB69F8C8}" type="presOf" srcId="{0D2BFF3F-7609-0A4A-A978-4808233742C0}" destId="{107B8631-2151-624E-986A-EB66C09F3B49}" srcOrd="0" destOrd="0" presId="urn:microsoft.com/office/officeart/2005/8/layout/lProcess3"/>
    <dgm:cxn modelId="{D7F5EDE4-A31C-DE4F-BB7E-C3D63C8F3446}" type="presOf" srcId="{4258CA94-0709-8A40-B27C-D4AF5F9EB44E}" destId="{84A4067E-24A6-9F42-BB31-3AA3D47AC17F}" srcOrd="0" destOrd="0" presId="urn:microsoft.com/office/officeart/2005/8/layout/lProcess3"/>
    <dgm:cxn modelId="{DF6BB5E6-82D1-9A44-9D59-CBFC137C059E}" srcId="{DAFCD7CC-2163-F14A-9DFB-481DAC800C77}" destId="{E45F4299-682E-B949-8041-934A9ED4BD6E}" srcOrd="0" destOrd="0" parTransId="{F2E34259-B223-1F42-A439-58A1AAFC92F1}" sibTransId="{DF3D99E4-A809-C04C-9942-BCC07DA0B941}"/>
    <dgm:cxn modelId="{07885EE9-4557-4B45-BE94-6B408959DCEE}" srcId="{B6F04CB1-3019-A04A-83E4-2AA5110D7ECD}" destId="{B7E19492-31A3-7D4F-80AE-7F95D263212A}" srcOrd="0" destOrd="0" parTransId="{E4BB649D-BCFC-644F-8909-5C89369B3B21}" sibTransId="{AAF77F28-5EAC-8C4B-B6B0-9730AC2FD356}"/>
    <dgm:cxn modelId="{8345A9FD-F8CF-B540-B85F-E5F6B286081F}" type="presOf" srcId="{EA2031C1-706D-2946-A85E-E9B7E03DB347}" destId="{D00D51EA-361D-C146-AE09-A3BF53879813}" srcOrd="0" destOrd="0" presId="urn:microsoft.com/office/officeart/2005/8/layout/lProcess3"/>
    <dgm:cxn modelId="{D420F8CA-D44C-634E-B052-2C597E54394E}" type="presParOf" srcId="{1EE32CD1-D6A7-3141-9CFE-F38B2E27BEBB}" destId="{0BCE4433-2753-6743-81C4-471921A4A815}" srcOrd="0" destOrd="0" presId="urn:microsoft.com/office/officeart/2005/8/layout/lProcess3"/>
    <dgm:cxn modelId="{E2401582-30A0-AC40-8E63-2AADA341697C}" type="presParOf" srcId="{0BCE4433-2753-6743-81C4-471921A4A815}" destId="{B8BD2E83-B86A-4A4B-A77F-FB540A293135}" srcOrd="0" destOrd="0" presId="urn:microsoft.com/office/officeart/2005/8/layout/lProcess3"/>
    <dgm:cxn modelId="{4579F3F1-D09A-EE4B-AC95-6BC552A98A66}" type="presParOf" srcId="{0BCE4433-2753-6743-81C4-471921A4A815}" destId="{C6B8813A-B880-6444-9B9B-F72A45FBBC18}" srcOrd="1" destOrd="0" presId="urn:microsoft.com/office/officeart/2005/8/layout/lProcess3"/>
    <dgm:cxn modelId="{3E399016-4F72-3D41-906F-AC7554D73D86}" type="presParOf" srcId="{0BCE4433-2753-6743-81C4-471921A4A815}" destId="{D00D51EA-361D-C146-AE09-A3BF53879813}" srcOrd="2" destOrd="0" presId="urn:microsoft.com/office/officeart/2005/8/layout/lProcess3"/>
    <dgm:cxn modelId="{C1F7CFCB-4F5D-3D48-8C2F-0C18FC434317}" type="presParOf" srcId="{1EE32CD1-D6A7-3141-9CFE-F38B2E27BEBB}" destId="{1BB2D297-39B4-2349-A464-4C21E97AFF28}" srcOrd="1" destOrd="0" presId="urn:microsoft.com/office/officeart/2005/8/layout/lProcess3"/>
    <dgm:cxn modelId="{AD1A492C-0F93-654B-B63F-9B150175B5E9}" type="presParOf" srcId="{1EE32CD1-D6A7-3141-9CFE-F38B2E27BEBB}" destId="{5AE49EEB-2B75-A24F-981F-793234F9B3AB}" srcOrd="2" destOrd="0" presId="urn:microsoft.com/office/officeart/2005/8/layout/lProcess3"/>
    <dgm:cxn modelId="{9AB9BC85-1438-1C44-8F3E-2EFD8864D848}" type="presParOf" srcId="{5AE49EEB-2B75-A24F-981F-793234F9B3AB}" destId="{EE8CB7C1-B22D-EA4C-AC76-5514BD53282C}" srcOrd="0" destOrd="0" presId="urn:microsoft.com/office/officeart/2005/8/layout/lProcess3"/>
    <dgm:cxn modelId="{9AE8A7E4-D9C4-434E-9F11-3A1FED0A0CD1}" type="presParOf" srcId="{5AE49EEB-2B75-A24F-981F-793234F9B3AB}" destId="{7040CADF-33DF-4542-921A-0B15396A2FC3}" srcOrd="1" destOrd="0" presId="urn:microsoft.com/office/officeart/2005/8/layout/lProcess3"/>
    <dgm:cxn modelId="{4D777D22-4F8C-5F4A-A245-CA799C389436}" type="presParOf" srcId="{5AE49EEB-2B75-A24F-981F-793234F9B3AB}" destId="{42D9C8A0-4135-C944-B023-F8539C8D6E7A}" srcOrd="2" destOrd="0" presId="urn:microsoft.com/office/officeart/2005/8/layout/lProcess3"/>
    <dgm:cxn modelId="{EEBDE63E-CB18-F64B-BE67-27107C55868D}" type="presParOf" srcId="{1EE32CD1-D6A7-3141-9CFE-F38B2E27BEBB}" destId="{FCA99A36-C888-CB42-BEB6-384159E8688B}" srcOrd="3" destOrd="0" presId="urn:microsoft.com/office/officeart/2005/8/layout/lProcess3"/>
    <dgm:cxn modelId="{B3173AEA-2DE1-DF4F-BCAE-ED5E857503DD}" type="presParOf" srcId="{1EE32CD1-D6A7-3141-9CFE-F38B2E27BEBB}" destId="{70676E72-F4E5-744A-B381-590341070E27}" srcOrd="4" destOrd="0" presId="urn:microsoft.com/office/officeart/2005/8/layout/lProcess3"/>
    <dgm:cxn modelId="{CE9CD274-BE66-9E4C-813C-41D45F3EBAB6}" type="presParOf" srcId="{70676E72-F4E5-744A-B381-590341070E27}" destId="{48A6AFDD-487F-9B42-9CBF-441679B5FA69}" srcOrd="0" destOrd="0" presId="urn:microsoft.com/office/officeart/2005/8/layout/lProcess3"/>
    <dgm:cxn modelId="{AD12AC26-0C96-7D4F-977A-FBF45F9D7959}" type="presParOf" srcId="{70676E72-F4E5-744A-B381-590341070E27}" destId="{04017C44-8DBD-BC43-966D-2851A0D7848B}" srcOrd="1" destOrd="0" presId="urn:microsoft.com/office/officeart/2005/8/layout/lProcess3"/>
    <dgm:cxn modelId="{B0ED22E9-E94F-0A4D-9D86-D17E5E1B5BD3}" type="presParOf" srcId="{70676E72-F4E5-744A-B381-590341070E27}" destId="{F4D8776F-913E-1141-A230-6C36C227E0FF}" srcOrd="2" destOrd="0" presId="urn:microsoft.com/office/officeart/2005/8/layout/lProcess3"/>
    <dgm:cxn modelId="{63B0F654-5B85-8B43-A797-9BC6BF2848C7}" type="presParOf" srcId="{1EE32CD1-D6A7-3141-9CFE-F38B2E27BEBB}" destId="{723CA6E3-AB86-1343-8265-CF9B4FC8009F}" srcOrd="5" destOrd="0" presId="urn:microsoft.com/office/officeart/2005/8/layout/lProcess3"/>
    <dgm:cxn modelId="{A6B3AC81-D7BA-664E-95B6-5907AC5314BC}" type="presParOf" srcId="{1EE32CD1-D6A7-3141-9CFE-F38B2E27BEBB}" destId="{4A83A619-A2D8-9444-9FA1-7BE1A92DCCB3}" srcOrd="6" destOrd="0" presId="urn:microsoft.com/office/officeart/2005/8/layout/lProcess3"/>
    <dgm:cxn modelId="{D6D591FA-0DF4-4646-BD1B-A61F14D26853}" type="presParOf" srcId="{4A83A619-A2D8-9444-9FA1-7BE1A92DCCB3}" destId="{373C8D4C-074A-5E4F-9270-42BAAE93ABD8}" srcOrd="0" destOrd="0" presId="urn:microsoft.com/office/officeart/2005/8/layout/lProcess3"/>
    <dgm:cxn modelId="{E599EA9E-5D57-F141-9FD0-C56D259F8665}" type="presParOf" srcId="{4A83A619-A2D8-9444-9FA1-7BE1A92DCCB3}" destId="{C11AAD43-CA73-F743-B7EE-425C337C892C}" srcOrd="1" destOrd="0" presId="urn:microsoft.com/office/officeart/2005/8/layout/lProcess3"/>
    <dgm:cxn modelId="{16C8B029-D8A5-AE41-B8A2-CB8626544CBC}" type="presParOf" srcId="{4A83A619-A2D8-9444-9FA1-7BE1A92DCCB3}" destId="{8D62643A-7617-7640-97CB-315A65F1D23F}" srcOrd="2" destOrd="0" presId="urn:microsoft.com/office/officeart/2005/8/layout/lProcess3"/>
    <dgm:cxn modelId="{B39A6A14-BFC9-834C-8698-01E03989AC5D}" type="presParOf" srcId="{1EE32CD1-D6A7-3141-9CFE-F38B2E27BEBB}" destId="{DE4AC0C2-E4AD-7941-9339-7086F19B3847}" srcOrd="7" destOrd="0" presId="urn:microsoft.com/office/officeart/2005/8/layout/lProcess3"/>
    <dgm:cxn modelId="{F2FD57A8-EFFF-7A4B-ADFD-273B737ABD16}" type="presParOf" srcId="{1EE32CD1-D6A7-3141-9CFE-F38B2E27BEBB}" destId="{70164533-3FE4-6444-8734-483DD2F2F082}" srcOrd="8" destOrd="0" presId="urn:microsoft.com/office/officeart/2005/8/layout/lProcess3"/>
    <dgm:cxn modelId="{5DDCE54F-A54D-4C45-8FB2-A3AEDED64E0C}" type="presParOf" srcId="{70164533-3FE4-6444-8734-483DD2F2F082}" destId="{B9C63000-41FE-7747-88FA-5408D3B5ED33}" srcOrd="0" destOrd="0" presId="urn:microsoft.com/office/officeart/2005/8/layout/lProcess3"/>
    <dgm:cxn modelId="{CD287CB5-AB34-934D-ADE8-996ECAD2087B}" type="presParOf" srcId="{70164533-3FE4-6444-8734-483DD2F2F082}" destId="{989F3CDA-9622-BF4D-BBE8-ACC61CD5BD24}" srcOrd="1" destOrd="0" presId="urn:microsoft.com/office/officeart/2005/8/layout/lProcess3"/>
    <dgm:cxn modelId="{E395D3D2-EE91-E84C-9985-25156677BBBB}" type="presParOf" srcId="{70164533-3FE4-6444-8734-483DD2F2F082}" destId="{B1BF0474-E89E-A247-AF49-0ECD174E5624}" srcOrd="2" destOrd="0" presId="urn:microsoft.com/office/officeart/2005/8/layout/lProcess3"/>
    <dgm:cxn modelId="{8499FF19-FE91-C340-9190-10CC192D3B26}" type="presParOf" srcId="{1EE32CD1-D6A7-3141-9CFE-F38B2E27BEBB}" destId="{6181CDA0-EC01-5843-BFAE-CD4BF32D3EFA}" srcOrd="9" destOrd="0" presId="urn:microsoft.com/office/officeart/2005/8/layout/lProcess3"/>
    <dgm:cxn modelId="{7FC94F7E-57C4-1748-B346-DB2C38758853}" type="presParOf" srcId="{1EE32CD1-D6A7-3141-9CFE-F38B2E27BEBB}" destId="{A4033B30-F0AA-0646-A161-40998B8227D7}" srcOrd="10" destOrd="0" presId="urn:microsoft.com/office/officeart/2005/8/layout/lProcess3"/>
    <dgm:cxn modelId="{397D043A-BDCE-B942-BED3-E59963AB12B0}" type="presParOf" srcId="{A4033B30-F0AA-0646-A161-40998B8227D7}" destId="{5ADD8FB3-1902-CF4C-8CDF-60DD6614C99C}" srcOrd="0" destOrd="0" presId="urn:microsoft.com/office/officeart/2005/8/layout/lProcess3"/>
    <dgm:cxn modelId="{EA1238C0-387C-BB4C-8241-43B4B504DEBE}" type="presParOf" srcId="{A4033B30-F0AA-0646-A161-40998B8227D7}" destId="{D8C14136-4D76-0349-992D-42239B761607}" srcOrd="1" destOrd="0" presId="urn:microsoft.com/office/officeart/2005/8/layout/lProcess3"/>
    <dgm:cxn modelId="{042BAE1C-468D-5548-B825-88E5381C2B72}" type="presParOf" srcId="{A4033B30-F0AA-0646-A161-40998B8227D7}" destId="{107B8631-2151-624E-986A-EB66C09F3B49}" srcOrd="2" destOrd="0" presId="urn:microsoft.com/office/officeart/2005/8/layout/lProcess3"/>
    <dgm:cxn modelId="{031A44A6-1190-6247-8657-F484C910CDCB}" type="presParOf" srcId="{1EE32CD1-D6A7-3141-9CFE-F38B2E27BEBB}" destId="{A3EF7B73-8427-514A-B4EB-7D2EF6B0FF7D}" srcOrd="11" destOrd="0" presId="urn:microsoft.com/office/officeart/2005/8/layout/lProcess3"/>
    <dgm:cxn modelId="{6D99421D-5F95-4A40-A8EA-28F544C4C4F1}" type="presParOf" srcId="{1EE32CD1-D6A7-3141-9CFE-F38B2E27BEBB}" destId="{9403CF79-3192-5742-BEF6-F3EA624B94BA}" srcOrd="12" destOrd="0" presId="urn:microsoft.com/office/officeart/2005/8/layout/lProcess3"/>
    <dgm:cxn modelId="{4B3A25EE-15A5-D542-B99F-4D643C6EC149}" type="presParOf" srcId="{9403CF79-3192-5742-BEF6-F3EA624B94BA}" destId="{F760BBEA-2F00-8043-A268-63575A1F8008}" srcOrd="0" destOrd="0" presId="urn:microsoft.com/office/officeart/2005/8/layout/lProcess3"/>
    <dgm:cxn modelId="{27B0858B-2CF7-1240-92B6-50052EBB78FD}" type="presParOf" srcId="{9403CF79-3192-5742-BEF6-F3EA624B94BA}" destId="{24A778DC-7BCB-6746-AC30-E2A016F87D95}" srcOrd="1" destOrd="0" presId="urn:microsoft.com/office/officeart/2005/8/layout/lProcess3"/>
    <dgm:cxn modelId="{571F76D2-1B79-6741-9945-43C5FDC8C652}" type="presParOf" srcId="{9403CF79-3192-5742-BEF6-F3EA624B94BA}" destId="{84A4067E-24A6-9F42-BB31-3AA3D47AC17F}" srcOrd="2" destOrd="0" presId="urn:microsoft.com/office/officeart/2005/8/layout/lProcess3"/>
    <dgm:cxn modelId="{2D11F3B9-FD3E-574D-B0FB-C6C20ACF928A}" type="presParOf" srcId="{1EE32CD1-D6A7-3141-9CFE-F38B2E27BEBB}" destId="{327DD999-F49E-AE4E-895F-B4CDB2118981}" srcOrd="13" destOrd="0" presId="urn:microsoft.com/office/officeart/2005/8/layout/lProcess3"/>
    <dgm:cxn modelId="{1C3918BB-793D-D941-B597-5ED0ACB5B296}" type="presParOf" srcId="{1EE32CD1-D6A7-3141-9CFE-F38B2E27BEBB}" destId="{E32C463B-F38A-4744-AE0B-3A2A4B8732B7}" srcOrd="14" destOrd="0" presId="urn:microsoft.com/office/officeart/2005/8/layout/lProcess3"/>
    <dgm:cxn modelId="{F438FE64-7259-6046-A669-5DF0438CA1D4}" type="presParOf" srcId="{E32C463B-F38A-4744-AE0B-3A2A4B8732B7}" destId="{7B303CD2-3C6C-9940-95FA-F846E2427766}" srcOrd="0" destOrd="0" presId="urn:microsoft.com/office/officeart/2005/8/layout/lProcess3"/>
    <dgm:cxn modelId="{A24C4FC0-0C6E-204E-B3A4-657966C25516}" type="presParOf" srcId="{E32C463B-F38A-4744-AE0B-3A2A4B8732B7}" destId="{B37D8BFF-CFD2-224F-9B29-42F13CD9B99F}" srcOrd="1" destOrd="0" presId="urn:microsoft.com/office/officeart/2005/8/layout/lProcess3"/>
    <dgm:cxn modelId="{2DCB7C35-DA72-114D-8B83-BEDB8275FCC6}" type="presParOf" srcId="{E32C463B-F38A-4744-AE0B-3A2A4B8732B7}" destId="{00307230-43F6-9340-A7E6-7F530AD2D126}"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BD2E83-B86A-4A4B-A77F-FB540A293135}">
      <dsp:nvSpPr>
        <dsp:cNvPr id="0" name=""/>
        <dsp:cNvSpPr/>
      </dsp:nvSpPr>
      <dsp:spPr>
        <a:xfrm>
          <a:off x="8025" y="170978"/>
          <a:ext cx="2627290" cy="573437"/>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1970</a:t>
          </a:r>
        </a:p>
      </dsp:txBody>
      <dsp:txXfrm>
        <a:off x="294744" y="170978"/>
        <a:ext cx="2053853" cy="573437"/>
      </dsp:txXfrm>
    </dsp:sp>
    <dsp:sp modelId="{D00D51EA-361D-C146-AE09-A3BF53879813}">
      <dsp:nvSpPr>
        <dsp:cNvPr id="0" name=""/>
        <dsp:cNvSpPr/>
      </dsp:nvSpPr>
      <dsp:spPr>
        <a:xfrm>
          <a:off x="2448948" y="201286"/>
          <a:ext cx="7667166" cy="512820"/>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Wiesner proposes quantum encoding of information.</a:t>
          </a:r>
          <a:endParaRPr lang="en-US" sz="2400" kern="1200" dirty="0">
            <a:solidFill>
              <a:schemeClr val="tx1"/>
            </a:solidFill>
          </a:endParaRPr>
        </a:p>
      </dsp:txBody>
      <dsp:txXfrm>
        <a:off x="2705358" y="201286"/>
        <a:ext cx="7154346" cy="512820"/>
      </dsp:txXfrm>
    </dsp:sp>
    <dsp:sp modelId="{EE8CB7C1-B22D-EA4C-AC76-5514BD53282C}">
      <dsp:nvSpPr>
        <dsp:cNvPr id="0" name=""/>
        <dsp:cNvSpPr/>
      </dsp:nvSpPr>
      <dsp:spPr>
        <a:xfrm>
          <a:off x="8025" y="824697"/>
          <a:ext cx="2627290" cy="573437"/>
        </a:xfrm>
        <a:prstGeom prst="chevron">
          <a:avLst/>
        </a:prstGeom>
        <a:solidFill>
          <a:schemeClr val="accent4">
            <a:hueOff val="1400127"/>
            <a:satOff val="-5825"/>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1984</a:t>
          </a:r>
        </a:p>
      </dsp:txBody>
      <dsp:txXfrm>
        <a:off x="294744" y="824697"/>
        <a:ext cx="2053853" cy="573437"/>
      </dsp:txXfrm>
    </dsp:sp>
    <dsp:sp modelId="{42D9C8A0-4135-C944-B023-F8539C8D6E7A}">
      <dsp:nvSpPr>
        <dsp:cNvPr id="0" name=""/>
        <dsp:cNvSpPr/>
      </dsp:nvSpPr>
      <dsp:spPr>
        <a:xfrm>
          <a:off x="2448948" y="855005"/>
          <a:ext cx="7667166" cy="512820"/>
        </a:xfrm>
        <a:prstGeom prst="chevron">
          <a:avLst/>
        </a:prstGeom>
        <a:solidFill>
          <a:schemeClr val="accent4">
            <a:tint val="40000"/>
            <a:alpha val="90000"/>
            <a:hueOff val="1551704"/>
            <a:satOff val="-7321"/>
            <a:lumOff val="-264"/>
            <a:alphaOff val="0"/>
          </a:schemeClr>
        </a:solidFill>
        <a:ln w="12700" cap="flat" cmpd="sng" algn="ctr">
          <a:solidFill>
            <a:schemeClr val="accent4">
              <a:tint val="40000"/>
              <a:alpha val="90000"/>
              <a:hueOff val="1551704"/>
              <a:satOff val="-7321"/>
              <a:lumOff val="-2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t>Quantum Key Distribution</a:t>
          </a:r>
          <a:r>
            <a:rPr lang="en-ZA" sz="2400" b="0" kern="1200" dirty="0">
              <a:solidFill>
                <a:schemeClr val="tx1"/>
              </a:solidFill>
            </a:rPr>
            <a:t>(QKD)</a:t>
          </a:r>
          <a:endParaRPr lang="en-US" sz="2400" kern="1200" dirty="0">
            <a:solidFill>
              <a:schemeClr val="tx1"/>
            </a:solidFill>
          </a:endParaRPr>
        </a:p>
      </dsp:txBody>
      <dsp:txXfrm>
        <a:off x="2705358" y="855005"/>
        <a:ext cx="7154346" cy="512820"/>
      </dsp:txXfrm>
    </dsp:sp>
    <dsp:sp modelId="{48A6AFDD-487F-9B42-9CBF-441679B5FA69}">
      <dsp:nvSpPr>
        <dsp:cNvPr id="0" name=""/>
        <dsp:cNvSpPr/>
      </dsp:nvSpPr>
      <dsp:spPr>
        <a:xfrm>
          <a:off x="8025" y="1478416"/>
          <a:ext cx="2627290" cy="573437"/>
        </a:xfrm>
        <a:prstGeom prst="chevron">
          <a:avLst/>
        </a:prstGeom>
        <a:solidFill>
          <a:schemeClr val="accent4">
            <a:hueOff val="2800255"/>
            <a:satOff val="-11651"/>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1993</a:t>
          </a:r>
        </a:p>
      </dsp:txBody>
      <dsp:txXfrm>
        <a:off x="294744" y="1478416"/>
        <a:ext cx="2053853" cy="573437"/>
      </dsp:txXfrm>
    </dsp:sp>
    <dsp:sp modelId="{F4D8776F-913E-1141-A230-6C36C227E0FF}">
      <dsp:nvSpPr>
        <dsp:cNvPr id="0" name=""/>
        <dsp:cNvSpPr/>
      </dsp:nvSpPr>
      <dsp:spPr>
        <a:xfrm>
          <a:off x="2448948" y="1508724"/>
          <a:ext cx="6970157" cy="512820"/>
        </a:xfrm>
        <a:prstGeom prst="chevron">
          <a:avLst/>
        </a:prstGeom>
        <a:solidFill>
          <a:schemeClr val="accent4">
            <a:tint val="40000"/>
            <a:alpha val="90000"/>
            <a:hueOff val="3103407"/>
            <a:satOff val="-14641"/>
            <a:lumOff val="-529"/>
            <a:alphaOff val="0"/>
          </a:schemeClr>
        </a:solidFill>
        <a:ln w="12700" cap="flat" cmpd="sng" algn="ctr">
          <a:solidFill>
            <a:schemeClr val="accent4">
              <a:tint val="40000"/>
              <a:alpha val="90000"/>
              <a:hueOff val="3103407"/>
              <a:satOff val="-14641"/>
              <a:lumOff val="-52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t>Quantum Teleportation </a:t>
          </a:r>
          <a:r>
            <a:rPr lang="en-ZA" sz="2400" b="0" kern="1200" dirty="0">
              <a:solidFill>
                <a:schemeClr val="tx1"/>
              </a:solidFill>
            </a:rPr>
            <a:t>(QT)</a:t>
          </a:r>
          <a:endParaRPr lang="en-US" sz="2400" kern="1200" dirty="0">
            <a:solidFill>
              <a:schemeClr val="tx1"/>
            </a:solidFill>
          </a:endParaRPr>
        </a:p>
      </dsp:txBody>
      <dsp:txXfrm>
        <a:off x="2705358" y="1508724"/>
        <a:ext cx="6457337" cy="512820"/>
      </dsp:txXfrm>
    </dsp:sp>
    <dsp:sp modelId="{373C8D4C-074A-5E4F-9270-42BAAE93ABD8}">
      <dsp:nvSpPr>
        <dsp:cNvPr id="0" name=""/>
        <dsp:cNvSpPr/>
      </dsp:nvSpPr>
      <dsp:spPr>
        <a:xfrm>
          <a:off x="8025" y="2132135"/>
          <a:ext cx="2627290" cy="573437"/>
        </a:xfrm>
        <a:prstGeom prst="chevron">
          <a:avLst/>
        </a:prstGeom>
        <a:solidFill>
          <a:schemeClr val="accent4">
            <a:hueOff val="4200382"/>
            <a:satOff val="-17476"/>
            <a:lumOff val="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solidFill>
                <a:schemeClr val="tx1"/>
              </a:solidFill>
            </a:rPr>
            <a:t>1998/99</a:t>
          </a:r>
          <a:endParaRPr lang="en-US" sz="2400" kern="1200" dirty="0">
            <a:solidFill>
              <a:schemeClr val="tx1"/>
            </a:solidFill>
          </a:endParaRPr>
        </a:p>
      </dsp:txBody>
      <dsp:txXfrm>
        <a:off x="294744" y="2132135"/>
        <a:ext cx="2053853" cy="573437"/>
      </dsp:txXfrm>
    </dsp:sp>
    <dsp:sp modelId="{8D62643A-7617-7640-97CB-315A65F1D23F}">
      <dsp:nvSpPr>
        <dsp:cNvPr id="0" name=""/>
        <dsp:cNvSpPr/>
      </dsp:nvSpPr>
      <dsp:spPr>
        <a:xfrm>
          <a:off x="2448948" y="2162443"/>
          <a:ext cx="7667166" cy="512820"/>
        </a:xfrm>
        <a:prstGeom prst="chevron">
          <a:avLst/>
        </a:prstGeom>
        <a:solidFill>
          <a:schemeClr val="accent4">
            <a:tint val="40000"/>
            <a:alpha val="90000"/>
            <a:hueOff val="4655111"/>
            <a:satOff val="-21962"/>
            <a:lumOff val="-793"/>
            <a:alphaOff val="0"/>
          </a:schemeClr>
        </a:solidFill>
        <a:ln w="12700" cap="flat" cmpd="sng" algn="ctr">
          <a:solidFill>
            <a:schemeClr val="accent4">
              <a:tint val="40000"/>
              <a:alpha val="90000"/>
              <a:hueOff val="4655111"/>
              <a:satOff val="-21962"/>
              <a:lumOff val="-7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solidFill>
                <a:schemeClr val="tx1"/>
              </a:solidFill>
            </a:rPr>
            <a:t>Quantum Secret Sharing (QSS)</a:t>
          </a:r>
          <a:endParaRPr lang="en-US" sz="2400" kern="1200" dirty="0">
            <a:solidFill>
              <a:schemeClr val="tx1"/>
            </a:solidFill>
          </a:endParaRPr>
        </a:p>
      </dsp:txBody>
      <dsp:txXfrm>
        <a:off x="2705358" y="2162443"/>
        <a:ext cx="7154346" cy="512820"/>
      </dsp:txXfrm>
    </dsp:sp>
    <dsp:sp modelId="{B9C63000-41FE-7747-88FA-5408D3B5ED33}">
      <dsp:nvSpPr>
        <dsp:cNvPr id="0" name=""/>
        <dsp:cNvSpPr/>
      </dsp:nvSpPr>
      <dsp:spPr>
        <a:xfrm>
          <a:off x="8025" y="2785854"/>
          <a:ext cx="2627290" cy="573437"/>
        </a:xfrm>
        <a:prstGeom prst="chevron">
          <a:avLst/>
        </a:prstGeom>
        <a:solidFill>
          <a:schemeClr val="accent4">
            <a:hueOff val="5600509"/>
            <a:satOff val="-23301"/>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2000</a:t>
          </a:r>
        </a:p>
      </dsp:txBody>
      <dsp:txXfrm>
        <a:off x="294744" y="2785854"/>
        <a:ext cx="2053853" cy="573437"/>
      </dsp:txXfrm>
    </dsp:sp>
    <dsp:sp modelId="{B1BF0474-E89E-A247-AF49-0ECD174E5624}">
      <dsp:nvSpPr>
        <dsp:cNvPr id="0" name=""/>
        <dsp:cNvSpPr/>
      </dsp:nvSpPr>
      <dsp:spPr>
        <a:xfrm>
          <a:off x="2448948" y="2816162"/>
          <a:ext cx="7667166" cy="512820"/>
        </a:xfrm>
        <a:prstGeom prst="chevron">
          <a:avLst/>
        </a:prstGeom>
        <a:solidFill>
          <a:schemeClr val="accent4">
            <a:tint val="40000"/>
            <a:alpha val="90000"/>
            <a:hueOff val="6206815"/>
            <a:satOff val="-29283"/>
            <a:lumOff val="-1058"/>
            <a:alphaOff val="0"/>
          </a:schemeClr>
        </a:solidFill>
        <a:ln w="12700" cap="flat" cmpd="sng" algn="ctr">
          <a:solidFill>
            <a:schemeClr val="accent4">
              <a:tint val="40000"/>
              <a:alpha val="90000"/>
              <a:hueOff val="6206815"/>
              <a:satOff val="-29283"/>
              <a:lumOff val="-10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solidFill>
                <a:schemeClr val="tx1"/>
              </a:solidFill>
            </a:rPr>
            <a:t>Quantum Secure Direct Communication (QSDC)</a:t>
          </a:r>
          <a:endParaRPr lang="en-US" sz="2400" kern="1200" dirty="0">
            <a:solidFill>
              <a:schemeClr val="tx1"/>
            </a:solidFill>
          </a:endParaRPr>
        </a:p>
      </dsp:txBody>
      <dsp:txXfrm>
        <a:off x="2705358" y="2816162"/>
        <a:ext cx="7154346" cy="512820"/>
      </dsp:txXfrm>
    </dsp:sp>
    <dsp:sp modelId="{5ADD8FB3-1902-CF4C-8CDF-60DD6614C99C}">
      <dsp:nvSpPr>
        <dsp:cNvPr id="0" name=""/>
        <dsp:cNvSpPr/>
      </dsp:nvSpPr>
      <dsp:spPr>
        <a:xfrm>
          <a:off x="8025" y="3439573"/>
          <a:ext cx="2627290" cy="573437"/>
        </a:xfrm>
        <a:prstGeom prst="chevron">
          <a:avLst/>
        </a:prstGeom>
        <a:solidFill>
          <a:schemeClr val="accent4">
            <a:hueOff val="7000636"/>
            <a:satOff val="-29126"/>
            <a:lumOff val="6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2000-2004</a:t>
          </a:r>
        </a:p>
      </dsp:txBody>
      <dsp:txXfrm>
        <a:off x="294744" y="3439573"/>
        <a:ext cx="2053853" cy="573437"/>
      </dsp:txXfrm>
    </dsp:sp>
    <dsp:sp modelId="{107B8631-2151-624E-986A-EB66C09F3B49}">
      <dsp:nvSpPr>
        <dsp:cNvPr id="0" name=""/>
        <dsp:cNvSpPr/>
      </dsp:nvSpPr>
      <dsp:spPr>
        <a:xfrm>
          <a:off x="2448948" y="3469881"/>
          <a:ext cx="7667166" cy="512820"/>
        </a:xfrm>
        <a:prstGeom prst="chevron">
          <a:avLst/>
        </a:prstGeom>
        <a:solidFill>
          <a:schemeClr val="accent4">
            <a:tint val="40000"/>
            <a:alpha val="90000"/>
            <a:hueOff val="7758518"/>
            <a:satOff val="-36604"/>
            <a:lumOff val="-1322"/>
            <a:alphaOff val="0"/>
          </a:schemeClr>
        </a:solidFill>
        <a:ln w="12700" cap="flat" cmpd="sng" algn="ctr">
          <a:solidFill>
            <a:schemeClr val="accent4">
              <a:tint val="40000"/>
              <a:alpha val="90000"/>
              <a:hueOff val="7758518"/>
              <a:satOff val="-36604"/>
              <a:lumOff val="-13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Quantum Repeaters</a:t>
          </a:r>
        </a:p>
      </dsp:txBody>
      <dsp:txXfrm>
        <a:off x="2705358" y="3469881"/>
        <a:ext cx="7154346" cy="512820"/>
      </dsp:txXfrm>
    </dsp:sp>
    <dsp:sp modelId="{F760BBEA-2F00-8043-A268-63575A1F8008}">
      <dsp:nvSpPr>
        <dsp:cNvPr id="0" name=""/>
        <dsp:cNvSpPr/>
      </dsp:nvSpPr>
      <dsp:spPr>
        <a:xfrm>
          <a:off x="8025" y="4093292"/>
          <a:ext cx="2627290" cy="573437"/>
        </a:xfrm>
        <a:prstGeom prst="chevron">
          <a:avLst/>
        </a:prstGeom>
        <a:solidFill>
          <a:schemeClr val="accent4">
            <a:hueOff val="8400764"/>
            <a:satOff val="-34952"/>
            <a:lumOff val="8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2010–2017</a:t>
          </a:r>
        </a:p>
      </dsp:txBody>
      <dsp:txXfrm>
        <a:off x="294744" y="4093292"/>
        <a:ext cx="2053853" cy="573437"/>
      </dsp:txXfrm>
    </dsp:sp>
    <dsp:sp modelId="{84A4067E-24A6-9F42-BB31-3AA3D47AC17F}">
      <dsp:nvSpPr>
        <dsp:cNvPr id="0" name=""/>
        <dsp:cNvSpPr/>
      </dsp:nvSpPr>
      <dsp:spPr>
        <a:xfrm>
          <a:off x="2448948" y="4123600"/>
          <a:ext cx="7667166" cy="512820"/>
        </a:xfrm>
        <a:prstGeom prst="chevron">
          <a:avLst/>
        </a:prstGeom>
        <a:solidFill>
          <a:schemeClr val="accent4">
            <a:tint val="40000"/>
            <a:alpha val="90000"/>
            <a:hueOff val="9310222"/>
            <a:satOff val="-43924"/>
            <a:lumOff val="-1587"/>
            <a:alphaOff val="0"/>
          </a:schemeClr>
        </a:solidFill>
        <a:ln w="12700" cap="flat" cmpd="sng" algn="ctr">
          <a:solidFill>
            <a:schemeClr val="accent4">
              <a:tint val="40000"/>
              <a:alpha val="90000"/>
              <a:hueOff val="9310222"/>
              <a:satOff val="-43924"/>
              <a:lumOff val="-158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Quantum Networks and Satellites</a:t>
          </a:r>
        </a:p>
      </dsp:txBody>
      <dsp:txXfrm>
        <a:off x="2705358" y="4123600"/>
        <a:ext cx="7154346" cy="512820"/>
      </dsp:txXfrm>
    </dsp:sp>
    <dsp:sp modelId="{7B303CD2-3C6C-9940-95FA-F846E2427766}">
      <dsp:nvSpPr>
        <dsp:cNvPr id="0" name=""/>
        <dsp:cNvSpPr/>
      </dsp:nvSpPr>
      <dsp:spPr>
        <a:xfrm>
          <a:off x="8025" y="4747010"/>
          <a:ext cx="2627290" cy="573437"/>
        </a:xfrm>
        <a:prstGeom prst="chevron">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2020 -</a:t>
          </a:r>
        </a:p>
      </dsp:txBody>
      <dsp:txXfrm>
        <a:off x="294744" y="4747010"/>
        <a:ext cx="2053853" cy="573437"/>
      </dsp:txXfrm>
    </dsp:sp>
    <dsp:sp modelId="{00307230-43F6-9340-A7E6-7F530AD2D126}">
      <dsp:nvSpPr>
        <dsp:cNvPr id="0" name=""/>
        <dsp:cNvSpPr/>
      </dsp:nvSpPr>
      <dsp:spPr>
        <a:xfrm>
          <a:off x="2448948" y="4777319"/>
          <a:ext cx="7667166" cy="512820"/>
        </a:xfrm>
        <a:prstGeom prst="chevron">
          <a:avLst/>
        </a:prstGeom>
        <a:solidFill>
          <a:schemeClr val="accent4">
            <a:tint val="40000"/>
            <a:alpha val="90000"/>
            <a:hueOff val="10861925"/>
            <a:satOff val="-51245"/>
            <a:lumOff val="-1851"/>
            <a:alphaOff val="0"/>
          </a:schemeClr>
        </a:solidFill>
        <a:ln w="12700" cap="flat" cmpd="sng" algn="ctr">
          <a:solidFill>
            <a:schemeClr val="accent4">
              <a:tint val="40000"/>
              <a:alpha val="90000"/>
              <a:hueOff val="10861925"/>
              <a:satOff val="-51245"/>
              <a:lumOff val="-18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Towards the Quantum Internet</a:t>
          </a:r>
        </a:p>
      </dsp:txBody>
      <dsp:txXfrm>
        <a:off x="2705358" y="4777319"/>
        <a:ext cx="7154346" cy="51282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0B0F04-17C6-E34C-B556-F80CEB0272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0934BD-F2D4-E547-B204-C7234F5B97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96241B-789D-E54D-B352-0F9E84EBA88A}" type="datetimeFigureOut">
              <a:rPr lang="en-US" smtClean="0"/>
              <a:t>10/2/26</a:t>
            </a:fld>
            <a:endParaRPr lang="en-US"/>
          </a:p>
        </p:txBody>
      </p:sp>
      <p:sp>
        <p:nvSpPr>
          <p:cNvPr id="4" name="Footer Placeholder 3">
            <a:extLst>
              <a:ext uri="{FF2B5EF4-FFF2-40B4-BE49-F238E27FC236}">
                <a16:creationId xmlns:a16="http://schemas.microsoft.com/office/drawing/2014/main" id="{B57E4CA9-CAAF-2A4E-BC24-23757A90E3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F98000-191A-D946-A18E-D43439AAA6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956EE-A9CB-1546-BABC-8F3E14BC8965}" type="slidenum">
              <a:rPr lang="en-US" smtClean="0"/>
              <a:t>‹#›</a:t>
            </a:fld>
            <a:endParaRPr lang="en-US"/>
          </a:p>
        </p:txBody>
      </p:sp>
    </p:spTree>
    <p:extLst>
      <p:ext uri="{BB962C8B-B14F-4D97-AF65-F5344CB8AC3E}">
        <p14:creationId xmlns:p14="http://schemas.microsoft.com/office/powerpoint/2010/main" val="42880415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1B5B-1C88-4E47-85FA-B6A6AB8D28D0}" type="datetimeFigureOut">
              <a:rPr lang="en-US" smtClean="0"/>
              <a:t>10/2/26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5A8710-8889-7541-9BF7-E78AD03A798D}" type="slidenum">
              <a:rPr lang="en-US" smtClean="0"/>
              <a:t>‹#›</a:t>
            </a:fld>
            <a:endParaRPr lang="en-US"/>
          </a:p>
        </p:txBody>
      </p:sp>
    </p:spTree>
    <p:extLst>
      <p:ext uri="{BB962C8B-B14F-4D97-AF65-F5344CB8AC3E}">
        <p14:creationId xmlns:p14="http://schemas.microsoft.com/office/powerpoint/2010/main" val="3760016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3022013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history of quantum communication and cryptography goes back to 1968, when Stephen Wiesner wrote his famous but then-overlooked manuscript, “Conjugate Coding.” In it, he proposed using the polarization of light to encode and transmit information in quantum states. The key idea of conjugate coding was that information could be encoded using different, incompatible polarization bases. </a:t>
            </a:r>
          </a:p>
          <a:p>
            <a:pPr algn="just"/>
            <a:endParaRPr lang="en-ZA" dirty="0"/>
          </a:p>
          <a:p>
            <a:pPr algn="just"/>
            <a:r>
              <a:rPr lang="en-ZA" dirty="0"/>
              <a:t>The word </a:t>
            </a:r>
            <a:r>
              <a:rPr lang="en-ZA" i="1" dirty="0"/>
              <a:t>conjugate</a:t>
            </a:r>
            <a:r>
              <a:rPr lang="en-ZA" dirty="0"/>
              <a:t> means paired or related. In conjugate coding, it refers to two different quantum bases that are related but incompatible for measurement.</a:t>
            </a:r>
          </a:p>
          <a:p>
            <a:pPr algn="just"/>
            <a:endParaRPr lang="en-ZA" dirty="0"/>
          </a:p>
          <a:p>
            <a:pPr algn="just"/>
            <a:r>
              <a:rPr lang="en-ZA" dirty="0"/>
              <a:t>Wiesner’s work was so far ahead of its time that it was initially rejected and remained unpublished for more than 15 years. Today, however, Wiesner is widely recognized as one of the founding figures of quantum cryptography.</a:t>
            </a:r>
          </a:p>
          <a:p>
            <a:pPr algn="just"/>
            <a:endParaRPr lang="en-ZA" b="0" dirty="0"/>
          </a:p>
          <a:p>
            <a:pPr algn="just"/>
            <a:r>
              <a:rPr lang="en-ZA" b="0" dirty="0"/>
              <a:t>Reference</a:t>
            </a:r>
          </a:p>
          <a:p>
            <a:pPr algn="l"/>
            <a:r>
              <a:rPr lang="en-ZA" b="0" dirty="0"/>
              <a:t>Stephen Wiesner. 1983. Conjugate coding. SIGACT News 15, 1 (Winter-Spring 1983), 78–88. https://</a:t>
            </a:r>
            <a:r>
              <a:rPr lang="en-ZA" b="0" dirty="0" err="1"/>
              <a:t>doi.org</a:t>
            </a:r>
            <a:r>
              <a:rPr lang="en-ZA" b="0" dirty="0"/>
              <a:t>/10.1145/1008908.1008920</a:t>
            </a:r>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1437917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general, quantum communication relies on elementary particles of light, called photons, as carriers of information. For quantum communication, individual polarized photons can be used as qubits. Polarization refers to the orientation of the photon's electric field.</a:t>
                </a:r>
              </a:p>
              <a:p>
                <a:pPr algn="just"/>
                <a:endParaRPr lang="en-ZA" dirty="0"/>
              </a:p>
              <a:p>
                <a:pPr algn="just"/>
                <a:r>
                  <a:rPr lang="en-ZA" dirty="0"/>
                  <a:t>Photons are not only particles of light but also have wave-like properties. Light consists of electric and magnetic fields that oscillate in directions perpendicular to each other. In ordinary, unpolarized light, the electric field can oscillate in many different directions. When light passes through a polarization filter, only a particular polarization is transmitted. Different polarization directions can therefore be used to represent and encode quantum information, where polarization refers to the orientation of the photon’s electric field.</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cs typeface="Calibri" panose="020F0502020204030204" pitchFamily="34" charset="0"/>
                  </a:rPr>
                  <a:t>Kodiranje </a:t>
                </a:r>
                <a:r>
                  <a:rPr lang="en-US" sz="2000" dirty="0" err="1">
                    <a:latin typeface="+mn-lt"/>
                    <a:cs typeface="Calibri" panose="020F0502020204030204" pitchFamily="34" charset="0"/>
                  </a:rPr>
                  <a:t>i</a:t>
                </a:r>
                <a:r>
                  <a:rPr lang="en-US" sz="2000" dirty="0">
                    <a:latin typeface="+mn-lt"/>
                    <a:cs typeface="Calibri" panose="020F0502020204030204" pitchFamily="34" charset="0"/>
                  </a:rPr>
                  <a:t> </a:t>
                </a:r>
                <a:r>
                  <a:rPr lang="en-US" sz="2000" dirty="0" err="1">
                    <a:latin typeface="+mn-lt"/>
                    <a:cs typeface="Calibri" panose="020F0502020204030204" pitchFamily="34" charset="0"/>
                  </a:rPr>
                  <a:t>prenos</a:t>
                </a:r>
                <a:r>
                  <a:rPr lang="en-US" sz="2000" dirty="0">
                    <a:latin typeface="+mn-lt"/>
                    <a:cs typeface="Calibri" panose="020F0502020204030204" pitchFamily="34" charset="0"/>
                  </a:rPr>
                  <a:t> </a:t>
                </a:r>
                <a:r>
                  <a:rPr lang="en-US" sz="2000" dirty="0" err="1">
                    <a:latin typeface="+mn-lt"/>
                    <a:cs typeface="Calibri" panose="020F0502020204030204" pitchFamily="34" charset="0"/>
                  </a:rPr>
                  <a:t>podatka</a:t>
                </a:r>
                <a:r>
                  <a:rPr lang="en-US" sz="2000" dirty="0">
                    <a:latin typeface="+mn-lt"/>
                    <a:cs typeface="Calibri" panose="020F0502020204030204" pitchFamily="34" charset="0"/>
                  </a:rPr>
                  <a:t> se u </a:t>
                </a:r>
                <a:r>
                  <a:rPr lang="en-US" sz="2000" dirty="0" err="1">
                    <a:latin typeface="+mn-lt"/>
                    <a:cs typeface="Calibri" panose="020F0502020204030204" pitchFamily="34" charset="0"/>
                  </a:rPr>
                  <a:t>kvantnoj</a:t>
                </a:r>
                <a:r>
                  <a:rPr lang="en-US" sz="2000" dirty="0">
                    <a:latin typeface="+mn-lt"/>
                    <a:cs typeface="Calibri" panose="020F0502020204030204" pitchFamily="34" charset="0"/>
                  </a:rPr>
                  <a:t> </a:t>
                </a:r>
                <a:r>
                  <a:rPr lang="en-US" sz="2000" dirty="0" err="1">
                    <a:latin typeface="+mn-lt"/>
                    <a:cs typeface="Calibri" panose="020F0502020204030204" pitchFamily="34" charset="0"/>
                  </a:rPr>
                  <a:t>kritpografiji</a:t>
                </a:r>
                <a:r>
                  <a:rPr lang="en-US" sz="2000" dirty="0">
                    <a:latin typeface="+mn-lt"/>
                    <a:cs typeface="Calibri" panose="020F0502020204030204" pitchFamily="34" charset="0"/>
                  </a:rPr>
                  <a:t> </a:t>
                </a:r>
                <a:r>
                  <a:rPr lang="en-US" sz="2000" dirty="0" err="1">
                    <a:latin typeface="+mn-lt"/>
                    <a:cs typeface="Calibri" panose="020F0502020204030204" pitchFamily="34" charset="0"/>
                  </a:rPr>
                  <a:t>vrsi</a:t>
                </a:r>
                <a:r>
                  <a:rPr lang="en-US" sz="2000" dirty="0">
                    <a:latin typeface="+mn-lt"/>
                    <a:cs typeface="Calibri" panose="020F0502020204030204" pitchFamily="34" charset="0"/>
                  </a:rPr>
                  <a:t> u </a:t>
                </a:r>
                <a:r>
                  <a:rPr lang="en-US" sz="2000" dirty="0" err="1">
                    <a:latin typeface="+mn-lt"/>
                    <a:cs typeface="Calibri" panose="020F0502020204030204" pitchFamily="34" charset="0"/>
                  </a:rPr>
                  <a:t>isto</a:t>
                </a:r>
                <a:r>
                  <a:rPr lang="en-US" sz="2000" dirty="0">
                    <a:latin typeface="+mn-lt"/>
                    <a:cs typeface="Calibri" panose="020F0502020204030204" pitchFamily="34" charset="0"/>
                  </a:rPr>
                  <a:t> </a:t>
                </a:r>
                <a:r>
                  <a:rPr lang="en-US" sz="2000" dirty="0" err="1">
                    <a:latin typeface="+mn-lt"/>
                    <a:cs typeface="Calibri" panose="020F0502020204030204" pitchFamily="34" charset="0"/>
                  </a:rPr>
                  <a:t>vreme</a:t>
                </a:r>
                <a:r>
                  <a:rPr lang="en-US" sz="2000" dirty="0">
                    <a:latin typeface="+mn-lt"/>
                    <a:cs typeface="Calibri" panose="020F0502020204030204" pitchFamily="34" charset="0"/>
                  </a:rPr>
                  <a:t> </a:t>
                </a:r>
                <a:r>
                  <a:rPr lang="en-US" sz="2000" dirty="0" err="1">
                    <a:latin typeface="+mn-lt"/>
                    <a:cs typeface="Calibri" panose="020F0502020204030204" pitchFamily="34" charset="0"/>
                  </a:rPr>
                  <a:t>koristeci</a:t>
                </a:r>
                <a:r>
                  <a:rPr lang="en-US" sz="2000" dirty="0">
                    <a:latin typeface="+mn-lt"/>
                    <a:cs typeface="Calibri" panose="020F0502020204030204" pitchFamily="34" charset="0"/>
                  </a:rPr>
                  <a:t> </a:t>
                </a:r>
                <a:r>
                  <a:rPr lang="en-US" sz="2000" dirty="0" err="1">
                    <a:latin typeface="+mn-lt"/>
                    <a:cs typeface="Calibri" panose="020F0502020204030204" pitchFamily="34" charset="0"/>
                  </a:rPr>
                  <a:t>polarizovane</a:t>
                </a:r>
                <a:r>
                  <a:rPr lang="en-US" sz="2000" dirty="0">
                    <a:latin typeface="+mn-lt"/>
                    <a:cs typeface="Calibri" panose="020F0502020204030204" pitchFamily="34" charset="0"/>
                  </a:rPr>
                  <a:t> </a:t>
                </a:r>
                <a:r>
                  <a:rPr lang="en-US" sz="2000" dirty="0" err="1">
                    <a:latin typeface="+mn-lt"/>
                    <a:cs typeface="Calibri" panose="020F0502020204030204" pitchFamily="34" charset="0"/>
                  </a:rPr>
                  <a:t>cestice</a:t>
                </a:r>
                <a:r>
                  <a:rPr lang="en-US" sz="2000" dirty="0">
                    <a:latin typeface="+mn-lt"/>
                    <a:cs typeface="Calibri" panose="020F0502020204030204" pitchFamily="34" charset="0"/>
                  </a:rPr>
                  <a:t> </a:t>
                </a:r>
                <a:r>
                  <a:rPr lang="en-US" sz="2000" dirty="0" err="1">
                    <a:latin typeface="+mn-lt"/>
                    <a:cs typeface="Calibri" panose="020F0502020204030204" pitchFamily="34" charset="0"/>
                  </a:rPr>
                  <a:t>svetlosti</a:t>
                </a:r>
                <a:r>
                  <a:rPr lang="en-US" sz="2000" dirty="0">
                    <a:latin typeface="+mn-lt"/>
                    <a:cs typeface="Calibri" panose="020F0502020204030204" pitchFamily="34" charset="0"/>
                  </a:rPr>
                  <a:t>, </a:t>
                </a:r>
                <a:r>
                  <a:rPr lang="en-US" sz="2000" dirty="0" err="1">
                    <a:latin typeface="+mn-lt"/>
                    <a:cs typeface="Calibri" panose="020F0502020204030204" pitchFamily="34" charset="0"/>
                  </a:rPr>
                  <a:t>dakle</a:t>
                </a:r>
                <a:r>
                  <a:rPr lang="en-US" sz="2000" dirty="0">
                    <a:latin typeface="+mn-lt"/>
                    <a:cs typeface="Calibri" panose="020F0502020204030204" pitchFamily="34" charset="0"/>
                  </a:rPr>
                  <a:t> </a:t>
                </a:r>
                <a:r>
                  <a:rPr lang="en-US" sz="2000" dirty="0" err="1">
                    <a:latin typeface="+mn-lt"/>
                    <a:cs typeface="Calibri" panose="020F0502020204030204" pitchFamily="34" charset="0"/>
                  </a:rPr>
                  <a:t>fotone</a:t>
                </a:r>
                <a:r>
                  <a:rPr lang="en-US" sz="2000" dirty="0">
                    <a:latin typeface="+mn-lt"/>
                    <a:cs typeface="Calibri" panose="020F0502020204030204" pitchFamily="34" charset="0"/>
                  </a:rPr>
                  <a:t>, </a:t>
                </a:r>
                <a:r>
                  <a:rPr lang="en-US" sz="2000" dirty="0" err="1">
                    <a:latin typeface="+mn-lt"/>
                    <a:cs typeface="Calibri" panose="020F0502020204030204" pitchFamily="34" charset="0"/>
                  </a:rPr>
                  <a:t>kao</a:t>
                </a:r>
                <a:r>
                  <a:rPr lang="en-US" sz="2000" dirty="0">
                    <a:latin typeface="+mn-lt"/>
                    <a:cs typeface="Calibri" panose="020F0502020204030204" pitchFamily="34" charset="0"/>
                  </a:rPr>
                  <a:t> </a:t>
                </a:r>
                <a:r>
                  <a:rPr lang="en-US" sz="2000" dirty="0" err="1">
                    <a:latin typeface="+mn-lt"/>
                    <a:cs typeface="Calibri" panose="020F0502020204030204" pitchFamily="34" charset="0"/>
                  </a:rPr>
                  <a:t>kubite</a:t>
                </a:r>
                <a:r>
                  <a:rPr lang="en-US" sz="2000" dirty="0">
                    <a:latin typeface="+mn-lt"/>
                  </a:rPr>
                  <a:t>. </a:t>
                </a:r>
                <a:r>
                  <a:rPr lang="en-US" sz="2000" dirty="0" err="1">
                    <a:latin typeface="+mn-lt"/>
                  </a:rPr>
                  <a:t>Svetlost</a:t>
                </a:r>
                <a:r>
                  <a:rPr lang="en-US" sz="2000" dirty="0">
                    <a:latin typeface="+mn-lt"/>
                  </a:rPr>
                  <a:t> </a:t>
                </a:r>
                <a:r>
                  <a:rPr lang="en-US" sz="2000" dirty="0" err="1">
                    <a:latin typeface="+mn-lt"/>
                  </a:rPr>
                  <a:t>je</a:t>
                </a:r>
                <a:r>
                  <a:rPr lang="en-US" sz="2000" dirty="0">
                    <a:latin typeface="+mn-lt"/>
                  </a:rPr>
                  <a:t> </a:t>
                </a:r>
                <a:r>
                  <a:rPr lang="en-US" sz="2000" dirty="0" err="1">
                    <a:latin typeface="+mn-lt"/>
                  </a:rPr>
                  <a:t>elektromagnetni</a:t>
                </a:r>
                <a:r>
                  <a:rPr lang="en-US" sz="2000" dirty="0">
                    <a:latin typeface="+mn-lt"/>
                  </a:rPr>
                  <a:t> talas </a:t>
                </a:r>
                <a:r>
                  <a:rPr lang="en-US" sz="2000" dirty="0" err="1">
                    <a:latin typeface="+mn-lt"/>
                  </a:rPr>
                  <a:t>cije</a:t>
                </a:r>
                <a:r>
                  <a:rPr lang="en-US" sz="2000" dirty="0">
                    <a:latin typeface="+mn-lt"/>
                  </a:rPr>
                  <a:t> </a:t>
                </a:r>
                <a:r>
                  <a:rPr lang="en-US" sz="2000" dirty="0" err="1">
                    <a:latin typeface="+mn-lt"/>
                  </a:rPr>
                  <a:t>elektricno</a:t>
                </a:r>
                <a:r>
                  <a:rPr lang="en-US" sz="2000" dirty="0">
                    <a:latin typeface="+mn-lt"/>
                  </a:rPr>
                  <a:t> I </a:t>
                </a:r>
                <a:r>
                  <a:rPr lang="en-US" sz="2000" dirty="0" err="1">
                    <a:latin typeface="+mn-lt"/>
                  </a:rPr>
                  <a:t>magnetno</a:t>
                </a:r>
                <a:r>
                  <a:rPr lang="en-US" sz="2000" dirty="0">
                    <a:latin typeface="+mn-lt"/>
                  </a:rPr>
                  <a:t> polje </a:t>
                </a:r>
                <a:r>
                  <a:rPr lang="en-US" sz="2000" dirty="0" err="1">
                    <a:latin typeface="+mn-lt"/>
                  </a:rPr>
                  <a:t>osciluje</a:t>
                </a:r>
                <a:r>
                  <a:rPr lang="en-US" sz="2000" dirty="0">
                    <a:latin typeface="+mn-lt"/>
                  </a:rPr>
                  <a:t> u </a:t>
                </a:r>
                <a:r>
                  <a:rPr lang="en-US" sz="2000" dirty="0" err="1">
                    <a:latin typeface="+mn-lt"/>
                  </a:rPr>
                  <a:t>svim</a:t>
                </a:r>
                <a:r>
                  <a:rPr lang="en-US" sz="2000" dirty="0">
                    <a:latin typeface="+mn-lt"/>
                  </a:rPr>
                  <a:t> </a:t>
                </a:r>
                <a:r>
                  <a:rPr lang="en-US" sz="2000" dirty="0" err="1">
                    <a:latin typeface="+mn-lt"/>
                  </a:rPr>
                  <a:t>pravcima</a:t>
                </a:r>
                <a:r>
                  <a:rPr lang="en-US" sz="2000" dirty="0">
                    <a:latin typeface="+mn-lt"/>
                  </a:rPr>
                  <a:t>. </a:t>
                </a:r>
                <a:r>
                  <a:rPr lang="en-US" sz="2000" dirty="0" err="1">
                    <a:latin typeface="+mn-lt"/>
                  </a:rPr>
                  <a:t>Prolaskom</a:t>
                </a:r>
                <a:r>
                  <a:rPr lang="en-US" sz="2000" dirty="0">
                    <a:latin typeface="+mn-lt"/>
                  </a:rPr>
                  <a:t> </a:t>
                </a:r>
                <a:r>
                  <a:rPr lang="en-US" sz="2000" dirty="0" err="1">
                    <a:latin typeface="+mn-lt"/>
                  </a:rPr>
                  <a:t>kroz</a:t>
                </a:r>
                <a:r>
                  <a:rPr lang="en-US" sz="2000" dirty="0">
                    <a:latin typeface="+mn-lt"/>
                  </a:rPr>
                  <a:t> </a:t>
                </a:r>
                <a:r>
                  <a:rPr lang="en-US" sz="2000" dirty="0" err="1">
                    <a:latin typeface="+mn-lt"/>
                  </a:rPr>
                  <a:t>polarizacioni</a:t>
                </a:r>
                <a:r>
                  <a:rPr lang="en-US" sz="2000" dirty="0">
                    <a:latin typeface="+mn-lt"/>
                  </a:rPr>
                  <a:t> filter </a:t>
                </a:r>
                <a:r>
                  <a:rPr lang="en-US" sz="2000" dirty="0" err="1">
                    <a:latin typeface="+mn-lt"/>
                  </a:rPr>
                  <a:t>elektricno</a:t>
                </a:r>
                <a:r>
                  <a:rPr lang="en-US" sz="2000" dirty="0">
                    <a:latin typeface="+mn-lt"/>
                  </a:rPr>
                  <a:t> polje </a:t>
                </a:r>
                <a:r>
                  <a:rPr lang="en-US" sz="2000" dirty="0" err="1">
                    <a:latin typeface="+mn-lt"/>
                  </a:rPr>
                  <a:t>fotona</a:t>
                </a:r>
                <a:r>
                  <a:rPr lang="en-US" sz="2000" dirty="0">
                    <a:latin typeface="+mn-lt"/>
                  </a:rPr>
                  <a:t> se </a:t>
                </a:r>
                <a:r>
                  <a:rPr lang="en-US" sz="2000" dirty="0" err="1">
                    <a:latin typeface="+mn-lt"/>
                  </a:rPr>
                  <a:t>dovodi</a:t>
                </a:r>
                <a:r>
                  <a:rPr lang="en-US" sz="2000" dirty="0">
                    <a:latin typeface="+mn-lt"/>
                  </a:rPr>
                  <a:t> u </a:t>
                </a:r>
                <a:r>
                  <a:rPr lang="en-US" sz="2000" dirty="0" err="1">
                    <a:latin typeface="+mn-lt"/>
                  </a:rPr>
                  <a:t>stanje</a:t>
                </a:r>
                <a:r>
                  <a:rPr lang="en-US" sz="2000" dirty="0">
                    <a:latin typeface="+mn-lt"/>
                  </a:rPr>
                  <a:t> </a:t>
                </a:r>
                <a:r>
                  <a:rPr lang="en-US" sz="2000" dirty="0" err="1">
                    <a:latin typeface="+mn-lt"/>
                  </a:rPr>
                  <a:t>oscilacija</a:t>
                </a:r>
                <a:r>
                  <a:rPr lang="en-US" sz="2000" dirty="0">
                    <a:latin typeface="+mn-lt"/>
                  </a:rPr>
                  <a:t> u </a:t>
                </a:r>
                <a:r>
                  <a:rPr lang="en-US" sz="2000" dirty="0" err="1">
                    <a:latin typeface="+mn-lt"/>
                  </a:rPr>
                  <a:t>jednoj</a:t>
                </a:r>
                <a:r>
                  <a:rPr lang="en-US" sz="2000" dirty="0">
                    <a:latin typeface="+mn-lt"/>
                  </a:rPr>
                  <a:t> </a:t>
                </a:r>
                <a:r>
                  <a:rPr lang="en-US" sz="2000" dirty="0" err="1">
                    <a:latin typeface="+mn-lt"/>
                  </a:rPr>
                  <a:t>ravni</a:t>
                </a:r>
                <a:r>
                  <a:rPr lang="en-US" sz="2000" dirty="0">
                    <a:latin typeface="+mn-lt"/>
                  </a:rPr>
                  <a:t>.</a:t>
                </a:r>
                <a:endParaRPr lang="en-US" sz="2000" dirty="0">
                  <a:latin typeface="+mn-lt"/>
                  <a:cs typeface="Calibri" panose="020F0502020204030204" pitchFamily="34" charset="0"/>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latin typeface="+mn-lt"/>
                  </a:rPr>
                  <a:t>Horizontalno</a:t>
                </a:r>
                <a:r>
                  <a:rPr lang="en-US" sz="2000" dirty="0">
                    <a:latin typeface="+mn-lt"/>
                  </a:rPr>
                  <a:t> </a:t>
                </a:r>
                <a:r>
                  <a:rPr lang="en-US" sz="2000" dirty="0" err="1">
                    <a:latin typeface="+mn-lt"/>
                  </a:rPr>
                  <a:t>polarizovani</a:t>
                </a:r>
                <a:r>
                  <a:rPr lang="en-US" sz="2000" dirty="0">
                    <a:latin typeface="+mn-lt"/>
                  </a:rPr>
                  <a:t> </a:t>
                </a:r>
                <a:r>
                  <a:rPr lang="en-US" sz="2000" dirty="0" err="1">
                    <a:latin typeface="+mn-lt"/>
                  </a:rPr>
                  <a:t>foton</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|0⟩</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latin typeface="+mn-lt"/>
                  </a:rPr>
                  <a:t>Vertikalno</a:t>
                </a:r>
                <a:r>
                  <a:rPr lang="en-US" sz="2000" dirty="0">
                    <a:latin typeface="+mn-lt"/>
                  </a:rPr>
                  <a:t> </a:t>
                </a:r>
                <a:r>
                  <a:rPr lang="en-US" sz="2000" dirty="0" err="1">
                    <a:latin typeface="+mn-lt"/>
                  </a:rPr>
                  <a:t>polarizovani</a:t>
                </a:r>
                <a:r>
                  <a:rPr lang="en-US" sz="2000" dirty="0">
                    <a:latin typeface="+mn-lt"/>
                  </a:rPr>
                  <a:t> </a:t>
                </a:r>
                <a:r>
                  <a:rPr lang="en-US" sz="2000" dirty="0" err="1">
                    <a:latin typeface="+mn-lt"/>
                  </a:rPr>
                  <a:t>foton</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a:t>
                </a:r>
                <a:r>
                  <a:rPr lang="en-US" sz="2000" b="0" i="0">
                    <a:solidFill>
                      <a:schemeClr val="tx1"/>
                    </a:solidFill>
                    <a:latin typeface="+mn-lt"/>
                  </a:rPr>
                  <a:t>1⟩</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latin typeface="+mn-lt"/>
                  </a:rPr>
                  <a:t>Diajgonalno</a:t>
                </a:r>
                <a:r>
                  <a:rPr lang="en-US" sz="2000" dirty="0">
                    <a:latin typeface="+mn-lt"/>
                  </a:rPr>
                  <a:t> </a:t>
                </a:r>
                <a:r>
                  <a:rPr lang="en-US" sz="2000" dirty="0" err="1">
                    <a:latin typeface="+mn-lt"/>
                  </a:rPr>
                  <a:t>polarizovani</a:t>
                </a:r>
                <a:r>
                  <a:rPr lang="en-US" sz="2000" dirty="0">
                    <a:latin typeface="+mn-lt"/>
                  </a:rPr>
                  <a:t> pod </a:t>
                </a:r>
                <a:r>
                  <a:rPr lang="en-US" sz="2000" dirty="0" err="1">
                    <a:latin typeface="+mn-lt"/>
                  </a:rPr>
                  <a:t>uglom</a:t>
                </a:r>
                <a:r>
                  <a:rPr lang="en-US" sz="2000" dirty="0">
                    <a:latin typeface="+mn-lt"/>
                  </a:rPr>
                  <a:t> od 45</a:t>
                </a:r>
                <a:r>
                  <a:rPr lang="en-ZA" sz="2000" i="1" baseline="30000" dirty="0">
                    <a:latin typeface="+mn-lt"/>
                  </a:rPr>
                  <a:t>o</a:t>
                </a:r>
                <a:r>
                  <a:rPr lang="en-ZA" sz="2000" i="1" dirty="0">
                    <a:latin typeface="+mn-lt"/>
                  </a:rPr>
                  <a:t> </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a:t>
                </a:r>
                <a:r>
                  <a:rPr lang="en-US" sz="2000" b="0" i="0">
                    <a:solidFill>
                      <a:schemeClr val="tx1"/>
                    </a:solidFill>
                    <a:latin typeface="+mn-lt"/>
                  </a:rPr>
                  <a:t>+⟩</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latin typeface="+mn-lt"/>
                  </a:rPr>
                  <a:t>Diajgonalno </a:t>
                </a:r>
                <a:r>
                  <a:rPr lang="en-US" sz="2000" dirty="0" err="1">
                    <a:latin typeface="+mn-lt"/>
                  </a:rPr>
                  <a:t>polarizovani</a:t>
                </a:r>
                <a:r>
                  <a:rPr lang="en-US" sz="2000" dirty="0">
                    <a:latin typeface="+mn-lt"/>
                  </a:rPr>
                  <a:t> pod </a:t>
                </a:r>
                <a:r>
                  <a:rPr lang="en-US" sz="2000" dirty="0" err="1">
                    <a:latin typeface="+mn-lt"/>
                  </a:rPr>
                  <a:t>uglom</a:t>
                </a:r>
                <a:r>
                  <a:rPr lang="en-US" sz="2000" dirty="0">
                    <a:latin typeface="+mn-lt"/>
                  </a:rPr>
                  <a:t> od 135</a:t>
                </a:r>
                <a:r>
                  <a:rPr lang="en-ZA" sz="2000" i="1" baseline="30000" dirty="0">
                    <a:latin typeface="+mn-lt"/>
                  </a:rPr>
                  <a:t>o</a:t>
                </a:r>
                <a:r>
                  <a:rPr lang="en-ZA" sz="2000" i="1" dirty="0">
                    <a:latin typeface="+mn-lt"/>
                  </a:rPr>
                  <a:t> </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a:t>
                </a:r>
                <a:r>
                  <a:rPr lang="en-US" sz="2000" b="0" i="0">
                    <a:solidFill>
                      <a:schemeClr val="tx1"/>
                    </a:solidFill>
                    <a:latin typeface="+mn-lt"/>
                  </a:rPr>
                  <a:t>−⟩</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solidFill>
                      <a:schemeClr val="tx1"/>
                    </a:solidFill>
                    <a:latin typeface="+mn-lt"/>
                  </a:rPr>
                  <a:t>Kao I </a:t>
                </a:r>
                <a:r>
                  <a:rPr lang="en-US" sz="2000" dirty="0" err="1">
                    <a:solidFill>
                      <a:schemeClr val="tx1"/>
                    </a:solidFill>
                    <a:latin typeface="+mn-lt"/>
                  </a:rPr>
                  <a:t>ranije</a:t>
                </a:r>
                <a:r>
                  <a:rPr lang="en-US" sz="2000" dirty="0">
                    <a:solidFill>
                      <a:schemeClr val="tx1"/>
                    </a:solidFill>
                    <a:latin typeface="+mn-lt"/>
                  </a:rPr>
                  <a:t>, </a:t>
                </a:r>
                <a:r>
                  <a:rPr lang="en-US" sz="2000" dirty="0" err="1">
                    <a:solidFill>
                      <a:schemeClr val="tx1"/>
                    </a:solidFill>
                    <a:latin typeface="+mn-lt"/>
                  </a:rPr>
                  <a:t>kubiti</a:t>
                </a:r>
                <a:r>
                  <a:rPr lang="en-US" sz="2000" dirty="0">
                    <a:solidFill>
                      <a:schemeClr val="tx1"/>
                    </a:solidFill>
                    <a:latin typeface="+mn-lt"/>
                  </a:rPr>
                  <a:t> </a:t>
                </a:r>
                <a:r>
                  <a:rPr lang="en-US" sz="2000" i="0">
                    <a:solidFill>
                      <a:schemeClr val="tx1"/>
                    </a:solidFill>
                    <a:latin typeface="Cambria Math" panose="02040503050406030204" pitchFamily="18" charset="0"/>
                  </a:rPr>
                  <a:t>|0⟩</a:t>
                </a:r>
                <a:r>
                  <a:rPr lang="en-US" sz="2000" dirty="0">
                    <a:solidFill>
                      <a:schemeClr val="tx1"/>
                    </a:solidFill>
                    <a:latin typeface="+mn-lt"/>
                  </a:rPr>
                  <a:t> I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1⟩</a:t>
                </a:r>
                <a:r>
                  <a:rPr lang="en-US" sz="2000" dirty="0">
                    <a:solidFill>
                      <a:schemeClr val="tx1"/>
                    </a:solidFill>
                    <a:latin typeface="+mn-lt"/>
                  </a:rPr>
                  <a:t> cine </a:t>
                </a:r>
                <a:r>
                  <a:rPr lang="en-US" sz="2000" dirty="0" err="1">
                    <a:solidFill>
                      <a:schemeClr val="tx1"/>
                    </a:solidFill>
                    <a:latin typeface="+mn-lt"/>
                  </a:rPr>
                  <a:t>standardnu</a:t>
                </a:r>
                <a:r>
                  <a:rPr lang="en-US" sz="2000" dirty="0">
                    <a:solidFill>
                      <a:schemeClr val="tx1"/>
                    </a:solidFill>
                    <a:latin typeface="+mn-lt"/>
                  </a:rPr>
                  <a:t> </a:t>
                </a:r>
                <a:r>
                  <a:rPr lang="en-US" sz="2000" dirty="0" err="1">
                    <a:solidFill>
                      <a:schemeClr val="tx1"/>
                    </a:solidFill>
                    <a:latin typeface="+mn-lt"/>
                  </a:rPr>
                  <a:t>bazu</a:t>
                </a:r>
                <a:r>
                  <a:rPr lang="en-US" sz="2000" dirty="0">
                    <a:solidFill>
                      <a:schemeClr val="tx1"/>
                    </a:solidFill>
                    <a:latin typeface="+mn-lt"/>
                  </a:rPr>
                  <a:t>, a </a:t>
                </a:r>
                <a:r>
                  <a:rPr lang="en-US" sz="2000" dirty="0" err="1">
                    <a:solidFill>
                      <a:schemeClr val="tx1"/>
                    </a:solidFill>
                    <a:latin typeface="+mn-lt"/>
                  </a:rPr>
                  <a:t>kubiti</a:t>
                </a:r>
                <a:r>
                  <a:rPr lang="en-US" sz="2000" dirty="0">
                    <a:solidFill>
                      <a:schemeClr val="tx1"/>
                    </a:solidFill>
                    <a:latin typeface="+mn-lt"/>
                  </a:rPr>
                  <a:t>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solidFill>
                      <a:schemeClr val="tx1"/>
                    </a:solidFill>
                    <a:latin typeface="+mn-lt"/>
                  </a:rPr>
                  <a:t> i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solidFill>
                      <a:schemeClr val="tx1"/>
                    </a:solidFill>
                    <a:latin typeface="+mn-lt"/>
                  </a:rPr>
                  <a:t> cine </a:t>
                </a:r>
                <a:r>
                  <a:rPr lang="en-US" sz="2000" dirty="0" err="1">
                    <a:solidFill>
                      <a:schemeClr val="tx1"/>
                    </a:solidFill>
                    <a:latin typeface="+mn-lt"/>
                  </a:rPr>
                  <a:t>dijagonalnu</a:t>
                </a:r>
                <a:r>
                  <a:rPr lang="en-US" sz="2000" dirty="0">
                    <a:solidFill>
                      <a:schemeClr val="tx1"/>
                    </a:solidFill>
                    <a:latin typeface="+mn-lt"/>
                  </a:rPr>
                  <a:t> </a:t>
                </a:r>
                <a:r>
                  <a:rPr lang="en-US" sz="2000" dirty="0" err="1">
                    <a:solidFill>
                      <a:schemeClr val="tx1"/>
                    </a:solidFill>
                    <a:latin typeface="+mn-lt"/>
                  </a:rPr>
                  <a:t>bazu</a:t>
                </a:r>
                <a:r>
                  <a:rPr lang="en-US" sz="2000" dirty="0">
                    <a:solidFill>
                      <a:schemeClr val="tx1"/>
                    </a:solidFill>
                    <a:latin typeface="+mn-lt"/>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785764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Data are encoded and transmitted using polarized photons as qubits.</a:t>
                </a:r>
              </a:p>
              <a:p>
                <a:pPr algn="just"/>
                <a:endParaRPr lang="en-ZA" b="0" dirty="0"/>
              </a:p>
              <a:p>
                <a:pPr marL="171450" indent="-171450" algn="just">
                  <a:buFont typeface="Arial" panose="020B0604020202020204" pitchFamily="34" charset="0"/>
                  <a:buChar char="•"/>
                </a:pPr>
                <a:r>
                  <a:rPr lang="en-ZA" dirty="0"/>
                  <a:t>A horizontally polarized photon encodes the qubit</a:t>
                </a:r>
                <a:r>
                  <a:rPr lang="en-ZA" b="0" dirty="0"/>
                  <a:t> |0⟩.</a:t>
                </a:r>
              </a:p>
              <a:p>
                <a:pPr marL="171450" indent="-171450" algn="just">
                  <a:buFont typeface="Arial" panose="020B0604020202020204" pitchFamily="34" charset="0"/>
                  <a:buChar char="•"/>
                </a:pPr>
                <a:r>
                  <a:rPr lang="en-ZA" b="0" dirty="0"/>
                  <a:t>A vertically polarized photon encodes the qubit |1⟩.</a:t>
                </a:r>
              </a:p>
              <a:p>
                <a:pPr marL="171450" indent="-171450" algn="just">
                  <a:buFont typeface="Arial" panose="020B0604020202020204" pitchFamily="34" charset="0"/>
                  <a:buChar char="•"/>
                </a:pPr>
                <a:r>
                  <a:rPr lang="en-ZA" b="0" dirty="0"/>
                  <a:t>A diagonally polarized photon at 45° encodes the qubit |+⟩.</a:t>
                </a:r>
              </a:p>
              <a:p>
                <a:pPr marL="171450" indent="-171450" algn="just">
                  <a:buFont typeface="Arial" panose="020B0604020202020204" pitchFamily="34" charset="0"/>
                  <a:buChar char="•"/>
                </a:pPr>
                <a:r>
                  <a:rPr lang="en-ZA" b="0" dirty="0"/>
                  <a:t>A diagonally polarized photon at 135° encodes the qubit |−⟩.</a:t>
                </a:r>
              </a:p>
              <a:p>
                <a:pPr marL="171450" indent="-171450" algn="just">
                  <a:buFont typeface="Arial" panose="020B0604020202020204" pitchFamily="34" charset="0"/>
                  <a:buChar char="•"/>
                </a:pPr>
                <a:r>
                  <a:rPr lang="en-ZA" b="0" dirty="0"/>
                  <a:t>The states |0⟩ and |1⟩ form the standard (Z) basis, while |+⟩ and |−⟩ form the diagonal (X) basis.</a:t>
                </a:r>
              </a:p>
              <a:p>
                <a:pPr marL="171450" indent="-171450" algn="just">
                  <a:buFont typeface="Arial" panose="020B0604020202020204" pitchFamily="34" charset="0"/>
                  <a:buChar char="•"/>
                </a:pP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cs typeface="Calibri" panose="020F0502020204030204" pitchFamily="34" charset="0"/>
                  </a:rPr>
                  <a:t>Kodiranje </a:t>
                </a:r>
                <a:r>
                  <a:rPr lang="en-US" sz="2000" dirty="0" err="1">
                    <a:latin typeface="+mn-lt"/>
                    <a:cs typeface="Calibri" panose="020F0502020204030204" pitchFamily="34" charset="0"/>
                  </a:rPr>
                  <a:t>i</a:t>
                </a:r>
                <a:r>
                  <a:rPr lang="en-US" sz="2000" dirty="0">
                    <a:latin typeface="+mn-lt"/>
                    <a:cs typeface="Calibri" panose="020F0502020204030204" pitchFamily="34" charset="0"/>
                  </a:rPr>
                  <a:t> </a:t>
                </a:r>
                <a:r>
                  <a:rPr lang="en-US" sz="2000" dirty="0" err="1">
                    <a:latin typeface="+mn-lt"/>
                    <a:cs typeface="Calibri" panose="020F0502020204030204" pitchFamily="34" charset="0"/>
                  </a:rPr>
                  <a:t>prenos</a:t>
                </a:r>
                <a:r>
                  <a:rPr lang="en-US" sz="2000" dirty="0">
                    <a:latin typeface="+mn-lt"/>
                    <a:cs typeface="Calibri" panose="020F0502020204030204" pitchFamily="34" charset="0"/>
                  </a:rPr>
                  <a:t> </a:t>
                </a:r>
                <a:r>
                  <a:rPr lang="en-US" sz="2000" dirty="0" err="1">
                    <a:latin typeface="+mn-lt"/>
                    <a:cs typeface="Calibri" panose="020F0502020204030204" pitchFamily="34" charset="0"/>
                  </a:rPr>
                  <a:t>podatka</a:t>
                </a:r>
                <a:r>
                  <a:rPr lang="en-US" sz="2000" dirty="0">
                    <a:latin typeface="+mn-lt"/>
                    <a:cs typeface="Calibri" panose="020F0502020204030204" pitchFamily="34" charset="0"/>
                  </a:rPr>
                  <a:t> se u </a:t>
                </a:r>
                <a:r>
                  <a:rPr lang="en-US" sz="2000" dirty="0" err="1">
                    <a:latin typeface="+mn-lt"/>
                    <a:cs typeface="Calibri" panose="020F0502020204030204" pitchFamily="34" charset="0"/>
                  </a:rPr>
                  <a:t>kvantnoj</a:t>
                </a:r>
                <a:r>
                  <a:rPr lang="en-US" sz="2000" dirty="0">
                    <a:latin typeface="+mn-lt"/>
                    <a:cs typeface="Calibri" panose="020F0502020204030204" pitchFamily="34" charset="0"/>
                  </a:rPr>
                  <a:t> </a:t>
                </a:r>
                <a:r>
                  <a:rPr lang="en-US" sz="2000" dirty="0" err="1">
                    <a:latin typeface="+mn-lt"/>
                    <a:cs typeface="Calibri" panose="020F0502020204030204" pitchFamily="34" charset="0"/>
                  </a:rPr>
                  <a:t>kritpografiji</a:t>
                </a:r>
                <a:r>
                  <a:rPr lang="en-US" sz="2000" dirty="0">
                    <a:latin typeface="+mn-lt"/>
                    <a:cs typeface="Calibri" panose="020F0502020204030204" pitchFamily="34" charset="0"/>
                  </a:rPr>
                  <a:t> </a:t>
                </a:r>
                <a:r>
                  <a:rPr lang="en-US" sz="2000" dirty="0" err="1">
                    <a:latin typeface="+mn-lt"/>
                    <a:cs typeface="Calibri" panose="020F0502020204030204" pitchFamily="34" charset="0"/>
                  </a:rPr>
                  <a:t>vrsi</a:t>
                </a:r>
                <a:r>
                  <a:rPr lang="en-US" sz="2000" dirty="0">
                    <a:latin typeface="+mn-lt"/>
                    <a:cs typeface="Calibri" panose="020F0502020204030204" pitchFamily="34" charset="0"/>
                  </a:rPr>
                  <a:t> u </a:t>
                </a:r>
                <a:r>
                  <a:rPr lang="en-US" sz="2000" dirty="0" err="1">
                    <a:latin typeface="+mn-lt"/>
                    <a:cs typeface="Calibri" panose="020F0502020204030204" pitchFamily="34" charset="0"/>
                  </a:rPr>
                  <a:t>isto</a:t>
                </a:r>
                <a:r>
                  <a:rPr lang="en-US" sz="2000" dirty="0">
                    <a:latin typeface="+mn-lt"/>
                    <a:cs typeface="Calibri" panose="020F0502020204030204" pitchFamily="34" charset="0"/>
                  </a:rPr>
                  <a:t> </a:t>
                </a:r>
                <a:r>
                  <a:rPr lang="en-US" sz="2000" dirty="0" err="1">
                    <a:latin typeface="+mn-lt"/>
                    <a:cs typeface="Calibri" panose="020F0502020204030204" pitchFamily="34" charset="0"/>
                  </a:rPr>
                  <a:t>vreme</a:t>
                </a:r>
                <a:r>
                  <a:rPr lang="en-US" sz="2000" dirty="0">
                    <a:latin typeface="+mn-lt"/>
                    <a:cs typeface="Calibri" panose="020F0502020204030204" pitchFamily="34" charset="0"/>
                  </a:rPr>
                  <a:t> </a:t>
                </a:r>
                <a:r>
                  <a:rPr lang="en-US" sz="2000" dirty="0" err="1">
                    <a:latin typeface="+mn-lt"/>
                    <a:cs typeface="Calibri" panose="020F0502020204030204" pitchFamily="34" charset="0"/>
                  </a:rPr>
                  <a:t>koristeci</a:t>
                </a:r>
                <a:r>
                  <a:rPr lang="en-US" sz="2000" dirty="0">
                    <a:latin typeface="+mn-lt"/>
                    <a:cs typeface="Calibri" panose="020F0502020204030204" pitchFamily="34" charset="0"/>
                  </a:rPr>
                  <a:t> </a:t>
                </a:r>
                <a:r>
                  <a:rPr lang="en-US" sz="2000" dirty="0" err="1">
                    <a:latin typeface="+mn-lt"/>
                    <a:cs typeface="Calibri" panose="020F0502020204030204" pitchFamily="34" charset="0"/>
                  </a:rPr>
                  <a:t>polarizovane</a:t>
                </a:r>
                <a:r>
                  <a:rPr lang="en-US" sz="2000" dirty="0">
                    <a:latin typeface="+mn-lt"/>
                    <a:cs typeface="Calibri" panose="020F0502020204030204" pitchFamily="34" charset="0"/>
                  </a:rPr>
                  <a:t> </a:t>
                </a:r>
                <a:r>
                  <a:rPr lang="en-US" sz="2000" dirty="0" err="1">
                    <a:latin typeface="+mn-lt"/>
                    <a:cs typeface="Calibri" panose="020F0502020204030204" pitchFamily="34" charset="0"/>
                  </a:rPr>
                  <a:t>cestice</a:t>
                </a:r>
                <a:r>
                  <a:rPr lang="en-US" sz="2000" dirty="0">
                    <a:latin typeface="+mn-lt"/>
                    <a:cs typeface="Calibri" panose="020F0502020204030204" pitchFamily="34" charset="0"/>
                  </a:rPr>
                  <a:t> </a:t>
                </a:r>
                <a:r>
                  <a:rPr lang="en-US" sz="2000" dirty="0" err="1">
                    <a:latin typeface="+mn-lt"/>
                    <a:cs typeface="Calibri" panose="020F0502020204030204" pitchFamily="34" charset="0"/>
                  </a:rPr>
                  <a:t>svetlosti</a:t>
                </a:r>
                <a:r>
                  <a:rPr lang="en-US" sz="2000" dirty="0">
                    <a:latin typeface="+mn-lt"/>
                    <a:cs typeface="Calibri" panose="020F0502020204030204" pitchFamily="34" charset="0"/>
                  </a:rPr>
                  <a:t>, </a:t>
                </a:r>
                <a:r>
                  <a:rPr lang="en-US" sz="2000" dirty="0" err="1">
                    <a:latin typeface="+mn-lt"/>
                    <a:cs typeface="Calibri" panose="020F0502020204030204" pitchFamily="34" charset="0"/>
                  </a:rPr>
                  <a:t>dakle</a:t>
                </a:r>
                <a:r>
                  <a:rPr lang="en-US" sz="2000" dirty="0">
                    <a:latin typeface="+mn-lt"/>
                    <a:cs typeface="Calibri" panose="020F0502020204030204" pitchFamily="34" charset="0"/>
                  </a:rPr>
                  <a:t> </a:t>
                </a:r>
                <a:r>
                  <a:rPr lang="en-US" sz="2000" dirty="0" err="1">
                    <a:latin typeface="+mn-lt"/>
                    <a:cs typeface="Calibri" panose="020F0502020204030204" pitchFamily="34" charset="0"/>
                  </a:rPr>
                  <a:t>fotone</a:t>
                </a:r>
                <a:r>
                  <a:rPr lang="en-US" sz="2000" dirty="0">
                    <a:latin typeface="+mn-lt"/>
                    <a:cs typeface="Calibri" panose="020F0502020204030204" pitchFamily="34" charset="0"/>
                  </a:rPr>
                  <a:t>, </a:t>
                </a:r>
                <a:r>
                  <a:rPr lang="en-US" sz="2000" dirty="0" err="1">
                    <a:latin typeface="+mn-lt"/>
                    <a:cs typeface="Calibri" panose="020F0502020204030204" pitchFamily="34" charset="0"/>
                  </a:rPr>
                  <a:t>kao</a:t>
                </a:r>
                <a:r>
                  <a:rPr lang="en-US" sz="2000" dirty="0">
                    <a:latin typeface="+mn-lt"/>
                    <a:cs typeface="Calibri" panose="020F0502020204030204" pitchFamily="34" charset="0"/>
                  </a:rPr>
                  <a:t> </a:t>
                </a:r>
                <a:r>
                  <a:rPr lang="en-US" sz="2000" dirty="0" err="1">
                    <a:latin typeface="+mn-lt"/>
                    <a:cs typeface="Calibri" panose="020F0502020204030204" pitchFamily="34" charset="0"/>
                  </a:rPr>
                  <a:t>kubite</a:t>
                </a:r>
                <a:r>
                  <a:rPr lang="en-US" sz="2000" dirty="0">
                    <a:latin typeface="+mn-lt"/>
                  </a:rPr>
                  <a:t>. </a:t>
                </a:r>
                <a:r>
                  <a:rPr lang="en-US" sz="2000" dirty="0" err="1">
                    <a:latin typeface="+mn-lt"/>
                  </a:rPr>
                  <a:t>Svetlost</a:t>
                </a:r>
                <a:r>
                  <a:rPr lang="en-US" sz="2000" dirty="0">
                    <a:latin typeface="+mn-lt"/>
                  </a:rPr>
                  <a:t> </a:t>
                </a:r>
                <a:r>
                  <a:rPr lang="en-US" sz="2000" dirty="0" err="1">
                    <a:latin typeface="+mn-lt"/>
                  </a:rPr>
                  <a:t>je</a:t>
                </a:r>
                <a:r>
                  <a:rPr lang="en-US" sz="2000" dirty="0">
                    <a:latin typeface="+mn-lt"/>
                  </a:rPr>
                  <a:t> </a:t>
                </a:r>
                <a:r>
                  <a:rPr lang="en-US" sz="2000" dirty="0" err="1">
                    <a:latin typeface="+mn-lt"/>
                  </a:rPr>
                  <a:t>elektromagnetni</a:t>
                </a:r>
                <a:r>
                  <a:rPr lang="en-US" sz="2000" dirty="0">
                    <a:latin typeface="+mn-lt"/>
                  </a:rPr>
                  <a:t> talas </a:t>
                </a:r>
                <a:r>
                  <a:rPr lang="en-US" sz="2000" dirty="0" err="1">
                    <a:latin typeface="+mn-lt"/>
                  </a:rPr>
                  <a:t>cije</a:t>
                </a:r>
                <a:r>
                  <a:rPr lang="en-US" sz="2000" dirty="0">
                    <a:latin typeface="+mn-lt"/>
                  </a:rPr>
                  <a:t> </a:t>
                </a:r>
                <a:r>
                  <a:rPr lang="en-US" sz="2000" dirty="0" err="1">
                    <a:latin typeface="+mn-lt"/>
                  </a:rPr>
                  <a:t>elektricno</a:t>
                </a:r>
                <a:r>
                  <a:rPr lang="en-US" sz="2000" dirty="0">
                    <a:latin typeface="+mn-lt"/>
                  </a:rPr>
                  <a:t> I </a:t>
                </a:r>
                <a:r>
                  <a:rPr lang="en-US" sz="2000" dirty="0" err="1">
                    <a:latin typeface="+mn-lt"/>
                  </a:rPr>
                  <a:t>magnetno</a:t>
                </a:r>
                <a:r>
                  <a:rPr lang="en-US" sz="2000" dirty="0">
                    <a:latin typeface="+mn-lt"/>
                  </a:rPr>
                  <a:t> polje </a:t>
                </a:r>
                <a:r>
                  <a:rPr lang="en-US" sz="2000" dirty="0" err="1">
                    <a:latin typeface="+mn-lt"/>
                  </a:rPr>
                  <a:t>osciluje</a:t>
                </a:r>
                <a:r>
                  <a:rPr lang="en-US" sz="2000" dirty="0">
                    <a:latin typeface="+mn-lt"/>
                  </a:rPr>
                  <a:t> u </a:t>
                </a:r>
                <a:r>
                  <a:rPr lang="en-US" sz="2000" dirty="0" err="1">
                    <a:latin typeface="+mn-lt"/>
                  </a:rPr>
                  <a:t>svim</a:t>
                </a:r>
                <a:r>
                  <a:rPr lang="en-US" sz="2000" dirty="0">
                    <a:latin typeface="+mn-lt"/>
                  </a:rPr>
                  <a:t> </a:t>
                </a:r>
                <a:r>
                  <a:rPr lang="en-US" sz="2000" dirty="0" err="1">
                    <a:latin typeface="+mn-lt"/>
                  </a:rPr>
                  <a:t>pravcima</a:t>
                </a:r>
                <a:r>
                  <a:rPr lang="en-US" sz="2000" dirty="0">
                    <a:latin typeface="+mn-lt"/>
                  </a:rPr>
                  <a:t>. </a:t>
                </a:r>
                <a:r>
                  <a:rPr lang="en-US" sz="2000" dirty="0" err="1">
                    <a:latin typeface="+mn-lt"/>
                  </a:rPr>
                  <a:t>Prolaskom</a:t>
                </a:r>
                <a:r>
                  <a:rPr lang="en-US" sz="2000" dirty="0">
                    <a:latin typeface="+mn-lt"/>
                  </a:rPr>
                  <a:t> </a:t>
                </a:r>
                <a:r>
                  <a:rPr lang="en-US" sz="2000" dirty="0" err="1">
                    <a:latin typeface="+mn-lt"/>
                  </a:rPr>
                  <a:t>kroz</a:t>
                </a:r>
                <a:r>
                  <a:rPr lang="en-US" sz="2000" dirty="0">
                    <a:latin typeface="+mn-lt"/>
                  </a:rPr>
                  <a:t> </a:t>
                </a:r>
                <a:r>
                  <a:rPr lang="en-US" sz="2000" dirty="0" err="1">
                    <a:latin typeface="+mn-lt"/>
                  </a:rPr>
                  <a:t>polarizacioni</a:t>
                </a:r>
                <a:r>
                  <a:rPr lang="en-US" sz="2000" dirty="0">
                    <a:latin typeface="+mn-lt"/>
                  </a:rPr>
                  <a:t> filter </a:t>
                </a:r>
                <a:r>
                  <a:rPr lang="en-US" sz="2000" dirty="0" err="1">
                    <a:latin typeface="+mn-lt"/>
                  </a:rPr>
                  <a:t>elektricno</a:t>
                </a:r>
                <a:r>
                  <a:rPr lang="en-US" sz="2000" dirty="0">
                    <a:latin typeface="+mn-lt"/>
                  </a:rPr>
                  <a:t> polje </a:t>
                </a:r>
                <a:r>
                  <a:rPr lang="en-US" sz="2000" dirty="0" err="1">
                    <a:latin typeface="+mn-lt"/>
                  </a:rPr>
                  <a:t>fotona</a:t>
                </a:r>
                <a:r>
                  <a:rPr lang="en-US" sz="2000" dirty="0">
                    <a:latin typeface="+mn-lt"/>
                  </a:rPr>
                  <a:t> se </a:t>
                </a:r>
                <a:r>
                  <a:rPr lang="en-US" sz="2000" dirty="0" err="1">
                    <a:latin typeface="+mn-lt"/>
                  </a:rPr>
                  <a:t>dovodi</a:t>
                </a:r>
                <a:r>
                  <a:rPr lang="en-US" sz="2000" dirty="0">
                    <a:latin typeface="+mn-lt"/>
                  </a:rPr>
                  <a:t> u </a:t>
                </a:r>
                <a:r>
                  <a:rPr lang="en-US" sz="2000" dirty="0" err="1">
                    <a:latin typeface="+mn-lt"/>
                  </a:rPr>
                  <a:t>stanje</a:t>
                </a:r>
                <a:r>
                  <a:rPr lang="en-US" sz="2000" dirty="0">
                    <a:latin typeface="+mn-lt"/>
                  </a:rPr>
                  <a:t> </a:t>
                </a:r>
                <a:r>
                  <a:rPr lang="en-US" sz="2000" dirty="0" err="1">
                    <a:latin typeface="+mn-lt"/>
                  </a:rPr>
                  <a:t>oscilacija</a:t>
                </a:r>
                <a:r>
                  <a:rPr lang="en-US" sz="2000" dirty="0">
                    <a:latin typeface="+mn-lt"/>
                  </a:rPr>
                  <a:t> u </a:t>
                </a:r>
                <a:r>
                  <a:rPr lang="en-US" sz="2000" dirty="0" err="1">
                    <a:latin typeface="+mn-lt"/>
                  </a:rPr>
                  <a:t>jednoj</a:t>
                </a:r>
                <a:r>
                  <a:rPr lang="en-US" sz="2000" dirty="0">
                    <a:latin typeface="+mn-lt"/>
                  </a:rPr>
                  <a:t> </a:t>
                </a:r>
                <a:r>
                  <a:rPr lang="en-US" sz="2000" dirty="0" err="1">
                    <a:latin typeface="+mn-lt"/>
                  </a:rPr>
                  <a:t>ravni</a:t>
                </a:r>
                <a:r>
                  <a:rPr lang="en-US" sz="2000" dirty="0">
                    <a:latin typeface="+mn-lt"/>
                  </a:rPr>
                  <a:t>.</a:t>
                </a:r>
                <a:endParaRPr lang="en-US" sz="2000" dirty="0">
                  <a:latin typeface="+mn-lt"/>
                  <a:cs typeface="Calibri" panose="020F0502020204030204" pitchFamily="34" charset="0"/>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latin typeface="+mn-lt"/>
                  </a:rPr>
                  <a:t>Horizontalno</a:t>
                </a:r>
                <a:r>
                  <a:rPr lang="en-US" sz="2000" dirty="0">
                    <a:latin typeface="+mn-lt"/>
                  </a:rPr>
                  <a:t> </a:t>
                </a:r>
                <a:r>
                  <a:rPr lang="en-US" sz="2000" dirty="0" err="1">
                    <a:latin typeface="+mn-lt"/>
                  </a:rPr>
                  <a:t>polarizovani</a:t>
                </a:r>
                <a:r>
                  <a:rPr lang="en-US" sz="2000" dirty="0">
                    <a:latin typeface="+mn-lt"/>
                  </a:rPr>
                  <a:t> </a:t>
                </a:r>
                <a:r>
                  <a:rPr lang="en-US" sz="2000" dirty="0" err="1">
                    <a:latin typeface="+mn-lt"/>
                  </a:rPr>
                  <a:t>foton</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|0⟩</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latin typeface="+mn-lt"/>
                  </a:rPr>
                  <a:t>Vertikalno</a:t>
                </a:r>
                <a:r>
                  <a:rPr lang="en-US" sz="2000" dirty="0">
                    <a:latin typeface="+mn-lt"/>
                  </a:rPr>
                  <a:t> </a:t>
                </a:r>
                <a:r>
                  <a:rPr lang="en-US" sz="2000" dirty="0" err="1">
                    <a:latin typeface="+mn-lt"/>
                  </a:rPr>
                  <a:t>polarizovani</a:t>
                </a:r>
                <a:r>
                  <a:rPr lang="en-US" sz="2000" dirty="0">
                    <a:latin typeface="+mn-lt"/>
                  </a:rPr>
                  <a:t> </a:t>
                </a:r>
                <a:r>
                  <a:rPr lang="en-US" sz="2000" dirty="0" err="1">
                    <a:latin typeface="+mn-lt"/>
                  </a:rPr>
                  <a:t>foton</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a:t>
                </a:r>
                <a:r>
                  <a:rPr lang="en-US" sz="2000" b="0" i="0">
                    <a:solidFill>
                      <a:schemeClr val="tx1"/>
                    </a:solidFill>
                    <a:latin typeface="+mn-lt"/>
                  </a:rPr>
                  <a:t>1⟩</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latin typeface="+mn-lt"/>
                  </a:rPr>
                  <a:t>Diajgonalno</a:t>
                </a:r>
                <a:r>
                  <a:rPr lang="en-US" sz="2000" dirty="0">
                    <a:latin typeface="+mn-lt"/>
                  </a:rPr>
                  <a:t> </a:t>
                </a:r>
                <a:r>
                  <a:rPr lang="en-US" sz="2000" dirty="0" err="1">
                    <a:latin typeface="+mn-lt"/>
                  </a:rPr>
                  <a:t>polarizovani</a:t>
                </a:r>
                <a:r>
                  <a:rPr lang="en-US" sz="2000" dirty="0">
                    <a:latin typeface="+mn-lt"/>
                  </a:rPr>
                  <a:t> pod </a:t>
                </a:r>
                <a:r>
                  <a:rPr lang="en-US" sz="2000" dirty="0" err="1">
                    <a:latin typeface="+mn-lt"/>
                  </a:rPr>
                  <a:t>uglom</a:t>
                </a:r>
                <a:r>
                  <a:rPr lang="en-US" sz="2000" dirty="0">
                    <a:latin typeface="+mn-lt"/>
                  </a:rPr>
                  <a:t> od 45</a:t>
                </a:r>
                <a:r>
                  <a:rPr lang="en-ZA" sz="2000" i="1" baseline="30000" dirty="0">
                    <a:latin typeface="+mn-lt"/>
                  </a:rPr>
                  <a:t>o</a:t>
                </a:r>
                <a:r>
                  <a:rPr lang="en-ZA" sz="2000" i="1" dirty="0">
                    <a:latin typeface="+mn-lt"/>
                  </a:rPr>
                  <a:t> </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a:t>
                </a:r>
                <a:r>
                  <a:rPr lang="en-US" sz="2000" b="0" i="0">
                    <a:solidFill>
                      <a:schemeClr val="tx1"/>
                    </a:solidFill>
                    <a:latin typeface="+mn-lt"/>
                  </a:rPr>
                  <a:t>+⟩</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latin typeface="+mn-lt"/>
                  </a:rPr>
                  <a:t>Diajgonalno </a:t>
                </a:r>
                <a:r>
                  <a:rPr lang="en-US" sz="2000" dirty="0" err="1">
                    <a:latin typeface="+mn-lt"/>
                  </a:rPr>
                  <a:t>polarizovani</a:t>
                </a:r>
                <a:r>
                  <a:rPr lang="en-US" sz="2000" dirty="0">
                    <a:latin typeface="+mn-lt"/>
                  </a:rPr>
                  <a:t> pod </a:t>
                </a:r>
                <a:r>
                  <a:rPr lang="en-US" sz="2000" dirty="0" err="1">
                    <a:latin typeface="+mn-lt"/>
                  </a:rPr>
                  <a:t>uglom</a:t>
                </a:r>
                <a:r>
                  <a:rPr lang="en-US" sz="2000" dirty="0">
                    <a:latin typeface="+mn-lt"/>
                  </a:rPr>
                  <a:t> od 135</a:t>
                </a:r>
                <a:r>
                  <a:rPr lang="en-ZA" sz="2000" i="1" baseline="30000" dirty="0">
                    <a:latin typeface="+mn-lt"/>
                  </a:rPr>
                  <a:t>o</a:t>
                </a:r>
                <a:r>
                  <a:rPr lang="en-ZA" sz="2000" i="1" dirty="0">
                    <a:latin typeface="+mn-lt"/>
                  </a:rPr>
                  <a:t> </a:t>
                </a:r>
                <a:r>
                  <a:rPr lang="en-US" sz="2000" dirty="0">
                    <a:latin typeface="+mn-lt"/>
                  </a:rPr>
                  <a:t> </a:t>
                </a:r>
                <a:r>
                  <a:rPr lang="en-US" sz="2000" dirty="0" err="1">
                    <a:latin typeface="+mn-lt"/>
                  </a:rPr>
                  <a:t>kodira</a:t>
                </a:r>
                <a:r>
                  <a:rPr lang="en-US" sz="2000" dirty="0">
                    <a:latin typeface="+mn-lt"/>
                  </a:rPr>
                  <a:t> </a:t>
                </a:r>
                <a:r>
                  <a:rPr lang="en-US" sz="2000" dirty="0" err="1">
                    <a:latin typeface="+mn-lt"/>
                  </a:rPr>
                  <a:t>kubit</a:t>
                </a:r>
                <a:r>
                  <a:rPr lang="en-US" sz="2000" dirty="0">
                    <a:latin typeface="+mn-lt"/>
                  </a:rPr>
                  <a:t> </a:t>
                </a:r>
                <a:r>
                  <a:rPr lang="en-US" sz="2000" i="0">
                    <a:solidFill>
                      <a:schemeClr val="tx1"/>
                    </a:solidFill>
                    <a:latin typeface="+mn-lt"/>
                  </a:rPr>
                  <a:t>|</a:t>
                </a:r>
                <a:r>
                  <a:rPr lang="en-US" sz="2000" b="0" i="0">
                    <a:solidFill>
                      <a:schemeClr val="tx1"/>
                    </a:solidFill>
                    <a:latin typeface="+mn-lt"/>
                  </a:rPr>
                  <a:t>−⟩</a:t>
                </a: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solidFill>
                      <a:schemeClr val="tx1"/>
                    </a:solidFill>
                    <a:latin typeface="+mn-lt"/>
                  </a:rPr>
                  <a:t>Kao I </a:t>
                </a:r>
                <a:r>
                  <a:rPr lang="en-US" sz="2000" dirty="0" err="1">
                    <a:solidFill>
                      <a:schemeClr val="tx1"/>
                    </a:solidFill>
                    <a:latin typeface="+mn-lt"/>
                  </a:rPr>
                  <a:t>ranije</a:t>
                </a:r>
                <a:r>
                  <a:rPr lang="en-US" sz="2000" dirty="0">
                    <a:solidFill>
                      <a:schemeClr val="tx1"/>
                    </a:solidFill>
                    <a:latin typeface="+mn-lt"/>
                  </a:rPr>
                  <a:t>, </a:t>
                </a:r>
                <a:r>
                  <a:rPr lang="en-US" sz="2000" dirty="0" err="1">
                    <a:solidFill>
                      <a:schemeClr val="tx1"/>
                    </a:solidFill>
                    <a:latin typeface="+mn-lt"/>
                  </a:rPr>
                  <a:t>kubiti</a:t>
                </a:r>
                <a:r>
                  <a:rPr lang="en-US" sz="2000" dirty="0">
                    <a:solidFill>
                      <a:schemeClr val="tx1"/>
                    </a:solidFill>
                    <a:latin typeface="+mn-lt"/>
                  </a:rPr>
                  <a:t> </a:t>
                </a:r>
                <a:r>
                  <a:rPr lang="en-US" sz="2000" i="0">
                    <a:solidFill>
                      <a:schemeClr val="tx1"/>
                    </a:solidFill>
                    <a:latin typeface="Cambria Math" panose="02040503050406030204" pitchFamily="18" charset="0"/>
                  </a:rPr>
                  <a:t>|0⟩</a:t>
                </a:r>
                <a:r>
                  <a:rPr lang="en-US" sz="2000" dirty="0">
                    <a:solidFill>
                      <a:schemeClr val="tx1"/>
                    </a:solidFill>
                    <a:latin typeface="+mn-lt"/>
                  </a:rPr>
                  <a:t> I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1⟩</a:t>
                </a:r>
                <a:r>
                  <a:rPr lang="en-US" sz="2000" dirty="0">
                    <a:solidFill>
                      <a:schemeClr val="tx1"/>
                    </a:solidFill>
                    <a:latin typeface="+mn-lt"/>
                  </a:rPr>
                  <a:t> cine </a:t>
                </a:r>
                <a:r>
                  <a:rPr lang="en-US" sz="2000" dirty="0" err="1">
                    <a:solidFill>
                      <a:schemeClr val="tx1"/>
                    </a:solidFill>
                    <a:latin typeface="+mn-lt"/>
                  </a:rPr>
                  <a:t>standardnu</a:t>
                </a:r>
                <a:r>
                  <a:rPr lang="en-US" sz="2000" dirty="0">
                    <a:solidFill>
                      <a:schemeClr val="tx1"/>
                    </a:solidFill>
                    <a:latin typeface="+mn-lt"/>
                  </a:rPr>
                  <a:t> </a:t>
                </a:r>
                <a:r>
                  <a:rPr lang="en-US" sz="2000" dirty="0" err="1">
                    <a:solidFill>
                      <a:schemeClr val="tx1"/>
                    </a:solidFill>
                    <a:latin typeface="+mn-lt"/>
                  </a:rPr>
                  <a:t>bazu</a:t>
                </a:r>
                <a:r>
                  <a:rPr lang="en-US" sz="2000" dirty="0">
                    <a:solidFill>
                      <a:schemeClr val="tx1"/>
                    </a:solidFill>
                    <a:latin typeface="+mn-lt"/>
                  </a:rPr>
                  <a:t>, a </a:t>
                </a:r>
                <a:r>
                  <a:rPr lang="en-US" sz="2000" dirty="0" err="1">
                    <a:solidFill>
                      <a:schemeClr val="tx1"/>
                    </a:solidFill>
                    <a:latin typeface="+mn-lt"/>
                  </a:rPr>
                  <a:t>kubiti</a:t>
                </a:r>
                <a:r>
                  <a:rPr lang="en-US" sz="2000" dirty="0">
                    <a:solidFill>
                      <a:schemeClr val="tx1"/>
                    </a:solidFill>
                    <a:latin typeface="+mn-lt"/>
                  </a:rPr>
                  <a:t>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solidFill>
                      <a:schemeClr val="tx1"/>
                    </a:solidFill>
                    <a:latin typeface="+mn-lt"/>
                  </a:rPr>
                  <a:t> i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solidFill>
                      <a:schemeClr val="tx1"/>
                    </a:solidFill>
                    <a:latin typeface="+mn-lt"/>
                  </a:rPr>
                  <a:t> cine </a:t>
                </a:r>
                <a:r>
                  <a:rPr lang="en-US" sz="2000" dirty="0" err="1">
                    <a:solidFill>
                      <a:schemeClr val="tx1"/>
                    </a:solidFill>
                    <a:latin typeface="+mn-lt"/>
                  </a:rPr>
                  <a:t>dijagonalnu</a:t>
                </a:r>
                <a:r>
                  <a:rPr lang="en-US" sz="2000" dirty="0">
                    <a:solidFill>
                      <a:schemeClr val="tx1"/>
                    </a:solidFill>
                    <a:latin typeface="+mn-lt"/>
                  </a:rPr>
                  <a:t> </a:t>
                </a:r>
                <a:r>
                  <a:rPr lang="en-US" sz="2000" dirty="0" err="1">
                    <a:solidFill>
                      <a:schemeClr val="tx1"/>
                    </a:solidFill>
                    <a:latin typeface="+mn-lt"/>
                  </a:rPr>
                  <a:t>bazu</a:t>
                </a:r>
                <a:r>
                  <a:rPr lang="en-US" sz="2000" dirty="0">
                    <a:solidFill>
                      <a:schemeClr val="tx1"/>
                    </a:solidFill>
                    <a:latin typeface="+mn-lt"/>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solidFill>
                    <a:schemeClr val="tx1"/>
                  </a:solidFill>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3867665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Wiesner proposed encoding classical bits into individual photons, with each photon prepared in one of four possible polarization states, chosen from two mutually unbiased bases.</a:t>
                </a:r>
              </a:p>
              <a:p>
                <a:endParaRPr lang="en-ZA" b="0" dirty="0"/>
              </a:p>
              <a:p>
                <a:r>
                  <a:rPr lang="en-ZA" b="0" dirty="0"/>
                  <a:t>For example, before sending a message to Bob, Alice chooses one of the two bases and uses a polarization filter to encode her bits into photonic qubits.</a:t>
                </a:r>
              </a:p>
              <a:p>
                <a:endParaRPr lang="en-ZA" b="0" dirty="0"/>
              </a:p>
              <a:p>
                <a:pPr marL="171450" indent="-171450">
                  <a:buFont typeface="Arial" panose="020B0604020202020204" pitchFamily="34" charset="0"/>
                  <a:buChar char="•"/>
                </a:pPr>
                <a:r>
                  <a:rPr lang="en-ZA" b="0" dirty="0"/>
                  <a:t>If she chooses the standard basis, Alice encodes the bits using horizontal and vertical polarizations, corresponding to the qubit states {∣0⟩,∣1⟩}. </a:t>
                </a:r>
              </a:p>
              <a:p>
                <a:pPr marL="171450" indent="-171450">
                  <a:buFont typeface="Arial" panose="020B0604020202020204" pitchFamily="34" charset="0"/>
                  <a:buChar char="•"/>
                </a:pPr>
                <a:r>
                  <a:rPr lang="en-ZA" b="0" dirty="0"/>
                  <a:t>If she chooses the diagonal (conjugate) basis, she uses polarizations at +45</a:t>
                </a:r>
                <a:r>
                  <a:rPr lang="en-ZA" dirty="0"/>
                  <a:t>°</a:t>
                </a:r>
                <a:r>
                  <a:rPr lang="en-ZA" b="0" dirty="0"/>
                  <a:t> and −45</a:t>
                </a:r>
                <a:r>
                  <a:rPr lang="en-ZA" dirty="0"/>
                  <a:t>°</a:t>
                </a:r>
                <a:r>
                  <a:rPr lang="en-ZA" b="0" dirty="0"/>
                  <a:t>, corresponding to the qubit states {∣+⟩,∣−⟩}. </a:t>
                </a:r>
              </a:p>
              <a:p>
                <a:endParaRPr lang="en-ZA" b="0" dirty="0"/>
              </a:p>
              <a:p>
                <a:r>
                  <a:rPr lang="en-ZA" b="0" dirty="0"/>
                  <a:t>Bob can reliably decode each bit if he measures the photon using the same basis that Alice used for encoding. If he uses the other basis, his measurement result is random.</a:t>
                </a:r>
              </a:p>
            </p:txBody>
          </p:sp>
        </mc:Choice>
        <mc:Fallback xmlns="">
          <p:sp>
            <p:nvSpPr>
              <p:cNvPr id="3" name="Notes Placeholder 2"/>
              <p:cNvSpPr>
                <a:spLocks noGrp="1"/>
              </p:cNvSpPr>
              <p:nvPr>
                <p:ph type="body" idx="1"/>
              </p:nvPr>
            </p:nvSpPr>
            <p:spPr/>
            <p:txBody>
              <a:bodyPr/>
              <a:lstStyle/>
              <a:p>
                <a:pPr algn="just"/>
                <a:r>
                  <a:rPr lang="en-ZA" b="0" dirty="0"/>
                  <a:t>Stephen Wiesner’s </a:t>
                </a:r>
                <a:r>
                  <a:rPr lang="en-ZA" b="0" dirty="0" err="1"/>
                  <a:t>groundbreaking</a:t>
                </a:r>
                <a:r>
                  <a:rPr lang="en-ZA" b="0" dirty="0"/>
                  <a:t> idea, presented in his manuscript </a:t>
                </a:r>
                <a:r>
                  <a:rPr lang="en-ZA" b="0" i="1" dirty="0"/>
                  <a:t>Conjugate Coding</a:t>
                </a:r>
                <a:r>
                  <a:rPr lang="en-ZA" b="0" dirty="0"/>
                  <a:t>, introduced the concept of encoding classical information into quantum states using non-orthogonal (conjugate) bases. His insight laid the foundation for much of modern quantum cryptography.</a:t>
                </a:r>
              </a:p>
              <a:p>
                <a:pPr algn="just"/>
                <a:endParaRPr lang="en-ZA" b="0" dirty="0"/>
              </a:p>
              <a:p>
                <a:pPr algn="just"/>
                <a:r>
                  <a:rPr lang="en-ZA" b="0" dirty="0"/>
                  <a:t>Wiesner proposed encoding classical bits in individual photons, each prepared in one of four polarization states, chosen from two mutually conjugate bases. For example:</a:t>
                </a:r>
              </a:p>
              <a:p>
                <a:pPr algn="just"/>
                <a:endParaRPr lang="en-ZA" b="0" dirty="0"/>
              </a:p>
              <a:p>
                <a:pPr algn="just"/>
                <a:r>
                  <a:rPr lang="en-ZA" b="0" dirty="0"/>
                  <a:t>Rectilinear basis (standard computational basis):</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en-US" sz="1200" i="0">
                    <a:solidFill>
                      <a:srgbClr val="002060"/>
                    </a:solidFill>
                    <a:latin typeface="Cambria Math" panose="02040503050406030204" pitchFamily="18" charset="0"/>
                    <a:ea typeface="Cambria Math" panose="02040503050406030204" pitchFamily="18" charset="0"/>
                  </a:rPr>
                  <a:t>├ |0⟩</a:t>
                </a:r>
                <a:r>
                  <a:rPr lang="en-ZA" b="0" dirty="0"/>
                  <a:t> → horizontal polarization</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a:t>
                </a:r>
                <a:r>
                  <a:rPr lang="en-ZA" b="0" dirty="0"/>
                  <a:t> </a:t>
                </a:r>
                <a:r>
                  <a:rPr lang="en-ZA" dirty="0"/>
                  <a:t>↑</a:t>
                </a:r>
                <a:r>
                  <a:rPr lang="en-ZA" b="0" dirty="0"/>
                  <a:t> vertical polarization</a:t>
                </a:r>
              </a:p>
              <a:p>
                <a:pPr marL="457200" marR="0" lvl="1"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Diagonal basis (conjugate basis):</a:t>
                </a:r>
              </a:p>
              <a:p>
                <a:pPr lvl="1" algn="just"/>
                <a:r>
                  <a:rPr lang="en-ZA" b="0" dirty="0"/>
                  <a:t>∣+⟩= </a:t>
                </a:r>
                <a:r>
                  <a:rPr lang="en-US" sz="1200" i="0">
                    <a:solidFill>
                      <a:srgbClr val="002060"/>
                    </a:solidFill>
                    <a:latin typeface="Cambria Math" panose="02040503050406030204" pitchFamily="18" charset="0"/>
                    <a:ea typeface="Cambria Math" panose="02040503050406030204" pitchFamily="18" charset="0"/>
                  </a:rPr>
                  <a:t>↗</a:t>
                </a:r>
                <a:r>
                  <a:rPr lang="en-ZA" b="0" dirty="0"/>
                  <a:t> +45° polarization</a:t>
                </a:r>
              </a:p>
              <a:p>
                <a:pPr lvl="1" algn="just"/>
                <a:r>
                  <a:rPr lang="en-ZA" b="0" dirty="0"/>
                  <a:t>∣−⟩= </a:t>
                </a:r>
                <a:r>
                  <a:rPr lang="en-US" sz="1200" i="0">
                    <a:solidFill>
                      <a:srgbClr val="002060"/>
                    </a:solidFill>
                    <a:latin typeface="Cambria Math" panose="02040503050406030204" pitchFamily="18" charset="0"/>
                    <a:ea typeface="Cambria Math" panose="02040503050406030204" pitchFamily="18" charset="0"/>
                  </a:rPr>
                  <a:t>↖</a:t>
                </a:r>
                <a:r>
                  <a:rPr lang="en-ZA" b="0" dirty="0"/>
                  <a:t> −45° polarization</a:t>
                </a:r>
              </a:p>
              <a:p>
                <a:pPr lvl="1" algn="just"/>
                <a:endParaRPr lang="en-ZA" b="0" dirty="0"/>
              </a:p>
              <a:p>
                <a:pPr algn="just"/>
                <a:r>
                  <a:rPr lang="en-ZA" b="0" dirty="0"/>
                  <a:t>Only one message is sent, but it can be interpreted (measured) in two incompatible ways, with only one yielding correct results per bit.</a:t>
                </a:r>
              </a:p>
              <a:p>
                <a:pPr lvl="1" algn="just"/>
                <a:endParaRPr lang="en-ZA" b="0" dirty="0"/>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5</a:t>
            </a:fld>
            <a:endParaRPr lang="en-US"/>
          </a:p>
        </p:txBody>
      </p:sp>
    </p:spTree>
    <p:extLst>
      <p:ext uri="{BB962C8B-B14F-4D97-AF65-F5344CB8AC3E}">
        <p14:creationId xmlns:p14="http://schemas.microsoft.com/office/powerpoint/2010/main" val="1502786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ZA" b="0" dirty="0"/>
                  <a:t>In the standard basis measurement:</a:t>
                </a:r>
              </a:p>
              <a:p>
                <a:pPr marL="228600" indent="-228600" algn="just">
                  <a:buFont typeface="+mj-lt"/>
                  <a:buAutoNum type="arabicPeriod"/>
                </a:pPr>
                <a:endParaRPr lang="en-ZA" b="0" dirty="0"/>
              </a:p>
              <a:p>
                <a:pPr marL="228600" indent="-228600" algn="just">
                  <a:buFont typeface="+mj-lt"/>
                  <a:buAutoNum type="arabicPeriod"/>
                </a:pPr>
                <a:r>
                  <a:rPr lang="en-ZA" dirty="0"/>
                  <a:t>If a horizontally polarized photon reaches the detector, it is detected as 0</a:t>
                </a:r>
                <a:r>
                  <a:rPr lang="en-ZA" b="0" dirty="0"/>
                  <a:t>.</a:t>
                </a:r>
              </a:p>
              <a:p>
                <a:pPr marL="228600" indent="-228600" algn="just">
                  <a:buFont typeface="+mj-lt"/>
                  <a:buAutoNum type="arabicPeriod"/>
                </a:pPr>
                <a:r>
                  <a:rPr lang="en-ZA" dirty="0"/>
                  <a:t>If a vertically polarized photon reaches the detector, it is detected as 1.</a:t>
                </a:r>
                <a:r>
                  <a:rPr lang="en-ZA" b="0" dirty="0"/>
                  <a:t>.</a:t>
                </a:r>
              </a:p>
              <a:p>
                <a:pPr marL="228600" indent="-228600" algn="just">
                  <a:buFont typeface="+mj-lt"/>
                  <a:buAutoNum type="arabicPeriod"/>
                </a:pPr>
                <a:r>
                  <a:rPr lang="en-ZA" dirty="0"/>
                  <a:t>However, if a +45° diagonally polarized photon reaches the detector, it is detected as 0 or 1, each with a 50% probability. This is because ∣+⟩ is a superposition of ∣0⟩ and ∣1⟩, and when measured, the superposition collapses to one of these states.</a:t>
                </a:r>
                <a:r>
                  <a:rPr lang="en-ZA" b="0" dirty="0"/>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The same applies to a −45° diagonally polarized photon. </a:t>
                </a:r>
              </a:p>
              <a:p>
                <a:pPr marL="0" indent="0" algn="just">
                  <a:buFont typeface="+mj-lt"/>
                  <a:buNone/>
                </a:pPr>
                <a:endParaRPr lang="en-ZA" b="0" dirty="0"/>
              </a:p>
              <a:p>
                <a:pPr algn="just"/>
                <a:endParaRPr lang="en-ZA" b="0" dirty="0"/>
              </a:p>
            </p:txBody>
          </p:sp>
        </mc:Choice>
        <mc:Fallback xmlns="">
          <p:sp>
            <p:nvSpPr>
              <p:cNvPr id="3" name="Notes Placeholder 2"/>
              <p:cNvSpPr>
                <a:spLocks noGrp="1"/>
              </p:cNvSpPr>
              <p:nvPr>
                <p:ph type="body" idx="1"/>
              </p:nvPr>
            </p:nvSpPr>
            <p:spPr/>
            <p:txBody>
              <a:bodyPr/>
              <a:lstStyle/>
              <a:p>
                <a:r>
                  <a:rPr lang="en-US" sz="2200" dirty="0"/>
                  <a:t>As horizontal and vertical polarizers are mutually exclusive, Bob can combine them into one instrument that detects horizontally or vertically polarized light as 0 or 1.</a:t>
                </a:r>
              </a:p>
              <a:p>
                <a:pPr marL="457200" indent="-457200">
                  <a:buFont typeface="+mj-lt"/>
                  <a:buAutoNum type="arabicPeriod"/>
                </a:pPr>
                <a:r>
                  <a:rPr lang="en-US" sz="2200" dirty="0"/>
                  <a:t>If incoming photon has horizontal polarization it will be detected as a bit 0,</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dirty="0"/>
                  <a:t>If incoming photon has vertical polarization it will be detected as a bit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dirty="0"/>
                  <a:t>What happens if the photon is diagonally polarized? This type of polarization is in quantum mechanics treated as superposition of horizontal and vertical polarization which is represented  </a:t>
                </a:r>
                <a:r>
                  <a:rPr lang="en-US" sz="2200" b="0" dirty="0"/>
                  <a:t>as a geometrical sum of </a:t>
                </a:r>
                <a:r>
                  <a:rPr lang="en-US" sz="2200" i="0">
                    <a:solidFill>
                      <a:schemeClr val="tx1"/>
                    </a:solidFill>
                    <a:latin typeface="Cambria Math" panose="02040503050406030204" pitchFamily="18" charset="0"/>
                  </a:rPr>
                  <a:t>|0⟩</a:t>
                </a:r>
                <a:r>
                  <a:rPr lang="en-US" sz="2200" dirty="0"/>
                  <a:t> and</a:t>
                </a:r>
                <a:r>
                  <a:rPr lang="en-US" sz="2200" baseline="0" dirty="0"/>
                  <a:t>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1⟩</a:t>
                </a:r>
                <a:r>
                  <a:rPr lang="en-US" sz="2200" dirty="0"/>
                  <a:t>. So, instead of detecting nothing,</a:t>
                </a:r>
                <a:r>
                  <a:rPr lang="en-US" sz="2200" baseline="0" dirty="0"/>
                  <a:t> Bob will randomly detect either 0 or 1 with the same probability.</a:t>
                </a:r>
                <a:endParaRPr lang="en-US" sz="22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The same applies for –diagonal polarization.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Bob can also turn the instrument for 45 degrees anticlockwise so he can now measure photons diagonally polarized.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A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a:t>
                </a:r>
                <a:r>
                  <a:rPr lang="en-US" sz="2200" b="0" dirty="0"/>
                  <a:t> photon is now correctly detected,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Same as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a:t>
                </a:r>
                <a:r>
                  <a:rPr lang="en-US" sz="2200" b="0" dirty="0"/>
                  <a:t> photon.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But </a:t>
                </a:r>
                <a:r>
                  <a:rPr lang="en-US" sz="2200" i="0">
                    <a:solidFill>
                      <a:schemeClr val="tx1"/>
                    </a:solidFill>
                    <a:latin typeface="Cambria Math" panose="02040503050406030204" pitchFamily="18" charset="0"/>
                  </a:rPr>
                  <a:t>|0⟩</a:t>
                </a:r>
                <a:r>
                  <a:rPr lang="en-US" sz="2200" dirty="0"/>
                  <a:t>s </a:t>
                </a:r>
                <a:r>
                  <a:rPr lang="en-US" sz="2200" b="0" dirty="0"/>
                  <a:t> are half of the time detected as 0 and half of the time as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The same applies for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1⟩</a:t>
                </a:r>
                <a:r>
                  <a:rPr lang="en-US" sz="2200" dirty="0"/>
                  <a:t> </a:t>
                </a:r>
                <a:r>
                  <a:rPr lang="en-US" sz="2200" b="0" dirty="0"/>
                  <a: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200" b="0" dirty="0"/>
                  <a:t>In summary, when Bob’s measurement basis is the same as the encoding basis he will correctly detects bits. If Bob measure in different basis, he will make 50% error.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200"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4223868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ZA" b="0" dirty="0"/>
                  <a:t>If the detector is rotated by 45</a:t>
                </a:r>
                <a:r>
                  <a:rPr lang="en-ZA" dirty="0"/>
                  <a:t>°</a:t>
                </a:r>
                <a:r>
                  <a:rPr lang="en-ZA" b="0" dirty="0"/>
                  <a:t> the measurement is performed in the diagonal basis.</a:t>
                </a:r>
              </a:p>
              <a:p>
                <a:pPr marL="0" indent="0" algn="just">
                  <a:buFont typeface="+mj-lt"/>
                  <a:buNone/>
                </a:pPr>
                <a:endParaRPr lang="en-ZA" b="0" dirty="0"/>
              </a:p>
              <a:p>
                <a:pPr marL="228600" indent="-228600" algn="just">
                  <a:buFont typeface="+mj-lt"/>
                  <a:buAutoNum type="arabicPeriod"/>
                </a:pPr>
                <a:r>
                  <a:rPr lang="en-ZA" dirty="0"/>
                  <a:t>A photon in the state ∣+⟩ will be detected as 0.</a:t>
                </a:r>
                <a:endParaRPr lang="en-ZA" b="0" dirty="0"/>
              </a:p>
              <a:p>
                <a:pPr marL="228600" indent="-228600" algn="just">
                  <a:buFont typeface="+mj-lt"/>
                  <a:buAutoNum type="arabicPeriod"/>
                </a:pPr>
                <a:r>
                  <a:rPr lang="en-ZA" dirty="0"/>
                  <a:t>A photon in the state ∣−⟩ will be detected as 1.</a:t>
                </a:r>
              </a:p>
              <a:p>
                <a:pPr marL="228600" indent="-228600" algn="just">
                  <a:buFont typeface="+mj-lt"/>
                  <a:buAutoNum type="arabicPeriod"/>
                </a:pPr>
                <a:r>
                  <a:rPr lang="en-ZA" dirty="0"/>
                  <a:t>Since ∣0⟩ can be expressed as a superposition of ∣+⟩ and ∣−⟩, measuring it in the diagonal basis produces a random result: 0 or 1, each with a 50% probability. </a:t>
                </a:r>
              </a:p>
              <a:p>
                <a:pPr marL="228600" indent="-228600" algn="just">
                  <a:buFont typeface="+mj-lt"/>
                  <a:buAutoNum type="arabicPeriod"/>
                </a:pPr>
                <a:r>
                  <a:rPr lang="en-ZA" dirty="0"/>
                  <a:t>The same applies to ∣1⟩.</a:t>
                </a:r>
              </a:p>
              <a:p>
                <a:pPr marL="228600" indent="-228600" algn="just">
                  <a:buFont typeface="+mj-lt"/>
                  <a:buAutoNum type="arabicPeriod"/>
                </a:pPr>
                <a:endParaRPr lang="en-ZA"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In general, if the measurement basis matches the encoding basis, the encoded bit is correctly detected. However, if the bases do not match, the measurement produces a random bit. These simple rules form the foundation of quantum communication and cryptographic protocols.</a:t>
                </a:r>
                <a:endParaRPr lang="en-ZA" b="0" dirty="0"/>
              </a:p>
              <a:p>
                <a:pPr marL="228600" indent="-228600" algn="just">
                  <a:buFont typeface="+mj-lt"/>
                  <a:buAutoNum type="arabicPeriod"/>
                </a:pPr>
                <a:endParaRPr lang="en-ZA" dirty="0"/>
              </a:p>
            </p:txBody>
          </p:sp>
        </mc:Choice>
        <mc:Fallback xmlns="">
          <p:sp>
            <p:nvSpPr>
              <p:cNvPr id="3" name="Notes Placeholder 2"/>
              <p:cNvSpPr>
                <a:spLocks noGrp="1"/>
              </p:cNvSpPr>
              <p:nvPr>
                <p:ph type="body" idx="1"/>
              </p:nvPr>
            </p:nvSpPr>
            <p:spPr/>
            <p:txBody>
              <a:bodyPr/>
              <a:lstStyle/>
              <a:p>
                <a:r>
                  <a:rPr lang="en-US" sz="2200" dirty="0"/>
                  <a:t>As horizontal and vertical polarizers are mutually exclusive, Bob can combine them into one instrument that detects horizontally or vertically polarized light as 0 or 1.</a:t>
                </a:r>
              </a:p>
              <a:p>
                <a:pPr marL="457200" indent="-457200">
                  <a:buFont typeface="+mj-lt"/>
                  <a:buAutoNum type="arabicPeriod"/>
                </a:pPr>
                <a:r>
                  <a:rPr lang="en-US" sz="2200" dirty="0"/>
                  <a:t>If incoming photon has horizontal polarization it will be detected as a bit 0,</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dirty="0"/>
                  <a:t>If incoming photon has vertical polarization it will be detected as a bit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dirty="0"/>
                  <a:t>What happens if the photon is diagonally polarized? This type of polarization is in quantum mechanics treated as superposition of horizontal and vertical polarization which is represented  </a:t>
                </a:r>
                <a:r>
                  <a:rPr lang="en-US" sz="2200" b="0" dirty="0"/>
                  <a:t>as a geometrical sum of </a:t>
                </a:r>
                <a:r>
                  <a:rPr lang="en-US" sz="2200" i="0">
                    <a:solidFill>
                      <a:schemeClr val="tx1"/>
                    </a:solidFill>
                    <a:latin typeface="Cambria Math" panose="02040503050406030204" pitchFamily="18" charset="0"/>
                  </a:rPr>
                  <a:t>|0⟩</a:t>
                </a:r>
                <a:r>
                  <a:rPr lang="en-US" sz="2200" dirty="0"/>
                  <a:t> and</a:t>
                </a:r>
                <a:r>
                  <a:rPr lang="en-US" sz="2200" baseline="0" dirty="0"/>
                  <a:t>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1⟩</a:t>
                </a:r>
                <a:r>
                  <a:rPr lang="en-US" sz="2200" dirty="0"/>
                  <a:t>. So, instead of detecting nothing,</a:t>
                </a:r>
                <a:r>
                  <a:rPr lang="en-US" sz="2200" baseline="0" dirty="0"/>
                  <a:t> Bob will randomly detect either 0 or 1 with the same probability.</a:t>
                </a:r>
                <a:endParaRPr lang="en-US" sz="22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The same applies for –diagonal polarization.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Bob can also turn the instrument for 45 degrees anticlockwise so he can now measure photons diagonally polarized.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A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a:t>
                </a:r>
                <a:r>
                  <a:rPr lang="en-US" sz="2200" b="0" dirty="0"/>
                  <a:t> photon is now correctly detected,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Same as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a:t>
                </a:r>
                <a:r>
                  <a:rPr lang="en-US" sz="2200" b="0" dirty="0"/>
                  <a:t> photon.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But </a:t>
                </a:r>
                <a:r>
                  <a:rPr lang="en-US" sz="2200" i="0">
                    <a:solidFill>
                      <a:schemeClr val="tx1"/>
                    </a:solidFill>
                    <a:latin typeface="Cambria Math" panose="02040503050406030204" pitchFamily="18" charset="0"/>
                  </a:rPr>
                  <a:t>|0⟩</a:t>
                </a:r>
                <a:r>
                  <a:rPr lang="en-US" sz="2200" dirty="0"/>
                  <a:t>s </a:t>
                </a:r>
                <a:r>
                  <a:rPr lang="en-US" sz="2200" b="0" dirty="0"/>
                  <a:t> are half of the time detected as 0 and half of the time as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200" b="0" dirty="0"/>
                  <a:t>The same applies for </a:t>
                </a:r>
                <a:r>
                  <a:rPr lang="en-US" sz="2200" i="0">
                    <a:solidFill>
                      <a:schemeClr val="tx1"/>
                    </a:solidFill>
                    <a:latin typeface="Cambria Math" panose="02040503050406030204" pitchFamily="18" charset="0"/>
                  </a:rPr>
                  <a:t>|</a:t>
                </a:r>
                <a:r>
                  <a:rPr lang="en-US" sz="2200" b="0" i="0">
                    <a:solidFill>
                      <a:schemeClr val="tx1"/>
                    </a:solidFill>
                    <a:latin typeface="Cambria Math" panose="02040503050406030204" pitchFamily="18" charset="0"/>
                  </a:rPr>
                  <a:t>1⟩</a:t>
                </a:r>
                <a:r>
                  <a:rPr lang="en-US" sz="2200" dirty="0"/>
                  <a:t> </a:t>
                </a:r>
                <a:r>
                  <a:rPr lang="en-US" sz="2200" b="0" dirty="0"/>
                  <a: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200" b="0" dirty="0"/>
                  <a:t>In summary, when Bob’s measurement basis is the same as the encoding basis he will correctly detects bits. If Bob measure in different basis, he will make 50% error.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200"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1144692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entanglement plays an important role not only in quantum communication and cryptography, but also in quantum computing in general.</a:t>
            </a:r>
          </a:p>
          <a:p>
            <a:pPr algn="just"/>
            <a:endParaRPr lang="en-ZA" b="0" dirty="0"/>
          </a:p>
          <a:p>
            <a:pPr algn="just"/>
            <a:r>
              <a:rPr lang="en-ZA" b="0" dirty="0"/>
              <a:t>Quantum entanglement occurs when two or more qubits share a single combined quantum state that cannot be described independently. The qubits become strongly correlated, so measuring one provides information about the other, even when they are far apart.</a:t>
            </a:r>
          </a:p>
        </p:txBody>
      </p:sp>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4194963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dirty="0"/>
                  <a:t>To create a two-qubit entangled state, start with two qubits initialized to the state  ∣00⟩. </a:t>
                </a:r>
              </a:p>
              <a:p>
                <a:pPr marL="171450" indent="-171450">
                  <a:buFont typeface="Arial" panose="020B0604020202020204" pitchFamily="34" charset="0"/>
                  <a:buChar char="•"/>
                </a:pPr>
                <a:r>
                  <a:rPr lang="en-ZA" dirty="0"/>
                  <a:t>Next, applying the Hadamard gate to the first qubit puts it into superposition, while the second qubit remains in the state ∣0⟩ ∣0⟩: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e>
                      </m:d>
                    </m:oMath>
                  </m:oMathPara>
                </a14:m>
                <a:endParaRPr lang="en-ZA" dirty="0"/>
              </a:p>
              <a:p>
                <a:pPr marL="171450" indent="-171450">
                  <a:buFont typeface="Arial" panose="020B0604020202020204" pitchFamily="34" charset="0"/>
                  <a:buChar char="•"/>
                </a:pPr>
                <a:r>
                  <a:rPr lang="en-ZA" dirty="0"/>
                  <a:t>Finally, the CNOT gate flips the second (target) qubit when the first (control) qubit is ∣1⟩. Therefore, only the target qubit in the second component of the superposition is flipped: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endParaRPr lang="en-ZA" dirty="0"/>
              </a:p>
              <a:p>
                <a:pPr marL="171450" indent="-171450">
                  <a:buFont typeface="Arial" panose="020B0604020202020204" pitchFamily="34" charset="0"/>
                  <a:buChar char="•"/>
                </a:pPr>
                <a:endParaRPr lang="en-ZA" dirty="0"/>
              </a:p>
              <a:p>
                <a:r>
                  <a:rPr lang="en-ZA" dirty="0"/>
                  <a:t>This creates the Bell state denoted by</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p>
                          <m:sSupPr>
                            <m:ctrlPr>
                              <a:rPr lang="en-US" sz="1200" i="1" smtClean="0">
                                <a:solidFill>
                                  <a:srgbClr val="002060"/>
                                </a:solidFill>
                                <a:latin typeface="Cambria Math" panose="02040503050406030204" pitchFamily="18" charset="0"/>
                                <a:ea typeface="Cambria Math" panose="02040503050406030204" pitchFamily="18" charset="0"/>
                              </a:rPr>
                            </m:ctrlPr>
                          </m:sSupPr>
                          <m:e>
                            <m:r>
                              <m:rPr>
                                <m:sty m:val="p"/>
                              </m:rPr>
                              <a:rPr lang="el-GR" sz="1200" i="1">
                                <a:solidFill>
                                  <a:srgbClr val="002060"/>
                                </a:solidFill>
                                <a:latin typeface="Cambria Math" panose="02040503050406030204" pitchFamily="18" charset="0"/>
                                <a:ea typeface="Cambria Math" panose="02040503050406030204" pitchFamily="18" charset="0"/>
                              </a:rPr>
                              <m:t>Φ</m:t>
                            </m:r>
                          </m:e>
                          <m:sup>
                            <m:r>
                              <a:rPr lang="sr-Latn-RS" sz="1200" b="0" i="1" smtClean="0">
                                <a:solidFill>
                                  <a:srgbClr val="002060"/>
                                </a:solidFill>
                                <a:latin typeface="Cambria Math" panose="02040503050406030204" pitchFamily="18" charset="0"/>
                                <a:ea typeface="Cambria Math" panose="02040503050406030204" pitchFamily="18" charset="0"/>
                              </a:rPr>
                              <m:t>+</m:t>
                            </m:r>
                          </m:sup>
                        </m:sSup>
                      </m:e>
                    </m:d>
                  </m:oMath>
                </a14:m>
                <a:r>
                  <a:rPr lang="el-GR" b="0" dirty="0"/>
                  <a:t> </a:t>
                </a:r>
                <a:r>
                  <a:rPr lang="en-US" b="0" dirty="0"/>
                  <a:t>or </a:t>
                </a:r>
                <a14:m>
                  <m:oMath xmlns:m="http://schemas.openxmlformats.org/officeDocument/2006/math">
                    <m:d>
                      <m:dPr>
                        <m:begChr m:val=""/>
                        <m:endChr m:val="⟩"/>
                        <m:ctrlPr>
                          <a:rPr lang="en-US" sz="1200" b="0" i="1" smtClean="0">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dirty="0"/>
                  <a:t>. </a:t>
                </a:r>
              </a:p>
              <a:p>
                <a:endParaRPr lang="en-ZA" dirty="0"/>
              </a:p>
              <a:p>
                <a:r>
                  <a:rPr lang="en-ZA" dirty="0"/>
                  <a:t>The Bell states are named after physicist John Bell, whose pioneering work on quantum entanglement was carried out long before quantum computers were developed.</a:t>
                </a:r>
                <a:endParaRPr lang="en-ZA" b="0" dirty="0"/>
              </a:p>
            </p:txBody>
          </p:sp>
        </mc:Choice>
        <mc:Fallback xmlns="">
          <p:sp>
            <p:nvSpPr>
              <p:cNvPr id="3" name="Notes Placeholder 2"/>
              <p:cNvSpPr>
                <a:spLocks noGrp="1"/>
              </p:cNvSpPr>
              <p:nvPr>
                <p:ph type="body" idx="1"/>
              </p:nvPr>
            </p:nvSpPr>
            <p:spPr/>
            <p:txBody>
              <a:bodyPr/>
              <a:lstStyle/>
              <a:p>
                <a:pPr algn="just"/>
                <a:r>
                  <a:rPr lang="en-ZA" b="0" dirty="0"/>
                  <a:t>There are exactly four maximally entangled states, known as Bell states.</a:t>
                </a:r>
              </a:p>
              <a:p>
                <a:pPr algn="just"/>
                <a:endParaRPr lang="en-ZA" b="0" dirty="0"/>
              </a:p>
              <a:p>
                <a:pPr algn="just"/>
                <a:r>
                  <a:rPr lang="en-ZA" b="0" dirty="0"/>
                  <a:t>The first of these states is traditionally denoted by physicists as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Φ</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l-GR" b="0" dirty="0"/>
                  <a:t>. </a:t>
                </a:r>
                <a:r>
                  <a:rPr lang="en-ZA" b="0" dirty="0"/>
                  <a:t>However, in computer science, we will label it as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b="0" dirty="0"/>
                  <a:t>​. This entangled state is generated by the Bell state preparation circuit, shown in the image. </a:t>
                </a:r>
                <a:r>
                  <a:rPr lang="en-ZA" dirty="0"/>
                  <a:t>The index '00' in the state name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dirty="0"/>
                  <a:t>​ corresponds to the input qubits being initialized in the state </a:t>
                </a:r>
                <a:r>
                  <a:rPr lang="en-US" sz="1200" i="0">
                    <a:solidFill>
                      <a:srgbClr val="002060"/>
                    </a:solidFill>
                    <a:latin typeface="Cambria Math" panose="02040503050406030204" pitchFamily="18" charset="0"/>
                    <a:ea typeface="Cambria Math" panose="02040503050406030204" pitchFamily="18" charset="0"/>
                  </a:rPr>
                  <a:t>├ |0</a:t>
                </a:r>
                <a:r>
                  <a:rPr lang="en-US" sz="1200" b="0" i="0">
                    <a:solidFill>
                      <a:srgbClr val="002060"/>
                    </a:solidFill>
                    <a:latin typeface="Cambria Math" panose="02040503050406030204" pitchFamily="18" charset="0"/>
                    <a:ea typeface="Cambria Math" panose="02040503050406030204" pitchFamily="18" charset="0"/>
                  </a:rPr>
                  <a:t>0⟩</a:t>
                </a:r>
                <a:r>
                  <a:rPr lang="en-ZA" dirty="0"/>
                  <a:t> before applying the Bell state preparation circuit.</a:t>
                </a:r>
                <a:endParaRPr lang="en-ZA" b="0" dirty="0"/>
              </a:p>
              <a:p>
                <a:pPr algn="just"/>
                <a:endParaRPr lang="en-ZA" b="0" dirty="0"/>
              </a:p>
              <a:p>
                <a:pPr algn="just"/>
                <a:r>
                  <a:rPr lang="en-ZA" b="0" dirty="0"/>
                  <a:t>If the input qubits are instead prepared in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10⟩</a:t>
                </a:r>
                <a:r>
                  <a:rPr lang="en-ZA" b="0" dirty="0"/>
                  <a:t>, the circuit produces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𝐵_10 ⟩</a:t>
                </a:r>
                <a:r>
                  <a:rPr lang="en-ZA" b="0" dirty="0"/>
                  <a:t> (or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Φ</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l-GR" b="0" dirty="0"/>
                  <a:t>). </a:t>
                </a:r>
                <a:r>
                  <a:rPr lang="en-ZA" b="0" dirty="0"/>
                  <a:t>The only difference between this circuit and the previous one is the presence of an X gate applied to the upper qubit, which is needed to set the initial state to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10⟩</a:t>
                </a:r>
                <a:r>
                  <a:rPr lang="en-ZA" b="0" dirty="0"/>
                  <a:t>.</a:t>
                </a:r>
              </a:p>
              <a:p>
                <a:pPr algn="just"/>
                <a:endParaRPr lang="en-ZA" b="0" dirty="0"/>
              </a:p>
              <a:p>
                <a:pPr algn="just"/>
                <a:r>
                  <a:rPr lang="en-ZA" b="0" dirty="0"/>
                  <a:t>Similarly, when the input state is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01⟩</a:t>
                </a:r>
                <a:r>
                  <a:rPr lang="en-ZA" b="0" dirty="0"/>
                  <a:t>, the circuit generates the Bell state</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𝐵_01 ⟩</a:t>
                </a:r>
                <a:r>
                  <a:rPr lang="en-ZA" b="0" dirty="0"/>
                  <a:t>​ (or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Ψ</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l-GR" b="0" dirty="0"/>
                  <a:t>).</a:t>
                </a:r>
                <a:endParaRPr lang="en-US" b="0" dirty="0"/>
              </a:p>
              <a:p>
                <a:pPr algn="just"/>
                <a:endParaRPr lang="el-GR" b="0" dirty="0"/>
              </a:p>
              <a:p>
                <a:pPr algn="just"/>
                <a:r>
                  <a:rPr lang="en-ZA" b="0" dirty="0"/>
                  <a:t>Finally, if the input state is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11⟩</a:t>
                </a:r>
                <a:r>
                  <a:rPr lang="en-ZA" b="0" dirty="0"/>
                  <a:t>, the circuit produces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𝐵_11 ⟩</a:t>
                </a:r>
                <a:r>
                  <a:rPr lang="en-ZA" b="0" dirty="0"/>
                  <a:t>​​ (or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Ψ</a:t>
                </a:r>
                <a:r>
                  <a:rPr lang="en-US" sz="1200" i="0">
                    <a:solidFill>
                      <a:srgbClr val="002060"/>
                    </a:solidFill>
                    <a:latin typeface="Cambria Math" panose="02040503050406030204" pitchFamily="18" charset="0"/>
                    <a:ea typeface="Cambria Math" panose="02040503050406030204" pitchFamily="18" charset="0"/>
                  </a:rPr>
                  <a:t>^</a:t>
                </a:r>
                <a:r>
                  <a:rPr lang="sr-Latn-RS" sz="1200" i="0">
                    <a:solidFill>
                      <a:srgbClr val="002060"/>
                    </a:solidFill>
                    <a:latin typeface="Cambria Math" panose="02040503050406030204" pitchFamily="18" charset="0"/>
                    <a:ea typeface="Cambria Math" panose="02040503050406030204" pitchFamily="18" charset="0"/>
                  </a:rPr>
                  <a:t>− ⟩</a:t>
                </a:r>
                <a:r>
                  <a:rPr lang="el-GR" b="0" dirty="0"/>
                  <a:t>).</a:t>
                </a:r>
              </a:p>
              <a:p>
                <a:pPr algn="just"/>
                <a:r>
                  <a:rPr lang="en-ZA" b="0" dirty="0"/>
                  <a:t>This set of four Bell states forms a complete basis for two-qubit entanglement and is widely used in quantum computing, quantum communication, and quantum teleportation.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618373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What is special about the Bell state?</a:t>
                </a:r>
              </a:p>
              <a:p>
                <a:endParaRPr lang="en-ZA" b="0" dirty="0"/>
              </a:p>
              <a:p>
                <a:pPr marL="171450" indent="-171450">
                  <a:buFont typeface="Arial" panose="020B0604020202020204" pitchFamily="34" charset="0"/>
                  <a:buChar char="•"/>
                </a:pPr>
                <a:r>
                  <a:rPr lang="en-ZA" dirty="0"/>
                  <a:t>Let’s say that Alice and Bob share an entangled pair. The first qubit belongs to Alice and the second to Bob. The two qubits share the Bell state</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p>
                            <m:sSupPr>
                              <m:ctrlPr>
                                <a:rPr lang="en-US" sz="1200" i="1" smtClean="0">
                                  <a:solidFill>
                                    <a:srgbClr val="002060"/>
                                  </a:solidFill>
                                  <a:latin typeface="Cambria Math" panose="02040503050406030204" pitchFamily="18" charset="0"/>
                                  <a:ea typeface="Cambria Math" panose="02040503050406030204" pitchFamily="18" charset="0"/>
                                </a:rPr>
                              </m:ctrlPr>
                            </m:sSupPr>
                            <m:e>
                              <m:r>
                                <m:rPr>
                                  <m:sty m:val="p"/>
                                </m:rPr>
                                <a:rPr lang="el-GR" sz="1200" i="1">
                                  <a:solidFill>
                                    <a:srgbClr val="002060"/>
                                  </a:solidFill>
                                  <a:latin typeface="Cambria Math" panose="02040503050406030204" pitchFamily="18" charset="0"/>
                                  <a:ea typeface="Cambria Math" panose="02040503050406030204" pitchFamily="18" charset="0"/>
                                </a:rPr>
                                <m:t>Φ</m:t>
                              </m:r>
                            </m:e>
                            <m:sup>
                              <m:r>
                                <a:rPr lang="sr-Latn-RS" sz="1200" b="0" i="1" smtClean="0">
                                  <a:solidFill>
                                    <a:srgbClr val="002060"/>
                                  </a:solidFill>
                                  <a:latin typeface="Cambria Math" panose="02040503050406030204" pitchFamily="18" charset="0"/>
                                  <a:ea typeface="Cambria Math" panose="02040503050406030204" pitchFamily="18" charset="0"/>
                                </a:rPr>
                                <m:t>+</m:t>
                              </m:r>
                            </m:sup>
                          </m:sSup>
                        </m:e>
                      </m:d>
                      <m:r>
                        <a:rPr lang="sr-Latn-RS" sz="1200" b="0" i="1" smtClean="0">
                          <a:solidFill>
                            <a:srgbClr val="002060"/>
                          </a:solidFill>
                          <a:latin typeface="Cambria Math" panose="02040503050406030204" pitchFamily="18" charset="0"/>
                          <a:ea typeface="Cambria Math" panose="02040503050406030204" pitchFamily="18" charset="0"/>
                        </a:rPr>
                        <m:t>=</m:t>
                      </m:r>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br>
                  <a:rPr lang="en-US" dirty="0"/>
                </a:br>
                <a:r>
                  <a:rPr lang="en-ZA" dirty="0"/>
                  <a:t>The pair is therefore in a superposition of the two possibilities ∣00⟩ and ∣11⟩.</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b="0" dirty="0"/>
                  <a:t>Next, Alice measures her qubit and obtains the result 1. The shared state then collapses to ∣11⟩, consistent with her measurement result.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b="0" dirty="0"/>
                  <a:t>When Bob measures his qubit in the same basis, he will also obtain 1. In other words, their measurement results are perfectly correlated.</a:t>
                </a:r>
              </a:p>
            </p:txBody>
          </p:sp>
        </mc:Choice>
        <mc:Fallback xmlns="">
          <p:sp>
            <p:nvSpPr>
              <p:cNvPr id="3" name="Notes Placeholder 2"/>
              <p:cNvSpPr>
                <a:spLocks noGrp="1"/>
              </p:cNvSpPr>
              <p:nvPr>
                <p:ph type="body" idx="1"/>
              </p:nvPr>
            </p:nvSpPr>
            <p:spPr/>
            <p:txBody>
              <a:bodyPr/>
              <a:lstStyle/>
              <a:p>
                <a:r>
                  <a:rPr lang="en-ZA" dirty="0"/>
                  <a:t>What is special about the Bell state?</a:t>
                </a:r>
              </a:p>
              <a:p>
                <a:endParaRPr lang="en-ZA" b="0" dirty="0"/>
              </a:p>
              <a:p>
                <a:pPr marL="171450" indent="-171450">
                  <a:buFont typeface="Arial" panose="020B0604020202020204" pitchFamily="34" charset="0"/>
                  <a:buChar char="•"/>
                </a:pPr>
                <a:r>
                  <a:rPr lang="en-ZA" dirty="0"/>
                  <a:t>Let’s say that Alice and Bob share an entangled pair. The first qubit belongs to Alice and the second to Bob. The two qubits share the Bell state</a:t>
                </a:r>
              </a:p>
              <a:p>
                <a:pPr marL="0" indent="0">
                  <a:buFont typeface="Arial" panose="020B0604020202020204" pitchFamily="34" charset="0"/>
                  <a:buNone/>
                </a:pP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Φ</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n-US" sz="1200" i="0">
                    <a:solidFill>
                      <a:srgbClr val="002060"/>
                    </a:solidFill>
                    <a:latin typeface="Cambria Math" panose="02040503050406030204" pitchFamily="18" charset="0"/>
                    <a:ea typeface="Cambria Math" panose="02040503050406030204" pitchFamily="18" charset="0"/>
                  </a:rPr>
                  <a:t>(├ |0</a:t>
                </a:r>
                <a:r>
                  <a:rPr lang="en-US" sz="1200" b="0" i="0">
                    <a:solidFill>
                      <a:srgbClr val="002060"/>
                    </a:solidFill>
                    <a:latin typeface="Cambria Math" panose="02040503050406030204" pitchFamily="18" charset="0"/>
                    <a:ea typeface="Cambria Math" panose="02040503050406030204" pitchFamily="18" charset="0"/>
                  </a:rPr>
                  <a:t>0⟩+├ </a:t>
                </a:r>
                <a:r>
                  <a:rPr lang="en-US" sz="1200" i="0">
                    <a:solidFill>
                      <a:srgbClr val="002060"/>
                    </a:solidFill>
                    <a:latin typeface="Cambria Math" panose="02040503050406030204" pitchFamily="18" charset="0"/>
                    <a:ea typeface="Cambria Math" panose="02040503050406030204" pitchFamily="18" charset="0"/>
                  </a:rPr>
                  <a:t>|</a:t>
                </a:r>
                <a:r>
                  <a:rPr lang="en-US" sz="1200" b="0" i="0">
                    <a:solidFill>
                      <a:srgbClr val="002060"/>
                    </a:solidFill>
                    <a:latin typeface="Cambria Math" panose="02040503050406030204" pitchFamily="18" charset="0"/>
                    <a:ea typeface="Cambria Math" panose="02040503050406030204" pitchFamily="18" charset="0"/>
                  </a:rPr>
                  <a:t>11⟩)/√</a:t>
                </a:r>
                <a:r>
                  <a:rPr lang="en-US" sz="1200" i="0">
                    <a:solidFill>
                      <a:srgbClr val="002060"/>
                    </a:solidFill>
                    <a:latin typeface="Cambria Math" panose="02040503050406030204" pitchFamily="18" charset="0"/>
                    <a:ea typeface="Cambria Math" panose="02040503050406030204" pitchFamily="18" charset="0"/>
                  </a:rPr>
                  <a:t>2</a:t>
                </a:r>
                <a:br>
                  <a:rPr lang="en-US" dirty="0"/>
                </a:br>
                <a:r>
                  <a:rPr lang="en-ZA" dirty="0"/>
                  <a:t>The pair is therefore in a superposition of the two possibilities ∣00⟩ and ∣11⟩.</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b="0" dirty="0"/>
                  <a:t>Next, Alice measures her qubit and obtains the result 1. The shared state then collapses to ∣11⟩, consistent with her measurement result.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b="0" dirty="0"/>
                  <a:t>When Bob measures his qubit in the same basis, he will also obtain 1. In other words, their measurement results are perfectly correlated.</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b="0" dirty="0"/>
                  <a:t>When Alice sees her result 1, she immediately knows that Bob will also obtain 1 if he measures his qubit in the same basis. At first, it might seem that Alice has instantaneously communicated a bit to Bob. However, this is not possible, as expressed by the no-communication theorem.</a:t>
                </a:r>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10</a:t>
            </a:fld>
            <a:endParaRPr lang="en-US"/>
          </a:p>
        </p:txBody>
      </p:sp>
    </p:spTree>
    <p:extLst>
      <p:ext uri="{BB962C8B-B14F-4D97-AF65-F5344CB8AC3E}">
        <p14:creationId xmlns:p14="http://schemas.microsoft.com/office/powerpoint/2010/main" val="617004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There are exactly four maximally entangled Bells states.</a:t>
                </a:r>
              </a:p>
              <a:p>
                <a:pPr algn="just"/>
                <a:endParaRPr lang="en-ZA" b="0" dirty="0"/>
              </a:p>
              <a:p>
                <a:pPr marL="171450" indent="-171450" algn="just">
                  <a:buFont typeface="Arial" panose="020B0604020202020204" pitchFamily="34" charset="0"/>
                  <a:buChar char="•"/>
                </a:pPr>
                <a:r>
                  <a:rPr lang="en-ZA" dirty="0"/>
                  <a:t>The first Bell state is traditionally denoted by physicists as</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p>
                          <m:sSupPr>
                            <m:ctrlPr>
                              <a:rPr lang="en-US" sz="1200" i="1" smtClean="0">
                                <a:solidFill>
                                  <a:srgbClr val="002060"/>
                                </a:solidFill>
                                <a:latin typeface="Cambria Math" panose="02040503050406030204" pitchFamily="18" charset="0"/>
                                <a:ea typeface="Cambria Math" panose="02040503050406030204" pitchFamily="18" charset="0"/>
                              </a:rPr>
                            </m:ctrlPr>
                          </m:sSupPr>
                          <m:e>
                            <m:r>
                              <m:rPr>
                                <m:sty m:val="p"/>
                              </m:rPr>
                              <a:rPr lang="el-GR" sz="1200" i="1">
                                <a:solidFill>
                                  <a:srgbClr val="002060"/>
                                </a:solidFill>
                                <a:latin typeface="Cambria Math" panose="02040503050406030204" pitchFamily="18" charset="0"/>
                                <a:ea typeface="Cambria Math" panose="02040503050406030204" pitchFamily="18" charset="0"/>
                              </a:rPr>
                              <m:t>Φ</m:t>
                            </m:r>
                          </m:e>
                          <m:sup>
                            <m:r>
                              <a:rPr lang="sr-Latn-RS" sz="1200" b="0" i="1" smtClean="0">
                                <a:solidFill>
                                  <a:srgbClr val="002060"/>
                                </a:solidFill>
                                <a:latin typeface="Cambria Math" panose="02040503050406030204" pitchFamily="18" charset="0"/>
                                <a:ea typeface="Cambria Math" panose="02040503050406030204" pitchFamily="18" charset="0"/>
                              </a:rPr>
                              <m:t>+</m:t>
                            </m:r>
                          </m:sup>
                        </m:sSup>
                      </m:e>
                    </m:d>
                  </m:oMath>
                </a14:m>
                <a:r>
                  <a:rPr lang="el-GR" b="0" dirty="0"/>
                  <a:t>. </a:t>
                </a:r>
                <a:r>
                  <a:rPr lang="en-ZA" dirty="0"/>
                  <a:t>In quantum computing, it can also be </a:t>
                </a:r>
                <a:r>
                  <a:rPr lang="en-ZA" dirty="0" err="1"/>
                  <a:t>labeled</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a:t>
                </a:r>
                <a:r>
                  <a:rPr lang="en-ZA" dirty="0"/>
                  <a:t>This state is generated by the Bell-state preparation circuit shown in the figure, starting from the input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0</m:t>
                        </m:r>
                      </m:e>
                    </m:d>
                    <m:r>
                      <a:rPr lang="en-US" sz="1200" b="0" i="1" smtClean="0">
                        <a:solidFill>
                          <a:srgbClr val="002060"/>
                        </a:solidFill>
                        <a:latin typeface="Cambria Math" panose="02040503050406030204" pitchFamily="18" charset="0"/>
                        <a:ea typeface="Cambria Math" panose="02040503050406030204" pitchFamily="18" charset="0"/>
                      </a:rPr>
                      <m:t>.</m:t>
                    </m:r>
                  </m:oMath>
                </a14:m>
                <a:endParaRPr lang="en-ZA" b="0" dirty="0"/>
              </a:p>
              <a:p>
                <a:pPr marL="171450" indent="-171450" algn="just">
                  <a:buFont typeface="Arial" panose="020B0604020202020204" pitchFamily="34" charset="0"/>
                  <a:buChar char="•"/>
                </a:pPr>
                <a:r>
                  <a:rPr lang="en-ZA" dirty="0"/>
                  <a:t>Starting from</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10</m:t>
                        </m:r>
                      </m:e>
                    </m:d>
                  </m:oMath>
                </a14:m>
                <a:r>
                  <a:rPr lang="en-ZA" b="0" dirty="0"/>
                  <a:t>, </a:t>
                </a:r>
                <a:r>
                  <a:rPr lang="en-ZA" dirty="0"/>
                  <a:t>the same circuit produces</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10</m:t>
                            </m:r>
                          </m:sub>
                        </m:sSub>
                      </m:e>
                    </m:d>
                  </m:oMath>
                </a14:m>
                <a:r>
                  <a:rPr lang="en-ZA" b="0" dirty="0"/>
                  <a:t>, or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p>
                          <m:sSupPr>
                            <m:ctrlPr>
                              <a:rPr lang="en-US" sz="1200" i="1">
                                <a:solidFill>
                                  <a:srgbClr val="002060"/>
                                </a:solidFill>
                                <a:latin typeface="Cambria Math" panose="02040503050406030204" pitchFamily="18" charset="0"/>
                                <a:ea typeface="Cambria Math" panose="02040503050406030204" pitchFamily="18" charset="0"/>
                              </a:rPr>
                            </m:ctrlPr>
                          </m:sSupPr>
                          <m:e>
                            <m:r>
                              <m:rPr>
                                <m:sty m:val="p"/>
                              </m:rPr>
                              <a:rPr lang="el-GR" sz="1200" i="1">
                                <a:solidFill>
                                  <a:srgbClr val="002060"/>
                                </a:solidFill>
                                <a:latin typeface="Cambria Math" panose="02040503050406030204" pitchFamily="18" charset="0"/>
                                <a:ea typeface="Cambria Math" panose="02040503050406030204" pitchFamily="18" charset="0"/>
                              </a:rPr>
                              <m:t>Φ</m:t>
                            </m:r>
                          </m:e>
                          <m:sup>
                            <m:r>
                              <a:rPr lang="sr-Latn-RS" sz="1200" b="0" i="1" smtClean="0">
                                <a:solidFill>
                                  <a:srgbClr val="002060"/>
                                </a:solidFill>
                                <a:latin typeface="Cambria Math" panose="02040503050406030204" pitchFamily="18" charset="0"/>
                                <a:ea typeface="Cambria Math" panose="02040503050406030204" pitchFamily="18" charset="0"/>
                              </a:rPr>
                              <m:t>−</m:t>
                            </m:r>
                          </m:sup>
                        </m:sSup>
                      </m:e>
                    </m:d>
                  </m:oMath>
                </a14:m>
                <a:r>
                  <a:rPr lang="el-GR" b="0" dirty="0"/>
                  <a:t>. </a:t>
                </a:r>
                <a:endParaRPr lang="en-ZA" b="0" dirty="0"/>
              </a:p>
              <a:p>
                <a:pPr marL="171450" indent="-171450" algn="just">
                  <a:buFont typeface="Arial" panose="020B0604020202020204" pitchFamily="34" charset="0"/>
                  <a:buChar char="•"/>
                </a:pPr>
                <a:r>
                  <a:rPr lang="en-ZA" dirty="0"/>
                  <a:t>Similarly, starting from</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01</m:t>
                        </m:r>
                      </m:e>
                    </m:d>
                  </m:oMath>
                </a14:m>
                <a:r>
                  <a:rPr lang="en-ZA" b="0" dirty="0"/>
                  <a:t>, the circuit </a:t>
                </a:r>
                <a:r>
                  <a:rPr lang="en-ZA" dirty="0"/>
                  <a:t>produces</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 </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01</m:t>
                            </m:r>
                          </m:sub>
                        </m:sSub>
                      </m:e>
                    </m:d>
                  </m:oMath>
                </a14:m>
                <a:r>
                  <a:rPr lang="en-ZA" b="0" dirty="0"/>
                  <a:t>,​ or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p>
                          <m:sSupPr>
                            <m:ctrlPr>
                              <a:rPr lang="en-US" sz="1200" i="1">
                                <a:solidFill>
                                  <a:srgbClr val="002060"/>
                                </a:solidFill>
                                <a:latin typeface="Cambria Math" panose="02040503050406030204" pitchFamily="18" charset="0"/>
                                <a:ea typeface="Cambria Math" panose="02040503050406030204" pitchFamily="18" charset="0"/>
                              </a:rPr>
                            </m:ctrlPr>
                          </m:sSupPr>
                          <m:e>
                            <m:r>
                              <m:rPr>
                                <m:sty m:val="p"/>
                              </m:rPr>
                              <a:rPr lang="el-GR" sz="1200" i="1" smtClean="0">
                                <a:solidFill>
                                  <a:srgbClr val="002060"/>
                                </a:solidFill>
                                <a:latin typeface="Cambria Math" panose="02040503050406030204" pitchFamily="18" charset="0"/>
                                <a:ea typeface="Cambria Math" panose="02040503050406030204" pitchFamily="18" charset="0"/>
                              </a:rPr>
                              <m:t>Ψ</m:t>
                            </m:r>
                          </m:e>
                          <m:sup>
                            <m:r>
                              <a:rPr lang="sr-Latn-RS" sz="1200" b="0" i="1" smtClean="0">
                                <a:solidFill>
                                  <a:srgbClr val="002060"/>
                                </a:solidFill>
                                <a:latin typeface="Cambria Math" panose="02040503050406030204" pitchFamily="18" charset="0"/>
                                <a:ea typeface="Cambria Math" panose="02040503050406030204" pitchFamily="18" charset="0"/>
                              </a:rPr>
                              <m:t>+</m:t>
                            </m:r>
                          </m:sup>
                        </m:sSup>
                      </m:e>
                    </m:d>
                  </m:oMath>
                </a14:m>
                <a:r>
                  <a:rPr lang="el-GR" b="0" dirty="0"/>
                  <a:t>.</a:t>
                </a:r>
                <a:endParaRPr lang="en-US" b="0" dirty="0"/>
              </a:p>
              <a:p>
                <a:pPr marL="171450" indent="-171450" algn="just">
                  <a:buFont typeface="Arial" panose="020B0604020202020204" pitchFamily="34" charset="0"/>
                  <a:buChar char="•"/>
                </a:pPr>
                <a:r>
                  <a:rPr lang="en-ZA" b="0" dirty="0"/>
                  <a:t>Finally</a:t>
                </a:r>
                <a:r>
                  <a:rPr lang="en-ZA" dirty="0"/>
                  <a:t>, starting with</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11</m:t>
                        </m:r>
                      </m:e>
                    </m:d>
                  </m:oMath>
                </a14:m>
                <a:r>
                  <a:rPr lang="en-ZA" b="0" dirty="0"/>
                  <a:t>, the circuit </a:t>
                </a:r>
                <a:r>
                  <a:rPr lang="en-ZA" dirty="0"/>
                  <a:t>produces</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  </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11</m:t>
                            </m:r>
                          </m:sub>
                        </m:sSub>
                      </m:e>
                    </m:d>
                  </m:oMath>
                </a14:m>
                <a:r>
                  <a:rPr lang="en-ZA" b="0" dirty="0"/>
                  <a:t>​​, or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p>
                          <m:sSupPr>
                            <m:ctrlPr>
                              <a:rPr lang="en-US" sz="1200" i="1">
                                <a:solidFill>
                                  <a:srgbClr val="002060"/>
                                </a:solidFill>
                                <a:latin typeface="Cambria Math" panose="02040503050406030204" pitchFamily="18" charset="0"/>
                                <a:ea typeface="Cambria Math" panose="02040503050406030204" pitchFamily="18" charset="0"/>
                              </a:rPr>
                            </m:ctrlPr>
                          </m:sSupPr>
                          <m:e>
                            <m:r>
                              <m:rPr>
                                <m:sty m:val="p"/>
                              </m:rPr>
                              <a:rPr lang="el-GR" sz="1200" i="1">
                                <a:solidFill>
                                  <a:srgbClr val="002060"/>
                                </a:solidFill>
                                <a:latin typeface="Cambria Math" panose="02040503050406030204" pitchFamily="18" charset="0"/>
                                <a:ea typeface="Cambria Math" panose="02040503050406030204" pitchFamily="18" charset="0"/>
                              </a:rPr>
                              <m:t>Ψ</m:t>
                            </m:r>
                          </m:e>
                          <m:sup>
                            <m:r>
                              <a:rPr lang="sr-Latn-RS" sz="1200" i="1">
                                <a:solidFill>
                                  <a:srgbClr val="002060"/>
                                </a:solidFill>
                                <a:latin typeface="Cambria Math" panose="02040503050406030204" pitchFamily="18" charset="0"/>
                                <a:ea typeface="Cambria Math" panose="02040503050406030204" pitchFamily="18" charset="0"/>
                              </a:rPr>
                              <m:t>−</m:t>
                            </m:r>
                          </m:sup>
                        </m:sSup>
                      </m:e>
                    </m:d>
                  </m:oMath>
                </a14:m>
                <a:r>
                  <a:rPr lang="el-GR" b="0" dirty="0"/>
                  <a:t>.</a:t>
                </a:r>
                <a:endParaRPr lang="en-US" b="0" dirty="0"/>
              </a:p>
              <a:p>
                <a:pPr marL="171450" indent="-171450" algn="just">
                  <a:buFont typeface="Arial" panose="020B0604020202020204" pitchFamily="34" charset="0"/>
                  <a:buChar char="•"/>
                </a:pPr>
                <a:endParaRPr lang="en-US" b="0" dirty="0"/>
              </a:p>
              <a:p>
                <a:pPr marL="171450" indent="-171450" algn="just">
                  <a:buFont typeface="Arial" panose="020B0604020202020204" pitchFamily="34" charset="0"/>
                  <a:buChar char="•"/>
                </a:pPr>
                <a:endParaRPr lang="el-GR" b="0" dirty="0"/>
              </a:p>
              <a:p>
                <a:pPr algn="just"/>
                <a:r>
                  <a:rPr lang="en-ZA" b="0" dirty="0"/>
                  <a:t>The four Bell states form an orthonormal basis for the two-qubit state space, known as the Bell basis, and are widely used in quantum computing and quantum communication.</a:t>
                </a:r>
              </a:p>
            </p:txBody>
          </p:sp>
        </mc:Choice>
        <mc:Fallback xmlns="">
          <p:sp>
            <p:nvSpPr>
              <p:cNvPr id="3" name="Notes Placeholder 2"/>
              <p:cNvSpPr>
                <a:spLocks noGrp="1"/>
              </p:cNvSpPr>
              <p:nvPr>
                <p:ph type="body" idx="1"/>
              </p:nvPr>
            </p:nvSpPr>
            <p:spPr/>
            <p:txBody>
              <a:bodyPr/>
              <a:lstStyle/>
              <a:p>
                <a:pPr algn="just"/>
                <a:r>
                  <a:rPr lang="en-ZA" b="0" dirty="0"/>
                  <a:t>There are exactly four maximally entangled states, known as Bell states.</a:t>
                </a:r>
              </a:p>
              <a:p>
                <a:pPr algn="just"/>
                <a:endParaRPr lang="en-ZA" b="0" dirty="0"/>
              </a:p>
              <a:p>
                <a:pPr algn="just"/>
                <a:r>
                  <a:rPr lang="en-ZA" b="0" dirty="0"/>
                  <a:t>The first of these states is traditionally denoted by physicists as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Φ</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l-GR" b="0" dirty="0"/>
                  <a:t>. </a:t>
                </a:r>
                <a:r>
                  <a:rPr lang="en-ZA" b="0" dirty="0"/>
                  <a:t>However, in computer science, we will label it as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b="0" dirty="0"/>
                  <a:t>​. This entangled state is generated by the Bell state preparation circuit, shown in the image. </a:t>
                </a:r>
                <a:r>
                  <a:rPr lang="en-ZA" dirty="0"/>
                  <a:t>The index '00' in the state name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dirty="0"/>
                  <a:t>​ corresponds to the input qubits being initialized in the state </a:t>
                </a:r>
                <a:r>
                  <a:rPr lang="en-US" sz="1200" i="0">
                    <a:solidFill>
                      <a:srgbClr val="002060"/>
                    </a:solidFill>
                    <a:latin typeface="Cambria Math" panose="02040503050406030204" pitchFamily="18" charset="0"/>
                    <a:ea typeface="Cambria Math" panose="02040503050406030204" pitchFamily="18" charset="0"/>
                  </a:rPr>
                  <a:t>├ |0</a:t>
                </a:r>
                <a:r>
                  <a:rPr lang="en-US" sz="1200" b="0" i="0">
                    <a:solidFill>
                      <a:srgbClr val="002060"/>
                    </a:solidFill>
                    <a:latin typeface="Cambria Math" panose="02040503050406030204" pitchFamily="18" charset="0"/>
                    <a:ea typeface="Cambria Math" panose="02040503050406030204" pitchFamily="18" charset="0"/>
                  </a:rPr>
                  <a:t>0⟩</a:t>
                </a:r>
                <a:r>
                  <a:rPr lang="en-ZA" dirty="0"/>
                  <a:t> before applying the Bell state preparation circuit.</a:t>
                </a:r>
                <a:endParaRPr lang="en-ZA" b="0" dirty="0"/>
              </a:p>
              <a:p>
                <a:pPr algn="just"/>
                <a:endParaRPr lang="en-ZA" b="0" dirty="0"/>
              </a:p>
              <a:p>
                <a:pPr algn="just"/>
                <a:r>
                  <a:rPr lang="en-ZA" b="0" dirty="0"/>
                  <a:t>If the input qubits are instead prepared in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10⟩</a:t>
                </a:r>
                <a:r>
                  <a:rPr lang="en-ZA" b="0" dirty="0"/>
                  <a:t>, the circuit produces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𝐵_10 ⟩</a:t>
                </a:r>
                <a:r>
                  <a:rPr lang="en-ZA" b="0" dirty="0"/>
                  <a:t> (or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Φ</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l-GR" b="0" dirty="0"/>
                  <a:t>). </a:t>
                </a:r>
                <a:r>
                  <a:rPr lang="en-ZA" b="0" dirty="0"/>
                  <a:t>The only difference between this circuit and the previous one is the presence of an X gate applied to the upper qubit, which is needed to set the initial state to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10⟩</a:t>
                </a:r>
                <a:r>
                  <a:rPr lang="en-ZA" b="0" dirty="0"/>
                  <a:t>.</a:t>
                </a:r>
              </a:p>
              <a:p>
                <a:pPr algn="just"/>
                <a:endParaRPr lang="en-ZA" b="0" dirty="0"/>
              </a:p>
              <a:p>
                <a:pPr algn="just"/>
                <a:r>
                  <a:rPr lang="en-ZA" b="0" dirty="0"/>
                  <a:t>Similarly, when the input state is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01⟩</a:t>
                </a:r>
                <a:r>
                  <a:rPr lang="en-ZA" b="0" dirty="0"/>
                  <a:t>, the circuit generates the Bell state</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𝐵_01 ⟩</a:t>
                </a:r>
                <a:r>
                  <a:rPr lang="en-ZA" b="0" dirty="0"/>
                  <a:t>​ (or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Ψ</a:t>
                </a:r>
                <a:r>
                  <a:rPr lang="en-US" sz="1200" i="0">
                    <a:solidFill>
                      <a:srgbClr val="002060"/>
                    </a:solidFill>
                    <a:latin typeface="Cambria Math" panose="02040503050406030204" pitchFamily="18" charset="0"/>
                    <a:ea typeface="Cambria Math" panose="02040503050406030204" pitchFamily="18" charset="0"/>
                  </a:rPr>
                  <a:t>^</a:t>
                </a:r>
                <a:r>
                  <a:rPr lang="sr-Latn-RS" sz="1200" b="0" i="0">
                    <a:solidFill>
                      <a:srgbClr val="002060"/>
                    </a:solidFill>
                    <a:latin typeface="Cambria Math" panose="02040503050406030204" pitchFamily="18" charset="0"/>
                    <a:ea typeface="Cambria Math" panose="02040503050406030204" pitchFamily="18" charset="0"/>
                  </a:rPr>
                  <a:t>+ ⟩</a:t>
                </a:r>
                <a:r>
                  <a:rPr lang="el-GR" b="0" dirty="0"/>
                  <a:t>).</a:t>
                </a:r>
                <a:endParaRPr lang="en-US" b="0" dirty="0"/>
              </a:p>
              <a:p>
                <a:pPr algn="just"/>
                <a:endParaRPr lang="el-GR" b="0" dirty="0"/>
              </a:p>
              <a:p>
                <a:pPr algn="just"/>
                <a:r>
                  <a:rPr lang="en-ZA" b="0" dirty="0"/>
                  <a:t>Finally, if the input state is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11⟩</a:t>
                </a:r>
                <a:r>
                  <a:rPr lang="en-ZA" b="0" dirty="0"/>
                  <a:t>, the circuit produces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𝐵_11 ⟩</a:t>
                </a:r>
                <a:r>
                  <a:rPr lang="en-ZA" b="0" dirty="0"/>
                  <a:t>​​ (or </a:t>
                </a:r>
                <a:r>
                  <a:rPr lang="en-US" sz="1200" i="0">
                    <a:solidFill>
                      <a:srgbClr val="002060"/>
                    </a:solidFill>
                    <a:latin typeface="Cambria Math" panose="02040503050406030204" pitchFamily="18" charset="0"/>
                    <a:ea typeface="Cambria Math" panose="02040503050406030204" pitchFamily="18" charset="0"/>
                  </a:rPr>
                  <a:t>├ |</a:t>
                </a:r>
                <a:r>
                  <a:rPr lang="el-GR" sz="1200" i="0">
                    <a:solidFill>
                      <a:srgbClr val="002060"/>
                    </a:solidFill>
                    <a:latin typeface="Cambria Math" panose="02040503050406030204" pitchFamily="18" charset="0"/>
                    <a:ea typeface="Cambria Math" panose="02040503050406030204" pitchFamily="18" charset="0"/>
                  </a:rPr>
                  <a:t>Ψ</a:t>
                </a:r>
                <a:r>
                  <a:rPr lang="en-US" sz="1200" i="0">
                    <a:solidFill>
                      <a:srgbClr val="002060"/>
                    </a:solidFill>
                    <a:latin typeface="Cambria Math" panose="02040503050406030204" pitchFamily="18" charset="0"/>
                    <a:ea typeface="Cambria Math" panose="02040503050406030204" pitchFamily="18" charset="0"/>
                  </a:rPr>
                  <a:t>^</a:t>
                </a:r>
                <a:r>
                  <a:rPr lang="sr-Latn-RS" sz="1200" i="0">
                    <a:solidFill>
                      <a:srgbClr val="002060"/>
                    </a:solidFill>
                    <a:latin typeface="Cambria Math" panose="02040503050406030204" pitchFamily="18" charset="0"/>
                    <a:ea typeface="Cambria Math" panose="02040503050406030204" pitchFamily="18" charset="0"/>
                  </a:rPr>
                  <a:t>− ⟩</a:t>
                </a:r>
                <a:r>
                  <a:rPr lang="el-GR" b="0" dirty="0"/>
                  <a:t>).</a:t>
                </a:r>
              </a:p>
              <a:p>
                <a:pPr algn="just"/>
                <a:r>
                  <a:rPr lang="en-ZA" b="0" dirty="0"/>
                  <a:t>This set of four Bell states forms a complete basis for two-qubit entanglement and is widely used in quantum computing, quantum communication, and quantum teleportation.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1194052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quantum communications, we can imagine a source that generates basic Bell pairs in the state |B₀₀⟩ and distributes them to users. A user can then apply a local operation to their qubit to transform the basic Bell state into any of the other three Bell states.</a:t>
                </a:r>
              </a:p>
              <a:p>
                <a:endParaRPr lang="en-ZA" dirty="0"/>
              </a:p>
              <a:p>
                <a:pPr marL="171450" indent="-171450">
                  <a:buFont typeface="Arial" panose="020B0604020202020204" pitchFamily="34" charset="0"/>
                  <a:buChar char="•"/>
                </a:pPr>
                <a:r>
                  <a:rPr lang="en-ZA" dirty="0"/>
                  <a:t>By applying an X gate to the first qubit of the Bell pair, the value of that qubit is inverted, producing the state |B₀₁⟩ at the output.</a:t>
                </a:r>
              </a:p>
              <a:p>
                <a:pPr marL="171450" indent="-171450">
                  <a:buFont typeface="Arial" panose="020B0604020202020204" pitchFamily="34" charset="0"/>
                  <a:buChar char="•"/>
                </a:pPr>
                <a:r>
                  <a:rPr lang="en-ZA" dirty="0"/>
                  <a:t>By applying a Z gate to the first qubit of the Bell pair, the sign of the |11⟩ term is changed, corresponding to a change in relative phase, and the state |B₁₀⟩ is obtained at the output.</a:t>
                </a:r>
              </a:p>
              <a:p>
                <a:pPr marL="171450" indent="-171450">
                  <a:buFont typeface="Arial" panose="020B0604020202020204" pitchFamily="34" charset="0"/>
                  <a:buChar char="•"/>
                </a:pPr>
                <a:r>
                  <a:rPr lang="en-ZA" dirty="0"/>
                  <a:t>By applying an X-Z sequence, both the value of the first qubit and the relative phase are changed, producing the state |B₁₁⟩ at the output.</a:t>
                </a:r>
              </a:p>
            </p:txBody>
          </p:sp>
        </mc:Choice>
        <mc:Fallback xmlns="">
          <p:sp>
            <p:nvSpPr>
              <p:cNvPr id="3" name="Notes Placeholder 2"/>
              <p:cNvSpPr>
                <a:spLocks noGrp="1"/>
              </p:cNvSpPr>
              <p:nvPr>
                <p:ph type="body" idx="1"/>
              </p:nvPr>
            </p:nvSpPr>
            <p:spPr/>
            <p:txBody>
              <a:bodyPr/>
              <a:lstStyle/>
              <a:p>
                <a:pPr marL="0" indent="0">
                  <a:buFont typeface="+mj-lt"/>
                  <a:buNone/>
                </a:pPr>
                <a:r>
                  <a:rPr lang="en-US" sz="2000" dirty="0" err="1"/>
                  <a:t>Ako</a:t>
                </a:r>
                <a:r>
                  <a:rPr lang="en-US" sz="2000" dirty="0"/>
                  <a:t> </a:t>
                </a:r>
                <a:r>
                  <a:rPr lang="en-US" sz="2000" dirty="0" err="1"/>
                  <a:t>primenimo</a:t>
                </a:r>
                <a:r>
                  <a:rPr lang="en-US" sz="2000" dirty="0"/>
                  <a:t> </a:t>
                </a:r>
                <a:r>
                  <a:rPr lang="en-US" sz="2000" dirty="0" err="1"/>
                  <a:t>isti</a:t>
                </a:r>
                <a:r>
                  <a:rPr lang="en-US" sz="2000" dirty="0"/>
                  <a:t> </a:t>
                </a:r>
                <a:r>
                  <a:rPr lang="en-US" sz="2000" dirty="0" err="1"/>
                  <a:t>metod</a:t>
                </a:r>
                <a:r>
                  <a:rPr lang="en-US" sz="2000" dirty="0"/>
                  <a:t> </a:t>
                </a:r>
                <a:r>
                  <a:rPr lang="en-US" sz="2000" dirty="0" err="1"/>
                  <a:t>na</a:t>
                </a:r>
                <a:r>
                  <a:rPr lang="en-US" sz="2000" dirty="0"/>
                  <a:t> </a:t>
                </a:r>
                <a:r>
                  <a:rPr lang="en-US" sz="2000" dirty="0" err="1"/>
                  <a:t>prvi</a:t>
                </a:r>
                <a:r>
                  <a:rPr lang="en-US" sz="2000" dirty="0"/>
                  <a:t> </a:t>
                </a:r>
                <a:r>
                  <a:rPr lang="en-US" sz="2000" dirty="0" err="1"/>
                  <a:t>kubit</a:t>
                </a:r>
                <a:r>
                  <a:rPr lang="en-US" sz="2000" dirty="0"/>
                  <a:t> </a:t>
                </a:r>
                <a:r>
                  <a:rPr lang="en-US" sz="2000" dirty="0" err="1"/>
                  <a:t>dobicemo</a:t>
                </a:r>
                <a:r>
                  <a:rPr lang="en-US" sz="2000" dirty="0"/>
                  <a:t> </a:t>
                </a:r>
                <a:r>
                  <a:rPr lang="en-US" sz="2000" dirty="0" err="1"/>
                  <a:t>iste</a:t>
                </a:r>
                <a:r>
                  <a:rPr lang="en-US" sz="2000" dirty="0"/>
                  <a:t> </a:t>
                </a:r>
                <a:r>
                  <a:rPr lang="en-US" sz="2000" dirty="0" err="1"/>
                  <a:t>transformacije</a:t>
                </a:r>
                <a:r>
                  <a:rPr lang="en-US" sz="2000" dirty="0"/>
                  <a:t>. </a:t>
                </a:r>
                <a:r>
                  <a:rPr lang="en-US" sz="2000" dirty="0" err="1"/>
                  <a:t>Takodje</a:t>
                </a:r>
                <a:r>
                  <a:rPr lang="en-US" sz="2000" dirty="0"/>
                  <a:t>, </a:t>
                </a:r>
                <a:r>
                  <a:rPr lang="en-US" sz="2000" dirty="0" err="1"/>
                  <a:t>posto</a:t>
                </a:r>
                <a:r>
                  <a:rPr lang="en-US" sz="2000" dirty="0"/>
                  <a:t> </a:t>
                </a:r>
                <a:r>
                  <a:rPr lang="en-US" sz="2000" dirty="0" err="1"/>
                  <a:t>su</a:t>
                </a:r>
                <a:r>
                  <a:rPr lang="en-US" sz="2000" dirty="0"/>
                  <a:t> </a:t>
                </a:r>
                <a:r>
                  <a:rPr lang="en-US" sz="2000" dirty="0" err="1"/>
                  <a:t>kvantne</a:t>
                </a:r>
                <a:r>
                  <a:rPr lang="en-US" sz="2000" dirty="0"/>
                  <a:t> </a:t>
                </a:r>
                <a:r>
                  <a:rPr lang="en-US" sz="2000" dirty="0" err="1"/>
                  <a:t>operacije</a:t>
                </a:r>
                <a:r>
                  <a:rPr lang="en-US" sz="2000" dirty="0"/>
                  <a:t> </a:t>
                </a:r>
                <a:r>
                  <a:rPr lang="en-US" sz="2000" dirty="0" err="1"/>
                  <a:t>reverzibilne</a:t>
                </a:r>
                <a:r>
                  <a:rPr lang="en-US" sz="2000" dirty="0"/>
                  <a:t> </a:t>
                </a:r>
                <a:r>
                  <a:rPr lang="en-US" sz="2000" dirty="0" err="1"/>
                  <a:t>ponavljanjem</a:t>
                </a:r>
                <a:r>
                  <a:rPr lang="en-US" sz="2000" dirty="0"/>
                  <a:t> </a:t>
                </a:r>
                <a:r>
                  <a:rPr lang="en-US" sz="2000" dirty="0" err="1"/>
                  <a:t>istih</a:t>
                </a:r>
                <a:r>
                  <a:rPr lang="en-US" sz="2000" dirty="0"/>
                  <a:t> kola </a:t>
                </a:r>
                <a:r>
                  <a:rPr lang="en-US" sz="2000" dirty="0" err="1"/>
                  <a:t>lako</a:t>
                </a:r>
                <a:r>
                  <a:rPr lang="en-US" sz="2000" baseline="0" dirty="0"/>
                  <a:t> se </a:t>
                </a:r>
                <a:r>
                  <a:rPr lang="en-US" sz="2000" dirty="0" err="1"/>
                  <a:t>rekonstruise</a:t>
                </a:r>
                <a:r>
                  <a:rPr lang="en-US" sz="2000" dirty="0"/>
                  <a:t> </a:t>
                </a:r>
                <a:r>
                  <a:rPr lang="en-US" sz="2000" dirty="0" err="1"/>
                  <a:t>stanje</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𝐵_00 ⟩</a:t>
                </a:r>
                <a:r>
                  <a:rPr lang="en-US" sz="2000" dirty="0"/>
                  <a:t>. </a:t>
                </a:r>
                <a:r>
                  <a:rPr lang="en-US" sz="2000" baseline="0" dirty="0"/>
                  <a:t>Kao </a:t>
                </a:r>
                <a:r>
                  <a:rPr lang="en-US" sz="2000" baseline="0" dirty="0" err="1"/>
                  <a:t>sto</a:t>
                </a:r>
                <a:r>
                  <a:rPr lang="en-US" sz="2000" baseline="0" dirty="0"/>
                  <a:t> </a:t>
                </a:r>
                <a:r>
                  <a:rPr lang="en-US" sz="2000" baseline="0" dirty="0" err="1"/>
                  <a:t>cemo</a:t>
                </a:r>
                <a:r>
                  <a:rPr lang="en-US" sz="2000" baseline="0" dirty="0"/>
                  <a:t> </a:t>
                </a:r>
                <a:r>
                  <a:rPr lang="en-US" sz="2000" baseline="0" dirty="0" err="1"/>
                  <a:t>videti</a:t>
                </a:r>
                <a:r>
                  <a:rPr lang="en-US" sz="2000" baseline="0" dirty="0"/>
                  <a:t>, </a:t>
                </a:r>
                <a:r>
                  <a:rPr lang="en-US" sz="2000" baseline="0" dirty="0" err="1"/>
                  <a:t>ove</a:t>
                </a:r>
                <a:r>
                  <a:rPr lang="en-US" sz="2000" baseline="0" dirty="0"/>
                  <a:t> se </a:t>
                </a:r>
                <a:r>
                  <a:rPr lang="en-US" sz="2000" baseline="0" dirty="0" err="1"/>
                  <a:t>konfiguracije</a:t>
                </a:r>
                <a:r>
                  <a:rPr lang="en-US" sz="2000" baseline="0" dirty="0"/>
                  <a:t> </a:t>
                </a:r>
                <a:r>
                  <a:rPr lang="en-US" sz="2000" baseline="0" dirty="0" err="1"/>
                  <a:t>cesto</a:t>
                </a:r>
                <a:r>
                  <a:rPr lang="en-US" sz="2000" baseline="0" dirty="0"/>
                  <a:t> </a:t>
                </a:r>
                <a:r>
                  <a:rPr lang="en-US" sz="2000" baseline="0" dirty="0" err="1"/>
                  <a:t>koriste</a:t>
                </a:r>
                <a:r>
                  <a:rPr lang="en-US" sz="2000" baseline="0" dirty="0"/>
                  <a:t> u </a:t>
                </a:r>
                <a:r>
                  <a:rPr lang="en-US" sz="2000" baseline="0" dirty="0" err="1"/>
                  <a:t>kvantnim</a:t>
                </a:r>
                <a:r>
                  <a:rPr lang="en-US" sz="2000" baseline="0" dirty="0"/>
                  <a:t> </a:t>
                </a:r>
                <a:r>
                  <a:rPr lang="en-US" sz="2000" baseline="0" dirty="0" err="1"/>
                  <a:t>komunikacijama</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1614042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Quantum entanglement has two important properties: inseparability and measurement correlation. Consider the entangled Bell state</a:t>
                </a:r>
              </a:p>
              <a:p>
                <a:pPr/>
                <a14:m>
                  <m:oMathPara xmlns:m="http://schemas.openxmlformats.org/officeDocument/2006/math">
                    <m:oMathParaPr>
                      <m:jc m:val="centerGroup"/>
                    </m:oMathParaPr>
                    <m:oMath xmlns:m="http://schemas.openxmlformats.org/officeDocument/2006/math">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sr-Latn-RS" sz="1200" b="0" i="1" smtClean="0">
                                  <a:solidFill>
                                    <a:srgbClr val="002060"/>
                                  </a:solidFill>
                                  <a:latin typeface="Cambria Math" panose="02040503050406030204" pitchFamily="18" charset="0"/>
                                  <a:ea typeface="Cambria Math" panose="02040503050406030204" pitchFamily="18" charset="0"/>
                                </a:rPr>
                                <m:t>1</m:t>
                              </m:r>
                              <m:r>
                                <a:rPr lang="en-US" sz="12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endParaRPr lang="en-ZA" b="0" dirty="0"/>
              </a:p>
              <a:p>
                <a:endParaRPr lang="en-ZA" b="0" dirty="0"/>
              </a:p>
              <a:p>
                <a:pPr marL="228600" indent="-228600">
                  <a:buFont typeface="+mj-lt"/>
                  <a:buAutoNum type="arabicPeriod"/>
                </a:pPr>
                <a:r>
                  <a:rPr lang="en-ZA" b="0" dirty="0"/>
                  <a:t>Inseparability means that an entangled state cannot be written as the Kronecker product of two independent qubit states. Suppose</a:t>
                </a:r>
              </a:p>
              <a:p>
                <a:pPr marL="0" indent="0">
                  <a:buFont typeface="+mj-lt"/>
                  <a:buNone/>
                </a:pPr>
                <a14:m>
                  <m:oMathPara xmlns:m="http://schemas.openxmlformats.org/officeDocument/2006/math">
                    <m:oMathParaPr>
                      <m:jc m:val="centerGroup"/>
                    </m:oMathParaPr>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𝑆</m:t>
                              </m:r>
                            </m:e>
                            <m:sub>
                              <m:r>
                                <a:rPr lang="en-US" sz="1200" i="1">
                                  <a:solidFill>
                                    <a:srgbClr val="002060"/>
                                  </a:solidFill>
                                  <a:latin typeface="Cambria Math" panose="02040503050406030204" pitchFamily="18" charset="0"/>
                                  <a:ea typeface="Cambria Math" panose="02040503050406030204" pitchFamily="18" charset="0"/>
                                </a:rPr>
                                <m:t>1</m:t>
                              </m:r>
                            </m:sub>
                          </m:sSub>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𝑎</m:t>
                              </m:r>
                            </m:e>
                            <m:sub>
                              <m:r>
                                <a:rPr lang="en-US" sz="1200" i="1">
                                  <a:solidFill>
                                    <a:srgbClr val="002060"/>
                                  </a:solidFill>
                                  <a:latin typeface="Cambria Math" panose="02040503050406030204" pitchFamily="18" charset="0"/>
                                  <a:ea typeface="Cambria Math" panose="02040503050406030204" pitchFamily="18" charset="0"/>
                                </a:rPr>
                                <m:t>1</m:t>
                              </m:r>
                            </m:sub>
                          </m:sSub>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𝑏</m:t>
                              </m:r>
                            </m:e>
                            <m:sub>
                              <m:r>
                                <a:rPr lang="en-US" sz="1200" i="1">
                                  <a:solidFill>
                                    <a:srgbClr val="002060"/>
                                  </a:solidFill>
                                  <a:latin typeface="Cambria Math" panose="02040503050406030204" pitchFamily="18" charset="0"/>
                                  <a:ea typeface="Cambria Math" panose="02040503050406030204" pitchFamily="18" charset="0"/>
                                </a:rPr>
                                <m:t>1</m:t>
                              </m:r>
                            </m:sub>
                          </m:sSub>
                          <m:r>
                            <a:rPr lang="en-US" sz="1200" i="1">
                              <a:solidFill>
                                <a:srgbClr val="002060"/>
                              </a:solidFill>
                              <a:latin typeface="Cambria Math" panose="02040503050406030204" pitchFamily="18" charset="0"/>
                              <a:ea typeface="Cambria Math" panose="02040503050406030204" pitchFamily="18" charset="0"/>
                            </a:rPr>
                            <m:t>|1</m:t>
                          </m:r>
                        </m:e>
                      </m:d>
                      <m:r>
                        <a:rPr lang="en-US" sz="1200" b="0" i="1" smtClean="0">
                          <a:solidFill>
                            <a:srgbClr val="002060"/>
                          </a:solidFill>
                          <a:latin typeface="Cambria Math" panose="02040503050406030204" pitchFamily="18" charset="0"/>
                          <a:ea typeface="Cambria Math" panose="02040503050406030204" pitchFamily="18" charset="0"/>
                        </a:rPr>
                        <m:t>,  </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𝑆</m:t>
                              </m:r>
                            </m:e>
                            <m:sub>
                              <m:r>
                                <a:rPr lang="en-US" sz="1200" b="0" i="1" smtClean="0">
                                  <a:solidFill>
                                    <a:srgbClr val="002060"/>
                                  </a:solidFill>
                                  <a:latin typeface="Cambria Math" panose="02040503050406030204" pitchFamily="18" charset="0"/>
                                  <a:ea typeface="Cambria Math" panose="02040503050406030204" pitchFamily="18" charset="0"/>
                                </a:rPr>
                                <m:t>2</m:t>
                              </m:r>
                            </m:sub>
                          </m:sSub>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𝑎</m:t>
                              </m:r>
                            </m:e>
                            <m:sub>
                              <m:r>
                                <a:rPr lang="en-US" sz="1200" b="0" i="1" smtClean="0">
                                  <a:solidFill>
                                    <a:srgbClr val="002060"/>
                                  </a:solidFill>
                                  <a:latin typeface="Cambria Math" panose="02040503050406030204" pitchFamily="18" charset="0"/>
                                  <a:ea typeface="Cambria Math" panose="02040503050406030204" pitchFamily="18" charset="0"/>
                                </a:rPr>
                                <m:t>2</m:t>
                              </m:r>
                            </m:sub>
                          </m:sSub>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2</m:t>
                              </m:r>
                            </m:sub>
                          </m:sSub>
                          <m:r>
                            <a:rPr lang="en-US" sz="1200" i="1">
                              <a:solidFill>
                                <a:srgbClr val="002060"/>
                              </a:solidFill>
                              <a:latin typeface="Cambria Math" panose="02040503050406030204" pitchFamily="18" charset="0"/>
                              <a:ea typeface="Cambria Math" panose="02040503050406030204" pitchFamily="18" charset="0"/>
                            </a:rPr>
                            <m:t>|1</m:t>
                          </m:r>
                        </m:e>
                      </m:d>
                    </m:oMath>
                  </m:oMathPara>
                </a14:m>
                <a:endParaRPr lang="en-ZA" b="0" dirty="0"/>
              </a:p>
              <a:p>
                <a:pPr marL="457200" lvl="1" indent="0">
                  <a:buFont typeface="+mj-lt"/>
                  <a:buNone/>
                </a:pPr>
                <a:endParaRPr lang="en-ZA" b="0" dirty="0"/>
              </a:p>
              <a:p>
                <a:pPr marL="457200" lvl="1" indent="0">
                  <a:buFont typeface="+mj-lt"/>
                  <a:buNone/>
                </a:pPr>
                <a:r>
                  <a:rPr lang="en-ZA" b="0" dirty="0"/>
                  <a:t>then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𝑆</m:t>
                            </m:r>
                          </m:e>
                          <m:sub>
                            <m:r>
                              <a:rPr lang="en-US" sz="1200" b="0" i="1" smtClean="0">
                                <a:solidFill>
                                  <a:srgbClr val="002060"/>
                                </a:solidFill>
                                <a:latin typeface="Cambria Math" panose="02040503050406030204" pitchFamily="18" charset="0"/>
                                <a:ea typeface="Cambria Math" panose="02040503050406030204" pitchFamily="18" charset="0"/>
                              </a:rPr>
                              <m:t>1</m:t>
                            </m:r>
                          </m:sub>
                        </m:sSub>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𝑆</m:t>
                            </m:r>
                          </m:e>
                          <m:sub>
                            <m:r>
                              <a:rPr lang="en-US" sz="1200" b="0" i="1" smtClean="0">
                                <a:solidFill>
                                  <a:srgbClr val="002060"/>
                                </a:solidFill>
                                <a:latin typeface="Cambria Math" panose="02040503050406030204" pitchFamily="18" charset="0"/>
                                <a:ea typeface="Cambria Math" panose="02040503050406030204" pitchFamily="18" charset="0"/>
                              </a:rPr>
                              <m:t>2</m:t>
                            </m:r>
                          </m:sub>
                        </m:sSub>
                      </m:e>
                    </m:d>
                    <m:d>
                      <m:dPr>
                        <m:begChr m:val=""/>
                        <m:endChr m:val="⟩"/>
                        <m:ctrlPr>
                          <a:rPr lang="en-US" sz="1200" i="1" smtClean="0">
                            <a:solidFill>
                              <a:srgbClr val="0000FF"/>
                            </a:solidFill>
                            <a:latin typeface="Cambria Math" panose="02040503050406030204" pitchFamily="18" charset="0"/>
                            <a:ea typeface="Cambria Math" panose="02040503050406030204" pitchFamily="18" charset="0"/>
                          </a:rPr>
                        </m:ctrlPr>
                      </m:dPr>
                      <m:e>
                        <m:sSub>
                          <m:sSubPr>
                            <m:ctrlPr>
                              <a:rPr lang="en-US" sz="1200" i="1">
                                <a:solidFill>
                                  <a:srgbClr val="0000FF"/>
                                </a:solidFill>
                                <a:latin typeface="Cambria Math" panose="02040503050406030204" pitchFamily="18" charset="0"/>
                                <a:ea typeface="Cambria Math" panose="02040503050406030204" pitchFamily="18" charset="0"/>
                              </a:rPr>
                            </m:ctrlPr>
                          </m:sSubPr>
                          <m:e>
                            <m:r>
                              <a:rPr lang="sr-Latn-RS" sz="1200" b="0" i="1" smtClean="0">
                                <a:solidFill>
                                  <a:srgbClr val="0000FF"/>
                                </a:solidFill>
                                <a:latin typeface="Cambria Math" panose="02040503050406030204" pitchFamily="18" charset="0"/>
                                <a:ea typeface="Cambria Math" panose="02040503050406030204" pitchFamily="18" charset="0"/>
                              </a:rPr>
                              <m:t>=</m:t>
                            </m:r>
                            <m:r>
                              <a:rPr lang="en-US" sz="1200" i="1">
                                <a:solidFill>
                                  <a:srgbClr val="0000FF"/>
                                </a:solidFill>
                                <a:latin typeface="Cambria Math" panose="02040503050406030204" pitchFamily="18" charset="0"/>
                                <a:ea typeface="Cambria Math" panose="02040503050406030204" pitchFamily="18" charset="0"/>
                              </a:rPr>
                              <m:t>𝑎</m:t>
                            </m:r>
                          </m:e>
                          <m:sub>
                            <m:r>
                              <a:rPr lang="en-US" sz="1200" i="1">
                                <a:solidFill>
                                  <a:srgbClr val="0000FF"/>
                                </a:solidFill>
                                <a:latin typeface="Cambria Math" panose="02040503050406030204" pitchFamily="18" charset="0"/>
                                <a:ea typeface="Cambria Math" panose="02040503050406030204" pitchFamily="18" charset="0"/>
                              </a:rPr>
                              <m:t>1</m:t>
                            </m:r>
                          </m:sub>
                        </m:sSub>
                        <m:sSub>
                          <m:sSubPr>
                            <m:ctrlPr>
                              <a:rPr lang="en-US" sz="1200" i="1">
                                <a:solidFill>
                                  <a:srgbClr val="0000FF"/>
                                </a:solidFill>
                                <a:latin typeface="Cambria Math" panose="02040503050406030204" pitchFamily="18" charset="0"/>
                                <a:ea typeface="Cambria Math" panose="02040503050406030204" pitchFamily="18" charset="0"/>
                              </a:rPr>
                            </m:ctrlPr>
                          </m:sSubPr>
                          <m:e>
                            <m:r>
                              <a:rPr lang="en-US" sz="1200" i="1">
                                <a:solidFill>
                                  <a:srgbClr val="0000FF"/>
                                </a:solidFill>
                                <a:latin typeface="Cambria Math" panose="02040503050406030204" pitchFamily="18" charset="0"/>
                                <a:ea typeface="Cambria Math" panose="02040503050406030204" pitchFamily="18" charset="0"/>
                              </a:rPr>
                              <m:t>𝑎</m:t>
                            </m:r>
                          </m:e>
                          <m:sub>
                            <m:r>
                              <a:rPr lang="en-US" sz="1200" i="1">
                                <a:solidFill>
                                  <a:srgbClr val="0000FF"/>
                                </a:solidFill>
                                <a:latin typeface="Cambria Math" panose="02040503050406030204" pitchFamily="18" charset="0"/>
                                <a:ea typeface="Cambria Math" panose="02040503050406030204" pitchFamily="18" charset="0"/>
                              </a:rPr>
                              <m:t>2</m:t>
                            </m:r>
                          </m:sub>
                        </m:sSub>
                        <m:r>
                          <a:rPr lang="en-US" sz="1200" i="1">
                            <a:solidFill>
                              <a:srgbClr val="0000FF"/>
                            </a:solidFill>
                            <a:latin typeface="Cambria Math" panose="02040503050406030204" pitchFamily="18" charset="0"/>
                            <a:ea typeface="Cambria Math" panose="02040503050406030204" pitchFamily="18" charset="0"/>
                          </a:rPr>
                          <m:t>|00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𝑎</m:t>
                            </m:r>
                          </m:e>
                          <m:sub>
                            <m:r>
                              <a:rPr lang="en-US" sz="1200" i="1">
                                <a:solidFill>
                                  <a:srgbClr val="002060"/>
                                </a:solidFill>
                                <a:latin typeface="Cambria Math" panose="02040503050406030204" pitchFamily="18" charset="0"/>
                                <a:ea typeface="Cambria Math" panose="02040503050406030204" pitchFamily="18" charset="0"/>
                              </a:rPr>
                              <m:t>1</m:t>
                            </m:r>
                          </m:sub>
                        </m:sSub>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𝑏</m:t>
                            </m:r>
                          </m:e>
                          <m:sub>
                            <m:r>
                              <a:rPr lang="en-US" sz="1200" i="1">
                                <a:solidFill>
                                  <a:srgbClr val="002060"/>
                                </a:solidFill>
                                <a:latin typeface="Cambria Math" panose="02040503050406030204" pitchFamily="18" charset="0"/>
                                <a:ea typeface="Cambria Math" panose="02040503050406030204" pitchFamily="18" charset="0"/>
                              </a:rPr>
                              <m:t>2</m:t>
                            </m:r>
                          </m:sub>
                        </m:sSub>
                        <m:r>
                          <a:rPr lang="en-US" sz="1200" i="1">
                            <a:solidFill>
                              <a:srgbClr val="002060"/>
                            </a:solidFill>
                            <a:latin typeface="Cambria Math" panose="02040503050406030204" pitchFamily="18" charset="0"/>
                            <a:ea typeface="Cambria Math" panose="02040503050406030204" pitchFamily="18" charset="0"/>
                          </a:rPr>
                          <m:t>|01</m:t>
                        </m:r>
                      </m:e>
                    </m:d>
                    <m:r>
                      <a:rPr lang="en-US" sz="12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𝑏</m:t>
                            </m:r>
                          </m:e>
                          <m:sub>
                            <m:r>
                              <a:rPr lang="en-US" sz="1200" i="1">
                                <a:solidFill>
                                  <a:srgbClr val="002060"/>
                                </a:solidFill>
                                <a:latin typeface="Cambria Math" panose="02040503050406030204" pitchFamily="18" charset="0"/>
                                <a:ea typeface="Cambria Math" panose="02040503050406030204" pitchFamily="18" charset="0"/>
                              </a:rPr>
                              <m:t>1</m:t>
                            </m:r>
                          </m:sub>
                        </m:sSub>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𝑎</m:t>
                            </m:r>
                          </m:e>
                          <m:sub>
                            <m:r>
                              <a:rPr lang="en-US" sz="1200" i="1">
                                <a:solidFill>
                                  <a:srgbClr val="002060"/>
                                </a:solidFill>
                                <a:latin typeface="Cambria Math" panose="02040503050406030204" pitchFamily="18" charset="0"/>
                                <a:ea typeface="Cambria Math" panose="02040503050406030204" pitchFamily="18" charset="0"/>
                              </a:rPr>
                              <m:t>2</m:t>
                            </m:r>
                          </m:sub>
                        </m:sSub>
                        <m:r>
                          <a:rPr lang="en-US" sz="1200" i="1">
                            <a:solidFill>
                              <a:srgbClr val="002060"/>
                            </a:solidFill>
                            <a:latin typeface="Cambria Math" panose="02040503050406030204" pitchFamily="18" charset="0"/>
                            <a:ea typeface="Cambria Math" panose="02040503050406030204" pitchFamily="18" charset="0"/>
                          </a:rPr>
                          <m:t>|10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smtClean="0">
                            <a:solidFill>
                              <a:srgbClr val="FF0000"/>
                            </a:solidFill>
                            <a:latin typeface="Cambria Math" panose="02040503050406030204" pitchFamily="18" charset="0"/>
                            <a:ea typeface="Cambria Math" panose="02040503050406030204" pitchFamily="18" charset="0"/>
                          </a:rPr>
                        </m:ctrlPr>
                      </m:dPr>
                      <m:e>
                        <m:sSub>
                          <m:sSubPr>
                            <m:ctrlPr>
                              <a:rPr lang="en-US" sz="1200" i="1">
                                <a:solidFill>
                                  <a:srgbClr val="FF0000"/>
                                </a:solidFill>
                                <a:latin typeface="Cambria Math" panose="02040503050406030204" pitchFamily="18" charset="0"/>
                                <a:ea typeface="Cambria Math" panose="02040503050406030204" pitchFamily="18" charset="0"/>
                              </a:rPr>
                            </m:ctrlPr>
                          </m:sSubPr>
                          <m:e>
                            <m:r>
                              <a:rPr lang="en-US" sz="1200" i="1">
                                <a:solidFill>
                                  <a:srgbClr val="FF0000"/>
                                </a:solidFill>
                                <a:latin typeface="Cambria Math" panose="02040503050406030204" pitchFamily="18" charset="0"/>
                                <a:ea typeface="Cambria Math" panose="02040503050406030204" pitchFamily="18" charset="0"/>
                              </a:rPr>
                              <m:t>𝑏</m:t>
                            </m:r>
                          </m:e>
                          <m:sub>
                            <m:r>
                              <a:rPr lang="en-US" sz="1200" i="1">
                                <a:solidFill>
                                  <a:srgbClr val="FF0000"/>
                                </a:solidFill>
                                <a:latin typeface="Cambria Math" panose="02040503050406030204" pitchFamily="18" charset="0"/>
                                <a:ea typeface="Cambria Math" panose="02040503050406030204" pitchFamily="18" charset="0"/>
                              </a:rPr>
                              <m:t>1</m:t>
                            </m:r>
                          </m:sub>
                        </m:sSub>
                        <m:sSub>
                          <m:sSubPr>
                            <m:ctrlPr>
                              <a:rPr lang="en-US" sz="1200" i="1">
                                <a:solidFill>
                                  <a:srgbClr val="FF0000"/>
                                </a:solidFill>
                                <a:latin typeface="Cambria Math" panose="02040503050406030204" pitchFamily="18" charset="0"/>
                                <a:ea typeface="Cambria Math" panose="02040503050406030204" pitchFamily="18" charset="0"/>
                              </a:rPr>
                            </m:ctrlPr>
                          </m:sSubPr>
                          <m:e>
                            <m:r>
                              <a:rPr lang="en-US" sz="1200" i="1">
                                <a:solidFill>
                                  <a:srgbClr val="FF0000"/>
                                </a:solidFill>
                                <a:latin typeface="Cambria Math" panose="02040503050406030204" pitchFamily="18" charset="0"/>
                                <a:ea typeface="Cambria Math" panose="02040503050406030204" pitchFamily="18" charset="0"/>
                              </a:rPr>
                              <m:t>𝑏</m:t>
                            </m:r>
                          </m:e>
                          <m:sub>
                            <m:r>
                              <a:rPr lang="en-US" sz="1200" i="1">
                                <a:solidFill>
                                  <a:srgbClr val="FF0000"/>
                                </a:solidFill>
                                <a:latin typeface="Cambria Math" panose="02040503050406030204" pitchFamily="18" charset="0"/>
                                <a:ea typeface="Cambria Math" panose="02040503050406030204" pitchFamily="18" charset="0"/>
                              </a:rPr>
                              <m:t>2</m:t>
                            </m:r>
                          </m:sub>
                        </m:sSub>
                        <m:r>
                          <a:rPr lang="en-US" sz="1200" i="1">
                            <a:solidFill>
                              <a:srgbClr val="FF0000"/>
                            </a:solidFill>
                            <a:latin typeface="Cambria Math" panose="02040503050406030204" pitchFamily="18" charset="0"/>
                            <a:ea typeface="Cambria Math" panose="02040503050406030204" pitchFamily="18" charset="0"/>
                          </a:rPr>
                          <m:t>|11</m:t>
                        </m:r>
                      </m:e>
                    </m:d>
                  </m:oMath>
                </a14:m>
                <a:endParaRPr lang="en-ZA" b="0" dirty="0"/>
              </a:p>
              <a:p>
                <a:pPr lvl="1"/>
                <a:r>
                  <a:rPr lang="en-ZA" b="0" dirty="0"/>
                  <a:t>To reproduce the Bell state, we would need </a:t>
                </a:r>
                <a14:m>
                  <m:oMath xmlns:m="http://schemas.openxmlformats.org/officeDocument/2006/math">
                    <m:sSub>
                      <m:sSubPr>
                        <m:ctrlPr>
                          <a:rPr lang="en-US" sz="1200" b="0" i="1" smtClean="0">
                            <a:solidFill>
                              <a:srgbClr val="0000FF"/>
                            </a:solidFill>
                            <a:latin typeface="Cambria Math" panose="02040503050406030204" pitchFamily="18" charset="0"/>
                            <a:ea typeface="Cambria Math" panose="02040503050406030204" pitchFamily="18" charset="0"/>
                          </a:rPr>
                        </m:ctrlPr>
                      </m:sSubPr>
                      <m:e>
                        <m:r>
                          <a:rPr lang="sr-Latn-RS" sz="1200" b="0" i="1" smtClean="0">
                            <a:solidFill>
                              <a:srgbClr val="0000FF"/>
                            </a:solidFill>
                            <a:latin typeface="Cambria Math" panose="02040503050406030204" pitchFamily="18" charset="0"/>
                            <a:ea typeface="Cambria Math" panose="02040503050406030204" pitchFamily="18" charset="0"/>
                          </a:rPr>
                          <m:t> </m:t>
                        </m:r>
                        <m:r>
                          <a:rPr lang="en-US" sz="1200" b="0" i="1" smtClean="0">
                            <a:solidFill>
                              <a:srgbClr val="0000FF"/>
                            </a:solidFill>
                            <a:latin typeface="Cambria Math" panose="02040503050406030204" pitchFamily="18" charset="0"/>
                            <a:ea typeface="Cambria Math" panose="02040503050406030204" pitchFamily="18" charset="0"/>
                          </a:rPr>
                          <m:t>𝑎</m:t>
                        </m:r>
                      </m:e>
                      <m:sub>
                        <m:r>
                          <a:rPr lang="en-US" sz="1200" b="0" i="1" smtClean="0">
                            <a:solidFill>
                              <a:srgbClr val="0000FF"/>
                            </a:solidFill>
                            <a:latin typeface="Cambria Math" panose="02040503050406030204" pitchFamily="18" charset="0"/>
                            <a:ea typeface="Cambria Math" panose="02040503050406030204" pitchFamily="18" charset="0"/>
                          </a:rPr>
                          <m:t>1</m:t>
                        </m:r>
                      </m:sub>
                    </m:sSub>
                    <m:sSub>
                      <m:sSubPr>
                        <m:ctrlPr>
                          <a:rPr lang="en-US" sz="1200" b="0" i="1">
                            <a:solidFill>
                              <a:srgbClr val="0000FF"/>
                            </a:solidFill>
                            <a:latin typeface="Cambria Math" panose="02040503050406030204" pitchFamily="18" charset="0"/>
                            <a:ea typeface="Cambria Math" panose="02040503050406030204" pitchFamily="18" charset="0"/>
                          </a:rPr>
                        </m:ctrlPr>
                      </m:sSubPr>
                      <m:e>
                        <m:r>
                          <a:rPr lang="en-US" sz="1200" b="0" i="1" smtClean="0">
                            <a:solidFill>
                              <a:srgbClr val="0000FF"/>
                            </a:solidFill>
                            <a:latin typeface="Cambria Math" panose="02040503050406030204" pitchFamily="18" charset="0"/>
                            <a:ea typeface="Cambria Math" panose="02040503050406030204" pitchFamily="18" charset="0"/>
                          </a:rPr>
                          <m:t>𝑎</m:t>
                        </m:r>
                      </m:e>
                      <m:sub>
                        <m:r>
                          <a:rPr lang="en-US" sz="1200" b="0" i="1" smtClean="0">
                            <a:solidFill>
                              <a:srgbClr val="0000FF"/>
                            </a:solidFill>
                            <a:latin typeface="Cambria Math" panose="02040503050406030204" pitchFamily="18" charset="0"/>
                            <a:ea typeface="Cambria Math" panose="02040503050406030204" pitchFamily="18" charset="0"/>
                          </a:rPr>
                          <m:t>2</m:t>
                        </m:r>
                      </m:sub>
                    </m:sSub>
                    <m:r>
                      <a:rPr lang="en-US" sz="1200" b="0" i="1" smtClean="0">
                        <a:solidFill>
                          <a:srgbClr val="0000FF"/>
                        </a:solidFill>
                        <a:latin typeface="Cambria Math" panose="02040503050406030204" pitchFamily="18" charset="0"/>
                        <a:ea typeface="Cambria Math" panose="02040503050406030204" pitchFamily="18" charset="0"/>
                      </a:rPr>
                      <m:t>=</m:t>
                    </m:r>
                    <m:sSub>
                      <m:sSubPr>
                        <m:ctrlPr>
                          <a:rPr lang="en-US" sz="1200" b="0" i="1" smtClean="0">
                            <a:solidFill>
                              <a:srgbClr val="FF0000"/>
                            </a:solidFill>
                            <a:latin typeface="Cambria Math" panose="02040503050406030204" pitchFamily="18" charset="0"/>
                            <a:ea typeface="Cambria Math" panose="02040503050406030204" pitchFamily="18" charset="0"/>
                          </a:rPr>
                        </m:ctrlPr>
                      </m:sSubPr>
                      <m:e>
                        <m:r>
                          <a:rPr lang="en-US" sz="1200" b="0" i="1" smtClean="0">
                            <a:solidFill>
                              <a:srgbClr val="FF0000"/>
                            </a:solidFill>
                            <a:latin typeface="Cambria Math" panose="02040503050406030204" pitchFamily="18" charset="0"/>
                            <a:ea typeface="Cambria Math" panose="02040503050406030204" pitchFamily="18" charset="0"/>
                          </a:rPr>
                          <m:t>𝑏</m:t>
                        </m:r>
                      </m:e>
                      <m:sub>
                        <m:r>
                          <a:rPr lang="en-US" sz="1200" b="0" i="1" smtClean="0">
                            <a:solidFill>
                              <a:srgbClr val="FF0000"/>
                            </a:solidFill>
                            <a:latin typeface="Cambria Math" panose="02040503050406030204" pitchFamily="18" charset="0"/>
                            <a:ea typeface="Cambria Math" panose="02040503050406030204" pitchFamily="18" charset="0"/>
                          </a:rPr>
                          <m:t>1</m:t>
                        </m:r>
                      </m:sub>
                    </m:sSub>
                    <m:sSub>
                      <m:sSubPr>
                        <m:ctrlPr>
                          <a:rPr lang="en-US" sz="1200" b="0" i="1">
                            <a:solidFill>
                              <a:srgbClr val="FF0000"/>
                            </a:solidFill>
                            <a:latin typeface="Cambria Math" panose="02040503050406030204" pitchFamily="18" charset="0"/>
                            <a:ea typeface="Cambria Math" panose="02040503050406030204" pitchFamily="18" charset="0"/>
                          </a:rPr>
                        </m:ctrlPr>
                      </m:sSubPr>
                      <m:e>
                        <m:r>
                          <a:rPr lang="en-US" sz="1200" b="0" i="1" smtClean="0">
                            <a:solidFill>
                              <a:srgbClr val="FF0000"/>
                            </a:solidFill>
                            <a:latin typeface="Cambria Math" panose="02040503050406030204" pitchFamily="18" charset="0"/>
                            <a:ea typeface="Cambria Math" panose="02040503050406030204" pitchFamily="18" charset="0"/>
                          </a:rPr>
                          <m:t>𝑏</m:t>
                        </m:r>
                      </m:e>
                      <m:sub>
                        <m:r>
                          <a:rPr lang="en-US" sz="1200" b="0" i="1" smtClean="0">
                            <a:solidFill>
                              <a:srgbClr val="FF0000"/>
                            </a:solidFill>
                            <a:latin typeface="Cambria Math" panose="02040503050406030204" pitchFamily="18" charset="0"/>
                            <a:ea typeface="Cambria Math" panose="02040503050406030204" pitchFamily="18" charset="0"/>
                          </a:rPr>
                          <m:t>2</m:t>
                        </m:r>
                      </m:sub>
                    </m:sSub>
                    <m:r>
                      <a:rPr lang="en-US" sz="1200" b="0" i="1" smtClean="0">
                        <a:solidFill>
                          <a:srgbClr val="FF0000"/>
                        </a:solidFill>
                        <a:latin typeface="Cambria Math" panose="02040503050406030204" pitchFamily="18" charset="0"/>
                        <a:ea typeface="Cambria Math" panose="02040503050406030204" pitchFamily="18" charset="0"/>
                      </a:rPr>
                      <m:t>=</m:t>
                    </m:r>
                    <m:r>
                      <a:rPr lang="en-US" sz="1200" b="0" i="1" smtClean="0">
                        <a:solidFill>
                          <a:srgbClr val="0000FF"/>
                        </a:solidFill>
                        <a:latin typeface="Cambria Math" panose="02040503050406030204" pitchFamily="18" charset="0"/>
                        <a:ea typeface="Cambria Math" panose="02040503050406030204" pitchFamily="18" charset="0"/>
                      </a:rPr>
                      <m:t>1/</m:t>
                    </m:r>
                    <m:rad>
                      <m:radPr>
                        <m:degHide m:val="on"/>
                        <m:ctrlPr>
                          <a:rPr lang="en-US" sz="1200" b="0" i="1" smtClean="0">
                            <a:solidFill>
                              <a:srgbClr val="0000FF"/>
                            </a:solidFill>
                            <a:latin typeface="Cambria Math" panose="02040503050406030204" pitchFamily="18" charset="0"/>
                            <a:ea typeface="Cambria Math" panose="02040503050406030204" pitchFamily="18" charset="0"/>
                          </a:rPr>
                        </m:ctrlPr>
                      </m:radPr>
                      <m:deg/>
                      <m:e>
                        <m:r>
                          <a:rPr lang="en-US" sz="1200" b="0" i="1" smtClean="0">
                            <a:solidFill>
                              <a:srgbClr val="0000FF"/>
                            </a:solidFill>
                            <a:latin typeface="Cambria Math" panose="02040503050406030204" pitchFamily="18" charset="0"/>
                            <a:ea typeface="Cambria Math" panose="02040503050406030204" pitchFamily="18" charset="0"/>
                          </a:rPr>
                          <m:t>2</m:t>
                        </m:r>
                      </m:e>
                    </m:rad>
                  </m:oMath>
                </a14:m>
                <a:r>
                  <a:rPr lang="en-US" sz="1200" b="0" dirty="0"/>
                  <a:t> and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𝑎</m:t>
                        </m:r>
                      </m:e>
                      <m:sub>
                        <m:r>
                          <a:rPr lang="en-US" sz="1200" b="0" i="1" smtClean="0">
                            <a:solidFill>
                              <a:srgbClr val="002060"/>
                            </a:solidFill>
                            <a:latin typeface="Cambria Math" panose="02040503050406030204" pitchFamily="18" charset="0"/>
                            <a:ea typeface="Cambria Math" panose="02040503050406030204" pitchFamily="18" charset="0"/>
                          </a:rPr>
                          <m:t>1</m:t>
                        </m:r>
                      </m:sub>
                    </m:sSub>
                    <m:sSub>
                      <m:sSubPr>
                        <m:ctrlPr>
                          <a:rPr lang="en-US" sz="1200" b="0" i="1">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2</m:t>
                        </m:r>
                      </m:sub>
                    </m:sSub>
                    <m:r>
                      <a:rPr lang="en-US" sz="1200" b="0" i="1" smtClean="0">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1</m:t>
                        </m:r>
                      </m:sub>
                    </m:sSub>
                    <m:r>
                      <a:rPr lang="en-US" sz="1200" b="0" i="1" smtClean="0">
                        <a:solidFill>
                          <a:srgbClr val="002060"/>
                        </a:solidFill>
                        <a:latin typeface="Cambria Math" panose="02040503050406030204" pitchFamily="18" charset="0"/>
                        <a:ea typeface="Cambria Math" panose="02040503050406030204" pitchFamily="18" charset="0"/>
                      </a:rPr>
                      <m:t> </m:t>
                    </m:r>
                    <m:sSub>
                      <m:sSubPr>
                        <m:ctrlPr>
                          <a:rPr lang="en-US" sz="1200" b="0" i="1">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𝑎</m:t>
                        </m:r>
                      </m:e>
                      <m:sub>
                        <m:r>
                          <a:rPr lang="en-US" sz="1200" b="0" i="1" smtClean="0">
                            <a:solidFill>
                              <a:srgbClr val="002060"/>
                            </a:solidFill>
                            <a:latin typeface="Cambria Math" panose="02040503050406030204" pitchFamily="18" charset="0"/>
                            <a:ea typeface="Cambria Math" panose="02040503050406030204" pitchFamily="18" charset="0"/>
                          </a:rPr>
                          <m:t>2</m:t>
                        </m:r>
                      </m:sub>
                    </m:sSub>
                    <m:r>
                      <a:rPr lang="en-US" sz="1200" b="0" i="1" smtClean="0">
                        <a:solidFill>
                          <a:srgbClr val="002060"/>
                        </a:solidFill>
                        <a:latin typeface="Cambria Math" panose="02040503050406030204" pitchFamily="18" charset="0"/>
                        <a:ea typeface="Cambria Math" panose="02040503050406030204" pitchFamily="18" charset="0"/>
                      </a:rPr>
                      <m:t>=0</m:t>
                    </m:r>
                  </m:oMath>
                </a14:m>
                <a:endParaRPr lang="en-ZA" b="0" dirty="0"/>
              </a:p>
              <a:p>
                <a:pPr lvl="1"/>
                <a:r>
                  <a:rPr lang="en-ZA" b="0" dirty="0"/>
                  <a:t>These conditions cannot be satisfied simultaneously. Therefore, the Bell state cannot be separated into two independent qubit states.</a:t>
                </a:r>
              </a:p>
              <a:p>
                <a:pPr lvl="1"/>
                <a:endParaRPr lang="en-ZA" b="0" dirty="0"/>
              </a:p>
              <a:p>
                <a:pPr marL="228600" indent="-228600">
                  <a:buFont typeface="+mj-lt"/>
                  <a:buAutoNum type="arabicPeriod" startAt="2"/>
                </a:pPr>
                <a:r>
                  <a:rPr lang="en-ZA" b="0" dirty="0"/>
                  <a:t>Measurement correlation means that the measurement outcomes are perfectly correlated. If the first qubit is measured as 0, the state becomes ∣00⟩, so the second qubit is also 0. If the first is measured as 1, the state becomes ∣11⟩, so the second qubit is also 1.</a:t>
                </a:r>
              </a:p>
              <a:p>
                <a:pPr marL="0" indent="0" algn="just">
                  <a:buFont typeface="+mj-lt"/>
                  <a:buNone/>
                </a:pPr>
                <a:endParaRPr lang="en-ZA" dirty="0"/>
              </a:p>
            </p:txBody>
          </p:sp>
        </mc:Choice>
        <mc:Fallback xmlns="">
          <p:sp>
            <p:nvSpPr>
              <p:cNvPr id="3" name="Notes Placeholder 2"/>
              <p:cNvSpPr>
                <a:spLocks noGrp="1"/>
              </p:cNvSpPr>
              <p:nvPr>
                <p:ph type="body" idx="1"/>
              </p:nvPr>
            </p:nvSpPr>
            <p:spPr/>
            <p:txBody>
              <a:bodyPr/>
              <a:lstStyle/>
              <a:p>
                <a:r>
                  <a:rPr lang="en-US" sz="2000" dirty="0"/>
                  <a:t>Entangled qubits have a few special properties.</a:t>
                </a:r>
              </a:p>
              <a:p>
                <a:pPr marL="0" indent="0">
                  <a:buFont typeface="+mj-lt"/>
                  <a:buNone/>
                </a:pPr>
                <a:r>
                  <a:rPr lang="en-US" sz="2000" dirty="0"/>
                  <a:t>The first one is that they share a common, unified quantum state. If an entangled state were same as any</a:t>
                </a:r>
                <a:r>
                  <a:rPr lang="en-US" sz="2000" baseline="0" dirty="0"/>
                  <a:t> other combination of states we should be able to equate it to to the product of two qubits in superposition. </a:t>
                </a:r>
                <a:r>
                  <a:rPr lang="en-US" sz="2000" dirty="0"/>
                  <a:t>Let’s say that we have two qubits in superposition: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𝑆_1 ⟩</a:t>
                </a:r>
                <a:r>
                  <a:rPr lang="en-US" sz="2000" dirty="0"/>
                  <a:t> and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𝑆_2 ⟩</a:t>
                </a:r>
                <a:r>
                  <a:rPr lang="en-US" sz="2000" dirty="0"/>
                  <a:t>. </a:t>
                </a:r>
              </a:p>
              <a:p>
                <a:pPr marL="457200" indent="-457200">
                  <a:buFont typeface="+mj-lt"/>
                  <a:buAutoNum type="arabicPeriod"/>
                </a:pPr>
                <a:r>
                  <a:rPr lang="en-US" sz="2000" dirty="0"/>
                  <a:t>If we look at the expression on the left and right we can see that there is no possible combination of coefficients that would satisfy the equation.</a:t>
                </a:r>
              </a:p>
              <a:p>
                <a:pPr marL="457200" indent="-457200">
                  <a:buFont typeface="+mj-lt"/>
                  <a:buAutoNum type="arabicPeriod"/>
                </a:pPr>
                <a:r>
                  <a:rPr lang="en-US" sz="2000" dirty="0"/>
                  <a:t>Measurement results of entangled qubits are correlated. </a:t>
                </a:r>
              </a:p>
              <a:p>
                <a:pPr marL="457200" indent="-457200">
                  <a:buFont typeface="+mj-lt"/>
                  <a:buAutoNum type="arabicPeriod"/>
                </a:pPr>
                <a:r>
                  <a:rPr lang="en-US" sz="2000" dirty="0"/>
                  <a:t>For example, if the result of the measurement of the first qubit is 0, the resulting state must be consistent with the result, so </a:t>
                </a:r>
                <a:r>
                  <a:rPr lang="en-US" sz="2000" i="0">
                    <a:solidFill>
                      <a:srgbClr val="FF0000"/>
                    </a:solidFill>
                    <a:latin typeface="Cambria Math" panose="02040503050406030204" pitchFamily="18" charset="0"/>
                    <a:ea typeface="Cambria Math" panose="02040503050406030204" pitchFamily="18" charset="0"/>
                  </a:rPr>
                  <a:t>├ |11⟩</a:t>
                </a:r>
                <a:r>
                  <a:rPr lang="en-US" sz="2000" dirty="0"/>
                  <a:t> is removed, and the remaining qubit is </a:t>
                </a:r>
                <a:r>
                  <a:rPr lang="en-US" sz="2000" i="0">
                    <a:solidFill>
                      <a:srgbClr val="002060"/>
                    </a:solidFill>
                    <a:latin typeface="Cambria Math" panose="02040503050406030204" pitchFamily="18" charset="0"/>
                    <a:ea typeface="Cambria Math" panose="02040503050406030204" pitchFamily="18" charset="0"/>
                  </a:rPr>
                  <a:t>├ |0</a:t>
                </a:r>
                <a:r>
                  <a:rPr lang="en-US" sz="2000" b="0" i="0">
                    <a:solidFill>
                      <a:srgbClr val="002060"/>
                    </a:solidFill>
                    <a:latin typeface="Cambria Math" panose="02040503050406030204" pitchFamily="18" charset="0"/>
                    <a:ea typeface="Cambria Math" panose="02040503050406030204" pitchFamily="18" charset="0"/>
                  </a:rPr>
                  <a:t>⟩</a:t>
                </a:r>
                <a:r>
                  <a:rPr lang="en-US" sz="2000" dirty="0"/>
                  <a:t> which guarantees that the measurement</a:t>
                </a:r>
                <a:r>
                  <a:rPr lang="en-US" sz="2000" baseline="0" dirty="0"/>
                  <a:t> of the second qubit will be 0.</a:t>
                </a: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1686071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just">
                  <a:buFont typeface="+mj-lt"/>
                  <a:buAutoNum type="arabicPeriod"/>
                </a:pPr>
                <a:r>
                  <a:rPr lang="en-ZA" b="0" dirty="0"/>
                  <a:t>When we measure the Bell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a:t>
                </a:r>
                <a:r>
                  <a:rPr lang="en-ZA" dirty="0"/>
                  <a:t>the results are always </a:t>
                </a:r>
                <a:r>
                  <a:rPr lang="en-ZA" b="0" dirty="0"/>
                  <a:t>correlated</a:t>
                </a:r>
                <a:r>
                  <a:rPr lang="en-ZA" dirty="0"/>
                  <a:t>: we obtain either 00 or 11, each with 50% probability.</a:t>
                </a:r>
                <a:r>
                  <a:rPr lang="en-ZA" b="0" dirty="0"/>
                  <a:t>.</a:t>
                </a:r>
              </a:p>
              <a:p>
                <a:pPr marL="228600" indent="-228600" algn="just">
                  <a:buFont typeface="+mj-lt"/>
                  <a:buAutoNum type="arabicPeriod"/>
                </a:pPr>
                <a:endParaRPr lang="en-ZA" b="0" dirty="0"/>
              </a:p>
              <a:p>
                <a:pPr marL="228600" indent="-228600" algn="just">
                  <a:buFont typeface="+mj-lt"/>
                  <a:buAutoNum type="arabicPeriod"/>
                </a:pPr>
                <a:r>
                  <a:rPr lang="en-ZA" b="0" dirty="0"/>
                  <a:t>The same is true for the Bell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10</m:t>
                            </m:r>
                          </m:sub>
                        </m:sSub>
                      </m:e>
                    </m:d>
                  </m:oMath>
                </a14:m>
                <a:r>
                  <a:rPr lang="en-ZA" b="0" dirty="0"/>
                  <a:t>. </a:t>
                </a:r>
                <a:r>
                  <a:rPr lang="en-ZA" dirty="0"/>
                  <a:t>The minus sign represents a </a:t>
                </a:r>
                <a:r>
                  <a:rPr lang="en-ZA" b="0" dirty="0"/>
                  <a:t>relative phase</a:t>
                </a:r>
                <a:r>
                  <a:rPr lang="en-ZA" dirty="0"/>
                  <a:t>, but it does not affect measurement probabilities in the standard basis. We again obtain either 00 or 11.</a:t>
                </a:r>
                <a:endParaRPr lang="en-ZA" b="0" dirty="0"/>
              </a:p>
              <a:p>
                <a:pPr marL="228600" indent="-228600" algn="just">
                  <a:buFont typeface="+mj-lt"/>
                  <a:buAutoNum type="arabicPeriod"/>
                </a:pPr>
                <a:endParaRPr lang="en-ZA" b="0" dirty="0"/>
              </a:p>
              <a:p>
                <a:pPr marL="228600" indent="-228600" algn="just">
                  <a:buFont typeface="+mj-lt"/>
                  <a:buAutoNum type="arabicPeriod"/>
                </a:pPr>
                <a:r>
                  <a:rPr lang="en-ZA" b="0" dirty="0"/>
                  <a:t>In contrast, measuring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01</m:t>
                            </m:r>
                          </m:sub>
                        </m:sSub>
                      </m:e>
                    </m:d>
                  </m:oMath>
                </a14:m>
                <a:r>
                  <a:rPr lang="en-ZA" b="0" dirty="0"/>
                  <a:t> </a:t>
                </a:r>
                <a:r>
                  <a:rPr lang="en-ZA" dirty="0"/>
                  <a:t>produces </a:t>
                </a:r>
                <a:r>
                  <a:rPr lang="en-ZA" b="0" dirty="0"/>
                  <a:t>anti-correlated</a:t>
                </a:r>
                <a:r>
                  <a:rPr lang="en-ZA" dirty="0"/>
                  <a:t> results: we obtain either 01 or 10, each with 50% probability. </a:t>
                </a:r>
              </a:p>
              <a:p>
                <a:pPr marL="228600" indent="-228600" algn="just">
                  <a:buFont typeface="+mj-lt"/>
                  <a:buAutoNum type="arabicPeriod"/>
                </a:pPr>
                <a:endParaRPr lang="en-ZA" dirty="0"/>
              </a:p>
              <a:p>
                <a:pPr marL="228600" indent="-228600" algn="just">
                  <a:buFont typeface="+mj-lt"/>
                  <a:buAutoNum type="arabicPeriod"/>
                </a:pPr>
                <a:r>
                  <a:rPr lang="en-ZA" dirty="0"/>
                  <a:t>The same is true for</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11</m:t>
                            </m:r>
                          </m:sub>
                        </m:sSub>
                      </m:e>
                    </m:d>
                  </m:oMath>
                </a14:m>
                <a:r>
                  <a:rPr lang="en-ZA" b="0" dirty="0"/>
                  <a:t>.</a:t>
                </a:r>
              </a:p>
              <a:p>
                <a:pPr marL="228600" indent="-228600" algn="just">
                  <a:buFont typeface="+mj-lt"/>
                  <a:buAutoNum type="arabicPeriod"/>
                </a:pPr>
                <a:endParaRPr lang="en-ZA" b="0" dirty="0"/>
              </a:p>
              <a:p>
                <a:pPr marL="0" indent="0" algn="just">
                  <a:buFont typeface="+mj-lt"/>
                  <a:buNone/>
                </a:pPr>
                <a:r>
                  <a:rPr lang="en-ZA" b="0" dirty="0"/>
                  <a:t>These correlations make Bell states useful in quantum communication and cryptography. If two parties share a Bell pair, measuring their qubits produces either the same or opposite results, depending on the Bell state they share.</a:t>
                </a:r>
              </a:p>
              <a:p>
                <a:pPr marL="0" indent="0" algn="just">
                  <a:buFont typeface="+mj-lt"/>
                  <a:buNone/>
                </a:pPr>
                <a:endParaRPr lang="en-ZA" dirty="0"/>
              </a:p>
              <a:p>
                <a:pPr marL="0" indent="0" algn="just">
                  <a:buFont typeface="+mj-lt"/>
                  <a:buNone/>
                </a:pPr>
                <a:endParaRPr lang="en-ZA" b="0" dirty="0"/>
              </a:p>
            </p:txBody>
          </p:sp>
        </mc:Choice>
        <mc:Fallback xmlns="">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We have shown that measuring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b="0" dirty="0"/>
                  <a:t> results in correlated outcomes. The qubits will always be measured as either 00 or 11, each with a 50% probability. Importantly, the measurement results remain correlated regardless of whether the qubits are measured simultaneously or at different times.</a:t>
                </a:r>
              </a:p>
              <a:p>
                <a:pPr marL="171450" indent="-171450" algn="just">
                  <a:buFont typeface="Arial" panose="020B0604020202020204" pitchFamily="34" charset="0"/>
                  <a:buChar char="•"/>
                </a:pPr>
                <a:r>
                  <a:rPr lang="en-ZA" b="0" dirty="0"/>
                  <a:t>The same applies to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𝐵_10 ⟩</a:t>
                </a:r>
                <a:r>
                  <a:rPr lang="en-ZA" b="0" dirty="0"/>
                  <a:t>. Since the global phase (− sign) does not affect measurement outcomes, the two qubits will always yield the same result when measured.</a:t>
                </a:r>
              </a:p>
              <a:p>
                <a:pPr marL="171450" indent="-171450" algn="just">
                  <a:buFont typeface="Arial" panose="020B0604020202020204" pitchFamily="34" charset="0"/>
                  <a:buChar char="•"/>
                </a:pPr>
                <a:r>
                  <a:rPr lang="en-ZA" b="0" dirty="0"/>
                  <a:t>In contrast, measuring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𝐵_01 ⟩</a:t>
                </a:r>
                <a:r>
                  <a:rPr lang="en-ZA" b="0" dirty="0"/>
                  <a:t> gives opposite results for each qubit. If one qubit is measured as 0, the other will always be 1, and vice versa. This type of correlation is known as anti-correlation.</a:t>
                </a:r>
              </a:p>
              <a:p>
                <a:pPr marL="171450" indent="-171450" algn="just">
                  <a:buFont typeface="Arial" panose="020B0604020202020204" pitchFamily="34" charset="0"/>
                  <a:buChar char="•"/>
                </a:pPr>
                <a:r>
                  <a:rPr lang="en-ZA" b="0" dirty="0"/>
                  <a:t>The same anti-correlation property holds for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𝐵_11 ⟩</a:t>
                </a:r>
                <a:r>
                  <a:rPr lang="en-ZA" b="0" dirty="0"/>
                  <a:t>.</a:t>
                </a:r>
              </a:p>
              <a:p>
                <a:pPr algn="just"/>
                <a:endParaRPr lang="en-ZA" b="0" dirty="0"/>
              </a:p>
              <a:p>
                <a:pPr algn="just"/>
                <a:r>
                  <a:rPr lang="en-ZA" b="0" dirty="0"/>
                  <a:t>This property is frequently utilized in quantum communication. Before transmitting information, two parties exchange entangled qubits. The sender then measures their qubit, knowing that the receiver will obtain either the same or the opposite value, depending on which Bell state they shared.</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3649384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Arial" panose="020B0604020202020204" pitchFamily="34" charset="0"/>
                  <a:buNone/>
                </a:pPr>
                <a:r>
                  <a:rPr lang="en-ZA" b="0" dirty="0"/>
                  <a:t>In some applications, it is necessary to decode a Bell state, transforming the entangled qubits back into separate qubits. For example, consider decoding the Bell state </a:t>
                </a:r>
                <a14:m>
                  <m:oMath xmlns:m="http://schemas.openxmlformats.org/officeDocument/2006/math">
                    <m:d>
                      <m:dPr>
                        <m:begChr m:val=""/>
                        <m:endChr m:val="⟩"/>
                        <m:ctrlPr>
                          <a:rPr lang="en-US" sz="1200" b="0" i="1" smtClean="0">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Since quantum gates are reversible, this can be done by applying the Bell-state preparation circuit in reverse order. First, the CX gate flips the second qubit whenever the first qubit is ∣1⟩:</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
                        <m:fPr>
                          <m:ctrlPr>
                            <a:rPr lang="en-US" sz="12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b="0" i="1">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b="0" i="1">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1200" b="0" i="1">
                                  <a:solidFill>
                                    <a:srgbClr val="002060"/>
                                  </a:solidFill>
                                  <a:latin typeface="Cambria Math" panose="02040503050406030204" pitchFamily="18" charset="0"/>
                                  <a:ea typeface="Cambria Math" panose="02040503050406030204" pitchFamily="18" charset="0"/>
                                </a:rPr>
                              </m:ctrlPr>
                            </m:radPr>
                            <m:deg/>
                            <m:e>
                              <m:r>
                                <a:rPr lang="en-US" sz="1200" b="0" i="1">
                                  <a:solidFill>
                                    <a:srgbClr val="002060"/>
                                  </a:solidFill>
                                  <a:latin typeface="Cambria Math" panose="02040503050406030204" pitchFamily="18" charset="0"/>
                                  <a:ea typeface="Cambria Math" panose="02040503050406030204" pitchFamily="18" charset="0"/>
                                </a:rPr>
                                <m:t>2</m:t>
                              </m:r>
                            </m:e>
                          </m:rad>
                        </m:den>
                      </m:f>
                      <m:groupChr>
                        <m:groupChrPr>
                          <m:chr m:val="→"/>
                          <m:vertJc m:val="bot"/>
                          <m:ctrlPr>
                            <a:rPr lang="en-US" sz="1200" b="0" i="1" smtClean="0">
                              <a:solidFill>
                                <a:srgbClr val="002060"/>
                              </a:solidFill>
                              <a:latin typeface="Cambria Math" panose="02040503050406030204" pitchFamily="18" charset="0"/>
                              <a:ea typeface="Cambria Math" panose="02040503050406030204" pitchFamily="18" charset="0"/>
                            </a:rPr>
                          </m:ctrlPr>
                        </m:groupChrPr>
                        <m:e>
                          <m:r>
                            <m:rPr>
                              <m:brk m:alnAt="2"/>
                            </m:rPr>
                            <a:rPr lang="en-US" sz="1200" b="0" i="1" smtClean="0">
                              <a:solidFill>
                                <a:srgbClr val="002060"/>
                              </a:solidFill>
                              <a:latin typeface="Cambria Math" panose="02040503050406030204" pitchFamily="18" charset="0"/>
                              <a:ea typeface="Cambria Math" panose="02040503050406030204" pitchFamily="18" charset="0"/>
                            </a:rPr>
                            <m:t>𝐶</m:t>
                          </m:r>
                          <m:r>
                            <a:rPr lang="sr-Latn-RS" sz="1200" b="0" i="1" smtClean="0">
                              <a:solidFill>
                                <a:srgbClr val="002060"/>
                              </a:solidFill>
                              <a:latin typeface="Cambria Math" panose="02040503050406030204" pitchFamily="18" charset="0"/>
                              <a:ea typeface="Cambria Math" panose="02040503050406030204" pitchFamily="18" charset="0"/>
                            </a:rPr>
                            <m:t>𝑋</m:t>
                          </m:r>
                        </m:e>
                      </m:groupChr>
                      <m:f>
                        <m:fPr>
                          <m:ctrlPr>
                            <a:rPr lang="en-US" sz="12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b="0" i="1">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|00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b="0" i="1">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1200" b="0" i="1">
                                  <a:solidFill>
                                    <a:srgbClr val="002060"/>
                                  </a:solidFill>
                                  <a:latin typeface="Cambria Math" panose="02040503050406030204" pitchFamily="18" charset="0"/>
                                  <a:ea typeface="Cambria Math" panose="02040503050406030204" pitchFamily="18" charset="0"/>
                                </a:rPr>
                              </m:ctrlPr>
                            </m:radPr>
                            <m:deg/>
                            <m:e>
                              <m:r>
                                <a:rPr lang="en-US" sz="1200" b="0" i="1">
                                  <a:solidFill>
                                    <a:srgbClr val="002060"/>
                                  </a:solidFill>
                                  <a:latin typeface="Cambria Math" panose="02040503050406030204" pitchFamily="18" charset="0"/>
                                  <a:ea typeface="Cambria Math" panose="02040503050406030204" pitchFamily="18" charset="0"/>
                                </a:rPr>
                                <m:t>2</m:t>
                              </m:r>
                            </m:e>
                          </m:rad>
                        </m:den>
                      </m:f>
                    </m:oMath>
                  </m:oMathPara>
                </a14:m>
                <a:endParaRPr lang="en-ZA" b="0" dirty="0"/>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Next, applying the Hadamard gate introduces quantum interference. The amplitudes of the ∣1⟩ component interfere destructively and cancel, while the amplitudes of the ∣0⟩ component interfere constructively. As a result, the two qubits return to the state ∣00⟩.</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After measuring both qubits, the result 00 identifies the original Bell state as </a:t>
                </a:r>
                <a14:m>
                  <m:oMath xmlns:m="http://schemas.openxmlformats.org/officeDocument/2006/math">
                    <m:d>
                      <m:dPr>
                        <m:begChr m:val=""/>
                        <m:endChr m:val="⟩"/>
                        <m:ctrlPr>
                          <a:rPr lang="en-US" sz="1200" b="0" i="1" smtClean="0">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Applying this inverse Bell circuit followed by measurement allows us to distinguish the four Bell states. This is called measurement in the Bell basis..</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Ponekad </a:t>
                </a:r>
                <a:r>
                  <a:rPr lang="en-US" sz="2000" dirty="0" err="1"/>
                  <a:t>je</a:t>
                </a:r>
                <a:r>
                  <a:rPr lang="en-US" sz="2000" dirty="0"/>
                  <a:t> </a:t>
                </a:r>
                <a:r>
                  <a:rPr lang="en-US" sz="2000" dirty="0" err="1"/>
                  <a:t>potrebno</a:t>
                </a:r>
                <a:r>
                  <a:rPr lang="en-US" sz="2000" dirty="0"/>
                  <a:t> </a:t>
                </a:r>
                <a:r>
                  <a:rPr lang="en-US" sz="2000" dirty="0" err="1"/>
                  <a:t>uraditi</a:t>
                </a:r>
                <a:r>
                  <a:rPr lang="en-US" sz="2000" dirty="0"/>
                  <a:t> </a:t>
                </a:r>
                <a:r>
                  <a:rPr lang="en-US" sz="2000" dirty="0" err="1"/>
                  <a:t>inverziju</a:t>
                </a:r>
                <a:r>
                  <a:rPr lang="en-US" sz="2000" dirty="0"/>
                  <a:t> </a:t>
                </a:r>
                <a:r>
                  <a:rPr lang="en-US" sz="2000" dirty="0" err="1"/>
                  <a:t>Belovih</a:t>
                </a:r>
                <a:r>
                  <a:rPr lang="en-US" sz="2000" dirty="0"/>
                  <a:t> </a:t>
                </a:r>
                <a:r>
                  <a:rPr lang="en-US" sz="2000" dirty="0" err="1"/>
                  <a:t>stanja</a:t>
                </a:r>
                <a:r>
                  <a:rPr lang="en-US" sz="2000" dirty="0"/>
                  <a:t>, </a:t>
                </a:r>
                <a:r>
                  <a:rPr lang="en-US" sz="2000" dirty="0" err="1"/>
                  <a:t>odnosno</a:t>
                </a:r>
                <a:r>
                  <a:rPr lang="en-US" sz="2000" dirty="0"/>
                  <a:t> </a:t>
                </a:r>
                <a:r>
                  <a:rPr lang="en-US" sz="2000" dirty="0" err="1"/>
                  <a:t>rasplesti</a:t>
                </a:r>
                <a:r>
                  <a:rPr lang="en-US" sz="2000" dirty="0"/>
                  <a:t> </a:t>
                </a:r>
                <a:r>
                  <a:rPr lang="en-US" sz="2000" dirty="0" err="1"/>
                  <a:t>kubite</a:t>
                </a:r>
                <a:r>
                  <a:rPr lang="en-US" sz="2000" dirty="0"/>
                  <a:t>. </a:t>
                </a:r>
                <a:r>
                  <a:rPr lang="en-US" sz="2000" dirty="0" err="1"/>
                  <a:t>Posto</a:t>
                </a:r>
                <a:r>
                  <a:rPr lang="en-US" sz="2000" dirty="0"/>
                  <a:t> </a:t>
                </a:r>
                <a:r>
                  <a:rPr lang="en-US" sz="2000" dirty="0" err="1"/>
                  <a:t>su</a:t>
                </a:r>
                <a:r>
                  <a:rPr lang="en-US" sz="2000" dirty="0"/>
                  <a:t> </a:t>
                </a:r>
                <a:r>
                  <a:rPr lang="en-US" sz="2000" dirty="0" err="1"/>
                  <a:t>kvantna</a:t>
                </a:r>
                <a:r>
                  <a:rPr lang="en-US" sz="2000" dirty="0"/>
                  <a:t> kola </a:t>
                </a:r>
                <a:r>
                  <a:rPr lang="en-US" sz="2000" dirty="0" err="1"/>
                  <a:t>reverzibilna</a:t>
                </a:r>
                <a:r>
                  <a:rPr lang="en-US" sz="2000" dirty="0"/>
                  <a:t>, </a:t>
                </a:r>
                <a:r>
                  <a:rPr lang="en-US" sz="2000" dirty="0" err="1"/>
                  <a:t>ovo</a:t>
                </a:r>
                <a:r>
                  <a:rPr lang="en-US" sz="2000" dirty="0"/>
                  <a:t> se </a:t>
                </a:r>
                <a:r>
                  <a:rPr lang="en-US" sz="2000" dirty="0" err="1"/>
                  <a:t>lako</a:t>
                </a:r>
                <a:r>
                  <a:rPr lang="en-US" sz="2000" dirty="0"/>
                  <a:t> </a:t>
                </a:r>
                <a:r>
                  <a:rPr lang="en-US" sz="2000" dirty="0" err="1"/>
                  <a:t>postize</a:t>
                </a:r>
                <a:r>
                  <a:rPr lang="en-US" sz="2000" dirty="0"/>
                  <a:t> </a:t>
                </a:r>
                <a:r>
                  <a:rPr lang="en-US" sz="2000" dirty="0" err="1"/>
                  <a:t>primenom</a:t>
                </a:r>
                <a:r>
                  <a:rPr lang="en-US" sz="2000" dirty="0"/>
                  <a:t> </a:t>
                </a:r>
                <a:r>
                  <a:rPr lang="en-US" sz="2000" dirty="0" err="1"/>
                  <a:t>istih</a:t>
                </a:r>
                <a:r>
                  <a:rPr lang="en-US" sz="2000" dirty="0"/>
                  <a:t> kola </a:t>
                </a:r>
                <a:r>
                  <a:rPr lang="en-US" sz="2000" dirty="0" err="1"/>
                  <a:t>postavljenih</a:t>
                </a:r>
                <a:r>
                  <a:rPr lang="en-US" sz="2000" dirty="0"/>
                  <a:t> </a:t>
                </a:r>
                <a:r>
                  <a:rPr lang="en-US" sz="2000" dirty="0" err="1"/>
                  <a:t>simetricno</a:t>
                </a:r>
                <a:r>
                  <a:rPr lang="en-US" sz="2000" dirty="0"/>
                  <a:t> u </a:t>
                </a:r>
                <a:r>
                  <a:rPr lang="en-US" sz="2000" dirty="0" err="1"/>
                  <a:t>odnosu</a:t>
                </a:r>
                <a:r>
                  <a:rPr lang="en-US" sz="2000" dirty="0"/>
                  <a:t> </a:t>
                </a:r>
                <a:r>
                  <a:rPr lang="en-US" sz="2000" dirty="0" err="1"/>
                  <a:t>na</a:t>
                </a:r>
                <a:r>
                  <a:rPr lang="en-US" sz="2000" dirty="0"/>
                  <a:t> kola </a:t>
                </a:r>
                <a:r>
                  <a:rPr lang="en-US" sz="2000" dirty="0" err="1"/>
                  <a:t>koja</a:t>
                </a:r>
                <a:r>
                  <a:rPr lang="en-US" sz="2000" dirty="0"/>
                  <a:t> </a:t>
                </a:r>
                <a:r>
                  <a:rPr lang="en-US" sz="2000" dirty="0" err="1"/>
                  <a:t>su</a:t>
                </a:r>
                <a:r>
                  <a:rPr lang="en-US" sz="2000" dirty="0"/>
                  <a:t> </a:t>
                </a:r>
                <a:r>
                  <a:rPr lang="en-US" sz="2000" dirty="0" err="1"/>
                  <a:t>kreirala</a:t>
                </a:r>
                <a:r>
                  <a:rPr lang="en-US" sz="2000" dirty="0"/>
                  <a:t> </a:t>
                </a:r>
                <a:r>
                  <a:rPr lang="en-US" sz="2000" dirty="0" err="1"/>
                  <a:t>Belovo</a:t>
                </a:r>
                <a:r>
                  <a:rPr lang="en-US" sz="2000" dirty="0"/>
                  <a:t> </a:t>
                </a:r>
                <a:r>
                  <a:rPr lang="en-US" sz="2000" dirty="0" err="1"/>
                  <a:t>stanje</a:t>
                </a:r>
                <a:r>
                  <a:rPr lang="en-US" sz="20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Na </a:t>
                </a:r>
                <a:r>
                  <a:rPr lang="en-US" sz="2000" dirty="0" err="1"/>
                  <a:t>slici</a:t>
                </a:r>
                <a:r>
                  <a:rPr lang="en-US" sz="2000" dirty="0"/>
                  <a:t> </a:t>
                </a:r>
                <a:r>
                  <a:rPr lang="en-US" sz="2000" dirty="0" err="1"/>
                  <a:t>je</a:t>
                </a:r>
                <a:r>
                  <a:rPr lang="en-US" sz="2000" dirty="0"/>
                  <a:t> </a:t>
                </a:r>
                <a:r>
                  <a:rPr lang="en-US" sz="2000" dirty="0" err="1"/>
                  <a:t>prikazano</a:t>
                </a:r>
                <a:r>
                  <a:rPr lang="en-US" sz="2000" dirty="0"/>
                  <a:t> </a:t>
                </a:r>
                <a:r>
                  <a:rPr lang="en-US" sz="2000" dirty="0" err="1"/>
                  <a:t>kolo</a:t>
                </a:r>
                <a:r>
                  <a:rPr lang="en-US" sz="2000" dirty="0"/>
                  <a:t> </a:t>
                </a:r>
                <a:r>
                  <a:rPr lang="en-US" sz="2000" dirty="0" err="1"/>
                  <a:t>koje</a:t>
                </a:r>
                <a:r>
                  <a:rPr lang="en-US" sz="2000" dirty="0"/>
                  <a:t> </a:t>
                </a:r>
                <a:r>
                  <a:rPr lang="en-US" sz="2000" dirty="0" err="1"/>
                  <a:t>generise</a:t>
                </a:r>
                <a:r>
                  <a:rPr lang="en-US" sz="2000" dirty="0"/>
                  <a:t> </a:t>
                </a:r>
                <a:r>
                  <a:rPr lang="en-US" sz="2000" dirty="0" err="1"/>
                  <a:t>speleteno</a:t>
                </a:r>
                <a:r>
                  <a:rPr lang="en-US" sz="2000" dirty="0"/>
                  <a:t> </a:t>
                </a:r>
                <a:r>
                  <a:rPr lang="en-US" sz="2000" dirty="0" err="1"/>
                  <a:t>stanje</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𝐵_00 ⟩</a:t>
                </a:r>
                <a:r>
                  <a:rPr lang="en-US" sz="2000" dirty="0"/>
                  <a:t> I </a:t>
                </a:r>
                <a:r>
                  <a:rPr lang="en-US" sz="2000" dirty="0" err="1"/>
                  <a:t>kolo</a:t>
                </a:r>
                <a:r>
                  <a:rPr lang="en-US" sz="2000" dirty="0"/>
                  <a:t> </a:t>
                </a:r>
                <a:r>
                  <a:rPr lang="en-US" sz="2000" dirty="0" err="1"/>
                  <a:t>koje</a:t>
                </a:r>
                <a:r>
                  <a:rPr lang="en-US" sz="2000" baseline="0" dirty="0"/>
                  <a:t> </a:t>
                </a:r>
                <a:r>
                  <a:rPr lang="en-US" sz="2000" baseline="0" dirty="0" err="1"/>
                  <a:t>ga</a:t>
                </a:r>
                <a:r>
                  <a:rPr lang="en-US" sz="2000" baseline="0" dirty="0"/>
                  <a:t> </a:t>
                </a:r>
                <a:r>
                  <a:rPr lang="en-US" sz="2000" baseline="0" dirty="0" err="1"/>
                  <a:t>rasplice</a:t>
                </a:r>
                <a:r>
                  <a:rPr lang="en-US" sz="2000" baseline="0" dirty="0"/>
                  <a:t> </a:t>
                </a:r>
                <a:r>
                  <a:rPr lang="en-US" sz="2000" baseline="0" dirty="0" err="1"/>
                  <a:t>dajuci</a:t>
                </a:r>
                <a:r>
                  <a:rPr lang="en-US" sz="2000" baseline="0" dirty="0"/>
                  <a:t> </a:t>
                </a:r>
                <a:r>
                  <a:rPr lang="en-US" sz="2000" baseline="0" dirty="0" err="1"/>
                  <a:t>na</a:t>
                </a:r>
                <a:r>
                  <a:rPr lang="en-US" sz="2000" baseline="0" dirty="0"/>
                  <a:t> </a:t>
                </a:r>
                <a:r>
                  <a:rPr lang="en-US" sz="2000" baseline="0" dirty="0" err="1"/>
                  <a:t>izlazu</a:t>
                </a:r>
                <a:r>
                  <a:rPr lang="en-US" sz="2000" baseline="0" dirty="0"/>
                  <a:t> </a:t>
                </a:r>
                <a:r>
                  <a:rPr lang="en-US" sz="2000" baseline="0" dirty="0" err="1"/>
                  <a:t>pocetno</a:t>
                </a:r>
                <a:r>
                  <a:rPr lang="en-US" sz="2000" baseline="0" dirty="0"/>
                  <a:t> </a:t>
                </a:r>
                <a:r>
                  <a:rPr lang="en-US" sz="2000" baseline="0" dirty="0" err="1"/>
                  <a:t>stanje</a:t>
                </a:r>
                <a:r>
                  <a:rPr lang="en-US" sz="2000" baseline="0" dirty="0"/>
                  <a:t>. </a:t>
                </a:r>
                <a:r>
                  <a:rPr lang="en-US" sz="2000" baseline="0" dirty="0" err="1"/>
                  <a:t>Iz</a:t>
                </a:r>
                <a:r>
                  <a:rPr lang="en-US" sz="2000" baseline="0" dirty="0"/>
                  <a:t> </a:t>
                </a:r>
                <a:r>
                  <a:rPr lang="en-US" sz="2000" baseline="0" dirty="0" err="1"/>
                  <a:t>izraza</a:t>
                </a:r>
                <a:r>
                  <a:rPr lang="en-US" sz="2000" baseline="0" dirty="0"/>
                  <a:t> </a:t>
                </a:r>
                <a:r>
                  <a:rPr lang="en-US" sz="2000" baseline="0" dirty="0" err="1"/>
                  <a:t>za</a:t>
                </a:r>
                <a:r>
                  <a:rPr lang="en-US" sz="2000" baseline="0" dirty="0"/>
                  <a:t> </a:t>
                </a:r>
                <a:r>
                  <a:rPr lang="en-US" sz="2000" i="0">
                    <a:solidFill>
                      <a:schemeClr val="tx1"/>
                    </a:solidFill>
                    <a:latin typeface="Cambria Math" panose="02040503050406030204" pitchFamily="18" charset="0"/>
                    <a:ea typeface="Cambria Math" panose="02040503050406030204" pitchFamily="18" charset="0"/>
                  </a:rPr>
                  <a:t>├ |〖𝐵′′〗_00 ⟩</a:t>
                </a:r>
                <a:r>
                  <a:rPr lang="en-US" sz="2000" dirty="0"/>
                  <a:t> </a:t>
                </a:r>
                <a:r>
                  <a:rPr lang="en-US" sz="2000" dirty="0" err="1"/>
                  <a:t>vidimo</a:t>
                </a:r>
                <a:r>
                  <a:rPr lang="en-US" sz="2000" dirty="0"/>
                  <a:t> da </a:t>
                </a:r>
                <a:r>
                  <a:rPr lang="en-US" sz="2000" dirty="0" err="1"/>
                  <a:t>dolazi</a:t>
                </a:r>
                <a:r>
                  <a:rPr lang="en-US" sz="2000" dirty="0"/>
                  <a:t> do </a:t>
                </a:r>
                <a:r>
                  <a:rPr lang="en-US" sz="2000" dirty="0" err="1"/>
                  <a:t>kvantne</a:t>
                </a:r>
                <a:r>
                  <a:rPr lang="en-US" sz="2000" dirty="0"/>
                  <a:t> </a:t>
                </a:r>
                <a:r>
                  <a:rPr lang="en-US" sz="2000" dirty="0" err="1"/>
                  <a:t>interferencije</a:t>
                </a:r>
                <a:r>
                  <a:rPr lang="en-US" sz="2000" dirty="0"/>
                  <a:t> </a:t>
                </a:r>
                <a:r>
                  <a:rPr lang="en-US" sz="2000" dirty="0" err="1"/>
                  <a:t>koja</a:t>
                </a:r>
                <a:r>
                  <a:rPr lang="en-US" sz="2000" dirty="0"/>
                  <a:t> </a:t>
                </a:r>
                <a:r>
                  <a:rPr lang="en-US" sz="2000" dirty="0" err="1"/>
                  <a:t>sabira</a:t>
                </a:r>
                <a:r>
                  <a:rPr lang="en-US" sz="2000" dirty="0"/>
                  <a:t>  </a:t>
                </a:r>
                <a:r>
                  <a:rPr lang="en-US" sz="2000" dirty="0" err="1"/>
                  <a:t>stanja</a:t>
                </a:r>
                <a:r>
                  <a:rPr lang="en-US" sz="2000" dirty="0"/>
                  <a:t> </a:t>
                </a:r>
                <a:r>
                  <a:rPr lang="en-US" sz="2000" i="0">
                    <a:solidFill>
                      <a:schemeClr val="tx1"/>
                    </a:solidFill>
                    <a:latin typeface="Cambria Math" panose="02040503050406030204" pitchFamily="18" charset="0"/>
                    <a:ea typeface="Cambria Math" panose="02040503050406030204" pitchFamily="18" charset="0"/>
                  </a:rPr>
                  <a:t>├ |00⟩</a:t>
                </a:r>
                <a:r>
                  <a:rPr lang="en-US" sz="2000" dirty="0"/>
                  <a:t> </a:t>
                </a:r>
                <a:r>
                  <a:rPr lang="en-US" sz="2000" dirty="0" err="1"/>
                  <a:t>i</a:t>
                </a:r>
                <a:r>
                  <a:rPr lang="en-US" sz="2000" dirty="0"/>
                  <a:t> </a:t>
                </a:r>
                <a:r>
                  <a:rPr lang="en-US" sz="2000" dirty="0" err="1"/>
                  <a:t>ponistava</a:t>
                </a:r>
                <a:r>
                  <a:rPr lang="en-US" sz="2000" dirty="0"/>
                  <a:t> </a:t>
                </a:r>
                <a:r>
                  <a:rPr lang="en-US" sz="2000" dirty="0" err="1"/>
                  <a:t>stanja</a:t>
                </a:r>
                <a:r>
                  <a:rPr lang="en-US" sz="2000" baseline="0" dirty="0"/>
                  <a:t> </a:t>
                </a:r>
                <a:r>
                  <a:rPr lang="en-US" sz="2000" i="0">
                    <a:solidFill>
                      <a:schemeClr val="tx1"/>
                    </a:solidFill>
                    <a:latin typeface="Cambria Math" panose="02040503050406030204" pitchFamily="18" charset="0"/>
                    <a:ea typeface="Cambria Math" panose="02040503050406030204" pitchFamily="18" charset="0"/>
                  </a:rPr>
                  <a:t>├ |</a:t>
                </a:r>
                <a:r>
                  <a:rPr lang="en-US" sz="2000" b="0" i="0">
                    <a:solidFill>
                      <a:schemeClr val="tx1"/>
                    </a:solidFill>
                    <a:latin typeface="Cambria Math" panose="02040503050406030204" pitchFamily="18" charset="0"/>
                    <a:ea typeface="Cambria Math" panose="02040503050406030204" pitchFamily="18" charset="0"/>
                  </a:rPr>
                  <a:t>1</a:t>
                </a:r>
                <a:r>
                  <a:rPr lang="en-US" sz="2000" i="0">
                    <a:solidFill>
                      <a:schemeClr val="tx1"/>
                    </a:solidFill>
                    <a:latin typeface="Cambria Math" panose="02040503050406030204" pitchFamily="18" charset="0"/>
                    <a:ea typeface="Cambria Math" panose="02040503050406030204" pitchFamily="18" charset="0"/>
                  </a:rPr>
                  <a:t>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t>
                </a:r>
                <a:r>
                  <a:rPr lang="en-US" sz="2000" dirty="0" err="1"/>
                  <a:t>sada</a:t>
                </a:r>
                <a:r>
                  <a:rPr lang="en-US" sz="2000" dirty="0"/>
                  <a:t> </a:t>
                </a:r>
                <a:r>
                  <a:rPr lang="en-US" sz="2000" dirty="0" err="1"/>
                  <a:t>na</a:t>
                </a:r>
                <a:r>
                  <a:rPr lang="en-US" sz="2000" dirty="0"/>
                  <a:t> </a:t>
                </a:r>
                <a:r>
                  <a:rPr lang="en-US" sz="2000" dirty="0" err="1"/>
                  <a:t>izlaz</a:t>
                </a:r>
                <a:r>
                  <a:rPr lang="en-US" sz="2000" dirty="0"/>
                  <a:t> kola </a:t>
                </a:r>
                <a:r>
                  <a:rPr lang="en-US" sz="2000" dirty="0" err="1"/>
                  <a:t>postavimo</a:t>
                </a:r>
                <a:r>
                  <a:rPr lang="en-US" sz="2000" dirty="0"/>
                  <a:t> </a:t>
                </a:r>
                <a:r>
                  <a:rPr lang="en-US" sz="2000" dirty="0" err="1"/>
                  <a:t>merne</a:t>
                </a:r>
                <a:r>
                  <a:rPr lang="en-US" sz="2000" dirty="0"/>
                  <a:t> </a:t>
                </a:r>
                <a:r>
                  <a:rPr lang="en-US" sz="2000" dirty="0" err="1"/>
                  <a:t>instrumente</a:t>
                </a:r>
                <a:r>
                  <a:rPr lang="en-US" sz="2000" dirty="0"/>
                  <a:t>, </a:t>
                </a:r>
                <a:r>
                  <a:rPr lang="en-US" sz="2000" dirty="0" err="1"/>
                  <a:t>zaokruzeni</a:t>
                </a:r>
                <a:r>
                  <a:rPr lang="en-US" sz="2000" dirty="0"/>
                  <a:t> deo kola se </a:t>
                </a:r>
                <a:r>
                  <a:rPr lang="en-US" sz="2000" dirty="0" err="1"/>
                  <a:t>naziva</a:t>
                </a:r>
                <a:r>
                  <a:rPr lang="en-US" sz="2000" dirty="0"/>
                  <a:t> </a:t>
                </a:r>
                <a:r>
                  <a:rPr lang="en-US" sz="2000" dirty="0" err="1"/>
                  <a:t>kolo</a:t>
                </a:r>
                <a:r>
                  <a:rPr lang="en-US" sz="2000" dirty="0"/>
                  <a:t> </a:t>
                </a:r>
                <a:r>
                  <a:rPr lang="en-US" sz="2000" dirty="0" err="1"/>
                  <a:t>za</a:t>
                </a:r>
                <a:r>
                  <a:rPr lang="en-US" sz="2000" dirty="0"/>
                  <a:t> </a:t>
                </a:r>
                <a:r>
                  <a:rPr lang="en-US" sz="2000" dirty="0" err="1"/>
                  <a:t>merenje</a:t>
                </a:r>
                <a:r>
                  <a:rPr lang="en-US" sz="2000" dirty="0"/>
                  <a:t> u </a:t>
                </a:r>
                <a:r>
                  <a:rPr lang="en-US" sz="2000" dirty="0" err="1"/>
                  <a:t>Belovoj</a:t>
                </a:r>
                <a:r>
                  <a:rPr lang="en-US" sz="2000" dirty="0"/>
                  <a:t> </a:t>
                </a:r>
                <a:r>
                  <a:rPr lang="en-US" sz="2000" dirty="0" err="1"/>
                  <a:t>bazi</a:t>
                </a:r>
                <a:r>
                  <a:rPr lang="en-US" sz="2000" dirty="0"/>
                  <a:t> </a:t>
                </a:r>
                <a:r>
                  <a:rPr lang="en-US" sz="2000" dirty="0" err="1"/>
                  <a:t>jer</a:t>
                </a:r>
                <a:r>
                  <a:rPr lang="en-US" sz="2000" dirty="0"/>
                  <a:t> </a:t>
                </a:r>
                <a:r>
                  <a:rPr lang="en-US" sz="2000" dirty="0" err="1"/>
                  <a:t>otkriva</a:t>
                </a:r>
                <a:r>
                  <a:rPr lang="en-US" sz="2000" dirty="0"/>
                  <a:t> </a:t>
                </a:r>
                <a:r>
                  <a:rPr lang="en-US" sz="2000" dirty="0" err="1"/>
                  <a:t>stanje</a:t>
                </a:r>
                <a:r>
                  <a:rPr lang="en-US" sz="2000" dirty="0"/>
                  <a:t> </a:t>
                </a:r>
                <a:r>
                  <a:rPr lang="en-US" sz="2000" dirty="0" err="1"/>
                  <a:t>kubita</a:t>
                </a:r>
                <a:r>
                  <a:rPr lang="en-US" sz="2000" dirty="0"/>
                  <a:t> pre </a:t>
                </a:r>
                <a:r>
                  <a:rPr lang="en-US" sz="2000" dirty="0" err="1"/>
                  <a:t>spregnutosti</a:t>
                </a:r>
                <a:r>
                  <a:rPr lang="en-US" sz="2000" dirty="0"/>
                  <a:t>. </a:t>
                </a:r>
                <a:r>
                  <a:rPr lang="en-US" sz="2000" dirty="0" err="1"/>
                  <a:t>Mozete</a:t>
                </a:r>
                <a:r>
                  <a:rPr lang="en-US" sz="2000" dirty="0"/>
                  <a:t> </a:t>
                </a:r>
                <a:r>
                  <a:rPr lang="en-US" sz="2000" dirty="0" err="1"/>
                  <a:t>proveriti</a:t>
                </a:r>
                <a:r>
                  <a:rPr lang="en-US" sz="2000" dirty="0"/>
                  <a:t> da o</a:t>
                </a:r>
                <a:r>
                  <a:rPr lang="en-US" sz="2000"/>
                  <a:t>vo</a:t>
                </a:r>
                <a:r>
                  <a:rPr lang="en-US" sz="2000" dirty="0"/>
                  <a:t> </a:t>
                </a:r>
                <a:r>
                  <a:rPr lang="en-US" sz="2000" dirty="0" err="1"/>
                  <a:t>kolo</a:t>
                </a:r>
                <a:r>
                  <a:rPr lang="en-US" sz="2000" dirty="0"/>
                  <a:t> </a:t>
                </a:r>
                <a:r>
                  <a:rPr lang="en-US" sz="2000" dirty="0" err="1"/>
                  <a:t>rasplice</a:t>
                </a:r>
                <a:r>
                  <a:rPr lang="en-US" sz="2000" dirty="0"/>
                  <a:t> </a:t>
                </a:r>
                <a:r>
                  <a:rPr lang="en-US" sz="2000" dirty="0" err="1"/>
                  <a:t>sva</a:t>
                </a:r>
                <a:r>
                  <a:rPr lang="en-US" sz="2000" dirty="0"/>
                  <a:t> </a:t>
                </a:r>
                <a:r>
                  <a:rPr lang="en-US" sz="2000" dirty="0" err="1"/>
                  <a:t>Belova</a:t>
                </a:r>
                <a:r>
                  <a:rPr lang="en-US" sz="2000" dirty="0"/>
                  <a:t> </a:t>
                </a:r>
                <a:r>
                  <a:rPr lang="en-US" sz="2000" dirty="0" err="1"/>
                  <a:t>stanja</a:t>
                </a:r>
                <a:r>
                  <a:rPr lang="en-US" sz="2000" dirty="0"/>
                  <a:t>, </a:t>
                </a:r>
                <a:r>
                  <a:rPr lang="en-US" sz="2000" dirty="0" err="1"/>
                  <a:t>odnosno</a:t>
                </a:r>
                <a:r>
                  <a:rPr lang="en-US" sz="2000" dirty="0"/>
                  <a:t> </a:t>
                </a:r>
                <a:r>
                  <a:rPr lang="en-US" sz="2000" dirty="0" err="1"/>
                  <a:t>nije</a:t>
                </a:r>
                <a:r>
                  <a:rPr lang="en-US" sz="2000" dirty="0"/>
                  <a:t> </a:t>
                </a:r>
                <a:r>
                  <a:rPr lang="en-US" sz="2000" dirty="0" err="1"/>
                  <a:t>potrebno</a:t>
                </a:r>
                <a:r>
                  <a:rPr lang="en-US" sz="2000" dirty="0"/>
                  <a:t> </a:t>
                </a:r>
                <a:r>
                  <a:rPr lang="en-US" sz="2000" dirty="0" err="1"/>
                  <a:t>dodavati</a:t>
                </a:r>
                <a:r>
                  <a:rPr lang="en-US" sz="2000" dirty="0"/>
                  <a:t> X kola </a:t>
                </a:r>
                <a:r>
                  <a:rPr lang="en-US" sz="2000" dirty="0" err="1"/>
                  <a:t>koja</a:t>
                </a:r>
                <a:r>
                  <a:rPr lang="en-US" sz="2000" dirty="0"/>
                  <a:t> </a:t>
                </a:r>
                <a:r>
                  <a:rPr lang="en-US" sz="2000" dirty="0" err="1"/>
                  <a:t>su</a:t>
                </a:r>
                <a:r>
                  <a:rPr lang="en-US" sz="2000" dirty="0"/>
                  <a:t> </a:t>
                </a:r>
                <a:r>
                  <a:rPr lang="en-US" sz="2000" dirty="0" err="1"/>
                  <a:t>koriscena</a:t>
                </a:r>
                <a:r>
                  <a:rPr lang="en-US" sz="2000" dirty="0"/>
                  <a:t> </a:t>
                </a:r>
                <a:r>
                  <a:rPr lang="en-US" sz="2000" dirty="0" err="1"/>
                  <a:t>kod</a:t>
                </a:r>
                <a:r>
                  <a:rPr lang="en-US" sz="2000" dirty="0"/>
                  <a:t> </a:t>
                </a:r>
                <a:r>
                  <a:rPr lang="en-US" sz="2000" dirty="0" err="1"/>
                  <a:t>spletanja</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25311957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dirty="0"/>
                  <a:t>Three or more qubits can also be entangled. The circuit shown in the diagram builds upon the Bell-state circuit by adding an additional </a:t>
                </a:r>
                <a:r>
                  <a:rPr lang="en-ZA" b="0" dirty="0"/>
                  <a:t>CNOT</a:t>
                </a:r>
                <a:r>
                  <a:rPr lang="en-ZA" dirty="0"/>
                  <a:t> gate for each new qubit. This creates a </a:t>
                </a:r>
                <a:r>
                  <a:rPr lang="en-ZA" b="1" dirty="0"/>
                  <a:t>GHZ state</a:t>
                </a:r>
                <a:r>
                  <a:rPr lang="en-ZA" dirty="0"/>
                  <a:t> (Greenberger–Horne–</a:t>
                </a:r>
                <a:r>
                  <a:rPr lang="en-ZA" dirty="0" err="1"/>
                  <a:t>Zeilinger</a:t>
                </a:r>
                <a:r>
                  <a:rPr lang="en-ZA" dirty="0"/>
                  <a:t> state), named after the physicists who introduced it.</a:t>
                </a:r>
              </a:p>
              <a:p>
                <a:pPr marL="0" indent="0" algn="just">
                  <a:buFont typeface="Arial" panose="020B0604020202020204" pitchFamily="34" charset="0"/>
                  <a:buNone/>
                </a:pPr>
                <a:endParaRPr lang="en-ZA" dirty="0"/>
              </a:p>
              <a:p>
                <a:pPr marL="171450" indent="-171450">
                  <a:buFont typeface="Arial" panose="020B0604020202020204" pitchFamily="34" charset="0"/>
                  <a:buChar char="•"/>
                </a:pPr>
                <a:r>
                  <a:rPr lang="en-ZA" dirty="0"/>
                  <a:t>A GHZ state is a superposition of all qubits being in ∣0⟩ and all qubits being in ∣1⟩. For three qubits,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𝐺𝐻𝑍</m:t>
                              </m:r>
                            </m:e>
                            <m:sub>
                              <m:r>
                                <a:rPr lang="en-US" sz="1200" i="1">
                                  <a:solidFill>
                                    <a:srgbClr val="002060"/>
                                  </a:solidFill>
                                  <a:latin typeface="Cambria Math" panose="02040503050406030204" pitchFamily="18" charset="0"/>
                                  <a:ea typeface="Cambria Math" panose="02040503050406030204" pitchFamily="18" charset="0"/>
                                </a:rPr>
                                <m:t>3</m:t>
                              </m:r>
                            </m:sub>
                          </m:sSub>
                        </m:e>
                      </m:d>
                      <m:r>
                        <a:rPr lang="en-US" sz="1200" i="1">
                          <a:solidFill>
                            <a:srgbClr val="002060"/>
                          </a:solidFill>
                          <a:latin typeface="Cambria Math" panose="02040503050406030204" pitchFamily="18" charset="0"/>
                          <a:ea typeface="Cambria Math" panose="02040503050406030204" pitchFamily="18" charset="0"/>
                        </a:rPr>
                        <m:t>=</m:t>
                      </m:r>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|000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|111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endParaRPr lang="en-ZA" dirty="0"/>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b="0" dirty="0"/>
                  <a:t>Qubits in a GHZ state show strong correlations, similar to those in a Bell pair. For a three-qubit GHZ state, if one qubit is measured as 1, the remaining two qubits collapse to ∣11⟩. If it is measured as 0, they collapse to ∣00⟩.</a:t>
                </a:r>
              </a:p>
            </p:txBody>
          </p:sp>
        </mc:Choice>
        <mc:Fallback xmlns="">
          <p:sp>
            <p:nvSpPr>
              <p:cNvPr id="3" name="Notes Placeholder 2"/>
              <p:cNvSpPr>
                <a:spLocks noGrp="1"/>
              </p:cNvSpPr>
              <p:nvPr>
                <p:ph type="body" idx="1"/>
              </p:nvPr>
            </p:nvSpPr>
            <p:spPr/>
            <p:txBody>
              <a:bodyPr/>
              <a:lstStyle/>
              <a:p>
                <a:r>
                  <a:rPr lang="en-US" sz="2000" dirty="0"/>
                  <a:t>States that involve three or more entangled qubits are known as GHZ states. The measured results should be half </a:t>
                </a:r>
                <a:r>
                  <a:rPr lang="en-US" sz="2000" i="0">
                    <a:solidFill>
                      <a:srgbClr val="002060"/>
                    </a:solidFill>
                    <a:latin typeface="Cambria Math" panose="02040503050406030204" pitchFamily="18" charset="0"/>
                    <a:ea typeface="Cambria Math" panose="02040503050406030204" pitchFamily="18" charset="0"/>
                  </a:rPr>
                  <a:t>├ |000⟩</a:t>
                </a:r>
                <a:r>
                  <a:rPr lang="en-US" sz="2000" dirty="0"/>
                  <a:t> and half </a:t>
                </a:r>
                <a:r>
                  <a:rPr lang="en-US" sz="2000" i="0">
                    <a:solidFill>
                      <a:srgbClr val="002060"/>
                    </a:solidFill>
                    <a:latin typeface="Cambria Math" panose="02040503050406030204" pitchFamily="18" charset="0"/>
                    <a:ea typeface="Cambria Math" panose="02040503050406030204" pitchFamily="18" charset="0"/>
                  </a:rPr>
                  <a:t>├ |111⟩</a:t>
                </a:r>
                <a:r>
                  <a:rPr lang="en-US" sz="2000" dirty="0"/>
                  <a:t> for three</a:t>
                </a:r>
                <a:r>
                  <a:rPr lang="en-US" sz="2000" baseline="0" dirty="0"/>
                  <a:t> entangled qubits, and so on.</a:t>
                </a:r>
                <a:endParaRPr lang="en-US" sz="2000" dirty="0"/>
              </a:p>
              <a:p>
                <a:r>
                  <a:rPr lang="en-US" sz="2000" dirty="0"/>
                  <a:t>Quantum entanglement is a key quantum mechanical property used in quantum cryptography, super dense coding, quantum teleportation and error correction.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1764170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2022, Alain Aspect, John </a:t>
            </a:r>
            <a:r>
              <a:rPr lang="en-ZA" b="0" dirty="0" err="1"/>
              <a:t>Clauser</a:t>
            </a:r>
            <a:r>
              <a:rPr lang="en-ZA" b="0" dirty="0"/>
              <a:t>, and Anton </a:t>
            </a:r>
            <a:r>
              <a:rPr lang="en-ZA" b="0" dirty="0" err="1"/>
              <a:t>Zeilinger</a:t>
            </a:r>
            <a:r>
              <a:rPr lang="en-ZA" b="0" dirty="0"/>
              <a:t> were awarded the Nobel Prize in Physics for their ground breaking experiments with quantum entanglement.</a:t>
            </a:r>
          </a:p>
          <a:p>
            <a:pPr algn="just"/>
            <a:endParaRPr lang="en-ZA" b="0" dirty="0"/>
          </a:p>
          <a:p>
            <a:pPr algn="just"/>
            <a:r>
              <a:rPr lang="en-ZA" b="0" dirty="0"/>
              <a:t>Their work established the foundations for quantum information science, including quantum communication, quantum cryptography, and other modern quantum technologies.</a:t>
            </a:r>
          </a:p>
        </p:txBody>
      </p:sp>
      <p:sp>
        <p:nvSpPr>
          <p:cNvPr id="4" name="Slide Number Placeholder 3"/>
          <p:cNvSpPr>
            <a:spLocks noGrp="1"/>
          </p:cNvSpPr>
          <p:nvPr>
            <p:ph type="sldNum" sz="quarter" idx="5"/>
          </p:nvPr>
        </p:nvSpPr>
        <p:spPr/>
        <p:txBody>
          <a:bodyPr/>
          <a:lstStyle/>
          <a:p>
            <a:fld id="{965A8710-8889-7541-9BF7-E78AD03A798D}" type="slidenum">
              <a:rPr lang="en-US" smtClean="0"/>
              <a:t>17</a:t>
            </a:fld>
            <a:endParaRPr lang="en-US"/>
          </a:p>
        </p:txBody>
      </p:sp>
    </p:spTree>
    <p:extLst>
      <p:ext uri="{BB962C8B-B14F-4D97-AF65-F5344CB8AC3E}">
        <p14:creationId xmlns:p14="http://schemas.microsoft.com/office/powerpoint/2010/main" val="3150204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It is interesting to note that in 1935, Albert Einstein, Boris </a:t>
            </a:r>
            <a:r>
              <a:rPr lang="en-ZA" b="0" dirty="0" err="1"/>
              <a:t>Podolsky</a:t>
            </a:r>
            <a:r>
              <a:rPr lang="en-ZA" b="0" dirty="0"/>
              <a:t>, and Nathan Rosen published a famous paper titled "Can Quantum-Mechanical Description of Physical Reality Be Considered Complete?” Even The New York Times covered the paper with the headline: </a:t>
            </a:r>
            <a:r>
              <a:rPr lang="en-ZA" b="0" i="1" dirty="0"/>
              <a:t>"Einstein Attacks Quantum Theory.”</a:t>
            </a:r>
          </a:p>
          <a:p>
            <a:pPr algn="just"/>
            <a:endParaRPr lang="en-ZA" b="0" dirty="0"/>
          </a:p>
          <a:p>
            <a:pPr algn="just"/>
            <a:r>
              <a:rPr lang="en-ZA" dirty="0"/>
              <a:t>The paper, now known as the </a:t>
            </a:r>
            <a:r>
              <a:rPr lang="en-ZA" b="1" dirty="0"/>
              <a:t>EPR paper</a:t>
            </a:r>
            <a:r>
              <a:rPr lang="en-ZA" dirty="0"/>
              <a:t>, argued that the quantum-mechanical description of physical reality was incomplete. The abbreviation </a:t>
            </a:r>
            <a:r>
              <a:rPr lang="en-ZA" b="1" dirty="0"/>
              <a:t>EPR</a:t>
            </a:r>
            <a:r>
              <a:rPr lang="en-ZA" dirty="0"/>
              <a:t> comes from the initials of the authors’ last names: Einstein–</a:t>
            </a:r>
            <a:r>
              <a:rPr lang="en-ZA" dirty="0" err="1"/>
              <a:t>Podolsky</a:t>
            </a:r>
            <a:r>
              <a:rPr lang="en-ZA" dirty="0"/>
              <a:t>–Rosen.</a:t>
            </a:r>
          </a:p>
          <a:p>
            <a:pPr algn="just"/>
            <a:endParaRPr lang="en-ZA" b="0" dirty="0"/>
          </a:p>
          <a:p>
            <a:pPr algn="just"/>
            <a:r>
              <a:rPr lang="en-ZA" dirty="0"/>
              <a:t>The authors were particularly concerned with the strange correlations that quantum mechanics predicts between two separated particles. They argued that a measurement performed on one particle should not instantaneously affect the physical reality of another distant particle without any direct interaction between them.</a:t>
            </a:r>
          </a:p>
          <a:p>
            <a:pPr algn="just"/>
            <a:endParaRPr lang="en-ZA" dirty="0"/>
          </a:p>
          <a:p>
            <a:pPr algn="just"/>
            <a:r>
              <a:rPr lang="en-ZA" b="0" dirty="0"/>
              <a:t>The EPR paper became one of the most influential works in the foundations of quantum mechanics. It later inspired John Bell to formulate Bell’s theorem, which made it possible to experimentally test the predictions of quantum mechanics against local hidden-variable theories.</a:t>
            </a:r>
          </a:p>
          <a:p>
            <a:pPr algn="just"/>
            <a:endParaRPr lang="en-ZA" b="0" dirty="0"/>
          </a:p>
          <a:p>
            <a:pPr algn="just"/>
            <a:r>
              <a:rPr lang="en-ZA" b="0" dirty="0"/>
              <a:t>Because of this historical connection, a pair of maximally entangled qubits, such as a Bell pair, is also sometimes called an EPR pair, and Bell states are sometimes referred to as EPR states.</a:t>
            </a:r>
          </a:p>
        </p:txBody>
      </p:sp>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305745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dirty="0"/>
                  <a:t>Because the two qubits in an entangled pair show an instant correlation, one might think that this could be used for faster-than-light communication. However, the no-communication theorem states that entanglement alone cannot be used to transmit information, because quantum measurement outcomes are random and cannot be controlled.</a:t>
                </a:r>
              </a:p>
              <a:p>
                <a:pPr marL="0" indent="0" algn="just">
                  <a:buFont typeface="Arial" panose="020B0604020202020204" pitchFamily="34" charset="0"/>
                  <a:buNone/>
                </a:pPr>
                <a:endParaRPr lang="en-ZA" dirty="0"/>
              </a:p>
              <a:p>
                <a:pPr marL="0" indent="0" algn="just">
                  <a:buFont typeface="Arial" panose="020B0604020202020204" pitchFamily="34" charset="0"/>
                  <a:buNone/>
                </a:pPr>
                <a:r>
                  <a:rPr lang="en-ZA" dirty="0"/>
                  <a:t>When Alice measures </a:t>
                </a:r>
                <a:r>
                  <a:rPr lang="en-ZA"/>
                  <a:t>her qubit first, </a:t>
                </a:r>
                <a:r>
                  <a:rPr lang="en-ZA" dirty="0"/>
                  <a:t>she randomly obtains either 0 or 1 and cannot choose the outcome. Bob’s measurement will be correlated with hers, but since Alice cannot control her outcome, she cannot use entanglement to send him a chosen bit.</a:t>
                </a:r>
              </a:p>
            </p:txBody>
          </p:sp>
        </mc:Choice>
        <mc:Fallback xmlns="">
          <p:sp>
            <p:nvSpPr>
              <p:cNvPr id="3" name="Notes Placeholder 2"/>
              <p:cNvSpPr>
                <a:spLocks noGrp="1"/>
              </p:cNvSpPr>
              <p:nvPr>
                <p:ph type="body" idx="1"/>
              </p:nvPr>
            </p:nvSpPr>
            <p:spPr/>
            <p:txBody>
              <a:bodyPr/>
              <a:lstStyle/>
              <a:p>
                <a:r>
                  <a:rPr lang="en-US" sz="2000" dirty="0" err="1"/>
                  <a:t>Važan</a:t>
                </a:r>
                <a:r>
                  <a:rPr lang="en-US" sz="2000" dirty="0"/>
                  <a:t> </a:t>
                </a:r>
                <a:r>
                  <a:rPr lang="en-US" sz="2000" dirty="0" err="1"/>
                  <a:t>princip</a:t>
                </a:r>
                <a:r>
                  <a:rPr lang="en-US" sz="2000" dirty="0"/>
                  <a:t> </a:t>
                </a:r>
                <a:r>
                  <a:rPr lang="en-US" sz="2000" dirty="0" err="1"/>
                  <a:t>kvantne</a:t>
                </a:r>
                <a:r>
                  <a:rPr lang="en-US" sz="2000" dirty="0"/>
                  <a:t> </a:t>
                </a:r>
                <a:r>
                  <a:rPr lang="en-US" sz="2000" dirty="0" err="1"/>
                  <a:t>teorije</a:t>
                </a:r>
                <a:r>
                  <a:rPr lang="en-US" sz="2000" dirty="0"/>
                  <a:t> </a:t>
                </a:r>
                <a:r>
                  <a:rPr lang="en-US" sz="2000" dirty="0" err="1"/>
                  <a:t>informacija</a:t>
                </a:r>
                <a:r>
                  <a:rPr lang="en-US" sz="2000" dirty="0"/>
                  <a:t> </a:t>
                </a:r>
                <a:r>
                  <a:rPr lang="en-US" sz="2000" dirty="0" err="1"/>
                  <a:t>je</a:t>
                </a:r>
                <a:r>
                  <a:rPr lang="en-US" sz="2000" dirty="0"/>
                  <a:t> no-signaling </a:t>
                </a:r>
                <a:r>
                  <a:rPr lang="en-US" sz="2000" dirty="0" err="1"/>
                  <a:t>princip</a:t>
                </a:r>
                <a:r>
                  <a:rPr lang="en-US" sz="2000" dirty="0"/>
                  <a:t> </a:t>
                </a:r>
                <a:r>
                  <a:rPr lang="en-US" sz="2000" dirty="0" err="1"/>
                  <a:t>ili</a:t>
                </a:r>
                <a:r>
                  <a:rPr lang="en-US" sz="2000" dirty="0"/>
                  <a:t> no-communication </a:t>
                </a:r>
                <a:r>
                  <a:rPr lang="en-US" sz="2000" dirty="0" err="1"/>
                  <a:t>teorema</a:t>
                </a:r>
                <a:r>
                  <a:rPr lang="en-US" sz="2000" dirty="0"/>
                  <a:t>. </a:t>
                </a:r>
                <a:r>
                  <a:rPr lang="en-US" sz="2000" baseline="0" dirty="0"/>
                  <a:t> </a:t>
                </a:r>
                <a:r>
                  <a:rPr lang="en-US" sz="2000" dirty="0"/>
                  <a:t>Na primer, Ana </a:t>
                </a:r>
                <a:r>
                  <a:rPr lang="en-US" sz="2000" dirty="0" err="1"/>
                  <a:t>i</a:t>
                </a:r>
                <a:r>
                  <a:rPr lang="en-US" sz="2000" dirty="0"/>
                  <a:t> </a:t>
                </a:r>
                <a:r>
                  <a:rPr lang="en-US" sz="2000" dirty="0" err="1"/>
                  <a:t>Boban</a:t>
                </a:r>
                <a:r>
                  <a:rPr lang="en-US" sz="2000" dirty="0"/>
                  <a:t> </a:t>
                </a:r>
                <a:r>
                  <a:rPr lang="en-US" sz="2000" dirty="0" err="1"/>
                  <a:t>imaju</a:t>
                </a:r>
                <a:r>
                  <a:rPr lang="en-US" sz="2000" dirty="0"/>
                  <a:t> </a:t>
                </a:r>
                <a:r>
                  <a:rPr lang="en-US" sz="2000" dirty="0" err="1"/>
                  <a:t>po</a:t>
                </a:r>
                <a:r>
                  <a:rPr lang="en-US" sz="2000" dirty="0"/>
                  <a:t> </a:t>
                </a:r>
                <a:r>
                  <a:rPr lang="en-US" sz="2000" dirty="0" err="1"/>
                  <a:t>jedan</a:t>
                </a:r>
                <a:r>
                  <a:rPr lang="en-US" sz="2000" dirty="0"/>
                  <a:t> </a:t>
                </a:r>
                <a:r>
                  <a:rPr lang="en-US" sz="2000" dirty="0" err="1"/>
                  <a:t>kubit</a:t>
                </a:r>
                <a:r>
                  <a:rPr lang="en-US" sz="2000" dirty="0"/>
                  <a:t> </a:t>
                </a:r>
                <a:r>
                  <a:rPr lang="en-US" sz="2000" dirty="0" err="1"/>
                  <a:t>spletenog</a:t>
                </a:r>
                <a:r>
                  <a:rPr lang="en-US" sz="2000" dirty="0"/>
                  <a:t> para. </a:t>
                </a:r>
              </a:p>
              <a:p>
                <a:pPr marL="457200" indent="-457200">
                  <a:buFont typeface="+mj-lt"/>
                  <a:buAutoNum type="arabicPeriod"/>
                </a:pPr>
                <a:r>
                  <a:rPr lang="en-US" sz="2000" baseline="0" dirty="0" err="1"/>
                  <a:t>Ako</a:t>
                </a:r>
                <a:r>
                  <a:rPr lang="en-US" sz="2000" baseline="0" dirty="0"/>
                  <a:t> bi Ana </a:t>
                </a:r>
                <a:r>
                  <a:rPr lang="en-US" sz="2000" baseline="0" dirty="0" err="1"/>
                  <a:t>bila</a:t>
                </a:r>
                <a:r>
                  <a:rPr lang="en-US" sz="2000" baseline="0" dirty="0"/>
                  <a:t> u </a:t>
                </a:r>
                <a:r>
                  <a:rPr lang="en-US" sz="2000" baseline="0" dirty="0" err="1"/>
                  <a:t>mogućnosti</a:t>
                </a:r>
                <a:r>
                  <a:rPr lang="en-US" sz="2000" baseline="0" dirty="0"/>
                  <a:t> da </a:t>
                </a:r>
                <a:r>
                  <a:rPr lang="en-US" sz="2000" baseline="0" dirty="0" err="1"/>
                  <a:t>utiče</a:t>
                </a:r>
                <a:r>
                  <a:rPr lang="en-US" sz="2000" baseline="0" dirty="0"/>
                  <a:t> </a:t>
                </a:r>
                <a:r>
                  <a:rPr lang="en-US" sz="2000" baseline="0" dirty="0" err="1"/>
                  <a:t>na</a:t>
                </a:r>
                <a:r>
                  <a:rPr lang="en-US" sz="2000" baseline="0" dirty="0"/>
                  <a:t> </a:t>
                </a:r>
                <a:r>
                  <a:rPr lang="en-US" sz="2000" baseline="0" dirty="0" err="1"/>
                  <a:t>rezultat</a:t>
                </a:r>
                <a:r>
                  <a:rPr lang="en-US" sz="2000" baseline="0" dirty="0"/>
                  <a:t> </a:t>
                </a:r>
                <a:r>
                  <a:rPr lang="en-US" sz="2000" baseline="0" dirty="0" err="1"/>
                  <a:t>merenja</a:t>
                </a:r>
                <a:r>
                  <a:rPr lang="en-US" sz="2000" baseline="0" dirty="0"/>
                  <a:t> </a:t>
                </a:r>
                <a:r>
                  <a:rPr lang="en-US" sz="2000" baseline="0" dirty="0" err="1"/>
                  <a:t>svog</a:t>
                </a:r>
                <a:r>
                  <a:rPr lang="en-US" sz="2000" baseline="0" dirty="0"/>
                  <a:t> </a:t>
                </a:r>
                <a:r>
                  <a:rPr lang="en-US" sz="2000" baseline="0" dirty="0" err="1"/>
                  <a:t>kubita</a:t>
                </a:r>
                <a:r>
                  <a:rPr lang="en-US" sz="2000" baseline="0" dirty="0"/>
                  <a:t>, </a:t>
                </a:r>
                <a:r>
                  <a:rPr lang="en-US" sz="2000" baseline="0" dirty="0" err="1"/>
                  <a:t>na</a:t>
                </a:r>
                <a:r>
                  <a:rPr lang="en-US" sz="2000" baseline="0" dirty="0"/>
                  <a:t> primer </a:t>
                </a:r>
                <a:r>
                  <a:rPr lang="en-US" sz="2000" baseline="0" dirty="0" err="1"/>
                  <a:t>forsirajući</a:t>
                </a:r>
                <a:r>
                  <a:rPr lang="en-US" sz="2000" baseline="0" dirty="0"/>
                  <a:t> </a:t>
                </a:r>
                <a:r>
                  <a:rPr lang="en-US" sz="2000" baseline="0" dirty="0" err="1"/>
                  <a:t>rezultat</a:t>
                </a:r>
                <a:r>
                  <a:rPr lang="en-US" sz="2000" baseline="0" dirty="0"/>
                  <a:t> </a:t>
                </a:r>
                <a:r>
                  <a:rPr lang="en-US" sz="2000" i="0">
                    <a:latin typeface="Cambria Math" panose="02040503050406030204" pitchFamily="18" charset="0"/>
                  </a:rPr>
                  <a:t>|</a:t>
                </a:r>
                <a:r>
                  <a:rPr lang="sr-Latn-RS" sz="2000" b="0" i="0">
                    <a:latin typeface="Cambria Math" panose="02040503050406030204" pitchFamily="18" charset="0"/>
                  </a:rPr>
                  <a:t>0⟩</a:t>
                </a:r>
                <a:r>
                  <a:rPr lang="en-US" sz="2000" baseline="0" dirty="0"/>
                  <a:t> ili </a:t>
                </a:r>
                <a:r>
                  <a:rPr lang="en-US" sz="2000" i="0">
                    <a:latin typeface="Cambria Math" panose="02040503050406030204" pitchFamily="18" charset="0"/>
                  </a:rPr>
                  <a:t>|</a:t>
                </a:r>
                <a:r>
                  <a:rPr lang="sr-Latn-RS" sz="2000" b="0" i="0">
                    <a:latin typeface="Cambria Math" panose="02040503050406030204" pitchFamily="18" charset="0"/>
                  </a:rPr>
                  <a:t>1⟩</a:t>
                </a:r>
                <a:r>
                  <a:rPr lang="en-US" sz="2000" baseline="0" dirty="0"/>
                  <a:t>, a da </a:t>
                </a:r>
                <a:r>
                  <a:rPr lang="en-US" sz="2000" baseline="0" dirty="0" err="1"/>
                  <a:t>pri</a:t>
                </a:r>
                <a:r>
                  <a:rPr lang="en-US" sz="2000" baseline="0" dirty="0"/>
                  <a:t> tome  ne </a:t>
                </a:r>
                <a:r>
                  <a:rPr lang="en-US" sz="2000" baseline="0" dirty="0" err="1"/>
                  <a:t>naruši</a:t>
                </a:r>
                <a:r>
                  <a:rPr lang="en-US" sz="2000" baseline="0" dirty="0"/>
                  <a:t> </a:t>
                </a:r>
                <a:r>
                  <a:rPr lang="en-US" sz="2000" baseline="0" dirty="0" err="1"/>
                  <a:t>stanje</a:t>
                </a:r>
                <a:r>
                  <a:rPr lang="en-US" sz="2000" baseline="0" dirty="0"/>
                  <a:t> </a:t>
                </a:r>
                <a:r>
                  <a:rPr lang="en-US" sz="2000" baseline="0" dirty="0" err="1"/>
                  <a:t>spletenosti</a:t>
                </a:r>
                <a:r>
                  <a:rPr lang="en-US" sz="2000" baseline="0" dirty="0"/>
                  <a:t>, to bi </a:t>
                </a:r>
                <a:r>
                  <a:rPr lang="en-US" sz="2000" baseline="0" dirty="0" err="1"/>
                  <a:t>joj</a:t>
                </a:r>
                <a:r>
                  <a:rPr lang="en-US" sz="2000" baseline="0" dirty="0"/>
                  <a:t> </a:t>
                </a:r>
                <a:r>
                  <a:rPr lang="en-US" sz="2000" baseline="0" dirty="0" err="1"/>
                  <a:t>omogućilo</a:t>
                </a:r>
                <a:r>
                  <a:rPr lang="en-US" sz="2000" baseline="0" dirty="0"/>
                  <a:t> da </a:t>
                </a:r>
                <a:r>
                  <a:rPr lang="en-US" sz="2000" baseline="0" dirty="0" err="1"/>
                  <a:t>pošalje</a:t>
                </a:r>
                <a:r>
                  <a:rPr lang="en-US" sz="2000" baseline="0" dirty="0"/>
                  <a:t> </a:t>
                </a:r>
                <a:r>
                  <a:rPr lang="en-US" sz="2000" baseline="0" dirty="0" err="1"/>
                  <a:t>poruku</a:t>
                </a:r>
                <a:r>
                  <a:rPr lang="en-US" sz="2000" baseline="0" dirty="0"/>
                  <a:t> </a:t>
                </a:r>
                <a:r>
                  <a:rPr lang="en-US" sz="2000" baseline="0" dirty="0" err="1"/>
                  <a:t>Bobanu</a:t>
                </a:r>
                <a:r>
                  <a:rPr lang="en-US" sz="2000" baseline="0" dirty="0"/>
                  <a:t> </a:t>
                </a:r>
                <a:r>
                  <a:rPr lang="en-US" sz="2000" baseline="0" dirty="0" err="1"/>
                  <a:t>brže</a:t>
                </a:r>
                <a:r>
                  <a:rPr lang="en-US" sz="2000" baseline="0" dirty="0"/>
                  <a:t> od </a:t>
                </a:r>
                <a:r>
                  <a:rPr lang="en-US" sz="2000" baseline="0" dirty="0" err="1"/>
                  <a:t>svetlosti</a:t>
                </a:r>
                <a:r>
                  <a:rPr lang="en-US" sz="2000" baseline="0" dirty="0"/>
                  <a:t> </a:t>
                </a:r>
                <a:r>
                  <a:rPr lang="en-US" sz="2000" baseline="0" dirty="0" err="1"/>
                  <a:t>jer</a:t>
                </a:r>
                <a:r>
                  <a:rPr lang="en-US" sz="2000" baseline="0" dirty="0"/>
                  <a:t> se </a:t>
                </a:r>
                <a:r>
                  <a:rPr lang="en-US" sz="2000" baseline="0" dirty="0" err="1"/>
                  <a:t>svaka</a:t>
                </a:r>
                <a:r>
                  <a:rPr lang="en-US" sz="2000" baseline="0" dirty="0"/>
                  <a:t> </a:t>
                </a:r>
                <a:r>
                  <a:rPr lang="en-US" sz="2000" baseline="0" dirty="0" err="1"/>
                  <a:t>promena</a:t>
                </a:r>
                <a:r>
                  <a:rPr lang="en-US" sz="2000" baseline="0" dirty="0"/>
                  <a:t> </a:t>
                </a:r>
                <a:r>
                  <a:rPr lang="en-US" sz="2000" baseline="0" dirty="0" err="1"/>
                  <a:t>njenog</a:t>
                </a:r>
                <a:r>
                  <a:rPr lang="en-US" sz="2000" baseline="0" dirty="0"/>
                  <a:t> </a:t>
                </a:r>
                <a:r>
                  <a:rPr lang="en-US" sz="2000" baseline="0" dirty="0" err="1"/>
                  <a:t>kubita</a:t>
                </a:r>
                <a:r>
                  <a:rPr lang="en-US" sz="2000" baseline="0" dirty="0"/>
                  <a:t> </a:t>
                </a:r>
                <a:r>
                  <a:rPr lang="en-US" sz="2000" baseline="0" dirty="0" err="1"/>
                  <a:t>trenutno</a:t>
                </a:r>
                <a:r>
                  <a:rPr lang="en-US" sz="2000" baseline="0" dirty="0"/>
                  <a:t> </a:t>
                </a:r>
                <a:r>
                  <a:rPr lang="en-US" sz="2000" baseline="0" dirty="0" err="1"/>
                  <a:t>prenosi</a:t>
                </a:r>
                <a:r>
                  <a:rPr lang="en-US" sz="2000" baseline="0" dirty="0"/>
                  <a:t> </a:t>
                </a:r>
                <a:r>
                  <a:rPr lang="en-US" sz="2000" baseline="0" dirty="0" err="1"/>
                  <a:t>na</a:t>
                </a:r>
                <a:r>
                  <a:rPr lang="en-US" sz="2000" baseline="0" dirty="0"/>
                  <a:t> </a:t>
                </a:r>
                <a:r>
                  <a:rPr lang="en-US" sz="2000" baseline="0" dirty="0" err="1"/>
                  <a:t>Bobanov</a:t>
                </a:r>
                <a:r>
                  <a:rPr lang="en-US" sz="2000" baseline="0" dirty="0"/>
                  <a:t> </a:t>
                </a:r>
                <a:r>
                  <a:rPr lang="en-US" sz="2000" baseline="0" dirty="0" err="1"/>
                  <a:t>kubit</a:t>
                </a:r>
                <a:r>
                  <a:rPr lang="en-US" sz="2000" baseline="0" dirty="0"/>
                  <a:t>. No-signaling </a:t>
                </a:r>
                <a:r>
                  <a:rPr lang="en-US" sz="2000" baseline="0" dirty="0" err="1"/>
                  <a:t>prinicp</a:t>
                </a:r>
                <a:r>
                  <a:rPr lang="en-US" sz="2000" baseline="0" dirty="0"/>
                  <a:t> </a:t>
                </a:r>
                <a:r>
                  <a:rPr lang="en-US" sz="2000" baseline="0" dirty="0" err="1"/>
                  <a:t>ili</a:t>
                </a:r>
                <a:r>
                  <a:rPr lang="en-US" sz="2000" baseline="0" dirty="0"/>
                  <a:t> no-communication </a:t>
                </a:r>
                <a:r>
                  <a:rPr lang="en-US" sz="2000" baseline="0" dirty="0" err="1"/>
                  <a:t>teorema</a:t>
                </a:r>
                <a:r>
                  <a:rPr lang="en-US" sz="2000" baseline="0" dirty="0"/>
                  <a:t> </a:t>
                </a:r>
                <a:r>
                  <a:rPr lang="en-US" sz="2000" baseline="0" dirty="0" err="1"/>
                  <a:t>kaže</a:t>
                </a:r>
                <a:r>
                  <a:rPr lang="en-US" sz="2000" baseline="0" dirty="0"/>
                  <a:t> da </a:t>
                </a:r>
                <a:r>
                  <a:rPr lang="en-US" sz="2000" baseline="0" dirty="0" err="1"/>
                  <a:t>nije</a:t>
                </a:r>
                <a:r>
                  <a:rPr lang="en-US" sz="2000" baseline="0" dirty="0"/>
                  <a:t> </a:t>
                </a:r>
                <a:r>
                  <a:rPr lang="en-US" sz="2000" baseline="0" dirty="0" err="1"/>
                  <a:t>moguće</a:t>
                </a:r>
                <a:r>
                  <a:rPr lang="en-US" sz="2000" baseline="0" dirty="0"/>
                  <a:t> </a:t>
                </a:r>
                <a:r>
                  <a:rPr lang="en-US" sz="2000" baseline="0" dirty="0" err="1"/>
                  <a:t>kontrolisati</a:t>
                </a:r>
                <a:r>
                  <a:rPr lang="en-US" sz="2000" baseline="0" dirty="0"/>
                  <a:t> </a:t>
                </a:r>
                <a:r>
                  <a:rPr lang="en-US" sz="2000" baseline="0" dirty="0" err="1"/>
                  <a:t>lokalni</a:t>
                </a:r>
                <a:r>
                  <a:rPr lang="en-US" sz="2000" baseline="0" dirty="0"/>
                  <a:t> </a:t>
                </a:r>
                <a:r>
                  <a:rPr lang="en-US" sz="2000" baseline="0" dirty="0" err="1"/>
                  <a:t>rezultat</a:t>
                </a:r>
                <a:r>
                  <a:rPr lang="en-US" sz="2000" baseline="0" dirty="0"/>
                  <a:t> </a:t>
                </a:r>
                <a:r>
                  <a:rPr lang="en-US" sz="2000" baseline="0" dirty="0" err="1"/>
                  <a:t>merenja</a:t>
                </a:r>
                <a:r>
                  <a:rPr lang="en-US" sz="2000" baseline="0" dirty="0"/>
                  <a:t>, a da se </a:t>
                </a:r>
                <a:r>
                  <a:rPr lang="en-US" sz="2000" baseline="0" dirty="0" err="1"/>
                  <a:t>pri</a:t>
                </a:r>
                <a:r>
                  <a:rPr lang="en-US" sz="2000" baseline="0" dirty="0"/>
                  <a:t> tome ne </a:t>
                </a:r>
                <a:r>
                  <a:rPr lang="en-US" sz="2000" baseline="0" dirty="0" err="1"/>
                  <a:t>naruši</a:t>
                </a:r>
                <a:r>
                  <a:rPr lang="en-US" sz="2000" baseline="0" dirty="0"/>
                  <a:t> </a:t>
                </a:r>
                <a:r>
                  <a:rPr lang="en-US" sz="2000" baseline="0" dirty="0" err="1"/>
                  <a:t>kvantna</a:t>
                </a:r>
                <a:r>
                  <a:rPr lang="en-US" sz="2000" baseline="0" dirty="0"/>
                  <a:t> </a:t>
                </a:r>
                <a:r>
                  <a:rPr lang="en-US" sz="2000" baseline="0" dirty="0" err="1"/>
                  <a:t>spletenost</a:t>
                </a:r>
                <a:r>
                  <a:rPr lang="en-US" sz="2000" baseline="0" dirty="0"/>
                  <a:t>. </a:t>
                </a:r>
                <a:r>
                  <a:rPr lang="en-US" sz="2000" baseline="0" dirty="0" err="1"/>
                  <a:t>Rezultat</a:t>
                </a:r>
                <a:r>
                  <a:rPr lang="en-US" sz="2000" baseline="0" dirty="0"/>
                  <a:t> </a:t>
                </a:r>
                <a:r>
                  <a:rPr lang="en-US" sz="2000" baseline="0" dirty="0" err="1"/>
                  <a:t>Aninog</a:t>
                </a:r>
                <a:r>
                  <a:rPr lang="en-US" sz="2000" baseline="0" dirty="0"/>
                  <a:t> </a:t>
                </a:r>
                <a:r>
                  <a:rPr lang="en-US" sz="2000" baseline="0" dirty="0" err="1"/>
                  <a:t>merenja</a:t>
                </a:r>
                <a:r>
                  <a:rPr lang="en-US" sz="2000" baseline="0" dirty="0"/>
                  <a:t> </a:t>
                </a:r>
                <a:r>
                  <a:rPr lang="en-US" sz="2000" baseline="0" dirty="0" err="1"/>
                  <a:t>će</a:t>
                </a:r>
                <a:r>
                  <a:rPr lang="en-US" sz="2000" baseline="0" dirty="0"/>
                  <a:t> </a:t>
                </a:r>
                <a:r>
                  <a:rPr lang="en-US" sz="2000" baseline="0" dirty="0" err="1"/>
                  <a:t>uvek</a:t>
                </a:r>
                <a:r>
                  <a:rPr lang="en-US" sz="2000" baseline="0" dirty="0"/>
                  <a:t> </a:t>
                </a:r>
                <a:r>
                  <a:rPr lang="en-US" sz="2000" baseline="0" dirty="0" err="1"/>
                  <a:t>biti</a:t>
                </a:r>
                <a:r>
                  <a:rPr lang="en-US" sz="2000" baseline="0" dirty="0"/>
                  <a:t> </a:t>
                </a:r>
                <a:r>
                  <a:rPr lang="en-US" sz="2000" baseline="0" dirty="0" err="1"/>
                  <a:t>slučajan</a:t>
                </a:r>
                <a:r>
                  <a:rPr lang="en-US" sz="2000" baseline="0" dirty="0"/>
                  <a:t> </a:t>
                </a:r>
                <a:r>
                  <a:rPr lang="en-US" sz="2000" baseline="0" dirty="0" err="1"/>
                  <a:t>sa</a:t>
                </a:r>
                <a:r>
                  <a:rPr lang="en-US" sz="2000" baseline="0" dirty="0"/>
                  <a:t> </a:t>
                </a:r>
                <a:r>
                  <a:rPr lang="en-US" sz="2000" baseline="0" dirty="0" err="1"/>
                  <a:t>verovatnoćom</a:t>
                </a:r>
                <a:r>
                  <a:rPr lang="en-US" sz="2000" baseline="0" dirty="0"/>
                  <a:t> od 50%, a </a:t>
                </a:r>
                <a:r>
                  <a:rPr lang="en-US" sz="2000" baseline="0" dirty="0" err="1"/>
                  <a:t>Boban</a:t>
                </a:r>
                <a:r>
                  <a:rPr lang="en-US" sz="2000" baseline="0" dirty="0"/>
                  <a:t> </a:t>
                </a:r>
                <a:r>
                  <a:rPr lang="en-US" sz="2000" baseline="0" dirty="0" err="1"/>
                  <a:t>neće</a:t>
                </a:r>
                <a:r>
                  <a:rPr lang="en-US" sz="2000" baseline="0" dirty="0"/>
                  <a:t> </a:t>
                </a:r>
                <a:r>
                  <a:rPr lang="en-US" sz="2000" baseline="0" dirty="0" err="1"/>
                  <a:t>moći</a:t>
                </a:r>
                <a:r>
                  <a:rPr lang="en-US" sz="2000" baseline="0" dirty="0"/>
                  <a:t> da </a:t>
                </a:r>
                <a:r>
                  <a:rPr lang="en-US" sz="2000" baseline="0" dirty="0" err="1"/>
                  <a:t>utvrdi</a:t>
                </a:r>
                <a:r>
                  <a:rPr lang="en-US" sz="2000" baseline="0" dirty="0"/>
                  <a:t> da li </a:t>
                </a:r>
                <a:r>
                  <a:rPr lang="en-US" sz="2000" baseline="0" dirty="0" err="1"/>
                  <a:t>je</a:t>
                </a:r>
                <a:r>
                  <a:rPr lang="en-US" sz="2000" baseline="0" dirty="0"/>
                  <a:t> Ana </a:t>
                </a:r>
                <a:r>
                  <a:rPr lang="en-US" sz="2000" baseline="0" dirty="0" err="1"/>
                  <a:t>izvršila</a:t>
                </a:r>
                <a:r>
                  <a:rPr lang="en-US" sz="2000" baseline="0" dirty="0"/>
                  <a:t> </a:t>
                </a:r>
                <a:r>
                  <a:rPr lang="en-US" sz="2000" baseline="0" dirty="0" err="1"/>
                  <a:t>merenje</a:t>
                </a:r>
                <a:r>
                  <a:rPr lang="en-US" sz="2000" baseline="0" dirty="0"/>
                  <a:t> </a:t>
                </a:r>
                <a:r>
                  <a:rPr lang="en-US" sz="2000" baseline="0" dirty="0" err="1"/>
                  <a:t>samo</a:t>
                </a:r>
                <a:r>
                  <a:rPr lang="en-US" sz="2000" baseline="0" dirty="0"/>
                  <a:t> </a:t>
                </a:r>
                <a:r>
                  <a:rPr lang="en-US" sz="2000" baseline="0" dirty="0" err="1"/>
                  <a:t>posmatranjem</a:t>
                </a:r>
                <a:r>
                  <a:rPr lang="en-US" sz="2000" baseline="0" dirty="0"/>
                  <a:t> </a:t>
                </a:r>
                <a:r>
                  <a:rPr lang="en-US" sz="2000" baseline="0" dirty="0" err="1"/>
                  <a:t>svog</a:t>
                </a:r>
                <a:r>
                  <a:rPr lang="en-US" sz="2000" baseline="0" dirty="0"/>
                  <a:t> </a:t>
                </a:r>
                <a:r>
                  <a:rPr lang="en-US" sz="2000" baseline="0" dirty="0" err="1"/>
                  <a:t>kubita</a:t>
                </a:r>
                <a:r>
                  <a:rPr lang="en-US" sz="2000" baseline="0" dirty="0"/>
                  <a:t>. </a:t>
                </a:r>
                <a:r>
                  <a:rPr lang="en-US" sz="2000" baseline="0" dirty="0" err="1"/>
                  <a:t>Jedini</a:t>
                </a:r>
                <a:r>
                  <a:rPr lang="en-US" sz="2000" baseline="0" dirty="0"/>
                  <a:t> </a:t>
                </a:r>
                <a:r>
                  <a:rPr lang="en-US" sz="2000" baseline="0" dirty="0" err="1"/>
                  <a:t>način</a:t>
                </a:r>
                <a:r>
                  <a:rPr lang="en-US" sz="2000" baseline="0" dirty="0"/>
                  <a:t> da </a:t>
                </a:r>
                <a:r>
                  <a:rPr lang="en-US" sz="2000" baseline="0" dirty="0" err="1"/>
                  <a:t>razmene</a:t>
                </a:r>
                <a:r>
                  <a:rPr lang="en-US" sz="2000" baseline="0" dirty="0"/>
                  <a:t> </a:t>
                </a:r>
                <a:r>
                  <a:rPr lang="en-US" sz="2000" baseline="0" dirty="0" err="1"/>
                  <a:t>ovu</a:t>
                </a:r>
                <a:r>
                  <a:rPr lang="en-US" sz="2000" baseline="0" dirty="0"/>
                  <a:t> </a:t>
                </a:r>
                <a:r>
                  <a:rPr lang="en-US" sz="2000" baseline="0" dirty="0" err="1"/>
                  <a:t>informaciju</a:t>
                </a:r>
                <a:r>
                  <a:rPr lang="en-US" sz="2000" baseline="0" dirty="0"/>
                  <a:t> </a:t>
                </a:r>
                <a:r>
                  <a:rPr lang="en-US" sz="2000" baseline="0" dirty="0" err="1"/>
                  <a:t>je</a:t>
                </a:r>
                <a:r>
                  <a:rPr lang="en-US" sz="2000" baseline="0" dirty="0"/>
                  <a:t> </a:t>
                </a:r>
                <a:r>
                  <a:rPr lang="en-US" sz="2000" baseline="0" dirty="0" err="1"/>
                  <a:t>klasičnim</a:t>
                </a:r>
                <a:r>
                  <a:rPr lang="en-US" sz="2000" baseline="0" dirty="0"/>
                  <a:t> </a:t>
                </a:r>
                <a:r>
                  <a:rPr lang="en-US" sz="2000" baseline="0" dirty="0" err="1"/>
                  <a:t>kanalom</a:t>
                </a:r>
                <a:r>
                  <a:rPr lang="en-US" sz="2000" baseline="0" dirty="0"/>
                  <a:t>, </a:t>
                </a:r>
                <a:r>
                  <a:rPr lang="en-US" sz="2000" baseline="0" dirty="0" err="1"/>
                  <a:t>dakle</a:t>
                </a:r>
                <a:r>
                  <a:rPr lang="en-US" sz="2000" baseline="0" dirty="0"/>
                  <a:t> </a:t>
                </a:r>
                <a:r>
                  <a:rPr lang="en-US" sz="2000" baseline="0" dirty="0" err="1"/>
                  <a:t>brzinom</a:t>
                </a:r>
                <a:r>
                  <a:rPr lang="en-US" sz="2000" baseline="0" dirty="0"/>
                  <a:t> </a:t>
                </a:r>
                <a:r>
                  <a:rPr lang="en-US" sz="2000" baseline="0" dirty="0" err="1"/>
                  <a:t>manjom</a:t>
                </a:r>
                <a:r>
                  <a:rPr lang="en-US" sz="2000" baseline="0" dirty="0"/>
                  <a:t> od </a:t>
                </a:r>
                <a:r>
                  <a:rPr lang="en-US" sz="2000" baseline="0" dirty="0" err="1"/>
                  <a:t>brzine</a:t>
                </a:r>
                <a:r>
                  <a:rPr lang="en-US" sz="2000" baseline="0" dirty="0"/>
                  <a:t> </a:t>
                </a:r>
                <a:r>
                  <a:rPr lang="en-US" sz="2000" baseline="0" dirty="0" err="1"/>
                  <a:t>svetlosti</a:t>
                </a:r>
                <a:r>
                  <a:rPr lang="en-US" sz="2000" baseline="0" dirty="0"/>
                  <a:t>. </a:t>
                </a:r>
                <a:r>
                  <a:rPr lang="en-US" sz="2000" baseline="0" dirty="0" err="1"/>
                  <a:t>Ovo</a:t>
                </a:r>
                <a:r>
                  <a:rPr lang="en-US" sz="2000" baseline="0" dirty="0"/>
                  <a:t> </a:t>
                </a:r>
                <a:r>
                  <a:rPr lang="en-US" sz="2000" baseline="0" dirty="0" err="1"/>
                  <a:t>je</a:t>
                </a:r>
                <a:r>
                  <a:rPr lang="en-US" sz="2000" baseline="0" dirty="0"/>
                  <a:t> </a:t>
                </a:r>
                <a:r>
                  <a:rPr lang="en-US" sz="2000" baseline="0" dirty="0" err="1"/>
                  <a:t>i</a:t>
                </a:r>
                <a:r>
                  <a:rPr lang="en-US" sz="2000" baseline="0" dirty="0"/>
                  <a:t> </a:t>
                </a:r>
                <a:r>
                  <a:rPr lang="en-US" sz="2000" baseline="0" dirty="0" err="1"/>
                  <a:t>razlog</a:t>
                </a:r>
                <a:r>
                  <a:rPr lang="en-US" sz="2000" baseline="0" dirty="0"/>
                  <a:t> </a:t>
                </a:r>
                <a:r>
                  <a:rPr lang="en-US" sz="2000" baseline="0" dirty="0" err="1"/>
                  <a:t>zašto</a:t>
                </a:r>
                <a:r>
                  <a:rPr lang="en-US" sz="2000" baseline="0" dirty="0"/>
                  <a:t> </a:t>
                </a:r>
                <a:r>
                  <a:rPr lang="en-US" sz="2000" baseline="0" dirty="0" err="1"/>
                  <a:t>smo</a:t>
                </a:r>
                <a:r>
                  <a:rPr lang="en-US" sz="2000" baseline="0" dirty="0"/>
                  <a:t> u </a:t>
                </a:r>
                <a:r>
                  <a:rPr lang="en-US" sz="2000" baseline="0" dirty="0" err="1"/>
                  <a:t>prikazanim</a:t>
                </a:r>
                <a:r>
                  <a:rPr lang="en-US" sz="2000" baseline="0" dirty="0"/>
                  <a:t> </a:t>
                </a:r>
                <a:r>
                  <a:rPr lang="en-US" sz="2000" baseline="0" dirty="0" err="1"/>
                  <a:t>protokolima</a:t>
                </a:r>
                <a:r>
                  <a:rPr lang="en-US" sz="2000" baseline="0" dirty="0"/>
                  <a:t> </a:t>
                </a:r>
                <a:r>
                  <a:rPr lang="en-US" sz="2000" baseline="0" dirty="0" err="1"/>
                  <a:t>morali</a:t>
                </a:r>
                <a:r>
                  <a:rPr lang="en-US" sz="2000" baseline="0" dirty="0"/>
                  <a:t> da </a:t>
                </a:r>
                <a:r>
                  <a:rPr lang="en-US" sz="2000" baseline="0" dirty="0" err="1"/>
                  <a:t>šaljemo</a:t>
                </a:r>
                <a:r>
                  <a:rPr lang="en-US" sz="2000" baseline="0" dirty="0"/>
                  <a:t> </a:t>
                </a:r>
                <a:r>
                  <a:rPr lang="en-US" sz="2000" baseline="0" dirty="0" err="1"/>
                  <a:t>bitove</a:t>
                </a:r>
                <a:r>
                  <a:rPr lang="en-US" sz="2000" baseline="0" dirty="0"/>
                  <a:t> </a:t>
                </a:r>
                <a:r>
                  <a:rPr lang="en-US" sz="2000" baseline="0" dirty="0" err="1"/>
                  <a:t>klasičnim</a:t>
                </a:r>
                <a:r>
                  <a:rPr lang="en-US" sz="2000" baseline="0" dirty="0"/>
                  <a:t> </a:t>
                </a:r>
                <a:r>
                  <a:rPr lang="en-US" sz="2000" baseline="0" dirty="0" err="1"/>
                  <a:t>kanalom</a:t>
                </a:r>
                <a:r>
                  <a:rPr lang="en-US" sz="2000" baseline="0" dirty="0"/>
                  <a:t>.</a:t>
                </a:r>
              </a:p>
              <a:p>
                <a:endParaRPr lang="en-US" sz="2000" dirty="0"/>
              </a:p>
              <a:p>
                <a:r>
                  <a:rPr lang="en-US" sz="2000" dirty="0" err="1"/>
                  <a:t>Međutim</a:t>
                </a:r>
                <a:r>
                  <a:rPr lang="en-US" sz="2000" dirty="0"/>
                  <a:t>, 2011 </a:t>
                </a:r>
                <a:r>
                  <a:rPr lang="en-US" sz="2000" dirty="0" err="1"/>
                  <a:t>je</a:t>
                </a:r>
                <a:r>
                  <a:rPr lang="en-US" sz="2000" dirty="0"/>
                  <a:t> </a:t>
                </a:r>
                <a:r>
                  <a:rPr lang="en-US" sz="2000" dirty="0" err="1"/>
                  <a:t>izršen</a:t>
                </a:r>
                <a:r>
                  <a:rPr lang="en-US" sz="2000" dirty="0"/>
                  <a:t> </a:t>
                </a:r>
                <a:r>
                  <a:rPr lang="en-US" sz="2000" dirty="0" err="1"/>
                  <a:t>eksperiment</a:t>
                </a:r>
                <a:r>
                  <a:rPr lang="en-US" sz="2000" dirty="0"/>
                  <a:t> u </a:t>
                </a:r>
                <a:r>
                  <a:rPr lang="en-US" sz="2000" dirty="0" err="1"/>
                  <a:t>kome</a:t>
                </a:r>
                <a:r>
                  <a:rPr lang="en-US" sz="2000" dirty="0"/>
                  <a:t> </a:t>
                </a:r>
                <a:r>
                  <a:rPr lang="en-US" sz="2000" dirty="0" err="1"/>
                  <a:t>su</a:t>
                </a:r>
                <a:r>
                  <a:rPr lang="en-US" sz="2000" dirty="0"/>
                  <a:t> </a:t>
                </a:r>
                <a:r>
                  <a:rPr lang="en-US" sz="2000" dirty="0" err="1"/>
                  <a:t>dva</a:t>
                </a:r>
                <a:r>
                  <a:rPr lang="en-US" sz="2000" dirty="0"/>
                  <a:t> </a:t>
                </a:r>
                <a:r>
                  <a:rPr lang="en-US" sz="2000" dirty="0" err="1"/>
                  <a:t>dijamanta</a:t>
                </a:r>
                <a:r>
                  <a:rPr lang="en-US" sz="2000" dirty="0"/>
                  <a:t> </a:t>
                </a:r>
                <a:r>
                  <a:rPr lang="en-US" sz="2000" dirty="0" err="1"/>
                  <a:t>udaljena</a:t>
                </a:r>
                <a:r>
                  <a:rPr lang="en-US" sz="2000" dirty="0"/>
                  <a:t> 30cm </a:t>
                </a:r>
                <a:r>
                  <a:rPr lang="en-US" sz="2000" dirty="0" err="1"/>
                  <a:t>jedan</a:t>
                </a:r>
                <a:r>
                  <a:rPr lang="en-US" sz="2000" dirty="0"/>
                  <a:t> od </a:t>
                </a:r>
                <a:r>
                  <a:rPr lang="en-US" sz="2000" dirty="0" err="1"/>
                  <a:t>drugog</a:t>
                </a:r>
                <a:r>
                  <a:rPr lang="en-US" sz="2000" dirty="0"/>
                  <a:t> </a:t>
                </a:r>
                <a:r>
                  <a:rPr lang="en-US" sz="2000" dirty="0" err="1"/>
                  <a:t>stavljena</a:t>
                </a:r>
                <a:r>
                  <a:rPr lang="en-US" sz="2000" dirty="0"/>
                  <a:t> u </a:t>
                </a:r>
                <a:r>
                  <a:rPr lang="en-US" sz="2000" dirty="0" err="1"/>
                  <a:t>isto</a:t>
                </a:r>
                <a:r>
                  <a:rPr lang="en-US" sz="2000" dirty="0"/>
                  <a:t> </a:t>
                </a:r>
                <a:r>
                  <a:rPr lang="en-US" sz="2000" dirty="0" err="1"/>
                  <a:t>stanje</a:t>
                </a:r>
                <a:r>
                  <a:rPr lang="en-US" sz="2000" dirty="0"/>
                  <a:t> </a:t>
                </a:r>
                <a:r>
                  <a:rPr lang="en-US" sz="2000" dirty="0" err="1"/>
                  <a:t>delovanjem</a:t>
                </a:r>
                <a:r>
                  <a:rPr lang="en-US" sz="2000" dirty="0"/>
                  <a:t> </a:t>
                </a:r>
                <a:r>
                  <a:rPr lang="en-US" sz="2000" dirty="0" err="1"/>
                  <a:t>samo</a:t>
                </a:r>
                <a:r>
                  <a:rPr lang="en-US" sz="2000" dirty="0"/>
                  <a:t> </a:t>
                </a:r>
                <a:r>
                  <a:rPr lang="en-US" sz="2000" dirty="0" err="1"/>
                  <a:t>na</a:t>
                </a:r>
                <a:r>
                  <a:rPr lang="en-US" sz="2000" dirty="0"/>
                  <a:t> </a:t>
                </a:r>
                <a:r>
                  <a:rPr lang="en-US" sz="2000" dirty="0" err="1"/>
                  <a:t>jedan</a:t>
                </a:r>
                <a:r>
                  <a:rPr lang="en-US" sz="2000" dirty="0"/>
                  <a:t> od </a:t>
                </a:r>
                <a:r>
                  <a:rPr lang="en-US" sz="2000" dirty="0" err="1"/>
                  <a:t>njih</a:t>
                </a:r>
                <a:r>
                  <a:rPr lang="en-US" sz="2000" dirty="0"/>
                  <a:t>. </a:t>
                </a:r>
                <a:r>
                  <a:rPr lang="en-US" sz="2000" dirty="0" err="1"/>
                  <a:t>Iako</a:t>
                </a:r>
                <a:r>
                  <a:rPr lang="en-US" sz="2000" dirty="0"/>
                  <a:t> </a:t>
                </a:r>
                <a:r>
                  <a:rPr lang="en-US" sz="2000" dirty="0" err="1"/>
                  <a:t>je</a:t>
                </a:r>
                <a:r>
                  <a:rPr lang="en-US" sz="2000" dirty="0"/>
                  <a:t> </a:t>
                </a:r>
                <a:r>
                  <a:rPr lang="en-US" sz="2000" dirty="0" err="1"/>
                  <a:t>ovo</a:t>
                </a:r>
                <a:r>
                  <a:rPr lang="en-US" sz="2000" dirty="0"/>
                  <a:t> </a:t>
                </a:r>
                <a:r>
                  <a:rPr lang="en-US" sz="2000" dirty="0" err="1"/>
                  <a:t>trajalo</a:t>
                </a:r>
                <a:r>
                  <a:rPr lang="en-US" sz="2000" dirty="0"/>
                  <a:t> </a:t>
                </a:r>
                <a:r>
                  <a:rPr lang="en-US" sz="2000" dirty="0" err="1"/>
                  <a:t>samo</a:t>
                </a:r>
                <a:r>
                  <a:rPr lang="en-US" sz="2000" dirty="0"/>
                  <a:t> </a:t>
                </a:r>
                <a:r>
                  <a:rPr lang="en-US" sz="2000" dirty="0" err="1"/>
                  <a:t>nekoliko</a:t>
                </a:r>
                <a:r>
                  <a:rPr lang="en-US" sz="2000" dirty="0"/>
                  <a:t> </a:t>
                </a:r>
                <a:r>
                  <a:rPr lang="en-US" sz="2000" dirty="0" err="1"/>
                  <a:t>pikosekundi</a:t>
                </a:r>
                <a:r>
                  <a:rPr lang="en-US" sz="2000" dirty="0"/>
                  <a:t> </a:t>
                </a:r>
                <a:r>
                  <a:rPr lang="en-US" sz="2000" dirty="0" err="1"/>
                  <a:t>otvorilo</a:t>
                </a:r>
                <a:r>
                  <a:rPr lang="en-US" sz="2000" dirty="0"/>
                  <a:t> </a:t>
                </a:r>
                <a:r>
                  <a:rPr lang="en-US" sz="2000" dirty="0" err="1"/>
                  <a:t>je</a:t>
                </a:r>
                <a:r>
                  <a:rPr lang="en-US" sz="2000" dirty="0"/>
                  <a:t> </a:t>
                </a:r>
                <a:r>
                  <a:rPr lang="en-US" sz="2000" dirty="0" err="1"/>
                  <a:t>pitanje</a:t>
                </a:r>
                <a:r>
                  <a:rPr lang="en-US" sz="2000" dirty="0"/>
                  <a:t> o </a:t>
                </a:r>
                <a:r>
                  <a:rPr lang="en-US" sz="2000" dirty="0" err="1"/>
                  <a:t>tačnosti</a:t>
                </a:r>
                <a:r>
                  <a:rPr lang="en-US" sz="2000" dirty="0"/>
                  <a:t> </a:t>
                </a:r>
                <a:r>
                  <a:rPr lang="en-US" sz="2000" dirty="0" err="1"/>
                  <a:t>ove</a:t>
                </a:r>
                <a:r>
                  <a:rPr lang="en-US" sz="2000" dirty="0"/>
                  <a:t> </a:t>
                </a:r>
                <a:r>
                  <a:rPr lang="en-US" sz="2000" dirty="0" err="1"/>
                  <a:t>teoreme</a:t>
                </a:r>
                <a:r>
                  <a:rPr lang="en-US" sz="2000" dirty="0"/>
                  <a:t>.</a:t>
                </a:r>
              </a:p>
              <a:p>
                <a:endParaRPr lang="en-US" sz="2000" dirty="0"/>
              </a:p>
              <a:p>
                <a:r>
                  <a:rPr lang="en-US" sz="2000" dirty="0" err="1"/>
                  <a:t>Literatura</a:t>
                </a:r>
                <a:r>
                  <a:rPr lang="en-US" sz="2000" dirty="0"/>
                  <a:t>:</a:t>
                </a:r>
              </a:p>
              <a:p>
                <a:r>
                  <a:rPr lang="en-US" sz="2000" dirty="0"/>
                  <a:t>Entangling Macroscopic Diamonds at Room Temperature</a:t>
                </a:r>
              </a:p>
              <a:p>
                <a:r>
                  <a:rPr lang="en-US" sz="2000" dirty="0"/>
                  <a:t>K. C. Lee at al.</a:t>
                </a:r>
              </a:p>
              <a:p>
                <a:r>
                  <a:rPr lang="en-US" sz="2000" dirty="0"/>
                  <a:t>December 2011Science 334(6060):1253-6</a:t>
                </a:r>
              </a:p>
              <a:p>
                <a:r>
                  <a:rPr lang="en-US" sz="2000" dirty="0"/>
                  <a:t>DOI:10.1126/science.1211914</a:t>
                </a:r>
              </a:p>
              <a:p>
                <a:endParaRPr lang="en-US" sz="2000" dirty="0"/>
              </a:p>
              <a:p>
                <a:r>
                  <a:rPr lang="en-US" sz="2000" dirty="0"/>
                  <a:t>https://</a:t>
                </a:r>
                <a:r>
                  <a:rPr lang="en-US" sz="2000" dirty="0" err="1"/>
                  <a:t>youtu.be</a:t>
                </a:r>
                <a:r>
                  <a:rPr lang="en-US" sz="2000" dirty="0"/>
                  <a:t>/SVFiIU6exkw</a:t>
                </a:r>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19</a:t>
            </a:fld>
            <a:endParaRPr lang="en-US"/>
          </a:p>
        </p:txBody>
      </p:sp>
    </p:spTree>
    <p:extLst>
      <p:ext uri="{BB962C8B-B14F-4D97-AF65-F5344CB8AC3E}">
        <p14:creationId xmlns:p14="http://schemas.microsoft.com/office/powerpoint/2010/main" val="2535480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Another theorem with important consequences for quantum communication is the no-cloning theorem. It states that an unknown quantum state cannot be perfectly copied. More precisely, there is no unitary operation that can create an identical copy of an arbitrary unknown quantum state.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rPr>
                  <a:t>This theorem is proved using a proof by contradiction.</a:t>
                </a:r>
                <a:endParaRPr lang="en-US" sz="1200"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endParaRPr>
              </a:p>
              <a:p>
                <a:pPr algn="just"/>
                <a:r>
                  <a:rPr lang="en-ZA" dirty="0">
                    <a:solidFill>
                      <a:schemeClr val="tx1"/>
                    </a:solidFill>
                  </a:rPr>
                  <a:t>Suppose that perfect cloning is possible and that there exists a cloning machine, represented by a linear operator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𝑈</m:t>
                        </m:r>
                      </m:e>
                      <m:sub>
                        <m:r>
                          <a:rPr lang="en-US" sz="1200" b="0" i="1" smtClean="0">
                            <a:solidFill>
                              <a:schemeClr val="tx1"/>
                            </a:solidFill>
                            <a:latin typeface="Cambria Math" panose="02040503050406030204" pitchFamily="18" charset="0"/>
                          </a:rPr>
                          <m:t>𝑐</m:t>
                        </m:r>
                      </m:sub>
                    </m:sSub>
                  </m:oMath>
                </a14:m>
                <a:r>
                  <a:rPr lang="en-ZA" dirty="0">
                    <a:solidFill>
                      <a:schemeClr val="tx1"/>
                    </a:solidFill>
                  </a:rPr>
                  <a:t>​, which takes as input a qubit in an unknown state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oMath>
                </a14:m>
                <a:r>
                  <a:rPr lang="en-ZA" b="0" dirty="0">
                    <a:solidFill>
                      <a:schemeClr val="tx1"/>
                    </a:solidFill>
                  </a:rPr>
                  <a:t> </a:t>
                </a:r>
                <a:r>
                  <a:rPr lang="en-ZA" dirty="0">
                    <a:solidFill>
                      <a:schemeClr val="tx1"/>
                    </a:solidFill>
                  </a:rPr>
                  <a:t> and an ancillary qubit initialized to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dirty="0">
                    <a:solidFill>
                      <a:schemeClr val="tx1"/>
                    </a:solidFill>
                  </a:rPr>
                  <a:t>.</a:t>
                </a:r>
              </a:p>
              <a:p>
                <a:pPr algn="just"/>
                <a:endParaRPr lang="en-ZA" b="0" dirty="0">
                  <a:solidFill>
                    <a:schemeClr val="tx1"/>
                  </a:solidFill>
                </a:endParaRPr>
              </a:p>
              <a:p>
                <a:pPr marL="228600" indent="-228600" algn="just">
                  <a:buFont typeface="+mj-lt"/>
                  <a:buAutoNum type="arabicPeriod"/>
                </a:pPr>
                <a:r>
                  <a:rPr lang="en-ZA" dirty="0">
                    <a:solidFill>
                      <a:schemeClr val="tx1"/>
                    </a:solidFill>
                  </a:rPr>
                  <a:t>The input to the machine is the state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i="1" smtClean="0">
                        <a:solidFill>
                          <a:schemeClr val="tx1"/>
                        </a:solidFill>
                        <a:latin typeface="Cambria Math" panose="02040503050406030204" pitchFamily="18" charset="0"/>
                        <a:ea typeface="Cambria Math" panose="02040503050406030204" pitchFamily="18" charset="0"/>
                      </a:rPr>
                      <m:t>𝑎</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𝑏</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m:t>
                        </m:r>
                      </m:e>
                    </m:d>
                  </m:oMath>
                </a14:m>
                <a:r>
                  <a:rPr lang="en-ZA" b="0" dirty="0">
                    <a:solidFill>
                      <a:schemeClr val="tx1"/>
                    </a:solidFill>
                  </a:rPr>
                  <a:t>, </a:t>
                </a:r>
                <a:r>
                  <a:rPr lang="en-ZA" dirty="0">
                    <a:solidFill>
                      <a:schemeClr val="tx1"/>
                    </a:solidFill>
                  </a:rPr>
                  <a:t>along with a blank slate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a:t>
                </a:r>
                <a:r>
                  <a:rPr lang="en-ZA" dirty="0">
                    <a:solidFill>
                      <a:schemeClr val="tx1"/>
                    </a:solidFill>
                  </a:rPr>
                  <a:t>which forms the two-qubit input state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𝑆</m:t>
                        </m:r>
                      </m:e>
                    </m:d>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smtClean="0">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𝑎</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𝑏</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|10</m:t>
                        </m:r>
                      </m:e>
                    </m:d>
                  </m:oMath>
                </a14:m>
                <a:r>
                  <a:rPr lang="en-ZA" b="0" baseline="0" dirty="0">
                    <a:solidFill>
                      <a:schemeClr val="tx1"/>
                    </a:solidFill>
                  </a:rPr>
                  <a:t>. </a:t>
                </a:r>
                <a:r>
                  <a:rPr lang="en-ZA" dirty="0">
                    <a:solidFill>
                      <a:schemeClr val="tx1"/>
                    </a:solidFill>
                  </a:rPr>
                  <a:t>Each component of the superposition of the first qubit must be transferred to the second qubit at the output, meaning the transformation should follow the rule</a:t>
                </a:r>
                <a:r>
                  <a:rPr lang="en-ZA" b="0" dirty="0">
                    <a:solidFill>
                      <a:schemeClr val="tx1"/>
                    </a:solidFill>
                  </a:rPr>
                  <a:t>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𝑥</m:t>
                        </m:r>
                        <m:r>
                          <a:rPr lang="en-US" sz="1200" b="0" i="1" smtClean="0">
                            <a:solidFill>
                              <a:schemeClr val="tx1"/>
                            </a:solidFill>
                            <a:latin typeface="Cambria Math" panose="02040503050406030204" pitchFamily="18" charset="0"/>
                            <a:ea typeface="Cambria Math" panose="02040503050406030204" pitchFamily="18" charset="0"/>
                          </a:rPr>
                          <m:t>0</m:t>
                        </m:r>
                      </m:e>
                    </m:d>
                    <m:r>
                      <a:rPr lang="en-US" sz="12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𝑥𝑥</m:t>
                        </m:r>
                      </m:e>
                    </m:d>
                  </m:oMath>
                </a14:m>
                <a:r>
                  <a:rPr lang="en-ZA" b="0" dirty="0">
                    <a:solidFill>
                      <a:schemeClr val="tx1"/>
                    </a:solidFill>
                  </a:rPr>
                  <a:t>. </a:t>
                </a:r>
                <a:r>
                  <a:rPr lang="en-ZA" dirty="0">
                    <a:solidFill>
                      <a:schemeClr val="tx1"/>
                    </a:solidFill>
                  </a:rPr>
                  <a:t>If this is the case, the expected output </a:t>
                </a:r>
                <a:r>
                  <a:rPr lang="en-US" dirty="0">
                    <a:solidFill>
                      <a:schemeClr val="tx1"/>
                    </a:solidFill>
                  </a:rPr>
                  <a:t>would be</a:t>
                </a:r>
                <a:r>
                  <a:rPr lang="en-ZA" b="0" dirty="0">
                    <a:solidFill>
                      <a:schemeClr val="tx1"/>
                    </a:solidFill>
                  </a:rPr>
                  <a:t>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𝑎</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𝑏</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|11</m:t>
                        </m:r>
                      </m:e>
                    </m:d>
                  </m:oMath>
                </a14:m>
                <a:r>
                  <a:rPr lang="en-ZA" b="0" dirty="0">
                    <a:solidFill>
                      <a:schemeClr val="tx1"/>
                    </a:solidFill>
                  </a:rPr>
                  <a:t>.</a:t>
                </a:r>
              </a:p>
              <a:p>
                <a:pPr marL="228600" indent="-228600" algn="just">
                  <a:buFont typeface="+mj-lt"/>
                  <a:buAutoNum type="arabicPeriod"/>
                </a:pPr>
                <a:endParaRPr lang="en-ZA" b="0" dirty="0">
                  <a:solidFill>
                    <a:schemeClr val="tx1"/>
                  </a:solidFill>
                </a:endParaRPr>
              </a:p>
              <a:p>
                <a:pPr marL="228600" indent="-228600" algn="just">
                  <a:buFont typeface="+mj-lt"/>
                  <a:buAutoNum type="arabicPeriod"/>
                </a:pPr>
                <a:r>
                  <a:rPr lang="en-ZA" dirty="0">
                    <a:solidFill>
                      <a:schemeClr val="tx1"/>
                    </a:solidFill>
                  </a:rPr>
                  <a:t>On the other hand, if cloning is successful, the output should consist of two identical qubits in the state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𝑆</m:t>
                        </m:r>
                      </m:e>
                    </m:d>
                  </m:oMath>
                </a14:m>
                <a:r>
                  <a:rPr lang="en-ZA" dirty="0">
                    <a:solidFill>
                      <a:schemeClr val="tx1"/>
                    </a:solidFill>
                  </a:rPr>
                  <a:t>, giving</a:t>
                </a:r>
                <a:r>
                  <a:rPr lang="en-ZA" b="0" dirty="0">
                    <a:solidFill>
                      <a:schemeClr val="tx1"/>
                    </a:solidFill>
                  </a:rPr>
                  <a:t>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𝑆</m:t>
                        </m:r>
                      </m:e>
                    </m:d>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i="1">
                            <a:solidFill>
                              <a:schemeClr val="tx1"/>
                            </a:solidFill>
                            <a:latin typeface="Cambria Math" panose="02040503050406030204" pitchFamily="18" charset="0"/>
                            <a:ea typeface="Cambria Math" panose="02040503050406030204" pitchFamily="18" charset="0"/>
                          </a:rPr>
                          <m:t>𝑎</m:t>
                        </m:r>
                      </m:e>
                      <m:sup>
                        <m:r>
                          <a:rPr lang="en-US" sz="1200" i="1">
                            <a:solidFill>
                              <a:schemeClr val="tx1"/>
                            </a:solidFill>
                            <a:latin typeface="Cambria Math" panose="02040503050406030204" pitchFamily="18" charset="0"/>
                            <a:ea typeface="Cambria Math" panose="02040503050406030204" pitchFamily="18" charset="0"/>
                          </a:rPr>
                          <m:t>2</m:t>
                        </m:r>
                      </m:sup>
                    </m:sSup>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𝑎𝑏</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|01</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𝑏𝑎</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|10</m:t>
                        </m:r>
                      </m:e>
                    </m:d>
                    <m:r>
                      <a:rPr lang="en-US" sz="1200" i="1">
                        <a:solidFill>
                          <a:schemeClr val="tx1"/>
                        </a:solidFill>
                        <a:latin typeface="Cambria Math" panose="02040503050406030204" pitchFamily="18" charset="0"/>
                        <a:ea typeface="Cambria Math" panose="02040503050406030204" pitchFamily="18" charset="0"/>
                      </a:rPr>
                      <m:t>+</m:t>
                    </m:r>
                    <m:sSup>
                      <m:sSupPr>
                        <m:ctrlPr>
                          <a:rPr lang="en-US" sz="1200" i="1">
                            <a:solidFill>
                              <a:schemeClr val="tx1"/>
                            </a:solidFill>
                            <a:latin typeface="Cambria Math" panose="02040503050406030204" pitchFamily="18" charset="0"/>
                            <a:ea typeface="Cambria Math" panose="02040503050406030204" pitchFamily="18" charset="0"/>
                          </a:rPr>
                        </m:ctrlPr>
                      </m:sSupPr>
                      <m:e>
                        <m:r>
                          <a:rPr lang="en-US" sz="1200" i="1">
                            <a:solidFill>
                              <a:schemeClr val="tx1"/>
                            </a:solidFill>
                            <a:latin typeface="Cambria Math" panose="02040503050406030204" pitchFamily="18" charset="0"/>
                            <a:ea typeface="Cambria Math" panose="02040503050406030204" pitchFamily="18" charset="0"/>
                          </a:rPr>
                          <m:t>𝑏</m:t>
                        </m:r>
                      </m:e>
                      <m:sup>
                        <m:r>
                          <a:rPr lang="en-US" sz="1200" i="1">
                            <a:solidFill>
                              <a:schemeClr val="tx1"/>
                            </a:solidFill>
                            <a:latin typeface="Cambria Math" panose="02040503050406030204" pitchFamily="18" charset="0"/>
                            <a:ea typeface="Cambria Math" panose="02040503050406030204" pitchFamily="18" charset="0"/>
                          </a:rPr>
                          <m:t>2</m:t>
                        </m:r>
                      </m:sup>
                    </m:sSup>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|11</m:t>
                        </m:r>
                      </m:e>
                    </m:d>
                  </m:oMath>
                </a14:m>
                <a:r>
                  <a:rPr lang="en-ZA" b="0" dirty="0">
                    <a:solidFill>
                      <a:schemeClr val="tx1"/>
                    </a:solidFill>
                  </a:rPr>
                  <a:t>. </a:t>
                </a:r>
                <a:r>
                  <a:rPr lang="en-ZA" dirty="0">
                    <a:solidFill>
                      <a:schemeClr val="tx1"/>
                    </a:solidFill>
                  </a:rPr>
                  <a:t>Comparing these two outputs, they are clearly not equal. For equality to hold, the coefficients must satisfy</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  </m:t>
                    </m:r>
                    <m:r>
                      <a:rPr lang="en-US" sz="1200" i="1">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=1,</m:t>
                    </m:r>
                    <m:r>
                      <a:rPr lang="en-US" sz="1200" i="1">
                        <a:solidFill>
                          <a:schemeClr val="tx1"/>
                        </a:solidFill>
                        <a:latin typeface="Cambria Math" panose="02040503050406030204" pitchFamily="18" charset="0"/>
                        <a:ea typeface="Cambria Math" panose="02040503050406030204" pitchFamily="18" charset="0"/>
                      </a:rPr>
                      <m:t>𝑏</m:t>
                    </m:r>
                    <m:r>
                      <a:rPr lang="en-US" sz="1200" i="1">
                        <a:solidFill>
                          <a:schemeClr val="tx1"/>
                        </a:solidFill>
                        <a:latin typeface="Cambria Math" panose="02040503050406030204" pitchFamily="18" charset="0"/>
                        <a:ea typeface="Cambria Math" panose="02040503050406030204" pitchFamily="18" charset="0"/>
                      </a:rPr>
                      <m:t>=1</m:t>
                    </m:r>
                  </m:oMath>
                </a14:m>
                <a:r>
                  <a:rPr lang="en-ZA" b="0" dirty="0">
                    <a:solidFill>
                      <a:schemeClr val="tx1"/>
                    </a:solidFill>
                  </a:rPr>
                  <a:t>and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𝑎𝑏</m:t>
                    </m:r>
                    <m:r>
                      <a:rPr lang="en-US" sz="1200" b="0" i="1" smtClean="0">
                        <a:solidFill>
                          <a:schemeClr val="tx1"/>
                        </a:solidFill>
                        <a:latin typeface="Cambria Math" panose="02040503050406030204" pitchFamily="18" charset="0"/>
                        <a:ea typeface="Cambria Math" panose="02040503050406030204" pitchFamily="18" charset="0"/>
                      </a:rPr>
                      <m:t>=0</m:t>
                    </m:r>
                  </m:oMath>
                </a14:m>
                <a:r>
                  <a:rPr lang="en-ZA" b="0" dirty="0">
                    <a:solidFill>
                      <a:schemeClr val="tx1"/>
                    </a:solidFill>
                  </a:rPr>
                  <a:t>, </a:t>
                </a:r>
                <a:r>
                  <a:rPr lang="en-ZA" dirty="0">
                    <a:solidFill>
                      <a:schemeClr val="tx1"/>
                    </a:solidFill>
                  </a:rPr>
                  <a:t>which is a contradiction. Therefore, no linear</a:t>
                </a:r>
                <a:r>
                  <a:rPr lang="en-ZA" baseline="0" dirty="0">
                    <a:solidFill>
                      <a:schemeClr val="tx1"/>
                    </a:solidFill>
                  </a:rPr>
                  <a:t> </a:t>
                </a:r>
                <a:r>
                  <a:rPr lang="en-ZA" dirty="0">
                    <a:solidFill>
                      <a:schemeClr val="tx1"/>
                    </a:solidFill>
                  </a:rPr>
                  <a:t>transformation can perfectly clone an arbitrary qubit in an unknown superposition state.</a:t>
                </a:r>
                <a:r>
                  <a:rPr lang="en-ZA" b="0" dirty="0">
                    <a:solidFill>
                      <a:schemeClr val="tx1"/>
                    </a:solidFill>
                  </a:rPr>
                  <a:t>.</a:t>
                </a:r>
              </a:p>
              <a:p>
                <a:pPr algn="just"/>
                <a:endParaRPr lang="en-ZA" b="0" dirty="0">
                  <a:solidFill>
                    <a:schemeClr val="tx1"/>
                  </a:solidFill>
                </a:endParaRPr>
              </a:p>
              <a:p>
                <a:pPr algn="just"/>
                <a:r>
                  <a:rPr lang="en-ZA" b="0" dirty="0">
                    <a:solidFill>
                      <a:schemeClr val="tx1"/>
                    </a:solidFill>
                  </a:rPr>
                  <a:t>Special Cases and Implications</a:t>
                </a:r>
              </a:p>
              <a:p>
                <a:pPr algn="just"/>
                <a:r>
                  <a:rPr lang="en-ZA" b="0" dirty="0">
                    <a:solidFill>
                      <a:schemeClr val="tx1"/>
                    </a:solidFill>
                  </a:rPr>
                  <a:t>It is important to note that the theorem allows for the copying of basis states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and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1</m:t>
                        </m:r>
                      </m:e>
                    </m:d>
                  </m:oMath>
                </a14:m>
                <a:r>
                  <a:rPr lang="en-ZA" b="0" dirty="0">
                    <a:solidFill>
                      <a:schemeClr val="tx1"/>
                    </a:solidFill>
                  </a:rPr>
                  <a:t>. As seen earlier, copying basis states is possible using the controlled-X (CNOT) gate, where the control qubit (the one being copied) and the target qubit (initialized to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undergo a conditional transformation.</a:t>
                </a:r>
              </a:p>
              <a:p>
                <a:pPr algn="just"/>
                <a:endParaRPr lang="en-ZA" b="0" dirty="0">
                  <a:solidFill>
                    <a:schemeClr val="tx1"/>
                  </a:solidFill>
                </a:endParaRPr>
              </a:p>
              <a:p>
                <a:pPr algn="just"/>
                <a:r>
                  <a:rPr lang="en-ZA" b="0" dirty="0">
                    <a:solidFill>
                      <a:schemeClr val="tx1"/>
                    </a:solidFill>
                  </a:rPr>
                  <a:t>However, if the superposition state is known, instead of cloning, we can prepare another qubit in the same state by applying the appropriate quantum gates. This process is distinct from cloning.</a:t>
                </a:r>
              </a:p>
              <a:p>
                <a:pPr algn="just"/>
                <a:endParaRPr lang="en-ZA" b="0" dirty="0">
                  <a:solidFill>
                    <a:schemeClr val="tx1"/>
                  </a:solidFill>
                </a:endParaRPr>
              </a:p>
              <a:p>
                <a:pPr algn="just"/>
                <a:r>
                  <a:rPr lang="en-ZA" b="0" dirty="0">
                    <a:solidFill>
                      <a:schemeClr val="tx1"/>
                    </a:solidFill>
                  </a:rPr>
                  <a:t>The no-cloning theorem has significant implications. On one hand, it explains why quantum memories are still not feasible. On the other hand, this fundamental property of quantum systems is advantageous in quantum cryptography, ensuring the security of quantum communication.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no-coning theorem states that it is not possible to make a perfect copy of an arbitrary quantum state. Imagine that we have a quantum cloning machine. At the input we have an unknown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and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r>
                  <a:rPr lang="en-US" sz="2000" dirty="0"/>
                  <a:t>. At</a:t>
                </a:r>
                <a:r>
                  <a:rPr lang="en-US" sz="2000" baseline="0" dirty="0"/>
                  <a:t> the output, the machine </a:t>
                </a:r>
                <a:r>
                  <a:rPr lang="en-US" sz="2000" dirty="0"/>
                  <a:t>produce two copies of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For example,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00⟩</a:t>
                </a:r>
                <a:r>
                  <a:rPr lang="en-US" sz="2000" dirty="0"/>
                  <a:t> at input produce </a:t>
                </a:r>
                <a:r>
                  <a:rPr lang="en-US" sz="2000" b="0" i="0">
                    <a:solidFill>
                      <a:schemeClr val="bg1"/>
                    </a:solidFill>
                    <a:latin typeface="Cambria Math" panose="02040503050406030204" pitchFamily="18" charset="0"/>
                    <a:ea typeface="Cambria Math" panose="02040503050406030204" pitchFamily="18" charset="0"/>
                  </a:rPr>
                  <a:t>|0</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r>
                  <a:rPr lang="en-US" sz="2000" dirty="0"/>
                  <a:t> at output and the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10⟩</a:t>
                </a:r>
                <a:r>
                  <a:rPr lang="en-US" sz="2000" dirty="0"/>
                  <a:t> produce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11⟩</a:t>
                </a:r>
                <a:r>
                  <a:rPr lang="en-US" sz="2000" dirty="0"/>
                  <a:t> at the output</a:t>
                </a:r>
                <a:r>
                  <a:rPr lang="en-US" sz="2000" baseline="0" dirty="0"/>
                  <a:t> because the first input bit is copied to the output. </a:t>
                </a:r>
                <a:r>
                  <a:rPr lang="en-US" sz="2000" dirty="0"/>
                  <a:t>However, it can be shown that such</a:t>
                </a:r>
                <a:r>
                  <a:rPr lang="en-US" sz="2000" baseline="0" dirty="0"/>
                  <a:t> cloning machine cannot not exist.</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Let’s have a look at the input state and the exacted output</a:t>
                </a:r>
                <a:r>
                  <a:rPr lang="en-US" sz="2000" baseline="0" dirty="0"/>
                  <a:t> for some arbitrary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baseline="0" dirty="0"/>
                  <a:t>. Simple calculation by using property of linearity, gives the the output state as </a:t>
                </a:r>
                <a:r>
                  <a:rPr lang="en-US" sz="2000" i="0">
                    <a:latin typeface="Cambria Math" panose="02040503050406030204" pitchFamily="18" charset="0"/>
                    <a:ea typeface="Cambria Math" panose="02040503050406030204" pitchFamily="18" charset="0"/>
                  </a:rPr>
                  <a:t>𝑎├ |00⟩+𝑏├ |11⟩</a:t>
                </a:r>
                <a:r>
                  <a:rPr lang="en-US" sz="2000" baseline="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Let’s have a look at the output state on its own. We can see the obvious difference.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This is even more obvious in a matrix representation. Those two matrices are equal only if ab=0 and a or b=1 which is contradiction, so there is no unitary transformation that can copy an unknown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ashishpanigrahi.xyz</a:t>
                </a:r>
                <a:r>
                  <a:rPr lang="en-US" sz="2000" baseline="0" dirty="0"/>
                  <a:t>/blog/2020-07-26-no-cloning-theorem/</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www.youtube.com</a:t>
                </a:r>
                <a:r>
                  <a:rPr lang="en-US" sz="2000" baseline="0" dirty="0"/>
                  <a:t>/</a:t>
                </a:r>
                <a:r>
                  <a:rPr lang="en-US" sz="2000" baseline="0" dirty="0" err="1"/>
                  <a:t>watch?v</a:t>
                </a:r>
                <a:r>
                  <a:rPr lang="en-US" sz="2000" baseline="0" dirty="0"/>
                  <a:t>=Vw3_9VnzicU&amp;list=PLXEJgM3ycgQW5ysL69uaEdPoof4it6seB&amp;index=20</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For the </a:t>
                </a:r>
                <a:r>
                  <a:rPr lang="en-US" sz="2000" dirty="0"/>
                  <a:t>At the input we have a Kronecker product of a quantum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and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wo quantum data slots, A and B. We wish to copy a qubit of an unknown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that is in slot A to slot</a:t>
                </a:r>
                <a:r>
                  <a:rPr lang="en-US" sz="2000" baseline="0" dirty="0"/>
                  <a:t> B, that is initialized to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r>
                  <a:rPr lang="en-US" sz="2000" dirty="0"/>
                  <a:t>. For</a:t>
                </a:r>
                <a:r>
                  <a:rPr lang="en-US" sz="2000" baseline="0" dirty="0"/>
                  <a:t> this purpose, we would need some operator U that will perform the copy.</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The joint state of qubits before copying is given as a Kronecker product of state S and ket-0. The cloning must provide two copies.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The joint state of qubits after copying looks like this.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Let’s see is it possible to find an operator that transform the first state into second.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182164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b="0" dirty="0"/>
                  <a:t>A related result is the no-deleting theorem, which states that if two qubits are in identical unknown quantum states, it is impossible to delete the state of one qubit while leaving the other unchanged using a unitary operation.</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ZA"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b="0" dirty="0">
                    <a:solidFill>
                      <a:schemeClr val="tx1"/>
                    </a:solidFill>
                  </a:rPr>
                  <a:t>This theorem is also proved using a proof by contradiction.</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ZA" b="0" dirty="0">
                  <a:solidFill>
                    <a:schemeClr val="tx1"/>
                  </a:solidFill>
                </a:endParaRPr>
              </a:p>
              <a:p>
                <a:pPr marL="228600" indent="-228600">
                  <a:buFont typeface="+mj-lt"/>
                  <a:buAutoNum type="arabicPeriod"/>
                </a:pPr>
                <a:r>
                  <a:rPr lang="en-ZA" b="0" dirty="0">
                    <a:solidFill>
                      <a:schemeClr val="tx1"/>
                    </a:solidFill>
                  </a:rPr>
                  <a:t>Suppose that deletion is possible and that there exists a deletion machine, represented by a linear operator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𝑈</m:t>
                        </m:r>
                      </m:e>
                      <m:sub>
                        <m:r>
                          <a:rPr lang="en-US" sz="1200" b="0" i="1" smtClean="0">
                            <a:solidFill>
                              <a:schemeClr val="tx1"/>
                            </a:solidFill>
                            <a:latin typeface="Cambria Math" panose="02040503050406030204" pitchFamily="18" charset="0"/>
                          </a:rPr>
                          <m:t>𝑑</m:t>
                        </m:r>
                      </m:sub>
                    </m:sSub>
                  </m:oMath>
                </a14:m>
                <a:r>
                  <a:rPr lang="en-ZA" b="0" dirty="0">
                    <a:solidFill>
                      <a:schemeClr val="tx1"/>
                    </a:solidFill>
                  </a:rPr>
                  <a:t>, which acts on two identical qubits in the state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oMath>
                </a14:m>
                <a:r>
                  <a:rPr lang="en-ZA" b="0" dirty="0">
                    <a:solidFill>
                      <a:schemeClr val="tx1"/>
                    </a:solidFill>
                  </a:rPr>
                  <a:t>. The joint state of the two qubits is:</a:t>
                </a:r>
                <a:r>
                  <a:rPr lang="en-ZA" b="0" baseline="0" dirty="0">
                    <a:solidFill>
                      <a:schemeClr val="tx1"/>
                    </a:solidFill>
                  </a:rPr>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𝑎</m:t>
                        </m:r>
                      </m:e>
                      <m:sup>
                        <m:r>
                          <a:rPr lang="en-US" sz="1200" b="0" i="1" smtClean="0">
                            <a:solidFill>
                              <a:schemeClr val="tx1"/>
                            </a:solidFill>
                            <a:latin typeface="Cambria Math" panose="02040503050406030204" pitchFamily="18" charset="0"/>
                            <a:ea typeface="Cambria Math" panose="02040503050406030204" pitchFamily="18" charset="0"/>
                          </a:rPr>
                          <m:t>2</m:t>
                        </m:r>
                      </m:sup>
                    </m:sSup>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|00</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𝑎𝑏</m:t>
                    </m:r>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|01</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𝑏𝑎</m:t>
                    </m:r>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|10</m:t>
                        </m:r>
                      </m:e>
                    </m:d>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𝑏</m:t>
                        </m:r>
                      </m:e>
                      <m:sup>
                        <m:r>
                          <a:rPr lang="en-US" sz="1200" b="0" i="1" smtClean="0">
                            <a:solidFill>
                              <a:schemeClr val="tx1"/>
                            </a:solidFill>
                            <a:latin typeface="Cambria Math" panose="02040503050406030204" pitchFamily="18" charset="0"/>
                            <a:ea typeface="Cambria Math" panose="02040503050406030204" pitchFamily="18" charset="0"/>
                          </a:rPr>
                          <m:t>2</m:t>
                        </m:r>
                      </m:sup>
                    </m:sSup>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|11</m:t>
                        </m:r>
                      </m:e>
                    </m:d>
                  </m:oMath>
                </a14:m>
                <a:r>
                  <a:rPr lang="en-ZA" b="0" dirty="0">
                    <a:solidFill>
                      <a:schemeClr val="tx1"/>
                    </a:solidFill>
                  </a:rPr>
                  <a:t>. Each component of the superposition must be modified so that the second qubit is set to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meaning the transformation should follow the rule</a:t>
                </a:r>
                <a:r>
                  <a:rPr lang="en-ZA" b="0" baseline="0" dirty="0">
                    <a:solidFill>
                      <a:schemeClr val="tx1"/>
                    </a:solidFill>
                  </a:rPr>
                  <a:t>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𝑥𝑦</m:t>
                        </m:r>
                      </m:e>
                    </m:d>
                    <m:r>
                      <a:rPr lang="en-US"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𝑥</m:t>
                        </m:r>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If deletion is possible, applying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𝑈</m:t>
                        </m:r>
                      </m:e>
                      <m:sub>
                        <m:r>
                          <a:rPr lang="en-US" sz="1200" b="0" i="1" smtClean="0">
                            <a:solidFill>
                              <a:schemeClr val="tx1"/>
                            </a:solidFill>
                            <a:latin typeface="Cambria Math" panose="02040503050406030204" pitchFamily="18" charset="0"/>
                          </a:rPr>
                          <m:t>𝑑</m:t>
                        </m:r>
                      </m:sub>
                    </m:sSub>
                  </m:oMath>
                </a14:m>
                <a:r>
                  <a:rPr lang="en-ZA" b="0" dirty="0">
                    <a:solidFill>
                      <a:schemeClr val="tx1"/>
                    </a:solidFill>
                  </a:rPr>
                  <a:t>​ to the joint state should yield</a:t>
                </a:r>
                <a:r>
                  <a:rPr lang="en-ZA" b="0" baseline="0" dirty="0">
                    <a:solidFill>
                      <a:schemeClr val="tx1"/>
                    </a:solidFill>
                  </a:rPr>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𝑎</m:t>
                        </m:r>
                      </m:e>
                      <m:sup>
                        <m:r>
                          <a:rPr lang="en-US" sz="1200" b="0" i="1" smtClean="0">
                            <a:solidFill>
                              <a:schemeClr val="tx1"/>
                            </a:solidFill>
                            <a:latin typeface="Cambria Math" panose="02040503050406030204" pitchFamily="18" charset="0"/>
                            <a:ea typeface="Cambria Math" panose="02040503050406030204" pitchFamily="18" charset="0"/>
                          </a:rPr>
                          <m:t>2</m:t>
                        </m:r>
                      </m:sup>
                    </m:sSup>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|00</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𝑎𝑏</m:t>
                    </m:r>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m:t>
                        </m:r>
                        <m:r>
                          <a:rPr lang="sr-Latn-RS" sz="1200" b="0" i="1" smtClean="0">
                            <a:solidFill>
                              <a:schemeClr val="tx1"/>
                            </a:solidFill>
                            <a:latin typeface="Cambria Math" panose="02040503050406030204" pitchFamily="18" charset="0"/>
                            <a:ea typeface="Cambria Math" panose="02040503050406030204" pitchFamily="18" charset="0"/>
                          </a:rPr>
                          <m:t>0</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𝑏𝑎</m:t>
                    </m:r>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|10</m:t>
                        </m:r>
                      </m:e>
                    </m:d>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𝑏</m:t>
                        </m:r>
                      </m:e>
                      <m:sup>
                        <m:r>
                          <a:rPr lang="en-US" sz="1200" b="0" i="1" smtClean="0">
                            <a:solidFill>
                              <a:schemeClr val="tx1"/>
                            </a:solidFill>
                            <a:latin typeface="Cambria Math" panose="02040503050406030204" pitchFamily="18" charset="0"/>
                            <a:ea typeface="Cambria Math" panose="02040503050406030204" pitchFamily="18" charset="0"/>
                          </a:rPr>
                          <m:t>2</m:t>
                        </m:r>
                      </m:sup>
                    </m:sSup>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m:t>
                        </m:r>
                        <m:r>
                          <a:rPr lang="sr-Latn-RS" sz="1200" b="0" i="1" smtClean="0">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a:t>
                </a:r>
              </a:p>
              <a:p>
                <a:pPr marL="228600" indent="-228600">
                  <a:buFont typeface="+mj-lt"/>
                  <a:buAutoNum type="arabicPeriod"/>
                </a:pPr>
                <a:endParaRPr lang="en-ZA" b="0" dirty="0">
                  <a:solidFill>
                    <a:schemeClr val="tx1"/>
                  </a:solidFill>
                </a:endParaRPr>
              </a:p>
              <a:p>
                <a:pPr marL="228600" indent="-228600">
                  <a:buFont typeface="+mj-lt"/>
                  <a:buAutoNum type="arabicPeriod"/>
                </a:pPr>
                <a:r>
                  <a:rPr lang="en-ZA" b="0" dirty="0">
                    <a:solidFill>
                      <a:schemeClr val="tx1"/>
                    </a:solidFill>
                  </a:rPr>
                  <a:t>On the other hand, if deletion is successful, the output should consist of one qubit in state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oMath>
                </a14:m>
                <a:r>
                  <a:rPr lang="en-ZA" b="0" dirty="0">
                    <a:solidFill>
                      <a:schemeClr val="tx1"/>
                    </a:solidFill>
                  </a:rPr>
                  <a:t> and another in state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m:t>
                        </m:r>
                      </m:e>
                    </m:d>
                  </m:oMath>
                </a14:m>
                <a:r>
                  <a:rPr lang="en-ZA" b="0" dirty="0">
                    <a:solidFill>
                      <a:schemeClr val="tx1"/>
                    </a:solidFill>
                  </a:rPr>
                  <a:t>, giving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𝑆</m:t>
                        </m:r>
                      </m:e>
                    </m:d>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𝑎</m:t>
                    </m:r>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|00</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𝑏</m:t>
                    </m:r>
                    <m:d>
                      <m:dPr>
                        <m:begChr m:val=""/>
                        <m:endChr m:val="⟩"/>
                        <m:ctrlPr>
                          <a:rPr lang="en-US" sz="1200" b="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|10</m:t>
                        </m:r>
                      </m:e>
                    </m:d>
                  </m:oMath>
                </a14:m>
                <a:r>
                  <a:rPr lang="en-ZA" b="0" dirty="0">
                    <a:solidFill>
                      <a:schemeClr val="tx1"/>
                    </a:solidFill>
                  </a:rPr>
                  <a:t>.</a:t>
                </a:r>
              </a:p>
              <a:p>
                <a:endParaRPr lang="en-ZA" b="0" dirty="0">
                  <a:solidFill>
                    <a:schemeClr val="tx1"/>
                  </a:solidFill>
                </a:endParaRPr>
              </a:p>
              <a:p>
                <a:pPr algn="just"/>
                <a:r>
                  <a:rPr lang="en-ZA" b="0" dirty="0">
                    <a:solidFill>
                      <a:schemeClr val="tx1"/>
                    </a:solidFill>
                  </a:rPr>
                  <a:t>Comparing these two output states in matrix form, we see that they are identical only if both conditions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  </m:t>
                    </m:r>
                    <m:r>
                      <a:rPr lang="en-US" sz="1200" b="0" i="1" smtClean="0">
                        <a:solidFill>
                          <a:schemeClr val="tx1"/>
                        </a:solidFill>
                        <a:latin typeface="Cambria Math" panose="02040503050406030204" pitchFamily="18" charset="0"/>
                        <a:ea typeface="Cambria Math" panose="02040503050406030204" pitchFamily="18" charset="0"/>
                      </a:rPr>
                      <m:t>𝑎</m:t>
                    </m:r>
                    <m:r>
                      <a:rPr lang="en-US" sz="1200" b="0" i="1" smtClean="0">
                        <a:solidFill>
                          <a:schemeClr val="tx1"/>
                        </a:solidFill>
                        <a:latin typeface="Cambria Math" panose="02040503050406030204" pitchFamily="18" charset="0"/>
                        <a:ea typeface="Cambria Math" panose="02040503050406030204" pitchFamily="18" charset="0"/>
                      </a:rPr>
                      <m:t>=1,</m:t>
                    </m:r>
                    <m:r>
                      <a:rPr lang="en-US" sz="1200" b="0" i="1" smtClean="0">
                        <a:solidFill>
                          <a:schemeClr val="tx1"/>
                        </a:solidFill>
                        <a:latin typeface="Cambria Math" panose="02040503050406030204" pitchFamily="18" charset="0"/>
                        <a:ea typeface="Cambria Math" panose="02040503050406030204" pitchFamily="18" charset="0"/>
                      </a:rPr>
                      <m:t>𝑏</m:t>
                    </m:r>
                    <m:r>
                      <a:rPr lang="en-US" sz="1200" b="0" i="1" smtClean="0">
                        <a:solidFill>
                          <a:schemeClr val="tx1"/>
                        </a:solidFill>
                        <a:latin typeface="Cambria Math" panose="02040503050406030204" pitchFamily="18" charset="0"/>
                        <a:ea typeface="Cambria Math" panose="02040503050406030204" pitchFamily="18" charset="0"/>
                      </a:rPr>
                      <m:t>=0</m:t>
                    </m:r>
                  </m:oMath>
                </a14:m>
                <a:r>
                  <a:rPr lang="en-ZA" b="0" dirty="0">
                    <a:solidFill>
                      <a:schemeClr val="tx1"/>
                    </a:solidFill>
                  </a:rPr>
                  <a:t> and  </a:t>
                </a:r>
                <a14:m>
                  <m:oMath xmlns:m="http://schemas.openxmlformats.org/officeDocument/2006/math">
                    <m:r>
                      <a:rPr lang="sr-Latn-RS" sz="1200" b="0" i="1" smtClean="0">
                        <a:solidFill>
                          <a:schemeClr val="tx1"/>
                        </a:solidFill>
                        <a:latin typeface="Cambria Math" panose="02040503050406030204" pitchFamily="18" charset="0"/>
                        <a:ea typeface="Cambria Math" panose="02040503050406030204" pitchFamily="18" charset="0"/>
                      </a:rPr>
                      <m:t>𝑎</m:t>
                    </m:r>
                    <m:r>
                      <a:rPr lang="en-US" sz="1200" b="0" i="1" smtClean="0">
                        <a:solidFill>
                          <a:schemeClr val="tx1"/>
                        </a:solidFill>
                        <a:latin typeface="Cambria Math" panose="02040503050406030204" pitchFamily="18" charset="0"/>
                        <a:ea typeface="Cambria Math" panose="02040503050406030204" pitchFamily="18" charset="0"/>
                      </a:rPr>
                      <m:t>=</m:t>
                    </m:r>
                    <m:r>
                      <a:rPr lang="sr-Latn-RS" sz="1200" b="0" i="1" smtClean="0">
                        <a:solidFill>
                          <a:schemeClr val="tx1"/>
                        </a:solidFill>
                        <a:latin typeface="Cambria Math" panose="02040503050406030204" pitchFamily="18" charset="0"/>
                        <a:ea typeface="Cambria Math" panose="02040503050406030204" pitchFamily="18" charset="0"/>
                      </a:rPr>
                      <m:t>0</m:t>
                    </m:r>
                    <m:r>
                      <a:rPr lang="en-US" sz="1200" b="0" i="1" smtClean="0">
                        <a:solidFill>
                          <a:schemeClr val="tx1"/>
                        </a:solidFill>
                        <a:latin typeface="Cambria Math" panose="02040503050406030204" pitchFamily="18" charset="0"/>
                        <a:ea typeface="Cambria Math" panose="02040503050406030204" pitchFamily="18" charset="0"/>
                      </a:rPr>
                      <m:t>,</m:t>
                    </m:r>
                    <m:r>
                      <a:rPr lang="sr-Latn-RS" sz="1200" b="0" i="1" smtClean="0">
                        <a:solidFill>
                          <a:schemeClr val="tx1"/>
                        </a:solidFill>
                        <a:latin typeface="Cambria Math" panose="02040503050406030204" pitchFamily="18" charset="0"/>
                        <a:ea typeface="Cambria Math" panose="02040503050406030204" pitchFamily="18" charset="0"/>
                      </a:rPr>
                      <m:t>𝑏</m:t>
                    </m:r>
                    <m:r>
                      <a:rPr lang="en-US" sz="1200" b="0" i="1" smtClean="0">
                        <a:solidFill>
                          <a:schemeClr val="tx1"/>
                        </a:solidFill>
                        <a:latin typeface="Cambria Math" panose="02040503050406030204" pitchFamily="18" charset="0"/>
                        <a:ea typeface="Cambria Math" panose="02040503050406030204" pitchFamily="18" charset="0"/>
                      </a:rPr>
                      <m:t>=0 </m:t>
                    </m:r>
                  </m:oMath>
                </a14:m>
                <a:r>
                  <a:rPr lang="en-ZA" b="0" dirty="0">
                    <a:solidFill>
                      <a:schemeClr val="tx1"/>
                    </a:solidFill>
                  </a:rPr>
                  <a:t> hold simultaneously. This is a contradiction, meaning that no linear deletion operator can exist that removes the quantum state of one qubit while preserving the other.</a:t>
                </a:r>
              </a:p>
              <a:p>
                <a:pPr algn="just"/>
                <a:endParaRPr lang="en-ZA" b="0" dirty="0">
                  <a:solidFill>
                    <a:schemeClr val="tx1"/>
                  </a:solidFill>
                </a:endParaRPr>
              </a:p>
              <a:p>
                <a:pPr algn="just"/>
                <a:r>
                  <a:rPr lang="en-ZA" b="0" dirty="0">
                    <a:solidFill>
                      <a:schemeClr val="tx1"/>
                    </a:solidFill>
                  </a:rPr>
                  <a:t>Thus, we conclude that a linear operator for deleting the state of one qubit from a pair in superposition does not exist.</a:t>
                </a:r>
              </a:p>
              <a:p>
                <a:pPr algn="just"/>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no-coning theorem states that it is not possible to make a perfect copy of an arbitrary quantum state. Imagine that we have a quantum cloning machine. At the input we have an unknown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and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r>
                  <a:rPr lang="en-US" sz="2000" dirty="0"/>
                  <a:t>. At</a:t>
                </a:r>
                <a:r>
                  <a:rPr lang="en-US" sz="2000" baseline="0" dirty="0"/>
                  <a:t> the output, the machine </a:t>
                </a:r>
                <a:r>
                  <a:rPr lang="en-US" sz="2000" dirty="0"/>
                  <a:t>produce two copies of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For example,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00⟩</a:t>
                </a:r>
                <a:r>
                  <a:rPr lang="en-US" sz="2000" dirty="0"/>
                  <a:t> at input produce </a:t>
                </a:r>
                <a:r>
                  <a:rPr lang="en-US" sz="2000" b="0" i="0">
                    <a:solidFill>
                      <a:schemeClr val="bg1"/>
                    </a:solidFill>
                    <a:latin typeface="Cambria Math" panose="02040503050406030204" pitchFamily="18" charset="0"/>
                    <a:ea typeface="Cambria Math" panose="02040503050406030204" pitchFamily="18" charset="0"/>
                  </a:rPr>
                  <a:t>|0</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r>
                  <a:rPr lang="en-US" sz="2000" dirty="0"/>
                  <a:t> at output and the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10⟩</a:t>
                </a:r>
                <a:r>
                  <a:rPr lang="en-US" sz="2000" dirty="0"/>
                  <a:t> produce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11⟩</a:t>
                </a:r>
                <a:r>
                  <a:rPr lang="en-US" sz="2000" dirty="0"/>
                  <a:t> at the output</a:t>
                </a:r>
                <a:r>
                  <a:rPr lang="en-US" sz="2000" baseline="0" dirty="0"/>
                  <a:t> because the first input bit is copied to the output. </a:t>
                </a:r>
                <a:r>
                  <a:rPr lang="en-US" sz="2000" dirty="0"/>
                  <a:t>However, it can be shown that such</a:t>
                </a:r>
                <a:r>
                  <a:rPr lang="en-US" sz="2000" baseline="0" dirty="0"/>
                  <a:t> cloning machine cannot not exist.</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Let’s have a look at the input state and the exacted output</a:t>
                </a:r>
                <a:r>
                  <a:rPr lang="en-US" sz="2000" baseline="0" dirty="0"/>
                  <a:t> for some arbitrary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baseline="0" dirty="0"/>
                  <a:t>. Simple calculation by using property of linearity, gives the the output state as </a:t>
                </a:r>
                <a:r>
                  <a:rPr lang="en-US" sz="2000" i="0">
                    <a:latin typeface="Cambria Math" panose="02040503050406030204" pitchFamily="18" charset="0"/>
                    <a:ea typeface="Cambria Math" panose="02040503050406030204" pitchFamily="18" charset="0"/>
                  </a:rPr>
                  <a:t>𝑎├ |00⟩+𝑏├ |11⟩</a:t>
                </a:r>
                <a:r>
                  <a:rPr lang="en-US" sz="2000" baseline="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Let’s have a look at the output state on its own. We can see the obvious difference.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This is even more obvious in a matrix representation. Those two matrices are equal only if ab=0 and a or b=1 which is contradiction, so there is no unitary transformation that can copy an unknown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ashishpanigrahi.xyz</a:t>
                </a:r>
                <a:r>
                  <a:rPr lang="en-US" sz="2000" baseline="0" dirty="0"/>
                  <a:t>/blog/2020-07-26-no-cloning-theorem/</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www.youtube.com</a:t>
                </a:r>
                <a:r>
                  <a:rPr lang="en-US" sz="2000" baseline="0" dirty="0"/>
                  <a:t>/</a:t>
                </a:r>
                <a:r>
                  <a:rPr lang="en-US" sz="2000" baseline="0" dirty="0" err="1"/>
                  <a:t>watch?v</a:t>
                </a:r>
                <a:r>
                  <a:rPr lang="en-US" sz="2000" baseline="0" dirty="0"/>
                  <a:t>=Vw3_9VnzicU&amp;list=PLXEJgM3ycgQW5ysL69uaEdPoof4it6seB&amp;index=20</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For the </a:t>
                </a:r>
                <a:r>
                  <a:rPr lang="en-US" sz="2000" dirty="0"/>
                  <a:t>At the input we have a Kronecker product of a quantum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and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wo quantum data slots, A and B. We wish to copy a qubit of an unknown state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𝑆⟩</a:t>
                </a:r>
                <a:r>
                  <a:rPr lang="en-US" sz="2000" dirty="0"/>
                  <a:t> that is in slot A to slot</a:t>
                </a:r>
                <a:r>
                  <a:rPr lang="en-US" sz="2000" baseline="0" dirty="0"/>
                  <a:t> B, that is initialized to </a:t>
                </a:r>
                <a:r>
                  <a:rPr lang="en-US" sz="2000" b="0" i="0">
                    <a:solidFill>
                      <a:schemeClr val="bg1"/>
                    </a:solidFill>
                    <a:latin typeface="Cambria Math" panose="02040503050406030204" pitchFamily="18" charset="0"/>
                    <a:ea typeface="Cambria Math" panose="02040503050406030204" pitchFamily="18" charset="0"/>
                  </a:rPr>
                  <a:t>|</a:t>
                </a:r>
                <a:r>
                  <a:rPr lang="en-US" sz="2000" i="0">
                    <a:solidFill>
                      <a:schemeClr val="bg1"/>
                    </a:solidFill>
                    <a:latin typeface="Cambria Math" panose="02040503050406030204" pitchFamily="18" charset="0"/>
                    <a:ea typeface="Cambria Math" panose="02040503050406030204" pitchFamily="18" charset="0"/>
                  </a:rPr>
                  <a:t>├ </a:t>
                </a:r>
                <a:r>
                  <a:rPr lang="en-US" sz="2000" b="0" i="0">
                    <a:solidFill>
                      <a:schemeClr val="bg1"/>
                    </a:solidFill>
                    <a:latin typeface="Cambria Math" panose="02040503050406030204" pitchFamily="18" charset="0"/>
                    <a:ea typeface="Cambria Math" panose="02040503050406030204" pitchFamily="18" charset="0"/>
                  </a:rPr>
                  <a:t>0⟩</a:t>
                </a:r>
                <a:r>
                  <a:rPr lang="en-US" sz="2000" dirty="0"/>
                  <a:t>. For</a:t>
                </a:r>
                <a:r>
                  <a:rPr lang="en-US" sz="2000" baseline="0" dirty="0"/>
                  <a:t> this purpose, we would need some operator U that will perform the copy.</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The joint state of qubits before copying is given as a Kronecker product of state S and ket-0. The cloning must provide two copies.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The joint state of qubits after copying looks like this.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Let’s see is it possible to find an operator that transform the first state into second.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35789907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Quantum communication has gone through several important stages of development over the past few decades.</a:t>
            </a:r>
          </a:p>
          <a:p>
            <a:endParaRPr lang="en-ZA" b="0" dirty="0"/>
          </a:p>
          <a:p>
            <a:pPr marL="171450" indent="-171450">
              <a:buFont typeface="Arial" panose="020B0604020202020204" pitchFamily="34" charset="0"/>
              <a:buChar char="•"/>
            </a:pPr>
            <a:r>
              <a:rPr lang="en-ZA" b="0" dirty="0"/>
              <a:t>In the 1970s, Stephen Wiesner proposed encoding classical information into quantum states using conjugate bases, laying one of the foundations of quantum cryptography.</a:t>
            </a:r>
          </a:p>
          <a:p>
            <a:pPr marL="171450" indent="-171450">
              <a:buFont typeface="Arial" panose="020B0604020202020204" pitchFamily="34" charset="0"/>
              <a:buChar char="•"/>
            </a:pPr>
            <a:r>
              <a:rPr lang="en-ZA" b="0" dirty="0"/>
              <a:t>In 1984, Charles Bennett and Gilles Brassard proposed BB84, the first widely known Quantum Key Distribution (QKD) protocol. QKD enables two parties to establish a shared secret key and detect potential eavesdropping on the quantum channel.</a:t>
            </a:r>
          </a:p>
          <a:p>
            <a:pPr marL="171450" indent="-171450">
              <a:buFont typeface="Arial" panose="020B0604020202020204" pitchFamily="34" charset="0"/>
              <a:buChar char="•"/>
            </a:pPr>
            <a:r>
              <a:rPr lang="en-ZA" b="0" dirty="0"/>
              <a:t>In 1993, a group of six researchers, including Bennett and Brassard, proposed the Quantum Teleportation (QT) protocol, which enables an unknown quantum state to be transferred using entanglement and classical communication.</a:t>
            </a:r>
          </a:p>
          <a:p>
            <a:pPr marL="171450" indent="-171450">
              <a:buFont typeface="Arial" panose="020B0604020202020204" pitchFamily="34" charset="0"/>
              <a:buChar char="•"/>
            </a:pPr>
            <a:r>
              <a:rPr lang="en-ZA" b="0" dirty="0"/>
              <a:t>In 1998–1999, Quantum Secret Sharing (QSS) emerged, enabling a secret to be distributed among multiple participants so that it can only be reconstructed through their joint cooperation.</a:t>
            </a:r>
          </a:p>
          <a:p>
            <a:pPr marL="171450" indent="-171450">
              <a:buFont typeface="Arial" panose="020B0604020202020204" pitchFamily="34" charset="0"/>
              <a:buChar char="•"/>
            </a:pPr>
            <a:r>
              <a:rPr lang="en-ZA" b="0" dirty="0"/>
              <a:t>Around 2000, Quantum Secure Direct Communication (QSDC) was developed, with the idea of transmitting a secret message directly through a quantum channel without first establishing a secret key.</a:t>
            </a:r>
          </a:p>
          <a:p>
            <a:pPr marL="171450" indent="-171450">
              <a:buFont typeface="Arial" panose="020B0604020202020204" pitchFamily="34" charset="0"/>
              <a:buChar char="•"/>
            </a:pPr>
            <a:r>
              <a:rPr lang="en-ZA" b="0" dirty="0"/>
              <a:t>In the late 1990s and early 2000s, the concept of quantum repeaters was developed. Quantum repeaters use entanglement distribution, entanglement swapping, and quantum memories to extend the range of quantum communication.</a:t>
            </a:r>
          </a:p>
          <a:p>
            <a:pPr marL="171450" indent="-171450">
              <a:buFont typeface="Arial" panose="020B0604020202020204" pitchFamily="34" charset="0"/>
              <a:buChar char="•"/>
            </a:pPr>
            <a:r>
              <a:rPr lang="en-ZA" b="0" dirty="0"/>
              <a:t>During the 2010s, research expanded from individual quantum links to quantum networks. An important milestone was China’s </a:t>
            </a:r>
            <a:r>
              <a:rPr lang="en-ZA" b="0" dirty="0" err="1"/>
              <a:t>Micius</a:t>
            </a:r>
            <a:r>
              <a:rPr lang="en-ZA" b="0" dirty="0"/>
              <a:t> satellite, which in 2017 demonstrated satellite-based quantum communication over distances exceeding one thousand kilometres.</a:t>
            </a:r>
          </a:p>
          <a:p>
            <a:pPr marL="171450" indent="-171450">
              <a:buFont typeface="Arial" panose="020B0604020202020204" pitchFamily="34" charset="0"/>
              <a:buChar char="•"/>
            </a:pPr>
            <a:r>
              <a:rPr lang="en-ZA" b="0" dirty="0"/>
              <a:t>During the 2020s, development has increasingly focused on quantum networks and the future quantum internet, in which remote quantum devices could exchange quantum states and distribute entanglement.</a:t>
            </a:r>
          </a:p>
        </p:txBody>
      </p:sp>
      <p:sp>
        <p:nvSpPr>
          <p:cNvPr id="4" name="Slide Number Placeholder 3"/>
          <p:cNvSpPr>
            <a:spLocks noGrp="1"/>
          </p:cNvSpPr>
          <p:nvPr>
            <p:ph type="sldNum" sz="quarter" idx="5"/>
          </p:nvPr>
        </p:nvSpPr>
        <p:spPr/>
        <p:txBody>
          <a:bodyPr/>
          <a:lstStyle/>
          <a:p>
            <a:fld id="{965A8710-8889-7541-9BF7-E78AD03A798D}" type="slidenum">
              <a:rPr lang="en-US" smtClean="0"/>
              <a:t>23</a:t>
            </a:fld>
            <a:endParaRPr lang="en-US"/>
          </a:p>
        </p:txBody>
      </p:sp>
    </p:spTree>
    <p:extLst>
      <p:ext uri="{BB962C8B-B14F-4D97-AF65-F5344CB8AC3E}">
        <p14:creationId xmlns:p14="http://schemas.microsoft.com/office/powerpoint/2010/main" val="1666911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communication can be broadly divided into two approaches.</a:t>
            </a:r>
          </a:p>
          <a:p>
            <a:pPr algn="just"/>
            <a:endParaRPr lang="en-ZA" b="0" dirty="0"/>
          </a:p>
          <a:p>
            <a:pPr marL="228600" indent="-228600" algn="just">
              <a:buFont typeface="+mj-lt"/>
              <a:buAutoNum type="arabicPeriod"/>
            </a:pPr>
            <a:r>
              <a:rPr lang="en-ZA" b="0" dirty="0"/>
              <a:t>The first is single-qubit communication. Here, information is encoded directly in the state of each individual qubit. For example, a classical bit can be represented by the states |0⟩ and |1⟩, or by |+⟩ and |−⟩ when a different basis is used. Each qubit carries its own encoded information and is transmitted from the sender to the receiver.</a:t>
            </a:r>
          </a:p>
          <a:p>
            <a:pPr marL="228600" indent="-228600" algn="just">
              <a:buFont typeface="+mj-lt"/>
              <a:buAutoNum type="arabicPeriod"/>
            </a:pPr>
            <a:endParaRPr lang="en-ZA" b="0" dirty="0"/>
          </a:p>
          <a:p>
            <a:pPr marL="228600" indent="-228600" algn="just">
              <a:buFont typeface="+mj-lt"/>
              <a:buAutoNum type="arabicPeriod"/>
            </a:pPr>
            <a:r>
              <a:rPr lang="en-ZA" b="0" dirty="0"/>
              <a:t>The second approach is entanglement-based communication. Here, we no longer look at the states of individual qubits independently. Information is encoded in their joint entangled state. The Bell states that we introduced earlier are the simplest example: two qubits together can occupy one of four distinguishable Bell states.</a:t>
            </a:r>
          </a:p>
          <a:p>
            <a:pPr marL="228600" indent="-228600" algn="just">
              <a:buFont typeface="+mj-lt"/>
              <a:buAutoNum type="arabicPeriod"/>
            </a:pPr>
            <a:endParaRPr lang="en-ZA" b="0" dirty="0"/>
          </a:p>
          <a:p>
            <a:pPr algn="just"/>
            <a:r>
              <a:rPr lang="en-ZA" b="0" dirty="0"/>
              <a:t>This distinction leads to different quantum communication protocols, which we will examine next.</a:t>
            </a:r>
          </a:p>
        </p:txBody>
      </p:sp>
      <p:sp>
        <p:nvSpPr>
          <p:cNvPr id="4" name="Slide Number Placeholder 3"/>
          <p:cNvSpPr>
            <a:spLocks noGrp="1"/>
          </p:cNvSpPr>
          <p:nvPr>
            <p:ph type="sldNum" sz="quarter" idx="5"/>
          </p:nvPr>
        </p:nvSpPr>
        <p:spPr/>
        <p:txBody>
          <a:bodyPr/>
          <a:lstStyle/>
          <a:p>
            <a:fld id="{965A8710-8889-7541-9BF7-E78AD03A798D}" type="slidenum">
              <a:rPr lang="en-US" smtClean="0"/>
              <a:t>24</a:t>
            </a:fld>
            <a:endParaRPr lang="en-US"/>
          </a:p>
        </p:txBody>
      </p:sp>
    </p:spTree>
    <p:extLst>
      <p:ext uri="{BB962C8B-B14F-4D97-AF65-F5344CB8AC3E}">
        <p14:creationId xmlns:p14="http://schemas.microsoft.com/office/powerpoint/2010/main" val="2191976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Entanglement alone cannot transmit information, but Bell pairs can still serve as a resource for quantum communication. With additional operations, they can be used to communicate information directly. This is the basic idea behind quantum secure direct communication, or QSDC.</a:t>
                </a:r>
              </a:p>
              <a:p>
                <a:pPr algn="just"/>
                <a:endParaRPr lang="en-ZA" b="0" dirty="0"/>
              </a:p>
              <a:p>
                <a:pPr algn="just"/>
                <a:r>
                  <a:rPr lang="en-ZA" dirty="0"/>
                  <a:t>One simple way to illustrate this idea is to use a secret mapping that assigns a classical two-bit value to each of the four Bell states.</a:t>
                </a:r>
              </a:p>
              <a:p>
                <a:pPr algn="just"/>
                <a:endParaRPr lang="en-ZA" b="0" dirty="0"/>
              </a:p>
              <a:p>
                <a:pPr algn="just"/>
                <a:r>
                  <a:rPr lang="en-ZA" b="0" dirty="0"/>
                  <a:t>In the example shown in the figure:</a:t>
                </a:r>
              </a:p>
              <a:p>
                <a:pPr marL="171450" indent="-171450" algn="just">
                  <a:buFont typeface="Arial" panose="020B0604020202020204" pitchFamily="34" charset="0"/>
                  <a:buChar char="•"/>
                </a:pP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represents the bit pair 10 </a:t>
                </a:r>
              </a:p>
              <a:p>
                <a:pPr marL="171450" indent="-171450" algn="just">
                  <a:buFont typeface="Arial" panose="020B0604020202020204" pitchFamily="34" charset="0"/>
                  <a:buChar char="•"/>
                </a:pP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01</m:t>
                            </m:r>
                          </m:sub>
                        </m:sSub>
                      </m:e>
                    </m:d>
                  </m:oMath>
                </a14:m>
                <a:r>
                  <a:rPr lang="en-ZA" b="0" dirty="0"/>
                  <a:t> represents the bit pair 11 </a:t>
                </a:r>
              </a:p>
              <a:p>
                <a:pPr marL="171450" indent="-171450" algn="just">
                  <a:buFont typeface="Arial" panose="020B0604020202020204" pitchFamily="34" charset="0"/>
                  <a:buChar char="•"/>
                </a:pP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10</m:t>
                            </m:r>
                          </m:sub>
                        </m:sSub>
                      </m:e>
                    </m:d>
                  </m:oMath>
                </a14:m>
                <a:r>
                  <a:rPr lang="en-ZA" b="0" dirty="0"/>
                  <a:t> represents the bit pair 00 </a:t>
                </a:r>
              </a:p>
              <a:p>
                <a:pPr marL="171450" indent="-171450" algn="just">
                  <a:buFont typeface="Arial" panose="020B0604020202020204" pitchFamily="34" charset="0"/>
                  <a:buChar char="•"/>
                </a:pP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11</m:t>
                            </m:r>
                          </m:sub>
                        </m:sSub>
                      </m:e>
                    </m:d>
                  </m:oMath>
                </a14:m>
                <a:r>
                  <a:rPr lang="en-ZA" b="0" dirty="0"/>
                  <a:t> represents the bit pair 01 </a:t>
                </a:r>
              </a:p>
              <a:p>
                <a:pPr marL="0" indent="0" algn="just">
                  <a:buFont typeface="Arial" panose="020B0604020202020204" pitchFamily="34" charset="0"/>
                  <a:buNone/>
                </a:pPr>
                <a:endParaRPr lang="en-ZA" b="0" dirty="0"/>
              </a:p>
              <a:p>
                <a:pPr algn="just"/>
                <a:r>
                  <a:rPr lang="en-ZA" b="0" dirty="0"/>
                  <a:t>Using this encoding scheme, Alice prepares the appropriate Bell states and sends the qubits to Bob. Bob then performs a Bell-basis measurement to identify each Bell state and recover the corresponding pair of classical bits.</a:t>
                </a:r>
              </a:p>
              <a:p>
                <a:pPr algn="just"/>
                <a:endParaRPr lang="en-ZA" b="0" dirty="0"/>
              </a:p>
              <a:p>
                <a:pPr algn="just"/>
                <a:r>
                  <a:rPr lang="en-ZA" b="0" dirty="0"/>
                  <a:t>The security comes from fundamental properties of quantum mechanics: an eavesdropper cannot freely measure or copy unknown quantum states without potentially disturbing them. By checking selected qubits of entangled pairs, Alice and Bob can detect the presence of an eavesdropper.</a:t>
                </a:r>
              </a:p>
              <a:p>
                <a:pPr algn="just"/>
                <a:endParaRPr lang="en-ZA" b="0" dirty="0"/>
              </a:p>
              <a:p>
                <a:pPr algn="just"/>
                <a:r>
                  <a:rPr lang="en-ZA" b="0" dirty="0"/>
                  <a:t>In practical QSDC protocols, additional security procedures are required, such as:</a:t>
                </a:r>
              </a:p>
              <a:p>
                <a:pPr marL="171450" indent="-171450" algn="just">
                  <a:buFont typeface="Arial" panose="020B0604020202020204" pitchFamily="34" charset="0"/>
                  <a:buChar char="•"/>
                </a:pPr>
                <a:r>
                  <a:rPr lang="en-ZA" b="0" dirty="0"/>
                  <a:t>Channel checking, often using decoy qubits or test states to detect eavesdropping, </a:t>
                </a:r>
              </a:p>
              <a:p>
                <a:pPr marL="171450" indent="-171450" algn="just">
                  <a:buFont typeface="Arial" panose="020B0604020202020204" pitchFamily="34" charset="0"/>
                  <a:buChar char="•"/>
                </a:pPr>
                <a:r>
                  <a:rPr lang="en-ZA" b="0" dirty="0"/>
                  <a:t>Authentication to verify the communicating parties, </a:t>
                </a:r>
              </a:p>
              <a:p>
                <a:pPr marL="171450" indent="-171450" algn="just">
                  <a:buFont typeface="Arial" panose="020B0604020202020204" pitchFamily="34" charset="0"/>
                  <a:buChar char="•"/>
                </a:pPr>
                <a:r>
                  <a:rPr lang="en-ZA" b="0" dirty="0"/>
                  <a:t>Synchronization and coordination of qubit transmission. </a:t>
                </a:r>
              </a:p>
              <a:p>
                <a:pPr algn="just"/>
                <a:endParaRPr lang="en-ZA" b="0" dirty="0"/>
              </a:p>
              <a:p>
                <a:pPr algn="just"/>
                <a:r>
                  <a:rPr lang="en-ZA" b="0" dirty="0"/>
                  <a:t>These procedures are used to ensure that the quantum channel is secure before the message is accepted.</a:t>
                </a:r>
              </a:p>
            </p:txBody>
          </p:sp>
        </mc:Choice>
        <mc:Fallback xmlns="">
          <p:sp>
            <p:nvSpPr>
              <p:cNvPr id="3" name="Notes Placeholder 2"/>
              <p:cNvSpPr>
                <a:spLocks noGrp="1"/>
              </p:cNvSpPr>
              <p:nvPr>
                <p:ph type="body" idx="1"/>
              </p:nvPr>
            </p:nvSpPr>
            <p:spPr/>
            <p:txBody>
              <a:bodyPr/>
              <a:lstStyle/>
              <a:p>
                <a:pPr algn="just"/>
                <a:r>
                  <a:rPr lang="en-ZA" b="0" dirty="0"/>
                  <a:t>Quantum Secure Direct Communication (QSDC) is a form of quantum communication based on the use of entangled qubits. In its basic form, QSDC employs a simple encoding scheme built on shared entanglement.</a:t>
                </a:r>
              </a:p>
              <a:p>
                <a:pPr algn="just"/>
                <a:r>
                  <a:rPr lang="en-ZA" b="0" dirty="0"/>
                  <a:t>To ensure basic data security, Alice and Bob agree in advance on a secret mapping of Bell states to bit pairs. </a:t>
                </a:r>
              </a:p>
              <a:p>
                <a:pPr algn="just"/>
                <a:endParaRPr lang="en-ZA" b="0" dirty="0"/>
              </a:p>
              <a:p>
                <a:pPr algn="just"/>
                <a:r>
                  <a:rPr lang="en-ZA" b="0" dirty="0"/>
                  <a:t>In the example shown in the figure:</a:t>
                </a:r>
              </a:p>
              <a:p>
                <a:pPr marL="171450" indent="-171450" algn="just">
                  <a:buFont typeface="Arial" panose="020B0604020202020204" pitchFamily="34" charset="0"/>
                  <a:buChar char="•"/>
                </a:pP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b="0" dirty="0"/>
                  <a:t> represents the bit pair 10</a:t>
                </a:r>
              </a:p>
              <a:p>
                <a:pPr marL="171450" indent="-171450" algn="just">
                  <a:buFont typeface="Arial" panose="020B0604020202020204" pitchFamily="34" charset="0"/>
                  <a:buChar char="•"/>
                </a:pP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𝐵_01 ⟩</a:t>
                </a:r>
                <a:r>
                  <a:rPr lang="en-ZA" b="0" dirty="0"/>
                  <a:t> represents 11</a:t>
                </a:r>
              </a:p>
              <a:p>
                <a:pPr marL="171450" indent="-171450" algn="just">
                  <a:buFont typeface="Arial" panose="020B0604020202020204" pitchFamily="34" charset="0"/>
                  <a:buChar char="•"/>
                </a:pP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𝐵_10 ⟩</a:t>
                </a:r>
                <a:r>
                  <a:rPr lang="en-ZA" b="0" dirty="0"/>
                  <a:t> represents 00</a:t>
                </a:r>
              </a:p>
              <a:p>
                <a:pPr marL="171450" indent="-171450" algn="just">
                  <a:buFont typeface="Arial" panose="020B0604020202020204" pitchFamily="34" charset="0"/>
                  <a:buChar char="•"/>
                </a:pP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𝐵_11 ⟩</a:t>
                </a:r>
                <a:r>
                  <a:rPr lang="en-ZA" b="0" dirty="0"/>
                  <a:t> represents 01</a:t>
                </a:r>
              </a:p>
              <a:p>
                <a:pPr algn="just"/>
                <a:endParaRPr lang="en-ZA" b="0" dirty="0"/>
              </a:p>
              <a:p>
                <a:pPr algn="just"/>
                <a:r>
                  <a:rPr lang="en-ZA" b="0" dirty="0"/>
                  <a:t>Following this encoding scheme, Alice generates Bell states accordingly and sends the entangled pairs to Bob. Upon receiving the qubits, Bob performs a Bell basis measurement and decodes the corresponding bit pairs, reconstructing the original message.</a:t>
                </a:r>
              </a:p>
              <a:p>
                <a:pPr algn="just"/>
                <a:endParaRPr lang="en-ZA" b="0" dirty="0"/>
              </a:p>
              <a:p>
                <a:pPr algn="just"/>
                <a:r>
                  <a:rPr lang="en-ZA" b="0" dirty="0"/>
                  <a:t>In full QSDC protocols, additional steps such as channel checking with decoy qubits, authentication between parties, and synchronization of transmission are typically included to ensure security against eavesdropping and impersonation.</a:t>
                </a:r>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25</a:t>
            </a:fld>
            <a:endParaRPr lang="en-US"/>
          </a:p>
        </p:txBody>
      </p:sp>
    </p:spTree>
    <p:extLst>
      <p:ext uri="{BB962C8B-B14F-4D97-AF65-F5344CB8AC3E}">
        <p14:creationId xmlns:p14="http://schemas.microsoft.com/office/powerpoint/2010/main" val="4196550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 somewhat more advanced version of QSDC also includes security testing of the quantum communication channel.</a:t>
            </a:r>
          </a:p>
          <a:p>
            <a:pPr algn="just"/>
            <a:endParaRPr lang="en-ZA" b="0" dirty="0"/>
          </a:p>
          <a:p>
            <a:pPr marL="171450" indent="-171450" algn="just">
              <a:buFont typeface="Arial" panose="020B0604020202020204" pitchFamily="34" charset="0"/>
              <a:buChar char="•"/>
            </a:pPr>
            <a:r>
              <a:rPr lang="en-ZA" b="0" dirty="0"/>
              <a:t>Before sending the message to Bob, Alice prepares a set of entangled qubit pairs and stores them in quantum memory. She then randomly divides them into two subsets: test pairs, shown in yellow in the figure, and message pairs.</a:t>
            </a:r>
          </a:p>
          <a:p>
            <a:pPr marL="171450" indent="-171450" algn="just">
              <a:buFont typeface="Arial" panose="020B0604020202020204" pitchFamily="34" charset="0"/>
              <a:buChar char="•"/>
            </a:pPr>
            <a:r>
              <a:rPr lang="en-ZA" b="0" dirty="0"/>
              <a:t>During the test phase, Alice sends one qubit from each test pair to Bob while keeping the other qubit.</a:t>
            </a:r>
          </a:p>
          <a:p>
            <a:pPr marL="171450" indent="-171450" algn="just">
              <a:buFont typeface="Arial" panose="020B0604020202020204" pitchFamily="34" charset="0"/>
              <a:buChar char="•"/>
            </a:pPr>
            <a:r>
              <a:rPr lang="en-ZA" b="0" dirty="0"/>
              <a:t>Alice and Bob then measure their qubits in pre-agreed bases and compare their results over a classical channel. If the results show the expected correlations, meaning that the error rate is sufficiently low, no eavesdropping is considered to have been detected and the protocol continues.</a:t>
            </a:r>
          </a:p>
          <a:p>
            <a:pPr marL="171450" indent="-171450" algn="just">
              <a:buFont typeface="Arial" panose="020B0604020202020204" pitchFamily="34" charset="0"/>
              <a:buChar char="•"/>
            </a:pPr>
            <a:r>
              <a:rPr lang="en-ZA" b="0" dirty="0"/>
              <a:t>During the message transmission phase, Alice encodes the message into the remaining entangled pairs using different Bell states. She then sends the qubits to Bob, who performs Bell-basis measurements to identify the Bell states and thereby reconstructs two bits of the message from each pair.</a:t>
            </a:r>
          </a:p>
          <a:p>
            <a:pPr marL="171450" indent="-171450" algn="just">
              <a:buFont typeface="Arial" panose="020B0604020202020204" pitchFamily="34" charset="0"/>
              <a:buChar char="•"/>
            </a:pPr>
            <a:endParaRPr lang="en-ZA" b="0" dirty="0"/>
          </a:p>
          <a:p>
            <a:pPr algn="just"/>
            <a:r>
              <a:rPr lang="en-ZA" b="0" dirty="0"/>
              <a:t>The practical implementation of such a QSDC protocol is technologically demanding because it requires quantum memory capable of reliably storing quantum states during the protocol. Current quantum memories still have significant limitations, making the deployment of such protocols in practical communication systems challenging.</a:t>
            </a:r>
          </a:p>
        </p:txBody>
      </p:sp>
      <p:sp>
        <p:nvSpPr>
          <p:cNvPr id="4" name="Slide Number Placeholder 3"/>
          <p:cNvSpPr>
            <a:spLocks noGrp="1"/>
          </p:cNvSpPr>
          <p:nvPr>
            <p:ph type="sldNum" sz="quarter" idx="5"/>
          </p:nvPr>
        </p:nvSpPr>
        <p:spPr/>
        <p:txBody>
          <a:bodyPr/>
          <a:lstStyle/>
          <a:p>
            <a:fld id="{965A8710-8889-7541-9BF7-E78AD03A798D}" type="slidenum">
              <a:rPr lang="en-US" smtClean="0"/>
              <a:t>26</a:t>
            </a:fld>
            <a:endParaRPr lang="en-US"/>
          </a:p>
        </p:txBody>
      </p:sp>
    </p:spTree>
    <p:extLst>
      <p:ext uri="{BB962C8B-B14F-4D97-AF65-F5344CB8AC3E}">
        <p14:creationId xmlns:p14="http://schemas.microsoft.com/office/powerpoint/2010/main" val="3321715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One way to transmit classical information over a quantum channel is through </a:t>
                </a:r>
                <a:r>
                  <a:rPr lang="en-ZA" b="0" dirty="0" err="1"/>
                  <a:t>superdense</a:t>
                </a:r>
                <a:r>
                  <a:rPr lang="en-ZA" b="0" dirty="0"/>
                  <a:t> coding (also known as dense coding). For example, Alice wants to send two classical bits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1</m:t>
                        </m:r>
                      </m:sub>
                    </m:sSub>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2</m:t>
                        </m:r>
                      </m:sub>
                    </m:sSub>
                  </m:oMath>
                </a14:m>
                <a:r>
                  <a:rPr lang="en-ZA" b="0" dirty="0"/>
                  <a:t>​ to Bob using a quantum channel.</a:t>
                </a:r>
              </a:p>
              <a:p>
                <a:pPr algn="just"/>
                <a:endParaRPr lang="en-ZA" b="0" dirty="0"/>
              </a:p>
              <a:p>
                <a:pPr marL="228600" indent="-228600" algn="just">
                  <a:buFont typeface="+mj-lt"/>
                  <a:buAutoNum type="arabicPeriod"/>
                </a:pPr>
                <a:r>
                  <a:rPr lang="en-ZA" dirty="0"/>
                  <a:t>In the first step, Alice uses a Bell circuit to prepare two entangled qubits in the Bell state</a:t>
                </a:r>
                <a:r>
                  <a:rPr lang="en-ZA" b="0" dirty="0"/>
                  <a:t> </a:t>
                </a:r>
                <a14:m>
                  <m:oMath xmlns:m="http://schemas.openxmlformats.org/officeDocument/2006/math">
                    <m:d>
                      <m:dPr>
                        <m:begChr m:val=""/>
                        <m:endChr m:val="⟩"/>
                        <m:ctrlPr>
                          <a:rPr lang="en-US" sz="1200" b="0" i="1" smtClean="0">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a:t>
                </a:r>
                <a:r>
                  <a:rPr lang="en-ZA" dirty="0"/>
                  <a:t>She keeps the first qubit and sends the second qubit to Bob</a:t>
                </a:r>
                <a:r>
                  <a:rPr lang="en-ZA" b="0" dirty="0"/>
                  <a:t>.</a:t>
                </a:r>
              </a:p>
              <a:p>
                <a:pPr marL="228600" indent="-228600" algn="just">
                  <a:buFont typeface="+mj-lt"/>
                  <a:buAutoNum type="arabicPeriod"/>
                </a:pPr>
                <a:endParaRPr lang="en-ZA" b="0" dirty="0"/>
              </a:p>
              <a:p>
                <a:pPr marL="228600" indent="-228600" algn="just">
                  <a:buFont typeface="+mj-lt"/>
                  <a:buAutoNum type="arabicPeriod"/>
                </a:pPr>
                <a:r>
                  <a:rPr lang="en-ZA" dirty="0"/>
                  <a:t>Depending on the two bits she wishes to transmit, Alice applies one of four quantum operators to </a:t>
                </a:r>
                <a:r>
                  <a:rPr lang="en-ZA" b="1" dirty="0"/>
                  <a:t>her qubit</a:t>
                </a:r>
                <a:r>
                  <a:rPr lang="en-ZA" dirty="0"/>
                  <a:t>. As discussed earlier, the operators</a:t>
                </a:r>
                <a:r>
                  <a:rPr lang="en-ZA" b="0" dirty="0"/>
                  <a:t> I, X, Z, and XZ transform the initial Bell state </a:t>
                </a:r>
                <a14:m>
                  <m:oMath xmlns:m="http://schemas.openxmlformats.org/officeDocument/2006/math">
                    <m:d>
                      <m:dPr>
                        <m:begChr m:val=""/>
                        <m:endChr m:val="⟩"/>
                        <m:ctrlPr>
                          <a:rPr lang="en-US" sz="1200" b="0" i="1" smtClean="0">
                            <a:solidFill>
                              <a:srgbClr val="002060"/>
                            </a:solidFill>
                            <a:latin typeface="Cambria Math" panose="02040503050406030204" pitchFamily="18" charset="0"/>
                            <a:ea typeface="Cambria Math" panose="02040503050406030204" pitchFamily="18" charset="0"/>
                          </a:rPr>
                        </m:ctrlPr>
                      </m:dPr>
                      <m:e>
                        <m:r>
                          <a:rPr lang="en-US" sz="1200" b="0" i="1">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into one of the four Bell states:</a:t>
                </a:r>
                <a:r>
                  <a:rPr lang="en-ZA" b="0" baseline="0" dirty="0"/>
                  <a:t> </a:t>
                </a:r>
                <a:r>
                  <a:rPr lang="en-US" sz="1200" b="0" i="0" kern="1200" dirty="0">
                    <a:solidFill>
                      <a:schemeClr val="tx1"/>
                    </a:solidFill>
                    <a:effectLst/>
                    <a:latin typeface="+mn-lt"/>
                    <a:ea typeface="+mn-ea"/>
                    <a:cs typeface="+mn-cs"/>
                  </a:rPr>
                  <a:t>|𝐵</a:t>
                </a:r>
                <a:r>
                  <a:rPr lang="en-US" sz="1200" b="0" i="0" kern="1200" baseline="-25000" dirty="0">
                    <a:solidFill>
                      <a:schemeClr val="tx1"/>
                    </a:solidFill>
                    <a:effectLst/>
                    <a:latin typeface="+mn-lt"/>
                    <a:ea typeface="+mn-ea"/>
                    <a:cs typeface="+mn-cs"/>
                  </a:rPr>
                  <a:t>00</a:t>
                </a:r>
                <a:r>
                  <a:rPr lang="en-US" sz="1200" b="0" i="0" kern="1200" dirty="0">
                    <a:solidFill>
                      <a:schemeClr val="tx1"/>
                    </a:solidFill>
                    <a:effectLst/>
                    <a:latin typeface="+mn-lt"/>
                    <a:ea typeface="+mn-ea"/>
                    <a:cs typeface="+mn-cs"/>
                  </a:rPr>
                  <a:t> ⟩, |𝐵</a:t>
                </a:r>
                <a:r>
                  <a:rPr lang="en-US" sz="1200" b="0" i="0" kern="1200" baseline="-25000" dirty="0">
                    <a:solidFill>
                      <a:schemeClr val="tx1"/>
                    </a:solidFill>
                    <a:effectLst/>
                    <a:latin typeface="+mn-lt"/>
                    <a:ea typeface="+mn-ea"/>
                    <a:cs typeface="+mn-cs"/>
                  </a:rPr>
                  <a:t>01</a:t>
                </a:r>
                <a:r>
                  <a:rPr lang="en-US" sz="1200" b="0" i="0" kern="1200" dirty="0">
                    <a:solidFill>
                      <a:schemeClr val="tx1"/>
                    </a:solidFill>
                    <a:effectLst/>
                    <a:latin typeface="+mn-lt"/>
                    <a:ea typeface="+mn-ea"/>
                    <a:cs typeface="+mn-cs"/>
                  </a:rPr>
                  <a:t> ⟩, |𝐵</a:t>
                </a:r>
                <a:r>
                  <a:rPr lang="en-US" sz="1200" b="0" i="0" kern="1200" baseline="-25000" dirty="0">
                    <a:solidFill>
                      <a:schemeClr val="tx1"/>
                    </a:solidFill>
                    <a:effectLst/>
                    <a:latin typeface="+mn-lt"/>
                    <a:ea typeface="+mn-ea"/>
                    <a:cs typeface="+mn-cs"/>
                  </a:rPr>
                  <a:t>10</a:t>
                </a:r>
                <a:r>
                  <a:rPr lang="en-US" sz="1200" b="0" i="0" kern="1200" dirty="0">
                    <a:solidFill>
                      <a:schemeClr val="tx1"/>
                    </a:solidFill>
                    <a:effectLst/>
                    <a:latin typeface="+mn-lt"/>
                    <a:ea typeface="+mn-ea"/>
                    <a:cs typeface="+mn-cs"/>
                  </a:rPr>
                  <a:t> ⟩ or |𝐵</a:t>
                </a:r>
                <a:r>
                  <a:rPr lang="en-US" sz="1200" b="0" i="0" kern="1200" baseline="-25000" dirty="0">
                    <a:solidFill>
                      <a:schemeClr val="tx1"/>
                    </a:solidFill>
                    <a:effectLst/>
                    <a:latin typeface="+mn-lt"/>
                    <a:ea typeface="+mn-ea"/>
                    <a:cs typeface="+mn-cs"/>
                  </a:rPr>
                  <a:t>11</a:t>
                </a:r>
                <a:r>
                  <a:rPr lang="en-US" sz="1200" b="0" i="0" kern="1200" dirty="0">
                    <a:solidFill>
                      <a:schemeClr val="tx1"/>
                    </a:solidFill>
                    <a:effectLst/>
                    <a:latin typeface="+mn-lt"/>
                    <a:ea typeface="+mn-ea"/>
                    <a:cs typeface="+mn-cs"/>
                  </a:rPr>
                  <a:t> ⟩.</a:t>
                </a:r>
                <a:r>
                  <a:rPr lang="en-US" sz="1200" b="0" i="0" kern="1200" baseline="0" dirty="0">
                    <a:solidFill>
                      <a:schemeClr val="tx1"/>
                    </a:solidFill>
                    <a:effectLst/>
                    <a:latin typeface="+mn-lt"/>
                    <a:ea typeface="+mn-ea"/>
                    <a:cs typeface="+mn-cs"/>
                  </a:rPr>
                  <a:t> </a:t>
                </a:r>
                <a:r>
                  <a:rPr lang="en-ZA" dirty="0"/>
                  <a:t>Alice then sends her qubit to Bob.</a:t>
                </a:r>
                <a:endParaRPr lang="en-ZA"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sz="1200" b="0" i="0" kern="1200" dirty="0">
                  <a:solidFill>
                    <a:schemeClr val="tx1"/>
                  </a:solidFill>
                  <a:effectLst/>
                  <a:latin typeface="+mn-lt"/>
                  <a:ea typeface="+mn-ea"/>
                  <a:cs typeface="+mn-cs"/>
                </a:endParaRPr>
              </a:p>
              <a:p>
                <a:pPr marL="228600" indent="-228600" algn="just">
                  <a:buFont typeface="+mj-lt"/>
                  <a:buAutoNum type="arabicPeriod"/>
                </a:pPr>
                <a:r>
                  <a:rPr lang="en-ZA" dirty="0"/>
                  <a:t>After receiving Alice's qubit, Bob now has both qubits and performs a Bell basis measurement. This allows him to determine exactly which Bell state Alice encoded and therefore recover the two classical bits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1</m:t>
                        </m:r>
                      </m:sub>
                    </m:sSub>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𝑏</m:t>
                        </m:r>
                      </m:e>
                      <m:sub>
                        <m:r>
                          <a:rPr lang="en-US" sz="1200" b="0" i="1" smtClean="0">
                            <a:solidFill>
                              <a:srgbClr val="002060"/>
                            </a:solidFill>
                            <a:latin typeface="Cambria Math" panose="02040503050406030204" pitchFamily="18" charset="0"/>
                            <a:ea typeface="Cambria Math" panose="02040503050406030204" pitchFamily="18" charset="0"/>
                          </a:rPr>
                          <m:t>2</m:t>
                        </m:r>
                      </m:sub>
                    </m:sSub>
                  </m:oMath>
                </a14:m>
                <a:r>
                  <a:rPr lang="en-ZA" b="0" dirty="0"/>
                  <a:t>.</a:t>
                </a:r>
              </a:p>
              <a:p>
                <a:pPr algn="just"/>
                <a:endParaRPr lang="en-ZA" b="0" dirty="0"/>
              </a:p>
              <a:p>
                <a:pPr algn="just"/>
                <a:r>
                  <a:rPr lang="en-ZA" b="0" dirty="0"/>
                  <a:t>Technically, two qubits travel through the quantum channel: one during the initial distribution of the entangled pair and one after Alice encodes her information. However, once the entanglement has been pre-shared, Alice can transmit two classical bits by sending only one qubit. This is why the protocol is called </a:t>
                </a:r>
                <a:r>
                  <a:rPr lang="en-ZA" b="0" dirty="0" err="1"/>
                  <a:t>superdense</a:t>
                </a:r>
                <a:r>
                  <a:rPr lang="en-ZA" b="0" dirty="0"/>
                  <a:t> coding.</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Superdense or dense coding enables transmission of two classical bits of information via one qubit provided that prior to transmission, communicating parties, Alice and Bob must have one of the entangled qubit pair.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We will illustrate the protocol by using the conceptual diagram first.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As the first step, Alice creates an entangled pair of qubits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00⟩</a:t>
                </a:r>
                <a:r>
                  <a:rPr lang="en-US" sz="2000" b="0" i="0" kern="1200" dirty="0">
                    <a:solidFill>
                      <a:schemeClr val="tx1"/>
                    </a:solidFill>
                    <a:effectLst/>
                    <a:latin typeface="+mn-lt"/>
                    <a:ea typeface="+mn-ea"/>
                    <a:cs typeface="+mn-cs"/>
                  </a:rPr>
                  <a:t>. She keeps one and send another one to Bob.</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Alice now encode her qubit by applying one of the possible 4 quantum gates. If she want to send 00 she applies the I gate. For 01 she applies the X gate. For 10 she applies Z gate and for 11 she applies the X and Z gate. Since qubits are entangled, any change affects Bob’s qubit as well.</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After receiving the second qubit carrying encoded information, Bob applies measurement in Bell basis which gives him two bits Alice has sent.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929801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All four previous quantum circuits can be combined into a single </a:t>
            </a:r>
            <a:r>
              <a:rPr lang="en-ZA" b="0" dirty="0" err="1"/>
              <a:t>superdense</a:t>
            </a:r>
            <a:r>
              <a:rPr lang="en-ZA" b="0" dirty="0"/>
              <a:t> coding circuit.</a:t>
            </a:r>
          </a:p>
          <a:p>
            <a:endParaRPr lang="en-ZA" b="0" dirty="0"/>
          </a:p>
          <a:p>
            <a:pPr marL="171450" indent="-171450">
              <a:buFont typeface="Arial" panose="020B0604020202020204" pitchFamily="34" charset="0"/>
              <a:buChar char="•"/>
            </a:pPr>
            <a:r>
              <a:rPr lang="en-ZA" b="0" dirty="0"/>
              <a:t>The two qubits are first prepared in the Bell state |B₀₀⟩.</a:t>
            </a:r>
          </a:p>
          <a:p>
            <a:pPr marL="171450" indent="-171450">
              <a:buFont typeface="Arial" panose="020B0604020202020204" pitchFamily="34" charset="0"/>
              <a:buChar char="•"/>
            </a:pPr>
            <a:r>
              <a:rPr lang="en-ZA" b="0" dirty="0"/>
              <a:t>The bits b₁ and b₂ represent the two classical bits of the message. Their values conditionally activate the X and Z operations on Alice’s qubit, transforming the initial Bell state |B₀₀⟩ into one of the four Bell states.</a:t>
            </a:r>
          </a:p>
          <a:p>
            <a:pPr marL="171450" indent="-171450">
              <a:buFont typeface="Arial" panose="020B0604020202020204" pitchFamily="34" charset="0"/>
              <a:buChar char="•"/>
            </a:pPr>
            <a:r>
              <a:rPr lang="en-ZA" b="0" dirty="0"/>
              <a:t>At the receiving side, a Bell-basis measurement circuit transforms the Bell state back into the corresponding bits b₁ and b₂. In this way, the same circuit can demonstrate all four possible cases of </a:t>
            </a:r>
            <a:r>
              <a:rPr lang="en-ZA" b="0" dirty="0" err="1"/>
              <a:t>superdense</a:t>
            </a:r>
            <a:r>
              <a:rPr lang="en-ZA" b="0" dirty="0"/>
              <a:t> coding.</a:t>
            </a:r>
          </a:p>
          <a:p>
            <a:endParaRPr lang="en-ZA" b="0" dirty="0"/>
          </a:p>
          <a:p>
            <a:r>
              <a:rPr lang="en-ZA" b="0" dirty="0"/>
              <a:t>To transmit one byte, or eight bits, four such circuits can be placed in parallel, since each circuit transmits two classical bits. For longer messages, the bytes can then be processed sequentially, for example in a program loop.</a:t>
            </a:r>
          </a:p>
        </p:txBody>
      </p:sp>
      <p:sp>
        <p:nvSpPr>
          <p:cNvPr id="4" name="Slide Number Placeholder 3"/>
          <p:cNvSpPr>
            <a:spLocks noGrp="1"/>
          </p:cNvSpPr>
          <p:nvPr>
            <p:ph type="sldNum" sz="quarter" idx="5"/>
          </p:nvPr>
        </p:nvSpPr>
        <p:spPr/>
        <p:txBody>
          <a:bodyPr/>
          <a:lstStyle/>
          <a:p>
            <a:fld id="{965A8710-8889-7541-9BF7-E78AD03A798D}" type="slidenum">
              <a:rPr lang="en-US" smtClean="0"/>
              <a:t>28</a:t>
            </a:fld>
            <a:endParaRPr lang="en-US"/>
          </a:p>
        </p:txBody>
      </p:sp>
    </p:spTree>
    <p:extLst>
      <p:ext uri="{BB962C8B-B14F-4D97-AF65-F5344CB8AC3E}">
        <p14:creationId xmlns:p14="http://schemas.microsoft.com/office/powerpoint/2010/main" val="239626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Another important quantum communication protocol is quantum teleportation.</a:t>
            </a:r>
          </a:p>
          <a:p>
            <a:pPr algn="just"/>
            <a:endParaRPr lang="en-ZA" b="0" dirty="0"/>
          </a:p>
          <a:p>
            <a:pPr algn="just"/>
            <a:r>
              <a:rPr lang="en-ZA" b="0" dirty="0"/>
              <a:t>Unlike the science-fiction version in </a:t>
            </a:r>
            <a:r>
              <a:rPr lang="en-ZA" b="0" i="1" dirty="0"/>
              <a:t>Star Trek</a:t>
            </a:r>
            <a:r>
              <a:rPr lang="en-ZA" b="0" dirty="0"/>
              <a:t>, quantum teleportation does not move physical matter. Instead, what is transferred is the quantum state of a qubit.</a:t>
            </a:r>
          </a:p>
          <a:p>
            <a:pPr algn="just"/>
            <a:endParaRPr lang="en-ZA" b="0" dirty="0"/>
          </a:p>
          <a:p>
            <a:pPr algn="just"/>
            <a:r>
              <a:rPr lang="en-ZA" b="0" dirty="0"/>
              <a:t>In the process, the original state of the sender’s qubit is destroyed by measurement, and the same state is recreated on the receiver’s qubit. In this way, the quantum state is effectively transferred from one location to another, without the original qubit itself traveling between them.</a:t>
            </a:r>
          </a:p>
        </p:txBody>
      </p:sp>
      <p:sp>
        <p:nvSpPr>
          <p:cNvPr id="4" name="Slide Number Placeholder 3"/>
          <p:cNvSpPr>
            <a:spLocks noGrp="1"/>
          </p:cNvSpPr>
          <p:nvPr>
            <p:ph type="sldNum" sz="quarter" idx="5"/>
          </p:nvPr>
        </p:nvSpPr>
        <p:spPr/>
        <p:txBody>
          <a:bodyPr/>
          <a:lstStyle/>
          <a:p>
            <a:fld id="{965A8710-8889-7541-9BF7-E78AD03A798D}" type="slidenum">
              <a:rPr lang="en-US" smtClean="0"/>
              <a:t>29</a:t>
            </a:fld>
            <a:endParaRPr lang="en-US"/>
          </a:p>
        </p:txBody>
      </p:sp>
    </p:spTree>
    <p:extLst>
      <p:ext uri="{BB962C8B-B14F-4D97-AF65-F5344CB8AC3E}">
        <p14:creationId xmlns:p14="http://schemas.microsoft.com/office/powerpoint/2010/main" val="32943201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Let Q be the qubit whose state Alice wants to teleport. Its state is an arbitrary superposition</a:t>
                </a:r>
                <a:r>
                  <a:rPr lang="en-US" sz="1200" b="0" i="0" kern="1200" dirty="0">
                    <a:solidFill>
                      <a:schemeClr val="tx1"/>
                    </a:solidFill>
                    <a:effectLst/>
                    <a:latin typeface="+mn-lt"/>
                    <a:ea typeface="+mn-ea"/>
                    <a:cs typeface="+mn-cs"/>
                  </a:rPr>
                  <a:t>: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𝑄</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𝑏</m:t>
                    </m:r>
                    <m:r>
                      <a:rPr lang="en-US" sz="1200" i="1">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m:t>
                        </m:r>
                      </m:e>
                    </m:d>
                  </m:oMath>
                </a14:m>
                <a:endParaRPr lang="en-US" sz="1200" dirty="0">
                  <a:solidFill>
                    <a:schemeClr val="tx1"/>
                  </a:solidFill>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dirty="0">
                  <a:solidFill>
                    <a:schemeClr val="tx1"/>
                  </a:solidFill>
                  <a:effectLst/>
                  <a:latin typeface="+mn-lt"/>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other two qubits, A and B, are initialized in the state ∣0⟩ and will be used to create an entangled pair for teleportation.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dirty="0">
                  <a:solidFill>
                    <a:schemeClr val="tx1"/>
                  </a:solidFill>
                  <a:effectLst/>
                  <a:latin typeface="+mn-lt"/>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In the first step, Alice entangles qubits A and B, creating the Bell state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𝐵</m:t>
                            </m:r>
                          </m:e>
                          <m:sub>
                            <m:r>
                              <a:rPr lang="en-US" sz="1200" b="0" i="1" smtClean="0">
                                <a:solidFill>
                                  <a:schemeClr val="tx1"/>
                                </a:solidFill>
                                <a:latin typeface="Cambria Math" panose="02040503050406030204" pitchFamily="18" charset="0"/>
                              </a:rPr>
                              <m:t>00</m:t>
                            </m:r>
                          </m:sub>
                        </m:sSub>
                      </m:e>
                    </m:d>
                    <m:r>
                      <a:rPr lang="en-US" sz="1200" b="0" i="1" smtClean="0">
                        <a:solidFill>
                          <a:schemeClr val="tx1"/>
                        </a:solidFill>
                        <a:latin typeface="Cambria Math" panose="02040503050406030204" pitchFamily="18" charset="0"/>
                        <a:ea typeface="Cambria Math" panose="02040503050406030204" pitchFamily="18" charset="0"/>
                      </a:rPr>
                      <m:t>=</m:t>
                    </m:r>
                    <m:f>
                      <m:fPr>
                        <m:type m:val="lin"/>
                        <m:ctrlPr>
                          <a:rPr lang="en-US" sz="1200" i="1" smtClean="0">
                            <a:solidFill>
                              <a:schemeClr val="tx1"/>
                            </a:solidFill>
                            <a:latin typeface="Cambria Math" panose="02040503050406030204" pitchFamily="18" charset="0"/>
                          </a:rPr>
                        </m:ctrlPr>
                      </m:fPr>
                      <m:num>
                        <m:d>
                          <m:dPr>
                            <m:ctrlPr>
                              <a:rPr lang="en-US" sz="1200" i="1" smtClean="0">
                                <a:solidFill>
                                  <a:schemeClr val="tx1"/>
                                </a:solidFill>
                                <a:latin typeface="Cambria Math" panose="02040503050406030204" pitchFamily="18" charset="0"/>
                              </a:rPr>
                            </m:ctrlPr>
                          </m:dPr>
                          <m:e>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00</m:t>
                                </m:r>
                              </m:e>
                            </m:d>
                            <m:r>
                              <a:rPr lang="en-US" sz="1200">
                                <a:solidFill>
                                  <a:schemeClr val="tx1"/>
                                </a:solidFill>
                                <a:latin typeface="Cambria Math" panose="02040503050406030204" pitchFamily="18" charset="0"/>
                              </a:rPr>
                              <m:t>+</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11</m:t>
                                </m:r>
                              </m:e>
                            </m:d>
                          </m:e>
                        </m:d>
                      </m:num>
                      <m:den>
                        <m:rad>
                          <m:radPr>
                            <m:degHide m:val="on"/>
                            <m:ctrlPr>
                              <a:rPr lang="en-US" sz="1200" i="1">
                                <a:solidFill>
                                  <a:schemeClr val="tx1"/>
                                </a:solidFill>
                                <a:latin typeface="Cambria Math" panose="02040503050406030204" pitchFamily="18" charset="0"/>
                              </a:rPr>
                            </m:ctrlPr>
                          </m:radPr>
                          <m:deg/>
                          <m:e>
                            <m:r>
                              <a:rPr lang="en-US" sz="1200">
                                <a:solidFill>
                                  <a:schemeClr val="tx1"/>
                                </a:solidFill>
                                <a:latin typeface="Cambria Math" panose="02040503050406030204" pitchFamily="18" charset="0"/>
                              </a:rPr>
                              <m:t>2</m:t>
                            </m:r>
                          </m:e>
                        </m:rad>
                      </m:den>
                    </m:f>
                  </m:oMath>
                </a14:m>
                <a:r>
                  <a:rPr lang="en-US" sz="1200" b="0" i="0" kern="1200" dirty="0">
                    <a:solidFill>
                      <a:schemeClr val="tx1"/>
                    </a:solidFill>
                    <a:effectLst/>
                    <a:latin typeface="+mn-lt"/>
                    <a:ea typeface="+mn-ea"/>
                    <a:cs typeface="+mn-cs"/>
                  </a:rPr>
                  <a:t>. </a:t>
                </a:r>
                <a:r>
                  <a:rPr lang="en-ZA" b="0" dirty="0"/>
                  <a:t>She keeps qubit A and sends qubit B to Bob through a quantum channel. The resulting shared entangled pair provides the quantum resource required for teleportation.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Alice’s qubit Q and the entangled pair together form the three-qubit state</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1" dirty="0">
                  <a:solidFill>
                    <a:srgbClr val="002060"/>
                  </a:solidFill>
                  <a:latin typeface="Cambria Math" panose="02040503050406030204" pitchFamily="18" charset="0"/>
                  <a:ea typeface="Cambria Math" panose="02040503050406030204" pitchFamily="18"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𝑆</m:t>
                              </m:r>
                            </m:e>
                            <m:sub>
                              <m:r>
                                <a:rPr lang="en-US" sz="1200" i="1">
                                  <a:solidFill>
                                    <a:srgbClr val="002060"/>
                                  </a:solidFill>
                                  <a:latin typeface="Cambria Math" panose="02040503050406030204" pitchFamily="18" charset="0"/>
                                  <a:ea typeface="Cambria Math" panose="02040503050406030204" pitchFamily="18" charset="0"/>
                                </a:rPr>
                                <m:t>1</m:t>
                              </m:r>
                            </m:sub>
                          </m:sSub>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𝑄</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𝐵</m:t>
                              </m:r>
                            </m:e>
                            <m:sub>
                              <m:r>
                                <a:rPr lang="en-US" sz="1200" i="1">
                                  <a:solidFill>
                                    <a:srgbClr val="002060"/>
                                  </a:solidFill>
                                  <a:latin typeface="Cambria Math" panose="02040503050406030204" pitchFamily="18" charset="0"/>
                                  <a:ea typeface="Cambria Math" panose="02040503050406030204" pitchFamily="18" charset="0"/>
                                </a:rPr>
                                <m:t>00</m:t>
                              </m:r>
                            </m:sub>
                          </m:sSub>
                        </m:e>
                      </m:d>
                      <m:r>
                        <a:rPr lang="en-US" sz="1200" b="0" i="1" smtClean="0">
                          <a:solidFill>
                            <a:srgbClr val="002060"/>
                          </a:solidFill>
                          <a:latin typeface="Cambria Math" panose="02040503050406030204" pitchFamily="18" charset="0"/>
                          <a:ea typeface="Cambria Math" panose="02040503050406030204" pitchFamily="18" charset="0"/>
                        </a:rPr>
                        <m:t>=</m:t>
                      </m:r>
                      <m:d>
                        <m:dPr>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𝑎</m:t>
                          </m:r>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r>
                            <a:rPr lang="en-US" sz="1200" i="1">
                              <a:solidFill>
                                <a:srgbClr val="002060"/>
                              </a:solidFill>
                              <a:latin typeface="Cambria Math" panose="02040503050406030204" pitchFamily="18" charset="0"/>
                              <a:ea typeface="Cambria Math" panose="02040503050406030204" pitchFamily="18" charset="0"/>
                            </a:rPr>
                            <m:t>𝑏</m:t>
                          </m:r>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m:t>
                              </m:r>
                            </m:e>
                          </m:d>
                        </m:e>
                      </m:d>
                      <m:r>
                        <a:rPr lang="en-US" sz="1200" i="1">
                          <a:solidFill>
                            <a:srgbClr val="002060"/>
                          </a:solidFill>
                          <a:latin typeface="Cambria Math" panose="02040503050406030204" pitchFamily="18" charset="0"/>
                          <a:ea typeface="Cambria Math" panose="02040503050406030204" pitchFamily="18" charset="0"/>
                        </a:rPr>
                        <m:t>⨂</m:t>
                      </m:r>
                      <m:f>
                        <m:fPr>
                          <m:ctrlPr>
                            <a:rPr lang="en-US" sz="1200" i="1">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FF0000"/>
                                  </a:solidFill>
                                  <a:latin typeface="Cambria Math" panose="02040503050406030204" pitchFamily="18" charset="0"/>
                                  <a:ea typeface="Cambria Math" panose="02040503050406030204" pitchFamily="18" charset="0"/>
                                </a:rPr>
                                <m:t>0</m:t>
                              </m:r>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FF0000"/>
                                  </a:solidFill>
                                  <a:latin typeface="Cambria Math" panose="02040503050406030204" pitchFamily="18" charset="0"/>
                                  <a:ea typeface="Cambria Math" panose="02040503050406030204" pitchFamily="18" charset="0"/>
                                </a:rPr>
                                <m:t>1</m:t>
                              </m:r>
                              <m:r>
                                <a:rPr lang="en-US" sz="12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endParaRPr lang="en-ZA" b="0"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sz="1200" b="0" i="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Let’s illustrate the protocol by using the conceptual diagram first.  On the top line, Alice prepares A qubit Q she wishes to teleport. In a grey block, Alice entangles qubits which are then combined. In a green block Alice perform Bell measurement, calls Bob and gives him a result. Depending on this result, Bob applies one of the agreed in advance gates to his entangled qubit and recreates Alice’s original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In this block Alice entangles qubits into state </a:t>
                </a:r>
                <a:r>
                  <a:rPr lang="en-US" sz="2000" b="0" i="0">
                    <a:solidFill>
                      <a:srgbClr val="002060"/>
                    </a:solidFill>
                    <a:latin typeface="Cambria Math" panose="02040503050406030204" pitchFamily="18" charset="0"/>
                    <a:ea typeface="Cambria Math" panose="02040503050406030204" pitchFamily="18" charset="0"/>
                  </a:rPr>
                  <a:t>𝐵_00</a:t>
                </a:r>
                <a:r>
                  <a:rPr lang="en-US" sz="2000" b="0" i="0" kern="1200" dirty="0">
                    <a:solidFill>
                      <a:schemeClr val="tx1"/>
                    </a:solidFill>
                    <a:effectLst/>
                    <a:latin typeface="+mn-lt"/>
                    <a:ea typeface="+mn-ea"/>
                    <a:cs typeface="+mn-cs"/>
                  </a:rPr>
                  <a:t>. Red</a:t>
                </a:r>
                <a:r>
                  <a:rPr lang="en-US" sz="2000" b="0" i="0" kern="1200" baseline="0" dirty="0">
                    <a:solidFill>
                      <a:schemeClr val="tx1"/>
                    </a:solidFill>
                    <a:effectLst/>
                    <a:latin typeface="+mn-lt"/>
                    <a:ea typeface="+mn-ea"/>
                    <a:cs typeface="+mn-cs"/>
                  </a:rPr>
                  <a:t> qubit stays with her and black one goes to Bob over the bottom line.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entanglement, the state of the circuit is given by Kronecker product of the qubit Q Alice wish to teleport and entangled qubits. Again, red qubits belongs to Alice and black to Bob.</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In the next step, Alice applies the CNOT gate to her entangled qubit and the qubit Q. Since the first red qubit is also control qubit, after application of the CNOT gate qubits in blue changed. In the last equation, we took out qubits 0 and 1 out of the parentheses.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measurement, Alice gets one of the four possible results and informs Bob about it. The measurement  also changes the Bob’s qubit.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Let’s say that Alice has measured bits 11. That means that Bob’s state is </a:t>
                </a:r>
                <a:r>
                  <a:rPr lang="en-US" sz="2000" i="0">
                    <a:solidFill>
                      <a:srgbClr val="002060"/>
                    </a:solidFill>
                    <a:latin typeface="Cambria Math" panose="02040503050406030204" pitchFamily="18" charset="0"/>
                    <a:ea typeface="Cambria Math" panose="02040503050406030204" pitchFamily="18" charset="0"/>
                  </a:rPr>
                  <a:t>𝑎</a:t>
                </a:r>
                <a:r>
                  <a:rPr lang="en-US" sz="2000" i="0">
                    <a:solidFill>
                      <a:schemeClr val="tx1"/>
                    </a:solidFill>
                    <a:latin typeface="Cambria Math" panose="02040503050406030204" pitchFamily="18" charset="0"/>
                    <a:ea typeface="Cambria Math" panose="02040503050406030204" pitchFamily="18" charset="0"/>
                  </a:rPr>
                  <a:t>|├ 1⟩−𝑏|├ 0⟩</a:t>
                </a:r>
                <a:r>
                  <a:rPr lang="en-US" sz="2000" b="0" i="0" kern="1200" dirty="0">
                    <a:solidFill>
                      <a:schemeClr val="tx1"/>
                    </a:solidFill>
                    <a:effectLst/>
                    <a:latin typeface="+mn-lt"/>
                    <a:ea typeface="+mn-ea"/>
                    <a:cs typeface="+mn-cs"/>
                  </a:rPr>
                  <a:t>. After applying</a:t>
                </a:r>
                <a:r>
                  <a:rPr lang="en-US" sz="2000" b="0" i="0" kern="1200" baseline="0" dirty="0">
                    <a:solidFill>
                      <a:schemeClr val="tx1"/>
                    </a:solidFill>
                    <a:effectLst/>
                    <a:latin typeface="+mn-lt"/>
                    <a:ea typeface="+mn-ea"/>
                    <a:cs typeface="+mn-cs"/>
                  </a:rPr>
                  <a:t> XZ gates Bob reconstructed Alice’s qubit Q.</a:t>
                </a:r>
                <a:endParaRPr lang="en-US" sz="20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1120823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dirty="0"/>
                  <a:t>After applying the CNOT gate to the current state</a:t>
                </a:r>
              </a:p>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ZA" i="1" smtClean="0">
                              <a:solidFill>
                                <a:schemeClr val="tx1"/>
                              </a:solidFill>
                              <a:latin typeface="Cambria Math" panose="02040503050406030204" pitchFamily="18" charset="0"/>
                            </a:rPr>
                          </m:ctrlPr>
                        </m:dPr>
                        <m:e>
                          <m:sSub>
                            <m:sSubPr>
                              <m:ctrlPr>
                                <a:rPr lang="en-ZA" i="1">
                                  <a:solidFill>
                                    <a:schemeClr val="tx1"/>
                                  </a:solidFill>
                                  <a:latin typeface="Cambria Math" panose="02040503050406030204" pitchFamily="18" charset="0"/>
                                </a:rPr>
                              </m:ctrlPr>
                            </m:sSubPr>
                            <m:e>
                              <m:r>
                                <a:rPr lang="sr-Latn-R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1</m:t>
                              </m:r>
                            </m:sub>
                          </m:sSub>
                        </m:e>
                      </m:d>
                      <m:r>
                        <a:rPr lang="sr-Latn-RS" i="1">
                          <a:solidFill>
                            <a:schemeClr val="tx1"/>
                          </a:solidFill>
                          <a:latin typeface="Cambria Math" panose="02040503050406030204" pitchFamily="18" charset="0"/>
                        </a:rPr>
                        <m:t>=</m:t>
                      </m:r>
                      <m:d>
                        <m:dPr>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𝑎</m:t>
                          </m:r>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r>
                            <a:rPr lang="en-US" sz="1200" i="1">
                              <a:solidFill>
                                <a:srgbClr val="002060"/>
                              </a:solidFill>
                              <a:latin typeface="Cambria Math" panose="02040503050406030204" pitchFamily="18" charset="0"/>
                              <a:ea typeface="Cambria Math" panose="02040503050406030204" pitchFamily="18" charset="0"/>
                            </a:rPr>
                            <m:t>𝑏</m:t>
                          </m:r>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m:t>
                              </m:r>
                            </m:e>
                          </m:d>
                        </m:e>
                      </m:d>
                      <m:f>
                        <m:fPr>
                          <m:ctrlPr>
                            <a:rPr lang="en-US" sz="1200" i="1">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FF0000"/>
                                  </a:solidFill>
                                  <a:latin typeface="Cambria Math" panose="02040503050406030204" pitchFamily="18" charset="0"/>
                                  <a:ea typeface="Cambria Math" panose="02040503050406030204" pitchFamily="18" charset="0"/>
                                </a:rPr>
                                <m:t>0</m:t>
                              </m:r>
                              <m:r>
                                <a:rPr lang="en-US" sz="1200" i="1">
                                  <a:solidFill>
                                    <a:srgbClr val="002060"/>
                                  </a:solidFill>
                                  <a:latin typeface="Cambria Math" panose="02040503050406030204" pitchFamily="18" charset="0"/>
                                  <a:ea typeface="Cambria Math" panose="02040503050406030204" pitchFamily="18" charset="0"/>
                                </a:rPr>
                                <m:t>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FF0000"/>
                                  </a:solidFill>
                                  <a:latin typeface="Cambria Math" panose="02040503050406030204" pitchFamily="18" charset="0"/>
                                  <a:ea typeface="Cambria Math" panose="02040503050406030204" pitchFamily="18" charset="0"/>
                                </a:rPr>
                                <m:t>1</m:t>
                              </m:r>
                              <m:r>
                                <a:rPr lang="en-US" sz="12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endParaRPr lang="en-ZA" dirty="0"/>
              </a:p>
              <a:p>
                <a:pPr algn="just"/>
                <a:r>
                  <a:rPr lang="en-ZA" dirty="0"/>
                  <a:t>Alice obtains the new three-qubit state </a:t>
                </a:r>
                <a:endParaRPr lang="en-US" i="1" dirty="0">
                  <a:solidFill>
                    <a:schemeClr val="tx1"/>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d>
                        <m:dPr>
                          <m:begChr m:val="|"/>
                          <m:endChr m:val="⟩"/>
                          <m:ctrlPr>
                            <a:rPr lang="en-ZA" i="1" smtClean="0">
                              <a:solidFill>
                                <a:schemeClr val="tx1"/>
                              </a:solidFill>
                              <a:latin typeface="Cambria Math" panose="02040503050406030204" pitchFamily="18" charset="0"/>
                            </a:rPr>
                          </m:ctrlPr>
                        </m:dPr>
                        <m:e>
                          <m:sSub>
                            <m:sSubPr>
                              <m:ctrlPr>
                                <a:rPr lang="en-ZA" i="1">
                                  <a:solidFill>
                                    <a:schemeClr val="tx1"/>
                                  </a:solidFill>
                                  <a:latin typeface="Cambria Math" panose="02040503050406030204" pitchFamily="18" charset="0"/>
                                </a:rPr>
                              </m:ctrlPr>
                            </m:sSubPr>
                            <m:e>
                              <m:r>
                                <a:rPr lang="sr-Latn-RS" i="1">
                                  <a:solidFill>
                                    <a:schemeClr val="tx1"/>
                                  </a:solidFill>
                                  <a:latin typeface="Cambria Math" panose="02040503050406030204" pitchFamily="18" charset="0"/>
                                </a:rPr>
                                <m:t>𝑆</m:t>
                              </m:r>
                            </m:e>
                            <m:sub>
                              <m:r>
                                <a:rPr lang="sr-Latn-RS" i="1">
                                  <a:solidFill>
                                    <a:schemeClr val="tx1"/>
                                  </a:solidFill>
                                  <a:latin typeface="Cambria Math" panose="02040503050406030204" pitchFamily="18" charset="0"/>
                                </a:rPr>
                                <m:t>2</m:t>
                              </m:r>
                            </m:sub>
                          </m:sSub>
                        </m:e>
                      </m:d>
                      <m:r>
                        <a:rPr lang="sr-Latn-RS" i="1">
                          <a:solidFill>
                            <a:schemeClr val="tx1"/>
                          </a:solidFill>
                          <a:latin typeface="Cambria Math" panose="02040503050406030204" pitchFamily="18" charset="0"/>
                        </a:rPr>
                        <m:t>=</m:t>
                      </m:r>
                      <m:f>
                        <m:fPr>
                          <m:ctrlPr>
                            <a:rPr lang="sr-Latn-R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ad>
                            <m:radPr>
                              <m:degHide m:val="on"/>
                              <m:ctrlPr>
                                <a:rPr lang="en-ZA" i="1">
                                  <a:solidFill>
                                    <a:schemeClr val="tx1"/>
                                  </a:solidFill>
                                  <a:latin typeface="Cambria Math" panose="02040503050406030204" pitchFamily="18" charset="0"/>
                                </a:rPr>
                              </m:ctrlPr>
                            </m:radPr>
                            <m:deg/>
                            <m:e>
                              <m:r>
                                <a:rPr lang="sr-Latn-RS" i="1">
                                  <a:solidFill>
                                    <a:schemeClr val="tx1"/>
                                  </a:solidFill>
                                  <a:latin typeface="Cambria Math" panose="02040503050406030204" pitchFamily="18" charset="0"/>
                                </a:rPr>
                                <m:t>2</m:t>
                              </m:r>
                            </m:e>
                          </m:rad>
                        </m:den>
                      </m:f>
                      <m:d>
                        <m:dPr>
                          <m:begChr m:val="["/>
                          <m:endChr m:val="]"/>
                          <m:ctrlPr>
                            <a:rPr lang="sr-Latn-RS" i="1" smtClean="0">
                              <a:solidFill>
                                <a:schemeClr val="tx1"/>
                              </a:solidFill>
                              <a:latin typeface="Cambria Math" panose="02040503050406030204" pitchFamily="18" charset="0"/>
                            </a:rPr>
                          </m:ctrlPr>
                        </m:dPr>
                        <m:e>
                          <m:r>
                            <a:rPr lang="sr-Latn-RS" i="1">
                              <a:solidFill>
                                <a:srgbClr val="FF0000"/>
                              </a:solidFill>
                              <a:latin typeface="Cambria Math" panose="02040503050406030204" pitchFamily="18" charset="0"/>
                            </a:rPr>
                            <m:t>𝑎</m:t>
                          </m:r>
                          <m:d>
                            <m:dPr>
                              <m:begChr m:val="|"/>
                              <m:endChr m:val="⟩"/>
                              <m:ctrlPr>
                                <a:rPr lang="en-ZA" i="1">
                                  <a:solidFill>
                                    <a:srgbClr val="FF0000"/>
                                  </a:solidFill>
                                  <a:latin typeface="Cambria Math" panose="02040503050406030204" pitchFamily="18" charset="0"/>
                                </a:rPr>
                              </m:ctrlPr>
                            </m:dPr>
                            <m:e>
                              <m:r>
                                <a:rPr lang="sr-Latn-RS" i="1">
                                  <a:solidFill>
                                    <a:srgbClr val="FF0000"/>
                                  </a:solidFill>
                                  <a:latin typeface="Cambria Math" panose="02040503050406030204" pitchFamily="18" charset="0"/>
                                </a:rPr>
                                <m:t>0</m:t>
                              </m:r>
                            </m:e>
                          </m:d>
                          <m:d>
                            <m:dPr>
                              <m:ctrlPr>
                                <a:rPr lang="en-ZA" i="1">
                                  <a:solidFill>
                                    <a:schemeClr val="tx1"/>
                                  </a:solidFill>
                                  <a:latin typeface="Cambria Math" panose="02040503050406030204" pitchFamily="18" charset="0"/>
                                </a:rPr>
                              </m:ctrlPr>
                            </m:dPr>
                            <m:e>
                              <m:d>
                                <m:dPr>
                                  <m:begChr m:val="|"/>
                                  <m:endChr m:val="⟩"/>
                                  <m:ctrlPr>
                                    <a:rPr lang="en-ZA" i="1">
                                      <a:solidFill>
                                        <a:schemeClr val="tx1"/>
                                      </a:solidFill>
                                      <a:latin typeface="Cambria Math" panose="02040503050406030204" pitchFamily="18" charset="0"/>
                                    </a:rPr>
                                  </m:ctrlPr>
                                </m:dPr>
                                <m:e>
                                  <m:r>
                                    <a:rPr lang="sr-Latn-RS">
                                      <a:solidFill>
                                        <a:schemeClr val="tx1"/>
                                      </a:solidFill>
                                      <a:latin typeface="Cambria Math" panose="02040503050406030204" pitchFamily="18" charset="0"/>
                                    </a:rPr>
                                    <m:t>00</m:t>
                                  </m:r>
                                </m:e>
                              </m:d>
                              <m:r>
                                <a:rPr lang="sr-Latn-RS" i="1">
                                  <a:solidFill>
                                    <a:schemeClr val="tx1"/>
                                  </a:solidFill>
                                  <a:latin typeface="Cambria Math" panose="02040503050406030204" pitchFamily="18" charset="0"/>
                                </a:rPr>
                                <m:t>+</m:t>
                              </m:r>
                              <m:d>
                                <m:dPr>
                                  <m:begChr m:val="|"/>
                                  <m:endChr m:val="⟩"/>
                                  <m:ctrlPr>
                                    <a:rPr lang="en-ZA" i="1">
                                      <a:solidFill>
                                        <a:schemeClr val="tx1"/>
                                      </a:solidFill>
                                      <a:latin typeface="Cambria Math" panose="02040503050406030204" pitchFamily="18" charset="0"/>
                                    </a:rPr>
                                  </m:ctrlPr>
                                </m:dPr>
                                <m:e>
                                  <m:r>
                                    <a:rPr lang="sr-Latn-RS">
                                      <a:solidFill>
                                        <a:schemeClr val="tx1"/>
                                      </a:solidFill>
                                      <a:latin typeface="Cambria Math" panose="02040503050406030204" pitchFamily="18" charset="0"/>
                                    </a:rPr>
                                    <m:t>11</m:t>
                                  </m:r>
                                </m:e>
                              </m:d>
                            </m:e>
                          </m:d>
                          <m:r>
                            <a:rPr lang="sr-Latn-RS" i="1">
                              <a:solidFill>
                                <a:schemeClr val="tx1"/>
                              </a:solidFill>
                              <a:latin typeface="Cambria Math" panose="02040503050406030204" pitchFamily="18" charset="0"/>
                            </a:rPr>
                            <m:t>+</m:t>
                          </m:r>
                          <m:r>
                            <a:rPr lang="sr-Latn-RS" i="1">
                              <a:solidFill>
                                <a:srgbClr val="FF0000"/>
                              </a:solidFill>
                              <a:latin typeface="Cambria Math" panose="02040503050406030204" pitchFamily="18" charset="0"/>
                            </a:rPr>
                            <m:t>𝑏</m:t>
                          </m:r>
                          <m:d>
                            <m:dPr>
                              <m:begChr m:val="|"/>
                              <m:endChr m:val="⟩"/>
                              <m:ctrlPr>
                                <a:rPr lang="en-ZA" i="1">
                                  <a:solidFill>
                                    <a:srgbClr val="FF0000"/>
                                  </a:solidFill>
                                  <a:latin typeface="Cambria Math" panose="02040503050406030204" pitchFamily="18" charset="0"/>
                                </a:rPr>
                              </m:ctrlPr>
                            </m:dPr>
                            <m:e>
                              <m:r>
                                <a:rPr lang="sr-Latn-RS" i="1">
                                  <a:solidFill>
                                    <a:srgbClr val="FF0000"/>
                                  </a:solidFill>
                                  <a:latin typeface="Cambria Math" panose="02040503050406030204" pitchFamily="18" charset="0"/>
                                </a:rPr>
                                <m:t>1</m:t>
                              </m:r>
                            </m:e>
                          </m:d>
                          <m:r>
                            <a:rPr lang="sr-Latn-RS" i="1">
                              <a:solidFill>
                                <a:schemeClr val="tx1"/>
                              </a:solidFill>
                              <a:latin typeface="Cambria Math" panose="02040503050406030204" pitchFamily="18" charset="0"/>
                            </a:rPr>
                            <m:t>(</m:t>
                          </m:r>
                          <m:d>
                            <m:dPr>
                              <m:begChr m:val="|"/>
                              <m:endChr m:val="⟩"/>
                              <m:ctrlPr>
                                <a:rPr lang="en-ZA" i="1">
                                  <a:solidFill>
                                    <a:schemeClr val="tx1"/>
                                  </a:solidFill>
                                  <a:latin typeface="Cambria Math" panose="02040503050406030204" pitchFamily="18" charset="0"/>
                                </a:rPr>
                              </m:ctrlPr>
                            </m:dPr>
                            <m:e>
                              <m:r>
                                <a:rPr lang="sr-Latn-RS">
                                  <a:solidFill>
                                    <a:schemeClr val="tx1"/>
                                  </a:solidFill>
                                  <a:latin typeface="Cambria Math" panose="02040503050406030204" pitchFamily="18" charset="0"/>
                                </a:rPr>
                                <m:t>10</m:t>
                              </m:r>
                            </m:e>
                          </m:d>
                          <m:r>
                            <a:rPr lang="sr-Latn-RS" i="1">
                              <a:solidFill>
                                <a:schemeClr val="tx1"/>
                              </a:solidFill>
                              <a:latin typeface="Cambria Math" panose="02040503050406030204" pitchFamily="18" charset="0"/>
                            </a:rPr>
                            <m:t>+</m:t>
                          </m:r>
                          <m:d>
                            <m:dPr>
                              <m:begChr m:val="|"/>
                              <m:endChr m:val="⟩"/>
                              <m:ctrlPr>
                                <a:rPr lang="en-ZA" i="1">
                                  <a:solidFill>
                                    <a:schemeClr val="tx1"/>
                                  </a:solidFill>
                                  <a:latin typeface="Cambria Math" panose="02040503050406030204" pitchFamily="18" charset="0"/>
                                </a:rPr>
                              </m:ctrlPr>
                            </m:dPr>
                            <m:e>
                              <m:r>
                                <a:rPr lang="sr-Latn-RS">
                                  <a:solidFill>
                                    <a:schemeClr val="tx1"/>
                                  </a:solidFill>
                                  <a:latin typeface="Cambria Math" panose="02040503050406030204" pitchFamily="18" charset="0"/>
                                </a:rPr>
                                <m:t>01</m:t>
                              </m:r>
                            </m:e>
                          </m:d>
                          <m:r>
                            <a:rPr lang="sr-Latn-RS" i="1">
                              <a:solidFill>
                                <a:schemeClr val="tx1"/>
                              </a:solidFill>
                              <a:latin typeface="Cambria Math" panose="02040503050406030204" pitchFamily="18" charset="0"/>
                            </a:rPr>
                            <m:t>)</m:t>
                          </m:r>
                        </m:e>
                      </m:d>
                    </m:oMath>
                  </m:oMathPara>
                </a14:m>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Let’s illustrate the protocol by using the conceptual diagram first.  On the top line, Alice prepares A qubit Q she wishes to teleport. In a grey block, Alice entangles qubits which are then combined. In a green block Alice perform Bell measurement, calls Bob and gives him a result. Depending on this result, Bob applies one of the agreed in advance gates to his entangled qubit and recreates Alice’s original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In this block Alice entangles qubits into state </a:t>
                </a:r>
                <a:r>
                  <a:rPr lang="en-US" sz="2000" b="0" i="0">
                    <a:solidFill>
                      <a:srgbClr val="002060"/>
                    </a:solidFill>
                    <a:latin typeface="Cambria Math" panose="02040503050406030204" pitchFamily="18" charset="0"/>
                    <a:ea typeface="Cambria Math" panose="02040503050406030204" pitchFamily="18" charset="0"/>
                  </a:rPr>
                  <a:t>𝐵_00</a:t>
                </a:r>
                <a:r>
                  <a:rPr lang="en-US" sz="2000" b="0" i="0" kern="1200" dirty="0">
                    <a:solidFill>
                      <a:schemeClr val="tx1"/>
                    </a:solidFill>
                    <a:effectLst/>
                    <a:latin typeface="+mn-lt"/>
                    <a:ea typeface="+mn-ea"/>
                    <a:cs typeface="+mn-cs"/>
                  </a:rPr>
                  <a:t>. Red</a:t>
                </a:r>
                <a:r>
                  <a:rPr lang="en-US" sz="2000" b="0" i="0" kern="1200" baseline="0" dirty="0">
                    <a:solidFill>
                      <a:schemeClr val="tx1"/>
                    </a:solidFill>
                    <a:effectLst/>
                    <a:latin typeface="+mn-lt"/>
                    <a:ea typeface="+mn-ea"/>
                    <a:cs typeface="+mn-cs"/>
                  </a:rPr>
                  <a:t> qubit stays with her and black one goes to Bob over the bottom line.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entanglement, the state of the circuit is given by Kronecker product of the qubit Q Alice wish to teleport and entangled qubits. Again, red qubits belongs to Alice and black to Bob.</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In the next step, Alice applies the CNOT gate to her entangled qubit and the qubit Q. Since the first red qubit is also control qubit, after application of the CNOT gate qubits in blue changed. In the last equation, we took out qubits 0 and 1 out of the parentheses.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measurement, Alice gets one of the four possible results and informs Bob about it. The measurement  also changes the Bob’s qubit.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Let’s say that Alice has measured bits 11. That means that Bob’s state is </a:t>
                </a:r>
                <a:r>
                  <a:rPr lang="en-US" sz="2000" i="0">
                    <a:solidFill>
                      <a:srgbClr val="002060"/>
                    </a:solidFill>
                    <a:latin typeface="Cambria Math" panose="02040503050406030204" pitchFamily="18" charset="0"/>
                    <a:ea typeface="Cambria Math" panose="02040503050406030204" pitchFamily="18" charset="0"/>
                  </a:rPr>
                  <a:t>𝑎</a:t>
                </a:r>
                <a:r>
                  <a:rPr lang="en-US" sz="2000" i="0">
                    <a:solidFill>
                      <a:schemeClr val="tx1"/>
                    </a:solidFill>
                    <a:latin typeface="Cambria Math" panose="02040503050406030204" pitchFamily="18" charset="0"/>
                    <a:ea typeface="Cambria Math" panose="02040503050406030204" pitchFamily="18" charset="0"/>
                  </a:rPr>
                  <a:t>|├ 1⟩−𝑏|├ 0⟩</a:t>
                </a:r>
                <a:r>
                  <a:rPr lang="en-US" sz="2000" b="0" i="0" kern="1200" dirty="0">
                    <a:solidFill>
                      <a:schemeClr val="tx1"/>
                    </a:solidFill>
                    <a:effectLst/>
                    <a:latin typeface="+mn-lt"/>
                    <a:ea typeface="+mn-ea"/>
                    <a:cs typeface="+mn-cs"/>
                  </a:rPr>
                  <a:t>. After applying</a:t>
                </a:r>
                <a:r>
                  <a:rPr lang="en-US" sz="2000" b="0" i="0" kern="1200" baseline="0" dirty="0">
                    <a:solidFill>
                      <a:schemeClr val="tx1"/>
                    </a:solidFill>
                    <a:effectLst/>
                    <a:latin typeface="+mn-lt"/>
                    <a:ea typeface="+mn-ea"/>
                    <a:cs typeface="+mn-cs"/>
                  </a:rPr>
                  <a:t> XZ gates Bob reconstructed Alice’s qubit Q.</a:t>
                </a:r>
                <a:endParaRPr lang="en-US" sz="20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41936298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dirty="0"/>
                  <a:t>Alice then applies a Hadamard gate to qubit Q, transforming the state into: </a:t>
                </a:r>
                <a:endParaRPr lang="en-US" i="1" dirty="0">
                  <a:latin typeface="Cambria Math" panose="02040503050406030204" pitchFamily="18" charset="0"/>
                </a:endParaRPr>
              </a:p>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ZA" i="1" smtClean="0">
                              <a:latin typeface="Cambria Math" panose="02040503050406030204" pitchFamily="18" charset="0"/>
                            </a:rPr>
                          </m:ctrlPr>
                        </m:dPr>
                        <m:e>
                          <m:sSub>
                            <m:sSubPr>
                              <m:ctrlPr>
                                <a:rPr lang="en-ZA" i="1">
                                  <a:latin typeface="Cambria Math" panose="02040503050406030204" pitchFamily="18" charset="0"/>
                                </a:rPr>
                              </m:ctrlPr>
                            </m:sSubPr>
                            <m:e>
                              <m:r>
                                <a:rPr lang="sr-Latn-RS" i="1">
                                  <a:latin typeface="Cambria Math" panose="02040503050406030204" pitchFamily="18" charset="0"/>
                                </a:rPr>
                                <m:t>𝑆</m:t>
                              </m:r>
                            </m:e>
                            <m:sub>
                              <m:r>
                                <a:rPr lang="en-US" i="1">
                                  <a:latin typeface="Cambria Math" panose="02040503050406030204" pitchFamily="18" charset="0"/>
                                </a:rPr>
                                <m:t>3</m:t>
                              </m:r>
                            </m:sub>
                          </m:sSub>
                        </m:e>
                      </m:d>
                      <m:r>
                        <m:rPr>
                          <m:nor/>
                        </m:rPr>
                        <a:rPr lang="en-ZA" dirty="0"/>
                        <m:t>=</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1</m:t>
                          </m:r>
                        </m:num>
                        <m:den>
                          <m:r>
                            <a:rPr lang="en-US" b="0" i="1" smtClean="0">
                              <a:solidFill>
                                <a:schemeClr val="tx1"/>
                              </a:solidFill>
                              <a:latin typeface="Cambria Math" panose="02040503050406030204" pitchFamily="18" charset="0"/>
                              <a:ea typeface="Cambria Math" panose="02040503050406030204" pitchFamily="18" charset="0"/>
                            </a:rPr>
                            <m:t>2</m:t>
                          </m:r>
                        </m:den>
                      </m:f>
                      <m:d>
                        <m:dPr>
                          <m:begChr m:val="["/>
                          <m:endChr m:val="]"/>
                          <m:ctrlPr>
                            <a:rPr lang="en-US" b="0" i="1" smtClean="0">
                              <a:solidFill>
                                <a:schemeClr val="tx1"/>
                              </a:solidFill>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00</m:t>
                              </m:r>
                            </m:e>
                          </m:d>
                          <m:d>
                            <m:dPr>
                              <m:ctrlPr>
                                <a:rPr lang="en-US" i="1" smtClean="0">
                                  <a:solidFill>
                                    <a:schemeClr val="tx1"/>
                                  </a:solidFill>
                                  <a:latin typeface="Cambria Math" panose="02040503050406030204" pitchFamily="18" charset="0"/>
                                  <a:ea typeface="Cambria Math" panose="02040503050406030204" pitchFamily="18" charset="0"/>
                                </a:rPr>
                              </m:ctrlPr>
                            </m:dPr>
                            <m:e>
                              <m:r>
                                <a:rPr lang="en-US" b="0" i="1" smtClean="0">
                                  <a:solidFill>
                                    <a:schemeClr val="tx1"/>
                                  </a:solidFill>
                                  <a:latin typeface="Cambria Math" panose="02040503050406030204" pitchFamily="18" charset="0"/>
                                  <a:ea typeface="Cambria Math" panose="02040503050406030204" pitchFamily="18" charset="0"/>
                                </a:rPr>
                                <m:t>𝑎</m:t>
                              </m:r>
                              <m:r>
                                <a:rPr lang="en-US" i="1">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m:t>
                                  </m:r>
                                </m:e>
                              </m:d>
                              <m:r>
                                <a:rPr lang="en-US"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𝑏</m:t>
                              </m:r>
                              <m:r>
                                <a:rPr lang="en-US" i="1">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m:t>
                                  </m:r>
                                </m:e>
                              </m:d>
                            </m:e>
                          </m:d>
                          <m:r>
                            <a:rPr lang="en-US" b="0" i="1" smtClean="0">
                              <a:solidFill>
                                <a:schemeClr val="tx1"/>
                              </a:solidFill>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1</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0</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11</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e>
                          </m:d>
                        </m:e>
                      </m:d>
                    </m:oMath>
                  </m:oMathPara>
                </a14:m>
                <a:endParaRPr lang="en-US" b="0" dirty="0">
                  <a:ea typeface="Cambria Math" panose="02040503050406030204" pitchFamily="18" charset="0"/>
                </a:endParaRPr>
              </a:p>
              <a:p>
                <a:pPr marL="0" indent="0" algn="just">
                  <a:buFont typeface="Arial" panose="020B0604020202020204" pitchFamily="34" charset="0"/>
                  <a:buNone/>
                </a:pPr>
                <a:endParaRPr lang="en-ZA" dirty="0"/>
              </a:p>
              <a:p>
                <a:pPr marL="0" indent="0" algn="just">
                  <a:buFont typeface="Arial" panose="020B0604020202020204" pitchFamily="34" charset="0"/>
                  <a:buNone/>
                </a:pPr>
                <a:r>
                  <a:rPr lang="en-ZA" b="0" dirty="0"/>
                  <a:t>This form is particularly useful because the first two qubits belong to Alice, while the third belongs to Bob. It shows that Bob's qubit is now in one of four possible states, depending on the state that Alice obtains when she measures her two qubits.</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Let’s illustrate the protocol by using the conceptual diagram first.  On the top line, Alice prepares A qubit Q she wishes to teleport. In a grey block, Alice entangles qubits which are then combined. In a green block Alice perform Bell measurement, calls Bob and gives him a result. Depending on this result, Bob applies one of the agreed in advance gates to his entangled qubit and recreates Alice’s original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In this block Alice entangles qubits into state </a:t>
                </a:r>
                <a:r>
                  <a:rPr lang="en-US" sz="2000" b="0" i="0">
                    <a:solidFill>
                      <a:srgbClr val="002060"/>
                    </a:solidFill>
                    <a:latin typeface="Cambria Math" panose="02040503050406030204" pitchFamily="18" charset="0"/>
                    <a:ea typeface="Cambria Math" panose="02040503050406030204" pitchFamily="18" charset="0"/>
                  </a:rPr>
                  <a:t>𝐵_00</a:t>
                </a:r>
                <a:r>
                  <a:rPr lang="en-US" sz="2000" b="0" i="0" kern="1200" dirty="0">
                    <a:solidFill>
                      <a:schemeClr val="tx1"/>
                    </a:solidFill>
                    <a:effectLst/>
                    <a:latin typeface="+mn-lt"/>
                    <a:ea typeface="+mn-ea"/>
                    <a:cs typeface="+mn-cs"/>
                  </a:rPr>
                  <a:t>. Red</a:t>
                </a:r>
                <a:r>
                  <a:rPr lang="en-US" sz="2000" b="0" i="0" kern="1200" baseline="0" dirty="0">
                    <a:solidFill>
                      <a:schemeClr val="tx1"/>
                    </a:solidFill>
                    <a:effectLst/>
                    <a:latin typeface="+mn-lt"/>
                    <a:ea typeface="+mn-ea"/>
                    <a:cs typeface="+mn-cs"/>
                  </a:rPr>
                  <a:t> qubit stays with her and black one goes to Bob over the bottom line.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entanglement, the state of the circuit is given by Kronecker product of the qubit Q Alice wish to teleport and entangled qubits. Again, red qubits belongs to Alice and black to Bob.</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In the next step, Alice applies the CNOT gate to her entangled qubit and the qubit Q. Since the first red qubit is also control qubit, after application of the CNOT gate qubits in blue changed. In the last equation, we took out qubits 0 and 1 out of the parentheses.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measurement, Alice gets one of the four possible results and informs Bob about it. The measurement  also changes the Bob’s qubit.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Let’s say that Alice has measured bits 11. That means that Bob’s state is </a:t>
                </a:r>
                <a:r>
                  <a:rPr lang="en-US" sz="2000" i="0">
                    <a:solidFill>
                      <a:srgbClr val="002060"/>
                    </a:solidFill>
                    <a:latin typeface="Cambria Math" panose="02040503050406030204" pitchFamily="18" charset="0"/>
                    <a:ea typeface="Cambria Math" panose="02040503050406030204" pitchFamily="18" charset="0"/>
                  </a:rPr>
                  <a:t>𝑎</a:t>
                </a:r>
                <a:r>
                  <a:rPr lang="en-US" sz="2000" i="0">
                    <a:solidFill>
                      <a:schemeClr val="tx1"/>
                    </a:solidFill>
                    <a:latin typeface="Cambria Math" panose="02040503050406030204" pitchFamily="18" charset="0"/>
                    <a:ea typeface="Cambria Math" panose="02040503050406030204" pitchFamily="18" charset="0"/>
                  </a:rPr>
                  <a:t>|├ 1⟩−𝑏|├ 0⟩</a:t>
                </a:r>
                <a:r>
                  <a:rPr lang="en-US" sz="2000" b="0" i="0" kern="1200" dirty="0">
                    <a:solidFill>
                      <a:schemeClr val="tx1"/>
                    </a:solidFill>
                    <a:effectLst/>
                    <a:latin typeface="+mn-lt"/>
                    <a:ea typeface="+mn-ea"/>
                    <a:cs typeface="+mn-cs"/>
                  </a:rPr>
                  <a:t>. After applying</a:t>
                </a:r>
                <a:r>
                  <a:rPr lang="en-US" sz="2000" b="0" i="0" kern="1200" baseline="0" dirty="0">
                    <a:solidFill>
                      <a:schemeClr val="tx1"/>
                    </a:solidFill>
                    <a:effectLst/>
                    <a:latin typeface="+mn-lt"/>
                    <a:ea typeface="+mn-ea"/>
                    <a:cs typeface="+mn-cs"/>
                  </a:rPr>
                  <a:t> XZ gates Bob reconstructed Alice’s qubit Q.</a:t>
                </a:r>
                <a:endParaRPr lang="en-US" sz="20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40650927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Since we have expressed the joint state of Alice’s qubits in the Bell basis, Alice now measures them in this basis. As a result of the measurement, the joint state of the system collapses, and all terms that are inconsistent with the measurement outcome disappear from the superposition. Bob’s qubit is therefore left in one of the four possible states shown in the table.</a:t>
                </a:r>
              </a:p>
              <a:p>
                <a:pPr algn="just"/>
                <a:endParaRPr lang="en-ZA" b="0" dirty="0"/>
              </a:p>
              <a:p>
                <a:pPr algn="just"/>
                <a:r>
                  <a:rPr lang="en-ZA" b="0" dirty="0"/>
                  <a:t>This state contains the original amplitudes a and b of qubit Q, but depending on the outcome of Alice’s measurement, it may contain a bit flip, a phase flip, or both.</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Let’s illustrate the protocol by using the conceptual diagram first.  On the top line, Alice prepares A qubit Q she wishes to teleport. In a grey block, Alice entangles qubits which are then combined. In a green block Alice perform Bell measurement, calls Bob and gives him a result. Depending on this result, Bob applies one of the agreed in advance gates to his entangled qubit and recreates Alice’s original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In this block Alice entangles qubits into state </a:t>
                </a:r>
                <a:r>
                  <a:rPr lang="en-US" sz="2000" b="0" i="0">
                    <a:solidFill>
                      <a:srgbClr val="002060"/>
                    </a:solidFill>
                    <a:latin typeface="Cambria Math" panose="02040503050406030204" pitchFamily="18" charset="0"/>
                    <a:ea typeface="Cambria Math" panose="02040503050406030204" pitchFamily="18" charset="0"/>
                  </a:rPr>
                  <a:t>𝐵_00</a:t>
                </a:r>
                <a:r>
                  <a:rPr lang="en-US" sz="2000" b="0" i="0" kern="1200" dirty="0">
                    <a:solidFill>
                      <a:schemeClr val="tx1"/>
                    </a:solidFill>
                    <a:effectLst/>
                    <a:latin typeface="+mn-lt"/>
                    <a:ea typeface="+mn-ea"/>
                    <a:cs typeface="+mn-cs"/>
                  </a:rPr>
                  <a:t>. Red</a:t>
                </a:r>
                <a:r>
                  <a:rPr lang="en-US" sz="2000" b="0" i="0" kern="1200" baseline="0" dirty="0">
                    <a:solidFill>
                      <a:schemeClr val="tx1"/>
                    </a:solidFill>
                    <a:effectLst/>
                    <a:latin typeface="+mn-lt"/>
                    <a:ea typeface="+mn-ea"/>
                    <a:cs typeface="+mn-cs"/>
                  </a:rPr>
                  <a:t> qubit stays with her and black one goes to Bob over the bottom line.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entanglement, the state of the circuit is given by Kronecker product of the qubit Q Alice wish to teleport and entangled qubits. Again, red qubits belongs to Alice and black to Bob.</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In the next step, Alice applies the CNOT gate to her entangled qubit and the qubit Q. Since the first red qubit is also control qubit, after application of the CNOT gate qubits in blue changed. In the last equation, we took out qubits 0 and 1 out of the parentheses.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measurement, Alice gets one of the four possible results and informs Bob about it. The measurement  also changes the Bob’s qubit.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Let’s say that Alice has measured bits 11. That means that Bob’s state is </a:t>
                </a:r>
                <a:r>
                  <a:rPr lang="en-US" sz="2000" i="0">
                    <a:solidFill>
                      <a:srgbClr val="002060"/>
                    </a:solidFill>
                    <a:latin typeface="Cambria Math" panose="02040503050406030204" pitchFamily="18" charset="0"/>
                    <a:ea typeface="Cambria Math" panose="02040503050406030204" pitchFamily="18" charset="0"/>
                  </a:rPr>
                  <a:t>𝑎</a:t>
                </a:r>
                <a:r>
                  <a:rPr lang="en-US" sz="2000" i="0">
                    <a:solidFill>
                      <a:schemeClr val="tx1"/>
                    </a:solidFill>
                    <a:latin typeface="Cambria Math" panose="02040503050406030204" pitchFamily="18" charset="0"/>
                    <a:ea typeface="Cambria Math" panose="02040503050406030204" pitchFamily="18" charset="0"/>
                  </a:rPr>
                  <a:t>|├ 1⟩−𝑏|├ 0⟩</a:t>
                </a:r>
                <a:r>
                  <a:rPr lang="en-US" sz="2000" b="0" i="0" kern="1200" dirty="0">
                    <a:solidFill>
                      <a:schemeClr val="tx1"/>
                    </a:solidFill>
                    <a:effectLst/>
                    <a:latin typeface="+mn-lt"/>
                    <a:ea typeface="+mn-ea"/>
                    <a:cs typeface="+mn-cs"/>
                  </a:rPr>
                  <a:t>. After applying</a:t>
                </a:r>
                <a:r>
                  <a:rPr lang="en-US" sz="2000" b="0" i="0" kern="1200" baseline="0" dirty="0">
                    <a:solidFill>
                      <a:schemeClr val="tx1"/>
                    </a:solidFill>
                    <a:effectLst/>
                    <a:latin typeface="+mn-lt"/>
                    <a:ea typeface="+mn-ea"/>
                    <a:cs typeface="+mn-cs"/>
                  </a:rPr>
                  <a:t> XZ gates Bob reconstructed Alice’s qubit Q.</a:t>
                </a:r>
                <a:endParaRPr lang="en-US" sz="20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41577908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solidFill>
                      <a:schemeClr val="tx1"/>
                    </a:solidFill>
                  </a:rPr>
                  <a:t>Alice then sends her measurement result to Bob using a classical communication channel. Based on the two classical bits received from Alice, Bob applies the corresponding correction operation to his qubit. These are the same Pauli operators used earlier in the transformations of the Bell state</a:t>
                </a:r>
                <a14:m>
                  <m:oMath xmlns:m="http://schemas.openxmlformats.org/officeDocument/2006/math">
                    <m:d>
                      <m:dPr>
                        <m:begChr m:val="|"/>
                        <m:endChr m:val="⟩"/>
                        <m:ctrlPr>
                          <a:rPr lang="en-US" sz="1200" b="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𝐵</m:t>
                            </m:r>
                          </m:e>
                          <m:sub>
                            <m:r>
                              <a:rPr lang="en-US" sz="1200" b="0" i="1" smtClean="0">
                                <a:solidFill>
                                  <a:schemeClr val="tx1"/>
                                </a:solidFill>
                                <a:latin typeface="Cambria Math" panose="02040503050406030204" pitchFamily="18" charset="0"/>
                              </a:rPr>
                              <m:t>00</m:t>
                            </m:r>
                          </m:sub>
                        </m:sSub>
                      </m:e>
                    </m:d>
                  </m:oMath>
                </a14:m>
                <a:r>
                  <a:rPr lang="en-ZA" b="0" dirty="0">
                    <a:solidFill>
                      <a:schemeClr val="tx1"/>
                    </a:solidFill>
                  </a:rPr>
                  <a:t> :</a:t>
                </a:r>
              </a:p>
              <a:p>
                <a:pPr algn="just"/>
                <a:endParaRPr lang="en-ZA" b="0" dirty="0">
                  <a:solidFill>
                    <a:schemeClr val="tx1"/>
                  </a:solidFill>
                </a:endParaRPr>
              </a:p>
              <a:p>
                <a:r>
                  <a:rPr lang="en-ZA" b="0" dirty="0">
                    <a:solidFill>
                      <a:schemeClr val="tx1"/>
                    </a:solidFill>
                  </a:rPr>
                  <a:t>00 → apply I (do nothing)</a:t>
                </a:r>
              </a:p>
              <a:p>
                <a:r>
                  <a:rPr lang="en-ZA" b="0" dirty="0">
                    <a:solidFill>
                      <a:schemeClr val="tx1"/>
                    </a:solidFill>
                  </a:rPr>
                  <a:t>01 → apply X</a:t>
                </a:r>
              </a:p>
              <a:p>
                <a:r>
                  <a:rPr lang="en-ZA" b="0" dirty="0">
                    <a:solidFill>
                      <a:schemeClr val="tx1"/>
                    </a:solidFill>
                  </a:rPr>
                  <a:t>10 → apply Z</a:t>
                </a:r>
              </a:p>
              <a:p>
                <a:r>
                  <a:rPr lang="en-ZA" b="0" dirty="0">
                    <a:solidFill>
                      <a:schemeClr val="tx1"/>
                    </a:solidFill>
                  </a:rPr>
                  <a:t>11 → apply XZ</a:t>
                </a:r>
              </a:p>
              <a:p>
                <a:pPr algn="just"/>
                <a:endParaRPr lang="en-ZA" b="0" dirty="0">
                  <a:solidFill>
                    <a:schemeClr val="tx1"/>
                  </a:solidFill>
                </a:endParaRPr>
              </a:p>
              <a:p>
                <a:pPr algn="just"/>
                <a:r>
                  <a:rPr lang="en-ZA" dirty="0">
                    <a:solidFill>
                      <a:schemeClr val="tx1"/>
                    </a:solidFill>
                  </a:rPr>
                  <a:t>After applying the appropriate correction, Bob’s qubit is in the state</a:t>
                </a:r>
              </a:p>
              <a:p>
                <a:pPr algn="just"/>
                <a:endParaRPr lang="en-ZA"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𝑄</m:t>
                          </m:r>
                        </m:e>
                      </m:d>
                      <m:r>
                        <a:rPr lang="en-US" sz="1200" b="0" i="1" smtClean="0">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𝑎</m:t>
                      </m:r>
                      <m:r>
                        <a:rPr lang="en-US" sz="1200" i="1">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0</m:t>
                          </m:r>
                        </m:e>
                      </m:d>
                      <m:r>
                        <a:rPr lang="en-US" sz="1200" i="1">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𝑏</m:t>
                      </m:r>
                      <m:r>
                        <a:rPr lang="en-US" sz="1200" i="1">
                          <a:solidFill>
                            <a:schemeClr val="tx1"/>
                          </a:solidFill>
                          <a:latin typeface="Cambria Math" panose="02040503050406030204" pitchFamily="18" charset="0"/>
                          <a:ea typeface="Cambria Math" panose="02040503050406030204" pitchFamily="18" charset="0"/>
                        </a:rPr>
                        <m:t>|</m:t>
                      </m:r>
                      <m:d>
                        <m:dPr>
                          <m:begChr m:val=""/>
                          <m:endChr m:val="⟩"/>
                          <m:ctrlPr>
                            <a:rPr lang="en-U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1</m:t>
                          </m:r>
                        </m:e>
                      </m:d>
                    </m:oMath>
                  </m:oMathPara>
                </a14:m>
                <a:endParaRPr lang="en-US" sz="1200" dirty="0">
                  <a:solidFill>
                    <a:schemeClr val="tx1"/>
                  </a:solidFill>
                  <a:ea typeface="Cambria Math" panose="020405030504060302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which is the state of Alice’s original qubit. The quantum state has therefore been transferred from Alice’s qubit to Bob’s qubit, completing the quantum teleportation process.</a:t>
                </a:r>
                <a:endParaRPr lang="en-US" sz="1200" b="0" dirty="0">
                  <a:solidFill>
                    <a:schemeClr val="tx1"/>
                  </a:solidFill>
                </a:endParaRPr>
              </a:p>
              <a:p>
                <a:pPr algn="just"/>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tx1"/>
                    </a:solidFill>
                    <a:effectLst/>
                    <a:latin typeface="+mn-lt"/>
                    <a:ea typeface="+mn-ea"/>
                    <a:cs typeface="+mn-cs"/>
                  </a:rPr>
                  <a:t>Let’s illustrate the protocol by using the conceptual diagram first.  On the top line, Alice prepares A qubit Q she wishes to teleport. In a grey block, Alice entangles qubits which are then combined. In a green block Alice perform Bell measurement, calls Bob and gives him a result. Depending on this result, Bob applies one of the agreed in advance gates to his entangled qubit and recreates Alice’s original qubit state.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dirty="0">
                    <a:solidFill>
                      <a:schemeClr val="tx1"/>
                    </a:solidFill>
                    <a:effectLst/>
                    <a:latin typeface="+mn-lt"/>
                    <a:ea typeface="+mn-ea"/>
                    <a:cs typeface="+mn-cs"/>
                  </a:rPr>
                  <a:t>In this block Alice entangles qubits into state </a:t>
                </a:r>
                <a:r>
                  <a:rPr lang="en-US" sz="2000" b="0" i="0">
                    <a:solidFill>
                      <a:srgbClr val="002060"/>
                    </a:solidFill>
                    <a:latin typeface="Cambria Math" panose="02040503050406030204" pitchFamily="18" charset="0"/>
                    <a:ea typeface="Cambria Math" panose="02040503050406030204" pitchFamily="18" charset="0"/>
                  </a:rPr>
                  <a:t>𝐵_00</a:t>
                </a:r>
                <a:r>
                  <a:rPr lang="en-US" sz="2000" b="0" i="0" kern="1200" dirty="0">
                    <a:solidFill>
                      <a:schemeClr val="tx1"/>
                    </a:solidFill>
                    <a:effectLst/>
                    <a:latin typeface="+mn-lt"/>
                    <a:ea typeface="+mn-ea"/>
                    <a:cs typeface="+mn-cs"/>
                  </a:rPr>
                  <a:t>. Red</a:t>
                </a:r>
                <a:r>
                  <a:rPr lang="en-US" sz="2000" b="0" i="0" kern="1200" baseline="0" dirty="0">
                    <a:solidFill>
                      <a:schemeClr val="tx1"/>
                    </a:solidFill>
                    <a:effectLst/>
                    <a:latin typeface="+mn-lt"/>
                    <a:ea typeface="+mn-ea"/>
                    <a:cs typeface="+mn-cs"/>
                  </a:rPr>
                  <a:t> qubit stays with her and black one goes to Bob over the bottom line.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entanglement, the state of the circuit is given by Kronecker product of the qubit Q Alice wish to teleport and entangled qubits. Again, red qubits belongs to Alice and black to Bob.</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In the next step, Alice applies the CNOT gate to her entangled qubit and the qubit Q. Since the first red qubit is also control qubit, after application of the CNOT gate qubits in blue changed. In the last equation, we took out qubits 0 and 1 out of the parentheses.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After the measurement, Alice gets one of the four possible results and informs Bob about it. The measurement  also changes the Bob’s qubit.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i="0" kern="1200" baseline="0" dirty="0">
                    <a:solidFill>
                      <a:schemeClr val="tx1"/>
                    </a:solidFill>
                    <a:effectLst/>
                    <a:latin typeface="+mn-lt"/>
                    <a:ea typeface="+mn-ea"/>
                    <a:cs typeface="+mn-cs"/>
                  </a:rPr>
                  <a:t>Let’s say that Alice has measured bits 11. That means that Bob’s state is </a:t>
                </a:r>
                <a:r>
                  <a:rPr lang="en-US" sz="2000" i="0">
                    <a:solidFill>
                      <a:srgbClr val="002060"/>
                    </a:solidFill>
                    <a:latin typeface="Cambria Math" panose="02040503050406030204" pitchFamily="18" charset="0"/>
                    <a:ea typeface="Cambria Math" panose="02040503050406030204" pitchFamily="18" charset="0"/>
                  </a:rPr>
                  <a:t>𝑎</a:t>
                </a:r>
                <a:r>
                  <a:rPr lang="en-US" sz="2000" i="0">
                    <a:solidFill>
                      <a:schemeClr val="tx1"/>
                    </a:solidFill>
                    <a:latin typeface="Cambria Math" panose="02040503050406030204" pitchFamily="18" charset="0"/>
                    <a:ea typeface="Cambria Math" panose="02040503050406030204" pitchFamily="18" charset="0"/>
                  </a:rPr>
                  <a:t>|├ 1⟩−𝑏|├ 0⟩</a:t>
                </a:r>
                <a:r>
                  <a:rPr lang="en-US" sz="2000" b="0" i="0" kern="1200" dirty="0">
                    <a:solidFill>
                      <a:schemeClr val="tx1"/>
                    </a:solidFill>
                    <a:effectLst/>
                    <a:latin typeface="+mn-lt"/>
                    <a:ea typeface="+mn-ea"/>
                    <a:cs typeface="+mn-cs"/>
                  </a:rPr>
                  <a:t>. After applying</a:t>
                </a:r>
                <a:r>
                  <a:rPr lang="en-US" sz="2000" b="0" i="0" kern="1200" baseline="0" dirty="0">
                    <a:solidFill>
                      <a:schemeClr val="tx1"/>
                    </a:solidFill>
                    <a:effectLst/>
                    <a:latin typeface="+mn-lt"/>
                    <a:ea typeface="+mn-ea"/>
                    <a:cs typeface="+mn-cs"/>
                  </a:rPr>
                  <a:t> XZ gates Bob reconstructed Alice’s qubit Q.</a:t>
                </a:r>
                <a:endParaRPr lang="en-US" sz="20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38098938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The figure illustrates a practical implementation of the quantum teleportation protocol.</a:t>
                </a:r>
              </a:p>
              <a:p>
                <a:endParaRPr lang="en-ZA" dirty="0"/>
              </a:p>
              <a:p>
                <a:pPr marL="171450" indent="-171450">
                  <a:buFont typeface="Arial" panose="020B0604020202020204" pitchFamily="34" charset="0"/>
                  <a:buChar char="•"/>
                </a:pPr>
                <a:r>
                  <a:rPr lang="en-ZA" dirty="0"/>
                  <a:t>In the grey block, qubits A and B are entangled. </a:t>
                </a:r>
              </a:p>
              <a:p>
                <a:pPr marL="171450" indent="-171450">
                  <a:buFont typeface="Arial" panose="020B0604020202020204" pitchFamily="34" charset="0"/>
                  <a:buChar char="•"/>
                </a:pPr>
                <a:r>
                  <a:rPr lang="en-ZA" dirty="0"/>
                  <a:t>Alice keeps qubit A and sends qubit B to Bob through a quantum channel. </a:t>
                </a:r>
              </a:p>
              <a:p>
                <a:pPr marL="171450" indent="-171450">
                  <a:buFont typeface="Arial" panose="020B0604020202020204" pitchFamily="34" charset="0"/>
                  <a:buChar char="•"/>
                </a:pPr>
                <a:r>
                  <a:rPr lang="en-ZA" dirty="0"/>
                  <a:t>Alice then interacts her qubit Q with qubit A in the green block using CNOT and Hadamard gates, effectively preparing them for a Bell-basis measurement.</a:t>
                </a:r>
              </a:p>
              <a:p>
                <a:pPr marL="171450" indent="-171450">
                  <a:buFont typeface="Arial" panose="020B0604020202020204" pitchFamily="34" charset="0"/>
                  <a:buChar char="•"/>
                </a:pPr>
                <a:r>
                  <a:rPr lang="en-ZA" dirty="0"/>
                  <a:t>She measures qubits Q and A and obtains two classical bits, b0​ and b1​. </a:t>
                </a:r>
              </a:p>
              <a:p>
                <a:pPr marL="171450" indent="-171450">
                  <a:buFont typeface="Arial" panose="020B0604020202020204" pitchFamily="34" charset="0"/>
                  <a:buChar char="•"/>
                </a:pPr>
                <a:r>
                  <a:rPr lang="en-ZA" dirty="0"/>
                  <a:t>Bob receives b0​ and b1​ through a classical channel and uses them as control signals for the X and Z correction operations. </a:t>
                </a:r>
              </a:p>
              <a:p>
                <a:pPr marL="171450" indent="-171450">
                  <a:buFont typeface="Arial" panose="020B0604020202020204" pitchFamily="34" charset="0"/>
                  <a:buChar char="•"/>
                </a:pPr>
                <a:r>
                  <a:rPr lang="en-ZA" dirty="0"/>
                  <a:t>These operations transform Bob's qubit B into the original state of Alice's qubit Q, completing the teleportation.</a:t>
                </a:r>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sz="2000" dirty="0"/>
                  <a:t>This is a possible implementation of the quantum teleportation circuit. At the top, Alice introduce a qubit Q she wish to teleport.  In a grey rectangle Alice prepares a Bell state. A qubit </a:t>
                </a:r>
                <a:r>
                  <a:rPr lang="en-US" sz="2000" i="0">
                    <a:solidFill>
                      <a:srgbClr val="002060"/>
                    </a:solidFill>
                    <a:latin typeface="Cambria Math" panose="02040503050406030204" pitchFamily="18" charset="0"/>
                    <a:ea typeface="Cambria Math" panose="02040503050406030204" pitchFamily="18" charset="0"/>
                  </a:rPr>
                  <a:t>𝑞_</a:t>
                </a:r>
                <a:r>
                  <a:rPr lang="en-US" sz="2000" b="0" i="0">
                    <a:solidFill>
                      <a:srgbClr val="002060"/>
                    </a:solidFill>
                    <a:latin typeface="Cambria Math" panose="02040503050406030204" pitchFamily="18" charset="0"/>
                    <a:ea typeface="Cambria Math" panose="02040503050406030204" pitchFamily="18" charset="0"/>
                  </a:rPr>
                  <a:t>1</a:t>
                </a:r>
                <a:r>
                  <a:rPr lang="en-US" sz="2000" dirty="0"/>
                  <a:t> is combined with the qubit Q and the qubit </a:t>
                </a:r>
                <a:r>
                  <a:rPr lang="en-US" sz="2000" i="0">
                    <a:solidFill>
                      <a:srgbClr val="002060"/>
                    </a:solidFill>
                    <a:latin typeface="Cambria Math" panose="02040503050406030204" pitchFamily="18" charset="0"/>
                    <a:ea typeface="Cambria Math" panose="02040503050406030204" pitchFamily="18" charset="0"/>
                  </a:rPr>
                  <a:t>𝑞_</a:t>
                </a:r>
                <a:r>
                  <a:rPr lang="en-US" sz="2000" b="0" i="0">
                    <a:solidFill>
                      <a:srgbClr val="002060"/>
                    </a:solidFill>
                    <a:latin typeface="Cambria Math" panose="02040503050406030204" pitchFamily="18" charset="0"/>
                    <a:ea typeface="Cambria Math" panose="02040503050406030204" pitchFamily="18" charset="0"/>
                  </a:rPr>
                  <a:t>2</a:t>
                </a:r>
                <a:r>
                  <a:rPr lang="en-US" sz="2000" dirty="0"/>
                  <a:t> send to Bob. In a green rectangle Alice performs the Bell state measurement. The measurement results are send over two bit-lines at the bottom. If result of any bits is 1, it activates control X or Control Z gate. This modifies Bob’s entangled qubit to match Alice’s qubit Q.</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sz="2000" dirty="0"/>
                  <a:t>One important limitation of quantum communication is the distance over which it can be used, which is typically about 100km. To extend the network, a quantum repeaters that uses quantum teleportation has been suggested</a:t>
                </a:r>
                <a:r>
                  <a:rPr lang="en-US" sz="2000" dirty="0"/>
                  <a:t>. The main problem is that these must be trusted repeaters as classical bits can be intercepted. This obstacle comes from the no-cloning theorem. </a:t>
                </a:r>
              </a:p>
              <a:p>
                <a:pPr marL="0" indent="0">
                  <a:buFont typeface="Arial" panose="020B0604020202020204" pitchFamily="34" charset="0"/>
                  <a:buNone/>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4158591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 teleportation provides the basis for the </a:t>
            </a:r>
            <a:r>
              <a:rPr lang="en-ZA" b="1" dirty="0"/>
              <a:t>entanglement swapping</a:t>
            </a:r>
            <a:r>
              <a:rPr lang="en-ZA" dirty="0"/>
              <a:t> protocol used in quantum repeaters. The transmission of individual photons through optical fibres is limited by losses, so the probability of successful transmission decreases rapidly with distance. Quantum repeaters can extend the range of quantum communication by connecting shorter quantum links. Their operation relies, among other techniques, on entanglement swapping.</a:t>
            </a:r>
          </a:p>
          <a:p>
            <a:pPr algn="just"/>
            <a:endParaRPr lang="en-ZA" dirty="0"/>
          </a:p>
          <a:p>
            <a:pPr marL="171450" indent="-171450" algn="just">
              <a:buFont typeface="Arial" panose="020B0604020202020204" pitchFamily="34" charset="0"/>
              <a:buChar char="•"/>
            </a:pPr>
            <a:r>
              <a:rPr lang="en-ZA" dirty="0"/>
              <a:t>Suppose, for example, that Alice prepares an entangled pair of qubits A and A′, while Bob prepares another entangled pair B′ and B. Qubits A′ and B′ are sent to the repeater, while Alice keeps qubit A and Bob keeps qubit B.</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The repeater measures qubits A′ and B′ in the Bell basis. As a result of this measurement, the distant qubits A and B become entangled, even though they have never directly interacted.</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The result of the Bell measurement, consisting of two classical bits, is sent to Bob. Depending on the outcome, Bob applies the appropriate correction to qubit B if necessary.</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At the end of the process, Alice and Bob share the entangled pair A–B.</a:t>
            </a:r>
          </a:p>
          <a:p>
            <a:pPr algn="just"/>
            <a:endParaRPr lang="en-ZA" dirty="0"/>
          </a:p>
          <a:p>
            <a:pPr algn="just"/>
            <a:r>
              <a:rPr lang="en-ZA" dirty="0"/>
              <a:t>Qubits A′ and B′ have been measured at the repeater, so the original entanglement of the pairs A–A′ and B′–B has effectively been </a:t>
            </a:r>
            <a:r>
              <a:rPr lang="en-ZA" b="1" dirty="0"/>
              <a:t>“swapped”</a:t>
            </a:r>
            <a:r>
              <a:rPr lang="en-ZA" dirty="0"/>
              <a:t> into entanglement between the distant qubits A and B. Hence the name </a:t>
            </a:r>
            <a:r>
              <a:rPr lang="en-ZA" b="1" dirty="0"/>
              <a:t>entanglement swapping</a:t>
            </a:r>
            <a:r>
              <a:rPr lang="en-ZA" dirty="0"/>
              <a:t>.</a:t>
            </a:r>
          </a:p>
        </p:txBody>
      </p:sp>
      <p:sp>
        <p:nvSpPr>
          <p:cNvPr id="4" name="Slide Number Placeholder 3"/>
          <p:cNvSpPr>
            <a:spLocks noGrp="1"/>
          </p:cNvSpPr>
          <p:nvPr>
            <p:ph type="sldNum" sz="quarter" idx="5"/>
          </p:nvPr>
        </p:nvSpPr>
        <p:spPr/>
        <p:txBody>
          <a:bodyPr/>
          <a:lstStyle/>
          <a:p>
            <a:fld id="{965A8710-8889-7541-9BF7-E78AD03A798D}" type="slidenum">
              <a:rPr lang="en-US" smtClean="0"/>
              <a:t>36</a:t>
            </a:fld>
            <a:endParaRPr lang="en-US"/>
          </a:p>
        </p:txBody>
      </p:sp>
    </p:spTree>
    <p:extLst>
      <p:ext uri="{BB962C8B-B14F-4D97-AF65-F5344CB8AC3E}">
        <p14:creationId xmlns:p14="http://schemas.microsoft.com/office/powerpoint/2010/main" val="32885490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a practical entanglement swapping circuit, Alice and Bob each generate a Bell pair, A–A′ and B′–B.</a:t>
            </a:r>
          </a:p>
          <a:p>
            <a:pPr algn="just"/>
            <a:endParaRPr lang="en-ZA" b="0" dirty="0"/>
          </a:p>
          <a:p>
            <a:pPr algn="just"/>
            <a:r>
              <a:rPr lang="en-ZA" b="0" dirty="0"/>
              <a:t>In the second step, Alice and Bob each send one qubit to the repeater. Alice sends qubit A′, while Bob sends qubit B′. The repeater then measures these two qubits in the Bell basis and sends the measurement result to Bob.</a:t>
            </a:r>
          </a:p>
          <a:p>
            <a:pPr algn="just"/>
            <a:endParaRPr lang="en-ZA" b="0" dirty="0"/>
          </a:p>
          <a:p>
            <a:pPr algn="just"/>
            <a:r>
              <a:rPr lang="en-ZA" b="0" dirty="0"/>
              <a:t>Based on the two classical bits received from the repeater, Bob applies the appropriate X and Z corrections to his qubit B.</a:t>
            </a:r>
          </a:p>
          <a:p>
            <a:pPr algn="just"/>
            <a:endParaRPr lang="en-ZA" b="0" dirty="0"/>
          </a:p>
          <a:p>
            <a:pPr algn="just"/>
            <a:r>
              <a:rPr lang="en-ZA" b="0" dirty="0"/>
              <a:t>The process can be viewed as teleporting the entanglement that qubit A′ shared with Alice’s qubit A onto Bob’s qubit B. As a result, Alice and Bob ultimately share the entangled pair A–B. In other words, the original A–A′ entanglement is replaced by A–B entanglement, which is why the process is called entanglement swapping.</a:t>
            </a:r>
          </a:p>
        </p:txBody>
      </p:sp>
      <p:sp>
        <p:nvSpPr>
          <p:cNvPr id="4" name="Slide Number Placeholder 3"/>
          <p:cNvSpPr>
            <a:spLocks noGrp="1"/>
          </p:cNvSpPr>
          <p:nvPr>
            <p:ph type="sldNum" sz="quarter" idx="5"/>
          </p:nvPr>
        </p:nvSpPr>
        <p:spPr/>
        <p:txBody>
          <a:bodyPr/>
          <a:lstStyle/>
          <a:p>
            <a:fld id="{965A8710-8889-7541-9BF7-E78AD03A798D}" type="slidenum">
              <a:rPr lang="en-US" smtClean="0"/>
              <a:t>37</a:t>
            </a:fld>
            <a:endParaRPr lang="en-US"/>
          </a:p>
        </p:txBody>
      </p:sp>
    </p:spTree>
    <p:extLst>
      <p:ext uri="{BB962C8B-B14F-4D97-AF65-F5344CB8AC3E}">
        <p14:creationId xmlns:p14="http://schemas.microsoft.com/office/powerpoint/2010/main" val="5520157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If the entire entanglement swapping system is treated as a single quantum circuit, consider first the joint state of the system after the entangled pairs A–A′ and B–B′ have been generated.</a:t>
                </a:r>
              </a:p>
              <a:p>
                <a:pPr algn="just"/>
                <a:endParaRPr lang="en-ZA" b="0" dirty="0"/>
              </a:p>
              <a:p>
                <a:pPr algn="just"/>
                <a:r>
                  <a:rPr lang="en-ZA" b="0" dirty="0"/>
                  <a:t>Taking the tensor product of the entangled states |B₀₀⟩_AA′ and |B₀₀⟩_BB′ gives the joint four-qubit state, expressed as a linear combination of computational-basis states.</a:t>
                </a:r>
              </a:p>
              <a:p>
                <a:pPr algn="just"/>
                <a:endParaRPr lang="en-ZA" b="0" dirty="0"/>
              </a:p>
              <a:p>
                <a:pPr algn="just"/>
                <a:r>
                  <a:rPr lang="en-ZA" b="0" dirty="0"/>
                  <a:t>If these basis states are expressed in terms of the previously derived Bell states and the terms are rearranged, the joint state can be written as an equal superposition of four cases. In each case, a particular Bell state of the A′–B′ pair corresponds to a particular Bell state of the distant A–B pair.</a:t>
                </a:r>
              </a:p>
              <a:p>
                <a:pPr algn="just"/>
                <a:endParaRPr lang="en-ZA" b="0" dirty="0"/>
              </a:p>
              <a:p>
                <a:pPr algn="just"/>
                <a:r>
                  <a:rPr lang="en-ZA" b="0" dirty="0"/>
                  <a:t>Qubits A′ and B′, shown in red, are then measured in the Bell basis, producing the classical bits b₁ and b₂. The joint state collapses to the corresponding term of the superposition, projecting the distant qubits A and B onto the corresponding Bell state.</a:t>
                </a:r>
              </a:p>
              <a:p>
                <a:pPr algn="just"/>
                <a:endParaRPr lang="en-ZA" b="0" dirty="0"/>
              </a:p>
              <a:p>
                <a:pPr algn="just"/>
                <a:r>
                  <a:rPr lang="en-ZA" b="0" dirty="0"/>
                  <a:t>The resulting bits determine the Pauli X and Z corrections applied to Bob’s qubit B. After the correction, B takes over the role previously played by A′ in the entangled pair with A, so Alice and Bob ultimately share the desired Bell state A–B.</a:t>
                </a:r>
              </a:p>
              <a:p>
                <a:pPr algn="just"/>
                <a:endParaRPr lang="en-ZA" b="0" dirty="0"/>
              </a:p>
              <a:p>
                <a:pPr algn="just"/>
                <a:r>
                  <a:rPr lang="en-ZA" b="0" dirty="0"/>
                  <a:t>In this way, the original A–A′ entanglement is effectively transferred to A–B, which is the essence of entanglement swapping.</a:t>
                </a:r>
              </a:p>
            </p:txBody>
          </p:sp>
        </mc:Choice>
        <mc:Fallback xmlns="">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000" dirty="0"/>
                  <a:t>Stanje kola </a:t>
                </a:r>
                <a:r>
                  <a:rPr lang="en-US" sz="2000" dirty="0" err="1"/>
                  <a:t>za</a:t>
                </a:r>
                <a:r>
                  <a:rPr lang="en-US" sz="2000" dirty="0"/>
                  <a:t> </a:t>
                </a:r>
                <a:r>
                  <a:rPr lang="en-US" sz="2000" dirty="0" err="1"/>
                  <a:t>razmenu</a:t>
                </a:r>
                <a:r>
                  <a:rPr lang="en-US" sz="2000" dirty="0"/>
                  <a:t> </a:t>
                </a:r>
                <a:r>
                  <a:rPr lang="en-US" sz="2000" dirty="0" err="1"/>
                  <a:t>spletenosti</a:t>
                </a:r>
                <a:r>
                  <a:rPr lang="en-US" sz="2000" dirty="0"/>
                  <a:t> </a:t>
                </a:r>
                <a:r>
                  <a:rPr lang="en-US" sz="2000" dirty="0" err="1"/>
                  <a:t>na</a:t>
                </a:r>
                <a:r>
                  <a:rPr lang="en-US" sz="2000" dirty="0"/>
                  <a:t> </a:t>
                </a:r>
                <a:r>
                  <a:rPr lang="en-US" sz="2000" dirty="0" err="1"/>
                  <a:t>mestu</a:t>
                </a:r>
                <a:r>
                  <a:rPr lang="en-US" sz="2000" dirty="0"/>
                  <a:t> </a:t>
                </a:r>
                <a:r>
                  <a:rPr lang="en-US" sz="2000" dirty="0" err="1"/>
                  <a:t>obeleženom</a:t>
                </a:r>
                <a:r>
                  <a:rPr lang="en-US" sz="2000" dirty="0"/>
                  <a:t> </a:t>
                </a:r>
                <a:r>
                  <a:rPr lang="en-US" sz="2000" dirty="0" err="1"/>
                  <a:t>crvenom</a:t>
                </a:r>
                <a:r>
                  <a:rPr lang="en-US" sz="2000" dirty="0"/>
                  <a:t> </a:t>
                </a:r>
                <a:r>
                  <a:rPr lang="en-US" sz="2000" dirty="0" err="1"/>
                  <a:t>linijom</a:t>
                </a:r>
                <a:r>
                  <a:rPr lang="en-US" sz="2000" dirty="0"/>
                  <a:t> </a:t>
                </a:r>
                <a:r>
                  <a:rPr lang="en-US" sz="2000" dirty="0" err="1"/>
                  <a:t>izražava</a:t>
                </a:r>
                <a:r>
                  <a:rPr lang="en-US" sz="2000" dirty="0"/>
                  <a:t> se </a:t>
                </a:r>
                <a:r>
                  <a:rPr lang="en-US" sz="2000" dirty="0" err="1"/>
                  <a:t>kao</a:t>
                </a:r>
                <a:r>
                  <a:rPr lang="en-US" sz="2000" dirty="0"/>
                  <a:t> </a:t>
                </a:r>
                <a:r>
                  <a:rPr lang="en-US" sz="2000" dirty="0" err="1"/>
                  <a:t>kronekerov</a:t>
                </a:r>
                <a:r>
                  <a:rPr lang="en-US" sz="2000" dirty="0"/>
                  <a:t> </a:t>
                </a:r>
                <a:r>
                  <a:rPr lang="en-US" sz="2000" dirty="0" err="1"/>
                  <a:t>proizvod</a:t>
                </a:r>
                <a:r>
                  <a:rPr lang="en-US" sz="2000" dirty="0"/>
                  <a:t> </a:t>
                </a:r>
                <a:r>
                  <a:rPr lang="en-US" sz="2000" dirty="0" err="1"/>
                  <a:t>dva</a:t>
                </a:r>
                <a:r>
                  <a:rPr lang="en-US" sz="2000" dirty="0"/>
                  <a:t> </a:t>
                </a:r>
                <a:r>
                  <a:rPr lang="en-US" sz="2000" dirty="0" err="1"/>
                  <a:t>stanja</a:t>
                </a:r>
                <a:r>
                  <a:rPr lang="en-US" sz="2000" dirty="0"/>
                  <a:t> </a:t>
                </a:r>
                <a:r>
                  <a:rPr lang="en-US" sz="2000" dirty="0" err="1"/>
                  <a:t>speltenosti</a:t>
                </a:r>
                <a:r>
                  <a:rPr lang="en-US" sz="2000" dirty="0"/>
                  <a:t> </a:t>
                </a:r>
                <a:r>
                  <a:rPr lang="en-US" sz="2000" dirty="0" err="1"/>
                  <a:t>kao</a:t>
                </a:r>
                <a:r>
                  <a:rPr lang="en-US" sz="2000" dirty="0"/>
                  <a:t> u </a:t>
                </a:r>
                <a:r>
                  <a:rPr lang="en-US" sz="2000" dirty="0" err="1"/>
                  <a:t>prvoj</a:t>
                </a:r>
                <a:r>
                  <a:rPr lang="en-US" sz="2000" dirty="0"/>
                  <a:t> </a:t>
                </a:r>
                <a:r>
                  <a:rPr lang="en-US" sz="2000" dirty="0" err="1"/>
                  <a:t>jednačini</a:t>
                </a:r>
                <a:r>
                  <a:rPr lang="en-US" sz="2000" dirty="0"/>
                  <a:t>.</a:t>
                </a:r>
              </a:p>
              <a:p>
                <a:pPr marL="342900" indent="-342900">
                  <a:buFont typeface="Arial" panose="020B0604020202020204" pitchFamily="34" charset="0"/>
                  <a:buChar char="•"/>
                </a:pPr>
                <a:r>
                  <a:rPr lang="en-US" sz="2000" dirty="0" err="1"/>
                  <a:t>Jednostvnim</a:t>
                </a:r>
                <a:r>
                  <a:rPr lang="en-US" sz="2000" dirty="0"/>
                  <a:t> </a:t>
                </a:r>
                <a:r>
                  <a:rPr lang="en-US" sz="2000" dirty="0" err="1"/>
                  <a:t>množenjem</a:t>
                </a:r>
                <a:r>
                  <a:rPr lang="en-US" sz="2000" dirty="0"/>
                  <a:t> </a:t>
                </a:r>
                <a:r>
                  <a:rPr lang="en-US" sz="2000" dirty="0" err="1"/>
                  <a:t>članova</a:t>
                </a:r>
                <a:r>
                  <a:rPr lang="en-US" sz="2000" dirty="0"/>
                  <a:t> </a:t>
                </a:r>
                <a:r>
                  <a:rPr lang="en-US" sz="2000" dirty="0" err="1"/>
                  <a:t>dobija</a:t>
                </a:r>
                <a:r>
                  <a:rPr lang="en-US" sz="2000" dirty="0"/>
                  <a:t> se </a:t>
                </a:r>
                <a:r>
                  <a:rPr lang="en-US" sz="2000" dirty="0" err="1"/>
                  <a:t>druga</a:t>
                </a:r>
                <a:r>
                  <a:rPr lang="en-US" sz="2000" dirty="0"/>
                  <a:t> </a:t>
                </a:r>
                <a:r>
                  <a:rPr lang="en-US" sz="2000" dirty="0" err="1"/>
                  <a:t>jednačina</a:t>
                </a:r>
                <a:r>
                  <a:rPr lang="en-US" sz="2000" dirty="0"/>
                  <a:t>.</a:t>
                </a:r>
              </a:p>
              <a:p>
                <a:pPr marL="342900" indent="-342900">
                  <a:buFont typeface="Arial" panose="020B0604020202020204" pitchFamily="34" charset="0"/>
                  <a:buChar char="•"/>
                </a:pPr>
                <a:r>
                  <a:rPr lang="en-US" sz="2000" dirty="0" err="1"/>
                  <a:t>Ako</a:t>
                </a:r>
                <a:r>
                  <a:rPr lang="en-US" sz="2000" dirty="0"/>
                  <a:t> se </a:t>
                </a:r>
                <a:r>
                  <a:rPr lang="en-US" sz="2000" dirty="0" err="1"/>
                  <a:t>standardni</a:t>
                </a:r>
                <a:r>
                  <a:rPr lang="en-US" sz="2000" dirty="0"/>
                  <a:t> </a:t>
                </a:r>
                <a:r>
                  <a:rPr lang="en-US" sz="2000" dirty="0" err="1"/>
                  <a:t>vektori</a:t>
                </a:r>
                <a:r>
                  <a:rPr lang="en-US" sz="2000" dirty="0"/>
                  <a:t> </a:t>
                </a:r>
                <a:r>
                  <a:rPr lang="en-US" sz="2000" dirty="0" err="1"/>
                  <a:t>baze</a:t>
                </a:r>
                <a:r>
                  <a:rPr lang="en-US" sz="2000" dirty="0"/>
                  <a:t> </a:t>
                </a:r>
                <a:r>
                  <a:rPr lang="en-US" sz="2000" dirty="0" err="1"/>
                  <a:t>izraze</a:t>
                </a:r>
                <a:r>
                  <a:rPr lang="en-US" sz="2000" dirty="0"/>
                  <a:t> </a:t>
                </a:r>
                <a:r>
                  <a:rPr lang="en-US" sz="2000" dirty="0" err="1"/>
                  <a:t>preko</a:t>
                </a:r>
                <a:r>
                  <a:rPr lang="en-US" sz="2000" dirty="0"/>
                  <a:t> </a:t>
                </a:r>
                <a:r>
                  <a:rPr lang="en-US" sz="2000" dirty="0" err="1"/>
                  <a:t>Belovih</a:t>
                </a:r>
                <a:r>
                  <a:rPr lang="en-US" sz="2000" dirty="0"/>
                  <a:t> </a:t>
                </a:r>
                <a:r>
                  <a:rPr lang="en-US" sz="2000" dirty="0" err="1"/>
                  <a:t>vektora</a:t>
                </a:r>
                <a:r>
                  <a:rPr lang="en-US" sz="2000" dirty="0"/>
                  <a:t> </a:t>
                </a:r>
                <a:r>
                  <a:rPr lang="en-US" sz="2000" dirty="0" err="1"/>
                  <a:t>baze</a:t>
                </a:r>
                <a:r>
                  <a:rPr lang="en-US" sz="2000" dirty="0"/>
                  <a:t> </a:t>
                </a:r>
                <a:r>
                  <a:rPr lang="en-US" sz="2000" dirty="0" err="1"/>
                  <a:t>i</a:t>
                </a:r>
                <a:r>
                  <a:rPr lang="en-US" sz="2000" dirty="0"/>
                  <a:t> </a:t>
                </a:r>
                <a:r>
                  <a:rPr lang="en-US" sz="2000" dirty="0" err="1"/>
                  <a:t>izvrši</a:t>
                </a:r>
                <a:r>
                  <a:rPr lang="en-US" sz="2000" dirty="0"/>
                  <a:t> </a:t>
                </a:r>
                <a:r>
                  <a:rPr lang="en-US" sz="2000" dirty="0" err="1"/>
                  <a:t>preuređenje</a:t>
                </a:r>
                <a:r>
                  <a:rPr lang="en-US" sz="2000" dirty="0"/>
                  <a:t> </a:t>
                </a:r>
                <a:r>
                  <a:rPr lang="en-US" sz="2000" dirty="0" err="1"/>
                  <a:t>članova</a:t>
                </a:r>
                <a:r>
                  <a:rPr lang="en-US" sz="2000" dirty="0"/>
                  <a:t> </a:t>
                </a:r>
                <a:r>
                  <a:rPr lang="en-US" sz="2000" dirty="0" err="1"/>
                  <a:t>dobija</a:t>
                </a:r>
                <a:r>
                  <a:rPr lang="en-US" sz="2000" dirty="0"/>
                  <a:t> se </a:t>
                </a:r>
                <a:r>
                  <a:rPr lang="en-US" sz="2000" dirty="0" err="1"/>
                  <a:t>teći</a:t>
                </a:r>
                <a:r>
                  <a:rPr lang="en-US" sz="2000" dirty="0"/>
                  <a:t> </a:t>
                </a:r>
                <a:r>
                  <a:rPr lang="en-US" sz="2000" dirty="0" err="1"/>
                  <a:t>izraz</a:t>
                </a:r>
                <a:r>
                  <a:rPr lang="en-US" sz="2000" dirty="0"/>
                  <a:t>. </a:t>
                </a:r>
                <a:r>
                  <a:rPr lang="en-US" sz="2000" dirty="0" err="1"/>
                  <a:t>Izraz</a:t>
                </a:r>
                <a:r>
                  <a:rPr lang="en-US" sz="2000" dirty="0"/>
                  <a:t> </a:t>
                </a:r>
                <a:r>
                  <a:rPr lang="en-US" sz="2000" dirty="0" err="1"/>
                  <a:t>pokazuje</a:t>
                </a:r>
                <a:r>
                  <a:rPr lang="en-US" sz="2000" dirty="0"/>
                  <a:t> da se </a:t>
                </a:r>
                <a:r>
                  <a:rPr lang="en-US" sz="2000" dirty="0" err="1"/>
                  <a:t>kubiti</a:t>
                </a:r>
                <a:r>
                  <a:rPr lang="en-US" sz="2000" dirty="0"/>
                  <a:t> </a:t>
                </a:r>
                <a:r>
                  <a:rPr lang="en-US" sz="2000" dirty="0" err="1"/>
                  <a:t>nalaze</a:t>
                </a:r>
                <a:r>
                  <a:rPr lang="en-US" sz="2000" dirty="0"/>
                  <a:t> u </a:t>
                </a:r>
                <a:r>
                  <a:rPr lang="en-US" sz="2000" dirty="0" err="1"/>
                  <a:t>jednakoj</a:t>
                </a:r>
                <a:r>
                  <a:rPr lang="en-US" sz="2000" dirty="0"/>
                  <a:t> </a:t>
                </a:r>
                <a:r>
                  <a:rPr lang="en-US" sz="2000" dirty="0" err="1"/>
                  <a:t>superpoziciji</a:t>
                </a:r>
                <a:r>
                  <a:rPr lang="en-US" sz="2000" dirty="0"/>
                  <a:t> </a:t>
                </a:r>
                <a:r>
                  <a:rPr lang="en-US" sz="2000" dirty="0" err="1"/>
                  <a:t>četiri</a:t>
                </a:r>
                <a:r>
                  <a:rPr lang="en-US" sz="2000" dirty="0"/>
                  <a:t> </a:t>
                </a:r>
                <a:r>
                  <a:rPr lang="en-US" sz="2000" dirty="0" err="1"/>
                  <a:t>Belova</a:t>
                </a:r>
                <a:r>
                  <a:rPr lang="en-US" sz="2000" dirty="0"/>
                  <a:t> </a:t>
                </a:r>
                <a:r>
                  <a:rPr lang="en-US" sz="2000" dirty="0" err="1"/>
                  <a:t>stanja</a:t>
                </a:r>
                <a:r>
                  <a:rPr lang="en-US" sz="2000" dirty="0"/>
                  <a:t>.</a:t>
                </a:r>
              </a:p>
              <a:p>
                <a:pPr marL="342900" indent="-342900">
                  <a:buFont typeface="Arial" panose="020B0604020202020204" pitchFamily="34" charset="0"/>
                  <a:buChar char="•"/>
                </a:pPr>
                <a:r>
                  <a:rPr lang="en-US" sz="2000" dirty="0" err="1"/>
                  <a:t>Posle</a:t>
                </a:r>
                <a:r>
                  <a:rPr lang="en-US" sz="2000" dirty="0"/>
                  <a:t> </a:t>
                </a:r>
                <a:r>
                  <a:rPr lang="en-US" sz="2000" dirty="0" err="1"/>
                  <a:t>merenja</a:t>
                </a:r>
                <a:r>
                  <a:rPr lang="en-US" sz="2000" dirty="0"/>
                  <a:t> u </a:t>
                </a:r>
                <a:r>
                  <a:rPr lang="en-US" sz="2000" dirty="0" err="1"/>
                  <a:t>Belovoj</a:t>
                </a:r>
                <a:r>
                  <a:rPr lang="en-US" sz="2000" dirty="0"/>
                  <a:t> </a:t>
                </a:r>
                <a:r>
                  <a:rPr lang="en-US" sz="2000" dirty="0" err="1"/>
                  <a:t>bazi</a:t>
                </a:r>
                <a:r>
                  <a:rPr lang="en-US" sz="2000" dirty="0"/>
                  <a:t> </a:t>
                </a:r>
                <a:r>
                  <a:rPr lang="en-US" sz="2000" dirty="0" err="1"/>
                  <a:t>kubiti</a:t>
                </a:r>
                <a:r>
                  <a:rPr lang="en-US" sz="2000" baseline="0" dirty="0"/>
                  <a:t> se </a:t>
                </a:r>
                <a:r>
                  <a:rPr lang="en-US" sz="2000" baseline="0" dirty="0" err="1"/>
                  <a:t>redukuju</a:t>
                </a:r>
                <a:r>
                  <a:rPr lang="en-US" sz="2000" baseline="0" dirty="0"/>
                  <a:t> u </a:t>
                </a:r>
                <a:r>
                  <a:rPr lang="en-US" sz="2000" baseline="0" dirty="0" err="1"/>
                  <a:t>jedno</a:t>
                </a:r>
                <a:r>
                  <a:rPr lang="en-US" sz="2000" baseline="0" dirty="0"/>
                  <a:t> od </a:t>
                </a:r>
                <a:r>
                  <a:rPr lang="en-US" sz="2000" baseline="0" dirty="0" err="1"/>
                  <a:t>Belovih</a:t>
                </a:r>
                <a:r>
                  <a:rPr lang="en-US" sz="2000" baseline="0" dirty="0"/>
                  <a:t> </a:t>
                </a:r>
                <a:r>
                  <a:rPr lang="en-US" sz="2000" baseline="0" dirty="0" err="1"/>
                  <a:t>stanja</a:t>
                </a:r>
                <a:r>
                  <a:rPr lang="en-US" sz="2000" baseline="0" dirty="0"/>
                  <a:t> </a:t>
                </a:r>
                <a:r>
                  <a:rPr lang="en-US" sz="2000" baseline="0" dirty="0" err="1"/>
                  <a:t>i</a:t>
                </a:r>
                <a:r>
                  <a:rPr lang="en-US" sz="2000" baseline="0" dirty="0"/>
                  <a:t> </a:t>
                </a:r>
                <a:r>
                  <a:rPr lang="en-US" sz="2000" dirty="0" err="1"/>
                  <a:t>dobijaju</a:t>
                </a:r>
                <a:r>
                  <a:rPr lang="en-US" sz="2000" dirty="0"/>
                  <a:t> se </a:t>
                </a:r>
                <a:r>
                  <a:rPr lang="en-US" sz="2000" dirty="0" err="1"/>
                  <a:t>bitovi</a:t>
                </a:r>
                <a:r>
                  <a:rPr lang="en-US" sz="2000" dirty="0"/>
                  <a:t> </a:t>
                </a:r>
                <a:r>
                  <a:rPr lang="sr-Latn-RS" sz="2000" b="0" i="0">
                    <a:solidFill>
                      <a:srgbClr val="002060"/>
                    </a:solidFill>
                    <a:latin typeface="Cambria Math" panose="02040503050406030204" pitchFamily="18" charset="0"/>
                    <a:ea typeface="Cambria Math" panose="02040503050406030204" pitchFamily="18" charset="0"/>
                  </a:rPr>
                  <a:t>𝑏</a:t>
                </a:r>
                <a:r>
                  <a:rPr lang="en-US" sz="2000" b="0" i="0">
                    <a:solidFill>
                      <a:srgbClr val="002060"/>
                    </a:solidFill>
                    <a:latin typeface="Cambria Math" panose="02040503050406030204" pitchFamily="18" charset="0"/>
                    <a:ea typeface="Cambria Math" panose="02040503050406030204" pitchFamily="18" charset="0"/>
                  </a:rPr>
                  <a:t>_</a:t>
                </a:r>
                <a:r>
                  <a:rPr lang="en-US" sz="2000" i="0">
                    <a:solidFill>
                      <a:srgbClr val="002060"/>
                    </a:solidFill>
                    <a:latin typeface="Cambria Math" panose="02040503050406030204" pitchFamily="18" charset="0"/>
                    <a:ea typeface="Cambria Math" panose="02040503050406030204" pitchFamily="18" charset="0"/>
                  </a:rPr>
                  <a:t>1</a:t>
                </a:r>
                <a:r>
                  <a:rPr lang="sr-Latn-RS" sz="2000" b="0" i="0">
                    <a:solidFill>
                      <a:srgbClr val="002060"/>
                    </a:solidFill>
                    <a:latin typeface="Cambria Math" panose="02040503050406030204" pitchFamily="18" charset="0"/>
                    <a:ea typeface="Cambria Math" panose="02040503050406030204" pitchFamily="18" charset="0"/>
                  </a:rPr>
                  <a:t> i</a:t>
                </a:r>
                <a:r>
                  <a:rPr lang="en-US" sz="2000" dirty="0"/>
                  <a:t> </a:t>
                </a:r>
                <a:r>
                  <a:rPr lang="sr-Latn-RS" sz="2000" i="0">
                    <a:solidFill>
                      <a:srgbClr val="002060"/>
                    </a:solidFill>
                    <a:latin typeface="Cambria Math" panose="02040503050406030204" pitchFamily="18" charset="0"/>
                    <a:ea typeface="Cambria Math" panose="02040503050406030204" pitchFamily="18" charset="0"/>
                  </a:rPr>
                  <a:t>𝑏</a:t>
                </a:r>
                <a:r>
                  <a:rPr lang="en-US" sz="2000" i="0">
                    <a:solidFill>
                      <a:srgbClr val="002060"/>
                    </a:solidFill>
                    <a:latin typeface="Cambria Math" panose="02040503050406030204" pitchFamily="18" charset="0"/>
                    <a:ea typeface="Cambria Math" panose="02040503050406030204" pitchFamily="18" charset="0"/>
                  </a:rPr>
                  <a:t>_</a:t>
                </a:r>
                <a:r>
                  <a:rPr lang="sr-Latn-RS" sz="2000" b="0" i="0">
                    <a:solidFill>
                      <a:srgbClr val="002060"/>
                    </a:solidFill>
                    <a:latin typeface="Cambria Math" panose="02040503050406030204" pitchFamily="18" charset="0"/>
                    <a:ea typeface="Cambria Math" panose="02040503050406030204" pitchFamily="18" charset="0"/>
                  </a:rPr>
                  <a:t>2</a:t>
                </a:r>
                <a:r>
                  <a:rPr lang="en-US" sz="2000" dirty="0"/>
                  <a:t>. Kao </a:t>
                </a:r>
                <a:r>
                  <a:rPr lang="en-US" sz="2000" dirty="0" err="1"/>
                  <a:t>i</a:t>
                </a:r>
                <a:r>
                  <a:rPr lang="en-US" sz="2000" dirty="0"/>
                  <a:t> u </a:t>
                </a:r>
                <a:r>
                  <a:rPr lang="en-US" sz="2000" dirty="0" err="1"/>
                  <a:t>ranijim</a:t>
                </a:r>
                <a:r>
                  <a:rPr lang="en-US" sz="2000" dirty="0"/>
                  <a:t> </a:t>
                </a:r>
                <a:r>
                  <a:rPr lang="en-US" sz="2000" dirty="0" err="1"/>
                  <a:t>primerima</a:t>
                </a:r>
                <a:r>
                  <a:rPr lang="en-US" sz="2000" dirty="0"/>
                  <a:t>, </a:t>
                </a:r>
                <a:r>
                  <a:rPr lang="en-US" sz="2000" dirty="0" err="1"/>
                  <a:t>bitovi</a:t>
                </a:r>
                <a:r>
                  <a:rPr lang="en-US" sz="2000" dirty="0"/>
                  <a:t> se </a:t>
                </a:r>
                <a:r>
                  <a:rPr lang="en-US" sz="2000" dirty="0" err="1"/>
                  <a:t>koriste</a:t>
                </a:r>
                <a:r>
                  <a:rPr lang="en-US" sz="2000" dirty="0"/>
                  <a:t> </a:t>
                </a:r>
                <a:r>
                  <a:rPr lang="en-US" sz="2000" dirty="0" err="1"/>
                  <a:t>za</a:t>
                </a:r>
                <a:r>
                  <a:rPr lang="en-US" sz="2000" dirty="0"/>
                  <a:t> </a:t>
                </a:r>
                <a:r>
                  <a:rPr lang="en-US" sz="2000" dirty="0" err="1"/>
                  <a:t>odabir</a:t>
                </a:r>
                <a:r>
                  <a:rPr lang="en-US" sz="2000" dirty="0"/>
                  <a:t> X</a:t>
                </a:r>
                <a:r>
                  <a:rPr lang="en-US" sz="2000" baseline="0" dirty="0"/>
                  <a:t> </a:t>
                </a:r>
                <a:r>
                  <a:rPr lang="en-US" sz="2000" baseline="0" dirty="0" err="1"/>
                  <a:t>ili</a:t>
                </a:r>
                <a:r>
                  <a:rPr lang="en-US" sz="2000" baseline="0" dirty="0"/>
                  <a:t> Z kola, </a:t>
                </a:r>
                <a:r>
                  <a:rPr lang="en-US" sz="2000" baseline="0" dirty="0" err="1"/>
                  <a:t>ili</a:t>
                </a:r>
                <a:r>
                  <a:rPr lang="en-US" sz="2000" baseline="0" dirty="0"/>
                  <a:t> </a:t>
                </a:r>
                <a:r>
                  <a:rPr lang="en-US" sz="2000" baseline="0" dirty="0" err="1"/>
                  <a:t>ni</a:t>
                </a:r>
                <a:r>
                  <a:rPr lang="en-US" sz="2000" baseline="0" dirty="0"/>
                  <a:t> </a:t>
                </a:r>
                <a:r>
                  <a:rPr lang="en-US" sz="2000" baseline="0" dirty="0" err="1"/>
                  <a:t>jedno</a:t>
                </a:r>
                <a:r>
                  <a:rPr lang="en-US" sz="2000" baseline="0" dirty="0"/>
                  <a:t> od </a:t>
                </a:r>
                <a:r>
                  <a:rPr lang="en-US" sz="2000" baseline="0" dirty="0" err="1"/>
                  <a:t>njih</a:t>
                </a:r>
                <a:r>
                  <a:rPr lang="en-US" sz="2000" baseline="0" dirty="0"/>
                  <a:t>, </a:t>
                </a:r>
                <a:r>
                  <a:rPr lang="en-US" sz="2000" baseline="0" dirty="0" err="1"/>
                  <a:t>koje</a:t>
                </a:r>
                <a:r>
                  <a:rPr lang="en-US" sz="2000" baseline="0" dirty="0"/>
                  <a:t> </a:t>
                </a:r>
                <a:r>
                  <a:rPr lang="en-US" sz="2000" baseline="0" dirty="0" err="1"/>
                  <a:t>će</a:t>
                </a:r>
                <a:r>
                  <a:rPr lang="en-US" sz="2000" baseline="0" dirty="0"/>
                  <a:t> </a:t>
                </a:r>
                <a:r>
                  <a:rPr lang="en-US" sz="2000" dirty="0" err="1"/>
                  <a:t>modifikovati</a:t>
                </a:r>
                <a:r>
                  <a:rPr lang="en-US" sz="2000" baseline="0" dirty="0"/>
                  <a:t> </a:t>
                </a:r>
                <a:r>
                  <a:rPr lang="en-US" sz="2000" baseline="0" dirty="0" err="1"/>
                  <a:t>donji</a:t>
                </a:r>
                <a:r>
                  <a:rPr lang="en-US" sz="2000" baseline="0" dirty="0"/>
                  <a:t> </a:t>
                </a:r>
                <a:r>
                  <a:rPr lang="en-US" sz="2000" baseline="0" dirty="0" err="1"/>
                  <a:t>kubit</a:t>
                </a:r>
                <a:r>
                  <a:rPr lang="en-US" sz="2000" baseline="0" dirty="0"/>
                  <a:t> </a:t>
                </a:r>
                <a:r>
                  <a:rPr lang="en-US" sz="2000" baseline="0" dirty="0" err="1"/>
                  <a:t>tako</a:t>
                </a:r>
                <a:r>
                  <a:rPr lang="en-US" sz="2000" baseline="0" dirty="0"/>
                  <a:t> da </a:t>
                </a:r>
                <a:r>
                  <a:rPr lang="en-US" sz="2000" baseline="0" dirty="0" err="1"/>
                  <a:t>krajnje</a:t>
                </a:r>
                <a:r>
                  <a:rPr lang="en-US" sz="2000" baseline="0" dirty="0"/>
                  <a:t> </a:t>
                </a:r>
                <a:r>
                  <a:rPr lang="en-US" sz="2000" baseline="0" dirty="0" err="1"/>
                  <a:t>stanje</a:t>
                </a:r>
                <a:r>
                  <a:rPr lang="en-US" sz="2000" baseline="0" dirty="0"/>
                  <a:t> </a:t>
                </a:r>
                <a:r>
                  <a:rPr lang="en-US" sz="2000" baseline="0" dirty="0" err="1"/>
                  <a:t>između</a:t>
                </a:r>
                <a:r>
                  <a:rPr lang="en-US" sz="2000" baseline="0" dirty="0"/>
                  <a:t> </a:t>
                </a:r>
                <a:r>
                  <a:rPr lang="en-US" sz="2000" baseline="0" dirty="0" err="1"/>
                  <a:t>tačaka</a:t>
                </a:r>
                <a:r>
                  <a:rPr lang="en-US" sz="2000" baseline="0" dirty="0"/>
                  <a:t> A </a:t>
                </a:r>
                <a:r>
                  <a:rPr lang="en-US" sz="2000" baseline="0" dirty="0" err="1"/>
                  <a:t>i</a:t>
                </a:r>
                <a:r>
                  <a:rPr lang="en-US" sz="2000" baseline="0" dirty="0"/>
                  <a:t> B </a:t>
                </a:r>
                <a:r>
                  <a:rPr lang="en-US" sz="2000" baseline="0" dirty="0" err="1"/>
                  <a:t>bude</a:t>
                </a:r>
                <a:r>
                  <a:rPr lang="en-US" sz="2000" baseline="0" dirty="0"/>
                  <a:t> </a:t>
                </a:r>
                <a:r>
                  <a:rPr lang="en-US" sz="2000" baseline="0" dirty="0" err="1"/>
                  <a:t>spleteno</a:t>
                </a:r>
                <a:r>
                  <a:rPr lang="en-US" sz="2000" baseline="0" dirty="0"/>
                  <a:t>. </a:t>
                </a:r>
                <a:r>
                  <a:rPr lang="en-US" sz="2000" baseline="0" dirty="0" err="1"/>
                  <a:t>Teorijski</a:t>
                </a:r>
                <a:r>
                  <a:rPr lang="en-US" sz="2000" baseline="0" dirty="0"/>
                  <a:t> </a:t>
                </a:r>
                <a:r>
                  <a:rPr lang="en-US" sz="2000" baseline="0" dirty="0" err="1"/>
                  <a:t>je</a:t>
                </a:r>
                <a:r>
                  <a:rPr lang="en-US" sz="2000" baseline="0" dirty="0"/>
                  <a:t> </a:t>
                </a:r>
                <a:r>
                  <a:rPr lang="en-US" sz="2000" baseline="0" dirty="0" err="1"/>
                  <a:t>moguće</a:t>
                </a:r>
                <a:r>
                  <a:rPr lang="en-US" sz="2000" baseline="0" dirty="0"/>
                  <a:t> </a:t>
                </a:r>
                <a:r>
                  <a:rPr lang="en-US" sz="2000" baseline="0" dirty="0" err="1"/>
                  <a:t>ponoviti</a:t>
                </a:r>
                <a:r>
                  <a:rPr lang="en-US" sz="2000" baseline="0" dirty="0"/>
                  <a:t> </a:t>
                </a:r>
                <a:r>
                  <a:rPr lang="en-US" sz="2000" baseline="0" dirty="0" err="1"/>
                  <a:t>ovu</a:t>
                </a:r>
                <a:r>
                  <a:rPr lang="en-US" sz="2000" baseline="0" dirty="0"/>
                  <a:t> </a:t>
                </a:r>
                <a:r>
                  <a:rPr lang="en-US" sz="2000" baseline="0" dirty="0" err="1"/>
                  <a:t>operaciju</a:t>
                </a:r>
                <a:r>
                  <a:rPr lang="en-US" sz="2000" baseline="0" dirty="0"/>
                  <a:t> </a:t>
                </a:r>
                <a:r>
                  <a:rPr lang="en-US" sz="2000" baseline="0" dirty="0" err="1"/>
                  <a:t>više</a:t>
                </a:r>
                <a:r>
                  <a:rPr lang="en-US" sz="2000" baseline="0" dirty="0"/>
                  <a:t> puta, </a:t>
                </a:r>
                <a:r>
                  <a:rPr lang="en-US" sz="2000" baseline="0" dirty="0" err="1"/>
                  <a:t>ali</a:t>
                </a:r>
                <a:r>
                  <a:rPr lang="en-US" sz="2000" baseline="0" dirty="0"/>
                  <a:t>  </a:t>
                </a:r>
                <a:r>
                  <a:rPr lang="en-US" sz="2000" baseline="0" dirty="0" err="1"/>
                  <a:t>zbog</a:t>
                </a:r>
                <a:r>
                  <a:rPr lang="en-US" sz="2000" baseline="0" dirty="0"/>
                  <a:t> </a:t>
                </a:r>
                <a:r>
                  <a:rPr lang="en-US" sz="2000" baseline="0" dirty="0" err="1"/>
                  <a:t>tehnoloških</a:t>
                </a:r>
                <a:r>
                  <a:rPr lang="en-US" sz="2000" baseline="0" dirty="0"/>
                  <a:t> </a:t>
                </a:r>
                <a:r>
                  <a:rPr lang="en-US" sz="2000" baseline="0" dirty="0" err="1"/>
                  <a:t>poteškoća</a:t>
                </a:r>
                <a:r>
                  <a:rPr lang="en-US" sz="2000" baseline="0" dirty="0"/>
                  <a:t> </a:t>
                </a:r>
                <a:r>
                  <a:rPr lang="en-US" sz="2000" baseline="0" dirty="0" err="1"/>
                  <a:t>kvantni</a:t>
                </a:r>
                <a:r>
                  <a:rPr lang="en-US" sz="2000" baseline="0" dirty="0"/>
                  <a:t> </a:t>
                </a:r>
                <a:r>
                  <a:rPr lang="en-US" sz="2000" baseline="0" dirty="0" err="1"/>
                  <a:t>repetitori</a:t>
                </a:r>
                <a:r>
                  <a:rPr lang="en-US" sz="2000" baseline="0" dirty="0"/>
                  <a:t> </a:t>
                </a:r>
                <a:r>
                  <a:rPr lang="en-US" sz="2000" baseline="0" dirty="0" err="1"/>
                  <a:t>još</a:t>
                </a:r>
                <a:r>
                  <a:rPr lang="en-US" sz="2000" baseline="0" dirty="0"/>
                  <a:t> ne </a:t>
                </a:r>
                <a:r>
                  <a:rPr lang="en-US" sz="2000" baseline="0" dirty="0" err="1"/>
                  <a:t>postoje</a:t>
                </a:r>
                <a:r>
                  <a:rPr lang="en-US" sz="2000" baseline="0" dirty="0"/>
                  <a:t> u </a:t>
                </a:r>
                <a:r>
                  <a:rPr lang="en-US" sz="2000" baseline="0" dirty="0" err="1"/>
                  <a:t>komercijalnoj</a:t>
                </a:r>
                <a:r>
                  <a:rPr lang="en-US" sz="2000" baseline="0" dirty="0"/>
                  <a:t> </a:t>
                </a:r>
                <a:r>
                  <a:rPr lang="en-US" sz="2000" baseline="0" dirty="0" err="1"/>
                  <a:t>verziji</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38</a:t>
            </a:fld>
            <a:endParaRPr lang="en-US"/>
          </a:p>
        </p:txBody>
      </p:sp>
    </p:spTree>
    <p:extLst>
      <p:ext uri="{BB962C8B-B14F-4D97-AF65-F5344CB8AC3E}">
        <p14:creationId xmlns:p14="http://schemas.microsoft.com/office/powerpoint/2010/main" val="18257266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Entanglement swapping works in theory, but its practical implementation still faces several unresolved challenges. One of these is transmission synchronization. For a repeater to perform entanglement swapping, it must receive one photon from Alice and one from Bob. Because of different transmission distances, losses, and other imperfections in optical channels, the photons may not arrive at the same time. One possible solution is the use of quantum memory.</a:t>
            </a:r>
          </a:p>
          <a:p>
            <a:pPr algn="just"/>
            <a:endParaRPr lang="en-ZA" b="0" dirty="0"/>
          </a:p>
          <a:p>
            <a:pPr algn="just"/>
            <a:r>
              <a:rPr lang="en-ZA" b="0" dirty="0"/>
              <a:t>The figure illustrates the principle of such a protocol. The horizontal axis shows the photon arrival times. The green regions represent the periods T1 during which a quantum state is stored in memory, while the red regions represent the time T2 required for measurement. The role of the memory is to preserve the quantum state associated with one photon until the other becomes available.</a:t>
            </a:r>
          </a:p>
          <a:p>
            <a:pPr algn="just"/>
            <a:endParaRPr lang="en-ZA" b="0" dirty="0"/>
          </a:p>
          <a:p>
            <a:pPr algn="just"/>
            <a:r>
              <a:rPr lang="en-ZA" b="0" dirty="0"/>
              <a:t>In the first case, both photons arrive within the required time interval, despite being asynchronous, and entanglement swapping can be successfully performed. In the second case, Bob’s photon is lost, so the state from Alice’s side is stored until a new photon arrives. In the third case, a new photon from Bob arrives while Alice’s state is still stored, allowing the repeater to perform entanglement swapping. Other combinations of arrivals, losses, and repeated attempts are also possible.</a:t>
            </a:r>
          </a:p>
          <a:p>
            <a:pPr algn="just"/>
            <a:endParaRPr lang="en-ZA" b="0" dirty="0"/>
          </a:p>
          <a:p>
            <a:pPr algn="just"/>
            <a:r>
              <a:rPr lang="en-ZA" b="0" dirty="0"/>
              <a:t>The practical implementation of quantum memories remains a significant technological challenge. Various approaches are being investigated, including systems based on defects in diamond, where the quantum state of a photon can be transferred to a material quantum system and stored until it is needed.</a:t>
            </a:r>
          </a:p>
        </p:txBody>
      </p:sp>
      <p:sp>
        <p:nvSpPr>
          <p:cNvPr id="4" name="Slide Number Placeholder 3"/>
          <p:cNvSpPr>
            <a:spLocks noGrp="1"/>
          </p:cNvSpPr>
          <p:nvPr>
            <p:ph type="sldNum" sz="quarter" idx="5"/>
          </p:nvPr>
        </p:nvSpPr>
        <p:spPr/>
        <p:txBody>
          <a:bodyPr/>
          <a:lstStyle/>
          <a:p>
            <a:fld id="{965A8710-8889-7541-9BF7-E78AD03A798D}" type="slidenum">
              <a:rPr lang="en-US" smtClean="0"/>
              <a:t>39</a:t>
            </a:fld>
            <a:endParaRPr lang="en-US"/>
          </a:p>
        </p:txBody>
      </p:sp>
    </p:spTree>
    <p:extLst>
      <p:ext uri="{BB962C8B-B14F-4D97-AF65-F5344CB8AC3E}">
        <p14:creationId xmlns:p14="http://schemas.microsoft.com/office/powerpoint/2010/main" val="30338713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Imperfections in quantum channels also lead to the degradation of quantum entanglement. For example, qubits may lose phase coherence, causing an initially pure entangled state to gradually become a mixed state.</a:t>
            </a:r>
          </a:p>
          <a:p>
            <a:pPr algn="just"/>
            <a:endParaRPr lang="en-ZA" b="0" dirty="0"/>
          </a:p>
          <a:p>
            <a:pPr algn="just"/>
            <a:r>
              <a:rPr lang="en-ZA" b="0" dirty="0"/>
              <a:t>To improve the quality of entanglement, a process known as entanglement purification is used. The basic idea is to use several lower-quality entangled pairs to obtain a smaller number of pairs with higher fidelity. These redundant pairs can be generated and distributed through a quantum network.</a:t>
            </a:r>
          </a:p>
          <a:p>
            <a:pPr algn="just"/>
            <a:endParaRPr lang="en-ZA" b="0" dirty="0"/>
          </a:p>
          <a:p>
            <a:pPr algn="just"/>
            <a:r>
              <a:rPr lang="en-ZA" b="0" dirty="0"/>
              <a:t>The figure shows a simplified entanglement purification procedure. Alice and Bob receive two entangled pairs, |B1⟩ and |B2⟩. On each side, they apply a CX operation, using the qubits from |B1⟩ as controls and those from |B2⟩ as targets.</a:t>
            </a:r>
          </a:p>
          <a:p>
            <a:pPr algn="just"/>
            <a:endParaRPr lang="en-ZA" b="0" dirty="0"/>
          </a:p>
          <a:p>
            <a:pPr algn="just"/>
            <a:r>
              <a:rPr lang="en-ZA" b="0" dirty="0"/>
              <a:t>The target qubits are then measured in the computational basis, and Alice and Bob compare their results over a classical channel. If the results agree, the pair |B1⟩ is retained, while the measured pair |B2⟩ is discarded. Under appropriate conditions, the retained pair has higher fidelity with respect to the desired Bell state.</a:t>
            </a:r>
          </a:p>
          <a:p>
            <a:pPr algn="just"/>
            <a:endParaRPr lang="en-ZA" b="0" dirty="0"/>
          </a:p>
          <a:p>
            <a:pPr algn="just"/>
            <a:r>
              <a:rPr lang="en-ZA" b="0" dirty="0"/>
              <a:t>The procedure can be repeated with additional entangled pairs, progressively increasing the quality of the remaining entanglement. The cost is that several lower-quality pairs are consumed to produce a smaller number of higher-quality pairs.</a:t>
            </a:r>
          </a:p>
          <a:p>
            <a:pPr algn="just"/>
            <a:endParaRPr lang="en-ZA" b="0" dirty="0"/>
          </a:p>
          <a:p>
            <a:pPr algn="just"/>
            <a:r>
              <a:rPr lang="en-ZA" b="0" dirty="0"/>
              <a:t>In practice, entanglement purification is technologically demanding. Local two-qubit operations, measurements, quantum memories, and the communication channel itself introduce additional errors. Purification is therefore useful only when the improvement in entanglement outweighs the errors introduced by the purification process itself.</a:t>
            </a:r>
          </a:p>
        </p:txBody>
      </p:sp>
      <p:sp>
        <p:nvSpPr>
          <p:cNvPr id="4" name="Slide Number Placeholder 3"/>
          <p:cNvSpPr>
            <a:spLocks noGrp="1"/>
          </p:cNvSpPr>
          <p:nvPr>
            <p:ph type="sldNum" sz="quarter" idx="5"/>
          </p:nvPr>
        </p:nvSpPr>
        <p:spPr/>
        <p:txBody>
          <a:bodyPr/>
          <a:lstStyle/>
          <a:p>
            <a:fld id="{965A8710-8889-7541-9BF7-E78AD03A798D}" type="slidenum">
              <a:rPr lang="en-US" smtClean="0"/>
              <a:t>40</a:t>
            </a:fld>
            <a:endParaRPr lang="en-US"/>
          </a:p>
        </p:txBody>
      </p:sp>
    </p:spTree>
    <p:extLst>
      <p:ext uri="{BB962C8B-B14F-4D97-AF65-F5344CB8AC3E}">
        <p14:creationId xmlns:p14="http://schemas.microsoft.com/office/powerpoint/2010/main" val="1827762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This map shows that the development of quantum communication infrastructure is already taking place around the world. What began as individual laboratory experiments is gradually evolving into larger quantum networks and testbeds.</a:t>
            </a:r>
          </a:p>
          <a:p>
            <a:pPr algn="just"/>
            <a:endParaRPr lang="en-ZA" b="0" dirty="0"/>
          </a:p>
          <a:p>
            <a:pPr algn="just"/>
            <a:r>
              <a:rPr lang="en-ZA" b="0" dirty="0"/>
              <a:t>Major initiatives are underway in North America, Europe, and Asia, particularly in the United States, China, Japan, and several European countries. Europe is pursuing a coordinated approach through programs such as the Quantum Internet Alliance and </a:t>
            </a:r>
            <a:r>
              <a:rPr lang="en-ZA" b="0" dirty="0" err="1"/>
              <a:t>EuroQCI</a:t>
            </a:r>
            <a:r>
              <a:rPr lang="en-ZA" b="0" dirty="0"/>
              <a:t>, while other countries are developing their own national and regional networks.</a:t>
            </a:r>
          </a:p>
          <a:p>
            <a:pPr algn="just"/>
            <a:endParaRPr lang="en-ZA" b="0" dirty="0"/>
          </a:p>
          <a:p>
            <a:pPr algn="just"/>
            <a:r>
              <a:rPr lang="en-ZA" b="0" dirty="0"/>
              <a:t>Most of these systems are still experimental and vary considerably in their level of development. Nevertheless, they represent important steps toward connecting quantum devices and networks over increasingly large </a:t>
            </a:r>
            <a:r>
              <a:rPr lang="en-ZA" b="0"/>
              <a:t>distances.</a:t>
            </a:r>
          </a:p>
          <a:p>
            <a:pPr algn="just"/>
            <a:endParaRPr lang="en-ZA" b="0" dirty="0"/>
          </a:p>
          <a:p>
            <a:pPr algn="just"/>
            <a:r>
              <a:rPr lang="en-ZA" b="0" dirty="0"/>
              <a:t>The long-term goal is to eventually connect these networks into a global quantum internet, much as separate classical computer networks gradually evolved into the Internet we use today.</a:t>
            </a:r>
          </a:p>
        </p:txBody>
      </p:sp>
      <p:sp>
        <p:nvSpPr>
          <p:cNvPr id="4" name="Slide Number Placeholder 3"/>
          <p:cNvSpPr>
            <a:spLocks noGrp="1"/>
          </p:cNvSpPr>
          <p:nvPr>
            <p:ph type="sldNum" sz="quarter" idx="5"/>
          </p:nvPr>
        </p:nvSpPr>
        <p:spPr/>
        <p:txBody>
          <a:bodyPr/>
          <a:lstStyle/>
          <a:p>
            <a:fld id="{965A8710-8889-7541-9BF7-E78AD03A798D}" type="slidenum">
              <a:rPr lang="en-US" smtClean="0"/>
              <a:t>41</a:t>
            </a:fld>
            <a:endParaRPr lang="en-US"/>
          </a:p>
        </p:txBody>
      </p:sp>
    </p:spTree>
    <p:extLst>
      <p:ext uri="{BB962C8B-B14F-4D97-AF65-F5344CB8AC3E}">
        <p14:creationId xmlns:p14="http://schemas.microsoft.com/office/powerpoint/2010/main" val="3676075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2000822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9BAD7-D4B1-4646-B2F1-0F1275438C06}"/>
              </a:ext>
            </a:extLst>
          </p:cNvPr>
          <p:cNvSpPr>
            <a:spLocks noGrp="1"/>
          </p:cNvSpPr>
          <p:nvPr>
            <p:ph type="sldNum" sz="quarter" idx="12"/>
          </p:nvPr>
        </p:nvSpPr>
        <p:spPr>
          <a:xfrm>
            <a:off x="0" y="6492875"/>
            <a:ext cx="797827" cy="365125"/>
          </a:xfrm>
        </p:spPr>
        <p:txBody>
          <a:bodyPr/>
          <a:lstStyle>
            <a:lvl1pPr algn="l">
              <a:defRPr/>
            </a:lvl1pPr>
          </a:lstStyle>
          <a:p>
            <a:fld id="{F9755F1A-B9A0-4847-95B6-A26175A266D6}" type="slidenum">
              <a:rPr lang="en-US" smtClean="0"/>
              <a:pPr/>
              <a:t>‹#›</a:t>
            </a:fld>
            <a:endParaRPr lang="en-US"/>
          </a:p>
        </p:txBody>
      </p:sp>
      <p:sp>
        <p:nvSpPr>
          <p:cNvPr id="5" name="Title 1">
            <a:extLst>
              <a:ext uri="{FF2B5EF4-FFF2-40B4-BE49-F238E27FC236}">
                <a16:creationId xmlns:a16="http://schemas.microsoft.com/office/drawing/2014/main" id="{9597F359-8EEF-B34E-908B-EA6295880535}"/>
              </a:ext>
            </a:extLst>
          </p:cNvPr>
          <p:cNvSpPr>
            <a:spLocks noGrp="1"/>
          </p:cNvSpPr>
          <p:nvPr>
            <p:ph type="title"/>
          </p:nvPr>
        </p:nvSpPr>
        <p:spPr>
          <a:xfrm>
            <a:off x="0" y="0"/>
            <a:ext cx="12192000" cy="928688"/>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2B24AF3E-4D16-6C4B-9396-7536498F66EC}"/>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1A1DFB6C-C518-3340-8E59-A1BA4F720BE7}"/>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206249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70F27-9F47-B842-AC30-222F6CFD8A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6FA2DB-E4D1-124A-AD5F-35CD76F67E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7006A2-72DF-8645-ACD4-8C0FF485C8F5}"/>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5" name="Footer Placeholder 4">
            <a:extLst>
              <a:ext uri="{FF2B5EF4-FFF2-40B4-BE49-F238E27FC236}">
                <a16:creationId xmlns:a16="http://schemas.microsoft.com/office/drawing/2014/main" id="{AF710C8A-8681-EA4E-86DA-136ABEE9D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BAAEF-751B-5641-A7C5-2F0E01648461}"/>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2144672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AB754-F62F-2541-9BB2-6BCE6D03DC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C6FBC-CD91-4944-8C8B-AA9378E4A9B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AE06F0-23F8-F546-A89E-673E2C5EF39B}"/>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5" name="Footer Placeholder 4">
            <a:extLst>
              <a:ext uri="{FF2B5EF4-FFF2-40B4-BE49-F238E27FC236}">
                <a16:creationId xmlns:a16="http://schemas.microsoft.com/office/drawing/2014/main" id="{59A92C6D-6ABB-5A4A-A0E4-9690A9B1F6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7DBEE-23A9-F44E-8C77-FD0CB87FB2BF}"/>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3251232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7F07-058F-9348-8391-E2D0DEF6BF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630AC8-EEC0-E94C-A0C6-56C0B680F7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A9794A-774C-4D4A-B1AA-2BBFB04A8EAE}"/>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5" name="Footer Placeholder 4">
            <a:extLst>
              <a:ext uri="{FF2B5EF4-FFF2-40B4-BE49-F238E27FC236}">
                <a16:creationId xmlns:a16="http://schemas.microsoft.com/office/drawing/2014/main" id="{824CB83F-C1C2-224B-ADCF-4955755B7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2495D-559C-DE4F-A6DF-E588D84E842C}"/>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3282721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7A89-9F5F-464C-A8C0-E30655552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FA425D-B226-BA4B-9113-89CB8CD502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E6A057-662D-B34D-B228-45390970B25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3A4324-8FB5-6643-B2B8-0F3C4677621E}"/>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6" name="Footer Placeholder 5">
            <a:extLst>
              <a:ext uri="{FF2B5EF4-FFF2-40B4-BE49-F238E27FC236}">
                <a16:creationId xmlns:a16="http://schemas.microsoft.com/office/drawing/2014/main" id="{8DC4FB17-1EC3-2540-9AD7-F5FF43D45E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B9FC6-A399-E141-81F7-EB6DE0CB2203}"/>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4287145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1692-7092-0645-AFD0-813D278ED2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1B3D8B-8A39-3649-8CA7-E2D90B012E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8C29F7-6007-2342-9354-62793F3CC71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110FC7-2226-2942-BEA9-8118A43787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ADFB3D8-8A00-624C-95C9-281162B7706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322EDC-63AB-2743-A710-F259A2320D7D}"/>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8" name="Footer Placeholder 7">
            <a:extLst>
              <a:ext uri="{FF2B5EF4-FFF2-40B4-BE49-F238E27FC236}">
                <a16:creationId xmlns:a16="http://schemas.microsoft.com/office/drawing/2014/main" id="{F040F29C-6B97-DF4A-9DA4-B49D67F1F9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BED92F-7961-0348-8573-9ECD665D6FC2}"/>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1739819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7BCD1-5255-D74E-9D21-B2EAFBCBC9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D9A7F-E6F1-4046-955C-C937A28450BB}"/>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4" name="Footer Placeholder 3">
            <a:extLst>
              <a:ext uri="{FF2B5EF4-FFF2-40B4-BE49-F238E27FC236}">
                <a16:creationId xmlns:a16="http://schemas.microsoft.com/office/drawing/2014/main" id="{B2C6EF5E-C442-9345-ADBE-914D87FD6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DB521C-39F6-9B4F-A653-FD5EE6C1307E}"/>
              </a:ext>
            </a:extLst>
          </p:cNvPr>
          <p:cNvSpPr>
            <a:spLocks noGrp="1"/>
          </p:cNvSpPr>
          <p:nvPr>
            <p:ph type="sldNum" sz="quarter" idx="12"/>
          </p:nvPr>
        </p:nvSpPr>
        <p:spPr/>
        <p:txBody>
          <a:bodyPr/>
          <a:lstStyle/>
          <a:p>
            <a:fld id="{F9755F1A-B9A0-4847-95B6-A26175A266D6}" type="slidenum">
              <a:rPr lang="en-US" smtClean="0"/>
              <a:t>‹#›</a:t>
            </a:fld>
            <a:endParaRPr lang="en-US"/>
          </a:p>
        </p:txBody>
      </p:sp>
      <p:pic>
        <p:nvPicPr>
          <p:cNvPr id="6" name="Picture 5">
            <a:extLst>
              <a:ext uri="{FF2B5EF4-FFF2-40B4-BE49-F238E27FC236}">
                <a16:creationId xmlns:a16="http://schemas.microsoft.com/office/drawing/2014/main" id="{77BDDD6F-A815-124F-AAB9-36710D1A743C}"/>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4009214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9B9E-1824-FB44-90C3-9DA1DC26B7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18F6E0-F878-3543-8AAA-6FD278EA8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57F350-E82C-C043-B7FE-B354410745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0501A10-A486-FA43-8B87-FDB529377881}"/>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6" name="Footer Placeholder 5">
            <a:extLst>
              <a:ext uri="{FF2B5EF4-FFF2-40B4-BE49-F238E27FC236}">
                <a16:creationId xmlns:a16="http://schemas.microsoft.com/office/drawing/2014/main" id="{E5B1BD3A-D0A4-C940-964B-76EEB3F35E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E00779-7371-DE46-8A00-E9056F2B72F7}"/>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2910420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247D-4CA7-7F40-B6F8-4F079BF62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50B4AF-FBAC-CA48-9067-6E068214A2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CF2B49-6892-624E-B99A-DD218FA21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A6E1984-BA61-7A42-99C4-CEA000D1F285}"/>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6" name="Footer Placeholder 5">
            <a:extLst>
              <a:ext uri="{FF2B5EF4-FFF2-40B4-BE49-F238E27FC236}">
                <a16:creationId xmlns:a16="http://schemas.microsoft.com/office/drawing/2014/main" id="{96A1D28C-6969-DB43-9133-33479858D0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1C1259-7475-1F46-82FB-9E8EEFE85C4A}"/>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708902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E44F-A03C-344E-BF92-AB341D14C0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9DE3C5-0984-B744-A03D-F54E802201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01E5A0-BEC1-B24E-BC1B-644F0A64950A}"/>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5" name="Footer Placeholder 4">
            <a:extLst>
              <a:ext uri="{FF2B5EF4-FFF2-40B4-BE49-F238E27FC236}">
                <a16:creationId xmlns:a16="http://schemas.microsoft.com/office/drawing/2014/main" id="{2767051B-C01D-1C4C-AE42-814428FCDE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576547-0DF8-7441-B970-42301F7871D3}"/>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171514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9D7685-363F-FF40-B781-BDF1932389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094383-9AA5-284C-A1AD-2659DB1A17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639CF-574B-4741-AF9E-9B364C91CD1F}"/>
              </a:ext>
            </a:extLst>
          </p:cNvPr>
          <p:cNvSpPr>
            <a:spLocks noGrp="1"/>
          </p:cNvSpPr>
          <p:nvPr>
            <p:ph type="dt" sz="half" idx="10"/>
          </p:nvPr>
        </p:nvSpPr>
        <p:spPr/>
        <p:txBody>
          <a:bodyPr/>
          <a:lstStyle/>
          <a:p>
            <a:fld id="{C7943FDB-3647-5640-9DF6-2BCB120F3D40}" type="datetimeFigureOut">
              <a:rPr lang="en-US" smtClean="0"/>
              <a:t>10/2/26</a:t>
            </a:fld>
            <a:endParaRPr lang="en-US"/>
          </a:p>
        </p:txBody>
      </p:sp>
      <p:sp>
        <p:nvSpPr>
          <p:cNvPr id="5" name="Footer Placeholder 4">
            <a:extLst>
              <a:ext uri="{FF2B5EF4-FFF2-40B4-BE49-F238E27FC236}">
                <a16:creationId xmlns:a16="http://schemas.microsoft.com/office/drawing/2014/main" id="{47371CA4-D916-204B-B74C-6001E60CD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29F4B-4CEE-EE40-9EA8-99EEAE8CA99A}"/>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3259437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10/2/26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720601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DF6086-44A9-1544-B5BA-1C7811C8A9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9A2E07-9D57-0A4E-B654-921F502A82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B1CB09-B030-E941-A6A0-54D450D4A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943FDB-3647-5640-9DF6-2BCB120F3D40}" type="datetimeFigureOut">
              <a:rPr lang="en-US" smtClean="0"/>
              <a:t>10/2/26</a:t>
            </a:fld>
            <a:endParaRPr lang="en-US"/>
          </a:p>
        </p:txBody>
      </p:sp>
      <p:sp>
        <p:nvSpPr>
          <p:cNvPr id="5" name="Footer Placeholder 4">
            <a:extLst>
              <a:ext uri="{FF2B5EF4-FFF2-40B4-BE49-F238E27FC236}">
                <a16:creationId xmlns:a16="http://schemas.microsoft.com/office/drawing/2014/main" id="{580FE173-EFE6-4448-BB06-C4604C19F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7A0217-AE82-FE47-93AC-2450546649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755F1A-B9A0-4847-95B6-A26175A266D6}" type="slidenum">
              <a:rPr lang="en-US" smtClean="0"/>
              <a:t>‹#›</a:t>
            </a:fld>
            <a:endParaRPr lang="en-US"/>
          </a:p>
        </p:txBody>
      </p:sp>
    </p:spTree>
    <p:extLst>
      <p:ext uri="{BB962C8B-B14F-4D97-AF65-F5344CB8AC3E}">
        <p14:creationId xmlns:p14="http://schemas.microsoft.com/office/powerpoint/2010/main" val="3967808015"/>
      </p:ext>
    </p:extLst>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tiff"/></Relationships>
</file>

<file path=ppt/slides/_rels/slide3.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3.svg"/><Relationship Id="rId7" Type="http://schemas.openxmlformats.org/officeDocument/2006/relationships/image" Target="../media/image9.svg"/><Relationship Id="rId12"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1.png"/><Relationship Id="rId5" Type="http://schemas.openxmlformats.org/officeDocument/2006/relationships/image" Target="../media/image7.png"/><Relationship Id="rId15" Type="http://schemas.openxmlformats.org/officeDocument/2006/relationships/image" Target="../media/image14.png"/><Relationship Id="rId10" Type="http://schemas.openxmlformats.org/officeDocument/2006/relationships/image" Target="../media/image280.png"/><Relationship Id="rId4" Type="http://schemas.openxmlformats.org/officeDocument/2006/relationships/image" Target="../media/image95.png"/><Relationship Id="rId9" Type="http://schemas.openxmlformats.org/officeDocument/2006/relationships/image" Target="../media/image10.png"/><Relationship Id="rId14" Type="http://schemas.openxmlformats.org/officeDocument/2006/relationships/image" Target="../media/image320.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20.png"/><Relationship Id="rId12"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0.png"/><Relationship Id="rId10" Type="http://schemas.openxmlformats.org/officeDocument/2006/relationships/image" Target="../media/image19.png"/><Relationship Id="rId9" Type="http://schemas.openxmlformats.org/officeDocument/2006/relationships/image" Target="../media/image16.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36.tiff"/><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10.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7" Type="http://schemas.openxmlformats.org/officeDocument/2006/relationships/image" Target="../media/image41.png"/><Relationship Id="rId12"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60.png"/><Relationship Id="rId11" Type="http://schemas.openxmlformats.org/officeDocument/2006/relationships/image" Target="../media/image15.png"/><Relationship Id="rId5" Type="http://schemas.openxmlformats.org/officeDocument/2006/relationships/image" Target="../media/image350.png"/><Relationship Id="rId10" Type="http://schemas.openxmlformats.org/officeDocument/2006/relationships/image" Target="../media/image390.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890.png"/><Relationship Id="rId13" Type="http://schemas.openxmlformats.org/officeDocument/2006/relationships/image" Target="../media/image135.png"/><Relationship Id="rId3" Type="http://schemas.openxmlformats.org/officeDocument/2006/relationships/image" Target="../media/image132.png"/><Relationship Id="rId7" Type="http://schemas.openxmlformats.org/officeDocument/2006/relationships/image" Target="../media/image1060.png"/><Relationship Id="rId12" Type="http://schemas.openxmlformats.org/officeDocument/2006/relationships/image" Target="../media/image110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50.png"/><Relationship Id="rId11" Type="http://schemas.openxmlformats.org/officeDocument/2006/relationships/image" Target="../media/image1090.png"/><Relationship Id="rId5" Type="http://schemas.openxmlformats.org/officeDocument/2006/relationships/image" Target="../media/image1040.png"/><Relationship Id="rId15" Type="http://schemas.openxmlformats.org/officeDocument/2006/relationships/image" Target="../media/image1120.png"/><Relationship Id="rId4" Type="http://schemas.openxmlformats.org/officeDocument/2006/relationships/image" Target="../media/image133.png"/><Relationship Id="rId9" Type="http://schemas.openxmlformats.org/officeDocument/2006/relationships/image" Target="../media/image134.png"/><Relationship Id="rId14" Type="http://schemas.openxmlformats.org/officeDocument/2006/relationships/image" Target="../media/image1110.png"/></Relationships>
</file>

<file path=ppt/slides/_rels/slide12.xml.rels><?xml version="1.0" encoding="UTF-8" standalone="yes"?>
<Relationships xmlns="http://schemas.openxmlformats.org/package/2006/relationships"><Relationship Id="rId13" Type="http://schemas.openxmlformats.org/officeDocument/2006/relationships/image" Target="../media/image51.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NULL"/><Relationship Id="rId5" Type="http://schemas.openxmlformats.org/officeDocument/2006/relationships/image" Target="../media/image46.png"/><Relationship Id="rId10" Type="http://schemas.openxmlformats.org/officeDocument/2006/relationships/image" Target="NULL"/><Relationship Id="rId4" Type="http://schemas.openxmlformats.org/officeDocument/2006/relationships/image" Target="../media/image45.png"/><Relationship Id="rId9"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40.png"/><Relationship Id="rId7" Type="http://schemas.openxmlformats.org/officeDocument/2006/relationships/image" Target="../media/image37.emf"/><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10.png"/><Relationship Id="rId5" Type="http://schemas.openxmlformats.org/officeDocument/2006/relationships/image" Target="../media/image1000.png"/><Relationship Id="rId4" Type="http://schemas.openxmlformats.org/officeDocument/2006/relationships/image" Target="../media/image107.png"/><Relationship Id="rId9" Type="http://schemas.openxmlformats.org/officeDocument/2006/relationships/image" Target="../media/image108.png"/></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5.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61.png"/><Relationship Id="rId10" Type="http://schemas.openxmlformats.org/officeDocument/2006/relationships/image" Target="../media/image56.png"/><Relationship Id="rId4" Type="http://schemas.openxmlformats.org/officeDocument/2006/relationships/image" Target="../media/image1001.png"/><Relationship Id="rId9" Type="http://schemas.openxmlformats.org/officeDocument/2006/relationships/image" Target="../media/image50.png"/><Relationship Id="rId14" Type="http://schemas.openxmlformats.org/officeDocument/2006/relationships/image" Target="../media/image60.png"/></Relationships>
</file>

<file path=ppt/slides/_rels/slide16.xml.rels><?xml version="1.0" encoding="UTF-8" standalone="yes"?>
<Relationships xmlns="http://schemas.openxmlformats.org/package/2006/relationships"><Relationship Id="rId3" Type="http://schemas.openxmlformats.org/officeDocument/2006/relationships/image" Target="../media/image11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160.png"/><Relationship Id="rId5" Type="http://schemas.openxmlformats.org/officeDocument/2006/relationships/image" Target="../media/image1150.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2.tif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3.tiff"/></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66.png"/><Relationship Id="rId12" Type="http://schemas.openxmlformats.org/officeDocument/2006/relationships/image" Target="../media/image65.png"/><Relationship Id="rId2" Type="http://schemas.openxmlformats.org/officeDocument/2006/relationships/notesSlide" Target="../notesSlides/notesSlide19.xml"/><Relationship Id="rId1" Type="http://schemas.openxmlformats.org/officeDocument/2006/relationships/slideLayout" Target="../slideLayouts/slideLayout1.xml"/><Relationship Id="rId11" Type="http://schemas.openxmlformats.org/officeDocument/2006/relationships/image" Target="../media/image18.png"/><Relationship Id="rId10" Type="http://schemas.openxmlformats.org/officeDocument/2006/relationships/image" Target="../media/image15.png"/><Relationship Id="rId9" Type="http://schemas.openxmlformats.org/officeDocument/2006/relationships/image" Target="../media/image64.png"/></Relationships>
</file>

<file path=ppt/slides/_rels/slide20.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NULL"/><Relationship Id="rId7" Type="http://schemas.openxmlformats.org/officeDocument/2006/relationships/image" Target="../media/image1480.png"/><Relationship Id="rId12" Type="http://schemas.openxmlformats.org/officeDocument/2006/relationships/image" Target="../media/image14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media/image1520.png"/><Relationship Id="rId5" Type="http://schemas.openxmlformats.org/officeDocument/2006/relationships/image" Target="NULL"/><Relationship Id="rId10" Type="http://schemas.openxmlformats.org/officeDocument/2006/relationships/image" Target="../media/image159.png"/><Relationship Id="rId4" Type="http://schemas.openxmlformats.org/officeDocument/2006/relationships/image" Target="NULL"/><Relationship Id="rId9" Type="http://schemas.openxmlformats.org/officeDocument/2006/relationships/image" Target="../media/image1500.png"/></Relationships>
</file>

<file path=ppt/slides/_rels/slide21.xml.rels><?xml version="1.0" encoding="UTF-8" standalone="yes"?>
<Relationships xmlns="http://schemas.openxmlformats.org/package/2006/relationships"><Relationship Id="rId8" Type="http://schemas.openxmlformats.org/officeDocument/2006/relationships/image" Target="../media/image1590.png"/><Relationship Id="rId3" Type="http://schemas.openxmlformats.org/officeDocument/2006/relationships/image" Target="../media/image1540.png"/><Relationship Id="rId7" Type="http://schemas.openxmlformats.org/officeDocument/2006/relationships/image" Target="../media/image1580.png"/><Relationship Id="rId12" Type="http://schemas.openxmlformats.org/officeDocument/2006/relationships/image" Target="../media/image160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570.png"/><Relationship Id="rId11" Type="http://schemas.openxmlformats.org/officeDocument/2006/relationships/image" Target="../media/image162.png"/><Relationship Id="rId5" Type="http://schemas.openxmlformats.org/officeDocument/2006/relationships/image" Target="../media/image1560.png"/><Relationship Id="rId10" Type="http://schemas.openxmlformats.org/officeDocument/2006/relationships/image" Target="../media/image161.png"/><Relationship Id="rId4" Type="http://schemas.openxmlformats.org/officeDocument/2006/relationships/image" Target="../media/image1550.png"/><Relationship Id="rId9" Type="http://schemas.openxmlformats.org/officeDocument/2006/relationships/image" Target="../media/image1600.png"/></Relationships>
</file>

<file path=ppt/slides/_rels/slide2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24.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15" Type="http://schemas.openxmlformats.org/officeDocument/2006/relationships/image" Target="../media/image15.png"/><Relationship Id="rId4" Type="http://schemas.openxmlformats.org/officeDocument/2006/relationships/image" Target="NULL"/><Relationship Id="rId14" Type="http://schemas.openxmlformats.org/officeDocument/2006/relationships/image" Target="NUL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73.tiff"/><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63.png"/><Relationship Id="rId3" Type="http://schemas.openxmlformats.org/officeDocument/2006/relationships/image" Target="../media/image610.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NULL"/><Relationship Id="rId15" Type="http://schemas.openxmlformats.org/officeDocument/2006/relationships/image" Target="../media/image15.png"/><Relationship Id="rId10" Type="http://schemas.openxmlformats.org/officeDocument/2006/relationships/image" Target="NULL"/><Relationship Id="rId4" Type="http://schemas.openxmlformats.org/officeDocument/2006/relationships/image" Target="../media/image62.png"/><Relationship Id="rId9" Type="http://schemas.openxmlformats.org/officeDocument/2006/relationships/image" Target="NULL"/><Relationship Id="rId1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74.tiff"/><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75.emf"/></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3" Type="http://schemas.openxmlformats.org/officeDocument/2006/relationships/image" Target="../media/image18.png"/><Relationship Id="rId12" Type="http://schemas.openxmlformats.org/officeDocument/2006/relationships/image" Target="../media/image710.png"/><Relationship Id="rId2" Type="http://schemas.openxmlformats.org/officeDocument/2006/relationships/notesSlide" Target="../notesSlides/notesSlide29.xml"/><Relationship Id="rId1" Type="http://schemas.openxmlformats.org/officeDocument/2006/relationships/slideLayout" Target="../slideLayouts/slideLayout1.xml"/><Relationship Id="rId11" Type="http://schemas.openxmlformats.org/officeDocument/2006/relationships/image" Target="../media/image700.png"/><Relationship Id="rId5" Type="http://schemas.openxmlformats.org/officeDocument/2006/relationships/image" Target="NULL"/><Relationship Id="rId15" Type="http://schemas.openxmlformats.org/officeDocument/2006/relationships/image" Target="../media/image73.png"/><Relationship Id="rId10" Type="http://schemas.openxmlformats.org/officeDocument/2006/relationships/image" Target="NULL"/><Relationship Id="rId4" Type="http://schemas.openxmlformats.org/officeDocument/2006/relationships/image" Target="NULL"/><Relationship Id="rId14" Type="http://schemas.openxmlformats.org/officeDocument/2006/relationships/image" Target="../media/image720.png"/></Relationships>
</file>

<file path=ppt/slides/_rels/slide31.xml.rels><?xml version="1.0" encoding="UTF-8" standalone="yes"?>
<Relationships xmlns="http://schemas.openxmlformats.org/package/2006/relationships"><Relationship Id="rId18" Type="http://schemas.openxmlformats.org/officeDocument/2006/relationships/image" Target="../media/image18.png"/><Relationship Id="rId17" Type="http://schemas.openxmlformats.org/officeDocument/2006/relationships/image" Target="NULL"/><Relationship Id="rId2" Type="http://schemas.openxmlformats.org/officeDocument/2006/relationships/notesSlide" Target="../notesSlides/notesSlide30.xml"/><Relationship Id="rId16" Type="http://schemas.openxmlformats.org/officeDocument/2006/relationships/image" Target="NULL"/><Relationship Id="rId20" Type="http://schemas.openxmlformats.org/officeDocument/2006/relationships/image" Target="../media/image75.png"/><Relationship Id="rId1" Type="http://schemas.openxmlformats.org/officeDocument/2006/relationships/slideLayout" Target="../slideLayouts/slideLayout1.xml"/><Relationship Id="rId5" Type="http://schemas.openxmlformats.org/officeDocument/2006/relationships/image" Target="NULL"/><Relationship Id="rId10" Type="http://schemas.openxmlformats.org/officeDocument/2006/relationships/image" Target="NULL"/><Relationship Id="rId19" Type="http://schemas.openxmlformats.org/officeDocument/2006/relationships/image" Target="../media/image74.png"/><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1.xml"/><Relationship Id="rId20" Type="http://schemas.openxmlformats.org/officeDocument/2006/relationships/image" Target="../media/image770.png"/><Relationship Id="rId1" Type="http://schemas.openxmlformats.org/officeDocument/2006/relationships/slideLayout" Target="../slideLayouts/slideLayout1.xml"/><Relationship Id="rId11" Type="http://schemas.openxmlformats.org/officeDocument/2006/relationships/image" Target="../media/image18.png"/><Relationship Id="rId10" Type="http://schemas.openxmlformats.org/officeDocument/2006/relationships/image" Target="NULL"/></Relationships>
</file>

<file path=ppt/slides/_rels/slide33.xml.rels><?xml version="1.0" encoding="UTF-8" standalone="yes"?>
<Relationships xmlns="http://schemas.openxmlformats.org/package/2006/relationships"><Relationship Id="rId18" Type="http://schemas.openxmlformats.org/officeDocument/2006/relationships/image" Target="../media/image18.png"/><Relationship Id="rId17" Type="http://schemas.openxmlformats.org/officeDocument/2006/relationships/image" Target="NULL"/><Relationship Id="rId2" Type="http://schemas.openxmlformats.org/officeDocument/2006/relationships/notesSlide" Target="../notesSlides/notesSlide32.xml"/><Relationship Id="rId16" Type="http://schemas.openxmlformats.org/officeDocument/2006/relationships/image" Target="NULL"/><Relationship Id="rId20" Type="http://schemas.openxmlformats.org/officeDocument/2006/relationships/image" Target="../media/image760.png"/><Relationship Id="rId1" Type="http://schemas.openxmlformats.org/officeDocument/2006/relationships/slideLayout" Target="../slideLayouts/slideLayout1.xml"/><Relationship Id="rId19" Type="http://schemas.openxmlformats.org/officeDocument/2006/relationships/image" Target="../media/image78.png"/></Relationships>
</file>

<file path=ppt/slides/_rels/slide34.xml.rels><?xml version="1.0" encoding="UTF-8" standalone="yes"?>
<Relationships xmlns="http://schemas.openxmlformats.org/package/2006/relationships"><Relationship Id="rId8" Type="http://schemas.openxmlformats.org/officeDocument/2006/relationships/image" Target="NULL"/><Relationship Id="rId18" Type="http://schemas.openxmlformats.org/officeDocument/2006/relationships/image" Target="../media/image79.png"/><Relationship Id="rId21" Type="http://schemas.openxmlformats.org/officeDocument/2006/relationships/image" Target="../media/image15.png"/><Relationship Id="rId7" Type="http://schemas.openxmlformats.org/officeDocument/2006/relationships/image" Target="NULL"/><Relationship Id="rId2" Type="http://schemas.openxmlformats.org/officeDocument/2006/relationships/notesSlide" Target="../notesSlides/notesSlide33.xml"/><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NULL"/><Relationship Id="rId15" Type="http://schemas.openxmlformats.org/officeDocument/2006/relationships/image" Target="NULL"/><Relationship Id="rId19" Type="http://schemas.openxmlformats.org/officeDocument/2006/relationships/image" Target="../media/image73.tiff"/><Relationship Id="rId9" Type="http://schemas.openxmlformats.org/officeDocument/2006/relationships/image" Target="NULL"/></Relationships>
</file>

<file path=ppt/slides/_rels/slide3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4.xml"/><Relationship Id="rId16" Type="http://schemas.openxmlformats.org/officeDocument/2006/relationships/image" Target="../media/image15.png"/><Relationship Id="rId1" Type="http://schemas.openxmlformats.org/officeDocument/2006/relationships/slideLayout" Target="../slideLayouts/slideLayout1.xml"/><Relationship Id="rId11" Type="http://schemas.openxmlformats.org/officeDocument/2006/relationships/image" Target="NULL"/><Relationship Id="rId15" Type="http://schemas.openxmlformats.org/officeDocument/2006/relationships/image" Target="../media/image18.png"/><Relationship Id="rId10"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36.xml.rels><?xml version="1.0" encoding="UTF-8" standalone="yes"?>
<Relationships xmlns="http://schemas.openxmlformats.org/package/2006/relationships"><Relationship Id="rId8" Type="http://schemas.openxmlformats.org/officeDocument/2006/relationships/image" Target="../media/image540.png"/><Relationship Id="rId13" Type="http://schemas.openxmlformats.org/officeDocument/2006/relationships/image" Target="../media/image590.png"/><Relationship Id="rId3" Type="http://schemas.openxmlformats.org/officeDocument/2006/relationships/image" Target="../media/image80.png"/><Relationship Id="rId7" Type="http://schemas.openxmlformats.org/officeDocument/2006/relationships/image" Target="../media/image530.png"/><Relationship Id="rId2" Type="http://schemas.openxmlformats.org/officeDocument/2006/relationships/notesSlide" Target="../notesSlides/notesSlide35.xml"/><Relationship Id="rId16" Type="http://schemas.openxmlformats.org/officeDocument/2006/relationships/image" Target="../media/image15.png"/><Relationship Id="rId1" Type="http://schemas.openxmlformats.org/officeDocument/2006/relationships/slideLayout" Target="../slideLayouts/slideLayout1.xml"/><Relationship Id="rId15" Type="http://schemas.openxmlformats.org/officeDocument/2006/relationships/image" Target="../media/image18.png"/><Relationship Id="rId10" Type="http://schemas.openxmlformats.org/officeDocument/2006/relationships/image" Target="../media/image560.png"/><Relationship Id="rId9" Type="http://schemas.openxmlformats.org/officeDocument/2006/relationships/image" Target="../media/image550.png"/><Relationship Id="rId14" Type="http://schemas.openxmlformats.org/officeDocument/2006/relationships/image" Target="../media/image81.png"/></Relationships>
</file>

<file path=ppt/slides/_rels/slide37.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image" Target="../media/image82.png"/><Relationship Id="rId7" Type="http://schemas.openxmlformats.org/officeDocument/2006/relationships/image" Target="../media/image620.png"/><Relationship Id="rId12" Type="http://schemas.openxmlformats.org/officeDocument/2006/relationships/image" Target="../media/image660.png"/><Relationship Id="rId2" Type="http://schemas.openxmlformats.org/officeDocument/2006/relationships/notesSlide" Target="../notesSlides/notesSlide36.xml"/><Relationship Id="rId1" Type="http://schemas.openxmlformats.org/officeDocument/2006/relationships/slideLayout" Target="../slideLayouts/slideLayout1.xml"/><Relationship Id="rId11" Type="http://schemas.openxmlformats.org/officeDocument/2006/relationships/image" Target="../media/image80.png"/><Relationship Id="rId15" Type="http://schemas.openxmlformats.org/officeDocument/2006/relationships/image" Target="../media/image15.png"/><Relationship Id="rId10" Type="http://schemas.openxmlformats.org/officeDocument/2006/relationships/image" Target="../media/image650.png"/><Relationship Id="rId9" Type="http://schemas.openxmlformats.org/officeDocument/2006/relationships/image" Target="../media/image640.png"/><Relationship Id="rId14" Type="http://schemas.openxmlformats.org/officeDocument/2006/relationships/image" Target="../media/image18.png"/></Relationships>
</file>

<file path=ppt/slides/_rels/slide3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8.png"/><Relationship Id="rId7" Type="http://schemas.openxmlformats.org/officeDocument/2006/relationships/image" Target="../media/image93.png"/><Relationship Id="rId12" Type="http://schemas.openxmlformats.org/officeDocument/2006/relationships/image" Target="../media/image98.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0.png"/><Relationship Id="rId10" Type="http://schemas.openxmlformats.org/officeDocument/2006/relationships/image" Target="../media/image96.png"/><Relationship Id="rId4" Type="http://schemas.openxmlformats.org/officeDocument/2006/relationships/image" Target="../media/image8900.png"/><Relationship Id="rId9" Type="http://schemas.openxmlformats.org/officeDocument/2006/relationships/image" Target="../media/image950.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73.tiff"/><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85.tiff"/><Relationship Id="rId4" Type="http://schemas.openxmlformats.org/officeDocument/2006/relationships/image" Target="../media/image84.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1" y="2746123"/>
            <a:ext cx="12192000" cy="1015663"/>
          </a:xfrm>
          <a:prstGeom prst="rect">
            <a:avLst/>
          </a:prstGeom>
          <a:noFill/>
        </p:spPr>
        <p:txBody>
          <a:bodyPr wrap="square" rtlCol="0">
            <a:spAutoFit/>
          </a:bodyPr>
          <a:lstStyle/>
          <a:p>
            <a:pPr algn="ctr"/>
            <a:r>
              <a:rPr lang="en-US" sz="6000" b="1" dirty="0">
                <a:solidFill>
                  <a:schemeClr val="bg1"/>
                </a:solidFill>
              </a:rPr>
              <a:t>6. Quantum Communications</a:t>
            </a:r>
          </a:p>
        </p:txBody>
      </p:sp>
      <p:sp>
        <p:nvSpPr>
          <p:cNvPr id="9" name="TextBox 8">
            <a:extLst>
              <a:ext uri="{FF2B5EF4-FFF2-40B4-BE49-F238E27FC236}">
                <a16:creationId xmlns:a16="http://schemas.microsoft.com/office/drawing/2014/main" id="{70D75B46-D4A6-6849-84DE-AF65D389F57C}"/>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1E29C641-5E09-FD40-A42F-2ECBB3C0B744}"/>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2986165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F498C97-E0A9-DF42-AA82-A91DB7EFAEB7}"/>
              </a:ext>
            </a:extLst>
          </p:cNvPr>
          <p:cNvPicPr>
            <a:picLocks noChangeAspect="1"/>
          </p:cNvPicPr>
          <p:nvPr/>
        </p:nvPicPr>
        <p:blipFill>
          <a:blip r:embed="rId3">
            <a:alphaModFix amt="34000"/>
          </a:blip>
          <a:stretch>
            <a:fillRect/>
          </a:stretch>
        </p:blipFill>
        <p:spPr>
          <a:xfrm>
            <a:off x="1002338" y="228629"/>
            <a:ext cx="8930279" cy="6264246"/>
          </a:xfrm>
          <a:prstGeom prst="rect">
            <a:avLst/>
          </a:prstGeom>
        </p:spPr>
      </p:pic>
      <p:sp>
        <p:nvSpPr>
          <p:cNvPr id="14" name="Title 13">
            <a:extLst>
              <a:ext uri="{FF2B5EF4-FFF2-40B4-BE49-F238E27FC236}">
                <a16:creationId xmlns:a16="http://schemas.microsoft.com/office/drawing/2014/main" id="{3E641F8E-5C4B-6C45-B067-BF212476D098}"/>
              </a:ext>
            </a:extLst>
          </p:cNvPr>
          <p:cNvSpPr>
            <a:spLocks noGrp="1"/>
          </p:cNvSpPr>
          <p:nvPr>
            <p:ph type="title"/>
          </p:nvPr>
        </p:nvSpPr>
        <p:spPr/>
        <p:txBody>
          <a:bodyPr/>
          <a:lstStyle/>
          <a:p>
            <a:r>
              <a:rPr lang="en-ZA" dirty="0"/>
              <a:t>Conjugate Coding (1968)</a:t>
            </a:r>
            <a:endParaRPr lang="en-US" dirty="0"/>
          </a:p>
        </p:txBody>
      </p:sp>
      <p:sp>
        <p:nvSpPr>
          <p:cNvPr id="5" name="TextBox 4">
            <a:extLst>
              <a:ext uri="{FF2B5EF4-FFF2-40B4-BE49-F238E27FC236}">
                <a16:creationId xmlns:a16="http://schemas.microsoft.com/office/drawing/2014/main" id="{BE852AEC-0EFE-0F40-8031-1C7D7F5C1667}"/>
              </a:ext>
            </a:extLst>
          </p:cNvPr>
          <p:cNvSpPr txBox="1"/>
          <p:nvPr/>
        </p:nvSpPr>
        <p:spPr>
          <a:xfrm>
            <a:off x="9000119" y="4343448"/>
            <a:ext cx="3048335" cy="369332"/>
          </a:xfrm>
          <a:prstGeom prst="rect">
            <a:avLst/>
          </a:prstGeom>
          <a:noFill/>
        </p:spPr>
        <p:txBody>
          <a:bodyPr wrap="none" rtlCol="0">
            <a:spAutoFit/>
          </a:bodyPr>
          <a:lstStyle/>
          <a:p>
            <a:r>
              <a:rPr lang="en-ZA" dirty="0"/>
              <a:t>Stephen Wiesner</a:t>
            </a:r>
            <a:r>
              <a:rPr lang="sr-Latn-RS" dirty="0"/>
              <a:t> (1942-2021)</a:t>
            </a:r>
            <a:r>
              <a:rPr lang="en-ZA" dirty="0"/>
              <a:t> </a:t>
            </a:r>
            <a:endParaRPr lang="en-US" dirty="0"/>
          </a:p>
        </p:txBody>
      </p:sp>
      <p:pic>
        <p:nvPicPr>
          <p:cNvPr id="2" name="Picture 1">
            <a:extLst>
              <a:ext uri="{FF2B5EF4-FFF2-40B4-BE49-F238E27FC236}">
                <a16:creationId xmlns:a16="http://schemas.microsoft.com/office/drawing/2014/main" id="{864841CA-B26D-3146-8772-0319E03BEE26}"/>
              </a:ext>
            </a:extLst>
          </p:cNvPr>
          <p:cNvPicPr>
            <a:picLocks noChangeAspect="1"/>
          </p:cNvPicPr>
          <p:nvPr/>
        </p:nvPicPr>
        <p:blipFill>
          <a:blip r:embed="rId4"/>
          <a:stretch>
            <a:fillRect/>
          </a:stretch>
        </p:blipFill>
        <p:spPr>
          <a:xfrm>
            <a:off x="8858488" y="767956"/>
            <a:ext cx="3189966" cy="3461178"/>
          </a:xfrm>
          <a:prstGeom prst="rect">
            <a:avLst/>
          </a:prstGeom>
        </p:spPr>
      </p:pic>
      <p:sp>
        <p:nvSpPr>
          <p:cNvPr id="8" name="TextBox 7">
            <a:extLst>
              <a:ext uri="{FF2B5EF4-FFF2-40B4-BE49-F238E27FC236}">
                <a16:creationId xmlns:a16="http://schemas.microsoft.com/office/drawing/2014/main" id="{3428663F-2883-6E4B-8D56-44A2A5BEE834}"/>
              </a:ext>
            </a:extLst>
          </p:cNvPr>
          <p:cNvSpPr txBox="1"/>
          <p:nvPr/>
        </p:nvSpPr>
        <p:spPr>
          <a:xfrm>
            <a:off x="133343" y="5826757"/>
            <a:ext cx="5453737" cy="400110"/>
          </a:xfrm>
          <a:prstGeom prst="rect">
            <a:avLst/>
          </a:prstGeom>
          <a:noFill/>
        </p:spPr>
        <p:txBody>
          <a:bodyPr wrap="none" rtlCol="0">
            <a:spAutoFit/>
          </a:bodyPr>
          <a:lstStyle/>
          <a:p>
            <a:r>
              <a:rPr lang="en-ZA" sz="2000" dirty="0"/>
              <a:t>Wiesner’s original illustration of conjugate coding.</a:t>
            </a:r>
            <a:endParaRPr lang="en-US" sz="2000" dirty="0"/>
          </a:p>
        </p:txBody>
      </p:sp>
      <p:sp>
        <p:nvSpPr>
          <p:cNvPr id="9" name="TextBox 8">
            <a:extLst>
              <a:ext uri="{FF2B5EF4-FFF2-40B4-BE49-F238E27FC236}">
                <a16:creationId xmlns:a16="http://schemas.microsoft.com/office/drawing/2014/main" id="{0EE9B443-FB6B-CA44-8CE7-BFE64940BBE9}"/>
              </a:ext>
            </a:extLst>
          </p:cNvPr>
          <p:cNvSpPr txBox="1"/>
          <p:nvPr/>
        </p:nvSpPr>
        <p:spPr>
          <a:xfrm>
            <a:off x="133343" y="6226867"/>
            <a:ext cx="8725145" cy="646331"/>
          </a:xfrm>
          <a:prstGeom prst="rect">
            <a:avLst/>
          </a:prstGeom>
          <a:noFill/>
        </p:spPr>
        <p:txBody>
          <a:bodyPr wrap="none" rtlCol="0">
            <a:spAutoFit/>
          </a:bodyPr>
          <a:lstStyle/>
          <a:p>
            <a:pPr algn="just"/>
            <a:r>
              <a:rPr lang="en-ZA" dirty="0"/>
              <a:t>Reference:</a:t>
            </a:r>
          </a:p>
          <a:p>
            <a:r>
              <a:rPr lang="en-ZA" dirty="0"/>
              <a:t>Stephen Wiesner. 1983. Conjugate coding. SIGACT News 15, 1 (Winter-Spring 1983), 78–88.</a:t>
            </a:r>
          </a:p>
        </p:txBody>
      </p:sp>
    </p:spTree>
    <p:extLst>
      <p:ext uri="{BB962C8B-B14F-4D97-AF65-F5344CB8AC3E}">
        <p14:creationId xmlns:p14="http://schemas.microsoft.com/office/powerpoint/2010/main" val="289260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ounded Rectangle 61">
            <a:extLst>
              <a:ext uri="{FF2B5EF4-FFF2-40B4-BE49-F238E27FC236}">
                <a16:creationId xmlns:a16="http://schemas.microsoft.com/office/drawing/2014/main" id="{31161049-DDA1-BD4C-B23C-69723AD83557}"/>
              </a:ext>
            </a:extLst>
          </p:cNvPr>
          <p:cNvSpPr/>
          <p:nvPr/>
        </p:nvSpPr>
        <p:spPr>
          <a:xfrm>
            <a:off x="647029" y="5542310"/>
            <a:ext cx="3900124" cy="10762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3D5CCE21-CD49-2142-AA5F-D3BF88A4AE97}"/>
              </a:ext>
            </a:extLst>
          </p:cNvPr>
          <p:cNvSpPr>
            <a:spLocks noGrp="1"/>
          </p:cNvSpPr>
          <p:nvPr>
            <p:ph type="sldNum" sz="quarter" idx="12"/>
          </p:nvPr>
        </p:nvSpPr>
        <p:spPr/>
        <p:txBody>
          <a:bodyPr/>
          <a:lstStyle/>
          <a:p>
            <a:fld id="{591A223C-FA10-BC46-A853-03BA373D023C}" type="slidenum">
              <a:rPr lang="en-US" smtClean="0"/>
              <a:t>3</a:t>
            </a:fld>
            <a:endParaRPr lang="en-US"/>
          </a:p>
        </p:txBody>
      </p:sp>
      <p:sp>
        <p:nvSpPr>
          <p:cNvPr id="8" name="Title 7">
            <a:extLst>
              <a:ext uri="{FF2B5EF4-FFF2-40B4-BE49-F238E27FC236}">
                <a16:creationId xmlns:a16="http://schemas.microsoft.com/office/drawing/2014/main" id="{14D24D39-88CA-E045-A17C-4BA0009E67B0}"/>
              </a:ext>
            </a:extLst>
          </p:cNvPr>
          <p:cNvSpPr>
            <a:spLocks noGrp="1"/>
          </p:cNvSpPr>
          <p:nvPr>
            <p:ph type="title"/>
          </p:nvPr>
        </p:nvSpPr>
        <p:spPr/>
        <p:txBody>
          <a:bodyPr/>
          <a:lstStyle/>
          <a:p>
            <a:r>
              <a:rPr lang="en-ZA" dirty="0"/>
              <a:t>Photon Polarization in Quantum Communication</a:t>
            </a:r>
            <a:endParaRPr lang="en-US" dirty="0"/>
          </a:p>
        </p:txBody>
      </p:sp>
      <p:pic>
        <p:nvPicPr>
          <p:cNvPr id="18" name="Picture 17">
            <a:extLst>
              <a:ext uri="{FF2B5EF4-FFF2-40B4-BE49-F238E27FC236}">
                <a16:creationId xmlns:a16="http://schemas.microsoft.com/office/drawing/2014/main" id="{3CA281D0-63F3-B144-B0BF-C4F2E4BC5C4C}"/>
              </a:ext>
            </a:extLst>
          </p:cNvPr>
          <p:cNvPicPr>
            <a:picLocks noChangeAspect="1"/>
          </p:cNvPicPr>
          <p:nvPr/>
        </p:nvPicPr>
        <p:blipFill>
          <a:blip r:embed="rId3"/>
          <a:stretch>
            <a:fillRect/>
          </a:stretch>
        </p:blipFill>
        <p:spPr>
          <a:xfrm>
            <a:off x="68156" y="2190842"/>
            <a:ext cx="11983403" cy="1592848"/>
          </a:xfrm>
          <a:prstGeom prst="rect">
            <a:avLst/>
          </a:prstGeom>
        </p:spPr>
      </p:pic>
      <p:sp>
        <p:nvSpPr>
          <p:cNvPr id="19" name="TextBox 18">
            <a:extLst>
              <a:ext uri="{FF2B5EF4-FFF2-40B4-BE49-F238E27FC236}">
                <a16:creationId xmlns:a16="http://schemas.microsoft.com/office/drawing/2014/main" id="{19087D8D-0F0C-AC4D-8EFD-D4150A68E233}"/>
              </a:ext>
            </a:extLst>
          </p:cNvPr>
          <p:cNvSpPr txBox="1"/>
          <p:nvPr/>
        </p:nvSpPr>
        <p:spPr>
          <a:xfrm>
            <a:off x="5247861" y="4193006"/>
            <a:ext cx="2968341" cy="1631216"/>
          </a:xfrm>
          <a:prstGeom prst="rect">
            <a:avLst/>
          </a:prstGeom>
          <a:noFill/>
        </p:spPr>
        <p:txBody>
          <a:bodyPr wrap="square" rtlCol="0">
            <a:spAutoFit/>
          </a:bodyPr>
          <a:lstStyle/>
          <a:p>
            <a:pPr algn="ctr"/>
            <a:r>
              <a:rPr lang="en-US" sz="2000" dirty="0">
                <a:latin typeface="+mj-lt"/>
              </a:rPr>
              <a:t>A polarization filter (polarizer) transmit only the component of the electric field that is aligned with its axis.</a:t>
            </a:r>
          </a:p>
        </p:txBody>
      </p:sp>
      <p:sp>
        <p:nvSpPr>
          <p:cNvPr id="46" name="TextBox 45">
            <a:extLst>
              <a:ext uri="{FF2B5EF4-FFF2-40B4-BE49-F238E27FC236}">
                <a16:creationId xmlns:a16="http://schemas.microsoft.com/office/drawing/2014/main" id="{54044DC0-AAC8-0A4C-9DE4-34360417F4EF}"/>
              </a:ext>
            </a:extLst>
          </p:cNvPr>
          <p:cNvSpPr txBox="1"/>
          <p:nvPr/>
        </p:nvSpPr>
        <p:spPr>
          <a:xfrm>
            <a:off x="6096000" y="1381142"/>
            <a:ext cx="1165447" cy="430887"/>
          </a:xfrm>
          <a:prstGeom prst="rect">
            <a:avLst/>
          </a:prstGeom>
          <a:noFill/>
        </p:spPr>
        <p:txBody>
          <a:bodyPr wrap="none" rtlCol="0">
            <a:spAutoFit/>
          </a:bodyPr>
          <a:lstStyle/>
          <a:p>
            <a:pPr algn="ctr"/>
            <a:r>
              <a:rPr lang="en-ZA" sz="2200" dirty="0">
                <a:latin typeface="+mj-lt"/>
              </a:rPr>
              <a:t>Polarizer</a:t>
            </a:r>
          </a:p>
        </p:txBody>
      </p:sp>
      <p:sp>
        <p:nvSpPr>
          <p:cNvPr id="50" name="TextBox 49">
            <a:extLst>
              <a:ext uri="{FF2B5EF4-FFF2-40B4-BE49-F238E27FC236}">
                <a16:creationId xmlns:a16="http://schemas.microsoft.com/office/drawing/2014/main" id="{9DFC48B4-4549-764F-839B-8C7C9C8AA616}"/>
              </a:ext>
            </a:extLst>
          </p:cNvPr>
          <p:cNvSpPr txBox="1"/>
          <p:nvPr/>
        </p:nvSpPr>
        <p:spPr>
          <a:xfrm>
            <a:off x="1830269" y="1381142"/>
            <a:ext cx="2129750" cy="430887"/>
          </a:xfrm>
          <a:prstGeom prst="rect">
            <a:avLst/>
          </a:prstGeom>
          <a:noFill/>
        </p:spPr>
        <p:txBody>
          <a:bodyPr wrap="none" rtlCol="0">
            <a:spAutoFit/>
          </a:bodyPr>
          <a:lstStyle/>
          <a:p>
            <a:r>
              <a:rPr lang="en-US" sz="2200" dirty="0">
                <a:latin typeface="+mj-lt"/>
              </a:rPr>
              <a:t>Unpolarized light</a:t>
            </a:r>
          </a:p>
        </p:txBody>
      </p:sp>
      <p:sp>
        <p:nvSpPr>
          <p:cNvPr id="53" name="TextBox 52">
            <a:extLst>
              <a:ext uri="{FF2B5EF4-FFF2-40B4-BE49-F238E27FC236}">
                <a16:creationId xmlns:a16="http://schemas.microsoft.com/office/drawing/2014/main" id="{56A48013-845E-294F-9AF7-DD4B7D9E2CB3}"/>
              </a:ext>
            </a:extLst>
          </p:cNvPr>
          <p:cNvSpPr txBox="1"/>
          <p:nvPr/>
        </p:nvSpPr>
        <p:spPr>
          <a:xfrm>
            <a:off x="530914" y="4193006"/>
            <a:ext cx="4716947" cy="1015663"/>
          </a:xfrm>
          <a:prstGeom prst="rect">
            <a:avLst/>
          </a:prstGeom>
          <a:noFill/>
        </p:spPr>
        <p:txBody>
          <a:bodyPr wrap="square" rtlCol="0">
            <a:spAutoFit/>
          </a:bodyPr>
          <a:lstStyle/>
          <a:p>
            <a:pPr algn="ctr"/>
            <a:r>
              <a:rPr lang="en-US" sz="2000" dirty="0">
                <a:latin typeface="+mj-lt"/>
              </a:rPr>
              <a:t>In ordinary light, the electric field oscillates in many random directions in the plane perpendicular to the direction of travel.</a:t>
            </a:r>
          </a:p>
        </p:txBody>
      </p:sp>
      <p:sp>
        <p:nvSpPr>
          <p:cNvPr id="54" name="TextBox 53">
            <a:extLst>
              <a:ext uri="{FF2B5EF4-FFF2-40B4-BE49-F238E27FC236}">
                <a16:creationId xmlns:a16="http://schemas.microsoft.com/office/drawing/2014/main" id="{52DABB45-5C96-F54D-8EA3-9F0D0D42C4CD}"/>
              </a:ext>
            </a:extLst>
          </p:cNvPr>
          <p:cNvSpPr txBox="1"/>
          <p:nvPr/>
        </p:nvSpPr>
        <p:spPr>
          <a:xfrm>
            <a:off x="8224322" y="1381142"/>
            <a:ext cx="2925994" cy="430887"/>
          </a:xfrm>
          <a:prstGeom prst="rect">
            <a:avLst/>
          </a:prstGeom>
          <a:noFill/>
        </p:spPr>
        <p:txBody>
          <a:bodyPr wrap="none" rtlCol="0">
            <a:spAutoFit/>
          </a:bodyPr>
          <a:lstStyle/>
          <a:p>
            <a:r>
              <a:rPr lang="en-US" sz="2200" dirty="0">
                <a:latin typeface="+mj-lt"/>
              </a:rPr>
              <a:t>Polarized single photons</a:t>
            </a:r>
          </a:p>
        </p:txBody>
      </p:sp>
      <p:sp>
        <p:nvSpPr>
          <p:cNvPr id="55" name="TextBox 54">
            <a:extLst>
              <a:ext uri="{FF2B5EF4-FFF2-40B4-BE49-F238E27FC236}">
                <a16:creationId xmlns:a16="http://schemas.microsoft.com/office/drawing/2014/main" id="{B1BF602D-5A1F-DC41-89F6-26B6C6BA0AD4}"/>
              </a:ext>
            </a:extLst>
          </p:cNvPr>
          <p:cNvSpPr txBox="1"/>
          <p:nvPr/>
        </p:nvSpPr>
        <p:spPr>
          <a:xfrm>
            <a:off x="11184545" y="3357227"/>
            <a:ext cx="1007455" cy="430887"/>
          </a:xfrm>
          <a:prstGeom prst="rect">
            <a:avLst/>
          </a:prstGeom>
          <a:noFill/>
        </p:spPr>
        <p:txBody>
          <a:bodyPr wrap="none" rtlCol="0">
            <a:spAutoFit/>
          </a:bodyPr>
          <a:lstStyle/>
          <a:p>
            <a:pPr algn="ctr"/>
            <a:r>
              <a:rPr lang="en-US" sz="2200" dirty="0">
                <a:latin typeface="+mj-lt"/>
              </a:rPr>
              <a:t>photon</a:t>
            </a:r>
          </a:p>
        </p:txBody>
      </p:sp>
      <p:cxnSp>
        <p:nvCxnSpPr>
          <p:cNvPr id="57" name="Straight Connector 56">
            <a:extLst>
              <a:ext uri="{FF2B5EF4-FFF2-40B4-BE49-F238E27FC236}">
                <a16:creationId xmlns:a16="http://schemas.microsoft.com/office/drawing/2014/main" id="{4B55F853-7307-1943-A147-60207F3B0D51}"/>
              </a:ext>
            </a:extLst>
          </p:cNvPr>
          <p:cNvCxnSpPr>
            <a:cxnSpLocks/>
          </p:cNvCxnSpPr>
          <p:nvPr/>
        </p:nvCxnSpPr>
        <p:spPr>
          <a:xfrm>
            <a:off x="812800" y="5831342"/>
            <a:ext cx="1074057" cy="0"/>
          </a:xfrm>
          <a:prstGeom prst="line">
            <a:avLst/>
          </a:prstGeom>
          <a:ln w="50800" cap="rnd">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84F59-048E-2E4C-8806-2EBF5911E7C9}"/>
              </a:ext>
            </a:extLst>
          </p:cNvPr>
          <p:cNvCxnSpPr>
            <a:cxnSpLocks/>
          </p:cNvCxnSpPr>
          <p:nvPr/>
        </p:nvCxnSpPr>
        <p:spPr>
          <a:xfrm>
            <a:off x="812800" y="6300788"/>
            <a:ext cx="1074057" cy="0"/>
          </a:xfrm>
          <a:prstGeom prst="line">
            <a:avLst/>
          </a:prstGeom>
          <a:ln w="50800" cap="rnd">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AD9DB2E-A1A5-2340-837C-0609C8B3EA64}"/>
              </a:ext>
            </a:extLst>
          </p:cNvPr>
          <p:cNvSpPr txBox="1"/>
          <p:nvPr/>
        </p:nvSpPr>
        <p:spPr>
          <a:xfrm>
            <a:off x="2134717" y="5646676"/>
            <a:ext cx="1628972" cy="400110"/>
          </a:xfrm>
          <a:prstGeom prst="rect">
            <a:avLst/>
          </a:prstGeom>
          <a:noFill/>
        </p:spPr>
        <p:txBody>
          <a:bodyPr wrap="none" rtlCol="0">
            <a:spAutoFit/>
          </a:bodyPr>
          <a:lstStyle/>
          <a:p>
            <a:r>
              <a:rPr lang="en-US" sz="2000" dirty="0">
                <a:latin typeface="+mj-lt"/>
              </a:rPr>
              <a:t>Electric field </a:t>
            </a:r>
            <a:r>
              <a:rPr lang="en-US" sz="2000" i="1" dirty="0">
                <a:latin typeface="+mj-lt"/>
              </a:rPr>
              <a:t>E</a:t>
            </a:r>
          </a:p>
        </p:txBody>
      </p:sp>
      <p:sp>
        <p:nvSpPr>
          <p:cNvPr id="61" name="TextBox 60">
            <a:extLst>
              <a:ext uri="{FF2B5EF4-FFF2-40B4-BE49-F238E27FC236}">
                <a16:creationId xmlns:a16="http://schemas.microsoft.com/office/drawing/2014/main" id="{895CCF80-2A54-AF44-9B92-93D5D7E0A3C4}"/>
              </a:ext>
            </a:extLst>
          </p:cNvPr>
          <p:cNvSpPr txBox="1"/>
          <p:nvPr/>
        </p:nvSpPr>
        <p:spPr>
          <a:xfrm>
            <a:off x="2110075" y="6083240"/>
            <a:ext cx="2437077" cy="400110"/>
          </a:xfrm>
          <a:prstGeom prst="rect">
            <a:avLst/>
          </a:prstGeom>
          <a:noFill/>
        </p:spPr>
        <p:txBody>
          <a:bodyPr wrap="none" rtlCol="0">
            <a:spAutoFit/>
          </a:bodyPr>
          <a:lstStyle/>
          <a:p>
            <a:r>
              <a:rPr lang="en-US" sz="2000" dirty="0">
                <a:latin typeface="+mj-lt"/>
              </a:rPr>
              <a:t>Possible direction of </a:t>
            </a:r>
            <a:r>
              <a:rPr lang="en-US" sz="2000" i="1" dirty="0">
                <a:latin typeface="+mj-lt"/>
              </a:rPr>
              <a:t>E</a:t>
            </a:r>
          </a:p>
        </p:txBody>
      </p:sp>
      <p:cxnSp>
        <p:nvCxnSpPr>
          <p:cNvPr id="64" name="Straight Connector 63">
            <a:extLst>
              <a:ext uri="{FF2B5EF4-FFF2-40B4-BE49-F238E27FC236}">
                <a16:creationId xmlns:a16="http://schemas.microsoft.com/office/drawing/2014/main" id="{63073015-4C83-1649-919C-3EEED6D57F58}"/>
              </a:ext>
            </a:extLst>
          </p:cNvPr>
          <p:cNvCxnSpPr>
            <a:cxnSpLocks/>
          </p:cNvCxnSpPr>
          <p:nvPr/>
        </p:nvCxnSpPr>
        <p:spPr>
          <a:xfrm flipV="1">
            <a:off x="6618719" y="2174064"/>
            <a:ext cx="0" cy="17447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3DFD2445-6A80-434E-A3A0-21DF2E07A07A}"/>
              </a:ext>
            </a:extLst>
          </p:cNvPr>
          <p:cNvSpPr txBox="1"/>
          <p:nvPr/>
        </p:nvSpPr>
        <p:spPr>
          <a:xfrm>
            <a:off x="6678723" y="2006176"/>
            <a:ext cx="1274836" cy="369332"/>
          </a:xfrm>
          <a:prstGeom prst="rect">
            <a:avLst/>
          </a:prstGeom>
          <a:noFill/>
        </p:spPr>
        <p:txBody>
          <a:bodyPr wrap="none" rtlCol="0">
            <a:spAutoFit/>
          </a:bodyPr>
          <a:lstStyle/>
          <a:p>
            <a:r>
              <a:rPr lang="en-US" dirty="0">
                <a:latin typeface="+mj-lt"/>
              </a:rPr>
              <a:t>vertical axis</a:t>
            </a:r>
          </a:p>
        </p:txBody>
      </p:sp>
      <p:sp>
        <p:nvSpPr>
          <p:cNvPr id="68" name="TextBox 67">
            <a:extLst>
              <a:ext uri="{FF2B5EF4-FFF2-40B4-BE49-F238E27FC236}">
                <a16:creationId xmlns:a16="http://schemas.microsoft.com/office/drawing/2014/main" id="{9B5E12FC-61BE-5B4B-BD65-9012715A7B66}"/>
              </a:ext>
            </a:extLst>
          </p:cNvPr>
          <p:cNvSpPr txBox="1"/>
          <p:nvPr/>
        </p:nvSpPr>
        <p:spPr>
          <a:xfrm>
            <a:off x="8405919" y="4193006"/>
            <a:ext cx="3117777" cy="1631216"/>
          </a:xfrm>
          <a:prstGeom prst="rect">
            <a:avLst/>
          </a:prstGeom>
          <a:noFill/>
        </p:spPr>
        <p:txBody>
          <a:bodyPr wrap="square" rtlCol="0">
            <a:spAutoFit/>
          </a:bodyPr>
          <a:lstStyle/>
          <a:p>
            <a:pPr algn="ctr"/>
            <a:r>
              <a:rPr lang="en-US" sz="2000" dirty="0">
                <a:latin typeface="+mj-lt"/>
              </a:rPr>
              <a:t>After the polarizer, photons are in well-defined polarization state: their electric field oscillates in a single plain (here: vertical)</a:t>
            </a:r>
          </a:p>
        </p:txBody>
      </p:sp>
    </p:spTree>
    <p:extLst>
      <p:ext uri="{BB962C8B-B14F-4D97-AF65-F5344CB8AC3E}">
        <p14:creationId xmlns:p14="http://schemas.microsoft.com/office/powerpoint/2010/main" val="1560152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DD8BFA1-EB61-C744-810F-06C1C41CD15A}"/>
              </a:ext>
            </a:extLst>
          </p:cNvPr>
          <p:cNvGrpSpPr/>
          <p:nvPr/>
        </p:nvGrpSpPr>
        <p:grpSpPr>
          <a:xfrm>
            <a:off x="-106159" y="1387922"/>
            <a:ext cx="3739337" cy="3906982"/>
            <a:chOff x="-106159" y="1704443"/>
            <a:chExt cx="3739337" cy="3906982"/>
          </a:xfrm>
        </p:grpSpPr>
        <p:grpSp>
          <p:nvGrpSpPr>
            <p:cNvPr id="7" name="Group 6">
              <a:extLst>
                <a:ext uri="{FF2B5EF4-FFF2-40B4-BE49-F238E27FC236}">
                  <a16:creationId xmlns:a16="http://schemas.microsoft.com/office/drawing/2014/main" id="{73F43906-CD89-2049-BB01-0D9BA4E48518}"/>
                </a:ext>
              </a:extLst>
            </p:cNvPr>
            <p:cNvGrpSpPr/>
            <p:nvPr/>
          </p:nvGrpSpPr>
          <p:grpSpPr>
            <a:xfrm>
              <a:off x="-106159" y="1704443"/>
              <a:ext cx="3739337" cy="3906982"/>
              <a:chOff x="-106159" y="1704443"/>
              <a:chExt cx="3739337" cy="3906982"/>
            </a:xfrm>
          </p:grpSpPr>
          <p:sp>
            <p:nvSpPr>
              <p:cNvPr id="4" name="Parallelogram 3">
                <a:extLst>
                  <a:ext uri="{FF2B5EF4-FFF2-40B4-BE49-F238E27FC236}">
                    <a16:creationId xmlns:a16="http://schemas.microsoft.com/office/drawing/2014/main" id="{C0F666BE-B201-B346-BFAC-CDA12FBD3DCC}"/>
                  </a:ext>
                </a:extLst>
              </p:cNvPr>
              <p:cNvSpPr/>
              <p:nvPr/>
            </p:nvSpPr>
            <p:spPr>
              <a:xfrm flipH="1">
                <a:off x="-106159" y="1704443"/>
                <a:ext cx="3739337" cy="3906982"/>
              </a:xfrm>
              <a:prstGeom prst="parallelogram">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859956DA-FB4F-2944-B8A6-81758AB31F5C}"/>
                      </a:ext>
                    </a:extLst>
                  </p:cNvPr>
                  <p:cNvSpPr/>
                  <p:nvPr/>
                </p:nvSpPr>
                <p:spPr>
                  <a:xfrm>
                    <a:off x="1514756" y="4458994"/>
                    <a:ext cx="93044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chemeClr val="tx1"/>
                                  </a:solidFill>
                                  <a:latin typeface="Cambria Math" panose="02040503050406030204" pitchFamily="18" charset="0"/>
                                </a:rPr>
                              </m:ctrlPr>
                            </m:dPr>
                            <m:e>
                              <m:r>
                                <a:rPr lang="en-US" sz="4000" i="1">
                                  <a:solidFill>
                                    <a:schemeClr val="tx1"/>
                                  </a:solidFill>
                                  <a:latin typeface="Cambria Math" panose="02040503050406030204" pitchFamily="18" charset="0"/>
                                </a:rPr>
                                <m:t>0</m:t>
                              </m:r>
                            </m:e>
                          </m:d>
                        </m:oMath>
                      </m:oMathPara>
                    </a14:m>
                    <a:endParaRPr lang="en-US" sz="4000" dirty="0">
                      <a:solidFill>
                        <a:schemeClr val="tx1"/>
                      </a:solidFill>
                    </a:endParaRPr>
                  </a:p>
                </p:txBody>
              </p:sp>
            </mc:Choice>
            <mc:Fallback xmlns="">
              <p:sp>
                <p:nvSpPr>
                  <p:cNvPr id="14" name="Rectangle 13">
                    <a:extLst>
                      <a:ext uri="{FF2B5EF4-FFF2-40B4-BE49-F238E27FC236}">
                        <a16:creationId xmlns:a16="http://schemas.microsoft.com/office/drawing/2014/main" id="{859956DA-FB4F-2944-B8A6-81758AB31F5C}"/>
                      </a:ext>
                    </a:extLst>
                  </p:cNvPr>
                  <p:cNvSpPr>
                    <a:spLocks noRot="1" noChangeAspect="1" noMove="1" noResize="1" noEditPoints="1" noAdjustHandles="1" noChangeArrowheads="1" noChangeShapeType="1" noTextEdit="1"/>
                  </p:cNvSpPr>
                  <p:nvPr/>
                </p:nvSpPr>
                <p:spPr>
                  <a:xfrm>
                    <a:off x="1514756" y="4458994"/>
                    <a:ext cx="930448" cy="707886"/>
                  </a:xfrm>
                  <a:prstGeom prst="rect">
                    <a:avLst/>
                  </a:prstGeom>
                  <a:blipFill>
                    <a:blip r:embed="rId4"/>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63558099-ED3C-F340-9012-D2F884E98144}"/>
                  </a:ext>
                </a:extLst>
              </p:cNvPr>
              <p:cNvPicPr>
                <a:picLocks noChangeAspect="1"/>
              </p:cNvPicPr>
              <p:nvPr/>
            </p:nvPicPr>
            <p:blipFill>
              <a:blip r:embed="rId5"/>
              <a:stretch>
                <a:fillRect/>
              </a:stretch>
            </p:blipFill>
            <p:spPr>
              <a:xfrm>
                <a:off x="183810" y="2314288"/>
                <a:ext cx="2888373" cy="1564535"/>
              </a:xfrm>
              <a:prstGeom prst="rect">
                <a:avLst/>
              </a:prstGeom>
            </p:spPr>
          </p:pic>
          <p:sp>
            <p:nvSpPr>
              <p:cNvPr id="5" name="Oval 4">
                <a:extLst>
                  <a:ext uri="{FF2B5EF4-FFF2-40B4-BE49-F238E27FC236}">
                    <a16:creationId xmlns:a16="http://schemas.microsoft.com/office/drawing/2014/main" id="{8FD25CB4-C7AA-5145-9C38-18F7AD3D6256}"/>
                  </a:ext>
                </a:extLst>
              </p:cNvPr>
              <p:cNvSpPr/>
              <p:nvPr/>
            </p:nvSpPr>
            <p:spPr>
              <a:xfrm>
                <a:off x="228290" y="2342714"/>
                <a:ext cx="360000" cy="360000"/>
              </a:xfrm>
              <a:prstGeom prst="ellipse">
                <a:avLst/>
              </a:prstGeom>
              <a:solidFill>
                <a:schemeClr val="bg1">
                  <a:lumMod val="95000"/>
                </a:schemeClr>
              </a:solidFill>
              <a:ln>
                <a:noFill/>
              </a:ln>
              <a:effectLst>
                <a:glow rad="3302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AE3A4B9-4268-A242-8C38-CF384C871AAC}"/>
                  </a:ext>
                </a:extLst>
              </p:cNvPr>
              <p:cNvSpPr txBox="1"/>
              <p:nvPr/>
            </p:nvSpPr>
            <p:spPr>
              <a:xfrm>
                <a:off x="1362916" y="5131780"/>
                <a:ext cx="1439240" cy="461665"/>
              </a:xfrm>
              <a:prstGeom prst="rect">
                <a:avLst/>
              </a:prstGeom>
              <a:noFill/>
            </p:spPr>
            <p:txBody>
              <a:bodyPr wrap="none" rtlCol="0">
                <a:spAutoFit/>
              </a:bodyPr>
              <a:lstStyle/>
              <a:p>
                <a:r>
                  <a:rPr lang="en-ZA" sz="2400" dirty="0"/>
                  <a:t>horizontal</a:t>
                </a:r>
                <a:endParaRPr lang="en-US" sz="2400" dirty="0"/>
              </a:p>
            </p:txBody>
          </p:sp>
          <p:pic>
            <p:nvPicPr>
              <p:cNvPr id="20" name="Graphic 19">
                <a:extLst>
                  <a:ext uri="{FF2B5EF4-FFF2-40B4-BE49-F238E27FC236}">
                    <a16:creationId xmlns:a16="http://schemas.microsoft.com/office/drawing/2014/main" id="{C0198040-1AC8-C747-BEED-960A9BC560C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6487" y="2413710"/>
                <a:ext cx="634859" cy="634859"/>
              </a:xfrm>
              <a:prstGeom prst="rect">
                <a:avLst/>
              </a:prstGeom>
            </p:spPr>
          </p:pic>
        </p:grpSp>
        <p:cxnSp>
          <p:nvCxnSpPr>
            <p:cNvPr id="33" name="Straight Arrow Connector 32">
              <a:extLst>
                <a:ext uri="{FF2B5EF4-FFF2-40B4-BE49-F238E27FC236}">
                  <a16:creationId xmlns:a16="http://schemas.microsoft.com/office/drawing/2014/main" id="{6125D906-3FE4-A249-A88C-6AA9C8E11C60}"/>
                </a:ext>
              </a:extLst>
            </p:cNvPr>
            <p:cNvCxnSpPr>
              <a:cxnSpLocks/>
            </p:cNvCxnSpPr>
            <p:nvPr/>
          </p:nvCxnSpPr>
          <p:spPr>
            <a:xfrm>
              <a:off x="2444795" y="3730060"/>
              <a:ext cx="591116" cy="0"/>
            </a:xfrm>
            <a:prstGeom prst="straightConnector1">
              <a:avLst/>
            </a:prstGeom>
            <a:ln w="50800" cap="rnd">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4A970E9E-4809-534C-9D05-4E249839651B}"/>
                </a:ext>
              </a:extLst>
            </p:cNvPr>
            <p:cNvSpPr/>
            <p:nvPr/>
          </p:nvSpPr>
          <p:spPr>
            <a:xfrm>
              <a:off x="2469169" y="3469028"/>
              <a:ext cx="527528" cy="527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C3F4477D-F31A-1447-A047-888F2DE7AF16}"/>
              </a:ext>
            </a:extLst>
          </p:cNvPr>
          <p:cNvGrpSpPr/>
          <p:nvPr/>
        </p:nvGrpSpPr>
        <p:grpSpPr>
          <a:xfrm>
            <a:off x="1821243" y="5054422"/>
            <a:ext cx="9269587" cy="1410001"/>
            <a:chOff x="1821243" y="5370943"/>
            <a:chExt cx="9269587" cy="1410001"/>
          </a:xfrm>
        </p:grpSpPr>
        <p:sp>
          <p:nvSpPr>
            <p:cNvPr id="43" name="Down Arrow 42">
              <a:extLst>
                <a:ext uri="{FF2B5EF4-FFF2-40B4-BE49-F238E27FC236}">
                  <a16:creationId xmlns:a16="http://schemas.microsoft.com/office/drawing/2014/main" id="{074024C3-7263-CF4C-A65A-FDD0C85C5383}"/>
                </a:ext>
              </a:extLst>
            </p:cNvPr>
            <p:cNvSpPr/>
            <p:nvPr/>
          </p:nvSpPr>
          <p:spPr>
            <a:xfrm>
              <a:off x="2444795" y="5370943"/>
              <a:ext cx="2223875" cy="830269"/>
            </a:xfrm>
            <a:prstGeom prst="downArrow">
              <a:avLst/>
            </a:prstGeom>
            <a:solidFill>
              <a:schemeClr val="accent5">
                <a:lumMod val="20000"/>
                <a:lumOff val="80000"/>
              </a:schemeClr>
            </a:solidFill>
            <a:ln>
              <a:solidFill>
                <a:schemeClr val="tx1">
                  <a:lumMod val="50000"/>
                  <a:lumOff val="5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a:extLst>
                <a:ext uri="{FF2B5EF4-FFF2-40B4-BE49-F238E27FC236}">
                  <a16:creationId xmlns:a16="http://schemas.microsoft.com/office/drawing/2014/main" id="{80EA9F28-73E0-144C-BE45-42C4A886C7D7}"/>
                </a:ext>
              </a:extLst>
            </p:cNvPr>
            <p:cNvSpPr/>
            <p:nvPr/>
          </p:nvSpPr>
          <p:spPr>
            <a:xfrm>
              <a:off x="8454373" y="5425740"/>
              <a:ext cx="2223875" cy="775472"/>
            </a:xfrm>
            <a:prstGeom prst="downArrow">
              <a:avLst/>
            </a:prstGeom>
            <a:solidFill>
              <a:schemeClr val="accent6">
                <a:lumMod val="20000"/>
                <a:lumOff val="80000"/>
              </a:schemeClr>
            </a:solidFill>
            <a:ln>
              <a:solidFill>
                <a:schemeClr val="tx1">
                  <a:lumMod val="50000"/>
                  <a:lumOff val="50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28AB697-5C6F-864B-9DF5-7677CA4964F7}"/>
                </a:ext>
              </a:extLst>
            </p:cNvPr>
            <p:cNvSpPr/>
            <p:nvPr/>
          </p:nvSpPr>
          <p:spPr>
            <a:xfrm>
              <a:off x="1821243" y="6319279"/>
              <a:ext cx="3578224" cy="461665"/>
            </a:xfrm>
            <a:prstGeom prst="rect">
              <a:avLst/>
            </a:prstGeom>
          </p:spPr>
          <p:txBody>
            <a:bodyPr wrap="none">
              <a:spAutoFit/>
            </a:bodyPr>
            <a:lstStyle/>
            <a:p>
              <a:r>
                <a:rPr lang="en-US" sz="2400" dirty="0">
                  <a:latin typeface="Comic Sans MS" panose="030F0902030302020204" pitchFamily="66" charset="0"/>
                </a:rPr>
                <a:t>standard basis {|0⟩, |1⟩}</a:t>
              </a:r>
              <a:endParaRPr lang="en-US" sz="2400" dirty="0"/>
            </a:p>
          </p:txBody>
        </p:sp>
        <p:sp>
          <p:nvSpPr>
            <p:cNvPr id="45" name="Rectangle 44">
              <a:extLst>
                <a:ext uri="{FF2B5EF4-FFF2-40B4-BE49-F238E27FC236}">
                  <a16:creationId xmlns:a16="http://schemas.microsoft.com/office/drawing/2014/main" id="{440E7FB8-2E18-434F-BCD2-C28EDB06359D}"/>
                </a:ext>
              </a:extLst>
            </p:cNvPr>
            <p:cNvSpPr/>
            <p:nvPr/>
          </p:nvSpPr>
          <p:spPr>
            <a:xfrm>
              <a:off x="7779218" y="6319279"/>
              <a:ext cx="3311612" cy="461665"/>
            </a:xfrm>
            <a:prstGeom prst="rect">
              <a:avLst/>
            </a:prstGeom>
          </p:spPr>
          <p:txBody>
            <a:bodyPr wrap="none">
              <a:spAutoFit/>
            </a:bodyPr>
            <a:lstStyle/>
            <a:p>
              <a:r>
                <a:rPr lang="en-US" sz="2400" dirty="0"/>
                <a:t>diagonal basis: {|+⟩, |–⟩}</a:t>
              </a:r>
            </a:p>
          </p:txBody>
        </p:sp>
      </p:grpSp>
      <p:sp>
        <p:nvSpPr>
          <p:cNvPr id="3" name="Slide Number Placeholder 2">
            <a:extLst>
              <a:ext uri="{FF2B5EF4-FFF2-40B4-BE49-F238E27FC236}">
                <a16:creationId xmlns:a16="http://schemas.microsoft.com/office/drawing/2014/main" id="{3D5CCE21-CD49-2142-AA5F-D3BF88A4AE97}"/>
              </a:ext>
            </a:extLst>
          </p:cNvPr>
          <p:cNvSpPr>
            <a:spLocks noGrp="1"/>
          </p:cNvSpPr>
          <p:nvPr>
            <p:ph type="sldNum" sz="quarter" idx="12"/>
          </p:nvPr>
        </p:nvSpPr>
        <p:spPr/>
        <p:txBody>
          <a:bodyPr/>
          <a:lstStyle/>
          <a:p>
            <a:fld id="{591A223C-FA10-BC46-A853-03BA373D023C}" type="slidenum">
              <a:rPr lang="en-US" smtClean="0"/>
              <a:t>4</a:t>
            </a:fld>
            <a:endParaRPr lang="en-US"/>
          </a:p>
        </p:txBody>
      </p:sp>
      <p:sp>
        <p:nvSpPr>
          <p:cNvPr id="8" name="Title 7">
            <a:extLst>
              <a:ext uri="{FF2B5EF4-FFF2-40B4-BE49-F238E27FC236}">
                <a16:creationId xmlns:a16="http://schemas.microsoft.com/office/drawing/2014/main" id="{14D24D39-88CA-E045-A17C-4BA0009E67B0}"/>
              </a:ext>
            </a:extLst>
          </p:cNvPr>
          <p:cNvSpPr>
            <a:spLocks noGrp="1"/>
          </p:cNvSpPr>
          <p:nvPr>
            <p:ph type="title"/>
          </p:nvPr>
        </p:nvSpPr>
        <p:spPr/>
        <p:txBody>
          <a:bodyPr/>
          <a:lstStyle/>
          <a:p>
            <a:r>
              <a:rPr lang="en-ZA" dirty="0"/>
              <a:t>Qubit Encoding with Photons</a:t>
            </a:r>
            <a:endParaRPr lang="en-US" dirty="0"/>
          </a:p>
        </p:txBody>
      </p:sp>
      <p:grpSp>
        <p:nvGrpSpPr>
          <p:cNvPr id="24" name="Group 23">
            <a:extLst>
              <a:ext uri="{FF2B5EF4-FFF2-40B4-BE49-F238E27FC236}">
                <a16:creationId xmlns:a16="http://schemas.microsoft.com/office/drawing/2014/main" id="{B08C74AD-DB3D-0946-AA2F-68B24E31F92F}"/>
              </a:ext>
            </a:extLst>
          </p:cNvPr>
          <p:cNvGrpSpPr/>
          <p:nvPr/>
        </p:nvGrpSpPr>
        <p:grpSpPr>
          <a:xfrm>
            <a:off x="2801652" y="1387922"/>
            <a:ext cx="3739337" cy="3906982"/>
            <a:chOff x="2801652" y="1704443"/>
            <a:chExt cx="3739337" cy="3906982"/>
          </a:xfrm>
        </p:grpSpPr>
        <p:sp>
          <p:nvSpPr>
            <p:cNvPr id="26" name="Parallelogram 25">
              <a:extLst>
                <a:ext uri="{FF2B5EF4-FFF2-40B4-BE49-F238E27FC236}">
                  <a16:creationId xmlns:a16="http://schemas.microsoft.com/office/drawing/2014/main" id="{B2389575-6FF3-8A43-9067-09790CBDC3E2}"/>
                </a:ext>
              </a:extLst>
            </p:cNvPr>
            <p:cNvSpPr/>
            <p:nvPr/>
          </p:nvSpPr>
          <p:spPr>
            <a:xfrm flipH="1">
              <a:off x="2801652" y="1704443"/>
              <a:ext cx="3739337" cy="3906982"/>
            </a:xfrm>
            <a:prstGeom prst="parallelogram">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5E18BBB-2BDA-3A42-8CE2-1148F7114069}"/>
                    </a:ext>
                  </a:extLst>
                </p:cNvPr>
                <p:cNvSpPr/>
                <p:nvPr/>
              </p:nvSpPr>
              <p:spPr>
                <a:xfrm>
                  <a:off x="4340051" y="4458994"/>
                  <a:ext cx="930447"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chemeClr val="tx1"/>
                                </a:solidFill>
                                <a:latin typeface="Cambria Math" panose="02040503050406030204" pitchFamily="18" charset="0"/>
                              </a:rPr>
                            </m:ctrlPr>
                          </m:dPr>
                          <m:e>
                            <m:r>
                              <a:rPr lang="sr-Latn-RS" sz="4000" b="0" i="1" smtClean="0">
                                <a:solidFill>
                                  <a:schemeClr val="tx1"/>
                                </a:solidFill>
                                <a:latin typeface="Cambria Math" panose="02040503050406030204" pitchFamily="18" charset="0"/>
                              </a:rPr>
                              <m:t>1</m:t>
                            </m:r>
                          </m:e>
                        </m:d>
                      </m:oMath>
                    </m:oMathPara>
                  </a14:m>
                  <a:endParaRPr lang="en-US" sz="4000" dirty="0">
                    <a:solidFill>
                      <a:schemeClr val="tx1"/>
                    </a:solidFill>
                  </a:endParaRPr>
                </a:p>
              </p:txBody>
            </p:sp>
          </mc:Choice>
          <mc:Fallback xmlns="">
            <p:sp>
              <p:nvSpPr>
                <p:cNvPr id="15" name="Rectangle 14">
                  <a:extLst>
                    <a:ext uri="{FF2B5EF4-FFF2-40B4-BE49-F238E27FC236}">
                      <a16:creationId xmlns:a16="http://schemas.microsoft.com/office/drawing/2014/main" id="{75E18BBB-2BDA-3A42-8CE2-1148F7114069}"/>
                    </a:ext>
                  </a:extLst>
                </p:cNvPr>
                <p:cNvSpPr>
                  <a:spLocks noRot="1" noChangeAspect="1" noMove="1" noResize="1" noEditPoints="1" noAdjustHandles="1" noChangeArrowheads="1" noChangeShapeType="1" noTextEdit="1"/>
                </p:cNvSpPr>
                <p:nvPr/>
              </p:nvSpPr>
              <p:spPr>
                <a:xfrm>
                  <a:off x="4340051" y="4458994"/>
                  <a:ext cx="930447" cy="707886"/>
                </a:xfrm>
                <a:prstGeom prst="rect">
                  <a:avLst/>
                </a:prstGeom>
                <a:blipFill>
                  <a:blip r:embed="rId8"/>
                  <a:stretch>
                    <a:fillRect/>
                  </a:stretch>
                </a:blipFill>
              </p:spPr>
              <p:txBody>
                <a:bodyPr/>
                <a:lstStyle/>
                <a:p>
                  <a:r>
                    <a:rPr lang="en-US">
                      <a:noFill/>
                    </a:rPr>
                    <a:t> </a:t>
                  </a:r>
                </a:p>
              </p:txBody>
            </p:sp>
          </mc:Fallback>
        </mc:AlternateContent>
        <p:pic>
          <p:nvPicPr>
            <p:cNvPr id="25" name="Picture 24">
              <a:extLst>
                <a:ext uri="{FF2B5EF4-FFF2-40B4-BE49-F238E27FC236}">
                  <a16:creationId xmlns:a16="http://schemas.microsoft.com/office/drawing/2014/main" id="{CD0B186A-5ED1-8C48-A286-69CD277C1C45}"/>
                </a:ext>
              </a:extLst>
            </p:cNvPr>
            <p:cNvPicPr>
              <a:picLocks noChangeAspect="1"/>
            </p:cNvPicPr>
            <p:nvPr/>
          </p:nvPicPr>
          <p:blipFill>
            <a:blip r:embed="rId9"/>
            <a:stretch>
              <a:fillRect/>
            </a:stretch>
          </p:blipFill>
          <p:spPr>
            <a:xfrm>
              <a:off x="3327984" y="2196556"/>
              <a:ext cx="2350000" cy="1800000"/>
            </a:xfrm>
            <a:prstGeom prst="rect">
              <a:avLst/>
            </a:prstGeom>
          </p:spPr>
        </p:pic>
        <p:sp>
          <p:nvSpPr>
            <p:cNvPr id="34" name="Oval 33">
              <a:extLst>
                <a:ext uri="{FF2B5EF4-FFF2-40B4-BE49-F238E27FC236}">
                  <a16:creationId xmlns:a16="http://schemas.microsoft.com/office/drawing/2014/main" id="{57D3B81B-EC8F-C34A-A331-B2EE307FDBFE}"/>
                </a:ext>
              </a:extLst>
            </p:cNvPr>
            <p:cNvSpPr/>
            <p:nvPr/>
          </p:nvSpPr>
          <p:spPr>
            <a:xfrm>
              <a:off x="3195703" y="2342714"/>
              <a:ext cx="360000" cy="360000"/>
            </a:xfrm>
            <a:prstGeom prst="ellipse">
              <a:avLst/>
            </a:prstGeom>
            <a:solidFill>
              <a:schemeClr val="bg1">
                <a:lumMod val="95000"/>
              </a:schemeClr>
            </a:solidFill>
            <a:ln>
              <a:noFill/>
            </a:ln>
            <a:effectLst>
              <a:glow rad="3302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6FCF742B-F919-0A43-86F1-9AFBE3631D65}"/>
                </a:ext>
              </a:extLst>
            </p:cNvPr>
            <p:cNvSpPr/>
            <p:nvPr/>
          </p:nvSpPr>
          <p:spPr>
            <a:xfrm>
              <a:off x="5360481" y="3371353"/>
              <a:ext cx="527528" cy="527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2AD4D6FE-BC6C-6C49-B035-2790D46826B4}"/>
                </a:ext>
              </a:extLst>
            </p:cNvPr>
            <p:cNvCxnSpPr>
              <a:cxnSpLocks/>
            </p:cNvCxnSpPr>
            <p:nvPr/>
          </p:nvCxnSpPr>
          <p:spPr>
            <a:xfrm>
              <a:off x="5624245" y="3369169"/>
              <a:ext cx="0" cy="529712"/>
            </a:xfrm>
            <a:prstGeom prst="straightConnector1">
              <a:avLst/>
            </a:prstGeom>
            <a:ln w="50800" cap="rnd">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AE9059D-3454-BB48-8400-FF5A49751189}"/>
                </a:ext>
              </a:extLst>
            </p:cNvPr>
            <p:cNvSpPr txBox="1"/>
            <p:nvPr/>
          </p:nvSpPr>
          <p:spPr>
            <a:xfrm>
              <a:off x="4310832" y="5141200"/>
              <a:ext cx="1100814" cy="461665"/>
            </a:xfrm>
            <a:prstGeom prst="rect">
              <a:avLst/>
            </a:prstGeom>
            <a:noFill/>
          </p:spPr>
          <p:txBody>
            <a:bodyPr wrap="none" rtlCol="0">
              <a:spAutoFit/>
            </a:bodyPr>
            <a:lstStyle/>
            <a:p>
              <a:r>
                <a:rPr lang="en-US" sz="2400" dirty="0"/>
                <a:t>vertical</a:t>
              </a:r>
            </a:p>
          </p:txBody>
        </p:sp>
        <p:pic>
          <p:nvPicPr>
            <p:cNvPr id="51" name="Graphic 50">
              <a:extLst>
                <a:ext uri="{FF2B5EF4-FFF2-40B4-BE49-F238E27FC236}">
                  <a16:creationId xmlns:a16="http://schemas.microsoft.com/office/drawing/2014/main" id="{CC247E3B-E0AE-9343-ABA5-34D4FFB275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3421165" y="2418979"/>
              <a:ext cx="634859" cy="634859"/>
            </a:xfrm>
            <a:prstGeom prst="rect">
              <a:avLst/>
            </a:prstGeom>
          </p:spPr>
        </p:pic>
      </p:grpSp>
      <p:grpSp>
        <p:nvGrpSpPr>
          <p:cNvPr id="21" name="Group 20">
            <a:extLst>
              <a:ext uri="{FF2B5EF4-FFF2-40B4-BE49-F238E27FC236}">
                <a16:creationId xmlns:a16="http://schemas.microsoft.com/office/drawing/2014/main" id="{1D0A22D9-C139-6747-9F1C-4FFD765EB676}"/>
              </a:ext>
            </a:extLst>
          </p:cNvPr>
          <p:cNvGrpSpPr/>
          <p:nvPr/>
        </p:nvGrpSpPr>
        <p:grpSpPr>
          <a:xfrm>
            <a:off x="5721699" y="1396108"/>
            <a:ext cx="3739337" cy="3906982"/>
            <a:chOff x="5709463" y="1704443"/>
            <a:chExt cx="3739337" cy="3906982"/>
          </a:xfrm>
        </p:grpSpPr>
        <p:sp>
          <p:nvSpPr>
            <p:cNvPr id="28" name="Parallelogram 27">
              <a:extLst>
                <a:ext uri="{FF2B5EF4-FFF2-40B4-BE49-F238E27FC236}">
                  <a16:creationId xmlns:a16="http://schemas.microsoft.com/office/drawing/2014/main" id="{22E1F05C-294A-6A46-A30E-41B3C20DE2E2}"/>
                </a:ext>
              </a:extLst>
            </p:cNvPr>
            <p:cNvSpPr/>
            <p:nvPr/>
          </p:nvSpPr>
          <p:spPr>
            <a:xfrm flipH="1">
              <a:off x="5709463" y="1704443"/>
              <a:ext cx="3739337" cy="3906982"/>
            </a:xfrm>
            <a:prstGeom prst="parallelogram">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94CD604-28EA-564E-B7F2-F4D5E16A7172}"/>
                    </a:ext>
                  </a:extLst>
                </p:cNvPr>
                <p:cNvSpPr/>
                <p:nvPr/>
              </p:nvSpPr>
              <p:spPr>
                <a:xfrm>
                  <a:off x="7165345" y="4423894"/>
                  <a:ext cx="102983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chemeClr val="tx1"/>
                                </a:solidFill>
                                <a:latin typeface="Cambria Math" panose="02040503050406030204" pitchFamily="18" charset="0"/>
                              </a:rPr>
                            </m:ctrlPr>
                          </m:dPr>
                          <m:e>
                            <m:r>
                              <a:rPr lang="en-US" sz="4000" b="0" i="1" smtClean="0">
                                <a:solidFill>
                                  <a:schemeClr val="tx1"/>
                                </a:solidFill>
                                <a:latin typeface="Cambria Math" panose="02040503050406030204" pitchFamily="18" charset="0"/>
                              </a:rPr>
                              <m:t>+</m:t>
                            </m:r>
                          </m:e>
                        </m:d>
                      </m:oMath>
                    </m:oMathPara>
                  </a14:m>
                  <a:endParaRPr lang="en-US" sz="4000" dirty="0">
                    <a:solidFill>
                      <a:schemeClr val="tx1"/>
                    </a:solidFill>
                  </a:endParaRPr>
                </a:p>
              </p:txBody>
            </p:sp>
          </mc:Choice>
          <mc:Fallback xmlns="">
            <p:sp>
              <p:nvSpPr>
                <p:cNvPr id="16" name="Rectangle 15">
                  <a:extLst>
                    <a:ext uri="{FF2B5EF4-FFF2-40B4-BE49-F238E27FC236}">
                      <a16:creationId xmlns:a16="http://schemas.microsoft.com/office/drawing/2014/main" id="{394CD604-28EA-564E-B7F2-F4D5E16A7172}"/>
                    </a:ext>
                  </a:extLst>
                </p:cNvPr>
                <p:cNvSpPr>
                  <a:spLocks noRot="1" noChangeAspect="1" noMove="1" noResize="1" noEditPoints="1" noAdjustHandles="1" noChangeArrowheads="1" noChangeShapeType="1" noTextEdit="1"/>
                </p:cNvSpPr>
                <p:nvPr/>
              </p:nvSpPr>
              <p:spPr>
                <a:xfrm>
                  <a:off x="7165345" y="4423894"/>
                  <a:ext cx="1029833" cy="707886"/>
                </a:xfrm>
                <a:prstGeom prst="rect">
                  <a:avLst/>
                </a:prstGeom>
                <a:blipFill>
                  <a:blip r:embed="rId10"/>
                  <a:stretch>
                    <a:fillRect/>
                  </a:stretch>
                </a:blipFill>
              </p:spPr>
              <p:txBody>
                <a:bodyPr/>
                <a:lstStyle/>
                <a:p>
                  <a:r>
                    <a:rPr lang="en-US">
                      <a:noFill/>
                    </a:rPr>
                    <a:t> </a:t>
                  </a:r>
                </a:p>
              </p:txBody>
            </p:sp>
          </mc:Fallback>
        </mc:AlternateContent>
        <p:pic>
          <p:nvPicPr>
            <p:cNvPr id="27" name="Picture 26">
              <a:extLst>
                <a:ext uri="{FF2B5EF4-FFF2-40B4-BE49-F238E27FC236}">
                  <a16:creationId xmlns:a16="http://schemas.microsoft.com/office/drawing/2014/main" id="{E84C6353-6A9B-F343-94BA-294AD7129C2D}"/>
                </a:ext>
              </a:extLst>
            </p:cNvPr>
            <p:cNvPicPr>
              <a:picLocks noChangeAspect="1"/>
            </p:cNvPicPr>
            <p:nvPr/>
          </p:nvPicPr>
          <p:blipFill>
            <a:blip r:embed="rId11"/>
            <a:stretch>
              <a:fillRect/>
            </a:stretch>
          </p:blipFill>
          <p:spPr>
            <a:xfrm>
              <a:off x="5933785" y="2294230"/>
              <a:ext cx="2888372" cy="1604651"/>
            </a:xfrm>
            <a:prstGeom prst="rect">
              <a:avLst/>
            </a:prstGeom>
          </p:spPr>
        </p:pic>
        <p:sp>
          <p:nvSpPr>
            <p:cNvPr id="35" name="Oval 34">
              <a:extLst>
                <a:ext uri="{FF2B5EF4-FFF2-40B4-BE49-F238E27FC236}">
                  <a16:creationId xmlns:a16="http://schemas.microsoft.com/office/drawing/2014/main" id="{548A9D4B-0F49-914F-B7D6-024E0E373C3A}"/>
                </a:ext>
              </a:extLst>
            </p:cNvPr>
            <p:cNvSpPr/>
            <p:nvPr/>
          </p:nvSpPr>
          <p:spPr>
            <a:xfrm>
              <a:off x="6054960" y="2342714"/>
              <a:ext cx="360000" cy="360000"/>
            </a:xfrm>
            <a:prstGeom prst="ellipse">
              <a:avLst/>
            </a:prstGeom>
            <a:solidFill>
              <a:schemeClr val="bg1">
                <a:lumMod val="95000"/>
              </a:schemeClr>
            </a:solidFill>
            <a:ln>
              <a:noFill/>
            </a:ln>
            <a:effectLst>
              <a:glow rad="3302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E4BB11B-C595-6649-8258-AF7292226D60}"/>
                </a:ext>
              </a:extLst>
            </p:cNvPr>
            <p:cNvSpPr/>
            <p:nvPr/>
          </p:nvSpPr>
          <p:spPr>
            <a:xfrm>
              <a:off x="8268292" y="3398903"/>
              <a:ext cx="527528" cy="527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E79B541D-6BA1-1742-8A2F-837D0E3FFC6C}"/>
                </a:ext>
              </a:extLst>
            </p:cNvPr>
            <p:cNvCxnSpPr>
              <a:cxnSpLocks/>
            </p:cNvCxnSpPr>
            <p:nvPr/>
          </p:nvCxnSpPr>
          <p:spPr>
            <a:xfrm flipH="1">
              <a:off x="8268292" y="3398903"/>
              <a:ext cx="527528" cy="543995"/>
            </a:xfrm>
            <a:prstGeom prst="straightConnector1">
              <a:avLst/>
            </a:prstGeom>
            <a:ln w="50800" cap="rnd">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36F8D17-903C-BB48-8693-EEB1CFCE2CC1}"/>
                </a:ext>
              </a:extLst>
            </p:cNvPr>
            <p:cNvSpPr txBox="1"/>
            <p:nvPr/>
          </p:nvSpPr>
          <p:spPr>
            <a:xfrm>
              <a:off x="6997545" y="5128492"/>
              <a:ext cx="1471365" cy="461665"/>
            </a:xfrm>
            <a:prstGeom prst="rect">
              <a:avLst/>
            </a:prstGeom>
            <a:noFill/>
          </p:spPr>
          <p:txBody>
            <a:bodyPr wrap="none" rtlCol="0">
              <a:spAutoFit/>
            </a:bodyPr>
            <a:lstStyle/>
            <a:p>
              <a:r>
                <a:rPr lang="en-US" sz="2400" dirty="0"/>
                <a:t>+ diagonal</a:t>
              </a:r>
            </a:p>
          </p:txBody>
        </p:sp>
        <p:pic>
          <p:nvPicPr>
            <p:cNvPr id="22" name="Graphic 21">
              <a:extLst>
                <a:ext uri="{FF2B5EF4-FFF2-40B4-BE49-F238E27FC236}">
                  <a16:creationId xmlns:a16="http://schemas.microsoft.com/office/drawing/2014/main" id="{1C261C96-7269-E24E-BA40-C1B0937C2A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63837" y="2407923"/>
              <a:ext cx="633600" cy="633600"/>
            </a:xfrm>
            <a:prstGeom prst="rect">
              <a:avLst/>
            </a:prstGeom>
          </p:spPr>
        </p:pic>
      </p:grpSp>
      <p:grpSp>
        <p:nvGrpSpPr>
          <p:cNvPr id="30" name="Group 29">
            <a:extLst>
              <a:ext uri="{FF2B5EF4-FFF2-40B4-BE49-F238E27FC236}">
                <a16:creationId xmlns:a16="http://schemas.microsoft.com/office/drawing/2014/main" id="{AD6768A1-0672-7942-AABA-35B15ECF67DB}"/>
              </a:ext>
            </a:extLst>
          </p:cNvPr>
          <p:cNvGrpSpPr/>
          <p:nvPr/>
        </p:nvGrpSpPr>
        <p:grpSpPr>
          <a:xfrm>
            <a:off x="8617274" y="1387922"/>
            <a:ext cx="3739337" cy="3906982"/>
            <a:chOff x="8617274" y="1704443"/>
            <a:chExt cx="3739337" cy="3906982"/>
          </a:xfrm>
        </p:grpSpPr>
        <p:sp>
          <p:nvSpPr>
            <p:cNvPr id="32" name="Parallelogram 31">
              <a:extLst>
                <a:ext uri="{FF2B5EF4-FFF2-40B4-BE49-F238E27FC236}">
                  <a16:creationId xmlns:a16="http://schemas.microsoft.com/office/drawing/2014/main" id="{846D18D9-D70E-FC4A-9E5C-CB71A2F2E366}"/>
                </a:ext>
              </a:extLst>
            </p:cNvPr>
            <p:cNvSpPr/>
            <p:nvPr/>
          </p:nvSpPr>
          <p:spPr>
            <a:xfrm flipH="1">
              <a:off x="8617274" y="1704443"/>
              <a:ext cx="3739337" cy="3906982"/>
            </a:xfrm>
            <a:prstGeom prst="parallelogram">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C408CD80-A17F-A243-8FC3-9063D409FFBB}"/>
                    </a:ext>
                  </a:extLst>
                </p:cNvPr>
                <p:cNvSpPr/>
                <p:nvPr/>
              </p:nvSpPr>
              <p:spPr>
                <a:xfrm>
                  <a:off x="10090025" y="4458994"/>
                  <a:ext cx="1029834"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chemeClr val="tx1"/>
                                </a:solidFill>
                                <a:latin typeface="Cambria Math" panose="02040503050406030204" pitchFamily="18" charset="0"/>
                              </a:rPr>
                            </m:ctrlPr>
                          </m:dPr>
                          <m:e>
                            <m:r>
                              <a:rPr lang="en-US" sz="4000" b="0" i="1" smtClean="0">
                                <a:solidFill>
                                  <a:schemeClr val="tx1"/>
                                </a:solidFill>
                                <a:latin typeface="Cambria Math" panose="02040503050406030204" pitchFamily="18" charset="0"/>
                              </a:rPr>
                              <m:t>−</m:t>
                            </m:r>
                          </m:e>
                        </m:d>
                      </m:oMath>
                    </m:oMathPara>
                  </a14:m>
                  <a:endParaRPr lang="en-US" sz="4000" dirty="0">
                    <a:solidFill>
                      <a:schemeClr val="tx1"/>
                    </a:solidFill>
                  </a:endParaRPr>
                </a:p>
              </p:txBody>
            </p:sp>
          </mc:Choice>
          <mc:Fallback xmlns="">
            <p:sp>
              <p:nvSpPr>
                <p:cNvPr id="23" name="Rectangle 22">
                  <a:extLst>
                    <a:ext uri="{FF2B5EF4-FFF2-40B4-BE49-F238E27FC236}">
                      <a16:creationId xmlns:a16="http://schemas.microsoft.com/office/drawing/2014/main" id="{C408CD80-A17F-A243-8FC3-9063D409FFBB}"/>
                    </a:ext>
                  </a:extLst>
                </p:cNvPr>
                <p:cNvSpPr>
                  <a:spLocks noRot="1" noChangeAspect="1" noMove="1" noResize="1" noEditPoints="1" noAdjustHandles="1" noChangeArrowheads="1" noChangeShapeType="1" noTextEdit="1"/>
                </p:cNvSpPr>
                <p:nvPr/>
              </p:nvSpPr>
              <p:spPr>
                <a:xfrm>
                  <a:off x="10090025" y="4458994"/>
                  <a:ext cx="1029834" cy="707886"/>
                </a:xfrm>
                <a:prstGeom prst="rect">
                  <a:avLst/>
                </a:prstGeom>
                <a:blipFill>
                  <a:blip r:embed="rId14"/>
                  <a:stretch>
                    <a:fillRect/>
                  </a:stretch>
                </a:blipFill>
              </p:spPr>
              <p:txBody>
                <a:bodyPr/>
                <a:lstStyle/>
                <a:p>
                  <a:r>
                    <a:rPr lang="en-US">
                      <a:noFill/>
                    </a:rPr>
                    <a:t> </a:t>
                  </a:r>
                </a:p>
              </p:txBody>
            </p:sp>
          </mc:Fallback>
        </mc:AlternateContent>
        <p:pic>
          <p:nvPicPr>
            <p:cNvPr id="29" name="Picture 28">
              <a:extLst>
                <a:ext uri="{FF2B5EF4-FFF2-40B4-BE49-F238E27FC236}">
                  <a16:creationId xmlns:a16="http://schemas.microsoft.com/office/drawing/2014/main" id="{AAF54476-FD93-954C-A0E8-3752D5D5E492}"/>
                </a:ext>
              </a:extLst>
            </p:cNvPr>
            <p:cNvPicPr>
              <a:picLocks noChangeAspect="1"/>
            </p:cNvPicPr>
            <p:nvPr/>
          </p:nvPicPr>
          <p:blipFill>
            <a:blip r:embed="rId15"/>
            <a:stretch>
              <a:fillRect/>
            </a:stretch>
          </p:blipFill>
          <p:spPr>
            <a:xfrm rot="464666">
              <a:off x="8808549" y="2313037"/>
              <a:ext cx="2916010" cy="1537367"/>
            </a:xfrm>
            <a:prstGeom prst="rect">
              <a:avLst/>
            </a:prstGeom>
          </p:spPr>
        </p:pic>
        <p:sp>
          <p:nvSpPr>
            <p:cNvPr id="36" name="Oval 35">
              <a:extLst>
                <a:ext uri="{FF2B5EF4-FFF2-40B4-BE49-F238E27FC236}">
                  <a16:creationId xmlns:a16="http://schemas.microsoft.com/office/drawing/2014/main" id="{C73FA108-EA2F-C54B-BEE8-6437548E0B70}"/>
                </a:ext>
              </a:extLst>
            </p:cNvPr>
            <p:cNvSpPr/>
            <p:nvPr/>
          </p:nvSpPr>
          <p:spPr>
            <a:xfrm>
              <a:off x="8921109" y="2294230"/>
              <a:ext cx="360000" cy="360000"/>
            </a:xfrm>
            <a:prstGeom prst="ellipse">
              <a:avLst/>
            </a:prstGeom>
            <a:solidFill>
              <a:schemeClr val="bg1">
                <a:lumMod val="95000"/>
              </a:schemeClr>
            </a:solidFill>
            <a:ln>
              <a:noFill/>
            </a:ln>
            <a:effectLst>
              <a:glow rad="3302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4E03654-BFE5-EE45-B79B-8B9387E56D25}"/>
                </a:ext>
              </a:extLst>
            </p:cNvPr>
            <p:cNvGrpSpPr/>
            <p:nvPr/>
          </p:nvGrpSpPr>
          <p:grpSpPr>
            <a:xfrm>
              <a:off x="11176103" y="3409907"/>
              <a:ext cx="551249" cy="532991"/>
              <a:chOff x="11261321" y="3788498"/>
              <a:chExt cx="551249" cy="532991"/>
            </a:xfrm>
          </p:grpSpPr>
          <p:sp>
            <p:nvSpPr>
              <p:cNvPr id="31" name="Rectangle 30">
                <a:extLst>
                  <a:ext uri="{FF2B5EF4-FFF2-40B4-BE49-F238E27FC236}">
                    <a16:creationId xmlns:a16="http://schemas.microsoft.com/office/drawing/2014/main" id="{FEFEA87D-476F-D247-8FC4-4A27F5169DA0}"/>
                  </a:ext>
                </a:extLst>
              </p:cNvPr>
              <p:cNvSpPr/>
              <p:nvPr/>
            </p:nvSpPr>
            <p:spPr>
              <a:xfrm>
                <a:off x="11261321" y="3791229"/>
                <a:ext cx="527528" cy="527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90BC890E-78C1-A44A-B3D4-4AABA76F0825}"/>
                  </a:ext>
                </a:extLst>
              </p:cNvPr>
              <p:cNvCxnSpPr>
                <a:cxnSpLocks/>
              </p:cNvCxnSpPr>
              <p:nvPr/>
            </p:nvCxnSpPr>
            <p:spPr>
              <a:xfrm>
                <a:off x="11261321" y="3788498"/>
                <a:ext cx="551249" cy="532991"/>
              </a:xfrm>
              <a:prstGeom prst="straightConnector1">
                <a:avLst/>
              </a:prstGeom>
              <a:ln w="50800" cap="rnd">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276AD2B2-6357-8F41-9CEB-E6B0BF31B0AD}"/>
                </a:ext>
              </a:extLst>
            </p:cNvPr>
            <p:cNvSpPr txBox="1"/>
            <p:nvPr/>
          </p:nvSpPr>
          <p:spPr>
            <a:xfrm>
              <a:off x="9836737" y="5141200"/>
              <a:ext cx="1471365" cy="461665"/>
            </a:xfrm>
            <a:prstGeom prst="rect">
              <a:avLst/>
            </a:prstGeom>
            <a:noFill/>
          </p:spPr>
          <p:txBody>
            <a:bodyPr wrap="none" rtlCol="0">
              <a:spAutoFit/>
            </a:bodyPr>
            <a:lstStyle/>
            <a:p>
              <a:r>
                <a:rPr lang="en-US" sz="2400" dirty="0"/>
                <a:t>– diagonal</a:t>
              </a:r>
            </a:p>
          </p:txBody>
        </p:sp>
        <p:pic>
          <p:nvPicPr>
            <p:cNvPr id="52" name="Graphic 51">
              <a:extLst>
                <a:ext uri="{FF2B5EF4-FFF2-40B4-BE49-F238E27FC236}">
                  <a16:creationId xmlns:a16="http://schemas.microsoft.com/office/drawing/2014/main" id="{207B26B3-0C77-074F-AEE8-41CB55A6A0B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159576" y="2403613"/>
              <a:ext cx="633600" cy="633600"/>
            </a:xfrm>
            <a:prstGeom prst="rect">
              <a:avLst/>
            </a:prstGeom>
          </p:spPr>
        </p:pic>
      </p:grpSp>
    </p:spTree>
    <p:extLst>
      <p:ext uri="{BB962C8B-B14F-4D97-AF65-F5344CB8AC3E}">
        <p14:creationId xmlns:p14="http://schemas.microsoft.com/office/powerpoint/2010/main" val="271289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linds(horizontal)">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4A5FB0-284E-9144-A4A8-C904F4125532}"/>
              </a:ext>
            </a:extLst>
          </p:cNvPr>
          <p:cNvSpPr>
            <a:spLocks noGrp="1"/>
          </p:cNvSpPr>
          <p:nvPr>
            <p:ph type="title"/>
          </p:nvPr>
        </p:nvSpPr>
        <p:spPr>
          <a:xfrm>
            <a:off x="0" y="0"/>
            <a:ext cx="12192000" cy="928688"/>
          </a:xfrm>
        </p:spPr>
        <p:txBody>
          <a:bodyPr/>
          <a:lstStyle/>
          <a:p>
            <a:r>
              <a:rPr lang="en-ZA" dirty="0"/>
              <a:t>Wiesner’s Conjugate Coding</a:t>
            </a:r>
            <a:endParaRPr lang="en-US" dirty="0"/>
          </a:p>
        </p:txBody>
      </p:sp>
      <p:sp>
        <p:nvSpPr>
          <p:cNvPr id="42" name="Slide Number Placeholder 2">
            <a:extLst>
              <a:ext uri="{FF2B5EF4-FFF2-40B4-BE49-F238E27FC236}">
                <a16:creationId xmlns:a16="http://schemas.microsoft.com/office/drawing/2014/main" id="{45469E18-3064-2141-A3D5-8B905EC64EED}"/>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5</a:t>
            </a:fld>
            <a:endParaRPr lang="en-US"/>
          </a:p>
        </p:txBody>
      </p:sp>
      <p:grpSp>
        <p:nvGrpSpPr>
          <p:cNvPr id="3" name="Group 2">
            <a:extLst>
              <a:ext uri="{FF2B5EF4-FFF2-40B4-BE49-F238E27FC236}">
                <a16:creationId xmlns:a16="http://schemas.microsoft.com/office/drawing/2014/main" id="{E710D64F-2B42-EF4D-826B-B2447CC3657A}"/>
              </a:ext>
            </a:extLst>
          </p:cNvPr>
          <p:cNvGrpSpPr/>
          <p:nvPr/>
        </p:nvGrpSpPr>
        <p:grpSpPr>
          <a:xfrm>
            <a:off x="4161761" y="874217"/>
            <a:ext cx="720000" cy="1276597"/>
            <a:chOff x="4885834" y="1318041"/>
            <a:chExt cx="720000" cy="1276597"/>
          </a:xfrm>
        </p:grpSpPr>
        <p:sp>
          <p:nvSpPr>
            <p:cNvPr id="40" name="Rectangle 3">
              <a:extLst>
                <a:ext uri="{FF2B5EF4-FFF2-40B4-BE49-F238E27FC236}">
                  <a16:creationId xmlns:a16="http://schemas.microsoft.com/office/drawing/2014/main" id="{26486E7D-EB40-5340-B5A6-7471B69F11B2}"/>
                </a:ext>
              </a:extLst>
            </p:cNvPr>
            <p:cNvSpPr/>
            <p:nvPr/>
          </p:nvSpPr>
          <p:spPr>
            <a:xfrm>
              <a:off x="4885834" y="1318041"/>
              <a:ext cx="720000" cy="1276597"/>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4" name="Straight Arrow Connector 43">
              <a:extLst>
                <a:ext uri="{FF2B5EF4-FFF2-40B4-BE49-F238E27FC236}">
                  <a16:creationId xmlns:a16="http://schemas.microsoft.com/office/drawing/2014/main" id="{E4CC271F-594E-8448-AE0F-19B1E95AB8DD}"/>
                </a:ext>
              </a:extLst>
            </p:cNvPr>
            <p:cNvCxnSpPr>
              <a:cxnSpLocks/>
            </p:cNvCxnSpPr>
            <p:nvPr/>
          </p:nvCxnSpPr>
          <p:spPr>
            <a:xfrm flipH="1" flipV="1">
              <a:off x="4947893" y="1822802"/>
              <a:ext cx="554511" cy="267075"/>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pic>
        <p:nvPicPr>
          <p:cNvPr id="64" name="Picture 63">
            <a:extLst>
              <a:ext uri="{FF2B5EF4-FFF2-40B4-BE49-F238E27FC236}">
                <a16:creationId xmlns:a16="http://schemas.microsoft.com/office/drawing/2014/main" id="{801327B6-8884-254B-8669-551219E0653E}"/>
              </a:ext>
            </a:extLst>
          </p:cNvPr>
          <p:cNvPicPr>
            <a:picLocks noChangeAspect="1"/>
          </p:cNvPicPr>
          <p:nvPr/>
        </p:nvPicPr>
        <p:blipFill>
          <a:blip r:embed="rId3"/>
          <a:stretch>
            <a:fillRect/>
          </a:stretch>
        </p:blipFill>
        <p:spPr>
          <a:xfrm>
            <a:off x="10660426" y="2812405"/>
            <a:ext cx="1360844" cy="2015654"/>
          </a:xfrm>
          <a:prstGeom prst="rect">
            <a:avLst/>
          </a:prstGeom>
        </p:spPr>
      </p:pic>
      <p:cxnSp>
        <p:nvCxnSpPr>
          <p:cNvPr id="68" name="Straight Arrow Connector 67">
            <a:extLst>
              <a:ext uri="{FF2B5EF4-FFF2-40B4-BE49-F238E27FC236}">
                <a16:creationId xmlns:a16="http://schemas.microsoft.com/office/drawing/2014/main" id="{4DB45EF8-6ABC-0E4B-97BC-1E259519E16D}"/>
              </a:ext>
            </a:extLst>
          </p:cNvPr>
          <p:cNvCxnSpPr>
            <a:cxnSpLocks/>
          </p:cNvCxnSpPr>
          <p:nvPr/>
        </p:nvCxnSpPr>
        <p:spPr>
          <a:xfrm>
            <a:off x="5419284" y="1646053"/>
            <a:ext cx="900000" cy="0"/>
          </a:xfrm>
          <a:prstGeom prst="straightConnector1">
            <a:avLst/>
          </a:prstGeom>
          <a:ln w="508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001DE20-3A36-754F-8FEF-DFA659F295BB}"/>
                  </a:ext>
                </a:extLst>
              </p:cNvPr>
              <p:cNvSpPr/>
              <p:nvPr/>
            </p:nvSpPr>
            <p:spPr>
              <a:xfrm>
                <a:off x="3466592" y="1206601"/>
                <a:ext cx="58381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i="1" smtClean="0">
                          <a:solidFill>
                            <a:srgbClr val="002060"/>
                          </a:solidFill>
                          <a:latin typeface="Cambria Math" panose="02040503050406030204" pitchFamily="18" charset="0"/>
                          <a:ea typeface="Cambria Math" panose="02040503050406030204" pitchFamily="18" charset="0"/>
                        </a:rPr>
                        <m:t>0</m:t>
                      </m:r>
                    </m:oMath>
                  </m:oMathPara>
                </a14:m>
                <a:endParaRPr lang="en-US" sz="4000" dirty="0"/>
              </a:p>
            </p:txBody>
          </p:sp>
        </mc:Choice>
        <mc:Fallback xmlns="">
          <p:sp>
            <p:nvSpPr>
              <p:cNvPr id="33" name="Rectangle 32">
                <a:extLst>
                  <a:ext uri="{FF2B5EF4-FFF2-40B4-BE49-F238E27FC236}">
                    <a16:creationId xmlns:a16="http://schemas.microsoft.com/office/drawing/2014/main" id="{6001DE20-3A36-754F-8FEF-DFA659F295BB}"/>
                  </a:ext>
                </a:extLst>
              </p:cNvPr>
              <p:cNvSpPr>
                <a:spLocks noRot="1" noChangeAspect="1" noMove="1" noResize="1" noEditPoints="1" noAdjustHandles="1" noChangeArrowheads="1" noChangeShapeType="1" noTextEdit="1"/>
              </p:cNvSpPr>
              <p:nvPr/>
            </p:nvSpPr>
            <p:spPr>
              <a:xfrm>
                <a:off x="3466592" y="1206601"/>
                <a:ext cx="583813" cy="707886"/>
              </a:xfrm>
              <a:prstGeom prst="rect">
                <a:avLst/>
              </a:prstGeom>
              <a:blipFill>
                <a:blip r:embed="rId5"/>
                <a:stretch>
                  <a:fillRect l="-2128" r="-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FC40E178-DD77-5043-91AE-395DEF06C07F}"/>
                  </a:ext>
                </a:extLst>
              </p:cNvPr>
              <p:cNvSpPr/>
              <p:nvPr/>
            </p:nvSpPr>
            <p:spPr>
              <a:xfrm>
                <a:off x="3412171" y="2334631"/>
                <a:ext cx="58381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i="1" smtClean="0">
                          <a:solidFill>
                            <a:srgbClr val="002060"/>
                          </a:solidFill>
                          <a:latin typeface="Cambria Math" panose="02040503050406030204" pitchFamily="18" charset="0"/>
                          <a:ea typeface="Cambria Math" panose="02040503050406030204" pitchFamily="18" charset="0"/>
                        </a:rPr>
                        <m:t>1</m:t>
                      </m:r>
                    </m:oMath>
                  </m:oMathPara>
                </a14:m>
                <a:endParaRPr lang="en-US" sz="4000" dirty="0"/>
              </a:p>
            </p:txBody>
          </p:sp>
        </mc:Choice>
        <mc:Fallback xmlns="">
          <p:sp>
            <p:nvSpPr>
              <p:cNvPr id="34" name="Rectangle 33">
                <a:extLst>
                  <a:ext uri="{FF2B5EF4-FFF2-40B4-BE49-F238E27FC236}">
                    <a16:creationId xmlns:a16="http://schemas.microsoft.com/office/drawing/2014/main" id="{FC40E178-DD77-5043-91AE-395DEF06C07F}"/>
                  </a:ext>
                </a:extLst>
              </p:cNvPr>
              <p:cNvSpPr>
                <a:spLocks noRot="1" noChangeAspect="1" noMove="1" noResize="1" noEditPoints="1" noAdjustHandles="1" noChangeArrowheads="1" noChangeShapeType="1" noTextEdit="1"/>
              </p:cNvSpPr>
              <p:nvPr/>
            </p:nvSpPr>
            <p:spPr>
              <a:xfrm>
                <a:off x="3412171" y="2334631"/>
                <a:ext cx="583813" cy="707886"/>
              </a:xfrm>
              <a:prstGeom prst="rect">
                <a:avLst/>
              </a:prstGeom>
              <a:blipFill>
                <a:blip r:embed="rId6"/>
                <a:stretch>
                  <a:fillRect l="-4255" r="-2128"/>
                </a:stretch>
              </a:blipFill>
            </p:spPr>
            <p:txBody>
              <a:bodyPr/>
              <a:lstStyle/>
              <a:p>
                <a:r>
                  <a:rPr lang="en-US">
                    <a:noFill/>
                  </a:rPr>
                  <a:t> </a:t>
                </a:r>
              </a:p>
            </p:txBody>
          </p:sp>
        </mc:Fallback>
      </mc:AlternateContent>
      <p:sp>
        <p:nvSpPr>
          <p:cNvPr id="35" name="Right Arrow 34">
            <a:extLst>
              <a:ext uri="{FF2B5EF4-FFF2-40B4-BE49-F238E27FC236}">
                <a16:creationId xmlns:a16="http://schemas.microsoft.com/office/drawing/2014/main" id="{AA26B4D2-5C70-E448-A424-60D85E359184}"/>
              </a:ext>
            </a:extLst>
          </p:cNvPr>
          <p:cNvSpPr/>
          <p:nvPr/>
        </p:nvSpPr>
        <p:spPr>
          <a:xfrm>
            <a:off x="6692835" y="1914151"/>
            <a:ext cx="658355" cy="584775"/>
          </a:xfrm>
          <a:prstGeom prst="rightArrow">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9B00B2ED-ABDC-E44A-A1C6-722EE977B0C3}"/>
              </a:ext>
            </a:extLst>
          </p:cNvPr>
          <p:cNvSpPr/>
          <p:nvPr/>
        </p:nvSpPr>
        <p:spPr>
          <a:xfrm>
            <a:off x="1702684" y="1970814"/>
            <a:ext cx="180000" cy="180000"/>
          </a:xfrm>
          <a:prstGeom prst="ellipse">
            <a:avLst/>
          </a:prstGeom>
          <a:solidFill>
            <a:schemeClr val="bg1">
              <a:lumMod val="95000"/>
            </a:schemeClr>
          </a:solidFill>
          <a:ln>
            <a:noFill/>
          </a:ln>
          <a:effectLst>
            <a:glow rad="736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736D2FFD-0140-8349-818D-AC8EED01664B}"/>
              </a:ext>
            </a:extLst>
          </p:cNvPr>
          <p:cNvGrpSpPr/>
          <p:nvPr/>
        </p:nvGrpSpPr>
        <p:grpSpPr>
          <a:xfrm>
            <a:off x="4169578" y="2109148"/>
            <a:ext cx="720000" cy="1276597"/>
            <a:chOff x="7882442" y="378631"/>
            <a:chExt cx="720000" cy="1276597"/>
          </a:xfrm>
        </p:grpSpPr>
        <p:sp>
          <p:nvSpPr>
            <p:cNvPr id="38" name="Rectangle 3">
              <a:extLst>
                <a:ext uri="{FF2B5EF4-FFF2-40B4-BE49-F238E27FC236}">
                  <a16:creationId xmlns:a16="http://schemas.microsoft.com/office/drawing/2014/main" id="{B438937A-80FF-5141-95F2-6BE76BF0ADAE}"/>
                </a:ext>
              </a:extLst>
            </p:cNvPr>
            <p:cNvSpPr/>
            <p:nvPr/>
          </p:nvSpPr>
          <p:spPr>
            <a:xfrm>
              <a:off x="7882442" y="378631"/>
              <a:ext cx="720000" cy="1276597"/>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3" name="Straight Arrow Connector 42">
              <a:extLst>
                <a:ext uri="{FF2B5EF4-FFF2-40B4-BE49-F238E27FC236}">
                  <a16:creationId xmlns:a16="http://schemas.microsoft.com/office/drawing/2014/main" id="{180D3552-0412-BF44-8C13-67979D4A4FD2}"/>
                </a:ext>
              </a:extLst>
            </p:cNvPr>
            <p:cNvCxnSpPr>
              <a:cxnSpLocks/>
            </p:cNvCxnSpPr>
            <p:nvPr/>
          </p:nvCxnSpPr>
          <p:spPr>
            <a:xfrm>
              <a:off x="8203396" y="623530"/>
              <a:ext cx="0" cy="764227"/>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22070DF1-F942-E74B-A72F-7D2382A701D8}"/>
              </a:ext>
            </a:extLst>
          </p:cNvPr>
          <p:cNvGrpSpPr/>
          <p:nvPr/>
        </p:nvGrpSpPr>
        <p:grpSpPr>
          <a:xfrm>
            <a:off x="8098823" y="1625825"/>
            <a:ext cx="720000" cy="1276597"/>
            <a:chOff x="9330701" y="1760204"/>
            <a:chExt cx="720000" cy="1276597"/>
          </a:xfrm>
        </p:grpSpPr>
        <p:sp>
          <p:nvSpPr>
            <p:cNvPr id="58" name="Rectangle 3">
              <a:extLst>
                <a:ext uri="{FF2B5EF4-FFF2-40B4-BE49-F238E27FC236}">
                  <a16:creationId xmlns:a16="http://schemas.microsoft.com/office/drawing/2014/main" id="{DE4439CC-EDE3-314A-9AAD-31E924558BF6}"/>
                </a:ext>
              </a:extLst>
            </p:cNvPr>
            <p:cNvSpPr/>
            <p:nvPr/>
          </p:nvSpPr>
          <p:spPr>
            <a:xfrm>
              <a:off x="9330701" y="1760204"/>
              <a:ext cx="720000" cy="1276597"/>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9" name="Straight Arrow Connector 58">
              <a:extLst>
                <a:ext uri="{FF2B5EF4-FFF2-40B4-BE49-F238E27FC236}">
                  <a16:creationId xmlns:a16="http://schemas.microsoft.com/office/drawing/2014/main" id="{ECACA14D-B5F0-9443-9CED-3CB2199B54B8}"/>
                </a:ext>
              </a:extLst>
            </p:cNvPr>
            <p:cNvCxnSpPr>
              <a:cxnSpLocks/>
            </p:cNvCxnSpPr>
            <p:nvPr/>
          </p:nvCxnSpPr>
          <p:spPr>
            <a:xfrm>
              <a:off x="9651655" y="2005103"/>
              <a:ext cx="0" cy="764227"/>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6D6C5C8-F05E-0F41-8B95-AE925096073E}"/>
                </a:ext>
              </a:extLst>
            </p:cNvPr>
            <p:cNvCxnSpPr>
              <a:cxnSpLocks/>
            </p:cNvCxnSpPr>
            <p:nvPr/>
          </p:nvCxnSpPr>
          <p:spPr>
            <a:xfrm flipH="1" flipV="1">
              <a:off x="9392760" y="2264965"/>
              <a:ext cx="554511" cy="267075"/>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61" name="Straight Arrow Connector 60">
            <a:extLst>
              <a:ext uri="{FF2B5EF4-FFF2-40B4-BE49-F238E27FC236}">
                <a16:creationId xmlns:a16="http://schemas.microsoft.com/office/drawing/2014/main" id="{9F3E1243-0CBE-A445-AB1A-44319E221833}"/>
              </a:ext>
            </a:extLst>
          </p:cNvPr>
          <p:cNvCxnSpPr>
            <a:cxnSpLocks/>
          </p:cNvCxnSpPr>
          <p:nvPr/>
        </p:nvCxnSpPr>
        <p:spPr>
          <a:xfrm rot="16200000">
            <a:off x="5081260" y="2846401"/>
            <a:ext cx="900000" cy="0"/>
          </a:xfrm>
          <a:prstGeom prst="straightConnector1">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5E9CB129-C4CF-E747-A41C-39753DAFD7C3}"/>
                  </a:ext>
                </a:extLst>
              </p:cNvPr>
              <p:cNvSpPr/>
              <p:nvPr/>
            </p:nvSpPr>
            <p:spPr>
              <a:xfrm>
                <a:off x="5334069" y="816283"/>
                <a:ext cx="930062"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rgbClr val="002060"/>
                              </a:solidFill>
                              <a:latin typeface="Cambria Math" panose="02040503050406030204" pitchFamily="18" charset="0"/>
                              <a:ea typeface="Cambria Math" panose="02040503050406030204" pitchFamily="18" charset="0"/>
                            </a:rPr>
                          </m:ctrlPr>
                        </m:dPr>
                        <m:e>
                          <m:r>
                            <a:rPr lang="en-US" sz="4000" i="1">
                              <a:solidFill>
                                <a:srgbClr val="002060"/>
                              </a:solidFill>
                              <a:latin typeface="Cambria Math" panose="02040503050406030204" pitchFamily="18" charset="0"/>
                              <a:ea typeface="Cambria Math" panose="02040503050406030204" pitchFamily="18" charset="0"/>
                            </a:rPr>
                            <m:t>|</m:t>
                          </m:r>
                          <m:r>
                            <a:rPr lang="en-US" sz="4000" b="0" i="1" smtClean="0">
                              <a:solidFill>
                                <a:srgbClr val="002060"/>
                              </a:solidFill>
                              <a:latin typeface="Cambria Math" panose="02040503050406030204" pitchFamily="18" charset="0"/>
                              <a:ea typeface="Cambria Math" panose="02040503050406030204" pitchFamily="18" charset="0"/>
                            </a:rPr>
                            <m:t>0</m:t>
                          </m:r>
                        </m:e>
                      </m:d>
                    </m:oMath>
                  </m:oMathPara>
                </a14:m>
                <a:endParaRPr lang="en-US" sz="4000" dirty="0"/>
              </a:p>
            </p:txBody>
          </p:sp>
        </mc:Choice>
        <mc:Fallback xmlns="">
          <p:sp>
            <p:nvSpPr>
              <p:cNvPr id="62" name="Rectangle 61">
                <a:extLst>
                  <a:ext uri="{FF2B5EF4-FFF2-40B4-BE49-F238E27FC236}">
                    <a16:creationId xmlns:a16="http://schemas.microsoft.com/office/drawing/2014/main" id="{5E9CB129-C4CF-E747-A41C-39753DAFD7C3}"/>
                  </a:ext>
                </a:extLst>
              </p:cNvPr>
              <p:cNvSpPr>
                <a:spLocks noRot="1" noChangeAspect="1" noMove="1" noResize="1" noEditPoints="1" noAdjustHandles="1" noChangeArrowheads="1" noChangeShapeType="1" noTextEdit="1"/>
              </p:cNvSpPr>
              <p:nvPr/>
            </p:nvSpPr>
            <p:spPr>
              <a:xfrm>
                <a:off x="5334069" y="816283"/>
                <a:ext cx="930062" cy="707886"/>
              </a:xfrm>
              <a:prstGeom prst="rect">
                <a:avLst/>
              </a:prstGeom>
              <a:blipFill>
                <a:blip r:embed="rId7"/>
                <a:stretch>
                  <a:fillRect l="-38356" t="-136842" r="-65753" b="-2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115EDE89-0A7C-7446-A02C-D5931BF37A59}"/>
                  </a:ext>
                </a:extLst>
              </p:cNvPr>
              <p:cNvSpPr/>
              <p:nvPr/>
            </p:nvSpPr>
            <p:spPr>
              <a:xfrm>
                <a:off x="5465062" y="2585692"/>
                <a:ext cx="93006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rgbClr val="002060"/>
                              </a:solidFill>
                              <a:latin typeface="Cambria Math" panose="02040503050406030204" pitchFamily="18" charset="0"/>
                              <a:ea typeface="Cambria Math" panose="02040503050406030204" pitchFamily="18" charset="0"/>
                            </a:rPr>
                          </m:ctrlPr>
                        </m:dPr>
                        <m:e>
                          <m:r>
                            <a:rPr lang="en-US" sz="4000" i="1">
                              <a:solidFill>
                                <a:srgbClr val="002060"/>
                              </a:solidFill>
                              <a:latin typeface="Cambria Math" panose="02040503050406030204" pitchFamily="18" charset="0"/>
                              <a:ea typeface="Cambria Math" panose="02040503050406030204" pitchFamily="18" charset="0"/>
                            </a:rPr>
                            <m:t>|</m:t>
                          </m:r>
                          <m:r>
                            <a:rPr lang="en-US" sz="4000" b="0" i="1" smtClean="0">
                              <a:solidFill>
                                <a:srgbClr val="002060"/>
                              </a:solidFill>
                              <a:latin typeface="Cambria Math" panose="02040503050406030204" pitchFamily="18" charset="0"/>
                              <a:ea typeface="Cambria Math" panose="02040503050406030204" pitchFamily="18" charset="0"/>
                            </a:rPr>
                            <m:t>1</m:t>
                          </m:r>
                        </m:e>
                      </m:d>
                    </m:oMath>
                  </m:oMathPara>
                </a14:m>
                <a:endParaRPr lang="en-US" sz="4000" dirty="0"/>
              </a:p>
            </p:txBody>
          </p:sp>
        </mc:Choice>
        <mc:Fallback xmlns="">
          <p:sp>
            <p:nvSpPr>
              <p:cNvPr id="63" name="Rectangle 62">
                <a:extLst>
                  <a:ext uri="{FF2B5EF4-FFF2-40B4-BE49-F238E27FC236}">
                    <a16:creationId xmlns:a16="http://schemas.microsoft.com/office/drawing/2014/main" id="{115EDE89-0A7C-7446-A02C-D5931BF37A59}"/>
                  </a:ext>
                </a:extLst>
              </p:cNvPr>
              <p:cNvSpPr>
                <a:spLocks noRot="1" noChangeAspect="1" noMove="1" noResize="1" noEditPoints="1" noAdjustHandles="1" noChangeArrowheads="1" noChangeShapeType="1" noTextEdit="1"/>
              </p:cNvSpPr>
              <p:nvPr/>
            </p:nvSpPr>
            <p:spPr>
              <a:xfrm>
                <a:off x="5465062" y="2585692"/>
                <a:ext cx="930063" cy="707886"/>
              </a:xfrm>
              <a:prstGeom prst="rect">
                <a:avLst/>
              </a:prstGeom>
              <a:blipFill>
                <a:blip r:embed="rId8"/>
                <a:stretch>
                  <a:fillRect l="-36000" t="-147273" r="-62667" b="-223636"/>
                </a:stretch>
              </a:blipFill>
            </p:spPr>
            <p:txBody>
              <a:bodyPr/>
              <a:lstStyle/>
              <a:p>
                <a:r>
                  <a:rPr lang="en-US">
                    <a:noFill/>
                  </a:rPr>
                  <a:t> </a:t>
                </a:r>
              </a:p>
            </p:txBody>
          </p:sp>
        </mc:Fallback>
      </mc:AlternateContent>
      <p:sp>
        <p:nvSpPr>
          <p:cNvPr id="71" name="Oval 70">
            <a:extLst>
              <a:ext uri="{FF2B5EF4-FFF2-40B4-BE49-F238E27FC236}">
                <a16:creationId xmlns:a16="http://schemas.microsoft.com/office/drawing/2014/main" id="{3E18A1AC-F9EA-3A4A-85DD-5AF4EBE557E8}"/>
              </a:ext>
            </a:extLst>
          </p:cNvPr>
          <p:cNvSpPr/>
          <p:nvPr/>
        </p:nvSpPr>
        <p:spPr>
          <a:xfrm>
            <a:off x="3020357" y="1950090"/>
            <a:ext cx="180000" cy="180000"/>
          </a:xfrm>
          <a:prstGeom prst="ellipse">
            <a:avLst/>
          </a:prstGeom>
          <a:solidFill>
            <a:schemeClr val="bg1">
              <a:lumMod val="95000"/>
            </a:schemeClr>
          </a:solidFill>
          <a:ln>
            <a:noFill/>
          </a:ln>
          <a:effectLst>
            <a:glow rad="736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0A05D4F6-5CE8-664D-BE2E-0738560F29CD}"/>
              </a:ext>
            </a:extLst>
          </p:cNvPr>
          <p:cNvPicPr>
            <a:picLocks noChangeAspect="1"/>
          </p:cNvPicPr>
          <p:nvPr/>
        </p:nvPicPr>
        <p:blipFill>
          <a:blip r:embed="rId9"/>
          <a:stretch>
            <a:fillRect/>
          </a:stretch>
        </p:blipFill>
        <p:spPr>
          <a:xfrm rot="16200000">
            <a:off x="9040960" y="2132558"/>
            <a:ext cx="524348" cy="540000"/>
          </a:xfrm>
          <a:prstGeom prst="rect">
            <a:avLst/>
          </a:prstGeom>
        </p:spPr>
      </p:pic>
      <p:sp>
        <p:nvSpPr>
          <p:cNvPr id="83" name="Rectangle 82">
            <a:extLst>
              <a:ext uri="{FF2B5EF4-FFF2-40B4-BE49-F238E27FC236}">
                <a16:creationId xmlns:a16="http://schemas.microsoft.com/office/drawing/2014/main" id="{F474EC34-4E09-B04E-9F4A-022FDF6EA641}"/>
              </a:ext>
            </a:extLst>
          </p:cNvPr>
          <p:cNvSpPr/>
          <p:nvPr/>
        </p:nvSpPr>
        <p:spPr>
          <a:xfrm>
            <a:off x="9585144" y="2206498"/>
            <a:ext cx="1098378" cy="461665"/>
          </a:xfrm>
          <a:prstGeom prst="rect">
            <a:avLst/>
          </a:prstGeom>
        </p:spPr>
        <p:txBody>
          <a:bodyPr wrap="none">
            <a:spAutoFit/>
          </a:bodyPr>
          <a:lstStyle/>
          <a:p>
            <a:r>
              <a:rPr lang="en-US" sz="2400" dirty="0">
                <a:latin typeface="Comic Sans MS" panose="030F0902030302020204" pitchFamily="66" charset="0"/>
              </a:rPr>
              <a:t>0,1,0…</a:t>
            </a:r>
            <a:endParaRPr lang="en-US" sz="2400" dirty="0"/>
          </a:p>
        </p:txBody>
      </p:sp>
      <p:grpSp>
        <p:nvGrpSpPr>
          <p:cNvPr id="12" name="Group 11">
            <a:extLst>
              <a:ext uri="{FF2B5EF4-FFF2-40B4-BE49-F238E27FC236}">
                <a16:creationId xmlns:a16="http://schemas.microsoft.com/office/drawing/2014/main" id="{5F0BC7A2-5B80-964F-9D98-2C3D90FBC304}"/>
              </a:ext>
            </a:extLst>
          </p:cNvPr>
          <p:cNvGrpSpPr/>
          <p:nvPr/>
        </p:nvGrpSpPr>
        <p:grpSpPr>
          <a:xfrm>
            <a:off x="1716434" y="3779565"/>
            <a:ext cx="8872484" cy="2796395"/>
            <a:chOff x="1716434" y="3779565"/>
            <a:chExt cx="8872484" cy="2796395"/>
          </a:xfrm>
        </p:grpSpPr>
        <p:grpSp>
          <p:nvGrpSpPr>
            <p:cNvPr id="106" name="Group 105">
              <a:extLst>
                <a:ext uri="{FF2B5EF4-FFF2-40B4-BE49-F238E27FC236}">
                  <a16:creationId xmlns:a16="http://schemas.microsoft.com/office/drawing/2014/main" id="{7C447D8A-3C63-1341-9611-61DEA0C377D6}"/>
                </a:ext>
              </a:extLst>
            </p:cNvPr>
            <p:cNvGrpSpPr>
              <a:grpSpLocks noChangeAspect="1"/>
            </p:cNvGrpSpPr>
            <p:nvPr/>
          </p:nvGrpSpPr>
          <p:grpSpPr>
            <a:xfrm>
              <a:off x="4113990" y="4025792"/>
              <a:ext cx="720000" cy="1276597"/>
              <a:chOff x="9574358" y="1963273"/>
              <a:chExt cx="607671" cy="1077432"/>
            </a:xfrm>
          </p:grpSpPr>
          <p:sp>
            <p:nvSpPr>
              <p:cNvPr id="107" name="Rectangle 3">
                <a:extLst>
                  <a:ext uri="{FF2B5EF4-FFF2-40B4-BE49-F238E27FC236}">
                    <a16:creationId xmlns:a16="http://schemas.microsoft.com/office/drawing/2014/main" id="{B1463A15-026D-0C45-95D3-B49C42291115}"/>
                  </a:ext>
                </a:extLst>
              </p:cNvPr>
              <p:cNvSpPr/>
              <p:nvPr/>
            </p:nvSpPr>
            <p:spPr>
              <a:xfrm>
                <a:off x="9574358" y="1963273"/>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08" name="Straight Arrow Connector 107">
                <a:extLst>
                  <a:ext uri="{FF2B5EF4-FFF2-40B4-BE49-F238E27FC236}">
                    <a16:creationId xmlns:a16="http://schemas.microsoft.com/office/drawing/2014/main" id="{4B851B90-1BC5-6249-9EFF-1FA5EE4695AE}"/>
                  </a:ext>
                </a:extLst>
              </p:cNvPr>
              <p:cNvCxnSpPr>
                <a:cxnSpLocks/>
              </p:cNvCxnSpPr>
              <p:nvPr/>
            </p:nvCxnSpPr>
            <p:spPr>
              <a:xfrm flipH="1">
                <a:off x="9667017" y="2301176"/>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B9518FC9-7B9F-0B4B-8214-E27C00A9EE1E}"/>
                </a:ext>
              </a:extLst>
            </p:cNvPr>
            <p:cNvGrpSpPr>
              <a:grpSpLocks noChangeAspect="1"/>
            </p:cNvGrpSpPr>
            <p:nvPr/>
          </p:nvGrpSpPr>
          <p:grpSpPr>
            <a:xfrm>
              <a:off x="4060996" y="5299363"/>
              <a:ext cx="720000" cy="1276597"/>
              <a:chOff x="9574358" y="1963273"/>
              <a:chExt cx="607671" cy="1077432"/>
            </a:xfrm>
          </p:grpSpPr>
          <p:sp>
            <p:nvSpPr>
              <p:cNvPr id="111" name="Rectangle 3">
                <a:extLst>
                  <a:ext uri="{FF2B5EF4-FFF2-40B4-BE49-F238E27FC236}">
                    <a16:creationId xmlns:a16="http://schemas.microsoft.com/office/drawing/2014/main" id="{F9F98A5F-F88A-A646-953A-B779C5CECF3F}"/>
                  </a:ext>
                </a:extLst>
              </p:cNvPr>
              <p:cNvSpPr/>
              <p:nvPr/>
            </p:nvSpPr>
            <p:spPr>
              <a:xfrm>
                <a:off x="9574358" y="1963273"/>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13" name="Straight Arrow Connector 112">
                <a:extLst>
                  <a:ext uri="{FF2B5EF4-FFF2-40B4-BE49-F238E27FC236}">
                    <a16:creationId xmlns:a16="http://schemas.microsoft.com/office/drawing/2014/main" id="{5E2FFF95-0499-524D-B0B0-359F4433EE9A}"/>
                  </a:ext>
                </a:extLst>
              </p:cNvPr>
              <p:cNvCxnSpPr>
                <a:cxnSpLocks/>
              </p:cNvCxnSpPr>
              <p:nvPr/>
            </p:nvCxnSpPr>
            <p:spPr>
              <a:xfrm flipH="1" flipV="1">
                <a:off x="9679061" y="2152856"/>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FAB0FFDA-BFEA-954E-819D-03435B9207EB}"/>
                </a:ext>
              </a:extLst>
            </p:cNvPr>
            <p:cNvGrpSpPr>
              <a:grpSpLocks noChangeAspect="1"/>
            </p:cNvGrpSpPr>
            <p:nvPr/>
          </p:nvGrpSpPr>
          <p:grpSpPr>
            <a:xfrm>
              <a:off x="8098823" y="4765117"/>
              <a:ext cx="720000" cy="1276597"/>
              <a:chOff x="9574358" y="1963273"/>
              <a:chExt cx="607671" cy="1077432"/>
            </a:xfrm>
          </p:grpSpPr>
          <p:sp>
            <p:nvSpPr>
              <p:cNvPr id="48" name="Rectangle 3">
                <a:extLst>
                  <a:ext uri="{FF2B5EF4-FFF2-40B4-BE49-F238E27FC236}">
                    <a16:creationId xmlns:a16="http://schemas.microsoft.com/office/drawing/2014/main" id="{1CB99A91-FD0E-514E-B390-3542948BB98E}"/>
                  </a:ext>
                </a:extLst>
              </p:cNvPr>
              <p:cNvSpPr/>
              <p:nvPr/>
            </p:nvSpPr>
            <p:spPr>
              <a:xfrm>
                <a:off x="9574358" y="1963273"/>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1" name="Straight Arrow Connector 50">
                <a:extLst>
                  <a:ext uri="{FF2B5EF4-FFF2-40B4-BE49-F238E27FC236}">
                    <a16:creationId xmlns:a16="http://schemas.microsoft.com/office/drawing/2014/main" id="{46FAE81E-E653-7B45-80C6-0D4BBEE00075}"/>
                  </a:ext>
                </a:extLst>
              </p:cNvPr>
              <p:cNvCxnSpPr>
                <a:cxnSpLocks/>
              </p:cNvCxnSpPr>
              <p:nvPr/>
            </p:nvCxnSpPr>
            <p:spPr>
              <a:xfrm flipH="1">
                <a:off x="9667017" y="2301176"/>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10EDCB2-792B-8D49-B30C-D5B903E1CED2}"/>
                  </a:ext>
                </a:extLst>
              </p:cNvPr>
              <p:cNvCxnSpPr>
                <a:cxnSpLocks/>
              </p:cNvCxnSpPr>
              <p:nvPr/>
            </p:nvCxnSpPr>
            <p:spPr>
              <a:xfrm flipH="1" flipV="1">
                <a:off x="9679061" y="2152856"/>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9A367FC7-B430-0A4A-A2D8-503097CFEB63}"/>
                </a:ext>
              </a:extLst>
            </p:cNvPr>
            <p:cNvCxnSpPr>
              <a:cxnSpLocks/>
            </p:cNvCxnSpPr>
            <p:nvPr/>
          </p:nvCxnSpPr>
          <p:spPr>
            <a:xfrm>
              <a:off x="2189496" y="3779565"/>
              <a:ext cx="7759167" cy="27555"/>
            </a:xfrm>
            <a:prstGeom prst="line">
              <a:avLst/>
            </a:prstGeom>
            <a:ln w="254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872CEA0B-5325-8242-AE42-13D57F27CC1F}"/>
                </a:ext>
              </a:extLst>
            </p:cNvPr>
            <p:cNvCxnSpPr>
              <a:cxnSpLocks/>
            </p:cNvCxnSpPr>
            <p:nvPr/>
          </p:nvCxnSpPr>
          <p:spPr>
            <a:xfrm>
              <a:off x="5324680" y="4816948"/>
              <a:ext cx="900000" cy="0"/>
            </a:xfrm>
            <a:prstGeom prst="straightConnector1">
              <a:avLst/>
            </a:prstGeom>
            <a:ln w="508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EF409A99-DED0-684A-A78D-62624EF006BA}"/>
                    </a:ext>
                  </a:extLst>
                </p:cNvPr>
                <p:cNvSpPr/>
                <p:nvPr/>
              </p:nvSpPr>
              <p:spPr>
                <a:xfrm>
                  <a:off x="3417069" y="4297432"/>
                  <a:ext cx="58381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i="1" smtClean="0">
                            <a:solidFill>
                              <a:srgbClr val="002060"/>
                            </a:solidFill>
                            <a:latin typeface="Cambria Math" panose="02040503050406030204" pitchFamily="18" charset="0"/>
                            <a:ea typeface="Cambria Math" panose="02040503050406030204" pitchFamily="18" charset="0"/>
                          </a:rPr>
                          <m:t>0</m:t>
                        </m:r>
                      </m:oMath>
                    </m:oMathPara>
                  </a14:m>
                  <a:endParaRPr lang="en-US" sz="4000" dirty="0"/>
                </a:p>
              </p:txBody>
            </p:sp>
          </mc:Choice>
          <mc:Fallback xmlns="">
            <p:sp>
              <p:nvSpPr>
                <p:cNvPr id="88" name="Rectangle 87">
                  <a:extLst>
                    <a:ext uri="{FF2B5EF4-FFF2-40B4-BE49-F238E27FC236}">
                      <a16:creationId xmlns:a16="http://schemas.microsoft.com/office/drawing/2014/main" id="{EF409A99-DED0-684A-A78D-62624EF006BA}"/>
                    </a:ext>
                  </a:extLst>
                </p:cNvPr>
                <p:cNvSpPr>
                  <a:spLocks noRot="1" noChangeAspect="1" noMove="1" noResize="1" noEditPoints="1" noAdjustHandles="1" noChangeArrowheads="1" noChangeShapeType="1" noTextEdit="1"/>
                </p:cNvSpPr>
                <p:nvPr/>
              </p:nvSpPr>
              <p:spPr>
                <a:xfrm>
                  <a:off x="3417069" y="4297432"/>
                  <a:ext cx="583813" cy="707886"/>
                </a:xfrm>
                <a:prstGeom prst="rect">
                  <a:avLst/>
                </a:prstGeom>
                <a:blipFill>
                  <a:blip r:embed="rId10"/>
                  <a:stretch>
                    <a:fillRect l="-2128" r="-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E7CC61DF-0F44-DE4F-8C8D-742AB9627759}"/>
                    </a:ext>
                  </a:extLst>
                </p:cNvPr>
                <p:cNvSpPr/>
                <p:nvPr/>
              </p:nvSpPr>
              <p:spPr>
                <a:xfrm>
                  <a:off x="3362648" y="5425462"/>
                  <a:ext cx="58381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i="1" smtClean="0">
                            <a:solidFill>
                              <a:srgbClr val="002060"/>
                            </a:solidFill>
                            <a:latin typeface="Cambria Math" panose="02040503050406030204" pitchFamily="18" charset="0"/>
                            <a:ea typeface="Cambria Math" panose="02040503050406030204" pitchFamily="18" charset="0"/>
                          </a:rPr>
                          <m:t>1</m:t>
                        </m:r>
                      </m:oMath>
                    </m:oMathPara>
                  </a14:m>
                  <a:endParaRPr lang="en-US" sz="4000" dirty="0"/>
                </a:p>
              </p:txBody>
            </p:sp>
          </mc:Choice>
          <mc:Fallback xmlns="">
            <p:sp>
              <p:nvSpPr>
                <p:cNvPr id="89" name="Rectangle 88">
                  <a:extLst>
                    <a:ext uri="{FF2B5EF4-FFF2-40B4-BE49-F238E27FC236}">
                      <a16:creationId xmlns:a16="http://schemas.microsoft.com/office/drawing/2014/main" id="{E7CC61DF-0F44-DE4F-8C8D-742AB9627759}"/>
                    </a:ext>
                  </a:extLst>
                </p:cNvPr>
                <p:cNvSpPr>
                  <a:spLocks noRot="1" noChangeAspect="1" noMove="1" noResize="1" noEditPoints="1" noAdjustHandles="1" noChangeArrowheads="1" noChangeShapeType="1" noTextEdit="1"/>
                </p:cNvSpPr>
                <p:nvPr/>
              </p:nvSpPr>
              <p:spPr>
                <a:xfrm>
                  <a:off x="3362648" y="5425462"/>
                  <a:ext cx="583813" cy="707886"/>
                </a:xfrm>
                <a:prstGeom prst="rect">
                  <a:avLst/>
                </a:prstGeom>
                <a:blipFill>
                  <a:blip r:embed="rId11"/>
                  <a:stretch>
                    <a:fillRect l="-2128" r="-2128"/>
                  </a:stretch>
                </a:blipFill>
              </p:spPr>
              <p:txBody>
                <a:bodyPr/>
                <a:lstStyle/>
                <a:p>
                  <a:r>
                    <a:rPr lang="en-US">
                      <a:noFill/>
                    </a:rPr>
                    <a:t> </a:t>
                  </a:r>
                </a:p>
              </p:txBody>
            </p:sp>
          </mc:Fallback>
        </mc:AlternateContent>
        <p:sp>
          <p:nvSpPr>
            <p:cNvPr id="90" name="Right Arrow 89">
              <a:extLst>
                <a:ext uri="{FF2B5EF4-FFF2-40B4-BE49-F238E27FC236}">
                  <a16:creationId xmlns:a16="http://schemas.microsoft.com/office/drawing/2014/main" id="{86454C8F-738F-6F4E-BD00-A6391595B731}"/>
                </a:ext>
              </a:extLst>
            </p:cNvPr>
            <p:cNvSpPr/>
            <p:nvPr/>
          </p:nvSpPr>
          <p:spPr>
            <a:xfrm>
              <a:off x="6598231" y="5085046"/>
              <a:ext cx="658355" cy="584775"/>
            </a:xfrm>
            <a:prstGeom prst="rightArrow">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B4BA6322-85DE-1F46-A605-2305D276C457}"/>
                </a:ext>
              </a:extLst>
            </p:cNvPr>
            <p:cNvSpPr/>
            <p:nvPr/>
          </p:nvSpPr>
          <p:spPr>
            <a:xfrm>
              <a:off x="1716434" y="5119363"/>
              <a:ext cx="180000" cy="180000"/>
            </a:xfrm>
            <a:prstGeom prst="ellipse">
              <a:avLst/>
            </a:prstGeom>
            <a:solidFill>
              <a:schemeClr val="bg1">
                <a:lumMod val="95000"/>
              </a:schemeClr>
            </a:solidFill>
            <a:ln>
              <a:noFill/>
            </a:ln>
            <a:effectLst>
              <a:glow rad="736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Arrow Connector 98">
              <a:extLst>
                <a:ext uri="{FF2B5EF4-FFF2-40B4-BE49-F238E27FC236}">
                  <a16:creationId xmlns:a16="http://schemas.microsoft.com/office/drawing/2014/main" id="{F7A62A8B-1C73-EB42-9777-CAFEFED0F312}"/>
                </a:ext>
              </a:extLst>
            </p:cNvPr>
            <p:cNvCxnSpPr>
              <a:cxnSpLocks/>
            </p:cNvCxnSpPr>
            <p:nvPr/>
          </p:nvCxnSpPr>
          <p:spPr>
            <a:xfrm rot="16200000">
              <a:off x="4986656" y="6017296"/>
              <a:ext cx="900000" cy="0"/>
            </a:xfrm>
            <a:prstGeom prst="straightConnector1">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F05EDE3B-E2F0-1D4E-BD94-1D7FAE0B006D}"/>
                    </a:ext>
                  </a:extLst>
                </p:cNvPr>
                <p:cNvSpPr/>
                <p:nvPr/>
              </p:nvSpPr>
              <p:spPr>
                <a:xfrm>
                  <a:off x="5239465" y="3987178"/>
                  <a:ext cx="1143455"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rgbClr val="002060"/>
                                </a:solidFill>
                                <a:latin typeface="Cambria Math" panose="02040503050406030204" pitchFamily="18" charset="0"/>
                                <a:ea typeface="Cambria Math" panose="02040503050406030204" pitchFamily="18" charset="0"/>
                              </a:rPr>
                            </m:ctrlPr>
                          </m:dPr>
                          <m:e>
                            <m:r>
                              <a:rPr lang="en-US" sz="4000" i="1">
                                <a:solidFill>
                                  <a:srgbClr val="002060"/>
                                </a:solidFill>
                                <a:latin typeface="Cambria Math" panose="02040503050406030204" pitchFamily="18" charset="0"/>
                                <a:ea typeface="Cambria Math" panose="02040503050406030204" pitchFamily="18" charset="0"/>
                              </a:rPr>
                              <m:t>|</m:t>
                            </m:r>
                            <m:r>
                              <a:rPr lang="en-US" sz="4000" b="0" i="1" smtClean="0">
                                <a:solidFill>
                                  <a:srgbClr val="002060"/>
                                </a:solidFill>
                                <a:latin typeface="Cambria Math" panose="02040503050406030204" pitchFamily="18" charset="0"/>
                                <a:ea typeface="Cambria Math" panose="02040503050406030204" pitchFamily="18" charset="0"/>
                              </a:rPr>
                              <m:t>+</m:t>
                            </m:r>
                          </m:e>
                        </m:d>
                      </m:oMath>
                    </m:oMathPara>
                  </a14:m>
                  <a:endParaRPr lang="en-US" sz="4000" dirty="0"/>
                </a:p>
              </p:txBody>
            </p:sp>
          </mc:Choice>
          <mc:Fallback xmlns="">
            <p:sp>
              <p:nvSpPr>
                <p:cNvPr id="100" name="Rectangle 99">
                  <a:extLst>
                    <a:ext uri="{FF2B5EF4-FFF2-40B4-BE49-F238E27FC236}">
                      <a16:creationId xmlns:a16="http://schemas.microsoft.com/office/drawing/2014/main" id="{F05EDE3B-E2F0-1D4E-BD94-1D7FAE0B006D}"/>
                    </a:ext>
                  </a:extLst>
                </p:cNvPr>
                <p:cNvSpPr>
                  <a:spLocks noRot="1" noChangeAspect="1" noMove="1" noResize="1" noEditPoints="1" noAdjustHandles="1" noChangeArrowheads="1" noChangeShapeType="1" noTextEdit="1"/>
                </p:cNvSpPr>
                <p:nvPr/>
              </p:nvSpPr>
              <p:spPr>
                <a:xfrm>
                  <a:off x="5239465" y="3987178"/>
                  <a:ext cx="1143455" cy="707886"/>
                </a:xfrm>
                <a:prstGeom prst="rect">
                  <a:avLst/>
                </a:prstGeom>
                <a:blipFill>
                  <a:blip r:embed="rId12"/>
                  <a:stretch>
                    <a:fillRect l="-12088" t="-140351" r="-51648" b="-2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95044C6D-31A6-A14F-8690-62839FACD17A}"/>
                    </a:ext>
                  </a:extLst>
                </p:cNvPr>
                <p:cNvSpPr/>
                <p:nvPr/>
              </p:nvSpPr>
              <p:spPr>
                <a:xfrm>
                  <a:off x="5370458" y="5756587"/>
                  <a:ext cx="1143455"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rgbClr val="002060"/>
                                </a:solidFill>
                                <a:latin typeface="Cambria Math" panose="02040503050406030204" pitchFamily="18" charset="0"/>
                                <a:ea typeface="Cambria Math" panose="02040503050406030204" pitchFamily="18" charset="0"/>
                              </a:rPr>
                            </m:ctrlPr>
                          </m:dPr>
                          <m:e>
                            <m:r>
                              <a:rPr lang="en-US" sz="4000" i="1">
                                <a:solidFill>
                                  <a:srgbClr val="002060"/>
                                </a:solidFill>
                                <a:latin typeface="Cambria Math" panose="02040503050406030204" pitchFamily="18" charset="0"/>
                                <a:ea typeface="Cambria Math" panose="02040503050406030204" pitchFamily="18" charset="0"/>
                              </a:rPr>
                              <m:t>|</m:t>
                            </m:r>
                            <m:r>
                              <a:rPr lang="en-US" sz="4000" b="0" i="1" smtClean="0">
                                <a:solidFill>
                                  <a:srgbClr val="002060"/>
                                </a:solidFill>
                                <a:latin typeface="Cambria Math" panose="02040503050406030204" pitchFamily="18" charset="0"/>
                                <a:ea typeface="Cambria Math" panose="02040503050406030204" pitchFamily="18" charset="0"/>
                              </a:rPr>
                              <m:t>−</m:t>
                            </m:r>
                          </m:e>
                        </m:d>
                      </m:oMath>
                    </m:oMathPara>
                  </a14:m>
                  <a:endParaRPr lang="en-US" sz="4000" dirty="0"/>
                </a:p>
              </p:txBody>
            </p:sp>
          </mc:Choice>
          <mc:Fallback xmlns="">
            <p:sp>
              <p:nvSpPr>
                <p:cNvPr id="101" name="Rectangle 100">
                  <a:extLst>
                    <a:ext uri="{FF2B5EF4-FFF2-40B4-BE49-F238E27FC236}">
                      <a16:creationId xmlns:a16="http://schemas.microsoft.com/office/drawing/2014/main" id="{95044C6D-31A6-A14F-8690-62839FACD17A}"/>
                    </a:ext>
                  </a:extLst>
                </p:cNvPr>
                <p:cNvSpPr>
                  <a:spLocks noRot="1" noChangeAspect="1" noMove="1" noResize="1" noEditPoints="1" noAdjustHandles="1" noChangeArrowheads="1" noChangeShapeType="1" noTextEdit="1"/>
                </p:cNvSpPr>
                <p:nvPr/>
              </p:nvSpPr>
              <p:spPr>
                <a:xfrm>
                  <a:off x="5370458" y="5756587"/>
                  <a:ext cx="1143455" cy="707886"/>
                </a:xfrm>
                <a:prstGeom prst="rect">
                  <a:avLst/>
                </a:prstGeom>
                <a:blipFill>
                  <a:blip r:embed="rId13"/>
                  <a:stretch>
                    <a:fillRect l="-10989" t="-140351" r="-51648" b="-215789"/>
                  </a:stretch>
                </a:blipFill>
              </p:spPr>
              <p:txBody>
                <a:bodyPr/>
                <a:lstStyle/>
                <a:p>
                  <a:r>
                    <a:rPr lang="en-US">
                      <a:noFill/>
                    </a:rPr>
                    <a:t> </a:t>
                  </a:r>
                </a:p>
              </p:txBody>
            </p:sp>
          </mc:Fallback>
        </mc:AlternateContent>
        <p:sp>
          <p:nvSpPr>
            <p:cNvPr id="102" name="Oval 101">
              <a:extLst>
                <a:ext uri="{FF2B5EF4-FFF2-40B4-BE49-F238E27FC236}">
                  <a16:creationId xmlns:a16="http://schemas.microsoft.com/office/drawing/2014/main" id="{106D08AA-D7CC-264F-8EB5-486700F2C6DB}"/>
                </a:ext>
              </a:extLst>
            </p:cNvPr>
            <p:cNvSpPr/>
            <p:nvPr/>
          </p:nvSpPr>
          <p:spPr>
            <a:xfrm>
              <a:off x="2945245" y="5119363"/>
              <a:ext cx="180000" cy="180000"/>
            </a:xfrm>
            <a:prstGeom prst="ellipse">
              <a:avLst/>
            </a:prstGeom>
            <a:solidFill>
              <a:schemeClr val="bg1">
                <a:lumMod val="95000"/>
              </a:schemeClr>
            </a:solidFill>
            <a:ln>
              <a:noFill/>
            </a:ln>
            <a:effectLst>
              <a:glow rad="736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 name="Picture 103">
              <a:extLst>
                <a:ext uri="{FF2B5EF4-FFF2-40B4-BE49-F238E27FC236}">
                  <a16:creationId xmlns:a16="http://schemas.microsoft.com/office/drawing/2014/main" id="{CEB07755-B0B2-4649-89B3-95078A81DD67}"/>
                </a:ext>
              </a:extLst>
            </p:cNvPr>
            <p:cNvPicPr>
              <a:picLocks noChangeAspect="1"/>
            </p:cNvPicPr>
            <p:nvPr/>
          </p:nvPicPr>
          <p:blipFill>
            <a:blip r:embed="rId9"/>
            <a:stretch>
              <a:fillRect/>
            </a:stretch>
          </p:blipFill>
          <p:spPr>
            <a:xfrm rot="16200000">
              <a:off x="8946356" y="5303453"/>
              <a:ext cx="524348" cy="540000"/>
            </a:xfrm>
            <a:prstGeom prst="rect">
              <a:avLst/>
            </a:prstGeom>
          </p:spPr>
        </p:pic>
        <p:sp>
          <p:nvSpPr>
            <p:cNvPr id="105" name="Rectangle 104">
              <a:extLst>
                <a:ext uri="{FF2B5EF4-FFF2-40B4-BE49-F238E27FC236}">
                  <a16:creationId xmlns:a16="http://schemas.microsoft.com/office/drawing/2014/main" id="{AF7C6B08-AC81-D945-B5DA-864DD65BAD9D}"/>
                </a:ext>
              </a:extLst>
            </p:cNvPr>
            <p:cNvSpPr/>
            <p:nvPr/>
          </p:nvSpPr>
          <p:spPr>
            <a:xfrm>
              <a:off x="9490540" y="5377393"/>
              <a:ext cx="1098378" cy="461665"/>
            </a:xfrm>
            <a:prstGeom prst="rect">
              <a:avLst/>
            </a:prstGeom>
          </p:spPr>
          <p:txBody>
            <a:bodyPr wrap="none">
              <a:spAutoFit/>
            </a:bodyPr>
            <a:lstStyle/>
            <a:p>
              <a:r>
                <a:rPr lang="en-US" sz="2400" dirty="0">
                  <a:latin typeface="Comic Sans MS" panose="030F0902030302020204" pitchFamily="66" charset="0"/>
                </a:rPr>
                <a:t>0,1,0…</a:t>
              </a:r>
              <a:endParaRPr lang="en-US" sz="2400" dirty="0"/>
            </a:p>
          </p:txBody>
        </p:sp>
      </p:grpSp>
      <p:sp>
        <p:nvSpPr>
          <p:cNvPr id="52" name="Freeform 51">
            <a:extLst>
              <a:ext uri="{FF2B5EF4-FFF2-40B4-BE49-F238E27FC236}">
                <a16:creationId xmlns:a16="http://schemas.microsoft.com/office/drawing/2014/main" id="{F4C8F556-9D65-D44D-8B70-D8FC9DF276ED}"/>
              </a:ext>
            </a:extLst>
          </p:cNvPr>
          <p:cNvSpPr/>
          <p:nvPr/>
        </p:nvSpPr>
        <p:spPr>
          <a:xfrm>
            <a:off x="70105" y="2437330"/>
            <a:ext cx="1311215" cy="1725283"/>
          </a:xfrm>
          <a:custGeom>
            <a:avLst/>
            <a:gdLst>
              <a:gd name="connsiteX0" fmla="*/ 0 w 1362973"/>
              <a:gd name="connsiteY0" fmla="*/ 0 h 1725283"/>
              <a:gd name="connsiteX1" fmla="*/ 759124 w 1362973"/>
              <a:gd name="connsiteY1" fmla="*/ 17253 h 1725283"/>
              <a:gd name="connsiteX2" fmla="*/ 1345721 w 1362973"/>
              <a:gd name="connsiteY2" fmla="*/ 0 h 1725283"/>
              <a:gd name="connsiteX3" fmla="*/ 1362973 w 1362973"/>
              <a:gd name="connsiteY3" fmla="*/ 879894 h 1725283"/>
              <a:gd name="connsiteX4" fmla="*/ 1362973 w 1362973"/>
              <a:gd name="connsiteY4" fmla="*/ 1708030 h 1725283"/>
              <a:gd name="connsiteX5" fmla="*/ 51758 w 1362973"/>
              <a:gd name="connsiteY5" fmla="*/ 1725283 h 1725283"/>
              <a:gd name="connsiteX6" fmla="*/ 69011 w 1362973"/>
              <a:gd name="connsiteY6" fmla="*/ 1086928 h 1725283"/>
              <a:gd name="connsiteX7" fmla="*/ 86264 w 1362973"/>
              <a:gd name="connsiteY7" fmla="*/ 448573 h 1725283"/>
              <a:gd name="connsiteX8" fmla="*/ 86264 w 1362973"/>
              <a:gd name="connsiteY8" fmla="*/ 51758 h 1725283"/>
              <a:gd name="connsiteX0" fmla="*/ 37142 w 1311215"/>
              <a:gd name="connsiteY0" fmla="*/ 0 h 1725283"/>
              <a:gd name="connsiteX1" fmla="*/ 707366 w 1311215"/>
              <a:gd name="connsiteY1" fmla="*/ 17253 h 1725283"/>
              <a:gd name="connsiteX2" fmla="*/ 1293963 w 1311215"/>
              <a:gd name="connsiteY2" fmla="*/ 0 h 1725283"/>
              <a:gd name="connsiteX3" fmla="*/ 1311215 w 1311215"/>
              <a:gd name="connsiteY3" fmla="*/ 879894 h 1725283"/>
              <a:gd name="connsiteX4" fmla="*/ 1311215 w 1311215"/>
              <a:gd name="connsiteY4" fmla="*/ 1708030 h 1725283"/>
              <a:gd name="connsiteX5" fmla="*/ 0 w 1311215"/>
              <a:gd name="connsiteY5" fmla="*/ 1725283 h 1725283"/>
              <a:gd name="connsiteX6" fmla="*/ 17253 w 1311215"/>
              <a:gd name="connsiteY6" fmla="*/ 1086928 h 1725283"/>
              <a:gd name="connsiteX7" fmla="*/ 34506 w 1311215"/>
              <a:gd name="connsiteY7" fmla="*/ 448573 h 1725283"/>
              <a:gd name="connsiteX8" fmla="*/ 34506 w 1311215"/>
              <a:gd name="connsiteY8" fmla="*/ 51758 h 1725283"/>
              <a:gd name="connsiteX0" fmla="*/ 37142 w 1311215"/>
              <a:gd name="connsiteY0" fmla="*/ 5392 h 1730675"/>
              <a:gd name="connsiteX1" fmla="*/ 707366 w 1311215"/>
              <a:gd name="connsiteY1" fmla="*/ 22645 h 1730675"/>
              <a:gd name="connsiteX2" fmla="*/ 1293963 w 1311215"/>
              <a:gd name="connsiteY2" fmla="*/ 5392 h 1730675"/>
              <a:gd name="connsiteX3" fmla="*/ 1311215 w 1311215"/>
              <a:gd name="connsiteY3" fmla="*/ 885286 h 1730675"/>
              <a:gd name="connsiteX4" fmla="*/ 1311215 w 1311215"/>
              <a:gd name="connsiteY4" fmla="*/ 1713422 h 1730675"/>
              <a:gd name="connsiteX5" fmla="*/ 0 w 1311215"/>
              <a:gd name="connsiteY5" fmla="*/ 1730675 h 1730675"/>
              <a:gd name="connsiteX6" fmla="*/ 17253 w 1311215"/>
              <a:gd name="connsiteY6" fmla="*/ 1092320 h 1730675"/>
              <a:gd name="connsiteX7" fmla="*/ 34506 w 1311215"/>
              <a:gd name="connsiteY7" fmla="*/ 453965 h 1730675"/>
              <a:gd name="connsiteX8" fmla="*/ 34506 w 1311215"/>
              <a:gd name="connsiteY8" fmla="*/ 0 h 1730675"/>
              <a:gd name="connsiteX0" fmla="*/ 37142 w 1311215"/>
              <a:gd name="connsiteY0" fmla="*/ 0 h 1725283"/>
              <a:gd name="connsiteX1" fmla="*/ 707366 w 1311215"/>
              <a:gd name="connsiteY1" fmla="*/ 17253 h 1725283"/>
              <a:gd name="connsiteX2" fmla="*/ 1293963 w 1311215"/>
              <a:gd name="connsiteY2" fmla="*/ 0 h 1725283"/>
              <a:gd name="connsiteX3" fmla="*/ 1311215 w 1311215"/>
              <a:gd name="connsiteY3" fmla="*/ 879894 h 1725283"/>
              <a:gd name="connsiteX4" fmla="*/ 1311215 w 1311215"/>
              <a:gd name="connsiteY4" fmla="*/ 1708030 h 1725283"/>
              <a:gd name="connsiteX5" fmla="*/ 0 w 1311215"/>
              <a:gd name="connsiteY5" fmla="*/ 1725283 h 1725283"/>
              <a:gd name="connsiteX6" fmla="*/ 17253 w 1311215"/>
              <a:gd name="connsiteY6" fmla="*/ 1086928 h 1725283"/>
              <a:gd name="connsiteX7" fmla="*/ 34506 w 1311215"/>
              <a:gd name="connsiteY7" fmla="*/ 448573 h 1725283"/>
              <a:gd name="connsiteX8" fmla="*/ 21806 w 1311215"/>
              <a:gd name="connsiteY8" fmla="*/ 13658 h 172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1215" h="1725283">
                <a:moveTo>
                  <a:pt x="37142" y="0"/>
                </a:moveTo>
                <a:lnTo>
                  <a:pt x="707366" y="17253"/>
                </a:lnTo>
                <a:lnTo>
                  <a:pt x="1293963" y="0"/>
                </a:lnTo>
                <a:lnTo>
                  <a:pt x="1311215" y="879894"/>
                </a:lnTo>
                <a:lnTo>
                  <a:pt x="1311215" y="1708030"/>
                </a:lnTo>
                <a:lnTo>
                  <a:pt x="0" y="1725283"/>
                </a:lnTo>
                <a:lnTo>
                  <a:pt x="17253" y="1086928"/>
                </a:lnTo>
                <a:lnTo>
                  <a:pt x="34506" y="448573"/>
                </a:lnTo>
                <a:lnTo>
                  <a:pt x="21806" y="13658"/>
                </a:lnTo>
              </a:path>
            </a:pathLst>
          </a:cu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65000"/>
                  </a:schemeClr>
                </a:solidFill>
                <a:latin typeface="Comic Sans MS" panose="030F0902030302020204" pitchFamily="66" charset="0"/>
              </a:rPr>
              <a:t>0100101010001100010100100111111010010100000</a:t>
            </a:r>
          </a:p>
        </p:txBody>
      </p:sp>
      <p:pic>
        <p:nvPicPr>
          <p:cNvPr id="55" name="Picture 54">
            <a:extLst>
              <a:ext uri="{FF2B5EF4-FFF2-40B4-BE49-F238E27FC236}">
                <a16:creationId xmlns:a16="http://schemas.microsoft.com/office/drawing/2014/main" id="{6EDCB167-1C49-E147-AF98-54F2F9BBF6ED}"/>
              </a:ext>
            </a:extLst>
          </p:cNvPr>
          <p:cNvPicPr>
            <a:picLocks noChangeAspect="1"/>
          </p:cNvPicPr>
          <p:nvPr/>
        </p:nvPicPr>
        <p:blipFill>
          <a:blip r:embed="rId14"/>
          <a:stretch>
            <a:fillRect/>
          </a:stretch>
        </p:blipFill>
        <p:spPr>
          <a:xfrm>
            <a:off x="377634" y="3249056"/>
            <a:ext cx="1140145" cy="1756262"/>
          </a:xfrm>
          <a:prstGeom prst="rect">
            <a:avLst/>
          </a:prstGeom>
        </p:spPr>
      </p:pic>
    </p:spTree>
    <p:extLst>
      <p:ext uri="{BB962C8B-B14F-4D97-AF65-F5344CB8AC3E}">
        <p14:creationId xmlns:p14="http://schemas.microsoft.com/office/powerpoint/2010/main" val="79176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ounded Rectangle 93">
            <a:extLst>
              <a:ext uri="{FF2B5EF4-FFF2-40B4-BE49-F238E27FC236}">
                <a16:creationId xmlns:a16="http://schemas.microsoft.com/office/drawing/2014/main" id="{67F3EBF5-FCB0-9645-AB91-808E2A91C57F}"/>
              </a:ext>
            </a:extLst>
          </p:cNvPr>
          <p:cNvSpPr/>
          <p:nvPr/>
        </p:nvSpPr>
        <p:spPr>
          <a:xfrm>
            <a:off x="909227" y="2075264"/>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457119DE-0C1B-3A4C-A3FE-3C708E313B21}"/>
              </a:ext>
            </a:extLst>
          </p:cNvPr>
          <p:cNvSpPr>
            <a:spLocks noGrp="1"/>
          </p:cNvSpPr>
          <p:nvPr>
            <p:ph type="sldNum" sz="quarter" idx="12"/>
          </p:nvPr>
        </p:nvSpPr>
        <p:spPr/>
        <p:txBody>
          <a:bodyPr/>
          <a:lstStyle/>
          <a:p>
            <a:fld id="{591A223C-FA10-BC46-A853-03BA373D023C}" type="slidenum">
              <a:rPr lang="en-US" smtClean="0"/>
              <a:t>6</a:t>
            </a:fld>
            <a:endParaRPr lang="en-US"/>
          </a:p>
        </p:txBody>
      </p:sp>
      <p:sp>
        <p:nvSpPr>
          <p:cNvPr id="2" name="Title 1">
            <a:extLst>
              <a:ext uri="{FF2B5EF4-FFF2-40B4-BE49-F238E27FC236}">
                <a16:creationId xmlns:a16="http://schemas.microsoft.com/office/drawing/2014/main" id="{A2C1E0B9-C975-C249-8770-B0C635CAFB91}"/>
              </a:ext>
            </a:extLst>
          </p:cNvPr>
          <p:cNvSpPr>
            <a:spLocks noGrp="1"/>
          </p:cNvSpPr>
          <p:nvPr>
            <p:ph type="title"/>
          </p:nvPr>
        </p:nvSpPr>
        <p:spPr/>
        <p:txBody>
          <a:bodyPr>
            <a:normAutofit/>
          </a:bodyPr>
          <a:lstStyle/>
          <a:p>
            <a:r>
              <a:rPr lang="en-ZA" dirty="0"/>
              <a:t>The Role of Measurement Bases</a:t>
            </a:r>
            <a:endParaRPr lang="en-US" dirty="0"/>
          </a:p>
        </p:txBody>
      </p:sp>
      <p:sp>
        <p:nvSpPr>
          <p:cNvPr id="17" name="Rounded Rectangle 16">
            <a:extLst>
              <a:ext uri="{FF2B5EF4-FFF2-40B4-BE49-F238E27FC236}">
                <a16:creationId xmlns:a16="http://schemas.microsoft.com/office/drawing/2014/main" id="{3A723C3F-BFA0-E249-A4C4-21C70293977F}"/>
              </a:ext>
            </a:extLst>
          </p:cNvPr>
          <p:cNvSpPr/>
          <p:nvPr/>
        </p:nvSpPr>
        <p:spPr>
          <a:xfrm>
            <a:off x="789149" y="2152534"/>
            <a:ext cx="2067653" cy="216137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Arrow Connector 4">
            <a:extLst>
              <a:ext uri="{FF2B5EF4-FFF2-40B4-BE49-F238E27FC236}">
                <a16:creationId xmlns:a16="http://schemas.microsoft.com/office/drawing/2014/main" id="{A51657C1-9C4E-9046-90F1-9F0C932BAAC9}"/>
              </a:ext>
            </a:extLst>
          </p:cNvPr>
          <p:cNvCxnSpPr>
            <a:cxnSpLocks/>
          </p:cNvCxnSpPr>
          <p:nvPr/>
        </p:nvCxnSpPr>
        <p:spPr>
          <a:xfrm>
            <a:off x="1803740" y="2329506"/>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4505A0C-5304-E841-AE02-0B8C38EE33E1}"/>
              </a:ext>
            </a:extLst>
          </p:cNvPr>
          <p:cNvCxnSpPr>
            <a:cxnSpLocks/>
          </p:cNvCxnSpPr>
          <p:nvPr/>
        </p:nvCxnSpPr>
        <p:spPr>
          <a:xfrm>
            <a:off x="911564" y="3210975"/>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1538921B-ADD2-2A49-B8ED-80C3910B1204}"/>
              </a:ext>
            </a:extLst>
          </p:cNvPr>
          <p:cNvSpPr txBox="1"/>
          <p:nvPr/>
        </p:nvSpPr>
        <p:spPr>
          <a:xfrm>
            <a:off x="2459564" y="1301334"/>
            <a:ext cx="522900" cy="769441"/>
          </a:xfrm>
          <a:prstGeom prst="rect">
            <a:avLst/>
          </a:prstGeom>
          <a:noFill/>
          <a:effectLst/>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0</a:t>
            </a:r>
          </a:p>
        </p:txBody>
      </p:sp>
      <p:sp>
        <p:nvSpPr>
          <p:cNvPr id="63" name="TextBox 62">
            <a:extLst>
              <a:ext uri="{FF2B5EF4-FFF2-40B4-BE49-F238E27FC236}">
                <a16:creationId xmlns:a16="http://schemas.microsoft.com/office/drawing/2014/main" id="{A4EAE929-5EA6-2945-A436-CCBC5E511E5F}"/>
              </a:ext>
            </a:extLst>
          </p:cNvPr>
          <p:cNvSpPr txBox="1"/>
          <p:nvPr/>
        </p:nvSpPr>
        <p:spPr>
          <a:xfrm>
            <a:off x="4419438" y="6396335"/>
            <a:ext cx="3813352" cy="461665"/>
          </a:xfrm>
          <a:prstGeom prst="rect">
            <a:avLst/>
          </a:prstGeom>
          <a:noFill/>
        </p:spPr>
        <p:txBody>
          <a:bodyPr wrap="none" rtlCol="0">
            <a:spAutoFit/>
          </a:bodyPr>
          <a:lstStyle/>
          <a:p>
            <a:r>
              <a:rPr lang="en-US" sz="2400" dirty="0"/>
              <a:t>standard basis measurement</a:t>
            </a:r>
          </a:p>
        </p:txBody>
      </p:sp>
      <p:cxnSp>
        <p:nvCxnSpPr>
          <p:cNvPr id="45" name="Straight Arrow Connector 44">
            <a:extLst>
              <a:ext uri="{FF2B5EF4-FFF2-40B4-BE49-F238E27FC236}">
                <a16:creationId xmlns:a16="http://schemas.microsoft.com/office/drawing/2014/main" id="{00C82235-D4B3-6542-8847-22C417DAF341}"/>
              </a:ext>
            </a:extLst>
          </p:cNvPr>
          <p:cNvCxnSpPr>
            <a:cxnSpLocks/>
          </p:cNvCxnSpPr>
          <p:nvPr/>
        </p:nvCxnSpPr>
        <p:spPr>
          <a:xfrm rot="5400000" flipV="1">
            <a:off x="1685564" y="4464246"/>
            <a:ext cx="0" cy="1548000"/>
          </a:xfrm>
          <a:prstGeom prst="straightConnector1">
            <a:avLst/>
          </a:prstGeom>
          <a:ln w="88900" cap="rnd">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1E3AD595-C25C-B14B-8B18-E1EB54E4B239}"/>
                  </a:ext>
                </a:extLst>
              </p:cNvPr>
              <p:cNvSpPr/>
              <p:nvPr/>
            </p:nvSpPr>
            <p:spPr>
              <a:xfrm>
                <a:off x="1331621" y="5333974"/>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0</m:t>
                          </m:r>
                        </m:e>
                      </m:d>
                    </m:oMath>
                  </m:oMathPara>
                </a14:m>
                <a:endParaRPr lang="en-US" sz="2800" dirty="0">
                  <a:solidFill>
                    <a:srgbClr val="C00000"/>
                  </a:solidFill>
                </a:endParaRPr>
              </a:p>
            </p:txBody>
          </p:sp>
        </mc:Choice>
        <mc:Fallback xmlns="">
          <p:sp>
            <p:nvSpPr>
              <p:cNvPr id="60" name="Rectangle 59">
                <a:extLst>
                  <a:ext uri="{FF2B5EF4-FFF2-40B4-BE49-F238E27FC236}">
                    <a16:creationId xmlns:a16="http://schemas.microsoft.com/office/drawing/2014/main" id="{1E3AD595-C25C-B14B-8B18-E1EB54E4B239}"/>
                  </a:ext>
                </a:extLst>
              </p:cNvPr>
              <p:cNvSpPr>
                <a:spLocks noRot="1" noChangeAspect="1" noMove="1" noResize="1" noEditPoints="1" noAdjustHandles="1" noChangeArrowheads="1" noChangeShapeType="1" noTextEdit="1"/>
              </p:cNvSpPr>
              <p:nvPr/>
            </p:nvSpPr>
            <p:spPr>
              <a:xfrm>
                <a:off x="1331621" y="5333974"/>
                <a:ext cx="707886" cy="523220"/>
              </a:xfrm>
              <a:prstGeom prst="rect">
                <a:avLst/>
              </a:prstGeom>
              <a:blipFill>
                <a:blip r:embed="rId3"/>
                <a:stretch>
                  <a:fillRect/>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0DE61126-5552-9F4F-A81A-8B559131E268}"/>
              </a:ext>
            </a:extLst>
          </p:cNvPr>
          <p:cNvGrpSpPr/>
          <p:nvPr/>
        </p:nvGrpSpPr>
        <p:grpSpPr>
          <a:xfrm>
            <a:off x="6643591" y="2058935"/>
            <a:ext cx="2171402" cy="4188753"/>
            <a:chOff x="6643591" y="2058935"/>
            <a:chExt cx="2171402" cy="4188753"/>
          </a:xfrm>
        </p:grpSpPr>
        <p:sp>
          <p:nvSpPr>
            <p:cNvPr id="96" name="Rounded Rectangle 95">
              <a:extLst>
                <a:ext uri="{FF2B5EF4-FFF2-40B4-BE49-F238E27FC236}">
                  <a16:creationId xmlns:a16="http://schemas.microsoft.com/office/drawing/2014/main" id="{86493746-B404-DC43-8E65-20D1E2FFE99B}"/>
                </a:ext>
              </a:extLst>
            </p:cNvPr>
            <p:cNvSpPr/>
            <p:nvPr/>
          </p:nvSpPr>
          <p:spPr>
            <a:xfrm>
              <a:off x="6747340" y="2058935"/>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E18E4F46-BA2C-9E47-B8B2-E8FB670F3423}"/>
                </a:ext>
              </a:extLst>
            </p:cNvPr>
            <p:cNvGrpSpPr/>
            <p:nvPr/>
          </p:nvGrpSpPr>
          <p:grpSpPr>
            <a:xfrm>
              <a:off x="6643591" y="2124184"/>
              <a:ext cx="2067653" cy="2161378"/>
              <a:chOff x="1276332" y="2303446"/>
              <a:chExt cx="2067653" cy="2161378"/>
            </a:xfrm>
          </p:grpSpPr>
          <p:sp>
            <p:nvSpPr>
              <p:cNvPr id="71" name="Rounded Rectangle 70">
                <a:extLst>
                  <a:ext uri="{FF2B5EF4-FFF2-40B4-BE49-F238E27FC236}">
                    <a16:creationId xmlns:a16="http://schemas.microsoft.com/office/drawing/2014/main" id="{CBADEF4B-0BC3-A045-8217-95B086ECF443}"/>
                  </a:ext>
                </a:extLst>
              </p:cNvPr>
              <p:cNvSpPr/>
              <p:nvPr/>
            </p:nvSpPr>
            <p:spPr>
              <a:xfrm>
                <a:off x="1276332" y="2303446"/>
                <a:ext cx="2067653" cy="216137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2" name="Straight Arrow Connector 71">
                <a:extLst>
                  <a:ext uri="{FF2B5EF4-FFF2-40B4-BE49-F238E27FC236}">
                    <a16:creationId xmlns:a16="http://schemas.microsoft.com/office/drawing/2014/main" id="{F3812B92-C107-F749-9EFA-8B35B370A46D}"/>
                  </a:ext>
                </a:extLst>
              </p:cNvPr>
              <p:cNvCxnSpPr>
                <a:cxnSpLocks/>
              </p:cNvCxnSpPr>
              <p:nvPr/>
            </p:nvCxnSpPr>
            <p:spPr>
              <a:xfrm>
                <a:off x="2290923" y="2480418"/>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FBE0655-3B33-8641-97CB-B04CEB20FAA0}"/>
                  </a:ext>
                </a:extLst>
              </p:cNvPr>
              <p:cNvCxnSpPr>
                <a:cxnSpLocks/>
              </p:cNvCxnSpPr>
              <p:nvPr/>
            </p:nvCxnSpPr>
            <p:spPr>
              <a:xfrm>
                <a:off x="1398747" y="3361887"/>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F22A5547-6B06-3A4D-BA65-B72DFA3B9A57}"/>
                    </a:ext>
                  </a:extLst>
                </p:cNvPr>
                <p:cNvSpPr/>
                <p:nvPr/>
              </p:nvSpPr>
              <p:spPr>
                <a:xfrm>
                  <a:off x="6715919" y="5724468"/>
                  <a:ext cx="623754"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m:t>
                            </m:r>
                          </m:e>
                        </m:d>
                      </m:oMath>
                    </m:oMathPara>
                  </a14:m>
                  <a:endParaRPr lang="en-US" sz="2800" dirty="0">
                    <a:solidFill>
                      <a:srgbClr val="C00000"/>
                    </a:solidFill>
                  </a:endParaRPr>
                </a:p>
              </p:txBody>
            </p:sp>
          </mc:Choice>
          <mc:Fallback xmlns="">
            <p:sp>
              <p:nvSpPr>
                <p:cNvPr id="52" name="Rectangle 51">
                  <a:extLst>
                    <a:ext uri="{FF2B5EF4-FFF2-40B4-BE49-F238E27FC236}">
                      <a16:creationId xmlns:a16="http://schemas.microsoft.com/office/drawing/2014/main" id="{F22A5547-6B06-3A4D-BA65-B72DFA3B9A57}"/>
                    </a:ext>
                  </a:extLst>
                </p:cNvPr>
                <p:cNvSpPr>
                  <a:spLocks noRot="1" noChangeAspect="1" noMove="1" noResize="1" noEditPoints="1" noAdjustHandles="1" noChangeArrowheads="1" noChangeShapeType="1" noTextEdit="1"/>
                </p:cNvSpPr>
                <p:nvPr/>
              </p:nvSpPr>
              <p:spPr>
                <a:xfrm>
                  <a:off x="6715919" y="5724468"/>
                  <a:ext cx="623754" cy="523220"/>
                </a:xfrm>
                <a:prstGeom prst="rect">
                  <a:avLst/>
                </a:prstGeom>
                <a:blipFill>
                  <a:blip r:embed="rId4"/>
                  <a:stretch>
                    <a:fillRect/>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51F1C74B-3682-B544-9F2E-AEDDA407DEF2}"/>
                </a:ext>
              </a:extLst>
            </p:cNvPr>
            <p:cNvCxnSpPr>
              <a:cxnSpLocks/>
            </p:cNvCxnSpPr>
            <p:nvPr/>
          </p:nvCxnSpPr>
          <p:spPr>
            <a:xfrm rot="2700000" flipV="1">
              <a:off x="7511546" y="4321128"/>
              <a:ext cx="0" cy="1548000"/>
            </a:xfrm>
            <a:prstGeom prst="straightConnector1">
              <a:avLst/>
            </a:prstGeom>
            <a:ln w="88900" cap="rnd">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9" name="TextBox 58">
            <a:extLst>
              <a:ext uri="{FF2B5EF4-FFF2-40B4-BE49-F238E27FC236}">
                <a16:creationId xmlns:a16="http://schemas.microsoft.com/office/drawing/2014/main" id="{B1C51566-2FBC-4649-BAED-60C6B5090390}"/>
              </a:ext>
            </a:extLst>
          </p:cNvPr>
          <p:cNvSpPr txBox="1"/>
          <p:nvPr/>
        </p:nvSpPr>
        <p:spPr>
          <a:xfrm>
            <a:off x="7816222" y="1294344"/>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1</a:t>
            </a:r>
            <a:r>
              <a:rPr lang="en-US" sz="4400" b="1" baseline="-25000" dirty="0">
                <a:solidFill>
                  <a:srgbClr val="FF0000"/>
                </a:solidFill>
                <a:latin typeface="Courier New" panose="02070309020205020404" pitchFamily="49" charset="0"/>
                <a:cs typeface="Courier New" panose="02070309020205020404" pitchFamily="49" charset="0"/>
              </a:rPr>
              <a:t>(50%)</a:t>
            </a:r>
          </a:p>
        </p:txBody>
      </p:sp>
      <p:sp>
        <p:nvSpPr>
          <p:cNvPr id="61" name="TextBox 60">
            <a:extLst>
              <a:ext uri="{FF2B5EF4-FFF2-40B4-BE49-F238E27FC236}">
                <a16:creationId xmlns:a16="http://schemas.microsoft.com/office/drawing/2014/main" id="{C6B06525-CAF6-0647-8E49-13C70325AFF1}"/>
              </a:ext>
            </a:extLst>
          </p:cNvPr>
          <p:cNvSpPr txBox="1"/>
          <p:nvPr/>
        </p:nvSpPr>
        <p:spPr>
          <a:xfrm>
            <a:off x="7816222" y="706315"/>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0</a:t>
            </a:r>
            <a:r>
              <a:rPr lang="en-US" sz="4400" b="1" baseline="-25000" dirty="0">
                <a:solidFill>
                  <a:srgbClr val="FF0000"/>
                </a:solidFill>
                <a:latin typeface="Courier New" panose="02070309020205020404" pitchFamily="49" charset="0"/>
                <a:cs typeface="Courier New" panose="02070309020205020404" pitchFamily="49" charset="0"/>
              </a:rPr>
              <a:t>(50%)</a:t>
            </a:r>
          </a:p>
        </p:txBody>
      </p:sp>
      <p:grpSp>
        <p:nvGrpSpPr>
          <p:cNvPr id="19" name="Group 18">
            <a:extLst>
              <a:ext uri="{FF2B5EF4-FFF2-40B4-BE49-F238E27FC236}">
                <a16:creationId xmlns:a16="http://schemas.microsoft.com/office/drawing/2014/main" id="{556A7987-5F12-FD40-A620-3F2500D6E9A4}"/>
              </a:ext>
            </a:extLst>
          </p:cNvPr>
          <p:cNvGrpSpPr/>
          <p:nvPr/>
        </p:nvGrpSpPr>
        <p:grpSpPr>
          <a:xfrm>
            <a:off x="3716370" y="1255226"/>
            <a:ext cx="2311376" cy="5191461"/>
            <a:chOff x="3716370" y="1255226"/>
            <a:chExt cx="2311376" cy="5191461"/>
          </a:xfrm>
        </p:grpSpPr>
        <p:sp>
          <p:nvSpPr>
            <p:cNvPr id="95" name="Rounded Rectangle 94">
              <a:extLst>
                <a:ext uri="{FF2B5EF4-FFF2-40B4-BE49-F238E27FC236}">
                  <a16:creationId xmlns:a16="http://schemas.microsoft.com/office/drawing/2014/main" id="{84CDEE8C-6372-CE4B-81B7-F3B82552B4F7}"/>
                </a:ext>
              </a:extLst>
            </p:cNvPr>
            <p:cNvSpPr/>
            <p:nvPr/>
          </p:nvSpPr>
          <p:spPr>
            <a:xfrm>
              <a:off x="3820119" y="2026277"/>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5" name="Group 64">
              <a:extLst>
                <a:ext uri="{FF2B5EF4-FFF2-40B4-BE49-F238E27FC236}">
                  <a16:creationId xmlns:a16="http://schemas.microsoft.com/office/drawing/2014/main" id="{2748EA30-307E-5A40-BE09-0AC1C7DC6C76}"/>
                </a:ext>
              </a:extLst>
            </p:cNvPr>
            <p:cNvGrpSpPr/>
            <p:nvPr/>
          </p:nvGrpSpPr>
          <p:grpSpPr>
            <a:xfrm>
              <a:off x="3716370" y="2097034"/>
              <a:ext cx="2067653" cy="2161378"/>
              <a:chOff x="1276332" y="2303446"/>
              <a:chExt cx="2067653" cy="2161378"/>
            </a:xfrm>
          </p:grpSpPr>
          <p:sp>
            <p:nvSpPr>
              <p:cNvPr id="67" name="Rounded Rectangle 66">
                <a:extLst>
                  <a:ext uri="{FF2B5EF4-FFF2-40B4-BE49-F238E27FC236}">
                    <a16:creationId xmlns:a16="http://schemas.microsoft.com/office/drawing/2014/main" id="{AA0AFCA2-A9F8-8743-BE63-CF1B0DD17218}"/>
                  </a:ext>
                </a:extLst>
              </p:cNvPr>
              <p:cNvSpPr/>
              <p:nvPr/>
            </p:nvSpPr>
            <p:spPr>
              <a:xfrm>
                <a:off x="1276332" y="2303446"/>
                <a:ext cx="2067653" cy="216137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8" name="Straight Arrow Connector 67">
                <a:extLst>
                  <a:ext uri="{FF2B5EF4-FFF2-40B4-BE49-F238E27FC236}">
                    <a16:creationId xmlns:a16="http://schemas.microsoft.com/office/drawing/2014/main" id="{37DAD286-DC45-7440-997A-52CF9E392148}"/>
                  </a:ext>
                </a:extLst>
              </p:cNvPr>
              <p:cNvCxnSpPr>
                <a:cxnSpLocks/>
              </p:cNvCxnSpPr>
              <p:nvPr/>
            </p:nvCxnSpPr>
            <p:spPr>
              <a:xfrm>
                <a:off x="2290923" y="2480418"/>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C4C228E2-1C21-9742-BAC0-8E702EFCA30F}"/>
                  </a:ext>
                </a:extLst>
              </p:cNvPr>
              <p:cNvCxnSpPr>
                <a:cxnSpLocks/>
              </p:cNvCxnSpPr>
              <p:nvPr/>
            </p:nvCxnSpPr>
            <p:spPr>
              <a:xfrm>
                <a:off x="1398747" y="3361887"/>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DCD784F8-325F-5A40-ACA9-2223DE96085B}"/>
                    </a:ext>
                  </a:extLst>
                </p:cNvPr>
                <p:cNvSpPr/>
                <p:nvPr/>
              </p:nvSpPr>
              <p:spPr>
                <a:xfrm>
                  <a:off x="4358903" y="5861912"/>
                  <a:ext cx="7825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rgbClr val="C00000"/>
                                </a:solidFill>
                                <a:latin typeface="Cambria Math" panose="02040503050406030204" pitchFamily="18" charset="0"/>
                              </a:rPr>
                            </m:ctrlPr>
                          </m:dPr>
                          <m:e>
                            <m:r>
                              <a:rPr lang="en-US" sz="3200" b="0" i="1" smtClean="0">
                                <a:solidFill>
                                  <a:srgbClr val="C00000"/>
                                </a:solidFill>
                                <a:latin typeface="Cambria Math" panose="02040503050406030204" pitchFamily="18" charset="0"/>
                              </a:rPr>
                              <m:t>1</m:t>
                            </m:r>
                          </m:e>
                        </m:d>
                      </m:oMath>
                    </m:oMathPara>
                  </a14:m>
                  <a:endParaRPr lang="en-US" sz="3200" dirty="0">
                    <a:solidFill>
                      <a:srgbClr val="C00000"/>
                    </a:solidFill>
                  </a:endParaRPr>
                </a:p>
              </p:txBody>
            </p:sp>
          </mc:Choice>
          <mc:Fallback xmlns="">
            <p:sp>
              <p:nvSpPr>
                <p:cNvPr id="37" name="Rectangle 36">
                  <a:extLst>
                    <a:ext uri="{FF2B5EF4-FFF2-40B4-BE49-F238E27FC236}">
                      <a16:creationId xmlns:a16="http://schemas.microsoft.com/office/drawing/2014/main" id="{DCD784F8-325F-5A40-ACA9-2223DE96085B}"/>
                    </a:ext>
                  </a:extLst>
                </p:cNvPr>
                <p:cNvSpPr>
                  <a:spLocks noRot="1" noChangeAspect="1" noMove="1" noResize="1" noEditPoints="1" noAdjustHandles="1" noChangeArrowheads="1" noChangeShapeType="1" noTextEdit="1"/>
                </p:cNvSpPr>
                <p:nvPr/>
              </p:nvSpPr>
              <p:spPr>
                <a:xfrm>
                  <a:off x="4358903" y="5861912"/>
                  <a:ext cx="782586" cy="584775"/>
                </a:xfrm>
                <a:prstGeom prst="rect">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EAF67EE-2B79-7C4C-9074-DA45CE9AEF0A}"/>
                </a:ext>
              </a:extLst>
            </p:cNvPr>
            <p:cNvCxnSpPr>
              <a:cxnSpLocks/>
            </p:cNvCxnSpPr>
            <p:nvPr/>
          </p:nvCxnSpPr>
          <p:spPr>
            <a:xfrm flipV="1">
              <a:off x="4750196" y="4313912"/>
              <a:ext cx="0" cy="1548000"/>
            </a:xfrm>
            <a:prstGeom prst="straightConnector1">
              <a:avLst/>
            </a:prstGeom>
            <a:ln w="88900" cap="rnd">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3867ADB0-2697-8B4B-B2E5-4701AC06C283}"/>
                </a:ext>
              </a:extLst>
            </p:cNvPr>
            <p:cNvSpPr txBox="1"/>
            <p:nvPr/>
          </p:nvSpPr>
          <p:spPr>
            <a:xfrm>
              <a:off x="5504846" y="1255226"/>
              <a:ext cx="522900" cy="769441"/>
            </a:xfrm>
            <a:prstGeom prst="rect">
              <a:avLst/>
            </a:prstGeom>
            <a:noFill/>
            <a:effectLst/>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1</a:t>
              </a:r>
            </a:p>
          </p:txBody>
        </p:sp>
      </p:grpSp>
      <p:grpSp>
        <p:nvGrpSpPr>
          <p:cNvPr id="34" name="Group 33">
            <a:extLst>
              <a:ext uri="{FF2B5EF4-FFF2-40B4-BE49-F238E27FC236}">
                <a16:creationId xmlns:a16="http://schemas.microsoft.com/office/drawing/2014/main" id="{C7E458CF-6A89-B743-AD70-631F9B8232FA}"/>
              </a:ext>
            </a:extLst>
          </p:cNvPr>
          <p:cNvGrpSpPr/>
          <p:nvPr/>
        </p:nvGrpSpPr>
        <p:grpSpPr>
          <a:xfrm>
            <a:off x="9570813" y="645974"/>
            <a:ext cx="2513410" cy="5601714"/>
            <a:chOff x="9570813" y="645974"/>
            <a:chExt cx="2513410" cy="5601714"/>
          </a:xfrm>
        </p:grpSpPr>
        <p:sp>
          <p:nvSpPr>
            <p:cNvPr id="97" name="Rounded Rectangle 96">
              <a:extLst>
                <a:ext uri="{FF2B5EF4-FFF2-40B4-BE49-F238E27FC236}">
                  <a16:creationId xmlns:a16="http://schemas.microsoft.com/office/drawing/2014/main" id="{AF623ED6-7F3B-9549-847E-6DCFB4A32FA4}"/>
                </a:ext>
              </a:extLst>
            </p:cNvPr>
            <p:cNvSpPr/>
            <p:nvPr/>
          </p:nvSpPr>
          <p:spPr>
            <a:xfrm>
              <a:off x="9674561" y="2091593"/>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7" name="Group 86">
              <a:extLst>
                <a:ext uri="{FF2B5EF4-FFF2-40B4-BE49-F238E27FC236}">
                  <a16:creationId xmlns:a16="http://schemas.microsoft.com/office/drawing/2014/main" id="{61D07FD7-8438-0946-BB3B-EA9AC2DB1007}"/>
                </a:ext>
              </a:extLst>
            </p:cNvPr>
            <p:cNvGrpSpPr/>
            <p:nvPr/>
          </p:nvGrpSpPr>
          <p:grpSpPr>
            <a:xfrm>
              <a:off x="9570813" y="2152534"/>
              <a:ext cx="2067653" cy="2161378"/>
              <a:chOff x="1276332" y="2303446"/>
              <a:chExt cx="2067653" cy="2161378"/>
            </a:xfrm>
          </p:grpSpPr>
          <p:sp>
            <p:nvSpPr>
              <p:cNvPr id="88" name="Rounded Rectangle 87">
                <a:extLst>
                  <a:ext uri="{FF2B5EF4-FFF2-40B4-BE49-F238E27FC236}">
                    <a16:creationId xmlns:a16="http://schemas.microsoft.com/office/drawing/2014/main" id="{94A440D0-99A0-8A41-AF22-D4BE53F4A932}"/>
                  </a:ext>
                </a:extLst>
              </p:cNvPr>
              <p:cNvSpPr/>
              <p:nvPr/>
            </p:nvSpPr>
            <p:spPr>
              <a:xfrm>
                <a:off x="1276332" y="2303446"/>
                <a:ext cx="2067653" cy="216137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Straight Arrow Connector 88">
                <a:extLst>
                  <a:ext uri="{FF2B5EF4-FFF2-40B4-BE49-F238E27FC236}">
                    <a16:creationId xmlns:a16="http://schemas.microsoft.com/office/drawing/2014/main" id="{E7777873-594A-DD4F-B519-F6A4B2D63B86}"/>
                  </a:ext>
                </a:extLst>
              </p:cNvPr>
              <p:cNvCxnSpPr>
                <a:cxnSpLocks/>
              </p:cNvCxnSpPr>
              <p:nvPr/>
            </p:nvCxnSpPr>
            <p:spPr>
              <a:xfrm>
                <a:off x="2290923" y="2480418"/>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312DC33-64E5-7F46-A17B-AB24AB8696EC}"/>
                  </a:ext>
                </a:extLst>
              </p:cNvPr>
              <p:cNvCxnSpPr>
                <a:cxnSpLocks/>
              </p:cNvCxnSpPr>
              <p:nvPr/>
            </p:nvCxnSpPr>
            <p:spPr>
              <a:xfrm>
                <a:off x="1398747" y="3361887"/>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22855F65-7635-5B43-877E-8166CE5D9619}"/>
                </a:ext>
              </a:extLst>
            </p:cNvPr>
            <p:cNvCxnSpPr>
              <a:cxnSpLocks/>
            </p:cNvCxnSpPr>
            <p:nvPr/>
          </p:nvCxnSpPr>
          <p:spPr>
            <a:xfrm rot="8100000" flipV="1">
              <a:off x="10631399" y="4321128"/>
              <a:ext cx="0" cy="1548000"/>
            </a:xfrm>
            <a:prstGeom prst="straightConnector1">
              <a:avLst/>
            </a:prstGeom>
            <a:ln w="88900" cap="rnd">
              <a:solidFill>
                <a:srgbClr val="C00000"/>
              </a:solidFill>
              <a:headEnd type="triangl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D672681E-43ED-8043-8B36-4BE9FAEDE7E1}"/>
                    </a:ext>
                  </a:extLst>
                </p:cNvPr>
                <p:cNvSpPr/>
                <p:nvPr/>
              </p:nvSpPr>
              <p:spPr>
                <a:xfrm>
                  <a:off x="10820400" y="5724468"/>
                  <a:ext cx="623754"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m:t>
                            </m:r>
                          </m:e>
                        </m:d>
                      </m:oMath>
                    </m:oMathPara>
                  </a14:m>
                  <a:endParaRPr lang="en-US" sz="2800" dirty="0">
                    <a:solidFill>
                      <a:srgbClr val="C00000"/>
                    </a:solidFill>
                  </a:endParaRPr>
                </a:p>
              </p:txBody>
            </p:sp>
          </mc:Choice>
          <mc:Fallback xmlns="">
            <p:sp>
              <p:nvSpPr>
                <p:cNvPr id="74" name="Rectangle 73">
                  <a:extLst>
                    <a:ext uri="{FF2B5EF4-FFF2-40B4-BE49-F238E27FC236}">
                      <a16:creationId xmlns:a16="http://schemas.microsoft.com/office/drawing/2014/main" id="{D672681E-43ED-8043-8B36-4BE9FAEDE7E1}"/>
                    </a:ext>
                  </a:extLst>
                </p:cNvPr>
                <p:cNvSpPr>
                  <a:spLocks noRot="1" noChangeAspect="1" noMove="1" noResize="1" noEditPoints="1" noAdjustHandles="1" noChangeArrowheads="1" noChangeShapeType="1" noTextEdit="1"/>
                </p:cNvSpPr>
                <p:nvPr/>
              </p:nvSpPr>
              <p:spPr>
                <a:xfrm>
                  <a:off x="10820400" y="5724468"/>
                  <a:ext cx="623754" cy="523220"/>
                </a:xfrm>
                <a:prstGeom prst="rect">
                  <a:avLst/>
                </a:prstGeom>
                <a:blipFill>
                  <a:blip r:embed="rId6"/>
                  <a:stretch>
                    <a:fillRect/>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1F8F550B-E281-CF4F-8FE6-E5D048E11C74}"/>
                </a:ext>
              </a:extLst>
            </p:cNvPr>
            <p:cNvSpPr txBox="1"/>
            <p:nvPr/>
          </p:nvSpPr>
          <p:spPr>
            <a:xfrm>
              <a:off x="10431206" y="1234003"/>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1</a:t>
              </a:r>
              <a:r>
                <a:rPr lang="en-US" sz="4400" b="1" baseline="-25000" dirty="0">
                  <a:solidFill>
                    <a:srgbClr val="FF0000"/>
                  </a:solidFill>
                  <a:latin typeface="Courier New" panose="02070309020205020404" pitchFamily="49" charset="0"/>
                  <a:cs typeface="Courier New" panose="02070309020205020404" pitchFamily="49" charset="0"/>
                </a:rPr>
                <a:t>(50%)</a:t>
              </a:r>
            </a:p>
          </p:txBody>
        </p:sp>
        <p:sp>
          <p:nvSpPr>
            <p:cNvPr id="93" name="TextBox 92">
              <a:extLst>
                <a:ext uri="{FF2B5EF4-FFF2-40B4-BE49-F238E27FC236}">
                  <a16:creationId xmlns:a16="http://schemas.microsoft.com/office/drawing/2014/main" id="{029A6CB1-590D-374E-B398-17B23D7C1226}"/>
                </a:ext>
              </a:extLst>
            </p:cNvPr>
            <p:cNvSpPr txBox="1"/>
            <p:nvPr/>
          </p:nvSpPr>
          <p:spPr>
            <a:xfrm>
              <a:off x="10431206" y="645974"/>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0</a:t>
              </a:r>
              <a:r>
                <a:rPr lang="en-US" sz="4400" b="1" baseline="-25000" dirty="0">
                  <a:solidFill>
                    <a:srgbClr val="FF0000"/>
                  </a:solidFill>
                  <a:latin typeface="Courier New" panose="02070309020205020404" pitchFamily="49" charset="0"/>
                  <a:cs typeface="Courier New" panose="02070309020205020404" pitchFamily="49" charset="0"/>
                </a:rPr>
                <a:t>(50%)</a:t>
              </a:r>
            </a:p>
          </p:txBody>
        </p:sp>
      </p:grpSp>
    </p:spTree>
    <p:extLst>
      <p:ext uri="{BB962C8B-B14F-4D97-AF65-F5344CB8AC3E}">
        <p14:creationId xmlns:p14="http://schemas.microsoft.com/office/powerpoint/2010/main" val="88988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ssolve">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ounded Rectangle 93">
            <a:extLst>
              <a:ext uri="{FF2B5EF4-FFF2-40B4-BE49-F238E27FC236}">
                <a16:creationId xmlns:a16="http://schemas.microsoft.com/office/drawing/2014/main" id="{67F3EBF5-FCB0-9645-AB91-808E2A91C57F}"/>
              </a:ext>
            </a:extLst>
          </p:cNvPr>
          <p:cNvSpPr/>
          <p:nvPr/>
        </p:nvSpPr>
        <p:spPr>
          <a:xfrm>
            <a:off x="909227" y="2075264"/>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457119DE-0C1B-3A4C-A3FE-3C708E313B21}"/>
              </a:ext>
            </a:extLst>
          </p:cNvPr>
          <p:cNvSpPr>
            <a:spLocks noGrp="1"/>
          </p:cNvSpPr>
          <p:nvPr>
            <p:ph type="sldNum" sz="quarter" idx="12"/>
          </p:nvPr>
        </p:nvSpPr>
        <p:spPr/>
        <p:txBody>
          <a:bodyPr/>
          <a:lstStyle/>
          <a:p>
            <a:fld id="{591A223C-FA10-BC46-A853-03BA373D023C}" type="slidenum">
              <a:rPr lang="en-US" smtClean="0"/>
              <a:t>7</a:t>
            </a:fld>
            <a:endParaRPr lang="en-US"/>
          </a:p>
        </p:txBody>
      </p:sp>
      <p:sp>
        <p:nvSpPr>
          <p:cNvPr id="2" name="Title 1">
            <a:extLst>
              <a:ext uri="{FF2B5EF4-FFF2-40B4-BE49-F238E27FC236}">
                <a16:creationId xmlns:a16="http://schemas.microsoft.com/office/drawing/2014/main" id="{A2C1E0B9-C975-C249-8770-B0C635CAFB91}"/>
              </a:ext>
            </a:extLst>
          </p:cNvPr>
          <p:cNvSpPr>
            <a:spLocks noGrp="1"/>
          </p:cNvSpPr>
          <p:nvPr>
            <p:ph type="title"/>
          </p:nvPr>
        </p:nvSpPr>
        <p:spPr/>
        <p:txBody>
          <a:bodyPr>
            <a:normAutofit/>
          </a:bodyPr>
          <a:lstStyle/>
          <a:p>
            <a:r>
              <a:rPr lang="en-ZA" dirty="0"/>
              <a:t>The Role of Measurement Bases</a:t>
            </a:r>
            <a:endParaRPr lang="en-US" dirty="0"/>
          </a:p>
        </p:txBody>
      </p:sp>
      <p:sp>
        <p:nvSpPr>
          <p:cNvPr id="17" name="Rounded Rectangle 16">
            <a:extLst>
              <a:ext uri="{FF2B5EF4-FFF2-40B4-BE49-F238E27FC236}">
                <a16:creationId xmlns:a16="http://schemas.microsoft.com/office/drawing/2014/main" id="{3A723C3F-BFA0-E249-A4C4-21C70293977F}"/>
              </a:ext>
            </a:extLst>
          </p:cNvPr>
          <p:cNvSpPr/>
          <p:nvPr/>
        </p:nvSpPr>
        <p:spPr>
          <a:xfrm>
            <a:off x="789149" y="2152534"/>
            <a:ext cx="2067653" cy="216137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963FD07A-FCB3-3B46-9173-F694A91CC8B6}"/>
              </a:ext>
            </a:extLst>
          </p:cNvPr>
          <p:cNvGrpSpPr/>
          <p:nvPr/>
        </p:nvGrpSpPr>
        <p:grpSpPr>
          <a:xfrm rot="2700000">
            <a:off x="911564" y="2329506"/>
            <a:ext cx="1800000" cy="1800001"/>
            <a:chOff x="911564" y="2329506"/>
            <a:chExt cx="1800000" cy="1800001"/>
          </a:xfrm>
        </p:grpSpPr>
        <p:cxnSp>
          <p:nvCxnSpPr>
            <p:cNvPr id="5" name="Straight Arrow Connector 4">
              <a:extLst>
                <a:ext uri="{FF2B5EF4-FFF2-40B4-BE49-F238E27FC236}">
                  <a16:creationId xmlns:a16="http://schemas.microsoft.com/office/drawing/2014/main" id="{A51657C1-9C4E-9046-90F1-9F0C932BAAC9}"/>
                </a:ext>
              </a:extLst>
            </p:cNvPr>
            <p:cNvCxnSpPr>
              <a:cxnSpLocks/>
            </p:cNvCxnSpPr>
            <p:nvPr/>
          </p:nvCxnSpPr>
          <p:spPr>
            <a:xfrm>
              <a:off x="1803740" y="2329506"/>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4505A0C-5304-E841-AE02-0B8C38EE33E1}"/>
                </a:ext>
              </a:extLst>
            </p:cNvPr>
            <p:cNvCxnSpPr>
              <a:cxnSpLocks/>
            </p:cNvCxnSpPr>
            <p:nvPr/>
          </p:nvCxnSpPr>
          <p:spPr>
            <a:xfrm>
              <a:off x="911564" y="3210975"/>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1538921B-ADD2-2A49-B8ED-80C3910B1204}"/>
              </a:ext>
            </a:extLst>
          </p:cNvPr>
          <p:cNvSpPr txBox="1"/>
          <p:nvPr/>
        </p:nvSpPr>
        <p:spPr>
          <a:xfrm>
            <a:off x="2459564" y="1301334"/>
            <a:ext cx="522900" cy="769441"/>
          </a:xfrm>
          <a:prstGeom prst="rect">
            <a:avLst/>
          </a:prstGeom>
          <a:noFill/>
          <a:effectLst/>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0</a:t>
            </a:r>
          </a:p>
        </p:txBody>
      </p:sp>
      <p:sp>
        <p:nvSpPr>
          <p:cNvPr id="63" name="TextBox 62">
            <a:extLst>
              <a:ext uri="{FF2B5EF4-FFF2-40B4-BE49-F238E27FC236}">
                <a16:creationId xmlns:a16="http://schemas.microsoft.com/office/drawing/2014/main" id="{A4EAE929-5EA6-2945-A436-CCBC5E511E5F}"/>
              </a:ext>
            </a:extLst>
          </p:cNvPr>
          <p:cNvSpPr txBox="1"/>
          <p:nvPr/>
        </p:nvSpPr>
        <p:spPr>
          <a:xfrm>
            <a:off x="4419438" y="6396335"/>
            <a:ext cx="3753528" cy="461665"/>
          </a:xfrm>
          <a:prstGeom prst="rect">
            <a:avLst/>
          </a:prstGeom>
          <a:noFill/>
        </p:spPr>
        <p:txBody>
          <a:bodyPr wrap="none" rtlCol="0">
            <a:spAutoFit/>
          </a:bodyPr>
          <a:lstStyle/>
          <a:p>
            <a:r>
              <a:rPr lang="en-US" sz="2400" dirty="0"/>
              <a:t>diagonal basis measurement</a:t>
            </a:r>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F22A5547-6B06-3A4D-BA65-B72DFA3B9A57}"/>
                  </a:ext>
                </a:extLst>
              </p:cNvPr>
              <p:cNvSpPr/>
              <p:nvPr/>
            </p:nvSpPr>
            <p:spPr>
              <a:xfrm>
                <a:off x="847984" y="5848326"/>
                <a:ext cx="623754"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m:t>
                          </m:r>
                        </m:e>
                      </m:d>
                    </m:oMath>
                  </m:oMathPara>
                </a14:m>
                <a:endParaRPr lang="en-US" sz="2800" dirty="0">
                  <a:solidFill>
                    <a:srgbClr val="C00000"/>
                  </a:solidFill>
                </a:endParaRPr>
              </a:p>
            </p:txBody>
          </p:sp>
        </mc:Choice>
        <mc:Fallback xmlns="">
          <p:sp>
            <p:nvSpPr>
              <p:cNvPr id="52" name="Rectangle 51">
                <a:extLst>
                  <a:ext uri="{FF2B5EF4-FFF2-40B4-BE49-F238E27FC236}">
                    <a16:creationId xmlns:a16="http://schemas.microsoft.com/office/drawing/2014/main" id="{F22A5547-6B06-3A4D-BA65-B72DFA3B9A57}"/>
                  </a:ext>
                </a:extLst>
              </p:cNvPr>
              <p:cNvSpPr>
                <a:spLocks noRot="1" noChangeAspect="1" noMove="1" noResize="1" noEditPoints="1" noAdjustHandles="1" noChangeArrowheads="1" noChangeShapeType="1" noTextEdit="1"/>
              </p:cNvSpPr>
              <p:nvPr/>
            </p:nvSpPr>
            <p:spPr>
              <a:xfrm>
                <a:off x="847984" y="5848326"/>
                <a:ext cx="623754" cy="523220"/>
              </a:xfrm>
              <a:prstGeom prst="rect">
                <a:avLst/>
              </a:prstGeom>
              <a:blipFill>
                <a:blip r:embed="rId3"/>
                <a:stretch>
                  <a:fillRect/>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51F1C74B-3682-B544-9F2E-AEDDA407DEF2}"/>
              </a:ext>
            </a:extLst>
          </p:cNvPr>
          <p:cNvCxnSpPr>
            <a:cxnSpLocks/>
          </p:cNvCxnSpPr>
          <p:nvPr/>
        </p:nvCxnSpPr>
        <p:spPr>
          <a:xfrm rot="2700000" flipV="1">
            <a:off x="1643611" y="4444986"/>
            <a:ext cx="0" cy="1548000"/>
          </a:xfrm>
          <a:prstGeom prst="straightConnector1">
            <a:avLst/>
          </a:prstGeom>
          <a:ln w="88900" cap="rnd">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4AE59C0A-3E9C-F343-A92F-38E562D632AF}"/>
              </a:ext>
            </a:extLst>
          </p:cNvPr>
          <p:cNvGrpSpPr/>
          <p:nvPr/>
        </p:nvGrpSpPr>
        <p:grpSpPr>
          <a:xfrm>
            <a:off x="9570813" y="645974"/>
            <a:ext cx="2513410" cy="5906566"/>
            <a:chOff x="9570813" y="645974"/>
            <a:chExt cx="2513410" cy="5906566"/>
          </a:xfrm>
        </p:grpSpPr>
        <p:sp>
          <p:nvSpPr>
            <p:cNvPr id="97" name="Rounded Rectangle 96">
              <a:extLst>
                <a:ext uri="{FF2B5EF4-FFF2-40B4-BE49-F238E27FC236}">
                  <a16:creationId xmlns:a16="http://schemas.microsoft.com/office/drawing/2014/main" id="{AF623ED6-7F3B-9549-847E-6DCFB4A32FA4}"/>
                </a:ext>
              </a:extLst>
            </p:cNvPr>
            <p:cNvSpPr/>
            <p:nvPr/>
          </p:nvSpPr>
          <p:spPr>
            <a:xfrm>
              <a:off x="9674561" y="2091593"/>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DCD784F8-325F-5A40-ACA9-2223DE96085B}"/>
                    </a:ext>
                  </a:extLst>
                </p:cNvPr>
                <p:cNvSpPr/>
                <p:nvPr/>
              </p:nvSpPr>
              <p:spPr>
                <a:xfrm>
                  <a:off x="10237189" y="5967765"/>
                  <a:ext cx="7825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rgbClr val="C00000"/>
                                </a:solidFill>
                                <a:latin typeface="Cambria Math" panose="02040503050406030204" pitchFamily="18" charset="0"/>
                              </a:rPr>
                            </m:ctrlPr>
                          </m:dPr>
                          <m:e>
                            <m:r>
                              <a:rPr lang="en-US" sz="3200" b="0" i="1" smtClean="0">
                                <a:solidFill>
                                  <a:srgbClr val="C00000"/>
                                </a:solidFill>
                                <a:latin typeface="Cambria Math" panose="02040503050406030204" pitchFamily="18" charset="0"/>
                              </a:rPr>
                              <m:t>1</m:t>
                            </m:r>
                          </m:e>
                        </m:d>
                      </m:oMath>
                    </m:oMathPara>
                  </a14:m>
                  <a:endParaRPr lang="en-US" sz="3200" dirty="0">
                    <a:solidFill>
                      <a:srgbClr val="C00000"/>
                    </a:solidFill>
                  </a:endParaRPr>
                </a:p>
              </p:txBody>
            </p:sp>
          </mc:Choice>
          <mc:Fallback xmlns="">
            <p:sp>
              <p:nvSpPr>
                <p:cNvPr id="37" name="Rectangle 36">
                  <a:extLst>
                    <a:ext uri="{FF2B5EF4-FFF2-40B4-BE49-F238E27FC236}">
                      <a16:creationId xmlns:a16="http://schemas.microsoft.com/office/drawing/2014/main" id="{DCD784F8-325F-5A40-ACA9-2223DE96085B}"/>
                    </a:ext>
                  </a:extLst>
                </p:cNvPr>
                <p:cNvSpPr>
                  <a:spLocks noRot="1" noChangeAspect="1" noMove="1" noResize="1" noEditPoints="1" noAdjustHandles="1" noChangeArrowheads="1" noChangeShapeType="1" noTextEdit="1"/>
                </p:cNvSpPr>
                <p:nvPr/>
              </p:nvSpPr>
              <p:spPr>
                <a:xfrm>
                  <a:off x="10237189" y="5967765"/>
                  <a:ext cx="782586" cy="584775"/>
                </a:xfrm>
                <a:prstGeom prst="rect">
                  <a:avLst/>
                </a:prstGeom>
                <a:blipFill>
                  <a:blip r:embed="rId4"/>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EAF67EE-2B79-7C4C-9074-DA45CE9AEF0A}"/>
                </a:ext>
              </a:extLst>
            </p:cNvPr>
            <p:cNvCxnSpPr>
              <a:cxnSpLocks/>
            </p:cNvCxnSpPr>
            <p:nvPr/>
          </p:nvCxnSpPr>
          <p:spPr>
            <a:xfrm flipV="1">
              <a:off x="10628482" y="4419765"/>
              <a:ext cx="0" cy="1548000"/>
            </a:xfrm>
            <a:prstGeom prst="straightConnector1">
              <a:avLst/>
            </a:prstGeom>
            <a:ln w="88900" cap="rnd">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8" name="Rounded Rectangle 87">
              <a:extLst>
                <a:ext uri="{FF2B5EF4-FFF2-40B4-BE49-F238E27FC236}">
                  <a16:creationId xmlns:a16="http://schemas.microsoft.com/office/drawing/2014/main" id="{94A440D0-99A0-8A41-AF22-D4BE53F4A932}"/>
                </a:ext>
              </a:extLst>
            </p:cNvPr>
            <p:cNvSpPr/>
            <p:nvPr/>
          </p:nvSpPr>
          <p:spPr>
            <a:xfrm>
              <a:off x="9570813" y="2152534"/>
              <a:ext cx="2067653" cy="216137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TextBox 91">
              <a:extLst>
                <a:ext uri="{FF2B5EF4-FFF2-40B4-BE49-F238E27FC236}">
                  <a16:creationId xmlns:a16="http://schemas.microsoft.com/office/drawing/2014/main" id="{1F8F550B-E281-CF4F-8FE6-E5D048E11C74}"/>
                </a:ext>
              </a:extLst>
            </p:cNvPr>
            <p:cNvSpPr txBox="1"/>
            <p:nvPr/>
          </p:nvSpPr>
          <p:spPr>
            <a:xfrm>
              <a:off x="10431206" y="1234003"/>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1</a:t>
              </a:r>
              <a:r>
                <a:rPr lang="en-US" sz="4400" b="1" baseline="-25000" dirty="0">
                  <a:solidFill>
                    <a:srgbClr val="FF0000"/>
                  </a:solidFill>
                  <a:latin typeface="Courier New" panose="02070309020205020404" pitchFamily="49" charset="0"/>
                  <a:cs typeface="Courier New" panose="02070309020205020404" pitchFamily="49" charset="0"/>
                </a:rPr>
                <a:t>(50%)</a:t>
              </a:r>
            </a:p>
          </p:txBody>
        </p:sp>
        <p:sp>
          <p:nvSpPr>
            <p:cNvPr id="93" name="TextBox 92">
              <a:extLst>
                <a:ext uri="{FF2B5EF4-FFF2-40B4-BE49-F238E27FC236}">
                  <a16:creationId xmlns:a16="http://schemas.microsoft.com/office/drawing/2014/main" id="{029A6CB1-590D-374E-B398-17B23D7C1226}"/>
                </a:ext>
              </a:extLst>
            </p:cNvPr>
            <p:cNvSpPr txBox="1"/>
            <p:nvPr/>
          </p:nvSpPr>
          <p:spPr>
            <a:xfrm>
              <a:off x="10431206" y="645974"/>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0</a:t>
              </a:r>
              <a:r>
                <a:rPr lang="en-US" sz="4400" b="1" baseline="-25000" dirty="0">
                  <a:solidFill>
                    <a:srgbClr val="FF0000"/>
                  </a:solidFill>
                  <a:latin typeface="Courier New" panose="02070309020205020404" pitchFamily="49" charset="0"/>
                  <a:cs typeface="Courier New" panose="02070309020205020404" pitchFamily="49" charset="0"/>
                </a:rPr>
                <a:t>(50%)</a:t>
              </a:r>
            </a:p>
          </p:txBody>
        </p:sp>
      </p:grpSp>
      <p:grpSp>
        <p:nvGrpSpPr>
          <p:cNvPr id="16" name="Group 15">
            <a:extLst>
              <a:ext uri="{FF2B5EF4-FFF2-40B4-BE49-F238E27FC236}">
                <a16:creationId xmlns:a16="http://schemas.microsoft.com/office/drawing/2014/main" id="{63EB9E67-CDA0-C247-82E9-F79D362E1935}"/>
              </a:ext>
            </a:extLst>
          </p:cNvPr>
          <p:cNvGrpSpPr/>
          <p:nvPr/>
        </p:nvGrpSpPr>
        <p:grpSpPr>
          <a:xfrm>
            <a:off x="6643591" y="706315"/>
            <a:ext cx="2825648" cy="5228908"/>
            <a:chOff x="6643591" y="706315"/>
            <a:chExt cx="2825648" cy="5228908"/>
          </a:xfrm>
        </p:grpSpPr>
        <p:sp>
          <p:nvSpPr>
            <p:cNvPr id="96" name="Rounded Rectangle 95">
              <a:extLst>
                <a:ext uri="{FF2B5EF4-FFF2-40B4-BE49-F238E27FC236}">
                  <a16:creationId xmlns:a16="http://schemas.microsoft.com/office/drawing/2014/main" id="{86493746-B404-DC43-8E65-20D1E2FFE99B}"/>
                </a:ext>
              </a:extLst>
            </p:cNvPr>
            <p:cNvSpPr/>
            <p:nvPr/>
          </p:nvSpPr>
          <p:spPr>
            <a:xfrm>
              <a:off x="6747340" y="2058935"/>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00C82235-D4B3-6542-8847-22C417DAF341}"/>
                </a:ext>
              </a:extLst>
            </p:cNvPr>
            <p:cNvCxnSpPr>
              <a:cxnSpLocks/>
            </p:cNvCxnSpPr>
            <p:nvPr/>
          </p:nvCxnSpPr>
          <p:spPr>
            <a:xfrm rot="5400000" flipV="1">
              <a:off x="7700773" y="4542275"/>
              <a:ext cx="0" cy="1548000"/>
            </a:xfrm>
            <a:prstGeom prst="straightConnector1">
              <a:avLst/>
            </a:prstGeom>
            <a:ln w="88900" cap="rnd">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1E3AD595-C25C-B14B-8B18-E1EB54E4B239}"/>
                    </a:ext>
                  </a:extLst>
                </p:cNvPr>
                <p:cNvSpPr/>
                <p:nvPr/>
              </p:nvSpPr>
              <p:spPr>
                <a:xfrm>
                  <a:off x="7346830" y="5412003"/>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0</m:t>
                            </m:r>
                          </m:e>
                        </m:d>
                      </m:oMath>
                    </m:oMathPara>
                  </a14:m>
                  <a:endParaRPr lang="en-US" sz="2800" dirty="0">
                    <a:solidFill>
                      <a:srgbClr val="C00000"/>
                    </a:solidFill>
                  </a:endParaRPr>
                </a:p>
              </p:txBody>
            </p:sp>
          </mc:Choice>
          <mc:Fallback xmlns="">
            <p:sp>
              <p:nvSpPr>
                <p:cNvPr id="60" name="Rectangle 59">
                  <a:extLst>
                    <a:ext uri="{FF2B5EF4-FFF2-40B4-BE49-F238E27FC236}">
                      <a16:creationId xmlns:a16="http://schemas.microsoft.com/office/drawing/2014/main" id="{1E3AD595-C25C-B14B-8B18-E1EB54E4B239}"/>
                    </a:ext>
                  </a:extLst>
                </p:cNvPr>
                <p:cNvSpPr>
                  <a:spLocks noRot="1" noChangeAspect="1" noMove="1" noResize="1" noEditPoints="1" noAdjustHandles="1" noChangeArrowheads="1" noChangeShapeType="1" noTextEdit="1"/>
                </p:cNvSpPr>
                <p:nvPr/>
              </p:nvSpPr>
              <p:spPr>
                <a:xfrm>
                  <a:off x="7346830" y="5412003"/>
                  <a:ext cx="707886" cy="523220"/>
                </a:xfrm>
                <a:prstGeom prst="rect">
                  <a:avLst/>
                </a:prstGeom>
                <a:blipFill>
                  <a:blip r:embed="rId5"/>
                  <a:stretch>
                    <a:fillRect/>
                  </a:stretch>
                </a:blipFill>
              </p:spPr>
              <p:txBody>
                <a:bodyPr/>
                <a:lstStyle/>
                <a:p>
                  <a:r>
                    <a:rPr lang="en-US">
                      <a:noFill/>
                    </a:rPr>
                    <a:t> </a:t>
                  </a:r>
                </a:p>
              </p:txBody>
            </p:sp>
          </mc:Fallback>
        </mc:AlternateContent>
        <p:sp>
          <p:nvSpPr>
            <p:cNvPr id="71" name="Rounded Rectangle 70">
              <a:extLst>
                <a:ext uri="{FF2B5EF4-FFF2-40B4-BE49-F238E27FC236}">
                  <a16:creationId xmlns:a16="http://schemas.microsoft.com/office/drawing/2014/main" id="{CBADEF4B-0BC3-A045-8217-95B086ECF443}"/>
                </a:ext>
              </a:extLst>
            </p:cNvPr>
            <p:cNvSpPr/>
            <p:nvPr/>
          </p:nvSpPr>
          <p:spPr>
            <a:xfrm>
              <a:off x="6643591" y="2124184"/>
              <a:ext cx="2067653" cy="216137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B1C51566-2FBC-4649-BAED-60C6B5090390}"/>
                </a:ext>
              </a:extLst>
            </p:cNvPr>
            <p:cNvSpPr txBox="1"/>
            <p:nvPr/>
          </p:nvSpPr>
          <p:spPr>
            <a:xfrm>
              <a:off x="7816222" y="1294344"/>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1</a:t>
              </a:r>
              <a:r>
                <a:rPr lang="en-US" sz="4400" b="1" baseline="-25000" dirty="0">
                  <a:solidFill>
                    <a:srgbClr val="FF0000"/>
                  </a:solidFill>
                  <a:latin typeface="Courier New" panose="02070309020205020404" pitchFamily="49" charset="0"/>
                  <a:cs typeface="Courier New" panose="02070309020205020404" pitchFamily="49" charset="0"/>
                </a:rPr>
                <a:t>(50%)</a:t>
              </a:r>
            </a:p>
          </p:txBody>
        </p:sp>
        <p:sp>
          <p:nvSpPr>
            <p:cNvPr id="61" name="TextBox 60">
              <a:extLst>
                <a:ext uri="{FF2B5EF4-FFF2-40B4-BE49-F238E27FC236}">
                  <a16:creationId xmlns:a16="http://schemas.microsoft.com/office/drawing/2014/main" id="{C6B06525-CAF6-0647-8E49-13C70325AFF1}"/>
                </a:ext>
              </a:extLst>
            </p:cNvPr>
            <p:cNvSpPr txBox="1"/>
            <p:nvPr/>
          </p:nvSpPr>
          <p:spPr>
            <a:xfrm>
              <a:off x="7816222" y="706315"/>
              <a:ext cx="1653017" cy="769441"/>
            </a:xfrm>
            <a:prstGeom prst="rect">
              <a:avLst/>
            </a:prstGeom>
            <a:noFill/>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0</a:t>
              </a:r>
              <a:r>
                <a:rPr lang="en-US" sz="4400" b="1" baseline="-25000" dirty="0">
                  <a:solidFill>
                    <a:srgbClr val="FF0000"/>
                  </a:solidFill>
                  <a:latin typeface="Courier New" panose="02070309020205020404" pitchFamily="49" charset="0"/>
                  <a:cs typeface="Courier New" panose="02070309020205020404" pitchFamily="49" charset="0"/>
                </a:rPr>
                <a:t>(50%)</a:t>
              </a:r>
            </a:p>
          </p:txBody>
        </p:sp>
        <p:grpSp>
          <p:nvGrpSpPr>
            <p:cNvPr id="12" name="Group 11">
              <a:extLst>
                <a:ext uri="{FF2B5EF4-FFF2-40B4-BE49-F238E27FC236}">
                  <a16:creationId xmlns:a16="http://schemas.microsoft.com/office/drawing/2014/main" id="{682973F3-F0C6-524D-A7D4-0A1C5B7ABE66}"/>
                </a:ext>
              </a:extLst>
            </p:cNvPr>
            <p:cNvGrpSpPr/>
            <p:nvPr/>
          </p:nvGrpSpPr>
          <p:grpSpPr>
            <a:xfrm rot="2700000">
              <a:off x="6766006" y="2301156"/>
              <a:ext cx="1800000" cy="1800001"/>
              <a:chOff x="6766006" y="2301156"/>
              <a:chExt cx="1800000" cy="1800001"/>
            </a:xfrm>
          </p:grpSpPr>
          <p:cxnSp>
            <p:nvCxnSpPr>
              <p:cNvPr id="72" name="Straight Arrow Connector 71">
                <a:extLst>
                  <a:ext uri="{FF2B5EF4-FFF2-40B4-BE49-F238E27FC236}">
                    <a16:creationId xmlns:a16="http://schemas.microsoft.com/office/drawing/2014/main" id="{F3812B92-C107-F749-9EFA-8B35B370A46D}"/>
                  </a:ext>
                </a:extLst>
              </p:cNvPr>
              <p:cNvCxnSpPr>
                <a:cxnSpLocks/>
              </p:cNvCxnSpPr>
              <p:nvPr/>
            </p:nvCxnSpPr>
            <p:spPr>
              <a:xfrm>
                <a:off x="7658182" y="2301156"/>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FBE0655-3B33-8641-97CB-B04CEB20FAA0}"/>
                  </a:ext>
                </a:extLst>
              </p:cNvPr>
              <p:cNvCxnSpPr>
                <a:cxnSpLocks/>
              </p:cNvCxnSpPr>
              <p:nvPr/>
            </p:nvCxnSpPr>
            <p:spPr>
              <a:xfrm>
                <a:off x="6766006" y="3182625"/>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14" name="Group 13">
            <a:extLst>
              <a:ext uri="{FF2B5EF4-FFF2-40B4-BE49-F238E27FC236}">
                <a16:creationId xmlns:a16="http://schemas.microsoft.com/office/drawing/2014/main" id="{8C5B3889-85AE-5049-80DD-22DA61871F97}"/>
              </a:ext>
            </a:extLst>
          </p:cNvPr>
          <p:cNvGrpSpPr/>
          <p:nvPr/>
        </p:nvGrpSpPr>
        <p:grpSpPr>
          <a:xfrm rot="2700000">
            <a:off x="9693228" y="2329506"/>
            <a:ext cx="1800000" cy="1800001"/>
            <a:chOff x="9693228" y="2329506"/>
            <a:chExt cx="1800000" cy="1800001"/>
          </a:xfrm>
        </p:grpSpPr>
        <p:cxnSp>
          <p:nvCxnSpPr>
            <p:cNvPr id="89" name="Straight Arrow Connector 88">
              <a:extLst>
                <a:ext uri="{FF2B5EF4-FFF2-40B4-BE49-F238E27FC236}">
                  <a16:creationId xmlns:a16="http://schemas.microsoft.com/office/drawing/2014/main" id="{E7777873-594A-DD4F-B519-F6A4B2D63B86}"/>
                </a:ext>
              </a:extLst>
            </p:cNvPr>
            <p:cNvCxnSpPr>
              <a:cxnSpLocks/>
            </p:cNvCxnSpPr>
            <p:nvPr/>
          </p:nvCxnSpPr>
          <p:spPr>
            <a:xfrm>
              <a:off x="10585404" y="2329506"/>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312DC33-64E5-7F46-A17B-AB24AB8696EC}"/>
                </a:ext>
              </a:extLst>
            </p:cNvPr>
            <p:cNvCxnSpPr>
              <a:cxnSpLocks/>
            </p:cNvCxnSpPr>
            <p:nvPr/>
          </p:nvCxnSpPr>
          <p:spPr>
            <a:xfrm>
              <a:off x="9693228" y="3210975"/>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EB3723C-5AF2-3F4E-A474-F65B9B97623B}"/>
              </a:ext>
            </a:extLst>
          </p:cNvPr>
          <p:cNvGrpSpPr/>
          <p:nvPr/>
        </p:nvGrpSpPr>
        <p:grpSpPr>
          <a:xfrm>
            <a:off x="3716370" y="1255226"/>
            <a:ext cx="2311376" cy="5059762"/>
            <a:chOff x="3716370" y="1255226"/>
            <a:chExt cx="2311376" cy="5059762"/>
          </a:xfrm>
        </p:grpSpPr>
        <p:sp>
          <p:nvSpPr>
            <p:cNvPr id="95" name="Rounded Rectangle 94">
              <a:extLst>
                <a:ext uri="{FF2B5EF4-FFF2-40B4-BE49-F238E27FC236}">
                  <a16:creationId xmlns:a16="http://schemas.microsoft.com/office/drawing/2014/main" id="{84CDEE8C-6372-CE4B-81B7-F3B82552B4F7}"/>
                </a:ext>
              </a:extLst>
            </p:cNvPr>
            <p:cNvSpPr/>
            <p:nvPr/>
          </p:nvSpPr>
          <p:spPr>
            <a:xfrm>
              <a:off x="3820119" y="2026277"/>
              <a:ext cx="2067653" cy="216137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TextBox 90">
              <a:extLst>
                <a:ext uri="{FF2B5EF4-FFF2-40B4-BE49-F238E27FC236}">
                  <a16:creationId xmlns:a16="http://schemas.microsoft.com/office/drawing/2014/main" id="{3867ADB0-2697-8B4B-B2E5-4701AC06C283}"/>
                </a:ext>
              </a:extLst>
            </p:cNvPr>
            <p:cNvSpPr txBox="1"/>
            <p:nvPr/>
          </p:nvSpPr>
          <p:spPr>
            <a:xfrm>
              <a:off x="5504846" y="1255226"/>
              <a:ext cx="522900" cy="769441"/>
            </a:xfrm>
            <a:prstGeom prst="rect">
              <a:avLst/>
            </a:prstGeom>
            <a:noFill/>
            <a:effectLst/>
          </p:spPr>
          <p:txBody>
            <a:bodyPr wrap="none" rtlCol="0">
              <a:spAutoFit/>
            </a:bodyPr>
            <a:lstStyle/>
            <a:p>
              <a:r>
                <a:rPr lang="en-US" sz="4400" b="1" dirty="0">
                  <a:solidFill>
                    <a:srgbClr val="FF0000"/>
                  </a:solidFill>
                  <a:latin typeface="Courier New" panose="02070309020205020404" pitchFamily="49" charset="0"/>
                  <a:cs typeface="Courier New" panose="02070309020205020404" pitchFamily="49" charset="0"/>
                </a:rPr>
                <a:t>1</a:t>
              </a:r>
            </a:p>
          </p:txBody>
        </p:sp>
        <p:cxnSp>
          <p:nvCxnSpPr>
            <p:cNvPr id="48" name="Straight Arrow Connector 47">
              <a:extLst>
                <a:ext uri="{FF2B5EF4-FFF2-40B4-BE49-F238E27FC236}">
                  <a16:creationId xmlns:a16="http://schemas.microsoft.com/office/drawing/2014/main" id="{22855F65-7635-5B43-877E-8166CE5D9619}"/>
                </a:ext>
              </a:extLst>
            </p:cNvPr>
            <p:cNvCxnSpPr>
              <a:cxnSpLocks/>
            </p:cNvCxnSpPr>
            <p:nvPr/>
          </p:nvCxnSpPr>
          <p:spPr>
            <a:xfrm rot="8100000" flipV="1">
              <a:off x="4865195" y="4388428"/>
              <a:ext cx="0" cy="1548000"/>
            </a:xfrm>
            <a:prstGeom prst="straightConnector1">
              <a:avLst/>
            </a:prstGeom>
            <a:ln w="88900" cap="rnd">
              <a:solidFill>
                <a:srgbClr val="C00000"/>
              </a:solidFill>
              <a:headEnd type="triangl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D672681E-43ED-8043-8B36-4BE9FAEDE7E1}"/>
                    </a:ext>
                  </a:extLst>
                </p:cNvPr>
                <p:cNvSpPr/>
                <p:nvPr/>
              </p:nvSpPr>
              <p:spPr>
                <a:xfrm>
                  <a:off x="5054196" y="5791768"/>
                  <a:ext cx="623754"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C00000"/>
                                </a:solidFill>
                                <a:latin typeface="Cambria Math" panose="02040503050406030204" pitchFamily="18" charset="0"/>
                              </a:rPr>
                            </m:ctrlPr>
                          </m:dPr>
                          <m:e>
                            <m:r>
                              <a:rPr lang="en-US" sz="2800" b="0" i="1" smtClean="0">
                                <a:solidFill>
                                  <a:srgbClr val="C00000"/>
                                </a:solidFill>
                                <a:latin typeface="Cambria Math" panose="02040503050406030204" pitchFamily="18" charset="0"/>
                              </a:rPr>
                              <m:t>−</m:t>
                            </m:r>
                          </m:e>
                        </m:d>
                      </m:oMath>
                    </m:oMathPara>
                  </a14:m>
                  <a:endParaRPr lang="en-US" sz="2800" dirty="0">
                    <a:solidFill>
                      <a:srgbClr val="C00000"/>
                    </a:solidFill>
                  </a:endParaRPr>
                </a:p>
              </p:txBody>
            </p:sp>
          </mc:Choice>
          <mc:Fallback xmlns="">
            <p:sp>
              <p:nvSpPr>
                <p:cNvPr id="74" name="Rectangle 73">
                  <a:extLst>
                    <a:ext uri="{FF2B5EF4-FFF2-40B4-BE49-F238E27FC236}">
                      <a16:creationId xmlns:a16="http://schemas.microsoft.com/office/drawing/2014/main" id="{D672681E-43ED-8043-8B36-4BE9FAEDE7E1}"/>
                    </a:ext>
                  </a:extLst>
                </p:cNvPr>
                <p:cNvSpPr>
                  <a:spLocks noRot="1" noChangeAspect="1" noMove="1" noResize="1" noEditPoints="1" noAdjustHandles="1" noChangeArrowheads="1" noChangeShapeType="1" noTextEdit="1"/>
                </p:cNvSpPr>
                <p:nvPr/>
              </p:nvSpPr>
              <p:spPr>
                <a:xfrm>
                  <a:off x="5054196" y="5791768"/>
                  <a:ext cx="623754" cy="523220"/>
                </a:xfrm>
                <a:prstGeom prst="rect">
                  <a:avLst/>
                </a:prstGeom>
                <a:blipFill>
                  <a:blip r:embed="rId6"/>
                  <a:stretch>
                    <a:fillRect/>
                  </a:stretch>
                </a:blipFill>
              </p:spPr>
              <p:txBody>
                <a:bodyPr/>
                <a:lstStyle/>
                <a:p>
                  <a:r>
                    <a:rPr lang="en-US">
                      <a:noFill/>
                    </a:rPr>
                    <a:t> </a:t>
                  </a:r>
                </a:p>
              </p:txBody>
            </p:sp>
          </mc:Fallback>
        </mc:AlternateContent>
        <p:sp>
          <p:nvSpPr>
            <p:cNvPr id="51" name="Rounded Rectangle 50">
              <a:extLst>
                <a:ext uri="{FF2B5EF4-FFF2-40B4-BE49-F238E27FC236}">
                  <a16:creationId xmlns:a16="http://schemas.microsoft.com/office/drawing/2014/main" id="{80FBAA16-2F48-7243-A24B-BA93CABA10C7}"/>
                </a:ext>
              </a:extLst>
            </p:cNvPr>
            <p:cNvSpPr/>
            <p:nvPr/>
          </p:nvSpPr>
          <p:spPr>
            <a:xfrm>
              <a:off x="3716370" y="2097034"/>
              <a:ext cx="2067653" cy="216137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06C7F758-92EA-3947-9643-A38687DB4CCE}"/>
                </a:ext>
              </a:extLst>
            </p:cNvPr>
            <p:cNvGrpSpPr/>
            <p:nvPr/>
          </p:nvGrpSpPr>
          <p:grpSpPr>
            <a:xfrm rot="2700000">
              <a:off x="3838785" y="2274006"/>
              <a:ext cx="1800000" cy="1800001"/>
              <a:chOff x="3838785" y="2274006"/>
              <a:chExt cx="1800000" cy="1800001"/>
            </a:xfrm>
          </p:grpSpPr>
          <p:cxnSp>
            <p:nvCxnSpPr>
              <p:cNvPr id="68" name="Straight Arrow Connector 67">
                <a:extLst>
                  <a:ext uri="{FF2B5EF4-FFF2-40B4-BE49-F238E27FC236}">
                    <a16:creationId xmlns:a16="http://schemas.microsoft.com/office/drawing/2014/main" id="{37DAD286-DC45-7440-997A-52CF9E392148}"/>
                  </a:ext>
                </a:extLst>
              </p:cNvPr>
              <p:cNvCxnSpPr>
                <a:cxnSpLocks/>
              </p:cNvCxnSpPr>
              <p:nvPr/>
            </p:nvCxnSpPr>
            <p:spPr>
              <a:xfrm>
                <a:off x="4730961" y="2274006"/>
                <a:ext cx="3912" cy="1800001"/>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C4C228E2-1C21-9742-BAC0-8E702EFCA30F}"/>
                  </a:ext>
                </a:extLst>
              </p:cNvPr>
              <p:cNvCxnSpPr>
                <a:cxnSpLocks/>
              </p:cNvCxnSpPr>
              <p:nvPr/>
            </p:nvCxnSpPr>
            <p:spPr>
              <a:xfrm>
                <a:off x="3838785" y="3155475"/>
                <a:ext cx="1800000" cy="0"/>
              </a:xfrm>
              <a:prstGeom prst="straightConnector1">
                <a:avLst/>
              </a:prstGeom>
              <a:ln w="152400" cap="rnd">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2642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D00E0F-8ED8-7148-A57F-64A04F9C5C83}"/>
              </a:ext>
            </a:extLst>
          </p:cNvPr>
          <p:cNvPicPr>
            <a:picLocks noChangeAspect="1"/>
          </p:cNvPicPr>
          <p:nvPr/>
        </p:nvPicPr>
        <p:blipFill>
          <a:blip r:embed="rId3"/>
          <a:stretch>
            <a:fillRect/>
          </a:stretch>
        </p:blipFill>
        <p:spPr>
          <a:xfrm>
            <a:off x="2826396" y="383592"/>
            <a:ext cx="6834717" cy="4681709"/>
          </a:xfrm>
          <a:prstGeom prst="rect">
            <a:avLst/>
          </a:prstGeom>
        </p:spPr>
      </p:pic>
      <p:pic>
        <p:nvPicPr>
          <p:cNvPr id="9" name="Picture 8">
            <a:extLst>
              <a:ext uri="{FF2B5EF4-FFF2-40B4-BE49-F238E27FC236}">
                <a16:creationId xmlns:a16="http://schemas.microsoft.com/office/drawing/2014/main" id="{15AFD1B2-E8AC-B94E-92F1-7B1C1972646F}"/>
              </a:ext>
            </a:extLst>
          </p:cNvPr>
          <p:cNvPicPr>
            <a:picLocks noChangeAspect="1"/>
          </p:cNvPicPr>
          <p:nvPr/>
        </p:nvPicPr>
        <p:blipFill>
          <a:blip r:embed="rId4">
            <a:alphaModFix amt="68000"/>
            <a:extLst>
              <a:ext uri="{BEBA8EAE-BF5A-486C-A8C5-ECC9F3942E4B}">
                <a14:imgProps xmlns:a14="http://schemas.microsoft.com/office/drawing/2010/main">
                  <a14:imgLayer>
                    <a14:imgEffect>
                      <a14:sharpenSoften amount="-100000"/>
                    </a14:imgEffect>
                  </a14:imgLayer>
                </a14:imgProps>
              </a:ext>
            </a:extLst>
          </a:blip>
          <a:stretch>
            <a:fillRect/>
          </a:stretch>
        </p:blipFill>
        <p:spPr>
          <a:xfrm>
            <a:off x="401028" y="1026987"/>
            <a:ext cx="10935856" cy="4908885"/>
          </a:xfrm>
          <a:prstGeom prst="rect">
            <a:avLst/>
          </a:prstGeom>
        </p:spPr>
      </p:pic>
      <p:pic>
        <p:nvPicPr>
          <p:cNvPr id="4" name="Picture 3">
            <a:extLst>
              <a:ext uri="{FF2B5EF4-FFF2-40B4-BE49-F238E27FC236}">
                <a16:creationId xmlns:a16="http://schemas.microsoft.com/office/drawing/2014/main" id="{3D79598E-FBE1-484F-A6DD-27F95138D107}"/>
              </a:ext>
            </a:extLst>
          </p:cNvPr>
          <p:cNvPicPr>
            <a:picLocks noChangeAspect="1"/>
          </p:cNvPicPr>
          <p:nvPr/>
        </p:nvPicPr>
        <p:blipFill>
          <a:blip r:embed="rId5"/>
          <a:stretch>
            <a:fillRect/>
          </a:stretch>
        </p:blipFill>
        <p:spPr>
          <a:xfrm>
            <a:off x="1522733" y="2318359"/>
            <a:ext cx="9153287" cy="2864114"/>
          </a:xfrm>
          <a:prstGeom prst="rect">
            <a:avLst/>
          </a:prstGeom>
        </p:spPr>
      </p:pic>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8</a:t>
            </a:fld>
            <a:endParaRPr lang="en-US" dirty="0"/>
          </a:p>
        </p:txBody>
      </p:sp>
      <p:sp>
        <p:nvSpPr>
          <p:cNvPr id="11" name="TextBox 10">
            <a:extLst>
              <a:ext uri="{FF2B5EF4-FFF2-40B4-BE49-F238E27FC236}">
                <a16:creationId xmlns:a16="http://schemas.microsoft.com/office/drawing/2014/main" id="{1F565EF2-9E55-BF43-B3BC-B25BA20E9C86}"/>
              </a:ext>
            </a:extLst>
          </p:cNvPr>
          <p:cNvSpPr txBox="1"/>
          <p:nvPr/>
        </p:nvSpPr>
        <p:spPr>
          <a:xfrm>
            <a:off x="3155103" y="5723434"/>
            <a:ext cx="6247223" cy="769441"/>
          </a:xfrm>
          <a:prstGeom prst="rect">
            <a:avLst/>
          </a:prstGeom>
          <a:noFill/>
        </p:spPr>
        <p:txBody>
          <a:bodyPr wrap="none" rtlCol="0">
            <a:spAutoFit/>
          </a:bodyPr>
          <a:lstStyle/>
          <a:p>
            <a:r>
              <a:rPr lang="en-US" sz="4400" dirty="0">
                <a:latin typeface="Comic Sans MS" panose="030F0902030302020204" pitchFamily="66" charset="0"/>
              </a:rPr>
              <a:t>Quantum entanglement</a:t>
            </a:r>
          </a:p>
        </p:txBody>
      </p:sp>
      <p:pic>
        <p:nvPicPr>
          <p:cNvPr id="7" name="Picture 6">
            <a:extLst>
              <a:ext uri="{FF2B5EF4-FFF2-40B4-BE49-F238E27FC236}">
                <a16:creationId xmlns:a16="http://schemas.microsoft.com/office/drawing/2014/main" id="{1795A927-77DF-8046-B485-6ACBC7958B4F}"/>
              </a:ext>
            </a:extLst>
          </p:cNvPr>
          <p:cNvPicPr>
            <a:picLocks noChangeAspect="1"/>
          </p:cNvPicPr>
          <p:nvPr/>
        </p:nvPicPr>
        <p:blipFill>
          <a:blip r:embed="rId4">
            <a:alphaModFix amt="68000"/>
            <a:extLst>
              <a:ext uri="{BEBA8EAE-BF5A-486C-A8C5-ECC9F3942E4B}">
                <a14:imgProps xmlns:a14="http://schemas.microsoft.com/office/drawing/2010/main">
                  <a14:imgLayer>
                    <a14:imgEffect>
                      <a14:sharpenSoften amount="-100000"/>
                    </a14:imgEffect>
                  </a14:imgLayer>
                </a14:imgProps>
              </a:ext>
            </a:extLst>
          </a:blip>
          <a:stretch>
            <a:fillRect/>
          </a:stretch>
        </p:blipFill>
        <p:spPr>
          <a:xfrm>
            <a:off x="553428" y="1179387"/>
            <a:ext cx="10935856" cy="4908885"/>
          </a:xfrm>
          <a:prstGeom prst="rect">
            <a:avLst/>
          </a:prstGeom>
        </p:spPr>
      </p:pic>
    </p:spTree>
    <p:extLst>
      <p:ext uri="{BB962C8B-B14F-4D97-AF65-F5344CB8AC3E}">
        <p14:creationId xmlns:p14="http://schemas.microsoft.com/office/powerpoint/2010/main" val="170974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A1CFD2-E542-D440-A8C0-1FDD5CEEC179}"/>
              </a:ext>
            </a:extLst>
          </p:cNvPr>
          <p:cNvSpPr>
            <a:spLocks noGrp="1"/>
          </p:cNvSpPr>
          <p:nvPr>
            <p:ph type="sldNum" sz="quarter" idx="12"/>
          </p:nvPr>
        </p:nvSpPr>
        <p:spPr/>
        <p:txBody>
          <a:bodyPr/>
          <a:lstStyle/>
          <a:p>
            <a:fld id="{591A223C-FA10-BC46-A853-03BA373D023C}" type="slidenum">
              <a:rPr lang="en-US" smtClean="0"/>
              <a:t>9</a:t>
            </a:fld>
            <a:endParaRPr lang="en-US"/>
          </a:p>
        </p:txBody>
      </p:sp>
      <p:sp>
        <p:nvSpPr>
          <p:cNvPr id="2" name="Title 1">
            <a:extLst>
              <a:ext uri="{FF2B5EF4-FFF2-40B4-BE49-F238E27FC236}">
                <a16:creationId xmlns:a16="http://schemas.microsoft.com/office/drawing/2014/main" id="{EA27D0B6-B58E-9040-BE00-C1A9E5267A95}"/>
              </a:ext>
            </a:extLst>
          </p:cNvPr>
          <p:cNvSpPr>
            <a:spLocks noGrp="1"/>
          </p:cNvSpPr>
          <p:nvPr>
            <p:ph type="title"/>
          </p:nvPr>
        </p:nvSpPr>
        <p:spPr/>
        <p:txBody>
          <a:bodyPr/>
          <a:lstStyle/>
          <a:p>
            <a:r>
              <a:rPr lang="en-ZA" dirty="0"/>
              <a:t>Creating a Bell State</a:t>
            </a:r>
            <a:endParaRPr lang="en-US" dirty="0"/>
          </a:p>
        </p:txBody>
      </p:sp>
      <p:cxnSp>
        <p:nvCxnSpPr>
          <p:cNvPr id="69" name="Straight Connector 68">
            <a:extLst>
              <a:ext uri="{FF2B5EF4-FFF2-40B4-BE49-F238E27FC236}">
                <a16:creationId xmlns:a16="http://schemas.microsoft.com/office/drawing/2014/main" id="{BFD98772-EBD1-0044-B761-51CBA8275A52}"/>
              </a:ext>
            </a:extLst>
          </p:cNvPr>
          <p:cNvCxnSpPr>
            <a:cxnSpLocks/>
          </p:cNvCxnSpPr>
          <p:nvPr/>
        </p:nvCxnSpPr>
        <p:spPr>
          <a:xfrm>
            <a:off x="1369950" y="2763168"/>
            <a:ext cx="43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C588EBF-A04A-BA4B-909E-6011B8F8F0DB}"/>
              </a:ext>
            </a:extLst>
          </p:cNvPr>
          <p:cNvCxnSpPr>
            <a:cxnSpLocks/>
          </p:cNvCxnSpPr>
          <p:nvPr/>
        </p:nvCxnSpPr>
        <p:spPr>
          <a:xfrm>
            <a:off x="1369949" y="1608219"/>
            <a:ext cx="43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83505452-20AA-9241-8E43-8C5DECC2C924}"/>
              </a:ext>
            </a:extLst>
          </p:cNvPr>
          <p:cNvSpPr>
            <a:spLocks/>
          </p:cNvSpPr>
          <p:nvPr/>
        </p:nvSpPr>
        <p:spPr>
          <a:xfrm>
            <a:off x="2305349" y="1282458"/>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A75AA068-92C5-8642-9E14-74CCB56CFB59}"/>
                  </a:ext>
                </a:extLst>
              </p:cNvPr>
              <p:cNvSpPr/>
              <p:nvPr/>
            </p:nvSpPr>
            <p:spPr>
              <a:xfrm>
                <a:off x="947029" y="1125423"/>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4" name="Rectangle 73">
                <a:extLst>
                  <a:ext uri="{FF2B5EF4-FFF2-40B4-BE49-F238E27FC236}">
                    <a16:creationId xmlns:a16="http://schemas.microsoft.com/office/drawing/2014/main" id="{A75AA068-92C5-8642-9E14-74CCB56CFB59}"/>
                  </a:ext>
                </a:extLst>
              </p:cNvPr>
              <p:cNvSpPr>
                <a:spLocks noRot="1" noChangeAspect="1" noMove="1" noResize="1" noEditPoints="1" noAdjustHandles="1" noChangeArrowheads="1" noChangeShapeType="1" noTextEdit="1"/>
              </p:cNvSpPr>
              <p:nvPr/>
            </p:nvSpPr>
            <p:spPr>
              <a:xfrm>
                <a:off x="947029" y="1125423"/>
                <a:ext cx="631903" cy="461665"/>
              </a:xfrm>
              <a:prstGeom prst="rect">
                <a:avLst/>
              </a:prstGeom>
              <a:blipFill>
                <a:blip r:embed="rId3"/>
                <a:stretch>
                  <a:fillRect l="-26000" t="-127027" r="-50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F0D6FB4-54AC-B248-89E0-B2B03C199708}"/>
                  </a:ext>
                </a:extLst>
              </p:cNvPr>
              <p:cNvSpPr/>
              <p:nvPr/>
            </p:nvSpPr>
            <p:spPr>
              <a:xfrm>
                <a:off x="947029" y="2330778"/>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5" name="Rectangle 74">
                <a:extLst>
                  <a:ext uri="{FF2B5EF4-FFF2-40B4-BE49-F238E27FC236}">
                    <a16:creationId xmlns:a16="http://schemas.microsoft.com/office/drawing/2014/main" id="{7F0D6FB4-54AC-B248-89E0-B2B03C199708}"/>
                  </a:ext>
                </a:extLst>
              </p:cNvPr>
              <p:cNvSpPr>
                <a:spLocks noRot="1" noChangeAspect="1" noMove="1" noResize="1" noEditPoints="1" noAdjustHandles="1" noChangeArrowheads="1" noChangeShapeType="1" noTextEdit="1"/>
              </p:cNvSpPr>
              <p:nvPr/>
            </p:nvSpPr>
            <p:spPr>
              <a:xfrm>
                <a:off x="947029" y="2330778"/>
                <a:ext cx="631903" cy="461665"/>
              </a:xfrm>
              <a:prstGeom prst="rect">
                <a:avLst/>
              </a:prstGeom>
              <a:blipFill>
                <a:blip r:embed="rId4"/>
                <a:stretch>
                  <a:fillRect l="-26000" t="-127027" r="-50000" b="-191892"/>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876ED63D-446F-614C-9D2A-D116C3B2B0C7}"/>
              </a:ext>
            </a:extLst>
          </p:cNvPr>
          <p:cNvGrpSpPr/>
          <p:nvPr/>
        </p:nvGrpSpPr>
        <p:grpSpPr>
          <a:xfrm>
            <a:off x="3946529" y="1448482"/>
            <a:ext cx="540000" cy="1569657"/>
            <a:chOff x="3285146" y="1212102"/>
            <a:chExt cx="540000" cy="1569657"/>
          </a:xfrm>
        </p:grpSpPr>
        <p:cxnSp>
          <p:nvCxnSpPr>
            <p:cNvPr id="72" name="Straight Connector 71">
              <a:extLst>
                <a:ext uri="{FF2B5EF4-FFF2-40B4-BE49-F238E27FC236}">
                  <a16:creationId xmlns:a16="http://schemas.microsoft.com/office/drawing/2014/main" id="{1C4CCE4D-B031-654B-A3CF-8DDF35003E1E}"/>
                </a:ext>
              </a:extLst>
            </p:cNvPr>
            <p:cNvCxnSpPr>
              <a:cxnSpLocks/>
              <a:stCxn id="78" idx="0"/>
            </p:cNvCxnSpPr>
            <p:nvPr/>
          </p:nvCxnSpPr>
          <p:spPr>
            <a:xfrm flipV="1">
              <a:off x="3555146" y="1466515"/>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A59FDC73-F9EF-F549-A8D6-ABEA509E67CA}"/>
                </a:ext>
              </a:extLst>
            </p:cNvPr>
            <p:cNvSpPr/>
            <p:nvPr/>
          </p:nvSpPr>
          <p:spPr>
            <a:xfrm>
              <a:off x="3430723" y="1212102"/>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F40678E3-14AD-1848-A73F-F089E6006849}"/>
                </a:ext>
              </a:extLst>
            </p:cNvPr>
            <p:cNvSpPr/>
            <p:nvPr/>
          </p:nvSpPr>
          <p:spPr>
            <a:xfrm>
              <a:off x="3285146" y="2241759"/>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sp>
        <p:nvSpPr>
          <p:cNvPr id="10" name="TextBox 9">
            <a:extLst>
              <a:ext uri="{FF2B5EF4-FFF2-40B4-BE49-F238E27FC236}">
                <a16:creationId xmlns:a16="http://schemas.microsoft.com/office/drawing/2014/main" id="{00D7BA59-0DEC-1D4D-8974-D647C63835F6}"/>
              </a:ext>
            </a:extLst>
          </p:cNvPr>
          <p:cNvSpPr txBox="1"/>
          <p:nvPr/>
        </p:nvSpPr>
        <p:spPr>
          <a:xfrm>
            <a:off x="14882648" y="-940779"/>
            <a:ext cx="184731" cy="369332"/>
          </a:xfrm>
          <a:prstGeom prst="rect">
            <a:avLst/>
          </a:prstGeom>
          <a:solidFill>
            <a:schemeClr val="accent4">
              <a:lumMod val="20000"/>
              <a:lumOff val="80000"/>
            </a:schemeClr>
          </a:solidFill>
        </p:spPr>
        <p:txBody>
          <a:bodyPr wrap="none" rtlCol="0">
            <a:spAutoFit/>
          </a:bodyPr>
          <a:lstStyle/>
          <a:p>
            <a:endParaRPr lang="en-US" dirty="0"/>
          </a:p>
        </p:txBody>
      </p:sp>
      <p:sp>
        <p:nvSpPr>
          <p:cNvPr id="4" name="TextBox 3">
            <a:extLst>
              <a:ext uri="{FF2B5EF4-FFF2-40B4-BE49-F238E27FC236}">
                <a16:creationId xmlns:a16="http://schemas.microsoft.com/office/drawing/2014/main" id="{6385F707-6F18-9B42-AF51-F60BDAAD5800}"/>
              </a:ext>
            </a:extLst>
          </p:cNvPr>
          <p:cNvSpPr txBox="1"/>
          <p:nvPr/>
        </p:nvSpPr>
        <p:spPr>
          <a:xfrm>
            <a:off x="-1138989" y="5770906"/>
            <a:ext cx="184731" cy="369332"/>
          </a:xfrm>
          <a:prstGeom prst="rect">
            <a:avLst/>
          </a:prstGeom>
          <a:noFill/>
        </p:spPr>
        <p:txBody>
          <a:bodyPr wrap="none" rtlCol="0">
            <a:spAutoFit/>
          </a:bodyPr>
          <a:lstStyle/>
          <a:p>
            <a:endParaRPr lang="en-US" dirty="0"/>
          </a:p>
        </p:txBody>
      </p:sp>
      <p:grpSp>
        <p:nvGrpSpPr>
          <p:cNvPr id="21" name="Group 20">
            <a:extLst>
              <a:ext uri="{FF2B5EF4-FFF2-40B4-BE49-F238E27FC236}">
                <a16:creationId xmlns:a16="http://schemas.microsoft.com/office/drawing/2014/main" id="{CDF17055-8143-194C-8877-9AC23D6F01B1}"/>
              </a:ext>
            </a:extLst>
          </p:cNvPr>
          <p:cNvGrpSpPr/>
          <p:nvPr/>
        </p:nvGrpSpPr>
        <p:grpSpPr>
          <a:xfrm>
            <a:off x="924625" y="1304481"/>
            <a:ext cx="2179058" cy="2600282"/>
            <a:chOff x="924625" y="1677701"/>
            <a:chExt cx="2179058" cy="2600282"/>
          </a:xfrm>
        </p:grpSpPr>
        <p:cxnSp>
          <p:nvCxnSpPr>
            <p:cNvPr id="6" name="Straight Connector 5">
              <a:extLst>
                <a:ext uri="{FF2B5EF4-FFF2-40B4-BE49-F238E27FC236}">
                  <a16:creationId xmlns:a16="http://schemas.microsoft.com/office/drawing/2014/main" id="{B3616AED-74D0-9D45-90BA-D68C2B7B7C1B}"/>
                </a:ext>
              </a:extLst>
            </p:cNvPr>
            <p:cNvCxnSpPr>
              <a:cxnSpLocks/>
            </p:cNvCxnSpPr>
            <p:nvPr/>
          </p:nvCxnSpPr>
          <p:spPr>
            <a:xfrm>
              <a:off x="1776108" y="1677701"/>
              <a:ext cx="0" cy="220003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63EEFFA4-EDAF-D140-998E-620D0DD64DBB}"/>
                    </a:ext>
                  </a:extLst>
                </p:cNvPr>
                <p:cNvSpPr/>
                <p:nvPr/>
              </p:nvSpPr>
              <p:spPr>
                <a:xfrm>
                  <a:off x="924625" y="3816318"/>
                  <a:ext cx="21790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b="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𝑆</m:t>
                                </m:r>
                              </m:e>
                              <m:sub>
                                <m:r>
                                  <a:rPr lang="en-US" sz="2400" b="0" i="1" smtClean="0">
                                    <a:solidFill>
                                      <a:srgbClr val="002060"/>
                                    </a:solidFill>
                                    <a:latin typeface="Cambria Math" panose="02040503050406030204" pitchFamily="18" charset="0"/>
                                    <a:ea typeface="Cambria Math" panose="02040503050406030204" pitchFamily="18" charset="0"/>
                                  </a:rPr>
                                  <m:t>0</m:t>
                                </m:r>
                              </m:sub>
                            </m:sSub>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0</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63" name="Rectangle 62">
                  <a:extLst>
                    <a:ext uri="{FF2B5EF4-FFF2-40B4-BE49-F238E27FC236}">
                      <a16:creationId xmlns:a16="http://schemas.microsoft.com/office/drawing/2014/main" id="{63EEFFA4-EDAF-D140-998E-620D0DD64DBB}"/>
                    </a:ext>
                  </a:extLst>
                </p:cNvPr>
                <p:cNvSpPr>
                  <a:spLocks noRot="1" noChangeAspect="1" noMove="1" noResize="1" noEditPoints="1" noAdjustHandles="1" noChangeArrowheads="1" noChangeShapeType="1" noTextEdit="1"/>
                </p:cNvSpPr>
                <p:nvPr/>
              </p:nvSpPr>
              <p:spPr>
                <a:xfrm>
                  <a:off x="924625" y="3816318"/>
                  <a:ext cx="2179058" cy="461665"/>
                </a:xfrm>
                <a:prstGeom prst="rect">
                  <a:avLst/>
                </a:prstGeom>
                <a:blipFill>
                  <a:blip r:embed="rId5"/>
                  <a:stretch>
                    <a:fillRect l="-1744" t="-127027" r="-14535" b="-191892"/>
                  </a:stretch>
                </a:blipFill>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ADF2CEA4-9010-8148-ABFB-760C1A45C8ED}"/>
              </a:ext>
            </a:extLst>
          </p:cNvPr>
          <p:cNvGrpSpPr/>
          <p:nvPr/>
        </p:nvGrpSpPr>
        <p:grpSpPr>
          <a:xfrm>
            <a:off x="947029" y="1282458"/>
            <a:ext cx="6247929" cy="3826179"/>
            <a:chOff x="947029" y="1282458"/>
            <a:chExt cx="6247929" cy="3826179"/>
          </a:xfrm>
        </p:grpSpPr>
        <p:cxnSp>
          <p:nvCxnSpPr>
            <p:cNvPr id="65" name="Straight Connector 64">
              <a:extLst>
                <a:ext uri="{FF2B5EF4-FFF2-40B4-BE49-F238E27FC236}">
                  <a16:creationId xmlns:a16="http://schemas.microsoft.com/office/drawing/2014/main" id="{B4C99257-C5B5-7C42-8579-EEB3A8FDF2A7}"/>
                </a:ext>
              </a:extLst>
            </p:cNvPr>
            <p:cNvCxnSpPr>
              <a:cxnSpLocks/>
            </p:cNvCxnSpPr>
            <p:nvPr/>
          </p:nvCxnSpPr>
          <p:spPr>
            <a:xfrm>
              <a:off x="3317121" y="1282458"/>
              <a:ext cx="0" cy="262230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6756DA94-C85D-564D-99AF-B575A7049B34}"/>
                    </a:ext>
                  </a:extLst>
                </p:cNvPr>
                <p:cNvSpPr/>
                <p:nvPr/>
              </p:nvSpPr>
              <p:spPr>
                <a:xfrm>
                  <a:off x="947029" y="4232435"/>
                  <a:ext cx="6247929"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b="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𝑆</m:t>
                                </m:r>
                              </m:e>
                              <m:sub>
                                <m:r>
                                  <a:rPr lang="en-US" sz="2400" b="0" i="1" smtClean="0">
                                    <a:solidFill>
                                      <a:srgbClr val="002060"/>
                                    </a:solidFill>
                                    <a:latin typeface="Cambria Math" panose="02040503050406030204" pitchFamily="18" charset="0"/>
                                    <a:ea typeface="Cambria Math" panose="02040503050406030204" pitchFamily="18" charset="0"/>
                                  </a:rPr>
                                  <m:t>0</m:t>
                                </m:r>
                              </m:sub>
                            </m:sSub>
                          </m:e>
                        </m:d>
                        <m:groupChr>
                          <m:groupChrPr>
                            <m:chr m:val="→"/>
                            <m:vertJc m:val="bot"/>
                            <m:ctrlPr>
                              <a:rPr lang="en-US" sz="2400" b="0" i="1" smtClean="0">
                                <a:solidFill>
                                  <a:srgbClr val="002060"/>
                                </a:solidFill>
                                <a:latin typeface="Cambria Math" panose="02040503050406030204" pitchFamily="18" charset="0"/>
                                <a:ea typeface="Cambria Math" panose="02040503050406030204" pitchFamily="18" charset="0"/>
                              </a:rPr>
                            </m:ctrlPr>
                          </m:groupChrPr>
                          <m:e>
                            <m:r>
                              <m:rPr>
                                <m:brk m:alnAt="2"/>
                              </m:rPr>
                              <a:rPr lang="en-US" sz="2400" b="0" i="1" smtClean="0">
                                <a:solidFill>
                                  <a:srgbClr val="002060"/>
                                </a:solidFill>
                                <a:latin typeface="Cambria Math" panose="02040503050406030204" pitchFamily="18" charset="0"/>
                                <a:ea typeface="Cambria Math" panose="02040503050406030204" pitchFamily="18" charset="0"/>
                              </a:rPr>
                              <m:t>𝐻</m:t>
                            </m:r>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𝐼</m:t>
                            </m:r>
                          </m:e>
                        </m:groupChr>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r>
                                  <a:rPr lang="en-US" sz="2400" b="0" i="1" smtClean="0">
                                    <a:solidFill>
                                      <a:srgbClr val="002060"/>
                                    </a:solidFill>
                                    <a:latin typeface="Cambria Math" panose="02040503050406030204" pitchFamily="18" charset="0"/>
                                    <a:ea typeface="Cambria Math" panose="02040503050406030204" pitchFamily="18" charset="0"/>
                                  </a:rPr>
                                  <m:t>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66" name="Rectangle 65">
                  <a:extLst>
                    <a:ext uri="{FF2B5EF4-FFF2-40B4-BE49-F238E27FC236}">
                      <a16:creationId xmlns:a16="http://schemas.microsoft.com/office/drawing/2014/main" id="{6756DA94-C85D-564D-99AF-B575A7049B34}"/>
                    </a:ext>
                  </a:extLst>
                </p:cNvPr>
                <p:cNvSpPr>
                  <a:spLocks noRot="1" noChangeAspect="1" noMove="1" noResize="1" noEditPoints="1" noAdjustHandles="1" noChangeArrowheads="1" noChangeShapeType="1" noTextEdit="1"/>
                </p:cNvSpPr>
                <p:nvPr/>
              </p:nvSpPr>
              <p:spPr>
                <a:xfrm>
                  <a:off x="947029" y="4232435"/>
                  <a:ext cx="6247929" cy="876202"/>
                </a:xfrm>
                <a:prstGeom prst="rect">
                  <a:avLst/>
                </a:prstGeom>
                <a:blipFill>
                  <a:blip r:embed="rId6"/>
                  <a:stretch>
                    <a:fillRect l="-406" t="-68571" r="-4462" b="-77143"/>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A8183738-B07D-904B-A302-D3E8E7F8F6D7}"/>
              </a:ext>
            </a:extLst>
          </p:cNvPr>
          <p:cNvGrpSpPr/>
          <p:nvPr/>
        </p:nvGrpSpPr>
        <p:grpSpPr>
          <a:xfrm>
            <a:off x="4509094" y="401420"/>
            <a:ext cx="7072854" cy="5992253"/>
            <a:chOff x="4509094" y="401420"/>
            <a:chExt cx="7072854" cy="5992253"/>
          </a:xfrm>
        </p:grpSpPr>
        <p:cxnSp>
          <p:nvCxnSpPr>
            <p:cNvPr id="28" name="Straight Connector 27">
              <a:extLst>
                <a:ext uri="{FF2B5EF4-FFF2-40B4-BE49-F238E27FC236}">
                  <a16:creationId xmlns:a16="http://schemas.microsoft.com/office/drawing/2014/main" id="{0C91FA0B-9736-0B4E-BD9E-B4A9BD120D3E}"/>
                </a:ext>
              </a:extLst>
            </p:cNvPr>
            <p:cNvCxnSpPr>
              <a:cxnSpLocks/>
            </p:cNvCxnSpPr>
            <p:nvPr/>
          </p:nvCxnSpPr>
          <p:spPr>
            <a:xfrm>
              <a:off x="5261366" y="1282458"/>
              <a:ext cx="0" cy="439444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8EF569B8-F488-1A46-9007-94F1BDB2F178}"/>
                </a:ext>
              </a:extLst>
            </p:cNvPr>
            <p:cNvGrpSpPr/>
            <p:nvPr/>
          </p:nvGrpSpPr>
          <p:grpSpPr>
            <a:xfrm>
              <a:off x="4509094" y="401420"/>
              <a:ext cx="7072854" cy="5992253"/>
              <a:chOff x="4509094" y="774640"/>
              <a:chExt cx="7072854" cy="5992253"/>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13EAEAC-F1BA-B54D-AA70-75349135446D}"/>
                      </a:ext>
                    </a:extLst>
                  </p:cNvPr>
                  <p:cNvSpPr/>
                  <p:nvPr/>
                </p:nvSpPr>
                <p:spPr>
                  <a:xfrm>
                    <a:off x="4509094" y="5890691"/>
                    <a:ext cx="5371727"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smtClean="0">
                                      <a:solidFill>
                                        <a:srgbClr val="002060"/>
                                      </a:solidFill>
                                      <a:latin typeface="Cambria Math" panose="02040503050406030204" pitchFamily="18" charset="0"/>
                                      <a:ea typeface="Cambria Math" panose="02040503050406030204" pitchFamily="18" charset="0"/>
                                    </a:rPr>
                                  </m:ctrlPr>
                                </m:sSupPr>
                                <m:e>
                                  <m:r>
                                    <m:rPr>
                                      <m:sty m:val="p"/>
                                    </m:rPr>
                                    <a:rPr lang="el-GR" sz="2400" i="1">
                                      <a:solidFill>
                                        <a:srgbClr val="002060"/>
                                      </a:solidFill>
                                      <a:latin typeface="Cambria Math" panose="02040503050406030204" pitchFamily="18" charset="0"/>
                                      <a:ea typeface="Cambria Math" panose="02040503050406030204" pitchFamily="18" charset="0"/>
                                    </a:rPr>
                                    <m:t>Φ</m:t>
                                  </m:r>
                                </m:e>
                                <m:sup>
                                  <m:r>
                                    <a:rPr lang="sr-Latn-RS" sz="2400" b="0" i="1" smtClean="0">
                                      <a:solidFill>
                                        <a:srgbClr val="002060"/>
                                      </a:solidFill>
                                      <a:latin typeface="Cambria Math" panose="02040503050406030204" pitchFamily="18" charset="0"/>
                                      <a:ea typeface="Cambria Math" panose="02040503050406030204" pitchFamily="18" charset="0"/>
                                    </a:rPr>
                                    <m:t>+</m:t>
                                  </m:r>
                                </m:sup>
                              </m:sSup>
                            </m:e>
                          </m:d>
                          <m:r>
                            <a:rPr lang="sr-Latn-R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i="1">
                                      <a:solidFill>
                                        <a:srgbClr val="002060"/>
                                      </a:solidFill>
                                      <a:latin typeface="Cambria Math" panose="02040503050406030204" pitchFamily="18" charset="0"/>
                                      <a:ea typeface="Cambria Math" panose="02040503050406030204" pitchFamily="18" charset="0"/>
                                    </a:rPr>
                                    <m:t>1</m:t>
                                  </m:r>
                                </m:sub>
                              </m:sSub>
                            </m:e>
                          </m:d>
                          <m:groupChr>
                            <m:groupChrPr>
                              <m:chr m:val="→"/>
                              <m:vertJc m:val="bot"/>
                              <m:ctrlPr>
                                <a:rPr lang="en-US" sz="2400" i="1">
                                  <a:solidFill>
                                    <a:srgbClr val="002060"/>
                                  </a:solidFill>
                                  <a:latin typeface="Cambria Math" panose="02040503050406030204" pitchFamily="18" charset="0"/>
                                  <a:ea typeface="Cambria Math" panose="02040503050406030204" pitchFamily="18" charset="0"/>
                                </a:rPr>
                              </m:ctrlPr>
                            </m:groupChrPr>
                            <m:e>
                              <m:r>
                                <a:rPr lang="en-US" sz="2400" i="1">
                                  <a:solidFill>
                                    <a:srgbClr val="002060"/>
                                  </a:solidFill>
                                  <a:latin typeface="Cambria Math" panose="02040503050406030204" pitchFamily="18" charset="0"/>
                                  <a:ea typeface="Cambria Math" panose="02040503050406030204" pitchFamily="18" charset="0"/>
                                </a:rPr>
                                <m:t>𝐶𝑁𝑂𝑇</m:t>
                              </m:r>
                            </m:e>
                          </m:groupChr>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6" name="Rectangle 15">
                    <a:extLst>
                      <a:ext uri="{FF2B5EF4-FFF2-40B4-BE49-F238E27FC236}">
                        <a16:creationId xmlns:a16="http://schemas.microsoft.com/office/drawing/2014/main" id="{313EAEAC-F1BA-B54D-AA70-75349135446D}"/>
                      </a:ext>
                    </a:extLst>
                  </p:cNvPr>
                  <p:cNvSpPr>
                    <a:spLocks noRot="1" noChangeAspect="1" noMove="1" noResize="1" noEditPoints="1" noAdjustHandles="1" noChangeArrowheads="1" noChangeShapeType="1" noTextEdit="1"/>
                  </p:cNvSpPr>
                  <p:nvPr/>
                </p:nvSpPr>
                <p:spPr>
                  <a:xfrm>
                    <a:off x="4509094" y="5890691"/>
                    <a:ext cx="5371727" cy="876202"/>
                  </a:xfrm>
                  <a:prstGeom prst="rect">
                    <a:avLst/>
                  </a:prstGeom>
                  <a:blipFill>
                    <a:blip r:embed="rId7"/>
                    <a:stretch>
                      <a:fillRect t="-68571" r="-5425" b="-78571"/>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08642B1A-137F-9B46-91BF-B6A4C493F88A}"/>
                  </a:ext>
                </a:extLst>
              </p:cNvPr>
              <p:cNvGrpSpPr/>
              <p:nvPr/>
            </p:nvGrpSpPr>
            <p:grpSpPr>
              <a:xfrm>
                <a:off x="8731488" y="774640"/>
                <a:ext cx="2850460" cy="3608183"/>
                <a:chOff x="8731488" y="774640"/>
                <a:chExt cx="2850460" cy="3608183"/>
              </a:xfrm>
            </p:grpSpPr>
            <p:sp>
              <p:nvSpPr>
                <p:cNvPr id="77" name="TextBox 76">
                  <a:extLst>
                    <a:ext uri="{FF2B5EF4-FFF2-40B4-BE49-F238E27FC236}">
                      <a16:creationId xmlns:a16="http://schemas.microsoft.com/office/drawing/2014/main" id="{842AB3D5-5B01-D44F-B46C-CFE06EA685C3}"/>
                    </a:ext>
                  </a:extLst>
                </p:cNvPr>
                <p:cNvSpPr txBox="1"/>
                <p:nvPr/>
              </p:nvSpPr>
              <p:spPr>
                <a:xfrm>
                  <a:off x="8731488" y="3951936"/>
                  <a:ext cx="2850460" cy="430887"/>
                </a:xfrm>
                <a:prstGeom prst="rect">
                  <a:avLst/>
                </a:prstGeom>
                <a:noFill/>
              </p:spPr>
              <p:txBody>
                <a:bodyPr wrap="none" rtlCol="0">
                  <a:spAutoFit/>
                </a:bodyPr>
                <a:lstStyle/>
                <a:p>
                  <a:r>
                    <a:rPr lang="en-US" sz="2200" dirty="0"/>
                    <a:t>John Bell (1928 – 1990)</a:t>
                  </a:r>
                </a:p>
              </p:txBody>
            </p:sp>
            <p:pic>
              <p:nvPicPr>
                <p:cNvPr id="79" name="Picture 78">
                  <a:extLst>
                    <a:ext uri="{FF2B5EF4-FFF2-40B4-BE49-F238E27FC236}">
                      <a16:creationId xmlns:a16="http://schemas.microsoft.com/office/drawing/2014/main" id="{D4C204BB-6FC8-254A-8BA2-C41C8D35A5C8}"/>
                    </a:ext>
                  </a:extLst>
                </p:cNvPr>
                <p:cNvPicPr>
                  <a:picLocks noChangeAspect="1"/>
                </p:cNvPicPr>
                <p:nvPr/>
              </p:nvPicPr>
              <p:blipFill>
                <a:blip r:embed="rId8"/>
                <a:stretch>
                  <a:fillRect/>
                </a:stretch>
              </p:blipFill>
              <p:spPr>
                <a:xfrm>
                  <a:off x="8883888" y="774640"/>
                  <a:ext cx="2535633" cy="3124618"/>
                </a:xfrm>
                <a:prstGeom prst="rect">
                  <a:avLst/>
                </a:prstGeom>
              </p:spPr>
            </p:pic>
          </p:grpSp>
        </p:grpSp>
      </p:grpSp>
    </p:spTree>
    <p:extLst>
      <p:ext uri="{BB962C8B-B14F-4D97-AF65-F5344CB8AC3E}">
        <p14:creationId xmlns:p14="http://schemas.microsoft.com/office/powerpoint/2010/main" val="308388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38AD3F-7ED7-7F46-82C7-E77E865AD6B8}"/>
              </a:ext>
            </a:extLst>
          </p:cNvPr>
          <p:cNvSpPr/>
          <p:nvPr/>
        </p:nvSpPr>
        <p:spPr>
          <a:xfrm>
            <a:off x="307456" y="2148369"/>
            <a:ext cx="2568458" cy="29047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3C405A5-BCEA-3440-A1AB-E4BB0CAC4E14}"/>
              </a:ext>
            </a:extLst>
          </p:cNvPr>
          <p:cNvSpPr>
            <a:spLocks noGrp="1"/>
          </p:cNvSpPr>
          <p:nvPr>
            <p:ph type="title"/>
          </p:nvPr>
        </p:nvSpPr>
        <p:spPr/>
        <p:txBody>
          <a:bodyPr>
            <a:normAutofit/>
          </a:bodyPr>
          <a:lstStyle/>
          <a:p>
            <a:r>
              <a:rPr lang="en-ZA" dirty="0"/>
              <a:t>What is special about the Bell state?</a:t>
            </a:r>
            <a:endParaRPr lang="en-US" dirty="0"/>
          </a:p>
        </p:txBody>
      </p:sp>
      <p:cxnSp>
        <p:nvCxnSpPr>
          <p:cNvPr id="7" name="Straight Connector 6">
            <a:extLst>
              <a:ext uri="{FF2B5EF4-FFF2-40B4-BE49-F238E27FC236}">
                <a16:creationId xmlns:a16="http://schemas.microsoft.com/office/drawing/2014/main" id="{1278CE43-E773-FD46-A195-AE35122A6D8F}"/>
              </a:ext>
            </a:extLst>
          </p:cNvPr>
          <p:cNvCxnSpPr>
            <a:cxnSpLocks/>
          </p:cNvCxnSpPr>
          <p:nvPr/>
        </p:nvCxnSpPr>
        <p:spPr>
          <a:xfrm>
            <a:off x="730377" y="4183852"/>
            <a:ext cx="25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EBA1450-1C53-4642-B265-3037EA3B7025}"/>
              </a:ext>
            </a:extLst>
          </p:cNvPr>
          <p:cNvCxnSpPr>
            <a:cxnSpLocks/>
          </p:cNvCxnSpPr>
          <p:nvPr/>
        </p:nvCxnSpPr>
        <p:spPr>
          <a:xfrm>
            <a:off x="730376" y="3028903"/>
            <a:ext cx="25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A0FE15E-2FC0-054E-8AD6-0427C45DCA20}"/>
              </a:ext>
            </a:extLst>
          </p:cNvPr>
          <p:cNvSpPr>
            <a:spLocks/>
          </p:cNvSpPr>
          <p:nvPr/>
        </p:nvSpPr>
        <p:spPr>
          <a:xfrm>
            <a:off x="1089585" y="2739849"/>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CDD793CB-3959-0944-91DE-1AB24BFF6B93}"/>
                  </a:ext>
                </a:extLst>
              </p:cNvPr>
              <p:cNvSpPr/>
              <p:nvPr/>
            </p:nvSpPr>
            <p:spPr>
              <a:xfrm>
                <a:off x="307456" y="2546107"/>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0" name="Rectangle 9">
                <a:extLst>
                  <a:ext uri="{FF2B5EF4-FFF2-40B4-BE49-F238E27FC236}">
                    <a16:creationId xmlns:a16="http://schemas.microsoft.com/office/drawing/2014/main" id="{CDD793CB-3959-0944-91DE-1AB24BFF6B93}"/>
                  </a:ext>
                </a:extLst>
              </p:cNvPr>
              <p:cNvSpPr>
                <a:spLocks noRot="1" noChangeAspect="1" noMove="1" noResize="1" noEditPoints="1" noAdjustHandles="1" noChangeArrowheads="1" noChangeShapeType="1" noTextEdit="1"/>
              </p:cNvSpPr>
              <p:nvPr/>
            </p:nvSpPr>
            <p:spPr>
              <a:xfrm>
                <a:off x="307456" y="2546107"/>
                <a:ext cx="631903" cy="461665"/>
              </a:xfrm>
              <a:prstGeom prst="rect">
                <a:avLst/>
              </a:prstGeom>
              <a:blipFill>
                <a:blip r:embed="rId5"/>
                <a:stretch>
                  <a:fillRect l="-26000" t="-118421" r="-5000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470DBBB-760C-7446-86A1-F5C0D2AF339B}"/>
                  </a:ext>
                </a:extLst>
              </p:cNvPr>
              <p:cNvSpPr/>
              <p:nvPr/>
            </p:nvSpPr>
            <p:spPr>
              <a:xfrm>
                <a:off x="307456" y="375146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1" name="Rectangle 10">
                <a:extLst>
                  <a:ext uri="{FF2B5EF4-FFF2-40B4-BE49-F238E27FC236}">
                    <a16:creationId xmlns:a16="http://schemas.microsoft.com/office/drawing/2014/main" id="{6470DBBB-760C-7446-86A1-F5C0D2AF339B}"/>
                  </a:ext>
                </a:extLst>
              </p:cNvPr>
              <p:cNvSpPr>
                <a:spLocks noRot="1" noChangeAspect="1" noMove="1" noResize="1" noEditPoints="1" noAdjustHandles="1" noChangeArrowheads="1" noChangeShapeType="1" noTextEdit="1"/>
              </p:cNvSpPr>
              <p:nvPr/>
            </p:nvSpPr>
            <p:spPr>
              <a:xfrm>
                <a:off x="307456" y="3751462"/>
                <a:ext cx="631903" cy="461665"/>
              </a:xfrm>
              <a:prstGeom prst="rect">
                <a:avLst/>
              </a:prstGeom>
              <a:blipFill>
                <a:blip r:embed="rId6"/>
                <a:stretch>
                  <a:fillRect l="-26000" t="-121053" r="-50000" b="-186842"/>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531E231D-4155-9345-9889-DFEEA12E0453}"/>
              </a:ext>
            </a:extLst>
          </p:cNvPr>
          <p:cNvGrpSpPr/>
          <p:nvPr/>
        </p:nvGrpSpPr>
        <p:grpSpPr>
          <a:xfrm>
            <a:off x="1820422" y="2905707"/>
            <a:ext cx="540000" cy="1569657"/>
            <a:chOff x="3285146" y="1212102"/>
            <a:chExt cx="540000" cy="1569657"/>
          </a:xfrm>
        </p:grpSpPr>
        <p:cxnSp>
          <p:nvCxnSpPr>
            <p:cNvPr id="13" name="Straight Connector 12">
              <a:extLst>
                <a:ext uri="{FF2B5EF4-FFF2-40B4-BE49-F238E27FC236}">
                  <a16:creationId xmlns:a16="http://schemas.microsoft.com/office/drawing/2014/main" id="{C004AC3A-A7BB-6D49-BE8A-9E7403007C68}"/>
                </a:ext>
              </a:extLst>
            </p:cNvPr>
            <p:cNvCxnSpPr>
              <a:cxnSpLocks/>
              <a:stCxn id="15" idx="0"/>
            </p:cNvCxnSpPr>
            <p:nvPr/>
          </p:nvCxnSpPr>
          <p:spPr>
            <a:xfrm flipV="1">
              <a:off x="3555146" y="1466515"/>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8B5ACE0-F44E-3147-A939-DD9BECEE8DC8}"/>
                </a:ext>
              </a:extLst>
            </p:cNvPr>
            <p:cNvSpPr/>
            <p:nvPr/>
          </p:nvSpPr>
          <p:spPr>
            <a:xfrm>
              <a:off x="3430723" y="1212102"/>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35F0EF9-060B-E24B-A67A-60E96F068E93}"/>
                </a:ext>
              </a:extLst>
            </p:cNvPr>
            <p:cNvSpPr/>
            <p:nvPr/>
          </p:nvSpPr>
          <p:spPr>
            <a:xfrm>
              <a:off x="3285146" y="2241759"/>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cxnSp>
        <p:nvCxnSpPr>
          <p:cNvPr id="20" name="Straight Connector 19">
            <a:extLst>
              <a:ext uri="{FF2B5EF4-FFF2-40B4-BE49-F238E27FC236}">
                <a16:creationId xmlns:a16="http://schemas.microsoft.com/office/drawing/2014/main" id="{4F8CCD66-4864-844C-BC79-DF96AE22B367}"/>
              </a:ext>
            </a:extLst>
          </p:cNvPr>
          <p:cNvCxnSpPr>
            <a:cxnSpLocks/>
          </p:cNvCxnSpPr>
          <p:nvPr/>
        </p:nvCxnSpPr>
        <p:spPr>
          <a:xfrm>
            <a:off x="3250376" y="2148369"/>
            <a:ext cx="82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A5B6285-5C1B-DA41-8E5B-C4CD1D52E886}"/>
              </a:ext>
            </a:extLst>
          </p:cNvPr>
          <p:cNvCxnSpPr>
            <a:cxnSpLocks/>
          </p:cNvCxnSpPr>
          <p:nvPr/>
        </p:nvCxnSpPr>
        <p:spPr>
          <a:xfrm>
            <a:off x="3245563" y="5061958"/>
            <a:ext cx="82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8501001-12EA-7548-B56D-9EB7EFCE2AE2}"/>
              </a:ext>
            </a:extLst>
          </p:cNvPr>
          <p:cNvCxnSpPr>
            <a:cxnSpLocks/>
          </p:cNvCxnSpPr>
          <p:nvPr/>
        </p:nvCxnSpPr>
        <p:spPr>
          <a:xfrm flipV="1">
            <a:off x="3250376" y="2148369"/>
            <a:ext cx="0" cy="880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40DA1FD-6083-4A45-A695-6BD3C44FD554}"/>
              </a:ext>
            </a:extLst>
          </p:cNvPr>
          <p:cNvCxnSpPr>
            <a:cxnSpLocks/>
          </p:cNvCxnSpPr>
          <p:nvPr/>
        </p:nvCxnSpPr>
        <p:spPr>
          <a:xfrm flipV="1">
            <a:off x="3250376" y="4172595"/>
            <a:ext cx="0" cy="880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50B68BE8-D1D4-4C4D-A665-A3A540B41FF2}"/>
                  </a:ext>
                </a:extLst>
              </p:cNvPr>
              <p:cNvSpPr/>
              <p:nvPr/>
            </p:nvSpPr>
            <p:spPr>
              <a:xfrm>
                <a:off x="2671328" y="3262203"/>
                <a:ext cx="2404120"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ea typeface="Cambria Math" panose="02040503050406030204" pitchFamily="18" charset="0"/>
                            </a:rPr>
                          </m:ctrlPr>
                        </m:fPr>
                        <m:num>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0</m:t>
                                  </m:r>
                                </m:e>
                                <m:sub>
                                  <m:r>
                                    <a:rPr lang="en-US" sz="2400" b="0" i="1" smtClean="0">
                                      <a:solidFill>
                                        <a:srgbClr val="FF0000"/>
                                      </a:solidFill>
                                      <a:latin typeface="Cambria Math" panose="02040503050406030204" pitchFamily="18" charset="0"/>
                                      <a:ea typeface="Cambria Math" panose="02040503050406030204" pitchFamily="18" charset="0"/>
                                    </a:rPr>
                                    <m:t>𝐴</m:t>
                                  </m:r>
                                </m:sub>
                              </m:sSub>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0</m:t>
                                  </m:r>
                                </m:e>
                                <m:sub>
                                  <m:r>
                                    <a:rPr lang="en-US" sz="2400" b="0" i="1" smtClean="0">
                                      <a:solidFill>
                                        <a:schemeClr val="tx1"/>
                                      </a:solidFill>
                                      <a:latin typeface="Cambria Math" panose="02040503050406030204" pitchFamily="18" charset="0"/>
                                      <a:ea typeface="Cambria Math" panose="02040503050406030204" pitchFamily="18" charset="0"/>
                                    </a:rPr>
                                    <m:t>𝐵</m:t>
                                  </m:r>
                                </m:sub>
                              </m:sSub>
                            </m:e>
                          </m:d>
                          <m:r>
                            <a:rPr lang="en-US" sz="2400" i="1">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m:t>
                              </m:r>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1</m:t>
                                  </m:r>
                                </m:e>
                                <m:sub>
                                  <m:r>
                                    <a:rPr lang="en-US" sz="2400" i="1">
                                      <a:solidFill>
                                        <a:srgbClr val="FF0000"/>
                                      </a:solidFill>
                                      <a:latin typeface="Cambria Math" panose="02040503050406030204" pitchFamily="18" charset="0"/>
                                      <a:ea typeface="Cambria Math" panose="02040503050406030204" pitchFamily="18" charset="0"/>
                                    </a:rPr>
                                    <m:t>𝐴</m:t>
                                  </m:r>
                                </m:sub>
                              </m:sSub>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1</m:t>
                                  </m:r>
                                </m:e>
                                <m:sub>
                                  <m:r>
                                    <a:rPr lang="en-US" sz="2400" b="0" i="1" smtClean="0">
                                      <a:solidFill>
                                        <a:schemeClr val="tx1"/>
                                      </a:solidFill>
                                      <a:latin typeface="Cambria Math" panose="02040503050406030204" pitchFamily="18" charset="0"/>
                                      <a:ea typeface="Cambria Math" panose="02040503050406030204" pitchFamily="18" charset="0"/>
                                    </a:rPr>
                                    <m:t>𝐵</m:t>
                                  </m:r>
                                </m:sub>
                              </m:sSub>
                            </m:e>
                          </m:d>
                        </m:num>
                        <m:den>
                          <m:rad>
                            <m:radPr>
                              <m:degHide m:val="on"/>
                              <m:ctrlPr>
                                <a:rPr lang="en-US" sz="2400" i="1">
                                  <a:solidFill>
                                    <a:schemeClr val="tx1"/>
                                  </a:solidFill>
                                  <a:latin typeface="Cambria Math" panose="02040503050406030204" pitchFamily="18" charset="0"/>
                                  <a:ea typeface="Cambria Math" panose="02040503050406030204" pitchFamily="18" charset="0"/>
                                </a:rPr>
                              </m:ctrlPr>
                            </m:radPr>
                            <m:deg/>
                            <m:e>
                              <m:r>
                                <a:rPr lang="en-US" sz="2400" i="1">
                                  <a:solidFill>
                                    <a:schemeClr val="tx1"/>
                                  </a:solidFill>
                                  <a:latin typeface="Cambria Math" panose="02040503050406030204" pitchFamily="18" charset="0"/>
                                  <a:ea typeface="Cambria Math" panose="02040503050406030204" pitchFamily="18" charset="0"/>
                                </a:rPr>
                                <m:t>2</m:t>
                              </m:r>
                            </m:e>
                          </m:rad>
                        </m:den>
                      </m:f>
                    </m:oMath>
                  </m:oMathPara>
                </a14:m>
                <a:endParaRPr lang="en-US" sz="2400" dirty="0">
                  <a:solidFill>
                    <a:schemeClr val="tx1"/>
                  </a:solidFill>
                </a:endParaRPr>
              </a:p>
            </p:txBody>
          </p:sp>
        </mc:Choice>
        <mc:Fallback xmlns="">
          <p:sp>
            <p:nvSpPr>
              <p:cNvPr id="33" name="Rectangle 32">
                <a:extLst>
                  <a:ext uri="{FF2B5EF4-FFF2-40B4-BE49-F238E27FC236}">
                    <a16:creationId xmlns:a16="http://schemas.microsoft.com/office/drawing/2014/main" id="{50B68BE8-D1D4-4C4D-A665-A3A540B41FF2}"/>
                  </a:ext>
                </a:extLst>
              </p:cNvPr>
              <p:cNvSpPr>
                <a:spLocks noRot="1" noChangeAspect="1" noMove="1" noResize="1" noEditPoints="1" noAdjustHandles="1" noChangeArrowheads="1" noChangeShapeType="1" noTextEdit="1"/>
              </p:cNvSpPr>
              <p:nvPr/>
            </p:nvSpPr>
            <p:spPr>
              <a:xfrm>
                <a:off x="2671328" y="3262203"/>
                <a:ext cx="2404120" cy="876202"/>
              </a:xfrm>
              <a:prstGeom prst="rect">
                <a:avLst/>
              </a:prstGeom>
              <a:blipFill>
                <a:blip r:embed="rId7"/>
                <a:stretch>
                  <a:fillRect t="-70000" r="-11518" b="-51429"/>
                </a:stretch>
              </a:blipFill>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45837279-D6D7-C247-A698-A5DC99AE6021}"/>
              </a:ext>
            </a:extLst>
          </p:cNvPr>
          <p:cNvGrpSpPr/>
          <p:nvPr/>
        </p:nvGrpSpPr>
        <p:grpSpPr>
          <a:xfrm>
            <a:off x="3703219" y="1706563"/>
            <a:ext cx="5190350" cy="2323272"/>
            <a:chOff x="3703219" y="1706563"/>
            <a:chExt cx="5190350" cy="2323272"/>
          </a:xfrm>
        </p:grpSpPr>
        <p:grpSp>
          <p:nvGrpSpPr>
            <p:cNvPr id="16" name="Group 15">
              <a:extLst>
                <a:ext uri="{FF2B5EF4-FFF2-40B4-BE49-F238E27FC236}">
                  <a16:creationId xmlns:a16="http://schemas.microsoft.com/office/drawing/2014/main" id="{C7E5E2D2-E7D6-734A-B6F7-CF901D0BD817}"/>
                </a:ext>
              </a:extLst>
            </p:cNvPr>
            <p:cNvGrpSpPr/>
            <p:nvPr/>
          </p:nvGrpSpPr>
          <p:grpSpPr>
            <a:xfrm>
              <a:off x="3703219" y="1763452"/>
              <a:ext cx="720000" cy="807700"/>
              <a:chOff x="8902649" y="1353231"/>
              <a:chExt cx="720000" cy="807700"/>
            </a:xfrm>
          </p:grpSpPr>
          <p:sp>
            <p:nvSpPr>
              <p:cNvPr id="17" name="Rectangle 16">
                <a:extLst>
                  <a:ext uri="{FF2B5EF4-FFF2-40B4-BE49-F238E27FC236}">
                    <a16:creationId xmlns:a16="http://schemas.microsoft.com/office/drawing/2014/main" id="{D281D833-4844-5E42-A5C3-1114EEC5BD90}"/>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8" name="Arc 17">
                <a:extLst>
                  <a:ext uri="{FF2B5EF4-FFF2-40B4-BE49-F238E27FC236}">
                    <a16:creationId xmlns:a16="http://schemas.microsoft.com/office/drawing/2014/main" id="{119383E3-8ADD-3346-9933-E8989D4B36BD}"/>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868D5D1A-0DA1-A347-AD81-81E8A1820E6E}"/>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E5C6B9A3-D0B2-9B4E-8FAD-4A336ED10CCF}"/>
                    </a:ext>
                  </a:extLst>
                </p:cNvPr>
                <p:cNvSpPr/>
                <p:nvPr/>
              </p:nvSpPr>
              <p:spPr>
                <a:xfrm>
                  <a:off x="5100479" y="3368051"/>
                  <a:ext cx="3793090" cy="661784"/>
                </a:xfrm>
                <a:prstGeom prst="rect">
                  <a:avLst/>
                </a:prstGeom>
              </p:spPr>
              <p:txBody>
                <a:bodyPr wrap="none">
                  <a:spAutoFit/>
                </a:bodyPr>
                <a:lstStyle/>
                <a:p>
                  <a14:m>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   </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0</m:t>
                                  </m:r>
                                </m:e>
                                <m:sub>
                                  <m:r>
                                    <a:rPr lang="en-US" sz="2400" b="0" i="1" smtClean="0">
                                      <a:solidFill>
                                        <a:srgbClr val="FF0000"/>
                                      </a:solidFill>
                                      <a:latin typeface="Cambria Math" panose="02040503050406030204" pitchFamily="18" charset="0"/>
                                      <a:ea typeface="Cambria Math" panose="02040503050406030204" pitchFamily="18" charset="0"/>
                                    </a:rPr>
                                    <m:t>𝐴</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0</m:t>
                                  </m:r>
                                </m:e>
                                <m:sub>
                                  <m:r>
                                    <a:rPr lang="en-US" sz="2400" b="0" i="1" smtClean="0">
                                      <a:solidFill>
                                        <a:srgbClr val="002060"/>
                                      </a:solidFill>
                                      <a:latin typeface="Cambria Math" panose="02040503050406030204" pitchFamily="18" charset="0"/>
                                      <a:ea typeface="Cambria Math" panose="02040503050406030204" pitchFamily="18" charset="0"/>
                                    </a:rPr>
                                    <m:t>𝐵</m:t>
                                  </m:r>
                                </m:sub>
                              </m:sSub>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1</m:t>
                                  </m:r>
                                </m:e>
                                <m:sub>
                                  <m:r>
                                    <a:rPr lang="en-US" sz="2400" i="1">
                                      <a:solidFill>
                                        <a:srgbClr val="FF0000"/>
                                      </a:solidFill>
                                      <a:latin typeface="Cambria Math" panose="02040503050406030204" pitchFamily="18" charset="0"/>
                                      <a:ea typeface="Cambria Math" panose="02040503050406030204" pitchFamily="18" charset="0"/>
                                    </a:rPr>
                                    <m:t>𝐴</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1</m:t>
                                  </m:r>
                                </m:e>
                                <m:sub>
                                  <m:r>
                                    <a:rPr lang="en-US" sz="2400" b="0" i="1" smtClean="0">
                                      <a:solidFill>
                                        <a:srgbClr val="002060"/>
                                      </a:solidFill>
                                      <a:latin typeface="Cambria Math" panose="02040503050406030204" pitchFamily="18" charset="0"/>
                                      <a:ea typeface="Cambria Math" panose="02040503050406030204" pitchFamily="18" charset="0"/>
                                    </a:rPr>
                                    <m:t>𝐵</m:t>
                                  </m:r>
                                </m:sub>
                              </m:sSub>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a14:m>
                  <a:r>
                    <a:rPr lang="en-US" sz="2400" dirty="0">
                      <a:solidFill>
                        <a:srgbClr val="002060"/>
                      </a:solidFill>
                      <a:ea typeface="Cambria Math" panose="02040503050406030204" pitchFamily="18" charset="0"/>
                    </a:rPr>
                    <a:t> </a:t>
                  </a:r>
                  <a14:m>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1</m:t>
                              </m:r>
                            </m:e>
                            <m:sub>
                              <m:r>
                                <a:rPr lang="en-US" sz="2400" i="1">
                                  <a:solidFill>
                                    <a:srgbClr val="FF0000"/>
                                  </a:solidFill>
                                  <a:latin typeface="Cambria Math" panose="02040503050406030204" pitchFamily="18" charset="0"/>
                                  <a:ea typeface="Cambria Math" panose="02040503050406030204" pitchFamily="18" charset="0"/>
                                </a:rPr>
                                <m:t>𝐴</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1</m:t>
                              </m:r>
                            </m:e>
                            <m:sub>
                              <m:r>
                                <a:rPr lang="en-US" sz="2400" i="1">
                                  <a:solidFill>
                                    <a:srgbClr val="002060"/>
                                  </a:solidFill>
                                  <a:latin typeface="Cambria Math" panose="02040503050406030204" pitchFamily="18" charset="0"/>
                                  <a:ea typeface="Cambria Math" panose="02040503050406030204" pitchFamily="18" charset="0"/>
                                </a:rPr>
                                <m:t>𝐵</m:t>
                              </m:r>
                            </m:sub>
                          </m:sSub>
                        </m:e>
                      </m:d>
                    </m:oMath>
                  </a14:m>
                  <a:endParaRPr lang="en-US" sz="2400" dirty="0"/>
                </a:p>
              </p:txBody>
            </p:sp>
          </mc:Choice>
          <mc:Fallback xmlns="">
            <p:sp>
              <p:nvSpPr>
                <p:cNvPr id="34" name="Rectangle 33">
                  <a:extLst>
                    <a:ext uri="{FF2B5EF4-FFF2-40B4-BE49-F238E27FC236}">
                      <a16:creationId xmlns:a16="http://schemas.microsoft.com/office/drawing/2014/main" id="{E5C6B9A3-D0B2-9B4E-8FAD-4A336ED10CCF}"/>
                    </a:ext>
                  </a:extLst>
                </p:cNvPr>
                <p:cNvSpPr>
                  <a:spLocks noRot="1" noChangeAspect="1" noMove="1" noResize="1" noEditPoints="1" noAdjustHandles="1" noChangeArrowheads="1" noChangeShapeType="1" noTextEdit="1"/>
                </p:cNvSpPr>
                <p:nvPr/>
              </p:nvSpPr>
              <p:spPr>
                <a:xfrm>
                  <a:off x="5100479" y="3368051"/>
                  <a:ext cx="3793090" cy="661784"/>
                </a:xfrm>
                <a:prstGeom prst="rect">
                  <a:avLst/>
                </a:prstGeom>
                <a:blipFill>
                  <a:blip r:embed="rId8"/>
                  <a:stretch>
                    <a:fillRect t="-71698" r="-8361" b="-1207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2090FBF9-3BF4-FA4F-88D3-75677E0023DC}"/>
                    </a:ext>
                  </a:extLst>
                </p:cNvPr>
                <p:cNvSpPr/>
                <p:nvPr/>
              </p:nvSpPr>
              <p:spPr>
                <a:xfrm>
                  <a:off x="4558547" y="1706563"/>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35" name="Rectangle 34">
                  <a:extLst>
                    <a:ext uri="{FF2B5EF4-FFF2-40B4-BE49-F238E27FC236}">
                      <a16:creationId xmlns:a16="http://schemas.microsoft.com/office/drawing/2014/main" id="{2090FBF9-3BF4-FA4F-88D3-75677E0023DC}"/>
                    </a:ext>
                  </a:extLst>
                </p:cNvPr>
                <p:cNvSpPr>
                  <a:spLocks noRot="1" noChangeAspect="1" noMove="1" noResize="1" noEditPoints="1" noAdjustHandles="1" noChangeArrowheads="1" noChangeShapeType="1" noTextEdit="1"/>
                </p:cNvSpPr>
                <p:nvPr/>
              </p:nvSpPr>
              <p:spPr>
                <a:xfrm>
                  <a:off x="4558547" y="1706563"/>
                  <a:ext cx="423514" cy="461665"/>
                </a:xfrm>
                <a:prstGeom prst="rect">
                  <a:avLst/>
                </a:prstGeom>
                <a:blipFill>
                  <a:blip r:embed="rId9"/>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CF14296A-15D9-7146-B604-FC862633B50B}"/>
                </a:ext>
              </a:extLst>
            </p:cNvPr>
            <p:cNvCxnSpPr>
              <a:cxnSpLocks/>
            </p:cNvCxnSpPr>
            <p:nvPr/>
          </p:nvCxnSpPr>
          <p:spPr>
            <a:xfrm>
              <a:off x="5875013" y="3276443"/>
              <a:ext cx="561999" cy="5425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A848C4F9-8BCE-7E43-BFA4-AA7117495A03}"/>
              </a:ext>
            </a:extLst>
          </p:cNvPr>
          <p:cNvGrpSpPr/>
          <p:nvPr/>
        </p:nvGrpSpPr>
        <p:grpSpPr>
          <a:xfrm>
            <a:off x="10204563" y="4495170"/>
            <a:ext cx="1322571" cy="947738"/>
            <a:chOff x="6666072" y="4537003"/>
            <a:chExt cx="1322571" cy="947738"/>
          </a:xfrm>
        </p:grpSpPr>
        <p:grpSp>
          <p:nvGrpSpPr>
            <p:cNvPr id="21" name="Group 20">
              <a:extLst>
                <a:ext uri="{FF2B5EF4-FFF2-40B4-BE49-F238E27FC236}">
                  <a16:creationId xmlns:a16="http://schemas.microsoft.com/office/drawing/2014/main" id="{0A0C2FBA-913E-0445-8750-96B69C512F7A}"/>
                </a:ext>
              </a:extLst>
            </p:cNvPr>
            <p:cNvGrpSpPr/>
            <p:nvPr/>
          </p:nvGrpSpPr>
          <p:grpSpPr>
            <a:xfrm>
              <a:off x="6666072" y="4677041"/>
              <a:ext cx="720000" cy="807700"/>
              <a:chOff x="8902649" y="1353231"/>
              <a:chExt cx="720000" cy="807700"/>
            </a:xfrm>
          </p:grpSpPr>
          <p:sp>
            <p:nvSpPr>
              <p:cNvPr id="22" name="Rectangle 21">
                <a:extLst>
                  <a:ext uri="{FF2B5EF4-FFF2-40B4-BE49-F238E27FC236}">
                    <a16:creationId xmlns:a16="http://schemas.microsoft.com/office/drawing/2014/main" id="{E0C08D20-8E47-7040-9D06-27E695BF9239}"/>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3" name="Arc 22">
                <a:extLst>
                  <a:ext uri="{FF2B5EF4-FFF2-40B4-BE49-F238E27FC236}">
                    <a16:creationId xmlns:a16="http://schemas.microsoft.com/office/drawing/2014/main" id="{A3320122-A62A-3D4F-9D6A-3F011C2B086A}"/>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BC83DF7F-C1B3-CB47-BEDB-06BCDEA8ACCE}"/>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424A988-FE82-E343-8DFD-5E25FB9E4125}"/>
                    </a:ext>
                  </a:extLst>
                </p:cNvPr>
                <p:cNvSpPr/>
                <p:nvPr/>
              </p:nvSpPr>
              <p:spPr>
                <a:xfrm>
                  <a:off x="7565129" y="4537003"/>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oMath>
                    </m:oMathPara>
                  </a14:m>
                  <a:endParaRPr lang="en-US" sz="2400" dirty="0"/>
                </a:p>
              </p:txBody>
            </p:sp>
          </mc:Choice>
          <mc:Fallback xmlns="">
            <p:sp>
              <p:nvSpPr>
                <p:cNvPr id="40" name="Rectangle 39">
                  <a:extLst>
                    <a:ext uri="{FF2B5EF4-FFF2-40B4-BE49-F238E27FC236}">
                      <a16:creationId xmlns:a16="http://schemas.microsoft.com/office/drawing/2014/main" id="{7424A988-FE82-E343-8DFD-5E25FB9E4125}"/>
                    </a:ext>
                  </a:extLst>
                </p:cNvPr>
                <p:cNvSpPr>
                  <a:spLocks noRot="1" noChangeAspect="1" noMove="1" noResize="1" noEditPoints="1" noAdjustHandles="1" noChangeArrowheads="1" noChangeShapeType="1" noTextEdit="1"/>
                </p:cNvSpPr>
                <p:nvPr/>
              </p:nvSpPr>
              <p:spPr>
                <a:xfrm>
                  <a:off x="7565129" y="4537003"/>
                  <a:ext cx="423514" cy="461665"/>
                </a:xfrm>
                <a:prstGeom prst="rect">
                  <a:avLst/>
                </a:prstGeom>
                <a:blipFill>
                  <a:blip r:embed="rId10"/>
                  <a:stretch>
                    <a:fillRect/>
                  </a:stretch>
                </a:blipFill>
              </p:spPr>
              <p:txBody>
                <a:bodyPr/>
                <a:lstStyle/>
                <a:p>
                  <a:r>
                    <a:rPr lang="en-US">
                      <a:noFill/>
                    </a:rPr>
                    <a:t> </a:t>
                  </a:r>
                </a:p>
              </p:txBody>
            </p:sp>
          </mc:Fallback>
        </mc:AlternateContent>
      </p:grpSp>
      <p:pic>
        <p:nvPicPr>
          <p:cNvPr id="36" name="Picture 35">
            <a:extLst>
              <a:ext uri="{FF2B5EF4-FFF2-40B4-BE49-F238E27FC236}">
                <a16:creationId xmlns:a16="http://schemas.microsoft.com/office/drawing/2014/main" id="{B863E468-B61A-C545-8ADF-34FF23769504}"/>
              </a:ext>
            </a:extLst>
          </p:cNvPr>
          <p:cNvPicPr>
            <a:picLocks noChangeAspect="1"/>
          </p:cNvPicPr>
          <p:nvPr/>
        </p:nvPicPr>
        <p:blipFill>
          <a:blip r:embed="rId11"/>
          <a:stretch>
            <a:fillRect/>
          </a:stretch>
        </p:blipFill>
        <p:spPr>
          <a:xfrm>
            <a:off x="8908090" y="5022708"/>
            <a:ext cx="1201815" cy="1780103"/>
          </a:xfrm>
          <a:prstGeom prst="rect">
            <a:avLst/>
          </a:prstGeom>
        </p:spPr>
      </p:pic>
      <p:pic>
        <p:nvPicPr>
          <p:cNvPr id="38" name="Picture 37">
            <a:extLst>
              <a:ext uri="{FF2B5EF4-FFF2-40B4-BE49-F238E27FC236}">
                <a16:creationId xmlns:a16="http://schemas.microsoft.com/office/drawing/2014/main" id="{7DE8967E-D074-FD49-9F06-74D2E1AD0A86}"/>
              </a:ext>
            </a:extLst>
          </p:cNvPr>
          <p:cNvPicPr>
            <a:picLocks noChangeAspect="1"/>
          </p:cNvPicPr>
          <p:nvPr/>
        </p:nvPicPr>
        <p:blipFill>
          <a:blip r:embed="rId12"/>
          <a:stretch>
            <a:fillRect/>
          </a:stretch>
        </p:blipFill>
        <p:spPr>
          <a:xfrm>
            <a:off x="6182449" y="450795"/>
            <a:ext cx="1000472" cy="1541112"/>
          </a:xfrm>
          <a:prstGeom prst="rect">
            <a:avLst/>
          </a:prstGeom>
        </p:spPr>
      </p:pic>
      <p:cxnSp>
        <p:nvCxnSpPr>
          <p:cNvPr id="39" name="Straight Connector 38">
            <a:extLst>
              <a:ext uri="{FF2B5EF4-FFF2-40B4-BE49-F238E27FC236}">
                <a16:creationId xmlns:a16="http://schemas.microsoft.com/office/drawing/2014/main" id="{B767607E-D427-C54C-953B-98AC362B49B9}"/>
              </a:ext>
            </a:extLst>
          </p:cNvPr>
          <p:cNvCxnSpPr>
            <a:cxnSpLocks/>
          </p:cNvCxnSpPr>
          <p:nvPr/>
        </p:nvCxnSpPr>
        <p:spPr>
          <a:xfrm>
            <a:off x="5353050" y="1706563"/>
            <a:ext cx="0" cy="373634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B3354C6-DA1E-EC49-9484-E7D5F2606095}"/>
              </a:ext>
            </a:extLst>
          </p:cNvPr>
          <p:cNvCxnSpPr>
            <a:cxnSpLocks/>
          </p:cNvCxnSpPr>
          <p:nvPr/>
        </p:nvCxnSpPr>
        <p:spPr>
          <a:xfrm>
            <a:off x="9163050" y="1732576"/>
            <a:ext cx="0" cy="373634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77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F4E28174-7796-5849-9530-92BB520A8989}"/>
              </a:ext>
            </a:extLst>
          </p:cNvPr>
          <p:cNvSpPr/>
          <p:nvPr/>
        </p:nvSpPr>
        <p:spPr>
          <a:xfrm>
            <a:off x="614855" y="889043"/>
            <a:ext cx="4493173" cy="2888972"/>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A1CFD2-E542-D440-A8C0-1FDD5CEEC179}"/>
              </a:ext>
            </a:extLst>
          </p:cNvPr>
          <p:cNvSpPr>
            <a:spLocks noGrp="1"/>
          </p:cNvSpPr>
          <p:nvPr>
            <p:ph type="sldNum" sz="quarter" idx="12"/>
          </p:nvPr>
        </p:nvSpPr>
        <p:spPr/>
        <p:txBody>
          <a:bodyPr/>
          <a:lstStyle/>
          <a:p>
            <a:fld id="{591A223C-FA10-BC46-A853-03BA373D023C}" type="slidenum">
              <a:rPr lang="en-US" smtClean="0"/>
              <a:t>11</a:t>
            </a:fld>
            <a:endParaRPr lang="en-US"/>
          </a:p>
        </p:txBody>
      </p:sp>
      <p:sp>
        <p:nvSpPr>
          <p:cNvPr id="2" name="Title 1">
            <a:extLst>
              <a:ext uri="{FF2B5EF4-FFF2-40B4-BE49-F238E27FC236}">
                <a16:creationId xmlns:a16="http://schemas.microsoft.com/office/drawing/2014/main" id="{EA27D0B6-B58E-9040-BE00-C1A9E5267A95}"/>
              </a:ext>
            </a:extLst>
          </p:cNvPr>
          <p:cNvSpPr>
            <a:spLocks noGrp="1"/>
          </p:cNvSpPr>
          <p:nvPr>
            <p:ph type="title"/>
          </p:nvPr>
        </p:nvSpPr>
        <p:spPr/>
        <p:txBody>
          <a:bodyPr/>
          <a:lstStyle/>
          <a:p>
            <a:r>
              <a:rPr lang="en-US" dirty="0"/>
              <a:t>Generating Bell States</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13EAEAC-F1BA-B54D-AA70-75349135446D}"/>
                  </a:ext>
                </a:extLst>
              </p:cNvPr>
              <p:cNvSpPr/>
              <p:nvPr/>
            </p:nvSpPr>
            <p:spPr>
              <a:xfrm>
                <a:off x="876684" y="2901813"/>
                <a:ext cx="3895810"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smtClean="0">
                                  <a:solidFill>
                                    <a:srgbClr val="002060"/>
                                  </a:solidFill>
                                  <a:latin typeface="Cambria Math" panose="02040503050406030204" pitchFamily="18" charset="0"/>
                                  <a:ea typeface="Cambria Math" panose="02040503050406030204" pitchFamily="18" charset="0"/>
                                </a:rPr>
                              </m:ctrlPr>
                            </m:sSupPr>
                            <m:e>
                              <m:r>
                                <m:rPr>
                                  <m:sty m:val="p"/>
                                </m:rPr>
                                <a:rPr lang="el-GR" sz="2400" i="1">
                                  <a:solidFill>
                                    <a:srgbClr val="002060"/>
                                  </a:solidFill>
                                  <a:latin typeface="Cambria Math" panose="02040503050406030204" pitchFamily="18" charset="0"/>
                                  <a:ea typeface="Cambria Math" panose="02040503050406030204" pitchFamily="18" charset="0"/>
                                </a:rPr>
                                <m:t>Φ</m:t>
                              </m:r>
                            </m:e>
                            <m:sup>
                              <m:r>
                                <a:rPr lang="sr-Latn-RS" sz="2400" b="0" i="1" smtClean="0">
                                  <a:solidFill>
                                    <a:srgbClr val="002060"/>
                                  </a:solidFill>
                                  <a:latin typeface="Cambria Math" panose="02040503050406030204" pitchFamily="18" charset="0"/>
                                  <a:ea typeface="Cambria Math" panose="02040503050406030204" pitchFamily="18" charset="0"/>
                                </a:rPr>
                                <m:t>+</m:t>
                              </m:r>
                            </m:sup>
                          </m:sSup>
                        </m:e>
                      </m:d>
                      <m:r>
                        <a:rPr lang="sr-Latn-R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6" name="Rectangle 15">
                <a:extLst>
                  <a:ext uri="{FF2B5EF4-FFF2-40B4-BE49-F238E27FC236}">
                    <a16:creationId xmlns:a16="http://schemas.microsoft.com/office/drawing/2014/main" id="{313EAEAC-F1BA-B54D-AA70-75349135446D}"/>
                  </a:ext>
                </a:extLst>
              </p:cNvPr>
              <p:cNvSpPr>
                <a:spLocks noRot="1" noChangeAspect="1" noMove="1" noResize="1" noEditPoints="1" noAdjustHandles="1" noChangeArrowheads="1" noChangeShapeType="1" noTextEdit="1"/>
              </p:cNvSpPr>
              <p:nvPr/>
            </p:nvSpPr>
            <p:spPr>
              <a:xfrm>
                <a:off x="876684" y="2901813"/>
                <a:ext cx="3895810" cy="876202"/>
              </a:xfrm>
              <a:prstGeom prst="rect">
                <a:avLst/>
              </a:prstGeom>
              <a:blipFill>
                <a:blip r:embed="rId3"/>
                <a:stretch>
                  <a:fillRect t="-71014" r="-6494" b="-79710"/>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7D8DD759-567E-FD49-A370-741DE3435C56}"/>
              </a:ext>
            </a:extLst>
          </p:cNvPr>
          <p:cNvGrpSpPr/>
          <p:nvPr/>
        </p:nvGrpSpPr>
        <p:grpSpPr>
          <a:xfrm>
            <a:off x="6992903" y="892013"/>
            <a:ext cx="4493173" cy="2893494"/>
            <a:chOff x="6992903" y="892013"/>
            <a:chExt cx="4493173" cy="2893494"/>
          </a:xfrm>
        </p:grpSpPr>
        <p:sp>
          <p:nvSpPr>
            <p:cNvPr id="56" name="Rounded Rectangle 55">
              <a:extLst>
                <a:ext uri="{FF2B5EF4-FFF2-40B4-BE49-F238E27FC236}">
                  <a16:creationId xmlns:a16="http://schemas.microsoft.com/office/drawing/2014/main" id="{65BF6A35-413F-BA4D-89D0-87577ED89C82}"/>
                </a:ext>
              </a:extLst>
            </p:cNvPr>
            <p:cNvSpPr/>
            <p:nvPr/>
          </p:nvSpPr>
          <p:spPr>
            <a:xfrm>
              <a:off x="6992903" y="896535"/>
              <a:ext cx="4493173" cy="2888972"/>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A6E10CC6-70F7-3740-9563-58BE44D15A67}"/>
                    </a:ext>
                  </a:extLst>
                </p:cNvPr>
                <p:cNvSpPr/>
                <p:nvPr/>
              </p:nvSpPr>
              <p:spPr>
                <a:xfrm>
                  <a:off x="7187726" y="2904480"/>
                  <a:ext cx="3938579"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m:rPr>
                                        <m:sty m:val="p"/>
                                      </m:rPr>
                                      <a:rPr lang="el-GR" sz="2400" i="1" smtClean="0">
                                        <a:solidFill>
                                          <a:srgbClr val="002060"/>
                                        </a:solidFill>
                                        <a:latin typeface="Cambria Math" panose="02040503050406030204" pitchFamily="18" charset="0"/>
                                        <a:ea typeface="Cambria Math" panose="02040503050406030204" pitchFamily="18" charset="0"/>
                                      </a:rPr>
                                      <m:t>Ψ</m:t>
                                    </m:r>
                                  </m:e>
                                  <m:sup>
                                    <m:r>
                                      <a:rPr lang="sr-Latn-RS" sz="2400" b="0" i="1" smtClean="0">
                                        <a:solidFill>
                                          <a:srgbClr val="002060"/>
                                        </a:solidFill>
                                        <a:latin typeface="Cambria Math" panose="02040503050406030204" pitchFamily="18" charset="0"/>
                                        <a:ea typeface="Cambria Math" panose="02040503050406030204" pitchFamily="18" charset="0"/>
                                      </a:rPr>
                                      <m:t>+</m:t>
                                    </m:r>
                                  </m:sup>
                                </m:sSup>
                              </m:e>
                            </m:d>
                            <m:r>
                              <a:rPr lang="sr-Latn-R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28" name="Rectangle 27">
                  <a:extLst>
                    <a:ext uri="{FF2B5EF4-FFF2-40B4-BE49-F238E27FC236}">
                      <a16:creationId xmlns:a16="http://schemas.microsoft.com/office/drawing/2014/main" id="{A6E10CC6-70F7-3740-9563-58BE44D15A67}"/>
                    </a:ext>
                  </a:extLst>
                </p:cNvPr>
                <p:cNvSpPr>
                  <a:spLocks noRot="1" noChangeAspect="1" noMove="1" noResize="1" noEditPoints="1" noAdjustHandles="1" noChangeArrowheads="1" noChangeShapeType="1" noTextEdit="1"/>
                </p:cNvSpPr>
                <p:nvPr/>
              </p:nvSpPr>
              <p:spPr>
                <a:xfrm>
                  <a:off x="7187726" y="2904480"/>
                  <a:ext cx="3938579" cy="876202"/>
                </a:xfrm>
                <a:prstGeom prst="rect">
                  <a:avLst/>
                </a:prstGeom>
                <a:blipFill>
                  <a:blip r:embed="rId4"/>
                  <a:stretch>
                    <a:fillRect t="-71429" r="-6109" b="-118571"/>
                  </a:stretch>
                </a:blipFill>
              </p:spPr>
              <p:txBody>
                <a:bodyPr/>
                <a:lstStyle/>
                <a:p>
                  <a:r>
                    <a:rPr lang="en-US">
                      <a:noFill/>
                    </a:rPr>
                    <a:t> </a:t>
                  </a:r>
                </a:p>
              </p:txBody>
            </p:sp>
          </mc:Fallback>
        </mc:AlternateContent>
        <p:grpSp>
          <p:nvGrpSpPr>
            <p:cNvPr id="67" name="Group 66">
              <a:extLst>
                <a:ext uri="{FF2B5EF4-FFF2-40B4-BE49-F238E27FC236}">
                  <a16:creationId xmlns:a16="http://schemas.microsoft.com/office/drawing/2014/main" id="{FAE7AB80-5195-AD4D-BA3A-E3500D0456FB}"/>
                </a:ext>
              </a:extLst>
            </p:cNvPr>
            <p:cNvGrpSpPr/>
            <p:nvPr/>
          </p:nvGrpSpPr>
          <p:grpSpPr>
            <a:xfrm>
              <a:off x="7286570" y="892013"/>
              <a:ext cx="3482921" cy="1892716"/>
              <a:chOff x="6112115" y="3834435"/>
              <a:chExt cx="3482921" cy="1892716"/>
            </a:xfrm>
          </p:grpSpPr>
          <p:cxnSp>
            <p:nvCxnSpPr>
              <p:cNvPr id="22" name="Straight Connector 21">
                <a:extLst>
                  <a:ext uri="{FF2B5EF4-FFF2-40B4-BE49-F238E27FC236}">
                    <a16:creationId xmlns:a16="http://schemas.microsoft.com/office/drawing/2014/main" id="{9ED13A34-3D9C-CE45-80F5-21D6530F68C0}"/>
                  </a:ext>
                </a:extLst>
              </p:cNvPr>
              <p:cNvCxnSpPr>
                <a:cxnSpLocks/>
              </p:cNvCxnSpPr>
              <p:nvPr/>
            </p:nvCxnSpPr>
            <p:spPr>
              <a:xfrm>
                <a:off x="6535036" y="5472180"/>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E5835AA-7E68-ED4C-9FDD-EABE29C09CCC}"/>
                  </a:ext>
                </a:extLst>
              </p:cNvPr>
              <p:cNvCxnSpPr>
                <a:cxnSpLocks/>
              </p:cNvCxnSpPr>
              <p:nvPr/>
            </p:nvCxnSpPr>
            <p:spPr>
              <a:xfrm>
                <a:off x="6535035" y="4317231"/>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A2D9610B-E094-5F46-860D-ECFE090E2944}"/>
                  </a:ext>
                </a:extLst>
              </p:cNvPr>
              <p:cNvSpPr>
                <a:spLocks/>
              </p:cNvSpPr>
              <p:nvPr/>
            </p:nvSpPr>
            <p:spPr>
              <a:xfrm>
                <a:off x="7708542" y="4013493"/>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24" name="Straight Connector 23">
                <a:extLst>
                  <a:ext uri="{FF2B5EF4-FFF2-40B4-BE49-F238E27FC236}">
                    <a16:creationId xmlns:a16="http://schemas.microsoft.com/office/drawing/2014/main" id="{228E013D-FA66-2944-A61A-2507CBE3F5A2}"/>
                  </a:ext>
                </a:extLst>
              </p:cNvPr>
              <p:cNvCxnSpPr>
                <a:cxnSpLocks/>
                <a:stCxn id="62" idx="0"/>
              </p:cNvCxnSpPr>
              <p:nvPr/>
            </p:nvCxnSpPr>
            <p:spPr>
              <a:xfrm flipV="1">
                <a:off x="8754098" y="44119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54D7964-8CBE-B041-8FCE-CCA6EB654434}"/>
                  </a:ext>
                </a:extLst>
              </p:cNvPr>
              <p:cNvSpPr/>
              <p:nvPr/>
            </p:nvSpPr>
            <p:spPr>
              <a:xfrm>
                <a:off x="8629675" y="4157494"/>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0EC3D3DD-4DCA-4643-AAC6-3EB0283D1AD3}"/>
                      </a:ext>
                    </a:extLst>
                  </p:cNvPr>
                  <p:cNvSpPr/>
                  <p:nvPr/>
                </p:nvSpPr>
                <p:spPr>
                  <a:xfrm>
                    <a:off x="6112115" y="38344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9" name="Rectangle 28">
                    <a:extLst>
                      <a:ext uri="{FF2B5EF4-FFF2-40B4-BE49-F238E27FC236}">
                        <a16:creationId xmlns:a16="http://schemas.microsoft.com/office/drawing/2014/main" id="{0EC3D3DD-4DCA-4643-AAC6-3EB0283D1AD3}"/>
                      </a:ext>
                    </a:extLst>
                  </p:cNvPr>
                  <p:cNvSpPr>
                    <a:spLocks noRot="1" noChangeAspect="1" noMove="1" noResize="1" noEditPoints="1" noAdjustHandles="1" noChangeArrowheads="1" noChangeShapeType="1" noTextEdit="1"/>
                  </p:cNvSpPr>
                  <p:nvPr/>
                </p:nvSpPr>
                <p:spPr>
                  <a:xfrm>
                    <a:off x="6112115" y="3834435"/>
                    <a:ext cx="631903" cy="461665"/>
                  </a:xfrm>
                  <a:prstGeom prst="rect">
                    <a:avLst/>
                  </a:prstGeom>
                  <a:blipFill>
                    <a:blip r:embed="rId5"/>
                    <a:stretch>
                      <a:fillRect l="-25490" t="-130556" r="-49020" b="-2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7C999387-6776-7245-8129-660A77ACC00C}"/>
                      </a:ext>
                    </a:extLst>
                  </p:cNvPr>
                  <p:cNvSpPr/>
                  <p:nvPr/>
                </p:nvSpPr>
                <p:spPr>
                  <a:xfrm>
                    <a:off x="6112115" y="50397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30" name="Rectangle 29">
                    <a:extLst>
                      <a:ext uri="{FF2B5EF4-FFF2-40B4-BE49-F238E27FC236}">
                        <a16:creationId xmlns:a16="http://schemas.microsoft.com/office/drawing/2014/main" id="{7C999387-6776-7245-8129-660A77ACC00C}"/>
                      </a:ext>
                    </a:extLst>
                  </p:cNvPr>
                  <p:cNvSpPr>
                    <a:spLocks noRot="1" noChangeAspect="1" noMove="1" noResize="1" noEditPoints="1" noAdjustHandles="1" noChangeArrowheads="1" noChangeShapeType="1" noTextEdit="1"/>
                  </p:cNvSpPr>
                  <p:nvPr/>
                </p:nvSpPr>
                <p:spPr>
                  <a:xfrm>
                    <a:off x="6112115" y="5039790"/>
                    <a:ext cx="631903" cy="461665"/>
                  </a:xfrm>
                  <a:prstGeom prst="rect">
                    <a:avLst/>
                  </a:prstGeom>
                  <a:blipFill>
                    <a:blip r:embed="rId6"/>
                    <a:stretch>
                      <a:fillRect l="-25490" t="-124324" r="-49020" b="-194595"/>
                    </a:stretch>
                  </a:blipFill>
                </p:spPr>
                <p:txBody>
                  <a:bodyPr/>
                  <a:lstStyle/>
                  <a:p>
                    <a:r>
                      <a:rPr lang="en-US">
                        <a:noFill/>
                      </a:rPr>
                      <a:t> </a:t>
                    </a:r>
                  </a:p>
                </p:txBody>
              </p:sp>
            </mc:Fallback>
          </mc:AlternateContent>
          <p:sp>
            <p:nvSpPr>
              <p:cNvPr id="61" name="Oval 60">
                <a:extLst>
                  <a:ext uri="{FF2B5EF4-FFF2-40B4-BE49-F238E27FC236}">
                    <a16:creationId xmlns:a16="http://schemas.microsoft.com/office/drawing/2014/main" id="{DD76AF85-D1C2-1545-90A3-F47CB178C382}"/>
                  </a:ext>
                </a:extLst>
              </p:cNvPr>
              <p:cNvSpPr/>
              <p:nvPr/>
            </p:nvSpPr>
            <p:spPr>
              <a:xfrm>
                <a:off x="6877410" y="51871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62" name="Oval 61">
                <a:extLst>
                  <a:ext uri="{FF2B5EF4-FFF2-40B4-BE49-F238E27FC236}">
                    <a16:creationId xmlns:a16="http://schemas.microsoft.com/office/drawing/2014/main" id="{74836161-F909-9E4A-9D91-638CB31C0CD7}"/>
                  </a:ext>
                </a:extLst>
              </p:cNvPr>
              <p:cNvSpPr/>
              <p:nvPr/>
            </p:nvSpPr>
            <p:spPr>
              <a:xfrm>
                <a:off x="8484098" y="51871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grpSp>
        <p:nvGrpSpPr>
          <p:cNvPr id="68" name="Group 67">
            <a:extLst>
              <a:ext uri="{FF2B5EF4-FFF2-40B4-BE49-F238E27FC236}">
                <a16:creationId xmlns:a16="http://schemas.microsoft.com/office/drawing/2014/main" id="{92F10B67-E03E-134A-9AD9-0E34E4EDF442}"/>
              </a:ext>
            </a:extLst>
          </p:cNvPr>
          <p:cNvGrpSpPr/>
          <p:nvPr/>
        </p:nvGrpSpPr>
        <p:grpSpPr>
          <a:xfrm>
            <a:off x="913163" y="889043"/>
            <a:ext cx="3482921" cy="1892716"/>
            <a:chOff x="6112115" y="3834435"/>
            <a:chExt cx="3482921" cy="1892716"/>
          </a:xfrm>
        </p:grpSpPr>
        <p:cxnSp>
          <p:nvCxnSpPr>
            <p:cNvPr id="69" name="Straight Connector 68">
              <a:extLst>
                <a:ext uri="{FF2B5EF4-FFF2-40B4-BE49-F238E27FC236}">
                  <a16:creationId xmlns:a16="http://schemas.microsoft.com/office/drawing/2014/main" id="{BFD98772-EBD1-0044-B761-51CBA8275A52}"/>
                </a:ext>
              </a:extLst>
            </p:cNvPr>
            <p:cNvCxnSpPr>
              <a:cxnSpLocks/>
            </p:cNvCxnSpPr>
            <p:nvPr/>
          </p:nvCxnSpPr>
          <p:spPr>
            <a:xfrm>
              <a:off x="6535036" y="5472180"/>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C588EBF-A04A-BA4B-909E-6011B8F8F0DB}"/>
                </a:ext>
              </a:extLst>
            </p:cNvPr>
            <p:cNvCxnSpPr>
              <a:cxnSpLocks/>
            </p:cNvCxnSpPr>
            <p:nvPr/>
          </p:nvCxnSpPr>
          <p:spPr>
            <a:xfrm>
              <a:off x="6535035" y="4317231"/>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83505452-20AA-9241-8E43-8C5DECC2C924}"/>
                </a:ext>
              </a:extLst>
            </p:cNvPr>
            <p:cNvSpPr>
              <a:spLocks/>
            </p:cNvSpPr>
            <p:nvPr/>
          </p:nvSpPr>
          <p:spPr>
            <a:xfrm>
              <a:off x="7708542" y="4013493"/>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72" name="Straight Connector 71">
              <a:extLst>
                <a:ext uri="{FF2B5EF4-FFF2-40B4-BE49-F238E27FC236}">
                  <a16:creationId xmlns:a16="http://schemas.microsoft.com/office/drawing/2014/main" id="{1C4CCE4D-B031-654B-A3CF-8DDF35003E1E}"/>
                </a:ext>
              </a:extLst>
            </p:cNvPr>
            <p:cNvCxnSpPr>
              <a:cxnSpLocks/>
              <a:stCxn id="78" idx="0"/>
            </p:cNvCxnSpPr>
            <p:nvPr/>
          </p:nvCxnSpPr>
          <p:spPr>
            <a:xfrm flipV="1">
              <a:off x="8754098" y="44119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A59FDC73-F9EF-F549-A8D6-ABEA509E67CA}"/>
                </a:ext>
              </a:extLst>
            </p:cNvPr>
            <p:cNvSpPr/>
            <p:nvPr/>
          </p:nvSpPr>
          <p:spPr>
            <a:xfrm>
              <a:off x="8629675" y="4157494"/>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A75AA068-92C5-8642-9E14-74CCB56CFB59}"/>
                    </a:ext>
                  </a:extLst>
                </p:cNvPr>
                <p:cNvSpPr/>
                <p:nvPr/>
              </p:nvSpPr>
              <p:spPr>
                <a:xfrm>
                  <a:off x="6112115" y="38344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4" name="Rectangle 73">
                  <a:extLst>
                    <a:ext uri="{FF2B5EF4-FFF2-40B4-BE49-F238E27FC236}">
                      <a16:creationId xmlns:a16="http://schemas.microsoft.com/office/drawing/2014/main" id="{A75AA068-92C5-8642-9E14-74CCB56CFB59}"/>
                    </a:ext>
                  </a:extLst>
                </p:cNvPr>
                <p:cNvSpPr>
                  <a:spLocks noRot="1" noChangeAspect="1" noMove="1" noResize="1" noEditPoints="1" noAdjustHandles="1" noChangeArrowheads="1" noChangeShapeType="1" noTextEdit="1"/>
                </p:cNvSpPr>
                <p:nvPr/>
              </p:nvSpPr>
              <p:spPr>
                <a:xfrm>
                  <a:off x="6112115" y="3834435"/>
                  <a:ext cx="631903" cy="461665"/>
                </a:xfrm>
                <a:prstGeom prst="rect">
                  <a:avLst/>
                </a:prstGeom>
                <a:blipFill>
                  <a:blip r:embed="rId7"/>
                  <a:stretch>
                    <a:fillRect l="-25490" t="-130556" r="-49020" b="-2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F0D6FB4-54AC-B248-89E0-B2B03C199708}"/>
                    </a:ext>
                  </a:extLst>
                </p:cNvPr>
                <p:cNvSpPr/>
                <p:nvPr/>
              </p:nvSpPr>
              <p:spPr>
                <a:xfrm>
                  <a:off x="6112115" y="50397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5" name="Rectangle 74">
                  <a:extLst>
                    <a:ext uri="{FF2B5EF4-FFF2-40B4-BE49-F238E27FC236}">
                      <a16:creationId xmlns:a16="http://schemas.microsoft.com/office/drawing/2014/main" id="{7F0D6FB4-54AC-B248-89E0-B2B03C199708}"/>
                    </a:ext>
                  </a:extLst>
                </p:cNvPr>
                <p:cNvSpPr>
                  <a:spLocks noRot="1" noChangeAspect="1" noMove="1" noResize="1" noEditPoints="1" noAdjustHandles="1" noChangeArrowheads="1" noChangeShapeType="1" noTextEdit="1"/>
                </p:cNvSpPr>
                <p:nvPr/>
              </p:nvSpPr>
              <p:spPr>
                <a:xfrm>
                  <a:off x="6112115" y="5039790"/>
                  <a:ext cx="631903" cy="461665"/>
                </a:xfrm>
                <a:prstGeom prst="rect">
                  <a:avLst/>
                </a:prstGeom>
                <a:blipFill>
                  <a:blip r:embed="rId8"/>
                  <a:stretch>
                    <a:fillRect l="-25490" t="-124324" r="-49020" b="-194595"/>
                  </a:stretch>
                </a:blipFill>
              </p:spPr>
              <p:txBody>
                <a:bodyPr/>
                <a:lstStyle/>
                <a:p>
                  <a:r>
                    <a:rPr lang="en-US">
                      <a:noFill/>
                    </a:rPr>
                    <a:t> </a:t>
                  </a:r>
                </a:p>
              </p:txBody>
            </p:sp>
          </mc:Fallback>
        </mc:AlternateContent>
        <p:sp>
          <p:nvSpPr>
            <p:cNvPr id="78" name="Oval 77">
              <a:extLst>
                <a:ext uri="{FF2B5EF4-FFF2-40B4-BE49-F238E27FC236}">
                  <a16:creationId xmlns:a16="http://schemas.microsoft.com/office/drawing/2014/main" id="{F40678E3-14AD-1848-A73F-F089E6006849}"/>
                </a:ext>
              </a:extLst>
            </p:cNvPr>
            <p:cNvSpPr/>
            <p:nvPr/>
          </p:nvSpPr>
          <p:spPr>
            <a:xfrm>
              <a:off x="8484098" y="51871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13" name="Group 12">
            <a:extLst>
              <a:ext uri="{FF2B5EF4-FFF2-40B4-BE49-F238E27FC236}">
                <a16:creationId xmlns:a16="http://schemas.microsoft.com/office/drawing/2014/main" id="{FAF4AB9D-6E98-B346-8DFB-79B8FFE19991}"/>
              </a:ext>
            </a:extLst>
          </p:cNvPr>
          <p:cNvGrpSpPr/>
          <p:nvPr/>
        </p:nvGrpSpPr>
        <p:grpSpPr>
          <a:xfrm>
            <a:off x="7115612" y="3848134"/>
            <a:ext cx="4493173" cy="2914770"/>
            <a:chOff x="7115612" y="3848134"/>
            <a:chExt cx="4493173" cy="2914770"/>
          </a:xfrm>
        </p:grpSpPr>
        <p:sp>
          <p:nvSpPr>
            <p:cNvPr id="57" name="Rounded Rectangle 56">
              <a:extLst>
                <a:ext uri="{FF2B5EF4-FFF2-40B4-BE49-F238E27FC236}">
                  <a16:creationId xmlns:a16="http://schemas.microsoft.com/office/drawing/2014/main" id="{D7169FD3-C22D-2744-B4F6-AB4D6BC6270A}"/>
                </a:ext>
              </a:extLst>
            </p:cNvPr>
            <p:cNvSpPr/>
            <p:nvPr/>
          </p:nvSpPr>
          <p:spPr>
            <a:xfrm>
              <a:off x="7115612" y="3848134"/>
              <a:ext cx="4493173" cy="2888972"/>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5A2E2A44-4EA6-CC4B-8632-98A42C322286}"/>
                    </a:ext>
                  </a:extLst>
                </p:cNvPr>
                <p:cNvSpPr/>
                <p:nvPr/>
              </p:nvSpPr>
              <p:spPr>
                <a:xfrm>
                  <a:off x="7398748" y="5886702"/>
                  <a:ext cx="3811364"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m:rPr>
                                        <m:sty m:val="p"/>
                                      </m:rPr>
                                      <a:rPr lang="el-GR" sz="2400" i="1">
                                        <a:solidFill>
                                          <a:srgbClr val="002060"/>
                                        </a:solidFill>
                                        <a:latin typeface="Cambria Math" panose="02040503050406030204" pitchFamily="18" charset="0"/>
                                        <a:ea typeface="Cambria Math" panose="02040503050406030204" pitchFamily="18" charset="0"/>
                                      </a:rPr>
                                      <m:t>Ψ</m:t>
                                    </m:r>
                                  </m:e>
                                  <m:sup>
                                    <m:r>
                                      <a:rPr lang="sr-Latn-RS" sz="2400" i="1">
                                        <a:solidFill>
                                          <a:srgbClr val="002060"/>
                                        </a:solidFill>
                                        <a:latin typeface="Cambria Math" panose="02040503050406030204" pitchFamily="18" charset="0"/>
                                        <a:ea typeface="Cambria Math" panose="02040503050406030204" pitchFamily="18" charset="0"/>
                                      </a:rPr>
                                      <m:t>−</m:t>
                                    </m:r>
                                  </m:sup>
                                </m:sSup>
                              </m:e>
                            </m:d>
                            <m:r>
                              <a:rPr lang="sr-Latn-R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02" name="Rectangle 101">
                  <a:extLst>
                    <a:ext uri="{FF2B5EF4-FFF2-40B4-BE49-F238E27FC236}">
                      <a16:creationId xmlns:a16="http://schemas.microsoft.com/office/drawing/2014/main" id="{5A2E2A44-4EA6-CC4B-8632-98A42C322286}"/>
                    </a:ext>
                  </a:extLst>
                </p:cNvPr>
                <p:cNvSpPr>
                  <a:spLocks noRot="1" noChangeAspect="1" noMove="1" noResize="1" noEditPoints="1" noAdjustHandles="1" noChangeArrowheads="1" noChangeShapeType="1" noTextEdit="1"/>
                </p:cNvSpPr>
                <p:nvPr/>
              </p:nvSpPr>
              <p:spPr>
                <a:xfrm>
                  <a:off x="7398748" y="5886702"/>
                  <a:ext cx="3811364" cy="876202"/>
                </a:xfrm>
                <a:prstGeom prst="rect">
                  <a:avLst/>
                </a:prstGeom>
                <a:blipFill>
                  <a:blip r:embed="rId9"/>
                  <a:stretch>
                    <a:fillRect t="-72857" r="-7973" b="-118571"/>
                  </a:stretch>
                </a:blipFill>
              </p:spPr>
              <p:txBody>
                <a:bodyPr/>
                <a:lstStyle/>
                <a:p>
                  <a:r>
                    <a:rPr lang="en-US">
                      <a:noFill/>
                    </a:rPr>
                    <a:t> </a:t>
                  </a:r>
                </a:p>
              </p:txBody>
            </p:sp>
          </mc:Fallback>
        </mc:AlternateContent>
        <p:grpSp>
          <p:nvGrpSpPr>
            <p:cNvPr id="103" name="Group 102">
              <a:extLst>
                <a:ext uri="{FF2B5EF4-FFF2-40B4-BE49-F238E27FC236}">
                  <a16:creationId xmlns:a16="http://schemas.microsoft.com/office/drawing/2014/main" id="{6FFCD661-BCAC-7A40-B4E9-1459B21B6E0E}"/>
                </a:ext>
              </a:extLst>
            </p:cNvPr>
            <p:cNvGrpSpPr/>
            <p:nvPr/>
          </p:nvGrpSpPr>
          <p:grpSpPr>
            <a:xfrm>
              <a:off x="7351510" y="3851277"/>
              <a:ext cx="3482921" cy="1892716"/>
              <a:chOff x="6112115" y="3834435"/>
              <a:chExt cx="3482921" cy="1892716"/>
            </a:xfrm>
          </p:grpSpPr>
          <p:cxnSp>
            <p:nvCxnSpPr>
              <p:cNvPr id="104" name="Straight Connector 103">
                <a:extLst>
                  <a:ext uri="{FF2B5EF4-FFF2-40B4-BE49-F238E27FC236}">
                    <a16:creationId xmlns:a16="http://schemas.microsoft.com/office/drawing/2014/main" id="{A454264F-A79F-8948-8E61-A191CB03B555}"/>
                  </a:ext>
                </a:extLst>
              </p:cNvPr>
              <p:cNvCxnSpPr>
                <a:cxnSpLocks/>
              </p:cNvCxnSpPr>
              <p:nvPr/>
            </p:nvCxnSpPr>
            <p:spPr>
              <a:xfrm>
                <a:off x="6535036" y="5472180"/>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5A283F3-071F-CE49-BFAF-3BED1398D284}"/>
                  </a:ext>
                </a:extLst>
              </p:cNvPr>
              <p:cNvCxnSpPr>
                <a:cxnSpLocks/>
              </p:cNvCxnSpPr>
              <p:nvPr/>
            </p:nvCxnSpPr>
            <p:spPr>
              <a:xfrm>
                <a:off x="6535035" y="4317231"/>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7D4CE7E1-A4A2-D04F-9E40-E81E1BDDE0B3}"/>
                  </a:ext>
                </a:extLst>
              </p:cNvPr>
              <p:cNvSpPr>
                <a:spLocks/>
              </p:cNvSpPr>
              <p:nvPr/>
            </p:nvSpPr>
            <p:spPr>
              <a:xfrm>
                <a:off x="7708542" y="4013493"/>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107" name="Straight Connector 106">
                <a:extLst>
                  <a:ext uri="{FF2B5EF4-FFF2-40B4-BE49-F238E27FC236}">
                    <a16:creationId xmlns:a16="http://schemas.microsoft.com/office/drawing/2014/main" id="{95CCB8E3-E8AF-084D-B4EA-2E2A37390F7C}"/>
                  </a:ext>
                </a:extLst>
              </p:cNvPr>
              <p:cNvCxnSpPr>
                <a:cxnSpLocks/>
                <a:stCxn id="113" idx="0"/>
              </p:cNvCxnSpPr>
              <p:nvPr/>
            </p:nvCxnSpPr>
            <p:spPr>
              <a:xfrm flipV="1">
                <a:off x="8754098" y="44119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F223F1B1-A5C9-9747-969A-9FBA40AB995A}"/>
                  </a:ext>
                </a:extLst>
              </p:cNvPr>
              <p:cNvSpPr/>
              <p:nvPr/>
            </p:nvSpPr>
            <p:spPr>
              <a:xfrm>
                <a:off x="8629675" y="4157494"/>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A32C96D0-F6F8-A348-9A1F-9AA8249D4B81}"/>
                      </a:ext>
                    </a:extLst>
                  </p:cNvPr>
                  <p:cNvSpPr/>
                  <p:nvPr/>
                </p:nvSpPr>
                <p:spPr>
                  <a:xfrm>
                    <a:off x="6112115" y="38344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09" name="Rectangle 108">
                    <a:extLst>
                      <a:ext uri="{FF2B5EF4-FFF2-40B4-BE49-F238E27FC236}">
                        <a16:creationId xmlns:a16="http://schemas.microsoft.com/office/drawing/2014/main" id="{A32C96D0-F6F8-A348-9A1F-9AA8249D4B81}"/>
                      </a:ext>
                    </a:extLst>
                  </p:cNvPr>
                  <p:cNvSpPr>
                    <a:spLocks noRot="1" noChangeAspect="1" noMove="1" noResize="1" noEditPoints="1" noAdjustHandles="1" noChangeArrowheads="1" noChangeShapeType="1" noTextEdit="1"/>
                  </p:cNvSpPr>
                  <p:nvPr/>
                </p:nvSpPr>
                <p:spPr>
                  <a:xfrm>
                    <a:off x="6112115" y="3834435"/>
                    <a:ext cx="631903" cy="461665"/>
                  </a:xfrm>
                  <a:prstGeom prst="rect">
                    <a:avLst/>
                  </a:prstGeom>
                  <a:blipFill>
                    <a:blip r:embed="rId11"/>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F213CF3E-C235-1B47-AEE8-5E340AA5BD6B}"/>
                      </a:ext>
                    </a:extLst>
                  </p:cNvPr>
                  <p:cNvSpPr/>
                  <p:nvPr/>
                </p:nvSpPr>
                <p:spPr>
                  <a:xfrm>
                    <a:off x="6112115" y="50397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10" name="Rectangle 109">
                    <a:extLst>
                      <a:ext uri="{FF2B5EF4-FFF2-40B4-BE49-F238E27FC236}">
                        <a16:creationId xmlns:a16="http://schemas.microsoft.com/office/drawing/2014/main" id="{F213CF3E-C235-1B47-AEE8-5E340AA5BD6B}"/>
                      </a:ext>
                    </a:extLst>
                  </p:cNvPr>
                  <p:cNvSpPr>
                    <a:spLocks noRot="1" noChangeAspect="1" noMove="1" noResize="1" noEditPoints="1" noAdjustHandles="1" noChangeArrowheads="1" noChangeShapeType="1" noTextEdit="1"/>
                  </p:cNvSpPr>
                  <p:nvPr/>
                </p:nvSpPr>
                <p:spPr>
                  <a:xfrm>
                    <a:off x="6112115" y="5039790"/>
                    <a:ext cx="631903" cy="461665"/>
                  </a:xfrm>
                  <a:prstGeom prst="rect">
                    <a:avLst/>
                  </a:prstGeom>
                  <a:blipFill>
                    <a:blip r:embed="rId12"/>
                    <a:stretch>
                      <a:fillRect l="-25490" t="-127027" r="-49020" b="-191892"/>
                    </a:stretch>
                  </a:blipFill>
                </p:spPr>
                <p:txBody>
                  <a:bodyPr/>
                  <a:lstStyle/>
                  <a:p>
                    <a:r>
                      <a:rPr lang="en-US">
                        <a:noFill/>
                      </a:rPr>
                      <a:t> </a:t>
                    </a:r>
                  </a:p>
                </p:txBody>
              </p:sp>
            </mc:Fallback>
          </mc:AlternateContent>
          <p:sp>
            <p:nvSpPr>
              <p:cNvPr id="111" name="Oval 110">
                <a:extLst>
                  <a:ext uri="{FF2B5EF4-FFF2-40B4-BE49-F238E27FC236}">
                    <a16:creationId xmlns:a16="http://schemas.microsoft.com/office/drawing/2014/main" id="{E9FA6BA9-AACE-7E40-BD90-724A3B61D507}"/>
                  </a:ext>
                </a:extLst>
              </p:cNvPr>
              <p:cNvSpPr/>
              <p:nvPr/>
            </p:nvSpPr>
            <p:spPr>
              <a:xfrm>
                <a:off x="6877410" y="404723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12" name="Oval 111">
                <a:extLst>
                  <a:ext uri="{FF2B5EF4-FFF2-40B4-BE49-F238E27FC236}">
                    <a16:creationId xmlns:a16="http://schemas.microsoft.com/office/drawing/2014/main" id="{1869CE74-6EB1-3C4F-813D-1141E0322CC5}"/>
                  </a:ext>
                </a:extLst>
              </p:cNvPr>
              <p:cNvSpPr/>
              <p:nvPr/>
            </p:nvSpPr>
            <p:spPr>
              <a:xfrm>
                <a:off x="6877410" y="51871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13" name="Oval 112">
                <a:extLst>
                  <a:ext uri="{FF2B5EF4-FFF2-40B4-BE49-F238E27FC236}">
                    <a16:creationId xmlns:a16="http://schemas.microsoft.com/office/drawing/2014/main" id="{1CBC8FF9-C1DE-E143-A8AC-001641FE1460}"/>
                  </a:ext>
                </a:extLst>
              </p:cNvPr>
              <p:cNvSpPr/>
              <p:nvPr/>
            </p:nvSpPr>
            <p:spPr>
              <a:xfrm>
                <a:off x="8484098" y="51871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grpSp>
        <p:nvGrpSpPr>
          <p:cNvPr id="11" name="Group 10">
            <a:extLst>
              <a:ext uri="{FF2B5EF4-FFF2-40B4-BE49-F238E27FC236}">
                <a16:creationId xmlns:a16="http://schemas.microsoft.com/office/drawing/2014/main" id="{B3B95ED1-6989-4549-9BC6-ADA7DCCF35A1}"/>
              </a:ext>
            </a:extLst>
          </p:cNvPr>
          <p:cNvGrpSpPr/>
          <p:nvPr/>
        </p:nvGrpSpPr>
        <p:grpSpPr>
          <a:xfrm>
            <a:off x="612359" y="3848134"/>
            <a:ext cx="4493173" cy="2914770"/>
            <a:chOff x="612359" y="3848134"/>
            <a:chExt cx="4493173" cy="2914770"/>
          </a:xfrm>
        </p:grpSpPr>
        <p:sp>
          <p:nvSpPr>
            <p:cNvPr id="55" name="Rounded Rectangle 54">
              <a:extLst>
                <a:ext uri="{FF2B5EF4-FFF2-40B4-BE49-F238E27FC236}">
                  <a16:creationId xmlns:a16="http://schemas.microsoft.com/office/drawing/2014/main" id="{355E73B1-437A-DA4F-B273-9DBC0A7B9817}"/>
                </a:ext>
              </a:extLst>
            </p:cNvPr>
            <p:cNvSpPr/>
            <p:nvPr/>
          </p:nvSpPr>
          <p:spPr>
            <a:xfrm>
              <a:off x="612359" y="3848134"/>
              <a:ext cx="4493173" cy="2888972"/>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D07EEC22-9FEA-DF43-B267-8660C4146913}"/>
                    </a:ext>
                  </a:extLst>
                </p:cNvPr>
                <p:cNvSpPr/>
                <p:nvPr/>
              </p:nvSpPr>
              <p:spPr>
                <a:xfrm>
                  <a:off x="897267" y="5886702"/>
                  <a:ext cx="381848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m:rPr>
                                        <m:sty m:val="p"/>
                                      </m:rPr>
                                      <a:rPr lang="el-GR" sz="2400" i="1">
                                        <a:solidFill>
                                          <a:srgbClr val="002060"/>
                                        </a:solidFill>
                                        <a:latin typeface="Cambria Math" panose="02040503050406030204" pitchFamily="18" charset="0"/>
                                        <a:ea typeface="Cambria Math" panose="02040503050406030204" pitchFamily="18" charset="0"/>
                                      </a:rPr>
                                      <m:t>Φ</m:t>
                                    </m:r>
                                  </m:e>
                                  <m:sup>
                                    <m:r>
                                      <a:rPr lang="sr-Latn-RS" sz="2400" b="0" i="1" smtClean="0">
                                        <a:solidFill>
                                          <a:srgbClr val="002060"/>
                                        </a:solidFill>
                                        <a:latin typeface="Cambria Math" panose="02040503050406030204" pitchFamily="18" charset="0"/>
                                        <a:ea typeface="Cambria Math" panose="02040503050406030204" pitchFamily="18" charset="0"/>
                                      </a:rPr>
                                      <m:t>−</m:t>
                                    </m:r>
                                  </m:sup>
                                </m:sSup>
                              </m:e>
                            </m:d>
                            <m:r>
                              <a:rPr lang="sr-Latn-R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sr-Latn-RS" sz="2400" b="0" i="1" smtClean="0">
                                    <a:solidFill>
                                      <a:srgbClr val="002060"/>
                                    </a:solidFill>
                                    <a:latin typeface="Cambria Math" panose="02040503050406030204" pitchFamily="18" charset="0"/>
                                    <a:ea typeface="Cambria Math" panose="02040503050406030204" pitchFamily="18" charset="0"/>
                                  </a:rPr>
                                  <m:t>10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01" name="Rectangle 100">
                  <a:extLst>
                    <a:ext uri="{FF2B5EF4-FFF2-40B4-BE49-F238E27FC236}">
                      <a16:creationId xmlns:a16="http://schemas.microsoft.com/office/drawing/2014/main" id="{D07EEC22-9FEA-DF43-B267-8660C4146913}"/>
                    </a:ext>
                  </a:extLst>
                </p:cNvPr>
                <p:cNvSpPr>
                  <a:spLocks noRot="1" noChangeAspect="1" noMove="1" noResize="1" noEditPoints="1" noAdjustHandles="1" noChangeArrowheads="1" noChangeShapeType="1" noTextEdit="1"/>
                </p:cNvSpPr>
                <p:nvPr/>
              </p:nvSpPr>
              <p:spPr>
                <a:xfrm>
                  <a:off x="897267" y="5886702"/>
                  <a:ext cx="3818481" cy="876202"/>
                </a:xfrm>
                <a:prstGeom prst="rect">
                  <a:avLst/>
                </a:prstGeom>
                <a:blipFill>
                  <a:blip r:embed="rId13"/>
                  <a:stretch>
                    <a:fillRect t="-72857" r="-7973" b="-118571"/>
                  </a:stretch>
                </a:blipFill>
              </p:spPr>
              <p:txBody>
                <a:bodyPr/>
                <a:lstStyle/>
                <a:p>
                  <a:r>
                    <a:rPr lang="en-US">
                      <a:noFill/>
                    </a:rPr>
                    <a:t> </a:t>
                  </a:r>
                </a:p>
              </p:txBody>
            </p:sp>
          </mc:Fallback>
        </mc:AlternateContent>
        <p:grpSp>
          <p:nvGrpSpPr>
            <p:cNvPr id="114" name="Group 113">
              <a:extLst>
                <a:ext uri="{FF2B5EF4-FFF2-40B4-BE49-F238E27FC236}">
                  <a16:creationId xmlns:a16="http://schemas.microsoft.com/office/drawing/2014/main" id="{1D96DA11-5E6D-1944-8700-CA2256F27BC7}"/>
                </a:ext>
              </a:extLst>
            </p:cNvPr>
            <p:cNvGrpSpPr/>
            <p:nvPr/>
          </p:nvGrpSpPr>
          <p:grpSpPr>
            <a:xfrm>
              <a:off x="913163" y="3851277"/>
              <a:ext cx="3482921" cy="1892716"/>
              <a:chOff x="6112115" y="3834435"/>
              <a:chExt cx="3482921" cy="1892716"/>
            </a:xfrm>
          </p:grpSpPr>
          <p:cxnSp>
            <p:nvCxnSpPr>
              <p:cNvPr id="115" name="Straight Connector 114">
                <a:extLst>
                  <a:ext uri="{FF2B5EF4-FFF2-40B4-BE49-F238E27FC236}">
                    <a16:creationId xmlns:a16="http://schemas.microsoft.com/office/drawing/2014/main" id="{BA8FA798-81E2-AB4A-A5F0-406E10638A4B}"/>
                  </a:ext>
                </a:extLst>
              </p:cNvPr>
              <p:cNvCxnSpPr>
                <a:cxnSpLocks/>
              </p:cNvCxnSpPr>
              <p:nvPr/>
            </p:nvCxnSpPr>
            <p:spPr>
              <a:xfrm>
                <a:off x="6535036" y="5472180"/>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01BD447-2CB4-9041-B846-CF4B813B4743}"/>
                  </a:ext>
                </a:extLst>
              </p:cNvPr>
              <p:cNvCxnSpPr>
                <a:cxnSpLocks/>
              </p:cNvCxnSpPr>
              <p:nvPr/>
            </p:nvCxnSpPr>
            <p:spPr>
              <a:xfrm>
                <a:off x="6535035" y="4317231"/>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38DC1076-02A4-C340-A671-7BE41E37A687}"/>
                  </a:ext>
                </a:extLst>
              </p:cNvPr>
              <p:cNvSpPr>
                <a:spLocks/>
              </p:cNvSpPr>
              <p:nvPr/>
            </p:nvSpPr>
            <p:spPr>
              <a:xfrm>
                <a:off x="7708542" y="4013493"/>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118" name="Straight Connector 117">
                <a:extLst>
                  <a:ext uri="{FF2B5EF4-FFF2-40B4-BE49-F238E27FC236}">
                    <a16:creationId xmlns:a16="http://schemas.microsoft.com/office/drawing/2014/main" id="{52A13DE1-2BB1-064F-9BE0-87D0CF87679D}"/>
                  </a:ext>
                </a:extLst>
              </p:cNvPr>
              <p:cNvCxnSpPr>
                <a:cxnSpLocks/>
                <a:stCxn id="124" idx="0"/>
              </p:cNvCxnSpPr>
              <p:nvPr/>
            </p:nvCxnSpPr>
            <p:spPr>
              <a:xfrm flipV="1">
                <a:off x="8754098" y="44119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4AC88CA1-E2DF-0149-8182-8343BBEDA2B5}"/>
                  </a:ext>
                </a:extLst>
              </p:cNvPr>
              <p:cNvSpPr/>
              <p:nvPr/>
            </p:nvSpPr>
            <p:spPr>
              <a:xfrm>
                <a:off x="8629675" y="4157494"/>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479BE757-7D92-D044-8823-E64AE528DBB3}"/>
                      </a:ext>
                    </a:extLst>
                  </p:cNvPr>
                  <p:cNvSpPr/>
                  <p:nvPr/>
                </p:nvSpPr>
                <p:spPr>
                  <a:xfrm>
                    <a:off x="6112115" y="38344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20" name="Rectangle 119">
                    <a:extLst>
                      <a:ext uri="{FF2B5EF4-FFF2-40B4-BE49-F238E27FC236}">
                        <a16:creationId xmlns:a16="http://schemas.microsoft.com/office/drawing/2014/main" id="{479BE757-7D92-D044-8823-E64AE528DBB3}"/>
                      </a:ext>
                    </a:extLst>
                  </p:cNvPr>
                  <p:cNvSpPr>
                    <a:spLocks noRot="1" noChangeAspect="1" noMove="1" noResize="1" noEditPoints="1" noAdjustHandles="1" noChangeArrowheads="1" noChangeShapeType="1" noTextEdit="1"/>
                  </p:cNvSpPr>
                  <p:nvPr/>
                </p:nvSpPr>
                <p:spPr>
                  <a:xfrm>
                    <a:off x="6112115" y="3834435"/>
                    <a:ext cx="631903" cy="461665"/>
                  </a:xfrm>
                  <a:prstGeom prst="rect">
                    <a:avLst/>
                  </a:prstGeom>
                  <a:blipFill>
                    <a:blip r:embed="rId14"/>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CFD15858-8441-8841-B556-1740FA49E186}"/>
                      </a:ext>
                    </a:extLst>
                  </p:cNvPr>
                  <p:cNvSpPr/>
                  <p:nvPr/>
                </p:nvSpPr>
                <p:spPr>
                  <a:xfrm>
                    <a:off x="6112115" y="50397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21" name="Rectangle 120">
                    <a:extLst>
                      <a:ext uri="{FF2B5EF4-FFF2-40B4-BE49-F238E27FC236}">
                        <a16:creationId xmlns:a16="http://schemas.microsoft.com/office/drawing/2014/main" id="{CFD15858-8441-8841-B556-1740FA49E186}"/>
                      </a:ext>
                    </a:extLst>
                  </p:cNvPr>
                  <p:cNvSpPr>
                    <a:spLocks noRot="1" noChangeAspect="1" noMove="1" noResize="1" noEditPoints="1" noAdjustHandles="1" noChangeArrowheads="1" noChangeShapeType="1" noTextEdit="1"/>
                  </p:cNvSpPr>
                  <p:nvPr/>
                </p:nvSpPr>
                <p:spPr>
                  <a:xfrm>
                    <a:off x="6112115" y="5039790"/>
                    <a:ext cx="631903" cy="461665"/>
                  </a:xfrm>
                  <a:prstGeom prst="rect">
                    <a:avLst/>
                  </a:prstGeom>
                  <a:blipFill>
                    <a:blip r:embed="rId15"/>
                    <a:stretch>
                      <a:fillRect l="-25490" t="-127027" r="-49020" b="-191892"/>
                    </a:stretch>
                  </a:blipFill>
                </p:spPr>
                <p:txBody>
                  <a:bodyPr/>
                  <a:lstStyle/>
                  <a:p>
                    <a:r>
                      <a:rPr lang="en-US">
                        <a:noFill/>
                      </a:rPr>
                      <a:t> </a:t>
                    </a:r>
                  </a:p>
                </p:txBody>
              </p:sp>
            </mc:Fallback>
          </mc:AlternateContent>
          <p:sp>
            <p:nvSpPr>
              <p:cNvPr id="122" name="Oval 121">
                <a:extLst>
                  <a:ext uri="{FF2B5EF4-FFF2-40B4-BE49-F238E27FC236}">
                    <a16:creationId xmlns:a16="http://schemas.microsoft.com/office/drawing/2014/main" id="{EEE137E7-5E8F-1B4C-9D55-7501D6F86BDC}"/>
                  </a:ext>
                </a:extLst>
              </p:cNvPr>
              <p:cNvSpPr/>
              <p:nvPr/>
            </p:nvSpPr>
            <p:spPr>
              <a:xfrm>
                <a:off x="6877410" y="404723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24" name="Oval 123">
                <a:extLst>
                  <a:ext uri="{FF2B5EF4-FFF2-40B4-BE49-F238E27FC236}">
                    <a16:creationId xmlns:a16="http://schemas.microsoft.com/office/drawing/2014/main" id="{F7EC7BFA-1C47-904D-B77B-C8ED94DEDC8A}"/>
                  </a:ext>
                </a:extLst>
              </p:cNvPr>
              <p:cNvSpPr/>
              <p:nvPr/>
            </p:nvSpPr>
            <p:spPr>
              <a:xfrm>
                <a:off x="8484098" y="51871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sp>
        <p:nvSpPr>
          <p:cNvPr id="10" name="TextBox 9">
            <a:extLst>
              <a:ext uri="{FF2B5EF4-FFF2-40B4-BE49-F238E27FC236}">
                <a16:creationId xmlns:a16="http://schemas.microsoft.com/office/drawing/2014/main" id="{00D7BA59-0DEC-1D4D-8974-D647C63835F6}"/>
              </a:ext>
            </a:extLst>
          </p:cNvPr>
          <p:cNvSpPr txBox="1"/>
          <p:nvPr/>
        </p:nvSpPr>
        <p:spPr>
          <a:xfrm>
            <a:off x="14882648" y="-567559"/>
            <a:ext cx="184731" cy="369332"/>
          </a:xfrm>
          <a:prstGeom prst="rect">
            <a:avLst/>
          </a:prstGeom>
          <a:solidFill>
            <a:schemeClr val="accent4">
              <a:lumMod val="20000"/>
              <a:lumOff val="80000"/>
            </a:schemeClr>
          </a:solidFill>
        </p:spPr>
        <p:txBody>
          <a:bodyPr wrap="none" rtlCol="0">
            <a:spAutoFit/>
          </a:bodyPr>
          <a:lstStyle/>
          <a:p>
            <a:endParaRPr lang="en-US" dirty="0"/>
          </a:p>
        </p:txBody>
      </p:sp>
      <p:sp>
        <p:nvSpPr>
          <p:cNvPr id="4" name="TextBox 3">
            <a:extLst>
              <a:ext uri="{FF2B5EF4-FFF2-40B4-BE49-F238E27FC236}">
                <a16:creationId xmlns:a16="http://schemas.microsoft.com/office/drawing/2014/main" id="{6385F707-6F18-9B42-AF51-F60BDAAD5800}"/>
              </a:ext>
            </a:extLst>
          </p:cNvPr>
          <p:cNvSpPr txBox="1"/>
          <p:nvPr/>
        </p:nvSpPr>
        <p:spPr>
          <a:xfrm>
            <a:off x="-1138989" y="614412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5276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A1CFD2-E542-D440-A8C0-1FDD5CEEC179}"/>
              </a:ext>
            </a:extLst>
          </p:cNvPr>
          <p:cNvSpPr>
            <a:spLocks noGrp="1"/>
          </p:cNvSpPr>
          <p:nvPr>
            <p:ph type="sldNum" sz="quarter" idx="12"/>
          </p:nvPr>
        </p:nvSpPr>
        <p:spPr/>
        <p:txBody>
          <a:bodyPr/>
          <a:lstStyle/>
          <a:p>
            <a:fld id="{591A223C-FA10-BC46-A853-03BA373D023C}" type="slidenum">
              <a:rPr lang="en-US" smtClean="0"/>
              <a:t>12</a:t>
            </a:fld>
            <a:endParaRPr lang="en-US"/>
          </a:p>
        </p:txBody>
      </p:sp>
      <p:sp>
        <p:nvSpPr>
          <p:cNvPr id="2" name="Title 1">
            <a:extLst>
              <a:ext uri="{FF2B5EF4-FFF2-40B4-BE49-F238E27FC236}">
                <a16:creationId xmlns:a16="http://schemas.microsoft.com/office/drawing/2014/main" id="{EA27D0B6-B58E-9040-BE00-C1A9E5267A95}"/>
              </a:ext>
            </a:extLst>
          </p:cNvPr>
          <p:cNvSpPr>
            <a:spLocks noGrp="1"/>
          </p:cNvSpPr>
          <p:nvPr>
            <p:ph type="title"/>
          </p:nvPr>
        </p:nvSpPr>
        <p:spPr/>
        <p:txBody>
          <a:bodyPr/>
          <a:lstStyle/>
          <a:p>
            <a:r>
              <a:rPr lang="en-US" dirty="0"/>
              <a:t>Transforming Bell States</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13EAEAC-F1BA-B54D-AA70-75349135446D}"/>
                  </a:ext>
                </a:extLst>
              </p:cNvPr>
              <p:cNvSpPr/>
              <p:nvPr/>
            </p:nvSpPr>
            <p:spPr>
              <a:xfrm>
                <a:off x="2925485" y="2119707"/>
                <a:ext cx="278557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6" name="Rectangle 15">
                <a:extLst>
                  <a:ext uri="{FF2B5EF4-FFF2-40B4-BE49-F238E27FC236}">
                    <a16:creationId xmlns:a16="http://schemas.microsoft.com/office/drawing/2014/main" id="{313EAEAC-F1BA-B54D-AA70-75349135446D}"/>
                  </a:ext>
                </a:extLst>
              </p:cNvPr>
              <p:cNvSpPr>
                <a:spLocks noRot="1" noChangeAspect="1" noMove="1" noResize="1" noEditPoints="1" noAdjustHandles="1" noChangeArrowheads="1" noChangeShapeType="1" noTextEdit="1"/>
              </p:cNvSpPr>
              <p:nvPr/>
            </p:nvSpPr>
            <p:spPr>
              <a:xfrm>
                <a:off x="2925485" y="2119707"/>
                <a:ext cx="2785571" cy="876202"/>
              </a:xfrm>
              <a:prstGeom prst="rect">
                <a:avLst/>
              </a:prstGeom>
              <a:blipFill>
                <a:blip r:embed="rId3"/>
                <a:stretch>
                  <a:fillRect t="-68571" r="-10860" b="-77143"/>
                </a:stretch>
              </a:blipFill>
            </p:spPr>
            <p:txBody>
              <a:bodyPr/>
              <a:lstStyle/>
              <a:p>
                <a:r>
                  <a:rPr lang="en-US">
                    <a:noFill/>
                  </a:rPr>
                  <a:t> </a:t>
                </a:r>
              </a:p>
            </p:txBody>
          </p:sp>
        </mc:Fallback>
      </mc:AlternateContent>
      <p:cxnSp>
        <p:nvCxnSpPr>
          <p:cNvPr id="69" name="Straight Connector 68">
            <a:extLst>
              <a:ext uri="{FF2B5EF4-FFF2-40B4-BE49-F238E27FC236}">
                <a16:creationId xmlns:a16="http://schemas.microsoft.com/office/drawing/2014/main" id="{BFD98772-EBD1-0044-B761-51CBA8275A52}"/>
              </a:ext>
            </a:extLst>
          </p:cNvPr>
          <p:cNvCxnSpPr>
            <a:cxnSpLocks/>
          </p:cNvCxnSpPr>
          <p:nvPr/>
        </p:nvCxnSpPr>
        <p:spPr>
          <a:xfrm>
            <a:off x="659085" y="3081802"/>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C588EBF-A04A-BA4B-909E-6011B8F8F0DB}"/>
              </a:ext>
            </a:extLst>
          </p:cNvPr>
          <p:cNvCxnSpPr>
            <a:cxnSpLocks/>
          </p:cNvCxnSpPr>
          <p:nvPr/>
        </p:nvCxnSpPr>
        <p:spPr>
          <a:xfrm>
            <a:off x="659084" y="1926853"/>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83505452-20AA-9241-8E43-8C5DECC2C924}"/>
              </a:ext>
            </a:extLst>
          </p:cNvPr>
          <p:cNvSpPr>
            <a:spLocks/>
          </p:cNvSpPr>
          <p:nvPr/>
        </p:nvSpPr>
        <p:spPr>
          <a:xfrm>
            <a:off x="1214871" y="1615808"/>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72" name="Straight Connector 71">
            <a:extLst>
              <a:ext uri="{FF2B5EF4-FFF2-40B4-BE49-F238E27FC236}">
                <a16:creationId xmlns:a16="http://schemas.microsoft.com/office/drawing/2014/main" id="{1C4CCE4D-B031-654B-A3CF-8DDF35003E1E}"/>
              </a:ext>
            </a:extLst>
          </p:cNvPr>
          <p:cNvCxnSpPr>
            <a:cxnSpLocks/>
            <a:stCxn id="78" idx="0"/>
          </p:cNvCxnSpPr>
          <p:nvPr/>
        </p:nvCxnSpPr>
        <p:spPr>
          <a:xfrm flipV="1">
            <a:off x="2263557" y="2042961"/>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A59FDC73-F9EF-F549-A8D6-ABEA509E67CA}"/>
              </a:ext>
            </a:extLst>
          </p:cNvPr>
          <p:cNvSpPr/>
          <p:nvPr/>
        </p:nvSpPr>
        <p:spPr>
          <a:xfrm>
            <a:off x="2139134" y="1795692"/>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A75AA068-92C5-8642-9E14-74CCB56CFB59}"/>
                  </a:ext>
                </a:extLst>
              </p:cNvPr>
              <p:cNvSpPr/>
              <p:nvPr/>
            </p:nvSpPr>
            <p:spPr>
              <a:xfrm>
                <a:off x="236164" y="1444057"/>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4" name="Rectangle 73">
                <a:extLst>
                  <a:ext uri="{FF2B5EF4-FFF2-40B4-BE49-F238E27FC236}">
                    <a16:creationId xmlns:a16="http://schemas.microsoft.com/office/drawing/2014/main" id="{A75AA068-92C5-8642-9E14-74CCB56CFB59}"/>
                  </a:ext>
                </a:extLst>
              </p:cNvPr>
              <p:cNvSpPr>
                <a:spLocks noRot="1" noChangeAspect="1" noMove="1" noResize="1" noEditPoints="1" noAdjustHandles="1" noChangeArrowheads="1" noChangeShapeType="1" noTextEdit="1"/>
              </p:cNvSpPr>
              <p:nvPr/>
            </p:nvSpPr>
            <p:spPr>
              <a:xfrm>
                <a:off x="236164" y="1444057"/>
                <a:ext cx="631903" cy="461665"/>
              </a:xfrm>
              <a:prstGeom prst="rect">
                <a:avLst/>
              </a:prstGeom>
              <a:blipFill>
                <a:blip r:embed="rId4"/>
                <a:stretch>
                  <a:fillRect l="-26000" t="-124324" r="-52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F0D6FB4-54AC-B248-89E0-B2B03C199708}"/>
                  </a:ext>
                </a:extLst>
              </p:cNvPr>
              <p:cNvSpPr/>
              <p:nvPr/>
            </p:nvSpPr>
            <p:spPr>
              <a:xfrm>
                <a:off x="236164" y="264941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5" name="Rectangle 74">
                <a:extLst>
                  <a:ext uri="{FF2B5EF4-FFF2-40B4-BE49-F238E27FC236}">
                    <a16:creationId xmlns:a16="http://schemas.microsoft.com/office/drawing/2014/main" id="{7F0D6FB4-54AC-B248-89E0-B2B03C199708}"/>
                  </a:ext>
                </a:extLst>
              </p:cNvPr>
              <p:cNvSpPr>
                <a:spLocks noRot="1" noChangeAspect="1" noMove="1" noResize="1" noEditPoints="1" noAdjustHandles="1" noChangeArrowheads="1" noChangeShapeType="1" noTextEdit="1"/>
              </p:cNvSpPr>
              <p:nvPr/>
            </p:nvSpPr>
            <p:spPr>
              <a:xfrm>
                <a:off x="236164" y="2649412"/>
                <a:ext cx="631903" cy="461665"/>
              </a:xfrm>
              <a:prstGeom prst="rect">
                <a:avLst/>
              </a:prstGeom>
              <a:blipFill>
                <a:blip r:embed="rId5"/>
                <a:stretch>
                  <a:fillRect l="-26000" t="-127027" r="-52000" b="-191892"/>
                </a:stretch>
              </a:blipFill>
            </p:spPr>
            <p:txBody>
              <a:bodyPr/>
              <a:lstStyle/>
              <a:p>
                <a:r>
                  <a:rPr lang="en-US">
                    <a:noFill/>
                  </a:rPr>
                  <a:t> </a:t>
                </a:r>
              </a:p>
            </p:txBody>
          </p:sp>
        </mc:Fallback>
      </mc:AlternateContent>
      <p:sp>
        <p:nvSpPr>
          <p:cNvPr id="78" name="Oval 77">
            <a:extLst>
              <a:ext uri="{FF2B5EF4-FFF2-40B4-BE49-F238E27FC236}">
                <a16:creationId xmlns:a16="http://schemas.microsoft.com/office/drawing/2014/main" id="{F40678E3-14AD-1848-A73F-F089E6006849}"/>
              </a:ext>
            </a:extLst>
          </p:cNvPr>
          <p:cNvSpPr/>
          <p:nvPr/>
        </p:nvSpPr>
        <p:spPr>
          <a:xfrm>
            <a:off x="1993557" y="2818205"/>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D07EEC22-9FEA-DF43-B267-8660C4146913}"/>
                  </a:ext>
                </a:extLst>
              </p:cNvPr>
              <p:cNvSpPr/>
              <p:nvPr/>
            </p:nvSpPr>
            <p:spPr>
              <a:xfrm>
                <a:off x="2941084" y="4725487"/>
                <a:ext cx="277845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01" name="Rectangle 100">
                <a:extLst>
                  <a:ext uri="{FF2B5EF4-FFF2-40B4-BE49-F238E27FC236}">
                    <a16:creationId xmlns:a16="http://schemas.microsoft.com/office/drawing/2014/main" id="{D07EEC22-9FEA-DF43-B267-8660C4146913}"/>
                  </a:ext>
                </a:extLst>
              </p:cNvPr>
              <p:cNvSpPr>
                <a:spLocks noRot="1" noChangeAspect="1" noMove="1" noResize="1" noEditPoints="1" noAdjustHandles="1" noChangeArrowheads="1" noChangeShapeType="1" noTextEdit="1"/>
              </p:cNvSpPr>
              <p:nvPr/>
            </p:nvSpPr>
            <p:spPr>
              <a:xfrm>
                <a:off x="2941084" y="4725487"/>
                <a:ext cx="2778453" cy="876202"/>
              </a:xfrm>
              <a:prstGeom prst="rect">
                <a:avLst/>
              </a:prstGeom>
              <a:blipFill>
                <a:blip r:embed="rId6"/>
                <a:stretch>
                  <a:fillRect t="-71014" r="-11416" b="-78261"/>
                </a:stretch>
              </a:blipFill>
            </p:spPr>
            <p:txBody>
              <a:bodyPr/>
              <a:lstStyle/>
              <a:p>
                <a:r>
                  <a:rPr lang="en-US">
                    <a:noFill/>
                  </a:rPr>
                  <a:t> </a:t>
                </a:r>
              </a:p>
            </p:txBody>
          </p:sp>
        </mc:Fallback>
      </mc:AlternateContent>
      <p:cxnSp>
        <p:nvCxnSpPr>
          <p:cNvPr id="115" name="Straight Connector 114">
            <a:extLst>
              <a:ext uri="{FF2B5EF4-FFF2-40B4-BE49-F238E27FC236}">
                <a16:creationId xmlns:a16="http://schemas.microsoft.com/office/drawing/2014/main" id="{BA8FA798-81E2-AB4A-A5F0-406E10638A4B}"/>
              </a:ext>
            </a:extLst>
          </p:cNvPr>
          <p:cNvCxnSpPr>
            <a:cxnSpLocks/>
          </p:cNvCxnSpPr>
          <p:nvPr/>
        </p:nvCxnSpPr>
        <p:spPr>
          <a:xfrm>
            <a:off x="659084" y="5693958"/>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01BD447-2CB4-9041-B846-CF4B813B4743}"/>
              </a:ext>
            </a:extLst>
          </p:cNvPr>
          <p:cNvCxnSpPr>
            <a:cxnSpLocks/>
          </p:cNvCxnSpPr>
          <p:nvPr/>
        </p:nvCxnSpPr>
        <p:spPr>
          <a:xfrm>
            <a:off x="659083" y="45390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38DC1076-02A4-C340-A671-7BE41E37A687}"/>
              </a:ext>
            </a:extLst>
          </p:cNvPr>
          <p:cNvSpPr>
            <a:spLocks/>
          </p:cNvSpPr>
          <p:nvPr/>
        </p:nvSpPr>
        <p:spPr>
          <a:xfrm>
            <a:off x="1214871" y="4228127"/>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118" name="Straight Connector 117">
            <a:extLst>
              <a:ext uri="{FF2B5EF4-FFF2-40B4-BE49-F238E27FC236}">
                <a16:creationId xmlns:a16="http://schemas.microsoft.com/office/drawing/2014/main" id="{52A13DE1-2BB1-064F-9BE0-87D0CF87679D}"/>
              </a:ext>
            </a:extLst>
          </p:cNvPr>
          <p:cNvCxnSpPr>
            <a:cxnSpLocks/>
            <a:stCxn id="124" idx="0"/>
          </p:cNvCxnSpPr>
          <p:nvPr/>
        </p:nvCxnSpPr>
        <p:spPr>
          <a:xfrm flipV="1">
            <a:off x="2236799" y="4633685"/>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4AC88CA1-E2DF-0149-8182-8343BBEDA2B5}"/>
              </a:ext>
            </a:extLst>
          </p:cNvPr>
          <p:cNvSpPr/>
          <p:nvPr/>
        </p:nvSpPr>
        <p:spPr>
          <a:xfrm>
            <a:off x="2112376" y="4407848"/>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479BE757-7D92-D044-8823-E64AE528DBB3}"/>
                  </a:ext>
                </a:extLst>
              </p:cNvPr>
              <p:cNvSpPr/>
              <p:nvPr/>
            </p:nvSpPr>
            <p:spPr>
              <a:xfrm>
                <a:off x="236163" y="4056213"/>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20" name="Rectangle 119">
                <a:extLst>
                  <a:ext uri="{FF2B5EF4-FFF2-40B4-BE49-F238E27FC236}">
                    <a16:creationId xmlns:a16="http://schemas.microsoft.com/office/drawing/2014/main" id="{479BE757-7D92-D044-8823-E64AE528DBB3}"/>
                  </a:ext>
                </a:extLst>
              </p:cNvPr>
              <p:cNvSpPr>
                <a:spLocks noRot="1" noChangeAspect="1" noMove="1" noResize="1" noEditPoints="1" noAdjustHandles="1" noChangeArrowheads="1" noChangeShapeType="1" noTextEdit="1"/>
              </p:cNvSpPr>
              <p:nvPr/>
            </p:nvSpPr>
            <p:spPr>
              <a:xfrm>
                <a:off x="236163" y="4056213"/>
                <a:ext cx="631903" cy="461665"/>
              </a:xfrm>
              <a:prstGeom prst="rect">
                <a:avLst/>
              </a:prstGeom>
              <a:blipFill>
                <a:blip r:embed="rId7"/>
                <a:stretch>
                  <a:fillRect l="-26000" t="-121053" r="-5200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CFD15858-8441-8841-B556-1740FA49E186}"/>
                  </a:ext>
                </a:extLst>
              </p:cNvPr>
              <p:cNvSpPr/>
              <p:nvPr/>
            </p:nvSpPr>
            <p:spPr>
              <a:xfrm>
                <a:off x="236163" y="5261568"/>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21" name="Rectangle 120">
                <a:extLst>
                  <a:ext uri="{FF2B5EF4-FFF2-40B4-BE49-F238E27FC236}">
                    <a16:creationId xmlns:a16="http://schemas.microsoft.com/office/drawing/2014/main" id="{CFD15858-8441-8841-B556-1740FA49E186}"/>
                  </a:ext>
                </a:extLst>
              </p:cNvPr>
              <p:cNvSpPr>
                <a:spLocks noRot="1" noChangeAspect="1" noMove="1" noResize="1" noEditPoints="1" noAdjustHandles="1" noChangeArrowheads="1" noChangeShapeType="1" noTextEdit="1"/>
              </p:cNvSpPr>
              <p:nvPr/>
            </p:nvSpPr>
            <p:spPr>
              <a:xfrm>
                <a:off x="236163" y="5261568"/>
                <a:ext cx="631903" cy="461665"/>
              </a:xfrm>
              <a:prstGeom prst="rect">
                <a:avLst/>
              </a:prstGeom>
              <a:blipFill>
                <a:blip r:embed="rId7"/>
                <a:stretch>
                  <a:fillRect l="-26000" t="-121053" r="-52000" b="-186842"/>
                </a:stretch>
              </a:blipFill>
            </p:spPr>
            <p:txBody>
              <a:bodyPr/>
              <a:lstStyle/>
              <a:p>
                <a:r>
                  <a:rPr lang="en-US">
                    <a:noFill/>
                  </a:rPr>
                  <a:t> </a:t>
                </a:r>
              </a:p>
            </p:txBody>
          </p:sp>
        </mc:Fallback>
      </mc:AlternateContent>
      <p:sp>
        <p:nvSpPr>
          <p:cNvPr id="124" name="Oval 123">
            <a:extLst>
              <a:ext uri="{FF2B5EF4-FFF2-40B4-BE49-F238E27FC236}">
                <a16:creationId xmlns:a16="http://schemas.microsoft.com/office/drawing/2014/main" id="{F7EC7BFA-1C47-904D-B77B-C8ED94DEDC8A}"/>
              </a:ext>
            </a:extLst>
          </p:cNvPr>
          <p:cNvSpPr/>
          <p:nvPr/>
        </p:nvSpPr>
        <p:spPr>
          <a:xfrm>
            <a:off x="1966799" y="5408929"/>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8" name="Rectangle 47">
            <a:extLst>
              <a:ext uri="{FF2B5EF4-FFF2-40B4-BE49-F238E27FC236}">
                <a16:creationId xmlns:a16="http://schemas.microsoft.com/office/drawing/2014/main" id="{58444A56-4ED8-4246-AE6A-524ACE3498CE}"/>
              </a:ext>
            </a:extLst>
          </p:cNvPr>
          <p:cNvSpPr/>
          <p:nvPr/>
        </p:nvSpPr>
        <p:spPr>
          <a:xfrm>
            <a:off x="2818186" y="4208585"/>
            <a:ext cx="630000" cy="63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grpSp>
        <p:nvGrpSpPr>
          <p:cNvPr id="11" name="Group 10">
            <a:extLst>
              <a:ext uri="{FF2B5EF4-FFF2-40B4-BE49-F238E27FC236}">
                <a16:creationId xmlns:a16="http://schemas.microsoft.com/office/drawing/2014/main" id="{C159442E-99BE-8C48-BC7C-0BFFAA19DF4E}"/>
              </a:ext>
            </a:extLst>
          </p:cNvPr>
          <p:cNvGrpSpPr/>
          <p:nvPr/>
        </p:nvGrpSpPr>
        <p:grpSpPr>
          <a:xfrm>
            <a:off x="6165087" y="4056213"/>
            <a:ext cx="5655232" cy="1921292"/>
            <a:chOff x="6123523" y="3832541"/>
            <a:chExt cx="5655232" cy="1921292"/>
          </a:xfrm>
        </p:grpSpPr>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5A2E2A44-4EA6-CC4B-8632-98A42C322286}"/>
                    </a:ext>
                  </a:extLst>
                </p:cNvPr>
                <p:cNvSpPr/>
                <p:nvPr/>
              </p:nvSpPr>
              <p:spPr>
                <a:xfrm>
                  <a:off x="9000302" y="4573577"/>
                  <a:ext cx="277845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02" name="Rectangle 101">
                  <a:extLst>
                    <a:ext uri="{FF2B5EF4-FFF2-40B4-BE49-F238E27FC236}">
                      <a16:creationId xmlns:a16="http://schemas.microsoft.com/office/drawing/2014/main" id="{5A2E2A44-4EA6-CC4B-8632-98A42C322286}"/>
                    </a:ext>
                  </a:extLst>
                </p:cNvPr>
                <p:cNvSpPr>
                  <a:spLocks noRot="1" noChangeAspect="1" noMove="1" noResize="1" noEditPoints="1" noAdjustHandles="1" noChangeArrowheads="1" noChangeShapeType="1" noTextEdit="1"/>
                </p:cNvSpPr>
                <p:nvPr/>
              </p:nvSpPr>
              <p:spPr>
                <a:xfrm>
                  <a:off x="9000302" y="4573577"/>
                  <a:ext cx="2778453" cy="876202"/>
                </a:xfrm>
                <a:prstGeom prst="rect">
                  <a:avLst/>
                </a:prstGeom>
                <a:blipFill>
                  <a:blip r:embed="rId9"/>
                  <a:stretch>
                    <a:fillRect t="-68571" r="-11416" b="-77143"/>
                  </a:stretch>
                </a:blipFill>
              </p:spPr>
              <p:txBody>
                <a:bodyPr/>
                <a:lstStyle/>
                <a:p>
                  <a:r>
                    <a:rPr lang="en-US">
                      <a:noFill/>
                    </a:rPr>
                    <a:t> </a:t>
                  </a:r>
                </a:p>
              </p:txBody>
            </p:sp>
          </mc:Fallback>
        </mc:AlternateContent>
        <p:cxnSp>
          <p:nvCxnSpPr>
            <p:cNvPr id="93" name="Straight Connector 92">
              <a:extLst>
                <a:ext uri="{FF2B5EF4-FFF2-40B4-BE49-F238E27FC236}">
                  <a16:creationId xmlns:a16="http://schemas.microsoft.com/office/drawing/2014/main" id="{452774D6-0380-F947-AF7A-40B3B65DDFEE}"/>
                </a:ext>
              </a:extLst>
            </p:cNvPr>
            <p:cNvCxnSpPr>
              <a:cxnSpLocks/>
            </p:cNvCxnSpPr>
            <p:nvPr/>
          </p:nvCxnSpPr>
          <p:spPr>
            <a:xfrm>
              <a:off x="6439474" y="4294206"/>
              <a:ext cx="41723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AB64F54-4658-CF43-A69E-8FB659CAD054}"/>
                </a:ext>
              </a:extLst>
            </p:cNvPr>
            <p:cNvCxnSpPr>
              <a:cxnSpLocks/>
            </p:cNvCxnSpPr>
            <p:nvPr/>
          </p:nvCxnSpPr>
          <p:spPr>
            <a:xfrm>
              <a:off x="6546444" y="5470286"/>
              <a:ext cx="41723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151270F1-FCC6-5E4E-9C58-808536E72FBB}"/>
                </a:ext>
              </a:extLst>
            </p:cNvPr>
            <p:cNvSpPr>
              <a:spLocks/>
            </p:cNvSpPr>
            <p:nvPr/>
          </p:nvSpPr>
          <p:spPr>
            <a:xfrm>
              <a:off x="7102231" y="3983023"/>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86" name="Straight Connector 85">
              <a:extLst>
                <a:ext uri="{FF2B5EF4-FFF2-40B4-BE49-F238E27FC236}">
                  <a16:creationId xmlns:a16="http://schemas.microsoft.com/office/drawing/2014/main" id="{BEABC7D1-6D42-514C-9004-6F08A376F305}"/>
                </a:ext>
              </a:extLst>
            </p:cNvPr>
            <p:cNvCxnSpPr>
              <a:cxnSpLocks/>
              <a:stCxn id="90" idx="0"/>
            </p:cNvCxnSpPr>
            <p:nvPr/>
          </p:nvCxnSpPr>
          <p:spPr>
            <a:xfrm flipV="1">
              <a:off x="8124159" y="4401317"/>
              <a:ext cx="0" cy="8125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D18709F2-FFBA-8F45-B3C0-19CEA76EB38A}"/>
                </a:ext>
              </a:extLst>
            </p:cNvPr>
            <p:cNvSpPr/>
            <p:nvPr/>
          </p:nvSpPr>
          <p:spPr>
            <a:xfrm>
              <a:off x="7999736" y="4155600"/>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B1FE8CD5-AA1B-8E41-A814-07F055DF791D}"/>
                    </a:ext>
                  </a:extLst>
                </p:cNvPr>
                <p:cNvSpPr/>
                <p:nvPr/>
              </p:nvSpPr>
              <p:spPr>
                <a:xfrm>
                  <a:off x="6123523" y="3832541"/>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8" name="Rectangle 87">
                  <a:extLst>
                    <a:ext uri="{FF2B5EF4-FFF2-40B4-BE49-F238E27FC236}">
                      <a16:creationId xmlns:a16="http://schemas.microsoft.com/office/drawing/2014/main" id="{B1FE8CD5-AA1B-8E41-A814-07F055DF791D}"/>
                    </a:ext>
                  </a:extLst>
                </p:cNvPr>
                <p:cNvSpPr>
                  <a:spLocks noRot="1" noChangeAspect="1" noMove="1" noResize="1" noEditPoints="1" noAdjustHandles="1" noChangeArrowheads="1" noChangeShapeType="1" noTextEdit="1"/>
                </p:cNvSpPr>
                <p:nvPr/>
              </p:nvSpPr>
              <p:spPr>
                <a:xfrm>
                  <a:off x="6123523" y="3832541"/>
                  <a:ext cx="631903" cy="461665"/>
                </a:xfrm>
                <a:prstGeom prst="rect">
                  <a:avLst/>
                </a:prstGeom>
                <a:blipFill>
                  <a:blip r:embed="rId10"/>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3B7DD52B-620B-AA49-87F4-3C5999C65C6B}"/>
                    </a:ext>
                  </a:extLst>
                </p:cNvPr>
                <p:cNvSpPr/>
                <p:nvPr/>
              </p:nvSpPr>
              <p:spPr>
                <a:xfrm>
                  <a:off x="6123523" y="5037896"/>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9" name="Rectangle 88">
                  <a:extLst>
                    <a:ext uri="{FF2B5EF4-FFF2-40B4-BE49-F238E27FC236}">
                      <a16:creationId xmlns:a16="http://schemas.microsoft.com/office/drawing/2014/main" id="{3B7DD52B-620B-AA49-87F4-3C5999C65C6B}"/>
                    </a:ext>
                  </a:extLst>
                </p:cNvPr>
                <p:cNvSpPr>
                  <a:spLocks noRot="1" noChangeAspect="1" noMove="1" noResize="1" noEditPoints="1" noAdjustHandles="1" noChangeArrowheads="1" noChangeShapeType="1" noTextEdit="1"/>
                </p:cNvSpPr>
                <p:nvPr/>
              </p:nvSpPr>
              <p:spPr>
                <a:xfrm>
                  <a:off x="6123523" y="5037896"/>
                  <a:ext cx="631903" cy="461665"/>
                </a:xfrm>
                <a:prstGeom prst="rect">
                  <a:avLst/>
                </a:prstGeom>
                <a:blipFill>
                  <a:blip r:embed="rId11"/>
                  <a:stretch>
                    <a:fillRect l="-25490" t="-127027" r="-49020" b="-191892"/>
                  </a:stretch>
                </a:blipFill>
              </p:spPr>
              <p:txBody>
                <a:bodyPr/>
                <a:lstStyle/>
                <a:p>
                  <a:r>
                    <a:rPr lang="en-US">
                      <a:noFill/>
                    </a:rPr>
                    <a:t> </a:t>
                  </a:r>
                </a:p>
              </p:txBody>
            </p:sp>
          </mc:Fallback>
        </mc:AlternateContent>
        <p:sp>
          <p:nvSpPr>
            <p:cNvPr id="90" name="Oval 89">
              <a:extLst>
                <a:ext uri="{FF2B5EF4-FFF2-40B4-BE49-F238E27FC236}">
                  <a16:creationId xmlns:a16="http://schemas.microsoft.com/office/drawing/2014/main" id="{1A31BB1B-1CCD-BE46-9E9A-7E6D1DF0B94B}"/>
                </a:ext>
              </a:extLst>
            </p:cNvPr>
            <p:cNvSpPr/>
            <p:nvPr/>
          </p:nvSpPr>
          <p:spPr>
            <a:xfrm>
              <a:off x="7854159" y="5213833"/>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91" name="Rectangle 90">
              <a:extLst>
                <a:ext uri="{FF2B5EF4-FFF2-40B4-BE49-F238E27FC236}">
                  <a16:creationId xmlns:a16="http://schemas.microsoft.com/office/drawing/2014/main" id="{48B21A99-99D7-C642-A883-614AB0C7B180}"/>
                </a:ext>
              </a:extLst>
            </p:cNvPr>
            <p:cNvSpPr/>
            <p:nvPr/>
          </p:nvSpPr>
          <p:spPr>
            <a:xfrm>
              <a:off x="9377930" y="3981954"/>
              <a:ext cx="630000" cy="63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92" name="Oval 91">
              <a:extLst>
                <a:ext uri="{FF2B5EF4-FFF2-40B4-BE49-F238E27FC236}">
                  <a16:creationId xmlns:a16="http://schemas.microsoft.com/office/drawing/2014/main" id="{5F9C8AC0-3245-D74A-AC18-D3D0212641C1}"/>
                </a:ext>
              </a:extLst>
            </p:cNvPr>
            <p:cNvSpPr/>
            <p:nvPr/>
          </p:nvSpPr>
          <p:spPr>
            <a:xfrm>
              <a:off x="8480780" y="4021327"/>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A6E10CC6-70F7-3740-9563-58BE44D15A67}"/>
                  </a:ext>
                </a:extLst>
              </p:cNvPr>
              <p:cNvSpPr/>
              <p:nvPr/>
            </p:nvSpPr>
            <p:spPr>
              <a:xfrm>
                <a:off x="8985827" y="2116418"/>
                <a:ext cx="278557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smtClean="0">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28" name="Rectangle 27">
                <a:extLst>
                  <a:ext uri="{FF2B5EF4-FFF2-40B4-BE49-F238E27FC236}">
                    <a16:creationId xmlns:a16="http://schemas.microsoft.com/office/drawing/2014/main" id="{A6E10CC6-70F7-3740-9563-58BE44D15A67}"/>
                  </a:ext>
                </a:extLst>
              </p:cNvPr>
              <p:cNvSpPr>
                <a:spLocks noRot="1" noChangeAspect="1" noMove="1" noResize="1" noEditPoints="1" noAdjustHandles="1" noChangeArrowheads="1" noChangeShapeType="1" noTextEdit="1"/>
              </p:cNvSpPr>
              <p:nvPr/>
            </p:nvSpPr>
            <p:spPr>
              <a:xfrm>
                <a:off x="8985827" y="2116418"/>
                <a:ext cx="2785571" cy="876202"/>
              </a:xfrm>
              <a:prstGeom prst="rect">
                <a:avLst/>
              </a:prstGeom>
              <a:blipFill>
                <a:blip r:embed="rId12"/>
                <a:stretch>
                  <a:fillRect l="-457" t="-68571" r="-10959" b="-77143"/>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B4854FBF-C866-DC41-BA25-86CE99464F66}"/>
              </a:ext>
            </a:extLst>
          </p:cNvPr>
          <p:cNvCxnSpPr>
            <a:cxnSpLocks/>
          </p:cNvCxnSpPr>
          <p:nvPr/>
        </p:nvCxnSpPr>
        <p:spPr>
          <a:xfrm>
            <a:off x="6588009" y="30877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99B7CF6-17AE-6244-A826-22138627A191}"/>
              </a:ext>
            </a:extLst>
          </p:cNvPr>
          <p:cNvCxnSpPr>
            <a:cxnSpLocks/>
          </p:cNvCxnSpPr>
          <p:nvPr/>
        </p:nvCxnSpPr>
        <p:spPr>
          <a:xfrm>
            <a:off x="6588008" y="1932760"/>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8A33394E-D82E-DD4F-AFD6-7A496AB1D628}"/>
              </a:ext>
            </a:extLst>
          </p:cNvPr>
          <p:cNvSpPr>
            <a:spLocks/>
          </p:cNvSpPr>
          <p:nvPr/>
        </p:nvSpPr>
        <p:spPr>
          <a:xfrm>
            <a:off x="7143796" y="1621878"/>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65" name="Straight Connector 64">
            <a:extLst>
              <a:ext uri="{FF2B5EF4-FFF2-40B4-BE49-F238E27FC236}">
                <a16:creationId xmlns:a16="http://schemas.microsoft.com/office/drawing/2014/main" id="{E2DEF2AA-F515-9D4D-9B45-F1C847616C79}"/>
              </a:ext>
            </a:extLst>
          </p:cNvPr>
          <p:cNvCxnSpPr>
            <a:cxnSpLocks/>
            <a:stCxn id="79" idx="0"/>
          </p:cNvCxnSpPr>
          <p:nvPr/>
        </p:nvCxnSpPr>
        <p:spPr>
          <a:xfrm flipV="1">
            <a:off x="8165724" y="2041724"/>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927CCEDE-DA50-E049-9B07-9097EA6F0CCD}"/>
              </a:ext>
            </a:extLst>
          </p:cNvPr>
          <p:cNvSpPr/>
          <p:nvPr/>
        </p:nvSpPr>
        <p:spPr>
          <a:xfrm>
            <a:off x="8041301" y="1794455"/>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576FD375-8D8B-514B-ADEC-C9056BB37ED1}"/>
                  </a:ext>
                </a:extLst>
              </p:cNvPr>
              <p:cNvSpPr/>
              <p:nvPr/>
            </p:nvSpPr>
            <p:spPr>
              <a:xfrm>
                <a:off x="6165088" y="1449964"/>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6" name="Rectangle 75">
                <a:extLst>
                  <a:ext uri="{FF2B5EF4-FFF2-40B4-BE49-F238E27FC236}">
                    <a16:creationId xmlns:a16="http://schemas.microsoft.com/office/drawing/2014/main" id="{576FD375-8D8B-514B-ADEC-C9056BB37ED1}"/>
                  </a:ext>
                </a:extLst>
              </p:cNvPr>
              <p:cNvSpPr>
                <a:spLocks noRot="1" noChangeAspect="1" noMove="1" noResize="1" noEditPoints="1" noAdjustHandles="1" noChangeArrowheads="1" noChangeShapeType="1" noTextEdit="1"/>
              </p:cNvSpPr>
              <p:nvPr/>
            </p:nvSpPr>
            <p:spPr>
              <a:xfrm>
                <a:off x="6165088" y="1449964"/>
                <a:ext cx="631903" cy="461665"/>
              </a:xfrm>
              <a:prstGeom prst="rect">
                <a:avLst/>
              </a:prstGeom>
              <a:blipFill>
                <a:blip r:embed="rId13"/>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0BF6709E-20DF-D440-B986-4946544BBB3A}"/>
                  </a:ext>
                </a:extLst>
              </p:cNvPr>
              <p:cNvSpPr/>
              <p:nvPr/>
            </p:nvSpPr>
            <p:spPr>
              <a:xfrm>
                <a:off x="6165088" y="267179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7" name="Rectangle 76">
                <a:extLst>
                  <a:ext uri="{FF2B5EF4-FFF2-40B4-BE49-F238E27FC236}">
                    <a16:creationId xmlns:a16="http://schemas.microsoft.com/office/drawing/2014/main" id="{0BF6709E-20DF-D440-B986-4946544BBB3A}"/>
                  </a:ext>
                </a:extLst>
              </p:cNvPr>
              <p:cNvSpPr>
                <a:spLocks noRot="1" noChangeAspect="1" noMove="1" noResize="1" noEditPoints="1" noAdjustHandles="1" noChangeArrowheads="1" noChangeShapeType="1" noTextEdit="1"/>
              </p:cNvSpPr>
              <p:nvPr/>
            </p:nvSpPr>
            <p:spPr>
              <a:xfrm>
                <a:off x="6165088" y="2671795"/>
                <a:ext cx="631903" cy="461665"/>
              </a:xfrm>
              <a:prstGeom prst="rect">
                <a:avLst/>
              </a:prstGeom>
              <a:blipFill>
                <a:blip r:embed="rId13"/>
                <a:stretch>
                  <a:fillRect l="-23529" t="-121053" r="-49020" b="-186842"/>
                </a:stretch>
              </a:blipFill>
            </p:spPr>
            <p:txBody>
              <a:bodyPr/>
              <a:lstStyle/>
              <a:p>
                <a:r>
                  <a:rPr lang="en-US">
                    <a:noFill/>
                  </a:rPr>
                  <a:t> </a:t>
                </a:r>
              </a:p>
            </p:txBody>
          </p:sp>
        </mc:Fallback>
      </mc:AlternateContent>
      <p:sp>
        <p:nvSpPr>
          <p:cNvPr id="79" name="Oval 78">
            <a:extLst>
              <a:ext uri="{FF2B5EF4-FFF2-40B4-BE49-F238E27FC236}">
                <a16:creationId xmlns:a16="http://schemas.microsoft.com/office/drawing/2014/main" id="{89864FCA-5A25-A34D-B8DB-061CE80C0104}"/>
              </a:ext>
            </a:extLst>
          </p:cNvPr>
          <p:cNvSpPr/>
          <p:nvPr/>
        </p:nvSpPr>
        <p:spPr>
          <a:xfrm>
            <a:off x="7895724" y="281696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1" name="Oval 80">
            <a:extLst>
              <a:ext uri="{FF2B5EF4-FFF2-40B4-BE49-F238E27FC236}">
                <a16:creationId xmlns:a16="http://schemas.microsoft.com/office/drawing/2014/main" id="{141EB74F-7CE4-584D-8EB4-D88FBE95B786}"/>
              </a:ext>
            </a:extLst>
          </p:cNvPr>
          <p:cNvSpPr/>
          <p:nvPr/>
        </p:nvSpPr>
        <p:spPr>
          <a:xfrm>
            <a:off x="8771866" y="1676423"/>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Tree>
    <p:extLst>
      <p:ext uri="{BB962C8B-B14F-4D97-AF65-F5344CB8AC3E}">
        <p14:creationId xmlns:p14="http://schemas.microsoft.com/office/powerpoint/2010/main" val="2347098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ular Callout 9">
            <a:extLst>
              <a:ext uri="{FF2B5EF4-FFF2-40B4-BE49-F238E27FC236}">
                <a16:creationId xmlns:a16="http://schemas.microsoft.com/office/drawing/2014/main" id="{2156D89B-0396-5544-9352-C545E2FDC374}"/>
              </a:ext>
            </a:extLst>
          </p:cNvPr>
          <p:cNvSpPr/>
          <p:nvPr/>
        </p:nvSpPr>
        <p:spPr>
          <a:xfrm>
            <a:off x="5765314" y="3930541"/>
            <a:ext cx="4373768" cy="469480"/>
          </a:xfrm>
          <a:prstGeom prst="wedgeRectCallout">
            <a:avLst>
              <a:gd name="adj1" fmla="val -9765"/>
              <a:gd name="adj2" fmla="val -11891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79B98659-3B18-E548-B20E-FC792665A198}"/>
              </a:ext>
            </a:extLst>
          </p:cNvPr>
          <p:cNvSpPr>
            <a:spLocks noGrp="1"/>
          </p:cNvSpPr>
          <p:nvPr>
            <p:ph type="sldNum" sz="quarter" idx="12"/>
          </p:nvPr>
        </p:nvSpPr>
        <p:spPr/>
        <p:txBody>
          <a:bodyPr/>
          <a:lstStyle/>
          <a:p>
            <a:fld id="{591A223C-FA10-BC46-A853-03BA373D023C}" type="slidenum">
              <a:rPr lang="en-US" smtClean="0"/>
              <a:t>13</a:t>
            </a:fld>
            <a:endParaRPr lang="en-US"/>
          </a:p>
        </p:txBody>
      </p:sp>
      <p:sp>
        <p:nvSpPr>
          <p:cNvPr id="2" name="Title 1">
            <a:extLst>
              <a:ext uri="{FF2B5EF4-FFF2-40B4-BE49-F238E27FC236}">
                <a16:creationId xmlns:a16="http://schemas.microsoft.com/office/drawing/2014/main" id="{DC7E070F-7C66-1445-A696-DBA95C22C42B}"/>
              </a:ext>
            </a:extLst>
          </p:cNvPr>
          <p:cNvSpPr>
            <a:spLocks noGrp="1"/>
          </p:cNvSpPr>
          <p:nvPr>
            <p:ph type="title"/>
          </p:nvPr>
        </p:nvSpPr>
        <p:spPr/>
        <p:txBody>
          <a:bodyPr>
            <a:normAutofit/>
          </a:bodyPr>
          <a:lstStyle/>
          <a:p>
            <a:r>
              <a:rPr lang="en-ZA"/>
              <a:t>Properties of Quantum Entanglement</a:t>
            </a:r>
            <a:endParaRPr lang="en-US" sz="3400" dirty="0"/>
          </a:p>
        </p:txBody>
      </p:sp>
      <p:sp>
        <p:nvSpPr>
          <p:cNvPr id="5" name="Rectangle 4">
            <a:extLst>
              <a:ext uri="{FF2B5EF4-FFF2-40B4-BE49-F238E27FC236}">
                <a16:creationId xmlns:a16="http://schemas.microsoft.com/office/drawing/2014/main" id="{81CF911D-4BC4-E046-84D0-294DC6B696B2}"/>
              </a:ext>
            </a:extLst>
          </p:cNvPr>
          <p:cNvSpPr/>
          <p:nvPr/>
        </p:nvSpPr>
        <p:spPr>
          <a:xfrm>
            <a:off x="199987" y="1809333"/>
            <a:ext cx="7054880" cy="461665"/>
          </a:xfrm>
          <a:prstGeom prst="rect">
            <a:avLst/>
          </a:prstGeom>
          <a:solidFill>
            <a:schemeClr val="bg1">
              <a:lumMod val="95000"/>
            </a:schemeClr>
          </a:solidFill>
        </p:spPr>
        <p:txBody>
          <a:bodyPr wrap="none">
            <a:spAutoFit/>
          </a:bodyPr>
          <a:lstStyle/>
          <a:p>
            <a:r>
              <a:rPr lang="en-US" sz="2400" dirty="0">
                <a:latin typeface="+mj-lt"/>
              </a:rPr>
              <a:t>1) </a:t>
            </a:r>
            <a:r>
              <a:rPr lang="en-ZA" sz="2400" dirty="0">
                <a:latin typeface="+mj-lt"/>
              </a:rPr>
              <a:t>Entanglement cannot be separated (inseparability)</a:t>
            </a:r>
            <a:r>
              <a:rPr lang="en-US" sz="2400" dirty="0">
                <a:latin typeface="+mj-lt"/>
              </a:rPr>
              <a:t>:</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D1BEB260-4EC1-D748-AF2D-F50FA58AA0F0}"/>
                  </a:ext>
                </a:extLst>
              </p:cNvPr>
              <p:cNvSpPr/>
              <p:nvPr/>
            </p:nvSpPr>
            <p:spPr>
              <a:xfrm>
                <a:off x="199987" y="2483476"/>
                <a:ext cx="5880905" cy="46166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𝑆</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r>
                        <a:rPr lang="en-US" sz="2400" b="0" i="1" smtClean="0">
                          <a:solidFill>
                            <a:srgbClr val="002060"/>
                          </a:solidFill>
                          <a:latin typeface="Cambria Math" panose="02040503050406030204" pitchFamily="18" charset="0"/>
                          <a:ea typeface="Cambria Math" panose="02040503050406030204" pitchFamily="18" charset="0"/>
                        </a:rPr>
                        <m:t>=</m:t>
                      </m:r>
                      <m:d>
                        <m:dPr>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𝑎</m:t>
                                  </m:r>
                                </m:e>
                                <m:sub>
                                  <m:r>
                                    <a:rPr lang="en-US" sz="2400" i="1">
                                      <a:solidFill>
                                        <a:srgbClr val="002060"/>
                                      </a:solidFill>
                                      <a:latin typeface="Cambria Math" panose="02040503050406030204" pitchFamily="18" charset="0"/>
                                      <a:ea typeface="Cambria Math" panose="02040503050406030204" pitchFamily="18" charset="0"/>
                                    </a:rPr>
                                    <m:t>1</m:t>
                                  </m:r>
                                </m:sub>
                              </m:sSub>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𝑏</m:t>
                                  </m:r>
                                </m:e>
                                <m:sub>
                                  <m:r>
                                    <a:rPr lang="en-US" sz="2400" i="1">
                                      <a:solidFill>
                                        <a:srgbClr val="002060"/>
                                      </a:solidFill>
                                      <a:latin typeface="Cambria Math" panose="02040503050406030204" pitchFamily="18" charset="0"/>
                                      <a:ea typeface="Cambria Math" panose="02040503050406030204" pitchFamily="18" charset="0"/>
                                    </a:rPr>
                                    <m:t>1</m:t>
                                  </m:r>
                                </m:sub>
                              </m:sSub>
                              <m:r>
                                <a:rPr lang="en-US" sz="2400" i="1">
                                  <a:solidFill>
                                    <a:srgbClr val="002060"/>
                                  </a:solidFill>
                                  <a:latin typeface="Cambria Math" panose="02040503050406030204" pitchFamily="18" charset="0"/>
                                  <a:ea typeface="Cambria Math" panose="02040503050406030204" pitchFamily="18" charset="0"/>
                                </a:rPr>
                                <m:t>|1</m:t>
                              </m:r>
                            </m:e>
                          </m:d>
                        </m:e>
                      </m:d>
                      <m:d>
                        <m:dPr>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𝑎</m:t>
                                  </m:r>
                                </m:e>
                                <m:sub>
                                  <m:r>
                                    <a:rPr lang="en-US" sz="2400" b="0" i="1" smtClean="0">
                                      <a:solidFill>
                                        <a:srgbClr val="002060"/>
                                      </a:solidFill>
                                      <a:latin typeface="Cambria Math" panose="02040503050406030204" pitchFamily="18" charset="0"/>
                                      <a:ea typeface="Cambria Math" panose="02040503050406030204" pitchFamily="18" charset="0"/>
                                    </a:rPr>
                                    <m:t>2</m:t>
                                  </m:r>
                                </m:sub>
                              </m:sSub>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𝑏</m:t>
                                  </m:r>
                                </m:e>
                                <m:sub>
                                  <m:r>
                                    <a:rPr lang="en-US" sz="2400" b="0" i="1" smtClean="0">
                                      <a:solidFill>
                                        <a:srgbClr val="002060"/>
                                      </a:solidFill>
                                      <a:latin typeface="Cambria Math" panose="02040503050406030204" pitchFamily="18" charset="0"/>
                                      <a:ea typeface="Cambria Math" panose="02040503050406030204" pitchFamily="18" charset="0"/>
                                    </a:rPr>
                                    <m:t>2</m:t>
                                  </m:r>
                                </m:sub>
                              </m:sSub>
                              <m:r>
                                <a:rPr lang="en-US" sz="2400" i="1">
                                  <a:solidFill>
                                    <a:srgbClr val="002060"/>
                                  </a:solidFill>
                                  <a:latin typeface="Cambria Math" panose="02040503050406030204" pitchFamily="18" charset="0"/>
                                  <a:ea typeface="Cambria Math" panose="02040503050406030204" pitchFamily="18" charset="0"/>
                                </a:rPr>
                                <m:t>|1</m:t>
                              </m:r>
                            </m:e>
                          </m:d>
                        </m:e>
                      </m:d>
                    </m:oMath>
                  </m:oMathPara>
                </a14:m>
                <a:endParaRPr lang="en-US" sz="2400" b="0" i="1" dirty="0">
                  <a:solidFill>
                    <a:srgbClr val="002060"/>
                  </a:solidFill>
                  <a:latin typeface="Cambria Math" panose="02040503050406030204" pitchFamily="18" charset="0"/>
                  <a:ea typeface="Cambria Math" panose="02040503050406030204" pitchFamily="18" charset="0"/>
                </a:endParaRPr>
              </a:p>
            </p:txBody>
          </p:sp>
        </mc:Choice>
        <mc:Fallback xmlns="">
          <p:sp>
            <p:nvSpPr>
              <p:cNvPr id="6" name="Rectangle 5">
                <a:extLst>
                  <a:ext uri="{FF2B5EF4-FFF2-40B4-BE49-F238E27FC236}">
                    <a16:creationId xmlns:a16="http://schemas.microsoft.com/office/drawing/2014/main" id="{D1BEB260-4EC1-D748-AF2D-F50FA58AA0F0}"/>
                  </a:ext>
                </a:extLst>
              </p:cNvPr>
              <p:cNvSpPr>
                <a:spLocks noRot="1" noChangeAspect="1" noMove="1" noResize="1" noEditPoints="1" noAdjustHandles="1" noChangeArrowheads="1" noChangeShapeType="1" noTextEdit="1"/>
              </p:cNvSpPr>
              <p:nvPr/>
            </p:nvSpPr>
            <p:spPr>
              <a:xfrm>
                <a:off x="199987" y="2483476"/>
                <a:ext cx="5880905" cy="461665"/>
              </a:xfrm>
              <a:prstGeom prst="rect">
                <a:avLst/>
              </a:prstGeom>
              <a:blipFill>
                <a:blip r:embed="rId3"/>
                <a:stretch>
                  <a:fillRect l="-1509" t="-129730" r="-1724" b="-1891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3416837-876D-9544-98D7-98B2127A7682}"/>
                  </a:ext>
                </a:extLst>
              </p:cNvPr>
              <p:cNvSpPr/>
              <p:nvPr/>
            </p:nvSpPr>
            <p:spPr>
              <a:xfrm>
                <a:off x="199987" y="2945141"/>
                <a:ext cx="10133159" cy="855299"/>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d>
                        <m:dPr>
                          <m:begChr m:val=""/>
                          <m:endChr m:val="⟩"/>
                          <m:ctrlPr>
                            <a:rPr lang="en-US" sz="2400" i="1" smtClean="0">
                              <a:solidFill>
                                <a:srgbClr val="0000FF"/>
                              </a:solidFill>
                              <a:latin typeface="Cambria Math" panose="02040503050406030204" pitchFamily="18" charset="0"/>
                              <a:ea typeface="Cambria Math" panose="02040503050406030204" pitchFamily="18" charset="0"/>
                            </a:rPr>
                          </m:ctrlPr>
                        </m:dPr>
                        <m:e>
                          <m:sSub>
                            <m:sSubPr>
                              <m:ctrlPr>
                                <a:rPr lang="en-US" sz="2400" i="1">
                                  <a:solidFill>
                                    <a:srgbClr val="0000FF"/>
                                  </a:solidFill>
                                  <a:latin typeface="Cambria Math" panose="02040503050406030204" pitchFamily="18" charset="0"/>
                                  <a:ea typeface="Cambria Math" panose="02040503050406030204" pitchFamily="18" charset="0"/>
                                </a:rPr>
                              </m:ctrlPr>
                            </m:sSubPr>
                            <m:e>
                              <m:r>
                                <a:rPr lang="sr-Latn-RS" sz="2400" b="0" i="1" smtClean="0">
                                  <a:solidFill>
                                    <a:srgbClr val="0000FF"/>
                                  </a:solidFill>
                                  <a:latin typeface="Cambria Math" panose="02040503050406030204" pitchFamily="18" charset="0"/>
                                  <a:ea typeface="Cambria Math" panose="02040503050406030204" pitchFamily="18" charset="0"/>
                                </a:rPr>
                                <m:t>                =</m:t>
                              </m:r>
                              <m:r>
                                <a:rPr lang="en-US" sz="2400" i="1">
                                  <a:solidFill>
                                    <a:srgbClr val="0000FF"/>
                                  </a:solidFill>
                                  <a:latin typeface="Cambria Math" panose="02040503050406030204" pitchFamily="18" charset="0"/>
                                  <a:ea typeface="Cambria Math" panose="02040503050406030204" pitchFamily="18" charset="0"/>
                                </a:rPr>
                                <m:t>𝑎</m:t>
                              </m:r>
                            </m:e>
                            <m:sub>
                              <m:r>
                                <a:rPr lang="en-US" sz="2400" i="1">
                                  <a:solidFill>
                                    <a:srgbClr val="0000FF"/>
                                  </a:solidFill>
                                  <a:latin typeface="Cambria Math" panose="02040503050406030204" pitchFamily="18" charset="0"/>
                                  <a:ea typeface="Cambria Math" panose="02040503050406030204" pitchFamily="18" charset="0"/>
                                </a:rPr>
                                <m:t>1</m:t>
                              </m:r>
                            </m:sub>
                          </m:sSub>
                          <m:sSub>
                            <m:sSubPr>
                              <m:ctrlPr>
                                <a:rPr lang="en-US" sz="2400" i="1">
                                  <a:solidFill>
                                    <a:srgbClr val="0000FF"/>
                                  </a:solidFill>
                                  <a:latin typeface="Cambria Math" panose="02040503050406030204" pitchFamily="18" charset="0"/>
                                  <a:ea typeface="Cambria Math" panose="02040503050406030204" pitchFamily="18" charset="0"/>
                                </a:rPr>
                              </m:ctrlPr>
                            </m:sSubPr>
                            <m:e>
                              <m:r>
                                <a:rPr lang="en-US" sz="2400" i="1">
                                  <a:solidFill>
                                    <a:srgbClr val="0000FF"/>
                                  </a:solidFill>
                                  <a:latin typeface="Cambria Math" panose="02040503050406030204" pitchFamily="18" charset="0"/>
                                  <a:ea typeface="Cambria Math" panose="02040503050406030204" pitchFamily="18" charset="0"/>
                                </a:rPr>
                                <m:t>𝑎</m:t>
                              </m:r>
                            </m:e>
                            <m:sub>
                              <m:r>
                                <a:rPr lang="en-US" sz="2400" i="1">
                                  <a:solidFill>
                                    <a:srgbClr val="0000FF"/>
                                  </a:solidFill>
                                  <a:latin typeface="Cambria Math" panose="02040503050406030204" pitchFamily="18" charset="0"/>
                                  <a:ea typeface="Cambria Math" panose="02040503050406030204" pitchFamily="18" charset="0"/>
                                </a:rPr>
                                <m:t>2</m:t>
                              </m:r>
                            </m:sub>
                          </m:sSub>
                          <m:r>
                            <a:rPr lang="en-US" sz="2400" i="1">
                              <a:solidFill>
                                <a:srgbClr val="0000FF"/>
                              </a:solidFill>
                              <a:latin typeface="Cambria Math" panose="02040503050406030204" pitchFamily="18" charset="0"/>
                              <a:ea typeface="Cambria Math" panose="02040503050406030204" pitchFamily="18" charset="0"/>
                            </a:rPr>
                            <m:t>|00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𝑎</m:t>
                              </m:r>
                            </m:e>
                            <m:sub>
                              <m:r>
                                <a:rPr lang="en-US" sz="2400" i="1">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𝑏</m:t>
                              </m:r>
                            </m:e>
                            <m:sub>
                              <m:r>
                                <a:rPr lang="en-US" sz="2400" i="1">
                                  <a:solidFill>
                                    <a:srgbClr val="002060"/>
                                  </a:solidFill>
                                  <a:latin typeface="Cambria Math" panose="02040503050406030204" pitchFamily="18" charset="0"/>
                                  <a:ea typeface="Cambria Math" panose="02040503050406030204" pitchFamily="18" charset="0"/>
                                </a:rPr>
                                <m:t>2</m:t>
                              </m:r>
                            </m:sub>
                          </m:sSub>
                          <m:r>
                            <a:rPr lang="en-US" sz="2400" i="1">
                              <a:solidFill>
                                <a:srgbClr val="002060"/>
                              </a:solidFill>
                              <a:latin typeface="Cambria Math" panose="02040503050406030204" pitchFamily="18" charset="0"/>
                              <a:ea typeface="Cambria Math" panose="02040503050406030204" pitchFamily="18" charset="0"/>
                            </a:rPr>
                            <m:t>|01</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𝑏</m:t>
                              </m:r>
                            </m:e>
                            <m:sub>
                              <m:r>
                                <a:rPr lang="en-US" sz="2400" i="1">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𝑎</m:t>
                              </m:r>
                            </m:e>
                            <m:sub>
                              <m:r>
                                <a:rPr lang="en-US" sz="2400" i="1">
                                  <a:solidFill>
                                    <a:srgbClr val="002060"/>
                                  </a:solidFill>
                                  <a:latin typeface="Cambria Math" panose="02040503050406030204" pitchFamily="18" charset="0"/>
                                  <a:ea typeface="Cambria Math" panose="02040503050406030204" pitchFamily="18" charset="0"/>
                                </a:rPr>
                                <m:t>2</m:t>
                              </m:r>
                            </m:sub>
                          </m:sSub>
                          <m:r>
                            <a:rPr lang="en-US" sz="2400" i="1">
                              <a:solidFill>
                                <a:srgbClr val="002060"/>
                              </a:solidFill>
                              <a:latin typeface="Cambria Math" panose="02040503050406030204" pitchFamily="18" charset="0"/>
                              <a:ea typeface="Cambria Math" panose="02040503050406030204" pitchFamily="18" charset="0"/>
                            </a:rPr>
                            <m:t>|10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𝑏</m:t>
                              </m:r>
                            </m:e>
                            <m:sub>
                              <m:r>
                                <a:rPr lang="en-US" sz="2400" i="1">
                                  <a:solidFill>
                                    <a:srgbClr val="FF0000"/>
                                  </a:solidFill>
                                  <a:latin typeface="Cambria Math" panose="02040503050406030204" pitchFamily="18" charset="0"/>
                                  <a:ea typeface="Cambria Math" panose="02040503050406030204" pitchFamily="18" charset="0"/>
                                </a:rPr>
                                <m:t>1</m:t>
                              </m:r>
                            </m:sub>
                          </m:sSub>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𝑏</m:t>
                              </m:r>
                            </m:e>
                            <m:sub>
                              <m:r>
                                <a:rPr lang="en-US" sz="2400" i="1">
                                  <a:solidFill>
                                    <a:srgbClr val="FF0000"/>
                                  </a:solidFill>
                                  <a:latin typeface="Cambria Math" panose="02040503050406030204" pitchFamily="18" charset="0"/>
                                  <a:ea typeface="Cambria Math" panose="02040503050406030204" pitchFamily="18" charset="0"/>
                                </a:rPr>
                                <m:t>2</m:t>
                              </m:r>
                            </m:sub>
                          </m:sSub>
                          <m:r>
                            <a:rPr lang="en-US" sz="2400" i="1">
                              <a:solidFill>
                                <a:srgbClr val="FF0000"/>
                              </a:solidFill>
                              <a:latin typeface="Cambria Math" panose="02040503050406030204" pitchFamily="18" charset="0"/>
                              <a:ea typeface="Cambria Math" panose="02040503050406030204" pitchFamily="18" charset="0"/>
                            </a:rPr>
                            <m:t>|11</m:t>
                          </m:r>
                        </m:e>
                      </m:d>
                      <m:r>
                        <a:rPr lang="en-US" sz="240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00FF"/>
                              </a:solidFill>
                              <a:latin typeface="Cambria Math" panose="02040503050406030204" pitchFamily="18" charset="0"/>
                              <a:ea typeface="Cambria Math" panose="02040503050406030204" pitchFamily="18" charset="0"/>
                            </a:rPr>
                          </m:ctrlPr>
                        </m:fPr>
                        <m:num>
                          <m:r>
                            <a:rPr lang="en-US" sz="2400" b="0" i="1" smtClean="0">
                              <a:solidFill>
                                <a:srgbClr val="0000FF"/>
                              </a:solidFill>
                              <a:latin typeface="Cambria Math" panose="02040503050406030204" pitchFamily="18" charset="0"/>
                              <a:ea typeface="Cambria Math" panose="02040503050406030204" pitchFamily="18" charset="0"/>
                            </a:rPr>
                            <m:t>1</m:t>
                          </m:r>
                        </m:num>
                        <m:den>
                          <m:rad>
                            <m:radPr>
                              <m:degHide m:val="on"/>
                              <m:ctrlPr>
                                <a:rPr lang="en-US" sz="2400" i="1" smtClean="0">
                                  <a:solidFill>
                                    <a:srgbClr val="0000FF"/>
                                  </a:solidFill>
                                  <a:latin typeface="Cambria Math" panose="02040503050406030204" pitchFamily="18" charset="0"/>
                                  <a:ea typeface="Cambria Math" panose="02040503050406030204" pitchFamily="18" charset="0"/>
                                </a:rPr>
                              </m:ctrlPr>
                            </m:radPr>
                            <m:deg/>
                            <m:e>
                              <m:r>
                                <a:rPr lang="en-US" sz="2400" b="0" i="1" smtClean="0">
                                  <a:solidFill>
                                    <a:srgbClr val="0000FF"/>
                                  </a:solidFill>
                                  <a:latin typeface="Cambria Math" panose="02040503050406030204" pitchFamily="18" charset="0"/>
                                  <a:ea typeface="Cambria Math" panose="02040503050406030204" pitchFamily="18" charset="0"/>
                                </a:rPr>
                                <m:t>2</m:t>
                              </m:r>
                            </m:e>
                          </m:rad>
                        </m:den>
                      </m:f>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|00</m:t>
                          </m:r>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FF0000"/>
                              </a:solidFill>
                              <a:latin typeface="Cambria Math" panose="02040503050406030204" pitchFamily="18" charset="0"/>
                              <a:ea typeface="Cambria Math" panose="02040503050406030204" pitchFamily="18" charset="0"/>
                            </a:rPr>
                          </m:ctrlPr>
                        </m:fPr>
                        <m:num>
                          <m:r>
                            <a:rPr lang="en-US" sz="2400" i="1">
                              <a:solidFill>
                                <a:srgbClr val="FF0000"/>
                              </a:solidFill>
                              <a:latin typeface="Cambria Math" panose="02040503050406030204" pitchFamily="18" charset="0"/>
                              <a:ea typeface="Cambria Math" panose="02040503050406030204" pitchFamily="18" charset="0"/>
                            </a:rPr>
                            <m:t>1</m:t>
                          </m:r>
                        </m:num>
                        <m:den>
                          <m:rad>
                            <m:radPr>
                              <m:degHide m:val="on"/>
                              <m:ctrlPr>
                                <a:rPr lang="en-US" sz="2400" i="1">
                                  <a:solidFill>
                                    <a:srgbClr val="FF0000"/>
                                  </a:solidFill>
                                  <a:latin typeface="Cambria Math" panose="02040503050406030204" pitchFamily="18" charset="0"/>
                                  <a:ea typeface="Cambria Math" panose="02040503050406030204" pitchFamily="18" charset="0"/>
                                </a:rPr>
                              </m:ctrlPr>
                            </m:radPr>
                            <m:deg/>
                            <m:e>
                              <m:r>
                                <a:rPr lang="en-US" sz="2400" i="1">
                                  <a:solidFill>
                                    <a:srgbClr val="FF0000"/>
                                  </a:solidFill>
                                  <a:latin typeface="Cambria Math" panose="02040503050406030204" pitchFamily="18" charset="0"/>
                                  <a:ea typeface="Cambria Math" panose="02040503050406030204" pitchFamily="18" charset="0"/>
                                </a:rPr>
                                <m:t>2</m:t>
                              </m:r>
                            </m:e>
                          </m:rad>
                        </m:den>
                      </m:f>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11</m:t>
                          </m:r>
                        </m:e>
                      </m:d>
                    </m:oMath>
                  </m:oMathPara>
                </a14:m>
                <a:endParaRPr lang="en-US" sz="2400" dirty="0"/>
              </a:p>
            </p:txBody>
          </p:sp>
        </mc:Choice>
        <mc:Fallback xmlns="">
          <p:sp>
            <p:nvSpPr>
              <p:cNvPr id="7" name="Rectangle 6">
                <a:extLst>
                  <a:ext uri="{FF2B5EF4-FFF2-40B4-BE49-F238E27FC236}">
                    <a16:creationId xmlns:a16="http://schemas.microsoft.com/office/drawing/2014/main" id="{33416837-876D-9544-98D7-98B2127A7682}"/>
                  </a:ext>
                </a:extLst>
              </p:cNvPr>
              <p:cNvSpPr>
                <a:spLocks noRot="1" noChangeAspect="1" noMove="1" noResize="1" noEditPoints="1" noAdjustHandles="1" noChangeArrowheads="1" noChangeShapeType="1" noTextEdit="1"/>
              </p:cNvSpPr>
              <p:nvPr/>
            </p:nvSpPr>
            <p:spPr>
              <a:xfrm>
                <a:off x="199987" y="2945141"/>
                <a:ext cx="10133159" cy="855299"/>
              </a:xfrm>
              <a:prstGeom prst="rect">
                <a:avLst/>
              </a:prstGeom>
              <a:blipFill>
                <a:blip r:embed="rId4"/>
                <a:stretch>
                  <a:fillRect l="-626" t="-45588" r="-1126" b="-80882"/>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809CB217-7703-4343-9C89-EA3524AD50C8}"/>
              </a:ext>
            </a:extLst>
          </p:cNvPr>
          <p:cNvGrpSpPr/>
          <p:nvPr/>
        </p:nvGrpSpPr>
        <p:grpSpPr>
          <a:xfrm>
            <a:off x="199987" y="4589244"/>
            <a:ext cx="7928882" cy="2222020"/>
            <a:chOff x="199987" y="4284444"/>
            <a:chExt cx="7928882" cy="2222020"/>
          </a:xfrm>
        </p:grpSpPr>
        <p:grpSp>
          <p:nvGrpSpPr>
            <p:cNvPr id="34" name="Group 33">
              <a:extLst>
                <a:ext uri="{FF2B5EF4-FFF2-40B4-BE49-F238E27FC236}">
                  <a16:creationId xmlns:a16="http://schemas.microsoft.com/office/drawing/2014/main" id="{83E48082-365F-9847-AFD1-F33334510BEC}"/>
                </a:ext>
              </a:extLst>
            </p:cNvPr>
            <p:cNvGrpSpPr/>
            <p:nvPr/>
          </p:nvGrpSpPr>
          <p:grpSpPr>
            <a:xfrm>
              <a:off x="199987" y="4284444"/>
              <a:ext cx="4686323" cy="1760699"/>
              <a:chOff x="199987" y="4284444"/>
              <a:chExt cx="4686323" cy="1760699"/>
            </a:xfrm>
          </p:grpSpPr>
          <p:sp>
            <p:nvSpPr>
              <p:cNvPr id="12" name="TextBox 11">
                <a:extLst>
                  <a:ext uri="{FF2B5EF4-FFF2-40B4-BE49-F238E27FC236}">
                    <a16:creationId xmlns:a16="http://schemas.microsoft.com/office/drawing/2014/main" id="{EDC6FA5A-60BF-C240-BF61-1AA2C0138A54}"/>
                  </a:ext>
                </a:extLst>
              </p:cNvPr>
              <p:cNvSpPr txBox="1"/>
              <p:nvPr/>
            </p:nvSpPr>
            <p:spPr>
              <a:xfrm>
                <a:off x="199987" y="4284444"/>
                <a:ext cx="3783023" cy="461665"/>
              </a:xfrm>
              <a:prstGeom prst="rect">
                <a:avLst/>
              </a:prstGeom>
              <a:solidFill>
                <a:schemeClr val="bg1">
                  <a:lumMod val="95000"/>
                </a:schemeClr>
              </a:solidFill>
            </p:spPr>
            <p:txBody>
              <a:bodyPr wrap="none" rtlCol="0">
                <a:spAutoFit/>
              </a:bodyPr>
              <a:lstStyle/>
              <a:p>
                <a:r>
                  <a:rPr lang="en-US" sz="2400" dirty="0">
                    <a:latin typeface="+mj-lt"/>
                  </a:rPr>
                  <a:t>2) </a:t>
                </a:r>
                <a:r>
                  <a:rPr lang="en-ZA" sz="2400" dirty="0">
                    <a:latin typeface="+mj-lt"/>
                  </a:rPr>
                  <a:t>Measurement correlation</a:t>
                </a:r>
                <a:r>
                  <a:rPr lang="en-US" sz="2400" dirty="0">
                    <a:latin typeface="+mj-lt"/>
                  </a:rPr>
                  <a:t>:</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158A4CF-F852-C949-B9AD-BDDD8FD47D72}"/>
                      </a:ext>
                    </a:extLst>
                  </p:cNvPr>
                  <p:cNvSpPr/>
                  <p:nvPr/>
                </p:nvSpPr>
                <p:spPr>
                  <a:xfrm>
                    <a:off x="1523915" y="4935480"/>
                    <a:ext cx="3362395" cy="11096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3200" i="1">
                                  <a:solidFill>
                                    <a:srgbClr val="0000FF"/>
                                  </a:solidFill>
                                  <a:latin typeface="Cambria Math" panose="02040503050406030204" pitchFamily="18" charset="0"/>
                                  <a:ea typeface="Cambria Math" panose="02040503050406030204" pitchFamily="18" charset="0"/>
                                </a:rPr>
                              </m:ctrlPr>
                            </m:fPr>
                            <m:num>
                              <m:r>
                                <a:rPr lang="en-US" sz="3200" i="1">
                                  <a:solidFill>
                                    <a:srgbClr val="0000FF"/>
                                  </a:solidFill>
                                  <a:latin typeface="Cambria Math" panose="02040503050406030204" pitchFamily="18" charset="0"/>
                                  <a:ea typeface="Cambria Math" panose="02040503050406030204" pitchFamily="18" charset="0"/>
                                </a:rPr>
                                <m:t>1</m:t>
                              </m:r>
                            </m:num>
                            <m:den>
                              <m:rad>
                                <m:radPr>
                                  <m:degHide m:val="on"/>
                                  <m:ctrlPr>
                                    <a:rPr lang="en-US" sz="3200" i="1">
                                      <a:solidFill>
                                        <a:srgbClr val="0000FF"/>
                                      </a:solidFill>
                                      <a:latin typeface="Cambria Math" panose="02040503050406030204" pitchFamily="18" charset="0"/>
                                      <a:ea typeface="Cambria Math" panose="02040503050406030204" pitchFamily="18" charset="0"/>
                                    </a:rPr>
                                  </m:ctrlPr>
                                </m:radPr>
                                <m:deg/>
                                <m:e>
                                  <m:r>
                                    <a:rPr lang="en-US" sz="3200" i="1">
                                      <a:solidFill>
                                        <a:srgbClr val="0000FF"/>
                                      </a:solidFill>
                                      <a:latin typeface="Cambria Math" panose="02040503050406030204" pitchFamily="18" charset="0"/>
                                      <a:ea typeface="Cambria Math" panose="02040503050406030204" pitchFamily="18" charset="0"/>
                                    </a:rPr>
                                    <m:t>2</m:t>
                                  </m:r>
                                </m:e>
                              </m:rad>
                            </m:den>
                          </m:f>
                          <m:d>
                            <m:dPr>
                              <m:begChr m:val=""/>
                              <m:endChr m:val="⟩"/>
                              <m:ctrlPr>
                                <a:rPr lang="en-US" sz="3200" i="1">
                                  <a:solidFill>
                                    <a:srgbClr val="0000FF"/>
                                  </a:solidFill>
                                  <a:latin typeface="Cambria Math" panose="02040503050406030204" pitchFamily="18" charset="0"/>
                                  <a:ea typeface="Cambria Math" panose="02040503050406030204" pitchFamily="18" charset="0"/>
                                </a:rPr>
                              </m:ctrlPr>
                            </m:dPr>
                            <m:e>
                              <m:r>
                                <a:rPr lang="en-US" sz="3200" i="1">
                                  <a:solidFill>
                                    <a:srgbClr val="0000FF"/>
                                  </a:solidFill>
                                  <a:latin typeface="Cambria Math" panose="02040503050406030204" pitchFamily="18" charset="0"/>
                                  <a:ea typeface="Cambria Math" panose="02040503050406030204" pitchFamily="18" charset="0"/>
                                </a:rPr>
                                <m:t>|00</m:t>
                              </m:r>
                            </m:e>
                          </m:d>
                          <m:r>
                            <a:rPr lang="en-US" sz="3200" i="1">
                              <a:solidFill>
                                <a:srgbClr val="002060"/>
                              </a:solidFill>
                              <a:latin typeface="Cambria Math" panose="02040503050406030204" pitchFamily="18" charset="0"/>
                              <a:ea typeface="Cambria Math" panose="02040503050406030204" pitchFamily="18" charset="0"/>
                            </a:rPr>
                            <m:t>+</m:t>
                          </m:r>
                          <m:f>
                            <m:fPr>
                              <m:ctrlPr>
                                <a:rPr lang="en-US" sz="3200" i="1">
                                  <a:solidFill>
                                    <a:srgbClr val="FF0000"/>
                                  </a:solidFill>
                                  <a:latin typeface="Cambria Math" panose="02040503050406030204" pitchFamily="18" charset="0"/>
                                  <a:ea typeface="Cambria Math" panose="02040503050406030204" pitchFamily="18" charset="0"/>
                                </a:rPr>
                              </m:ctrlPr>
                            </m:fPr>
                            <m:num>
                              <m:r>
                                <a:rPr lang="en-US" sz="3200" i="1">
                                  <a:solidFill>
                                    <a:srgbClr val="FF0000"/>
                                  </a:solidFill>
                                  <a:latin typeface="Cambria Math" panose="02040503050406030204" pitchFamily="18" charset="0"/>
                                  <a:ea typeface="Cambria Math" panose="02040503050406030204" pitchFamily="18" charset="0"/>
                                </a:rPr>
                                <m:t>1</m:t>
                              </m:r>
                            </m:num>
                            <m:den>
                              <m:rad>
                                <m:radPr>
                                  <m:degHide m:val="on"/>
                                  <m:ctrlPr>
                                    <a:rPr lang="en-US" sz="3200" i="1">
                                      <a:solidFill>
                                        <a:srgbClr val="FF0000"/>
                                      </a:solidFill>
                                      <a:latin typeface="Cambria Math" panose="02040503050406030204" pitchFamily="18" charset="0"/>
                                      <a:ea typeface="Cambria Math" panose="02040503050406030204" pitchFamily="18" charset="0"/>
                                    </a:rPr>
                                  </m:ctrlPr>
                                </m:radPr>
                                <m:deg/>
                                <m:e>
                                  <m:r>
                                    <a:rPr lang="en-US" sz="3200" i="1">
                                      <a:solidFill>
                                        <a:srgbClr val="FF0000"/>
                                      </a:solidFill>
                                      <a:latin typeface="Cambria Math" panose="02040503050406030204" pitchFamily="18" charset="0"/>
                                      <a:ea typeface="Cambria Math" panose="02040503050406030204" pitchFamily="18" charset="0"/>
                                    </a:rPr>
                                    <m:t>2</m:t>
                                  </m:r>
                                </m:e>
                              </m:rad>
                            </m:den>
                          </m:f>
                          <m:d>
                            <m:dPr>
                              <m:begChr m:val=""/>
                              <m:endChr m:val="⟩"/>
                              <m:ctrlPr>
                                <a:rPr lang="en-US" sz="3200" i="1">
                                  <a:solidFill>
                                    <a:srgbClr val="FF0000"/>
                                  </a:solidFill>
                                  <a:latin typeface="Cambria Math" panose="02040503050406030204" pitchFamily="18" charset="0"/>
                                  <a:ea typeface="Cambria Math" panose="02040503050406030204" pitchFamily="18" charset="0"/>
                                </a:rPr>
                              </m:ctrlPr>
                            </m:dPr>
                            <m:e>
                              <m:r>
                                <a:rPr lang="en-US" sz="3200" i="1">
                                  <a:solidFill>
                                    <a:srgbClr val="FF0000"/>
                                  </a:solidFill>
                                  <a:latin typeface="Cambria Math" panose="02040503050406030204" pitchFamily="18" charset="0"/>
                                  <a:ea typeface="Cambria Math" panose="02040503050406030204" pitchFamily="18" charset="0"/>
                                </a:rPr>
                                <m:t>|11</m:t>
                              </m:r>
                            </m:e>
                          </m:d>
                        </m:oMath>
                      </m:oMathPara>
                    </a14:m>
                    <a:endParaRPr lang="en-US" sz="3200" dirty="0"/>
                  </a:p>
                </p:txBody>
              </p:sp>
            </mc:Choice>
            <mc:Fallback xmlns="">
              <p:sp>
                <p:nvSpPr>
                  <p:cNvPr id="13" name="Rectangle 12">
                    <a:extLst>
                      <a:ext uri="{FF2B5EF4-FFF2-40B4-BE49-F238E27FC236}">
                        <a16:creationId xmlns:a16="http://schemas.microsoft.com/office/drawing/2014/main" id="{6158A4CF-F852-C949-B9AD-BDDD8FD47D72}"/>
                      </a:ext>
                    </a:extLst>
                  </p:cNvPr>
                  <p:cNvSpPr>
                    <a:spLocks noRot="1" noChangeAspect="1" noMove="1" noResize="1" noEditPoints="1" noAdjustHandles="1" noChangeArrowheads="1" noChangeShapeType="1" noTextEdit="1"/>
                  </p:cNvSpPr>
                  <p:nvPr/>
                </p:nvSpPr>
                <p:spPr>
                  <a:xfrm>
                    <a:off x="1523915" y="4935480"/>
                    <a:ext cx="3362395" cy="1109663"/>
                  </a:xfrm>
                  <a:prstGeom prst="rect">
                    <a:avLst/>
                  </a:prstGeom>
                  <a:blipFill>
                    <a:blip r:embed="rId5"/>
                    <a:stretch>
                      <a:fillRect t="-47727" r="-12830" b="-84091"/>
                    </a:stretch>
                  </a:blipFill>
                </p:spPr>
                <p:txBody>
                  <a:bodyPr/>
                  <a:lstStyle/>
                  <a:p>
                    <a:r>
                      <a:rPr lang="en-US">
                        <a:noFill/>
                      </a:rPr>
                      <a:t> </a:t>
                    </a:r>
                  </a:p>
                </p:txBody>
              </p:sp>
            </mc:Fallback>
          </mc:AlternateContent>
        </p:grpSp>
        <p:grpSp>
          <p:nvGrpSpPr>
            <p:cNvPr id="35" name="Group 34">
              <a:extLst>
                <a:ext uri="{FF2B5EF4-FFF2-40B4-BE49-F238E27FC236}">
                  <a16:creationId xmlns:a16="http://schemas.microsoft.com/office/drawing/2014/main" id="{C127B419-F4C5-604A-A946-7DCC5C2260C8}"/>
                </a:ext>
              </a:extLst>
            </p:cNvPr>
            <p:cNvGrpSpPr/>
            <p:nvPr/>
          </p:nvGrpSpPr>
          <p:grpSpPr>
            <a:xfrm>
              <a:off x="2256854" y="4991380"/>
              <a:ext cx="5872015" cy="1515084"/>
              <a:chOff x="2256854" y="4991380"/>
              <a:chExt cx="5872015" cy="1515084"/>
            </a:xfrm>
          </p:grpSpPr>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5786A857-815B-9F45-8363-E4A61AD45BCA}"/>
                      </a:ext>
                    </a:extLst>
                  </p:cNvPr>
                  <p:cNvSpPr/>
                  <p:nvPr/>
                </p:nvSpPr>
                <p:spPr>
                  <a:xfrm>
                    <a:off x="7623602" y="5202660"/>
                    <a:ext cx="50526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a:solidFill>
                                <a:srgbClr val="0000FF"/>
                              </a:solidFill>
                              <a:latin typeface="Cambria Math" panose="02040503050406030204" pitchFamily="18" charset="0"/>
                              <a:ea typeface="Cambria Math" panose="02040503050406030204" pitchFamily="18" charset="0"/>
                            </a:rPr>
                            <m:t>0</m:t>
                          </m:r>
                        </m:oMath>
                      </m:oMathPara>
                    </a14:m>
                    <a:endParaRPr lang="en-US" sz="3200" dirty="0"/>
                  </a:p>
                </p:txBody>
              </p:sp>
            </mc:Choice>
            <mc:Fallback xmlns="">
              <p:sp>
                <p:nvSpPr>
                  <p:cNvPr id="18" name="Rectangle 17">
                    <a:extLst>
                      <a:ext uri="{FF2B5EF4-FFF2-40B4-BE49-F238E27FC236}">
                        <a16:creationId xmlns:a16="http://schemas.microsoft.com/office/drawing/2014/main" id="{5786A857-815B-9F45-8363-E4A61AD45BCA}"/>
                      </a:ext>
                    </a:extLst>
                  </p:cNvPr>
                  <p:cNvSpPr>
                    <a:spLocks noRot="1" noChangeAspect="1" noMove="1" noResize="1" noEditPoints="1" noAdjustHandles="1" noChangeArrowheads="1" noChangeShapeType="1" noTextEdit="1"/>
                  </p:cNvSpPr>
                  <p:nvPr/>
                </p:nvSpPr>
                <p:spPr>
                  <a:xfrm>
                    <a:off x="7623602" y="5202660"/>
                    <a:ext cx="505267" cy="584775"/>
                  </a:xfrm>
                  <a:prstGeom prst="rect">
                    <a:avLst/>
                  </a:prstGeom>
                  <a:blipFill>
                    <a:blip r:embed="rId6"/>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3F3C45CA-1BCC-6943-8CF0-142CECFEE3B9}"/>
                  </a:ext>
                </a:extLst>
              </p:cNvPr>
              <p:cNvCxnSpPr>
                <a:cxnSpLocks/>
              </p:cNvCxnSpPr>
              <p:nvPr/>
            </p:nvCxnSpPr>
            <p:spPr>
              <a:xfrm flipV="1">
                <a:off x="3981479" y="4991380"/>
                <a:ext cx="796595" cy="104244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13830FF-A959-D046-91C9-24760D85DE61}"/>
                  </a:ext>
                </a:extLst>
              </p:cNvPr>
              <p:cNvCxnSpPr>
                <a:cxnSpLocks/>
              </p:cNvCxnSpPr>
              <p:nvPr/>
            </p:nvCxnSpPr>
            <p:spPr>
              <a:xfrm flipV="1">
                <a:off x="2483281" y="5663306"/>
                <a:ext cx="0" cy="37052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2C41433-4062-0A4B-9BF8-6BD3B921FD5B}"/>
                  </a:ext>
                </a:extLst>
              </p:cNvPr>
              <p:cNvCxnSpPr>
                <a:cxnSpLocks/>
              </p:cNvCxnSpPr>
              <p:nvPr/>
            </p:nvCxnSpPr>
            <p:spPr>
              <a:xfrm>
                <a:off x="4983652" y="5490311"/>
                <a:ext cx="2556147" cy="0"/>
              </a:xfrm>
              <a:prstGeom prst="straightConnector1">
                <a:avLst/>
              </a:prstGeom>
              <a:ln w="1524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8BC2C853-5FA8-5F42-B380-E6984943146A}"/>
                  </a:ext>
                </a:extLst>
              </p:cNvPr>
              <p:cNvPicPr>
                <a:picLocks noChangeAspect="1"/>
              </p:cNvPicPr>
              <p:nvPr/>
            </p:nvPicPr>
            <p:blipFill>
              <a:blip r:embed="rId7"/>
              <a:stretch>
                <a:fillRect/>
              </a:stretch>
            </p:blipFill>
            <p:spPr>
              <a:xfrm>
                <a:off x="5736000" y="5130311"/>
                <a:ext cx="720000" cy="720000"/>
              </a:xfrm>
              <a:prstGeom prst="rect">
                <a:avLst/>
              </a:prstGeom>
            </p:spPr>
          </p:pic>
          <p:pic>
            <p:nvPicPr>
              <p:cNvPr id="25" name="Picture 24">
                <a:extLst>
                  <a:ext uri="{FF2B5EF4-FFF2-40B4-BE49-F238E27FC236}">
                    <a16:creationId xmlns:a16="http://schemas.microsoft.com/office/drawing/2014/main" id="{1A794D4C-3F2B-9144-BC89-D169F3BC0E5C}"/>
                  </a:ext>
                </a:extLst>
              </p:cNvPr>
              <p:cNvPicPr>
                <a:picLocks noChangeAspect="1"/>
              </p:cNvPicPr>
              <p:nvPr/>
            </p:nvPicPr>
            <p:blipFill>
              <a:blip r:embed="rId7"/>
              <a:stretch>
                <a:fillRect/>
              </a:stretch>
            </p:blipFill>
            <p:spPr>
              <a:xfrm>
                <a:off x="2256854" y="6053610"/>
                <a:ext cx="452854" cy="452854"/>
              </a:xfrm>
              <a:prstGeom prst="rect">
                <a:avLst/>
              </a:prstGeom>
            </p:spPr>
          </p:pic>
        </p:grpSp>
      </p:grpSp>
      <p:grpSp>
        <p:nvGrpSpPr>
          <p:cNvPr id="17" name="Group 16">
            <a:extLst>
              <a:ext uri="{FF2B5EF4-FFF2-40B4-BE49-F238E27FC236}">
                <a16:creationId xmlns:a16="http://schemas.microsoft.com/office/drawing/2014/main" id="{AB8D6A94-74E6-7343-879C-BE9CAE1B844E}"/>
              </a:ext>
            </a:extLst>
          </p:cNvPr>
          <p:cNvGrpSpPr/>
          <p:nvPr/>
        </p:nvGrpSpPr>
        <p:grpSpPr>
          <a:xfrm>
            <a:off x="7257143" y="401108"/>
            <a:ext cx="4383314" cy="1461119"/>
            <a:chOff x="5994400" y="609600"/>
            <a:chExt cx="4383314" cy="1461119"/>
          </a:xfrm>
        </p:grpSpPr>
        <p:sp>
          <p:nvSpPr>
            <p:cNvPr id="15" name="Rounded Rectangle 14">
              <a:extLst>
                <a:ext uri="{FF2B5EF4-FFF2-40B4-BE49-F238E27FC236}">
                  <a16:creationId xmlns:a16="http://schemas.microsoft.com/office/drawing/2014/main" id="{B27E6E23-9028-9840-822A-2727879BBA16}"/>
                </a:ext>
              </a:extLst>
            </p:cNvPr>
            <p:cNvSpPr/>
            <p:nvPr/>
          </p:nvSpPr>
          <p:spPr>
            <a:xfrm>
              <a:off x="5994400" y="609600"/>
              <a:ext cx="4383314" cy="146111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EAE5EBB6-3169-9D48-B30C-9261731A8DC1}"/>
                    </a:ext>
                  </a:extLst>
                </p:cNvPr>
                <p:cNvSpPr/>
                <p:nvPr/>
              </p:nvSpPr>
              <p:spPr>
                <a:xfrm>
                  <a:off x="8441770" y="952252"/>
                  <a:ext cx="171611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sr-Latn-RS" sz="2400" b="0" i="1" smtClean="0">
                                    <a:solidFill>
                                      <a:srgbClr val="002060"/>
                                    </a:solidFill>
                                    <a:latin typeface="Cambria Math" panose="02040503050406030204" pitchFamily="18" charset="0"/>
                                    <a:ea typeface="Cambria Math" panose="02040503050406030204" pitchFamily="18" charset="0"/>
                                  </a:rPr>
                                  <m:t>1</m:t>
                                </m:r>
                                <m:r>
                                  <a:rPr lang="en-US" sz="24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20" name="Rectangle 19">
                  <a:extLst>
                    <a:ext uri="{FF2B5EF4-FFF2-40B4-BE49-F238E27FC236}">
                      <a16:creationId xmlns:a16="http://schemas.microsoft.com/office/drawing/2014/main" id="{EAE5EBB6-3169-9D48-B30C-9261731A8DC1}"/>
                    </a:ext>
                  </a:extLst>
                </p:cNvPr>
                <p:cNvSpPr>
                  <a:spLocks noRot="1" noChangeAspect="1" noMove="1" noResize="1" noEditPoints="1" noAdjustHandles="1" noChangeArrowheads="1" noChangeShapeType="1" noTextEdit="1"/>
                </p:cNvSpPr>
                <p:nvPr/>
              </p:nvSpPr>
              <p:spPr>
                <a:xfrm>
                  <a:off x="8441770" y="952252"/>
                  <a:ext cx="1716111" cy="876202"/>
                </a:xfrm>
                <a:prstGeom prst="rect">
                  <a:avLst/>
                </a:prstGeom>
                <a:blipFill>
                  <a:blip r:embed="rId8"/>
                  <a:stretch>
                    <a:fillRect t="-70000" r="-18382" b="-5142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24766DD-FC97-1947-8971-091841ABD95C}"/>
                </a:ext>
              </a:extLst>
            </p:cNvPr>
            <p:cNvSpPr txBox="1"/>
            <p:nvPr/>
          </p:nvSpPr>
          <p:spPr>
            <a:xfrm>
              <a:off x="6096000" y="1079671"/>
              <a:ext cx="2197140" cy="461665"/>
            </a:xfrm>
            <a:prstGeom prst="rect">
              <a:avLst/>
            </a:prstGeom>
            <a:noFill/>
          </p:spPr>
          <p:txBody>
            <a:bodyPr wrap="none" rtlCol="0">
              <a:spAutoFit/>
            </a:bodyPr>
            <a:lstStyle/>
            <a:p>
              <a:r>
                <a:rPr lang="en-US" sz="2400" dirty="0">
                  <a:solidFill>
                    <a:srgbClr val="002060"/>
                  </a:solidFill>
                  <a:ea typeface="Cambria Math" panose="02040503050406030204" pitchFamily="18" charset="0"/>
                </a:rPr>
                <a:t>Entangled state:</a:t>
              </a:r>
              <a:endParaRPr lang="en-US" sz="24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8408CC1-7A9A-0E4E-91FA-D64501C2FA3D}"/>
                  </a:ext>
                </a:extLst>
              </p:cNvPr>
              <p:cNvSpPr txBox="1"/>
              <p:nvPr/>
            </p:nvSpPr>
            <p:spPr>
              <a:xfrm>
                <a:off x="5689803" y="3943904"/>
                <a:ext cx="4459426" cy="396327"/>
              </a:xfrm>
              <a:prstGeom prst="rect">
                <a:avLst/>
              </a:prstGeom>
              <a:noFill/>
            </p:spPr>
            <p:txBody>
              <a:bodyPr wrap="none" rtlCol="0">
                <a:spAutoFit/>
              </a:bodyPr>
              <a:lstStyle/>
              <a:p>
                <a14:m>
                  <m:oMath xmlns:m="http://schemas.openxmlformats.org/officeDocument/2006/math">
                    <m:sSub>
                      <m:sSubPr>
                        <m:ctrlPr>
                          <a:rPr lang="en-US" i="1" smtClean="0">
                            <a:solidFill>
                              <a:schemeClr val="tx1"/>
                            </a:solidFill>
                            <a:latin typeface="Cambria Math" panose="02040503050406030204" pitchFamily="18" charset="0"/>
                            <a:ea typeface="Cambria Math" panose="02040503050406030204" pitchFamily="18" charset="0"/>
                          </a:rPr>
                        </m:ctrlPr>
                      </m:sSubPr>
                      <m:e>
                        <m:r>
                          <a:rPr lang="sr-Latn-R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𝑎</m:t>
                        </m:r>
                      </m:e>
                      <m:sub>
                        <m:r>
                          <a:rPr lang="en-US" i="1">
                            <a:solidFill>
                              <a:schemeClr val="tx1"/>
                            </a:solidFill>
                            <a:latin typeface="Cambria Math" panose="02040503050406030204" pitchFamily="18" charset="0"/>
                            <a:ea typeface="Cambria Math" panose="02040503050406030204" pitchFamily="18" charset="0"/>
                          </a:rPr>
                          <m:t>1</m:t>
                        </m:r>
                      </m:sub>
                    </m:sSub>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𝑎</m:t>
                        </m:r>
                      </m:e>
                      <m:sub>
                        <m:r>
                          <a:rPr lang="en-US" i="1">
                            <a:solidFill>
                              <a:schemeClr val="tx1"/>
                            </a:solidFill>
                            <a:latin typeface="Cambria Math" panose="02040503050406030204" pitchFamily="18" charset="0"/>
                            <a:ea typeface="Cambria Math" panose="02040503050406030204" pitchFamily="18" charset="0"/>
                          </a:rPr>
                          <m:t>2</m:t>
                        </m:r>
                      </m:sub>
                    </m:sSub>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𝑏</m:t>
                        </m:r>
                      </m:e>
                      <m:sub>
                        <m:r>
                          <a:rPr lang="en-US" i="1">
                            <a:solidFill>
                              <a:schemeClr val="tx1"/>
                            </a:solidFill>
                            <a:latin typeface="Cambria Math" panose="02040503050406030204" pitchFamily="18" charset="0"/>
                            <a:ea typeface="Cambria Math" panose="02040503050406030204" pitchFamily="18" charset="0"/>
                          </a:rPr>
                          <m:t>1</m:t>
                        </m:r>
                      </m:sub>
                    </m:sSub>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𝑏</m:t>
                        </m:r>
                      </m:e>
                      <m:sub>
                        <m:r>
                          <a:rPr lang="en-US" i="1">
                            <a:solidFill>
                              <a:schemeClr val="tx1"/>
                            </a:solidFill>
                            <a:latin typeface="Cambria Math" panose="02040503050406030204" pitchFamily="18" charset="0"/>
                            <a:ea typeface="Cambria Math" panose="02040503050406030204" pitchFamily="18" charset="0"/>
                          </a:rPr>
                          <m:t>2</m:t>
                        </m:r>
                      </m:sub>
                    </m:sSub>
                    <m:r>
                      <a:rPr lang="en-US" i="1">
                        <a:solidFill>
                          <a:schemeClr val="tx1"/>
                        </a:solidFill>
                        <a:latin typeface="Cambria Math" panose="02040503050406030204" pitchFamily="18" charset="0"/>
                        <a:ea typeface="Cambria Math" panose="02040503050406030204" pitchFamily="18" charset="0"/>
                      </a:rPr>
                      <m:t>=1/</m:t>
                    </m:r>
                    <m:rad>
                      <m:radPr>
                        <m:degHide m:val="on"/>
                        <m:ctrlPr>
                          <a:rPr lang="en-US" i="1">
                            <a:solidFill>
                              <a:schemeClr val="tx1"/>
                            </a:solidFill>
                            <a:latin typeface="Cambria Math" panose="02040503050406030204" pitchFamily="18" charset="0"/>
                            <a:ea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2</m:t>
                        </m:r>
                      </m:e>
                    </m:rad>
                  </m:oMath>
                </a14:m>
                <a:r>
                  <a:rPr lang="en-US" dirty="0">
                    <a:solidFill>
                      <a:schemeClr val="tx1"/>
                    </a:solidFill>
                  </a:rPr>
                  <a:t> </a:t>
                </a:r>
                <a:r>
                  <a:rPr lang="en-US" dirty="0"/>
                  <a:t>and </a:t>
                </a:r>
                <a14:m>
                  <m:oMath xmlns:m="http://schemas.openxmlformats.org/officeDocument/2006/math">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𝑎</m:t>
                        </m:r>
                      </m:e>
                      <m:sub>
                        <m:r>
                          <a:rPr lang="en-US" i="1">
                            <a:solidFill>
                              <a:srgbClr val="002060"/>
                            </a:solidFill>
                            <a:latin typeface="Cambria Math" panose="02040503050406030204" pitchFamily="18" charset="0"/>
                            <a:ea typeface="Cambria Math" panose="02040503050406030204" pitchFamily="18" charset="0"/>
                          </a:rPr>
                          <m:t>1</m:t>
                        </m:r>
                      </m:sub>
                    </m:sSub>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𝑏</m:t>
                        </m:r>
                      </m:e>
                      <m:sub>
                        <m:r>
                          <a:rPr lang="en-US" i="1">
                            <a:solidFill>
                              <a:srgbClr val="002060"/>
                            </a:solidFill>
                            <a:latin typeface="Cambria Math" panose="02040503050406030204" pitchFamily="18" charset="0"/>
                            <a:ea typeface="Cambria Math" panose="02040503050406030204" pitchFamily="18" charset="0"/>
                          </a:rPr>
                          <m:t>2</m:t>
                        </m:r>
                      </m:sub>
                    </m:sSub>
                    <m:r>
                      <a:rPr lang="en-US" i="1">
                        <a:solidFill>
                          <a:srgbClr val="002060"/>
                        </a:solidFill>
                        <a:latin typeface="Cambria Math" panose="02040503050406030204" pitchFamily="18" charset="0"/>
                        <a:ea typeface="Cambria Math" panose="02040503050406030204" pitchFamily="18" charset="0"/>
                      </a:rPr>
                      <m:t>=</m:t>
                    </m:r>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𝑏</m:t>
                        </m:r>
                      </m:e>
                      <m:sub>
                        <m:r>
                          <a:rPr lang="en-US" i="1">
                            <a:solidFill>
                              <a:srgbClr val="002060"/>
                            </a:solidFill>
                            <a:latin typeface="Cambria Math" panose="02040503050406030204" pitchFamily="18" charset="0"/>
                            <a:ea typeface="Cambria Math" panose="02040503050406030204" pitchFamily="18" charset="0"/>
                          </a:rPr>
                          <m:t>1</m:t>
                        </m:r>
                      </m:sub>
                    </m:sSub>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𝑎</m:t>
                        </m:r>
                      </m:e>
                      <m:sub>
                        <m:r>
                          <a:rPr lang="en-US" i="1">
                            <a:solidFill>
                              <a:srgbClr val="002060"/>
                            </a:solidFill>
                            <a:latin typeface="Cambria Math" panose="02040503050406030204" pitchFamily="18" charset="0"/>
                            <a:ea typeface="Cambria Math" panose="02040503050406030204" pitchFamily="18" charset="0"/>
                          </a:rPr>
                          <m:t>2</m:t>
                        </m:r>
                      </m:sub>
                    </m:sSub>
                    <m:r>
                      <a:rPr lang="en-US" i="1">
                        <a:solidFill>
                          <a:srgbClr val="002060"/>
                        </a:solidFill>
                        <a:latin typeface="Cambria Math" panose="02040503050406030204" pitchFamily="18" charset="0"/>
                        <a:ea typeface="Cambria Math" panose="02040503050406030204" pitchFamily="18" charset="0"/>
                      </a:rPr>
                      <m:t>=0</m:t>
                    </m:r>
                  </m:oMath>
                </a14:m>
                <a:endParaRPr lang="en-US" dirty="0"/>
              </a:p>
            </p:txBody>
          </p:sp>
        </mc:Choice>
        <mc:Fallback xmlns="">
          <p:sp>
            <p:nvSpPr>
              <p:cNvPr id="9" name="TextBox 8">
                <a:extLst>
                  <a:ext uri="{FF2B5EF4-FFF2-40B4-BE49-F238E27FC236}">
                    <a16:creationId xmlns:a16="http://schemas.microsoft.com/office/drawing/2014/main" id="{18408CC1-7A9A-0E4E-91FA-D64501C2FA3D}"/>
                  </a:ext>
                </a:extLst>
              </p:cNvPr>
              <p:cNvSpPr txBox="1">
                <a:spLocks noRot="1" noChangeAspect="1" noMove="1" noResize="1" noEditPoints="1" noAdjustHandles="1" noChangeArrowheads="1" noChangeShapeType="1" noTextEdit="1"/>
              </p:cNvSpPr>
              <p:nvPr/>
            </p:nvSpPr>
            <p:spPr>
              <a:xfrm>
                <a:off x="5689803" y="3943904"/>
                <a:ext cx="4459426" cy="396327"/>
              </a:xfrm>
              <a:prstGeom prst="rect">
                <a:avLst/>
              </a:prstGeom>
              <a:blipFill>
                <a:blip r:embed="rId9"/>
                <a:stretch>
                  <a:fillRect l="-568" b="-21875"/>
                </a:stretch>
              </a:blipFill>
            </p:spPr>
            <p:txBody>
              <a:bodyPr/>
              <a:lstStyle/>
              <a:p>
                <a:r>
                  <a:rPr lang="en-US">
                    <a:noFill/>
                  </a:rPr>
                  <a:t> </a:t>
                </a:r>
              </a:p>
            </p:txBody>
          </p:sp>
        </mc:Fallback>
      </mc:AlternateContent>
    </p:spTree>
    <p:extLst>
      <p:ext uri="{BB962C8B-B14F-4D97-AF65-F5344CB8AC3E}">
        <p14:creationId xmlns:p14="http://schemas.microsoft.com/office/powerpoint/2010/main" val="122724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77EEC0-A1F2-A34F-98AF-4D8238B68070}"/>
              </a:ext>
            </a:extLst>
          </p:cNvPr>
          <p:cNvSpPr>
            <a:spLocks noGrp="1"/>
          </p:cNvSpPr>
          <p:nvPr>
            <p:ph type="sldNum" sz="quarter" idx="12"/>
          </p:nvPr>
        </p:nvSpPr>
        <p:spPr/>
        <p:txBody>
          <a:bodyPr/>
          <a:lstStyle/>
          <a:p>
            <a:fld id="{591A223C-FA10-BC46-A853-03BA373D023C}" type="slidenum">
              <a:rPr lang="en-US" smtClean="0"/>
              <a:t>14</a:t>
            </a:fld>
            <a:endParaRPr lang="en-US"/>
          </a:p>
        </p:txBody>
      </p:sp>
      <p:sp>
        <p:nvSpPr>
          <p:cNvPr id="2" name="Title 1">
            <a:extLst>
              <a:ext uri="{FF2B5EF4-FFF2-40B4-BE49-F238E27FC236}">
                <a16:creationId xmlns:a16="http://schemas.microsoft.com/office/drawing/2014/main" id="{01774232-9F74-BE47-A2C6-04012F2572A6}"/>
              </a:ext>
            </a:extLst>
          </p:cNvPr>
          <p:cNvSpPr>
            <a:spLocks noGrp="1"/>
          </p:cNvSpPr>
          <p:nvPr>
            <p:ph type="title"/>
          </p:nvPr>
        </p:nvSpPr>
        <p:spPr/>
        <p:txBody>
          <a:bodyPr/>
          <a:lstStyle/>
          <a:p>
            <a:r>
              <a:rPr lang="en-ZA"/>
              <a:t>Bell-State Measurement Correlations</a:t>
            </a: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7454801-762B-9A4C-9D0A-D372AAB556C1}"/>
                  </a:ext>
                </a:extLst>
              </p:cNvPr>
              <p:cNvSpPr/>
              <p:nvPr/>
            </p:nvSpPr>
            <p:spPr>
              <a:xfrm>
                <a:off x="536442" y="1204800"/>
                <a:ext cx="4428841"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smtClean="0">
                                  <a:solidFill>
                                    <a:srgbClr val="002060"/>
                                  </a:solidFill>
                                  <a:latin typeface="Cambria Math" panose="02040503050406030204" pitchFamily="18" charset="0"/>
                                  <a:ea typeface="Cambria Math" panose="02040503050406030204" pitchFamily="18" charset="0"/>
                                </a:rPr>
                              </m:ctrlPr>
                            </m:sSupPr>
                            <m:e>
                              <m:r>
                                <m:rPr>
                                  <m:sty m:val="p"/>
                                </m:rPr>
                                <a:rPr lang="el-GR" sz="2800" i="1">
                                  <a:solidFill>
                                    <a:srgbClr val="002060"/>
                                  </a:solidFill>
                                  <a:latin typeface="Cambria Math" panose="02040503050406030204" pitchFamily="18" charset="0"/>
                                  <a:ea typeface="Cambria Math" panose="02040503050406030204" pitchFamily="18" charset="0"/>
                                </a:rPr>
                                <m:t>Φ</m:t>
                              </m:r>
                            </m:e>
                            <m:sup>
                              <m:r>
                                <a:rPr lang="sr-Latn-RS" sz="2800" b="0" i="1" smtClean="0">
                                  <a:solidFill>
                                    <a:srgbClr val="002060"/>
                                  </a:solidFill>
                                  <a:latin typeface="Cambria Math" panose="02040503050406030204" pitchFamily="18" charset="0"/>
                                  <a:ea typeface="Cambria Math" panose="02040503050406030204" pitchFamily="18" charset="0"/>
                                </a:rPr>
                                <m:t>+</m:t>
                              </m:r>
                            </m:sup>
                          </m:sSup>
                        </m:e>
                      </m:d>
                      <m:r>
                        <a:rPr lang="sr-Latn-R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smtClean="0">
                                  <a:solidFill>
                                    <a:srgbClr val="002060"/>
                                  </a:solidFill>
                                  <a:latin typeface="Cambria Math" panose="02040503050406030204" pitchFamily="18" charset="0"/>
                                  <a:ea typeface="Cambria Math" panose="02040503050406030204" pitchFamily="18" charset="0"/>
                                </a:rPr>
                              </m:ctrlPr>
                            </m:sSubPr>
                            <m:e>
                              <m:r>
                                <a:rPr lang="en-US" sz="2800" b="0" i="1" smtClean="0">
                                  <a:solidFill>
                                    <a:srgbClr val="002060"/>
                                  </a:solidFill>
                                  <a:latin typeface="Cambria Math" panose="02040503050406030204" pitchFamily="18" charset="0"/>
                                  <a:ea typeface="Cambria Math" panose="02040503050406030204" pitchFamily="18" charset="0"/>
                                </a:rPr>
                                <m:t>𝐵</m:t>
                              </m:r>
                            </m:e>
                            <m:sub>
                              <m:r>
                                <a:rPr lang="en-US" sz="2800" b="0" i="1" smtClean="0">
                                  <a:solidFill>
                                    <a:srgbClr val="002060"/>
                                  </a:solidFill>
                                  <a:latin typeface="Cambria Math" panose="02040503050406030204" pitchFamily="18" charset="0"/>
                                  <a:ea typeface="Cambria Math" panose="02040503050406030204" pitchFamily="18" charset="0"/>
                                </a:rPr>
                                <m:t>00</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0</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4" name="Rectangle 3">
                <a:extLst>
                  <a:ext uri="{FF2B5EF4-FFF2-40B4-BE49-F238E27FC236}">
                    <a16:creationId xmlns:a16="http://schemas.microsoft.com/office/drawing/2014/main" id="{F7454801-762B-9A4C-9D0A-D372AAB556C1}"/>
                  </a:ext>
                </a:extLst>
              </p:cNvPr>
              <p:cNvSpPr>
                <a:spLocks noRot="1" noChangeAspect="1" noMove="1" noResize="1" noEditPoints="1" noAdjustHandles="1" noChangeArrowheads="1" noChangeShapeType="1" noTextEdit="1"/>
              </p:cNvSpPr>
              <p:nvPr/>
            </p:nvSpPr>
            <p:spPr>
              <a:xfrm>
                <a:off x="536442" y="1204800"/>
                <a:ext cx="4428841" cy="1006814"/>
              </a:xfrm>
              <a:prstGeom prst="rect">
                <a:avLst/>
              </a:prstGeom>
              <a:blipFill>
                <a:blip r:embed="rId3"/>
                <a:stretch>
                  <a:fillRect l="-286" t="-72500" r="-8286" b="-82500"/>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D2FA3FA-AC05-FD42-BBF2-A3793D443261}"/>
              </a:ext>
            </a:extLst>
          </p:cNvPr>
          <p:cNvGrpSpPr>
            <a:grpSpLocks noChangeAspect="1"/>
          </p:cNvGrpSpPr>
          <p:nvPr/>
        </p:nvGrpSpPr>
        <p:grpSpPr>
          <a:xfrm>
            <a:off x="5380022" y="1250472"/>
            <a:ext cx="823310" cy="895414"/>
            <a:chOff x="8902649" y="1353231"/>
            <a:chExt cx="720000" cy="807700"/>
          </a:xfrm>
        </p:grpSpPr>
        <p:sp>
          <p:nvSpPr>
            <p:cNvPr id="6" name="Rectangle 5">
              <a:extLst>
                <a:ext uri="{FF2B5EF4-FFF2-40B4-BE49-F238E27FC236}">
                  <a16:creationId xmlns:a16="http://schemas.microsoft.com/office/drawing/2014/main" id="{E9863A01-3554-CA48-99F9-0FBFCE76DB39}"/>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7" name="Arc 6">
              <a:extLst>
                <a:ext uri="{FF2B5EF4-FFF2-40B4-BE49-F238E27FC236}">
                  <a16:creationId xmlns:a16="http://schemas.microsoft.com/office/drawing/2014/main" id="{1789E7A1-3F5F-DD4E-82C6-2811F9AE2B91}"/>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397EFC2-767C-3943-9B68-BFFC3B95D4AE}"/>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816663C8-FDF0-764C-AC9E-DF0B4FFE0C19}"/>
              </a:ext>
            </a:extLst>
          </p:cNvPr>
          <p:cNvSpPr txBox="1"/>
          <p:nvPr/>
        </p:nvSpPr>
        <p:spPr>
          <a:xfrm>
            <a:off x="7299717" y="1165425"/>
            <a:ext cx="550151" cy="954107"/>
          </a:xfrm>
          <a:prstGeom prst="rect">
            <a:avLst/>
          </a:prstGeom>
          <a:noFill/>
        </p:spPr>
        <p:txBody>
          <a:bodyPr wrap="none" rtlCol="0">
            <a:spAutoFit/>
          </a:bodyPr>
          <a:lstStyle/>
          <a:p>
            <a:r>
              <a:rPr lang="en-US" sz="2800" dirty="0"/>
              <a:t>00</a:t>
            </a:r>
          </a:p>
          <a:p>
            <a:r>
              <a:rPr lang="en-US" sz="2800" dirty="0"/>
              <a:t>11</a:t>
            </a:r>
          </a:p>
        </p:txBody>
      </p:sp>
      <p:sp>
        <p:nvSpPr>
          <p:cNvPr id="10" name="Left Brace 9">
            <a:extLst>
              <a:ext uri="{FF2B5EF4-FFF2-40B4-BE49-F238E27FC236}">
                <a16:creationId xmlns:a16="http://schemas.microsoft.com/office/drawing/2014/main" id="{E52BE690-9763-1B46-871A-7871E3E7EA7D}"/>
              </a:ext>
            </a:extLst>
          </p:cNvPr>
          <p:cNvSpPr/>
          <p:nvPr/>
        </p:nvSpPr>
        <p:spPr>
          <a:xfrm>
            <a:off x="6710814" y="1059022"/>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4" name="Group 33">
            <a:extLst>
              <a:ext uri="{FF2B5EF4-FFF2-40B4-BE49-F238E27FC236}">
                <a16:creationId xmlns:a16="http://schemas.microsoft.com/office/drawing/2014/main" id="{A57655BA-23DA-2146-8305-C288CDF4CBCB}"/>
              </a:ext>
            </a:extLst>
          </p:cNvPr>
          <p:cNvGrpSpPr/>
          <p:nvPr/>
        </p:nvGrpSpPr>
        <p:grpSpPr>
          <a:xfrm>
            <a:off x="536442" y="2575336"/>
            <a:ext cx="7313426" cy="1181090"/>
            <a:chOff x="536442" y="2575336"/>
            <a:chExt cx="7313426" cy="1181090"/>
          </a:xfrm>
        </p:grpSpPr>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A7457D6-28FC-764D-9A04-892896A2F19D}"/>
                    </a:ext>
                  </a:extLst>
                </p:cNvPr>
                <p:cNvSpPr/>
                <p:nvPr/>
              </p:nvSpPr>
              <p:spPr>
                <a:xfrm>
                  <a:off x="536442" y="2694875"/>
                  <a:ext cx="4420569"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r>
                                      <m:rPr>
                                        <m:sty m:val="p"/>
                                      </m:rPr>
                                      <a:rPr lang="el-GR" sz="2800" i="1">
                                        <a:solidFill>
                                          <a:srgbClr val="002060"/>
                                        </a:solidFill>
                                        <a:latin typeface="Cambria Math" panose="02040503050406030204" pitchFamily="18" charset="0"/>
                                        <a:ea typeface="Cambria Math" panose="02040503050406030204" pitchFamily="18" charset="0"/>
                                      </a:rPr>
                                      <m:t>Φ</m:t>
                                    </m:r>
                                  </m:e>
                                  <m:sup>
                                    <m:r>
                                      <a:rPr lang="sr-Latn-RS" sz="2800" b="0" i="1" smtClean="0">
                                        <a:solidFill>
                                          <a:srgbClr val="002060"/>
                                        </a:solidFill>
                                        <a:latin typeface="Cambria Math" panose="02040503050406030204" pitchFamily="18" charset="0"/>
                                        <a:ea typeface="Cambria Math" panose="02040503050406030204" pitchFamily="18" charset="0"/>
                                      </a:rPr>
                                      <m:t>−</m:t>
                                    </m:r>
                                  </m:sup>
                                </m:sSup>
                              </m:e>
                            </m:d>
                            <m:r>
                              <a:rPr lang="sr-Latn-R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𝐵</m:t>
                                </m:r>
                              </m:e>
                              <m:sub>
                                <m:r>
                                  <a:rPr lang="sr-Latn-RS" sz="2800" b="0" i="1" smtClean="0">
                                    <a:solidFill>
                                      <a:srgbClr val="002060"/>
                                    </a:solidFill>
                                    <a:latin typeface="Cambria Math" panose="02040503050406030204" pitchFamily="18" charset="0"/>
                                    <a:ea typeface="Cambria Math" panose="02040503050406030204" pitchFamily="18" charset="0"/>
                                  </a:rPr>
                                  <m:t>10</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0</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11" name="Rectangle 10">
                  <a:extLst>
                    <a:ext uri="{FF2B5EF4-FFF2-40B4-BE49-F238E27FC236}">
                      <a16:creationId xmlns:a16="http://schemas.microsoft.com/office/drawing/2014/main" id="{EA7457D6-28FC-764D-9A04-892896A2F19D}"/>
                    </a:ext>
                  </a:extLst>
                </p:cNvPr>
                <p:cNvSpPr>
                  <a:spLocks noRot="1" noChangeAspect="1" noMove="1" noResize="1" noEditPoints="1" noAdjustHandles="1" noChangeArrowheads="1" noChangeShapeType="1" noTextEdit="1"/>
                </p:cNvSpPr>
                <p:nvPr/>
              </p:nvSpPr>
              <p:spPr>
                <a:xfrm>
                  <a:off x="536442" y="2694875"/>
                  <a:ext cx="4420569" cy="1006814"/>
                </a:xfrm>
                <a:prstGeom prst="rect">
                  <a:avLst/>
                </a:prstGeom>
                <a:blipFill>
                  <a:blip r:embed="rId4"/>
                  <a:stretch>
                    <a:fillRect t="-75000" r="-8596" b="-123750"/>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B2FC3EEB-5710-0E4E-B7C6-42D8117093E4}"/>
                </a:ext>
              </a:extLst>
            </p:cNvPr>
            <p:cNvGrpSpPr>
              <a:grpSpLocks noChangeAspect="1"/>
            </p:cNvGrpSpPr>
            <p:nvPr/>
          </p:nvGrpSpPr>
          <p:grpSpPr>
            <a:xfrm>
              <a:off x="5380022" y="2766786"/>
              <a:ext cx="823310" cy="895414"/>
              <a:chOff x="8902649" y="1353231"/>
              <a:chExt cx="720000" cy="807700"/>
            </a:xfrm>
          </p:grpSpPr>
          <p:sp>
            <p:nvSpPr>
              <p:cNvPr id="15" name="Rectangle 14">
                <a:extLst>
                  <a:ext uri="{FF2B5EF4-FFF2-40B4-BE49-F238E27FC236}">
                    <a16:creationId xmlns:a16="http://schemas.microsoft.com/office/drawing/2014/main" id="{58FB8991-F55F-1D48-A18D-9B605472B115}"/>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6" name="Arc 15">
                <a:extLst>
                  <a:ext uri="{FF2B5EF4-FFF2-40B4-BE49-F238E27FC236}">
                    <a16:creationId xmlns:a16="http://schemas.microsoft.com/office/drawing/2014/main" id="{2EB46259-570F-F149-8CCF-E088BA93AF35}"/>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7C609AC2-A81F-0D48-A101-3242263F25EE}"/>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9F1C4D4C-BA11-2842-B86E-7BB8A3DC5019}"/>
                </a:ext>
              </a:extLst>
            </p:cNvPr>
            <p:cNvSpPr txBox="1"/>
            <p:nvPr/>
          </p:nvSpPr>
          <p:spPr>
            <a:xfrm>
              <a:off x="7299717" y="2681739"/>
              <a:ext cx="550151" cy="954107"/>
            </a:xfrm>
            <a:prstGeom prst="rect">
              <a:avLst/>
            </a:prstGeom>
            <a:noFill/>
          </p:spPr>
          <p:txBody>
            <a:bodyPr wrap="none" rtlCol="0">
              <a:spAutoFit/>
            </a:bodyPr>
            <a:lstStyle/>
            <a:p>
              <a:r>
                <a:rPr lang="en-US" sz="2800" dirty="0"/>
                <a:t>00</a:t>
              </a:r>
            </a:p>
            <a:p>
              <a:r>
                <a:rPr lang="en-US" sz="2800" dirty="0"/>
                <a:t>11</a:t>
              </a:r>
            </a:p>
          </p:txBody>
        </p:sp>
        <p:sp>
          <p:nvSpPr>
            <p:cNvPr id="19" name="Left Brace 18">
              <a:extLst>
                <a:ext uri="{FF2B5EF4-FFF2-40B4-BE49-F238E27FC236}">
                  <a16:creationId xmlns:a16="http://schemas.microsoft.com/office/drawing/2014/main" id="{B754F584-A0F6-A348-A99F-6B7E994EF4D8}"/>
                </a:ext>
              </a:extLst>
            </p:cNvPr>
            <p:cNvSpPr/>
            <p:nvPr/>
          </p:nvSpPr>
          <p:spPr>
            <a:xfrm>
              <a:off x="6710814" y="2575336"/>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C9F7F230-F3BE-D34A-A122-667520241797}"/>
              </a:ext>
            </a:extLst>
          </p:cNvPr>
          <p:cNvGrpSpPr/>
          <p:nvPr/>
        </p:nvGrpSpPr>
        <p:grpSpPr>
          <a:xfrm>
            <a:off x="544637" y="3989711"/>
            <a:ext cx="7305231" cy="1202053"/>
            <a:chOff x="544637" y="3989711"/>
            <a:chExt cx="7305231" cy="1202053"/>
          </a:xfrm>
        </p:grpSpPr>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B29F49A-756C-EA49-860E-60E4D38CD0D0}"/>
                    </a:ext>
                  </a:extLst>
                </p:cNvPr>
                <p:cNvSpPr/>
                <p:nvPr/>
              </p:nvSpPr>
              <p:spPr>
                <a:xfrm>
                  <a:off x="544637" y="4184950"/>
                  <a:ext cx="4431662"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r>
                                      <m:rPr>
                                        <m:sty m:val="p"/>
                                      </m:rPr>
                                      <a:rPr lang="el-GR" sz="2800" i="1" smtClean="0">
                                        <a:solidFill>
                                          <a:srgbClr val="002060"/>
                                        </a:solidFill>
                                        <a:latin typeface="Cambria Math" panose="02040503050406030204" pitchFamily="18" charset="0"/>
                                        <a:ea typeface="Cambria Math" panose="02040503050406030204" pitchFamily="18" charset="0"/>
                                      </a:rPr>
                                      <m:t>Ψ</m:t>
                                    </m:r>
                                  </m:e>
                                  <m:sup>
                                    <m:r>
                                      <a:rPr lang="sr-Latn-RS" sz="2800" b="0" i="1" smtClean="0">
                                        <a:solidFill>
                                          <a:srgbClr val="002060"/>
                                        </a:solidFill>
                                        <a:latin typeface="Cambria Math" panose="02040503050406030204" pitchFamily="18" charset="0"/>
                                        <a:ea typeface="Cambria Math" panose="02040503050406030204" pitchFamily="18" charset="0"/>
                                      </a:rPr>
                                      <m:t>+</m:t>
                                    </m:r>
                                  </m:sup>
                                </m:sSup>
                              </m:e>
                            </m:d>
                            <m:r>
                              <a:rPr lang="sr-Latn-R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𝐵</m:t>
                                </m:r>
                              </m:e>
                              <m:sub>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1</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1</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12" name="Rectangle 11">
                  <a:extLst>
                    <a:ext uri="{FF2B5EF4-FFF2-40B4-BE49-F238E27FC236}">
                      <a16:creationId xmlns:a16="http://schemas.microsoft.com/office/drawing/2014/main" id="{DB29F49A-756C-EA49-860E-60E4D38CD0D0}"/>
                    </a:ext>
                  </a:extLst>
                </p:cNvPr>
                <p:cNvSpPr>
                  <a:spLocks noRot="1" noChangeAspect="1" noMove="1" noResize="1" noEditPoints="1" noAdjustHandles="1" noChangeArrowheads="1" noChangeShapeType="1" noTextEdit="1"/>
                </p:cNvSpPr>
                <p:nvPr/>
              </p:nvSpPr>
              <p:spPr>
                <a:xfrm>
                  <a:off x="544637" y="4184950"/>
                  <a:ext cx="4431662" cy="1006814"/>
                </a:xfrm>
                <a:prstGeom prst="rect">
                  <a:avLst/>
                </a:prstGeom>
                <a:blipFill>
                  <a:blip r:embed="rId5"/>
                  <a:stretch>
                    <a:fillRect l="-286" t="-76250" r="-8286" b="-122500"/>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A798CBD1-1336-3B4D-BAE3-207841D3874A}"/>
                </a:ext>
              </a:extLst>
            </p:cNvPr>
            <p:cNvGrpSpPr>
              <a:grpSpLocks noChangeAspect="1"/>
            </p:cNvGrpSpPr>
            <p:nvPr/>
          </p:nvGrpSpPr>
          <p:grpSpPr>
            <a:xfrm>
              <a:off x="5380022" y="4181161"/>
              <a:ext cx="823310" cy="895414"/>
              <a:chOff x="8902649" y="1353231"/>
              <a:chExt cx="720000" cy="807700"/>
            </a:xfrm>
          </p:grpSpPr>
          <p:sp>
            <p:nvSpPr>
              <p:cNvPr id="21" name="Rectangle 20">
                <a:extLst>
                  <a:ext uri="{FF2B5EF4-FFF2-40B4-BE49-F238E27FC236}">
                    <a16:creationId xmlns:a16="http://schemas.microsoft.com/office/drawing/2014/main" id="{8A568683-5E16-A147-932B-05E4E8AB85B7}"/>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2" name="Arc 21">
                <a:extLst>
                  <a:ext uri="{FF2B5EF4-FFF2-40B4-BE49-F238E27FC236}">
                    <a16:creationId xmlns:a16="http://schemas.microsoft.com/office/drawing/2014/main" id="{8D0C85A6-4136-3440-A6CC-7A149E3E9234}"/>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15960C51-396D-E448-B5CD-AE2AD3386E20}"/>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FAB982CE-AD34-FD4D-8212-1E244A2E78CA}"/>
                </a:ext>
              </a:extLst>
            </p:cNvPr>
            <p:cNvSpPr txBox="1"/>
            <p:nvPr/>
          </p:nvSpPr>
          <p:spPr>
            <a:xfrm>
              <a:off x="7299717" y="4096114"/>
              <a:ext cx="550151" cy="954107"/>
            </a:xfrm>
            <a:prstGeom prst="rect">
              <a:avLst/>
            </a:prstGeom>
            <a:noFill/>
          </p:spPr>
          <p:txBody>
            <a:bodyPr wrap="none" rtlCol="0">
              <a:spAutoFit/>
            </a:bodyPr>
            <a:lstStyle/>
            <a:p>
              <a:r>
                <a:rPr lang="en-US" sz="2800" dirty="0"/>
                <a:t>01</a:t>
              </a:r>
            </a:p>
            <a:p>
              <a:r>
                <a:rPr lang="en-US" sz="2800" dirty="0"/>
                <a:t>10</a:t>
              </a:r>
            </a:p>
          </p:txBody>
        </p:sp>
        <p:sp>
          <p:nvSpPr>
            <p:cNvPr id="25" name="Left Brace 24">
              <a:extLst>
                <a:ext uri="{FF2B5EF4-FFF2-40B4-BE49-F238E27FC236}">
                  <a16:creationId xmlns:a16="http://schemas.microsoft.com/office/drawing/2014/main" id="{8B4B6176-17EA-B342-B9E9-E8EED06C3A3A}"/>
                </a:ext>
              </a:extLst>
            </p:cNvPr>
            <p:cNvSpPr/>
            <p:nvPr/>
          </p:nvSpPr>
          <p:spPr>
            <a:xfrm>
              <a:off x="6710814" y="3989711"/>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6CE2D372-FA63-2B49-AEFA-3F4374B27A52}"/>
              </a:ext>
            </a:extLst>
          </p:cNvPr>
          <p:cNvGrpSpPr/>
          <p:nvPr/>
        </p:nvGrpSpPr>
        <p:grpSpPr>
          <a:xfrm>
            <a:off x="544637" y="5537853"/>
            <a:ext cx="7305231" cy="1181090"/>
            <a:chOff x="544637" y="5537853"/>
            <a:chExt cx="7305231" cy="1181090"/>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175DB53-9635-2641-A4AF-E222247E8D99}"/>
                    </a:ext>
                  </a:extLst>
                </p:cNvPr>
                <p:cNvSpPr/>
                <p:nvPr/>
              </p:nvSpPr>
              <p:spPr>
                <a:xfrm>
                  <a:off x="544637" y="5675024"/>
                  <a:ext cx="4423390"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r>
                                      <m:rPr>
                                        <m:sty m:val="p"/>
                                      </m:rPr>
                                      <a:rPr lang="el-GR" sz="2800" i="1">
                                        <a:solidFill>
                                          <a:srgbClr val="002060"/>
                                        </a:solidFill>
                                        <a:latin typeface="Cambria Math" panose="02040503050406030204" pitchFamily="18" charset="0"/>
                                        <a:ea typeface="Cambria Math" panose="02040503050406030204" pitchFamily="18" charset="0"/>
                                      </a:rPr>
                                      <m:t>Ψ</m:t>
                                    </m:r>
                                  </m:e>
                                  <m:sup>
                                    <m:r>
                                      <a:rPr lang="sr-Latn-RS" sz="2800" i="1">
                                        <a:solidFill>
                                          <a:srgbClr val="002060"/>
                                        </a:solidFill>
                                        <a:latin typeface="Cambria Math" panose="02040503050406030204" pitchFamily="18" charset="0"/>
                                        <a:ea typeface="Cambria Math" panose="02040503050406030204" pitchFamily="18" charset="0"/>
                                      </a:rPr>
                                      <m:t>−</m:t>
                                    </m:r>
                                  </m:sup>
                                </m:sSup>
                              </m:e>
                            </m:d>
                            <m:r>
                              <a:rPr lang="sr-Latn-R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𝐵</m:t>
                                </m:r>
                              </m:e>
                              <m:sub>
                                <m:r>
                                  <a:rPr lang="en-US" sz="2800" b="0" i="1" smtClean="0">
                                    <a:solidFill>
                                      <a:srgbClr val="002060"/>
                                    </a:solidFill>
                                    <a:latin typeface="Cambria Math" panose="02040503050406030204" pitchFamily="18" charset="0"/>
                                    <a:ea typeface="Cambria Math" panose="02040503050406030204" pitchFamily="18" charset="0"/>
                                  </a:rPr>
                                  <m:t>11</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1</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13" name="Rectangle 12">
                  <a:extLst>
                    <a:ext uri="{FF2B5EF4-FFF2-40B4-BE49-F238E27FC236}">
                      <a16:creationId xmlns:a16="http://schemas.microsoft.com/office/drawing/2014/main" id="{C175DB53-9635-2641-A4AF-E222247E8D99}"/>
                    </a:ext>
                  </a:extLst>
                </p:cNvPr>
                <p:cNvSpPr>
                  <a:spLocks noRot="1" noChangeAspect="1" noMove="1" noResize="1" noEditPoints="1" noAdjustHandles="1" noChangeArrowheads="1" noChangeShapeType="1" noTextEdit="1"/>
                </p:cNvSpPr>
                <p:nvPr/>
              </p:nvSpPr>
              <p:spPr>
                <a:xfrm>
                  <a:off x="544637" y="5675024"/>
                  <a:ext cx="4423390" cy="1006814"/>
                </a:xfrm>
                <a:prstGeom prst="rect">
                  <a:avLst/>
                </a:prstGeom>
                <a:blipFill>
                  <a:blip r:embed="rId6"/>
                  <a:stretch>
                    <a:fillRect l="-287" t="-75000" r="-8596" b="-122500"/>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87155CB4-D996-5849-8119-DFE35162BBDB}"/>
                </a:ext>
              </a:extLst>
            </p:cNvPr>
            <p:cNvGrpSpPr>
              <a:grpSpLocks noChangeAspect="1"/>
            </p:cNvGrpSpPr>
            <p:nvPr/>
          </p:nvGrpSpPr>
          <p:grpSpPr>
            <a:xfrm>
              <a:off x="5380022" y="5729303"/>
              <a:ext cx="823310" cy="895414"/>
              <a:chOff x="8902649" y="1353231"/>
              <a:chExt cx="720000" cy="807700"/>
            </a:xfrm>
          </p:grpSpPr>
          <p:sp>
            <p:nvSpPr>
              <p:cNvPr id="27" name="Rectangle 26">
                <a:extLst>
                  <a:ext uri="{FF2B5EF4-FFF2-40B4-BE49-F238E27FC236}">
                    <a16:creationId xmlns:a16="http://schemas.microsoft.com/office/drawing/2014/main" id="{7F98C0E0-EC74-2149-A097-70E55132137D}"/>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8" name="Arc 27">
                <a:extLst>
                  <a:ext uri="{FF2B5EF4-FFF2-40B4-BE49-F238E27FC236}">
                    <a16:creationId xmlns:a16="http://schemas.microsoft.com/office/drawing/2014/main" id="{10C9528B-0726-A146-B798-E96C1ED1E376}"/>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0F3789B-C95D-3046-BD0C-264BA0F99E5F}"/>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A5C145F3-1F7B-3342-877E-912666AD6985}"/>
                </a:ext>
              </a:extLst>
            </p:cNvPr>
            <p:cNvSpPr txBox="1"/>
            <p:nvPr/>
          </p:nvSpPr>
          <p:spPr>
            <a:xfrm>
              <a:off x="7299717" y="5644256"/>
              <a:ext cx="550151" cy="954107"/>
            </a:xfrm>
            <a:prstGeom prst="rect">
              <a:avLst/>
            </a:prstGeom>
            <a:noFill/>
          </p:spPr>
          <p:txBody>
            <a:bodyPr wrap="none" rtlCol="0">
              <a:spAutoFit/>
            </a:bodyPr>
            <a:lstStyle/>
            <a:p>
              <a:r>
                <a:rPr lang="en-US" sz="2800" dirty="0"/>
                <a:t>01</a:t>
              </a:r>
            </a:p>
            <a:p>
              <a:r>
                <a:rPr lang="en-US" sz="2800" dirty="0"/>
                <a:t>10</a:t>
              </a:r>
            </a:p>
          </p:txBody>
        </p:sp>
        <p:sp>
          <p:nvSpPr>
            <p:cNvPr id="31" name="Left Brace 30">
              <a:extLst>
                <a:ext uri="{FF2B5EF4-FFF2-40B4-BE49-F238E27FC236}">
                  <a16:creationId xmlns:a16="http://schemas.microsoft.com/office/drawing/2014/main" id="{F4B33B9D-91E8-6447-AB52-2919A7296C0F}"/>
                </a:ext>
              </a:extLst>
            </p:cNvPr>
            <p:cNvSpPr/>
            <p:nvPr/>
          </p:nvSpPr>
          <p:spPr>
            <a:xfrm>
              <a:off x="6710814" y="5537853"/>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81692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Straight Connector 68">
            <a:extLst>
              <a:ext uri="{FF2B5EF4-FFF2-40B4-BE49-F238E27FC236}">
                <a16:creationId xmlns:a16="http://schemas.microsoft.com/office/drawing/2014/main" id="{BFD98772-EBD1-0044-B761-51CBA8275A52}"/>
              </a:ext>
            </a:extLst>
          </p:cNvPr>
          <p:cNvCxnSpPr>
            <a:cxnSpLocks/>
          </p:cNvCxnSpPr>
          <p:nvPr/>
        </p:nvCxnSpPr>
        <p:spPr>
          <a:xfrm flipV="1">
            <a:off x="812310" y="3350451"/>
            <a:ext cx="9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C588EBF-A04A-BA4B-909E-6011B8F8F0DB}"/>
              </a:ext>
            </a:extLst>
          </p:cNvPr>
          <p:cNvCxnSpPr>
            <a:cxnSpLocks/>
          </p:cNvCxnSpPr>
          <p:nvPr/>
        </p:nvCxnSpPr>
        <p:spPr>
          <a:xfrm flipV="1">
            <a:off x="812309" y="2189400"/>
            <a:ext cx="9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0A1CFD2-E542-D440-A8C0-1FDD5CEEC179}"/>
              </a:ext>
            </a:extLst>
          </p:cNvPr>
          <p:cNvSpPr>
            <a:spLocks noGrp="1"/>
          </p:cNvSpPr>
          <p:nvPr>
            <p:ph type="sldNum" sz="quarter" idx="12"/>
          </p:nvPr>
        </p:nvSpPr>
        <p:spPr/>
        <p:txBody>
          <a:bodyPr/>
          <a:lstStyle/>
          <a:p>
            <a:fld id="{591A223C-FA10-BC46-A853-03BA373D023C}" type="slidenum">
              <a:rPr lang="en-US" smtClean="0"/>
              <a:t>15</a:t>
            </a:fld>
            <a:endParaRPr lang="en-US"/>
          </a:p>
        </p:txBody>
      </p:sp>
      <p:sp>
        <p:nvSpPr>
          <p:cNvPr id="2" name="Title 1">
            <a:extLst>
              <a:ext uri="{FF2B5EF4-FFF2-40B4-BE49-F238E27FC236}">
                <a16:creationId xmlns:a16="http://schemas.microsoft.com/office/drawing/2014/main" id="{EA27D0B6-B58E-9040-BE00-C1A9E5267A95}"/>
              </a:ext>
            </a:extLst>
          </p:cNvPr>
          <p:cNvSpPr>
            <a:spLocks noGrp="1"/>
          </p:cNvSpPr>
          <p:nvPr>
            <p:ph type="title"/>
          </p:nvPr>
        </p:nvSpPr>
        <p:spPr/>
        <p:txBody>
          <a:bodyPr/>
          <a:lstStyle/>
          <a:p>
            <a:r>
              <a:rPr lang="en-ZA" b="1" dirty="0"/>
              <a:t>Decoding Bell States</a:t>
            </a:r>
          </a:p>
        </p:txBody>
      </p:sp>
      <p:sp>
        <p:nvSpPr>
          <p:cNvPr id="71" name="Rectangle 70">
            <a:extLst>
              <a:ext uri="{FF2B5EF4-FFF2-40B4-BE49-F238E27FC236}">
                <a16:creationId xmlns:a16="http://schemas.microsoft.com/office/drawing/2014/main" id="{83505452-20AA-9241-8E43-8C5DECC2C924}"/>
              </a:ext>
            </a:extLst>
          </p:cNvPr>
          <p:cNvSpPr>
            <a:spLocks/>
          </p:cNvSpPr>
          <p:nvPr/>
        </p:nvSpPr>
        <p:spPr>
          <a:xfrm>
            <a:off x="1586767" y="184389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72" name="Straight Connector 71">
            <a:extLst>
              <a:ext uri="{FF2B5EF4-FFF2-40B4-BE49-F238E27FC236}">
                <a16:creationId xmlns:a16="http://schemas.microsoft.com/office/drawing/2014/main" id="{1C4CCE4D-B031-654B-A3CF-8DDF35003E1E}"/>
              </a:ext>
            </a:extLst>
          </p:cNvPr>
          <p:cNvCxnSpPr>
            <a:cxnSpLocks/>
            <a:stCxn id="78" idx="0"/>
          </p:cNvCxnSpPr>
          <p:nvPr/>
        </p:nvCxnSpPr>
        <p:spPr>
          <a:xfrm flipV="1">
            <a:off x="3243645" y="23052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A59FDC73-F9EF-F549-A8D6-ABEA509E67CA}"/>
              </a:ext>
            </a:extLst>
          </p:cNvPr>
          <p:cNvSpPr/>
          <p:nvPr/>
        </p:nvSpPr>
        <p:spPr>
          <a:xfrm>
            <a:off x="3119222" y="2064510"/>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A75AA068-92C5-8642-9E14-74CCB56CFB59}"/>
                  </a:ext>
                </a:extLst>
              </p:cNvPr>
              <p:cNvSpPr/>
              <p:nvPr/>
            </p:nvSpPr>
            <p:spPr>
              <a:xfrm>
                <a:off x="389389" y="17277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4" name="Rectangle 73">
                <a:extLst>
                  <a:ext uri="{FF2B5EF4-FFF2-40B4-BE49-F238E27FC236}">
                    <a16:creationId xmlns:a16="http://schemas.microsoft.com/office/drawing/2014/main" id="{A75AA068-92C5-8642-9E14-74CCB56CFB59}"/>
                  </a:ext>
                </a:extLst>
              </p:cNvPr>
              <p:cNvSpPr>
                <a:spLocks noRot="1" noChangeAspect="1" noMove="1" noResize="1" noEditPoints="1" noAdjustHandles="1" noChangeArrowheads="1" noChangeShapeType="1" noTextEdit="1"/>
              </p:cNvSpPr>
              <p:nvPr/>
            </p:nvSpPr>
            <p:spPr>
              <a:xfrm>
                <a:off x="389389" y="1727735"/>
                <a:ext cx="631903" cy="461665"/>
              </a:xfrm>
              <a:prstGeom prst="rect">
                <a:avLst/>
              </a:prstGeom>
              <a:blipFill>
                <a:blip r:embed="rId4"/>
                <a:stretch>
                  <a:fillRect l="-26000" t="-124324" r="-52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F0D6FB4-54AC-B248-89E0-B2B03C199708}"/>
                  </a:ext>
                </a:extLst>
              </p:cNvPr>
              <p:cNvSpPr/>
              <p:nvPr/>
            </p:nvSpPr>
            <p:spPr>
              <a:xfrm>
                <a:off x="389389" y="29330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5" name="Rectangle 74">
                <a:extLst>
                  <a:ext uri="{FF2B5EF4-FFF2-40B4-BE49-F238E27FC236}">
                    <a16:creationId xmlns:a16="http://schemas.microsoft.com/office/drawing/2014/main" id="{7F0D6FB4-54AC-B248-89E0-B2B03C199708}"/>
                  </a:ext>
                </a:extLst>
              </p:cNvPr>
              <p:cNvSpPr>
                <a:spLocks noRot="1" noChangeAspect="1" noMove="1" noResize="1" noEditPoints="1" noAdjustHandles="1" noChangeArrowheads="1" noChangeShapeType="1" noTextEdit="1"/>
              </p:cNvSpPr>
              <p:nvPr/>
            </p:nvSpPr>
            <p:spPr>
              <a:xfrm>
                <a:off x="389389" y="2933090"/>
                <a:ext cx="631903" cy="461665"/>
              </a:xfrm>
              <a:prstGeom prst="rect">
                <a:avLst/>
              </a:prstGeom>
              <a:blipFill>
                <a:blip r:embed="rId4"/>
                <a:stretch>
                  <a:fillRect l="-26000" t="-124324" r="-52000" b="-191892"/>
                </a:stretch>
              </a:blipFill>
            </p:spPr>
            <p:txBody>
              <a:bodyPr/>
              <a:lstStyle/>
              <a:p>
                <a:r>
                  <a:rPr lang="en-US">
                    <a:noFill/>
                  </a:rPr>
                  <a:t> </a:t>
                </a:r>
              </a:p>
            </p:txBody>
          </p:sp>
        </mc:Fallback>
      </mc:AlternateContent>
      <p:sp>
        <p:nvSpPr>
          <p:cNvPr id="78" name="Oval 77">
            <a:extLst>
              <a:ext uri="{FF2B5EF4-FFF2-40B4-BE49-F238E27FC236}">
                <a16:creationId xmlns:a16="http://schemas.microsoft.com/office/drawing/2014/main" id="{F40678E3-14AD-1848-A73F-F089E6006849}"/>
              </a:ext>
            </a:extLst>
          </p:cNvPr>
          <p:cNvSpPr/>
          <p:nvPr/>
        </p:nvSpPr>
        <p:spPr>
          <a:xfrm>
            <a:off x="2973645" y="30804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BA937FB0-8967-B445-AF35-FBEEFB9F71BE}"/>
                  </a:ext>
                </a:extLst>
              </p:cNvPr>
              <p:cNvSpPr/>
              <p:nvPr/>
            </p:nvSpPr>
            <p:spPr>
              <a:xfrm>
                <a:off x="3449557" y="2618786"/>
                <a:ext cx="9228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oMath>
                  </m:oMathPara>
                </a14:m>
                <a:endParaRPr lang="en-US" sz="2400" dirty="0"/>
              </a:p>
            </p:txBody>
          </p:sp>
        </mc:Choice>
        <mc:Fallback xmlns="">
          <p:sp>
            <p:nvSpPr>
              <p:cNvPr id="57" name="Rectangle 56">
                <a:extLst>
                  <a:ext uri="{FF2B5EF4-FFF2-40B4-BE49-F238E27FC236}">
                    <a16:creationId xmlns:a16="http://schemas.microsoft.com/office/drawing/2014/main" id="{BA937FB0-8967-B445-AF35-FBEEFB9F71BE}"/>
                  </a:ext>
                </a:extLst>
              </p:cNvPr>
              <p:cNvSpPr>
                <a:spLocks noRot="1" noChangeAspect="1" noMove="1" noResize="1" noEditPoints="1" noAdjustHandles="1" noChangeArrowheads="1" noChangeShapeType="1" noTextEdit="1"/>
              </p:cNvSpPr>
              <p:nvPr/>
            </p:nvSpPr>
            <p:spPr>
              <a:xfrm>
                <a:off x="3449557" y="2618786"/>
                <a:ext cx="922880" cy="461665"/>
              </a:xfrm>
              <a:prstGeom prst="rect">
                <a:avLst/>
              </a:prstGeom>
              <a:blipFill>
                <a:blip r:embed="rId5"/>
                <a:stretch>
                  <a:fillRect l="-1370" t="-121053" r="-34247" b="-184211"/>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413975F8-2E5E-8847-ABAF-3E7056BF77C9}"/>
              </a:ext>
            </a:extLst>
          </p:cNvPr>
          <p:cNvGrpSpPr/>
          <p:nvPr/>
        </p:nvGrpSpPr>
        <p:grpSpPr>
          <a:xfrm>
            <a:off x="9366454" y="1830509"/>
            <a:ext cx="720000" cy="1885677"/>
            <a:chOff x="9366454" y="1830509"/>
            <a:chExt cx="720000" cy="1885677"/>
          </a:xfrm>
        </p:grpSpPr>
        <p:grpSp>
          <p:nvGrpSpPr>
            <p:cNvPr id="76" name="Group 75">
              <a:extLst>
                <a:ext uri="{FF2B5EF4-FFF2-40B4-BE49-F238E27FC236}">
                  <a16:creationId xmlns:a16="http://schemas.microsoft.com/office/drawing/2014/main" id="{86CB94CD-D8D4-A145-A720-EE7A5AA92F5D}"/>
                </a:ext>
              </a:extLst>
            </p:cNvPr>
            <p:cNvGrpSpPr/>
            <p:nvPr/>
          </p:nvGrpSpPr>
          <p:grpSpPr>
            <a:xfrm>
              <a:off x="9366454" y="1830509"/>
              <a:ext cx="720000" cy="720000"/>
              <a:chOff x="8665028" y="817674"/>
              <a:chExt cx="720000" cy="720000"/>
            </a:xfrm>
          </p:grpSpPr>
          <p:sp>
            <p:nvSpPr>
              <p:cNvPr id="77" name="Rectangle 76">
                <a:extLst>
                  <a:ext uri="{FF2B5EF4-FFF2-40B4-BE49-F238E27FC236}">
                    <a16:creationId xmlns:a16="http://schemas.microsoft.com/office/drawing/2014/main" id="{BB6970E5-3B2B-3646-8CF1-5DCF665ADB8E}"/>
                  </a:ext>
                </a:extLst>
              </p:cNvPr>
              <p:cNvSpPr/>
              <p:nvPr/>
            </p:nvSpPr>
            <p:spPr>
              <a:xfrm>
                <a:off x="8665028" y="817674"/>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79" name="Straight Connector 78">
                <a:extLst>
                  <a:ext uri="{FF2B5EF4-FFF2-40B4-BE49-F238E27FC236}">
                    <a16:creationId xmlns:a16="http://schemas.microsoft.com/office/drawing/2014/main" id="{80C2BFC6-6375-0A47-A6B6-ECEB65EBF829}"/>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80" name="Arc 79">
                <a:extLst>
                  <a:ext uri="{FF2B5EF4-FFF2-40B4-BE49-F238E27FC236}">
                    <a16:creationId xmlns:a16="http://schemas.microsoft.com/office/drawing/2014/main" id="{FBB31B86-BF84-2F49-8077-F09FED7906CE}"/>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98632D00-852A-024E-9F50-1E63C02D345B}"/>
                </a:ext>
              </a:extLst>
            </p:cNvPr>
            <p:cNvGrpSpPr/>
            <p:nvPr/>
          </p:nvGrpSpPr>
          <p:grpSpPr>
            <a:xfrm>
              <a:off x="9366454" y="2996186"/>
              <a:ext cx="720000" cy="720000"/>
              <a:chOff x="8665028" y="849762"/>
              <a:chExt cx="720000" cy="720000"/>
            </a:xfrm>
          </p:grpSpPr>
          <p:sp>
            <p:nvSpPr>
              <p:cNvPr id="82" name="Rectangle 81">
                <a:extLst>
                  <a:ext uri="{FF2B5EF4-FFF2-40B4-BE49-F238E27FC236}">
                    <a16:creationId xmlns:a16="http://schemas.microsoft.com/office/drawing/2014/main" id="{CCC69D69-121A-BE4D-BE00-D202A77FFD27}"/>
                  </a:ext>
                </a:extLst>
              </p:cNvPr>
              <p:cNvSpPr/>
              <p:nvPr/>
            </p:nvSpPr>
            <p:spPr>
              <a:xfrm>
                <a:off x="8665028" y="849762"/>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83" name="Straight Connector 82">
                <a:extLst>
                  <a:ext uri="{FF2B5EF4-FFF2-40B4-BE49-F238E27FC236}">
                    <a16:creationId xmlns:a16="http://schemas.microsoft.com/office/drawing/2014/main" id="{21BE02A7-9053-C84B-B08A-B0C5DB5507E6}"/>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84" name="Arc 83">
                <a:extLst>
                  <a:ext uri="{FF2B5EF4-FFF2-40B4-BE49-F238E27FC236}">
                    <a16:creationId xmlns:a16="http://schemas.microsoft.com/office/drawing/2014/main" id="{3B79B65F-62E3-6145-9618-58A12DC66C54}"/>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13EAEAC-F1BA-B54D-AA70-75349135446D}"/>
                  </a:ext>
                </a:extLst>
              </p:cNvPr>
              <p:cNvSpPr/>
              <p:nvPr/>
            </p:nvSpPr>
            <p:spPr>
              <a:xfrm>
                <a:off x="0" y="4760965"/>
                <a:ext cx="2567241"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sSub>
                            <m:sSubPr>
                              <m:ctrlPr>
                                <a:rPr lang="en-US" sz="2200" i="1" smtClean="0">
                                  <a:solidFill>
                                    <a:srgbClr val="002060"/>
                                  </a:solidFill>
                                  <a:latin typeface="Cambria Math" panose="02040503050406030204" pitchFamily="18" charset="0"/>
                                  <a:ea typeface="Cambria Math" panose="02040503050406030204" pitchFamily="18" charset="0"/>
                                </a:rPr>
                              </m:ctrlPr>
                            </m:sSubPr>
                            <m:e>
                              <m:r>
                                <a:rPr lang="en-US" sz="2200" b="0" i="1" smtClean="0">
                                  <a:solidFill>
                                    <a:srgbClr val="002060"/>
                                  </a:solidFill>
                                  <a:latin typeface="Cambria Math" panose="02040503050406030204" pitchFamily="18" charset="0"/>
                                  <a:ea typeface="Cambria Math" panose="02040503050406030204" pitchFamily="18" charset="0"/>
                                </a:rPr>
                                <m:t>𝐵</m:t>
                              </m:r>
                            </m:e>
                            <m:sub>
                              <m:r>
                                <a:rPr lang="en-US" sz="2200" b="0" i="1" smtClean="0">
                                  <a:solidFill>
                                    <a:srgbClr val="002060"/>
                                  </a:solidFill>
                                  <a:latin typeface="Cambria Math" panose="02040503050406030204" pitchFamily="18" charset="0"/>
                                  <a:ea typeface="Cambria Math" panose="02040503050406030204" pitchFamily="18" charset="0"/>
                                </a:rPr>
                                <m:t>00</m:t>
                              </m:r>
                            </m:sub>
                          </m:sSub>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r>
                                <a:rPr lang="en-US" sz="2200" b="0" i="1" smtClean="0">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16" name="Rectangle 15">
                <a:extLst>
                  <a:ext uri="{FF2B5EF4-FFF2-40B4-BE49-F238E27FC236}">
                    <a16:creationId xmlns:a16="http://schemas.microsoft.com/office/drawing/2014/main" id="{313EAEAC-F1BA-B54D-AA70-75349135446D}"/>
                  </a:ext>
                </a:extLst>
              </p:cNvPr>
              <p:cNvSpPr>
                <a:spLocks noRot="1" noChangeAspect="1" noMove="1" noResize="1" noEditPoints="1" noAdjustHandles="1" noChangeArrowheads="1" noChangeShapeType="1" noTextEdit="1"/>
              </p:cNvSpPr>
              <p:nvPr/>
            </p:nvSpPr>
            <p:spPr>
              <a:xfrm>
                <a:off x="0" y="4760965"/>
                <a:ext cx="2567241" cy="810991"/>
              </a:xfrm>
              <a:prstGeom prst="rect">
                <a:avLst/>
              </a:prstGeom>
              <a:blipFill>
                <a:blip r:embed="rId6"/>
                <a:stretch>
                  <a:fillRect t="-66154" r="-10396" b="-75385"/>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9A4DD391-69C0-954B-A47A-2EE7FE6B4815}"/>
              </a:ext>
            </a:extLst>
          </p:cNvPr>
          <p:cNvGrpSpPr/>
          <p:nvPr/>
        </p:nvGrpSpPr>
        <p:grpSpPr>
          <a:xfrm>
            <a:off x="2607906" y="1517515"/>
            <a:ext cx="7722868" cy="4054441"/>
            <a:chOff x="2607906" y="1517515"/>
            <a:chExt cx="7722868" cy="4054441"/>
          </a:xfrm>
        </p:grpSpPr>
        <p:cxnSp>
          <p:nvCxnSpPr>
            <p:cNvPr id="7" name="Straight Connector 6">
              <a:extLst>
                <a:ext uri="{FF2B5EF4-FFF2-40B4-BE49-F238E27FC236}">
                  <a16:creationId xmlns:a16="http://schemas.microsoft.com/office/drawing/2014/main" id="{3CB71F00-D12E-EF47-8213-018E7207B1E4}"/>
                </a:ext>
              </a:extLst>
            </p:cNvPr>
            <p:cNvCxnSpPr>
              <a:cxnSpLocks/>
            </p:cNvCxnSpPr>
            <p:nvPr/>
          </p:nvCxnSpPr>
          <p:spPr>
            <a:xfrm>
              <a:off x="4789189" y="1843897"/>
              <a:ext cx="0" cy="2144949"/>
            </a:xfrm>
            <a:prstGeom prst="line">
              <a:avLst/>
            </a:prstGeom>
            <a:ln w="76200" cap="rnd">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C3E20E-75B8-0749-A9B4-BEA171F5E0C7}"/>
                </a:ext>
              </a:extLst>
            </p:cNvPr>
            <p:cNvGrpSpPr/>
            <p:nvPr/>
          </p:nvGrpSpPr>
          <p:grpSpPr>
            <a:xfrm>
              <a:off x="6072583" y="2058160"/>
              <a:ext cx="540000" cy="1562291"/>
              <a:chOff x="6072583" y="2058160"/>
              <a:chExt cx="540000" cy="1562291"/>
            </a:xfrm>
          </p:grpSpPr>
          <p:cxnSp>
            <p:nvCxnSpPr>
              <p:cNvPr id="24" name="Straight Connector 23">
                <a:extLst>
                  <a:ext uri="{FF2B5EF4-FFF2-40B4-BE49-F238E27FC236}">
                    <a16:creationId xmlns:a16="http://schemas.microsoft.com/office/drawing/2014/main" id="{228E013D-FA66-2944-A61A-2507CBE3F5A2}"/>
                  </a:ext>
                </a:extLst>
              </p:cNvPr>
              <p:cNvCxnSpPr>
                <a:cxnSpLocks/>
                <a:stCxn id="62" idx="0"/>
              </p:cNvCxnSpPr>
              <p:nvPr/>
            </p:nvCxnSpPr>
            <p:spPr>
              <a:xfrm flipV="1">
                <a:off x="6342583" y="23052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54D7964-8CBE-B041-8FCE-CCA6EB654434}"/>
                  </a:ext>
                </a:extLst>
              </p:cNvPr>
              <p:cNvSpPr/>
              <p:nvPr/>
            </p:nvSpPr>
            <p:spPr>
              <a:xfrm>
                <a:off x="6224510" y="2058160"/>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4836161-F909-9E4A-9D91-638CB31C0CD7}"/>
                  </a:ext>
                </a:extLst>
              </p:cNvPr>
              <p:cNvSpPr/>
              <p:nvPr/>
            </p:nvSpPr>
            <p:spPr>
              <a:xfrm>
                <a:off x="6072583" y="30804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3BD2577-E790-0E42-8091-F442DE9A2520}"/>
                    </a:ext>
                  </a:extLst>
                </p:cNvPr>
                <p:cNvSpPr/>
                <p:nvPr/>
              </p:nvSpPr>
              <p:spPr>
                <a:xfrm>
                  <a:off x="6509492" y="2598846"/>
                  <a:ext cx="10165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r>
                                  <a:rPr lang="en-US" sz="2400" i="1">
                                    <a:solidFill>
                                      <a:srgbClr val="002060"/>
                                    </a:solidFill>
                                    <a:latin typeface="Cambria Math" panose="02040503050406030204" pitchFamily="18" charset="0"/>
                                    <a:ea typeface="Cambria Math" panose="02040503050406030204" pitchFamily="18" charset="0"/>
                                  </a:rPr>
                                  <m:t>′</m:t>
                                </m:r>
                              </m:e>
                              <m:sub>
                                <m:r>
                                  <a:rPr lang="en-US" sz="2400" i="1">
                                    <a:solidFill>
                                      <a:srgbClr val="002060"/>
                                    </a:solidFill>
                                    <a:latin typeface="Cambria Math" panose="02040503050406030204" pitchFamily="18" charset="0"/>
                                    <a:ea typeface="Cambria Math" panose="02040503050406030204" pitchFamily="18" charset="0"/>
                                  </a:rPr>
                                  <m:t>00</m:t>
                                </m:r>
                              </m:sub>
                            </m:sSub>
                          </m:e>
                        </m:d>
                      </m:oMath>
                    </m:oMathPara>
                  </a14:m>
                  <a:endParaRPr lang="en-US" sz="2400" dirty="0"/>
                </a:p>
              </p:txBody>
            </p:sp>
          </mc:Choice>
          <mc:Fallback xmlns="">
            <p:sp>
              <p:nvSpPr>
                <p:cNvPr id="11" name="Rectangle 10">
                  <a:extLst>
                    <a:ext uri="{FF2B5EF4-FFF2-40B4-BE49-F238E27FC236}">
                      <a16:creationId xmlns:a16="http://schemas.microsoft.com/office/drawing/2014/main" id="{63BD2577-E790-0E42-8091-F442DE9A2520}"/>
                    </a:ext>
                  </a:extLst>
                </p:cNvPr>
                <p:cNvSpPr>
                  <a:spLocks noRot="1" noChangeAspect="1" noMove="1" noResize="1" noEditPoints="1" noAdjustHandles="1" noChangeArrowheads="1" noChangeShapeType="1" noTextEdit="1"/>
                </p:cNvSpPr>
                <p:nvPr/>
              </p:nvSpPr>
              <p:spPr>
                <a:xfrm>
                  <a:off x="6509492" y="2598846"/>
                  <a:ext cx="1016560" cy="461665"/>
                </a:xfrm>
                <a:prstGeom prst="rect">
                  <a:avLst/>
                </a:prstGeom>
                <a:blipFill>
                  <a:blip r:embed="rId7"/>
                  <a:stretch>
                    <a:fillRect l="-1235" t="-127027" r="-30864" b="-191892"/>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A4E0CD28-ABC2-A747-991E-83221EF13240}"/>
                </a:ext>
              </a:extLst>
            </p:cNvPr>
            <p:cNvSpPr/>
            <p:nvPr/>
          </p:nvSpPr>
          <p:spPr>
            <a:xfrm>
              <a:off x="5675423" y="1517515"/>
              <a:ext cx="4655351" cy="2471331"/>
            </a:xfrm>
            <a:prstGeom prst="rect">
              <a:avLst/>
            </a:prstGeom>
            <a:noFill/>
            <a:ln w="254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9B4032F6-2C28-6C42-906E-C4FC735364B8}"/>
                    </a:ext>
                  </a:extLst>
                </p:cNvPr>
                <p:cNvSpPr/>
                <p:nvPr/>
              </p:nvSpPr>
              <p:spPr>
                <a:xfrm>
                  <a:off x="3132999" y="4760965"/>
                  <a:ext cx="2651752"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sSub>
                              <m:sSubPr>
                                <m:ctrlPr>
                                  <a:rPr lang="en-US" sz="2200" i="1" smtClean="0">
                                    <a:solidFill>
                                      <a:srgbClr val="002060"/>
                                    </a:solidFill>
                                    <a:latin typeface="Cambria Math" panose="02040503050406030204" pitchFamily="18" charset="0"/>
                                    <a:ea typeface="Cambria Math" panose="02040503050406030204" pitchFamily="18" charset="0"/>
                                  </a:rPr>
                                </m:ctrlPr>
                              </m:sSubPr>
                              <m:e>
                                <m:r>
                                  <a:rPr lang="en-US" sz="2200" b="0" i="1" smtClean="0">
                                    <a:solidFill>
                                      <a:srgbClr val="002060"/>
                                    </a:solidFill>
                                    <a:latin typeface="Cambria Math" panose="02040503050406030204" pitchFamily="18" charset="0"/>
                                    <a:ea typeface="Cambria Math" panose="02040503050406030204" pitchFamily="18" charset="0"/>
                                  </a:rPr>
                                  <m:t>𝐵</m:t>
                                </m:r>
                                <m:r>
                                  <a:rPr lang="en-US" sz="2200" b="0" i="1" smtClean="0">
                                    <a:solidFill>
                                      <a:srgbClr val="002060"/>
                                    </a:solidFill>
                                    <a:latin typeface="Cambria Math" panose="02040503050406030204" pitchFamily="18" charset="0"/>
                                    <a:ea typeface="Cambria Math" panose="02040503050406030204" pitchFamily="18" charset="0"/>
                                  </a:rPr>
                                  <m:t>′</m:t>
                                </m:r>
                              </m:e>
                              <m:sub>
                                <m:r>
                                  <a:rPr lang="en-US" sz="2200" b="0" i="1" smtClean="0">
                                    <a:solidFill>
                                      <a:srgbClr val="002060"/>
                                    </a:solidFill>
                                    <a:latin typeface="Cambria Math" panose="02040503050406030204" pitchFamily="18" charset="0"/>
                                    <a:ea typeface="Cambria Math" panose="02040503050406030204" pitchFamily="18" charset="0"/>
                                  </a:rPr>
                                  <m:t>00</m:t>
                                </m:r>
                              </m:sub>
                            </m:sSub>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58" name="Rectangle 57">
                  <a:extLst>
                    <a:ext uri="{FF2B5EF4-FFF2-40B4-BE49-F238E27FC236}">
                      <a16:creationId xmlns:a16="http://schemas.microsoft.com/office/drawing/2014/main" id="{9B4032F6-2C28-6C42-906E-C4FC735364B8}"/>
                    </a:ext>
                  </a:extLst>
                </p:cNvPr>
                <p:cNvSpPr>
                  <a:spLocks noRot="1" noChangeAspect="1" noMove="1" noResize="1" noEditPoints="1" noAdjustHandles="1" noChangeArrowheads="1" noChangeShapeType="1" noTextEdit="1"/>
                </p:cNvSpPr>
                <p:nvPr/>
              </p:nvSpPr>
              <p:spPr>
                <a:xfrm>
                  <a:off x="3132999" y="4760965"/>
                  <a:ext cx="2651752" cy="810991"/>
                </a:xfrm>
                <a:prstGeom prst="rect">
                  <a:avLst/>
                </a:prstGeom>
                <a:blipFill>
                  <a:blip r:embed="rId8"/>
                  <a:stretch>
                    <a:fillRect t="-66154" r="-10526" b="-7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8AE4E23-7281-BE4C-A003-CAA6D5B62F6E}"/>
                    </a:ext>
                  </a:extLst>
                </p:cNvPr>
                <p:cNvSpPr/>
                <p:nvPr/>
              </p:nvSpPr>
              <p:spPr>
                <a:xfrm>
                  <a:off x="2607906" y="4951017"/>
                  <a:ext cx="519438" cy="549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200" i="1" smtClean="0">
                                <a:solidFill>
                                  <a:srgbClr val="002060"/>
                                </a:solidFill>
                                <a:latin typeface="Cambria Math" panose="02040503050406030204" pitchFamily="18" charset="0"/>
                                <a:ea typeface="Cambria Math" panose="02040503050406030204" pitchFamily="18" charset="0"/>
                              </a:rPr>
                            </m:ctrlPr>
                          </m:groupChrPr>
                          <m:e>
                            <m:r>
                              <m:rPr>
                                <m:brk m:alnAt="2"/>
                              </m:rPr>
                              <a:rPr lang="en-US" sz="2200" b="0" i="1" smtClean="0">
                                <a:solidFill>
                                  <a:srgbClr val="002060"/>
                                </a:solidFill>
                                <a:latin typeface="Cambria Math" panose="02040503050406030204" pitchFamily="18" charset="0"/>
                                <a:ea typeface="Cambria Math" panose="02040503050406030204" pitchFamily="18" charset="0"/>
                              </a:rPr>
                              <m:t>𝐶</m:t>
                            </m:r>
                            <m:r>
                              <a:rPr lang="sr-Latn-RS" sz="2200" b="0" i="1" smtClean="0">
                                <a:solidFill>
                                  <a:srgbClr val="002060"/>
                                </a:solidFill>
                                <a:latin typeface="Cambria Math" panose="02040503050406030204" pitchFamily="18" charset="0"/>
                                <a:ea typeface="Cambria Math" panose="02040503050406030204" pitchFamily="18" charset="0"/>
                              </a:rPr>
                              <m:t>𝑋</m:t>
                            </m:r>
                          </m:e>
                        </m:groupChr>
                      </m:oMath>
                    </m:oMathPara>
                  </a14:m>
                  <a:endParaRPr lang="en-US" sz="2200" dirty="0"/>
                </a:p>
              </p:txBody>
            </p:sp>
          </mc:Choice>
          <mc:Fallback xmlns="">
            <p:sp>
              <p:nvSpPr>
                <p:cNvPr id="4" name="Rectangle 3">
                  <a:extLst>
                    <a:ext uri="{FF2B5EF4-FFF2-40B4-BE49-F238E27FC236}">
                      <a16:creationId xmlns:a16="http://schemas.microsoft.com/office/drawing/2014/main" id="{F8AE4E23-7281-BE4C-A003-CAA6D5B62F6E}"/>
                    </a:ext>
                  </a:extLst>
                </p:cNvPr>
                <p:cNvSpPr>
                  <a:spLocks noRot="1" noChangeAspect="1" noMove="1" noResize="1" noEditPoints="1" noAdjustHandles="1" noChangeArrowheads="1" noChangeShapeType="1" noTextEdit="1"/>
                </p:cNvSpPr>
                <p:nvPr/>
              </p:nvSpPr>
              <p:spPr>
                <a:xfrm>
                  <a:off x="2607906" y="4951017"/>
                  <a:ext cx="519438" cy="549189"/>
                </a:xfrm>
                <a:prstGeom prst="rect">
                  <a:avLst/>
                </a:prstGeom>
                <a:blipFill>
                  <a:blip r:embed="rId9"/>
                  <a:stretch>
                    <a:fillRect/>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5403C7D9-F060-F042-B784-9421D0BDE66F}"/>
              </a:ext>
            </a:extLst>
          </p:cNvPr>
          <p:cNvGrpSpPr/>
          <p:nvPr/>
        </p:nvGrpSpPr>
        <p:grpSpPr>
          <a:xfrm>
            <a:off x="5825416" y="1700056"/>
            <a:ext cx="6166715" cy="3889276"/>
            <a:chOff x="5825416" y="1700056"/>
            <a:chExt cx="6166715" cy="3889276"/>
          </a:xfrm>
        </p:grpSpPr>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2BD868B4-7E4A-A948-8AC8-0386D0C02DFA}"/>
                    </a:ext>
                  </a:extLst>
                </p:cNvPr>
                <p:cNvSpPr/>
                <p:nvPr/>
              </p:nvSpPr>
              <p:spPr>
                <a:xfrm>
                  <a:off x="8366847" y="1700056"/>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63" name="Rectangle 62">
                  <a:extLst>
                    <a:ext uri="{FF2B5EF4-FFF2-40B4-BE49-F238E27FC236}">
                      <a16:creationId xmlns:a16="http://schemas.microsoft.com/office/drawing/2014/main" id="{2BD868B4-7E4A-A948-8AC8-0386D0C02DFA}"/>
                    </a:ext>
                  </a:extLst>
                </p:cNvPr>
                <p:cNvSpPr>
                  <a:spLocks noRot="1" noChangeAspect="1" noMove="1" noResize="1" noEditPoints="1" noAdjustHandles="1" noChangeArrowheads="1" noChangeShapeType="1" noTextEdit="1"/>
                </p:cNvSpPr>
                <p:nvPr/>
              </p:nvSpPr>
              <p:spPr>
                <a:xfrm>
                  <a:off x="8366847" y="1700056"/>
                  <a:ext cx="631903" cy="461665"/>
                </a:xfrm>
                <a:prstGeom prst="rect">
                  <a:avLst/>
                </a:prstGeom>
                <a:blipFill>
                  <a:blip r:embed="rId10"/>
                  <a:stretch>
                    <a:fillRect l="-25490" t="-124324" r="-47059"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602036BE-96E2-CC45-B4EA-79C568D9BE4F}"/>
                    </a:ext>
                  </a:extLst>
                </p:cNvPr>
                <p:cNvSpPr/>
                <p:nvPr/>
              </p:nvSpPr>
              <p:spPr>
                <a:xfrm>
                  <a:off x="8366846" y="338298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64" name="Rectangle 63">
                  <a:extLst>
                    <a:ext uri="{FF2B5EF4-FFF2-40B4-BE49-F238E27FC236}">
                      <a16:creationId xmlns:a16="http://schemas.microsoft.com/office/drawing/2014/main" id="{602036BE-96E2-CC45-B4EA-79C568D9BE4F}"/>
                    </a:ext>
                  </a:extLst>
                </p:cNvPr>
                <p:cNvSpPr>
                  <a:spLocks noRot="1" noChangeAspect="1" noMove="1" noResize="1" noEditPoints="1" noAdjustHandles="1" noChangeArrowheads="1" noChangeShapeType="1" noTextEdit="1"/>
                </p:cNvSpPr>
                <p:nvPr/>
              </p:nvSpPr>
              <p:spPr>
                <a:xfrm>
                  <a:off x="8366846" y="3382982"/>
                  <a:ext cx="631903" cy="461665"/>
                </a:xfrm>
                <a:prstGeom prst="rect">
                  <a:avLst/>
                </a:prstGeom>
                <a:blipFill>
                  <a:blip r:embed="rId11"/>
                  <a:stretch>
                    <a:fillRect l="-25490" t="-121053" r="-47059" b="-186842"/>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A2D9610B-E094-5F46-860D-ECFE090E2944}"/>
                </a:ext>
              </a:extLst>
            </p:cNvPr>
            <p:cNvSpPr>
              <a:spLocks/>
            </p:cNvSpPr>
            <p:nvPr/>
          </p:nvSpPr>
          <p:spPr>
            <a:xfrm>
              <a:off x="7531637" y="183524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7DA2CAD4-7E4A-A148-86E2-5F31E654FDF8}"/>
                    </a:ext>
                  </a:extLst>
                </p:cNvPr>
                <p:cNvSpPr/>
                <p:nvPr/>
              </p:nvSpPr>
              <p:spPr>
                <a:xfrm>
                  <a:off x="8098968" y="2588499"/>
                  <a:ext cx="109671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e>
                              <m:sub>
                                <m:r>
                                  <a:rPr lang="en-US" sz="2400" i="1">
                                    <a:solidFill>
                                      <a:srgbClr val="002060"/>
                                    </a:solidFill>
                                    <a:latin typeface="Cambria Math" panose="02040503050406030204" pitchFamily="18" charset="0"/>
                                    <a:ea typeface="Cambria Math" panose="02040503050406030204" pitchFamily="18" charset="0"/>
                                  </a:rPr>
                                  <m:t>00</m:t>
                                </m:r>
                              </m:sub>
                            </m:sSub>
                          </m:e>
                        </m:d>
                      </m:oMath>
                    </m:oMathPara>
                  </a14:m>
                  <a:endParaRPr lang="en-US" sz="2400" dirty="0"/>
                </a:p>
              </p:txBody>
            </p:sp>
          </mc:Choice>
          <mc:Fallback xmlns="">
            <p:sp>
              <p:nvSpPr>
                <p:cNvPr id="65" name="Rectangle 64">
                  <a:extLst>
                    <a:ext uri="{FF2B5EF4-FFF2-40B4-BE49-F238E27FC236}">
                      <a16:creationId xmlns:a16="http://schemas.microsoft.com/office/drawing/2014/main" id="{7DA2CAD4-7E4A-A148-86E2-5F31E654FDF8}"/>
                    </a:ext>
                  </a:extLst>
                </p:cNvPr>
                <p:cNvSpPr>
                  <a:spLocks noRot="1" noChangeAspect="1" noMove="1" noResize="1" noEditPoints="1" noAdjustHandles="1" noChangeArrowheads="1" noChangeShapeType="1" noTextEdit="1"/>
                </p:cNvSpPr>
                <p:nvPr/>
              </p:nvSpPr>
              <p:spPr>
                <a:xfrm>
                  <a:off x="8098968" y="2588499"/>
                  <a:ext cx="1096710" cy="461665"/>
                </a:xfrm>
                <a:prstGeom prst="rect">
                  <a:avLst/>
                </a:prstGeom>
                <a:blipFill>
                  <a:blip r:embed="rId12"/>
                  <a:stretch>
                    <a:fillRect l="-1149" t="-133333" r="-28736" b="-197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81187136-3907-0244-B83E-25CF4E42F56D}"/>
                    </a:ext>
                  </a:extLst>
                </p:cNvPr>
                <p:cNvSpPr/>
                <p:nvPr/>
              </p:nvSpPr>
              <p:spPr>
                <a:xfrm>
                  <a:off x="6350509" y="4743588"/>
                  <a:ext cx="5641622" cy="84574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m:t>
                            </m:r>
                            <m:sSub>
                              <m:sSubPr>
                                <m:ctrlPr>
                                  <a:rPr lang="en-US" sz="2200" i="1">
                                    <a:solidFill>
                                      <a:schemeClr val="tx1"/>
                                    </a:solidFill>
                                    <a:latin typeface="Cambria Math" panose="02040503050406030204" pitchFamily="18" charset="0"/>
                                    <a:ea typeface="Cambria Math" panose="02040503050406030204" pitchFamily="18" charset="0"/>
                                  </a:rPr>
                                </m:ctrlPr>
                              </m:sSubPr>
                              <m:e>
                                <m:r>
                                  <a:rPr lang="en-US" sz="2200" i="1">
                                    <a:solidFill>
                                      <a:schemeClr val="tx1"/>
                                    </a:solidFill>
                                    <a:latin typeface="Cambria Math" panose="02040503050406030204" pitchFamily="18" charset="0"/>
                                    <a:ea typeface="Cambria Math" panose="02040503050406030204" pitchFamily="18" charset="0"/>
                                  </a:rPr>
                                  <m:t>𝐵</m:t>
                                </m:r>
                                <m:r>
                                  <a:rPr lang="en-US" sz="2200" i="1">
                                    <a:solidFill>
                                      <a:schemeClr val="tx1"/>
                                    </a:solidFill>
                                    <a:latin typeface="Cambria Math" panose="02040503050406030204" pitchFamily="18" charset="0"/>
                                    <a:ea typeface="Cambria Math" panose="02040503050406030204" pitchFamily="18" charset="0"/>
                                  </a:rPr>
                                  <m:t>′′</m:t>
                                </m:r>
                              </m:e>
                              <m:sub>
                                <m:r>
                                  <a:rPr lang="en-US" sz="2200" i="1">
                                    <a:solidFill>
                                      <a:schemeClr val="tx1"/>
                                    </a:solidFill>
                                    <a:latin typeface="Cambria Math" panose="02040503050406030204" pitchFamily="18" charset="0"/>
                                    <a:ea typeface="Cambria Math" panose="02040503050406030204" pitchFamily="18" charset="0"/>
                                  </a:rPr>
                                  <m:t>00</m:t>
                                </m:r>
                              </m:sub>
                            </m:sSub>
                          </m:e>
                        </m:d>
                        <m:r>
                          <a:rPr lang="en-US" sz="2200" b="0" i="1" smtClean="0">
                            <a:solidFill>
                              <a:schemeClr val="tx1"/>
                            </a:solidFill>
                            <a:latin typeface="Cambria Math" panose="02040503050406030204" pitchFamily="18" charset="0"/>
                            <a:ea typeface="Cambria Math" panose="02040503050406030204" pitchFamily="18" charset="0"/>
                          </a:rPr>
                          <m:t>=</m:t>
                        </m:r>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1</m:t>
                            </m:r>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f>
                              <m:fPr>
                                <m:ctrlPr>
                                  <a:rPr lang="en-US" sz="2200" i="1">
                                    <a:solidFill>
                                      <a:schemeClr val="tx1"/>
                                    </a:solidFill>
                                    <a:latin typeface="Cambria Math" panose="02040503050406030204" pitchFamily="18" charset="0"/>
                                    <a:ea typeface="Cambria Math" panose="02040503050406030204" pitchFamily="18" charset="0"/>
                                  </a:rPr>
                                </m:ctrlPr>
                              </m:fPr>
                              <m:num>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r>
                              <a:rPr lang="en-US" sz="2200" i="1">
                                <a:solidFill>
                                  <a:schemeClr val="tx1"/>
                                </a:solidFill>
                                <a:latin typeface="Cambria Math" panose="02040503050406030204" pitchFamily="18" charset="0"/>
                                <a:ea typeface="Cambria Math" panose="02040503050406030204" pitchFamily="18" charset="0"/>
                              </a:rPr>
                              <m:t>+</m:t>
                            </m:r>
                            <m:f>
                              <m:fPr>
                                <m:ctrlPr>
                                  <a:rPr lang="en-US" sz="2200" i="1">
                                    <a:solidFill>
                                      <a:schemeClr val="tx1"/>
                                    </a:solidFill>
                                    <a:latin typeface="Cambria Math" panose="02040503050406030204" pitchFamily="18" charset="0"/>
                                    <a:ea typeface="Cambria Math" panose="02040503050406030204" pitchFamily="18" charset="0"/>
                                  </a:rPr>
                                </m:ctrlPr>
                              </m:fPr>
                              <m:num>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e>
                        </m:d>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|00</m:t>
                            </m:r>
                          </m:e>
                        </m:d>
                      </m:oMath>
                    </m:oMathPara>
                  </a14:m>
                  <a:endParaRPr lang="en-US" sz="2200" dirty="0">
                    <a:solidFill>
                      <a:schemeClr val="tx1"/>
                    </a:solidFill>
                  </a:endParaRPr>
                </a:p>
              </p:txBody>
            </p:sp>
          </mc:Choice>
          <mc:Fallback xmlns="">
            <p:sp>
              <p:nvSpPr>
                <p:cNvPr id="37" name="Rectangle 36">
                  <a:extLst>
                    <a:ext uri="{FF2B5EF4-FFF2-40B4-BE49-F238E27FC236}">
                      <a16:creationId xmlns:a16="http://schemas.microsoft.com/office/drawing/2014/main" id="{81187136-3907-0244-B83E-25CF4E42F56D}"/>
                    </a:ext>
                  </a:extLst>
                </p:cNvPr>
                <p:cNvSpPr>
                  <a:spLocks noRot="1" noChangeAspect="1" noMove="1" noResize="1" noEditPoints="1" noAdjustHandles="1" noChangeArrowheads="1" noChangeShapeType="1" noTextEdit="1"/>
                </p:cNvSpPr>
                <p:nvPr/>
              </p:nvSpPr>
              <p:spPr>
                <a:xfrm>
                  <a:off x="6350509" y="4743588"/>
                  <a:ext cx="5641622" cy="845744"/>
                </a:xfrm>
                <a:prstGeom prst="rect">
                  <a:avLst/>
                </a:prstGeom>
                <a:blipFill>
                  <a:blip r:embed="rId13"/>
                  <a:stretch>
                    <a:fillRect t="-62687" r="-4494" b="-716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BEE9D931-1F60-EF45-81F2-4437DAFE58D9}"/>
                    </a:ext>
                  </a:extLst>
                </p:cNvPr>
                <p:cNvSpPr/>
                <p:nvPr/>
              </p:nvSpPr>
              <p:spPr>
                <a:xfrm>
                  <a:off x="5825416" y="4951017"/>
                  <a:ext cx="498598" cy="5472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200" i="1" smtClean="0">
                                <a:solidFill>
                                  <a:srgbClr val="002060"/>
                                </a:solidFill>
                                <a:latin typeface="Cambria Math" panose="02040503050406030204" pitchFamily="18" charset="0"/>
                                <a:ea typeface="Cambria Math" panose="02040503050406030204" pitchFamily="18" charset="0"/>
                              </a:rPr>
                            </m:ctrlPr>
                          </m:groupChrPr>
                          <m:e>
                            <m:r>
                              <a:rPr lang="sr-Latn-RS" sz="2200" b="0" i="1" smtClean="0">
                                <a:solidFill>
                                  <a:srgbClr val="002060"/>
                                </a:solidFill>
                                <a:latin typeface="Cambria Math" panose="02040503050406030204" pitchFamily="18" charset="0"/>
                                <a:ea typeface="Cambria Math" panose="02040503050406030204" pitchFamily="18" charset="0"/>
                              </a:rPr>
                              <m:t>𝐻</m:t>
                            </m:r>
                          </m:e>
                        </m:groupChr>
                      </m:oMath>
                    </m:oMathPara>
                  </a14:m>
                  <a:endParaRPr lang="en-US" sz="2200" dirty="0"/>
                </a:p>
              </p:txBody>
            </p:sp>
          </mc:Choice>
          <mc:Fallback xmlns="">
            <p:sp>
              <p:nvSpPr>
                <p:cNvPr id="39" name="Rectangle 38">
                  <a:extLst>
                    <a:ext uri="{FF2B5EF4-FFF2-40B4-BE49-F238E27FC236}">
                      <a16:creationId xmlns:a16="http://schemas.microsoft.com/office/drawing/2014/main" id="{BEE9D931-1F60-EF45-81F2-4437DAFE58D9}"/>
                    </a:ext>
                  </a:extLst>
                </p:cNvPr>
                <p:cNvSpPr>
                  <a:spLocks noRot="1" noChangeAspect="1" noMove="1" noResize="1" noEditPoints="1" noAdjustHandles="1" noChangeArrowheads="1" noChangeShapeType="1" noTextEdit="1"/>
                </p:cNvSpPr>
                <p:nvPr/>
              </p:nvSpPr>
              <p:spPr>
                <a:xfrm>
                  <a:off x="5825416" y="4951017"/>
                  <a:ext cx="498598" cy="547266"/>
                </a:xfrm>
                <a:prstGeom prst="rect">
                  <a:avLst/>
                </a:prstGeom>
                <a:blipFill>
                  <a:blip r:embed="rId14"/>
                  <a:stretch>
                    <a:fillRect l="-20000" b="-45455"/>
                  </a:stretch>
                </a:blipFill>
              </p:spPr>
              <p:txBody>
                <a:bodyPr/>
                <a:lstStyle/>
                <a:p>
                  <a:r>
                    <a:rPr lang="en-US">
                      <a:noFill/>
                    </a:rPr>
                    <a:t> </a:t>
                  </a:r>
                </a:p>
              </p:txBody>
            </p:sp>
          </mc:Fallback>
        </mc:AlternateContent>
      </p:grpSp>
    </p:spTree>
    <p:extLst>
      <p:ext uri="{BB962C8B-B14F-4D97-AF65-F5344CB8AC3E}">
        <p14:creationId xmlns:p14="http://schemas.microsoft.com/office/powerpoint/2010/main" val="365469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D8DB98-DE51-4240-84A9-72520FC3198E}"/>
              </a:ext>
            </a:extLst>
          </p:cNvPr>
          <p:cNvSpPr>
            <a:spLocks noGrp="1"/>
          </p:cNvSpPr>
          <p:nvPr>
            <p:ph type="sldNum" sz="quarter" idx="12"/>
          </p:nvPr>
        </p:nvSpPr>
        <p:spPr/>
        <p:txBody>
          <a:bodyPr/>
          <a:lstStyle/>
          <a:p>
            <a:fld id="{591A223C-FA10-BC46-A853-03BA373D023C}" type="slidenum">
              <a:rPr lang="en-US" smtClean="0"/>
              <a:t>16</a:t>
            </a:fld>
            <a:endParaRPr lang="en-US"/>
          </a:p>
        </p:txBody>
      </p:sp>
      <p:sp>
        <p:nvSpPr>
          <p:cNvPr id="2" name="Title 1">
            <a:extLst>
              <a:ext uri="{FF2B5EF4-FFF2-40B4-BE49-F238E27FC236}">
                <a16:creationId xmlns:a16="http://schemas.microsoft.com/office/drawing/2014/main" id="{46AFF0A7-8AA1-EA40-9293-D3F2389EF173}"/>
              </a:ext>
            </a:extLst>
          </p:cNvPr>
          <p:cNvSpPr>
            <a:spLocks noGrp="1"/>
          </p:cNvSpPr>
          <p:nvPr>
            <p:ph type="title"/>
          </p:nvPr>
        </p:nvSpPr>
        <p:spPr/>
        <p:txBody>
          <a:bodyPr>
            <a:normAutofit/>
          </a:bodyPr>
          <a:lstStyle/>
          <a:p>
            <a:r>
              <a:rPr lang="en-ZA" dirty="0"/>
              <a:t>Entangling Multiple Qubits: GHZ States</a:t>
            </a:r>
            <a:endParaRPr lang="en-US" dirty="0"/>
          </a:p>
        </p:txBody>
      </p:sp>
      <p:cxnSp>
        <p:nvCxnSpPr>
          <p:cNvPr id="4" name="Straight Connector 3">
            <a:extLst>
              <a:ext uri="{FF2B5EF4-FFF2-40B4-BE49-F238E27FC236}">
                <a16:creationId xmlns:a16="http://schemas.microsoft.com/office/drawing/2014/main" id="{56CEF931-34A7-C649-8A55-23BBF087A2F3}"/>
              </a:ext>
            </a:extLst>
          </p:cNvPr>
          <p:cNvCxnSpPr>
            <a:cxnSpLocks/>
          </p:cNvCxnSpPr>
          <p:nvPr/>
        </p:nvCxnSpPr>
        <p:spPr>
          <a:xfrm>
            <a:off x="668551" y="2573781"/>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091898-D840-2A48-AC5E-460275BEBFD1}"/>
              </a:ext>
            </a:extLst>
          </p:cNvPr>
          <p:cNvCxnSpPr>
            <a:cxnSpLocks/>
          </p:cNvCxnSpPr>
          <p:nvPr/>
        </p:nvCxnSpPr>
        <p:spPr>
          <a:xfrm>
            <a:off x="668551" y="1560553"/>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6BFF9AF-06A8-774F-9817-436152CEBE0B}"/>
              </a:ext>
            </a:extLst>
          </p:cNvPr>
          <p:cNvSpPr/>
          <p:nvPr/>
        </p:nvSpPr>
        <p:spPr>
          <a:xfrm>
            <a:off x="990043" y="123262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26" name="Group 25">
            <a:extLst>
              <a:ext uri="{FF2B5EF4-FFF2-40B4-BE49-F238E27FC236}">
                <a16:creationId xmlns:a16="http://schemas.microsoft.com/office/drawing/2014/main" id="{216A5DBD-3C19-5F45-84B5-926F121EBC94}"/>
              </a:ext>
            </a:extLst>
          </p:cNvPr>
          <p:cNvGrpSpPr/>
          <p:nvPr/>
        </p:nvGrpSpPr>
        <p:grpSpPr>
          <a:xfrm>
            <a:off x="2033145" y="1428955"/>
            <a:ext cx="720000" cy="1468653"/>
            <a:chOff x="2327060" y="2356833"/>
            <a:chExt cx="720000" cy="1468653"/>
          </a:xfrm>
        </p:grpSpPr>
        <p:cxnSp>
          <p:nvCxnSpPr>
            <p:cNvPr id="6" name="Straight Connector 5">
              <a:extLst>
                <a:ext uri="{FF2B5EF4-FFF2-40B4-BE49-F238E27FC236}">
                  <a16:creationId xmlns:a16="http://schemas.microsoft.com/office/drawing/2014/main" id="{F3003276-1430-504D-A448-BD80210CF19E}"/>
                </a:ext>
              </a:extLst>
            </p:cNvPr>
            <p:cNvCxnSpPr>
              <a:cxnSpLocks/>
              <a:stCxn id="9" idx="0"/>
              <a:endCxn id="7" idx="4"/>
            </p:cNvCxnSpPr>
            <p:nvPr/>
          </p:nvCxnSpPr>
          <p:spPr>
            <a:xfrm flipH="1" flipV="1">
              <a:off x="2685450" y="2608832"/>
              <a:ext cx="1610" cy="496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FC5E667-F423-A84E-A5C3-A3CF16247868}"/>
                </a:ext>
              </a:extLst>
            </p:cNvPr>
            <p:cNvSpPr/>
            <p:nvPr/>
          </p:nvSpPr>
          <p:spPr>
            <a:xfrm>
              <a:off x="2559450" y="2356833"/>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17DFCB4-3B89-4B4C-A7BE-B0A5C9BA9C2B}"/>
                </a:ext>
              </a:extLst>
            </p:cNvPr>
            <p:cNvSpPr/>
            <p:nvPr/>
          </p:nvSpPr>
          <p:spPr>
            <a:xfrm>
              <a:off x="2327060" y="310548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0B16F6A-8639-B040-BECE-7E9075A4B595}"/>
                  </a:ext>
                </a:extLst>
              </p:cNvPr>
              <p:cNvSpPr/>
              <p:nvPr/>
            </p:nvSpPr>
            <p:spPr>
              <a:xfrm>
                <a:off x="245631" y="1077757"/>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0" name="Rectangle 19">
                <a:extLst>
                  <a:ext uri="{FF2B5EF4-FFF2-40B4-BE49-F238E27FC236}">
                    <a16:creationId xmlns:a16="http://schemas.microsoft.com/office/drawing/2014/main" id="{20B16F6A-8639-B040-BECE-7E9075A4B595}"/>
                  </a:ext>
                </a:extLst>
              </p:cNvPr>
              <p:cNvSpPr>
                <a:spLocks noRot="1" noChangeAspect="1" noMove="1" noResize="1" noEditPoints="1" noAdjustHandles="1" noChangeArrowheads="1" noChangeShapeType="1" noTextEdit="1"/>
              </p:cNvSpPr>
              <p:nvPr/>
            </p:nvSpPr>
            <p:spPr>
              <a:xfrm>
                <a:off x="245631" y="1077757"/>
                <a:ext cx="631903" cy="461665"/>
              </a:xfrm>
              <a:prstGeom prst="rect">
                <a:avLst/>
              </a:prstGeom>
              <a:blipFill>
                <a:blip r:embed="rId3"/>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4CE89ACD-6023-7D46-B29D-9825ED793B6D}"/>
                  </a:ext>
                </a:extLst>
              </p:cNvPr>
              <p:cNvSpPr/>
              <p:nvPr/>
            </p:nvSpPr>
            <p:spPr>
              <a:xfrm>
                <a:off x="245630" y="2118451"/>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2" name="Rectangle 21">
                <a:extLst>
                  <a:ext uri="{FF2B5EF4-FFF2-40B4-BE49-F238E27FC236}">
                    <a16:creationId xmlns:a16="http://schemas.microsoft.com/office/drawing/2014/main" id="{4CE89ACD-6023-7D46-B29D-9825ED793B6D}"/>
                  </a:ext>
                </a:extLst>
              </p:cNvPr>
              <p:cNvSpPr>
                <a:spLocks noRot="1" noChangeAspect="1" noMove="1" noResize="1" noEditPoints="1" noAdjustHandles="1" noChangeArrowheads="1" noChangeShapeType="1" noTextEdit="1"/>
              </p:cNvSpPr>
              <p:nvPr/>
            </p:nvSpPr>
            <p:spPr>
              <a:xfrm>
                <a:off x="245630" y="2118451"/>
                <a:ext cx="631903" cy="461665"/>
              </a:xfrm>
              <a:prstGeom prst="rect">
                <a:avLst/>
              </a:prstGeom>
              <a:blipFill>
                <a:blip r:embed="rId3"/>
                <a:stretch>
                  <a:fillRect l="-23529" t="-124324" r="-49020" b="-191892"/>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04EEEA71-E19A-0245-90FC-C17993F230A5}"/>
              </a:ext>
            </a:extLst>
          </p:cNvPr>
          <p:cNvCxnSpPr>
            <a:cxnSpLocks/>
          </p:cNvCxnSpPr>
          <p:nvPr/>
        </p:nvCxnSpPr>
        <p:spPr>
          <a:xfrm>
            <a:off x="668551" y="3557399"/>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71E2615-A1CC-8B47-AC9F-D0FF95F57476}"/>
              </a:ext>
            </a:extLst>
          </p:cNvPr>
          <p:cNvCxnSpPr>
            <a:cxnSpLocks/>
          </p:cNvCxnSpPr>
          <p:nvPr/>
        </p:nvCxnSpPr>
        <p:spPr>
          <a:xfrm>
            <a:off x="668551" y="5249512"/>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C09700-BCD1-D24F-AE2B-AB8454CD2692}"/>
              </a:ext>
            </a:extLst>
          </p:cNvPr>
          <p:cNvCxnSpPr>
            <a:cxnSpLocks/>
          </p:cNvCxnSpPr>
          <p:nvPr/>
        </p:nvCxnSpPr>
        <p:spPr>
          <a:xfrm>
            <a:off x="668551" y="6233620"/>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6586B052-5D99-9B4C-9B79-8C9D39D137FA}"/>
              </a:ext>
            </a:extLst>
          </p:cNvPr>
          <p:cNvGrpSpPr/>
          <p:nvPr/>
        </p:nvGrpSpPr>
        <p:grpSpPr>
          <a:xfrm>
            <a:off x="2930960" y="2448746"/>
            <a:ext cx="720000" cy="1468653"/>
            <a:chOff x="2327060" y="2356833"/>
            <a:chExt cx="720000" cy="1468653"/>
          </a:xfrm>
        </p:grpSpPr>
        <p:cxnSp>
          <p:nvCxnSpPr>
            <p:cNvPr id="40" name="Straight Connector 39">
              <a:extLst>
                <a:ext uri="{FF2B5EF4-FFF2-40B4-BE49-F238E27FC236}">
                  <a16:creationId xmlns:a16="http://schemas.microsoft.com/office/drawing/2014/main" id="{CD5EF9ED-48E6-B342-AC02-DB6CE6FAFD86}"/>
                </a:ext>
              </a:extLst>
            </p:cNvPr>
            <p:cNvCxnSpPr>
              <a:cxnSpLocks/>
              <a:stCxn id="42" idx="0"/>
              <a:endCxn id="41" idx="4"/>
            </p:cNvCxnSpPr>
            <p:nvPr/>
          </p:nvCxnSpPr>
          <p:spPr>
            <a:xfrm flipH="1" flipV="1">
              <a:off x="2685450" y="2608832"/>
              <a:ext cx="1610" cy="496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C24EB959-0EA8-B94C-910B-7EC0D25BCFAB}"/>
                </a:ext>
              </a:extLst>
            </p:cNvPr>
            <p:cNvSpPr/>
            <p:nvPr/>
          </p:nvSpPr>
          <p:spPr>
            <a:xfrm>
              <a:off x="2559450" y="2356833"/>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564D95E-A245-094A-8768-EE98EB4F1C79}"/>
                </a:ext>
              </a:extLst>
            </p:cNvPr>
            <p:cNvSpPr/>
            <p:nvPr/>
          </p:nvSpPr>
          <p:spPr>
            <a:xfrm>
              <a:off x="2327060" y="310548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43" name="Group 42">
            <a:extLst>
              <a:ext uri="{FF2B5EF4-FFF2-40B4-BE49-F238E27FC236}">
                <a16:creationId xmlns:a16="http://schemas.microsoft.com/office/drawing/2014/main" id="{DBB8911C-B155-234A-8D2C-112820EBB0BD}"/>
              </a:ext>
            </a:extLst>
          </p:cNvPr>
          <p:cNvGrpSpPr/>
          <p:nvPr/>
        </p:nvGrpSpPr>
        <p:grpSpPr>
          <a:xfrm>
            <a:off x="5021113" y="5123513"/>
            <a:ext cx="720000" cy="1468653"/>
            <a:chOff x="2327060" y="2356833"/>
            <a:chExt cx="720000" cy="1468653"/>
          </a:xfrm>
        </p:grpSpPr>
        <p:cxnSp>
          <p:nvCxnSpPr>
            <p:cNvPr id="44" name="Straight Connector 43">
              <a:extLst>
                <a:ext uri="{FF2B5EF4-FFF2-40B4-BE49-F238E27FC236}">
                  <a16:creationId xmlns:a16="http://schemas.microsoft.com/office/drawing/2014/main" id="{4A9319A5-0E8E-DC45-99BA-0A978B6A4811}"/>
                </a:ext>
              </a:extLst>
            </p:cNvPr>
            <p:cNvCxnSpPr>
              <a:cxnSpLocks/>
              <a:stCxn id="46" idx="0"/>
              <a:endCxn id="45" idx="4"/>
            </p:cNvCxnSpPr>
            <p:nvPr/>
          </p:nvCxnSpPr>
          <p:spPr>
            <a:xfrm flipH="1" flipV="1">
              <a:off x="2685450" y="2608832"/>
              <a:ext cx="1610" cy="496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4F9070C0-1ED1-4A45-9E3C-224C41BF5C32}"/>
                </a:ext>
              </a:extLst>
            </p:cNvPr>
            <p:cNvSpPr/>
            <p:nvPr/>
          </p:nvSpPr>
          <p:spPr>
            <a:xfrm>
              <a:off x="2559450" y="2356833"/>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C78D5CB-572B-9C43-8BCB-2C5AB7D147CB}"/>
                </a:ext>
              </a:extLst>
            </p:cNvPr>
            <p:cNvSpPr/>
            <p:nvPr/>
          </p:nvSpPr>
          <p:spPr>
            <a:xfrm>
              <a:off x="2327060" y="310548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cxnSp>
        <p:nvCxnSpPr>
          <p:cNvPr id="47" name="Straight Connector 46">
            <a:extLst>
              <a:ext uri="{FF2B5EF4-FFF2-40B4-BE49-F238E27FC236}">
                <a16:creationId xmlns:a16="http://schemas.microsoft.com/office/drawing/2014/main" id="{D4CDE7F3-CB7E-CD4C-9A96-4837DE0BFC87}"/>
              </a:ext>
            </a:extLst>
          </p:cNvPr>
          <p:cNvCxnSpPr>
            <a:cxnSpLocks/>
          </p:cNvCxnSpPr>
          <p:nvPr/>
        </p:nvCxnSpPr>
        <p:spPr>
          <a:xfrm>
            <a:off x="668551" y="4404066"/>
            <a:ext cx="5580000" cy="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73B887A3-061F-EC4E-8DD2-DF05ACCE22FB}"/>
                  </a:ext>
                </a:extLst>
              </p:cNvPr>
              <p:cNvSpPr/>
              <p:nvPr/>
            </p:nvSpPr>
            <p:spPr>
              <a:xfrm>
                <a:off x="7119467" y="2098285"/>
                <a:ext cx="4094967" cy="29489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US" sz="2400" i="1" smtClean="0">
                              <a:solidFill>
                                <a:srgbClr val="002060"/>
                              </a:solidFill>
                              <a:latin typeface="Cambria Math" panose="02040503050406030204" pitchFamily="18" charset="0"/>
                              <a:ea typeface="Cambria Math" panose="02040503050406030204" pitchFamily="18" charset="0"/>
                            </a:rPr>
                          </m:ctrlPr>
                        </m:mP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𝐺𝐻𝑍</m:t>
                                    </m:r>
                                  </m:e>
                                  <m:sub>
                                    <m:r>
                                      <a:rPr lang="en-US" sz="2400" i="1">
                                        <a:solidFill>
                                          <a:srgbClr val="002060"/>
                                        </a:solidFill>
                                        <a:latin typeface="Cambria Math" panose="02040503050406030204" pitchFamily="18" charset="0"/>
                                        <a:ea typeface="Cambria Math" panose="02040503050406030204" pitchFamily="18" charset="0"/>
                                      </a:rPr>
                                      <m:t>3</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𝐺𝐻𝑍</m:t>
                                    </m:r>
                                  </m:e>
                                  <m:sub>
                                    <m:r>
                                      <a:rPr lang="en-US" sz="2400" b="0" i="1" smtClean="0">
                                        <a:solidFill>
                                          <a:srgbClr val="002060"/>
                                        </a:solidFill>
                                        <a:latin typeface="Cambria Math" panose="02040503050406030204" pitchFamily="18" charset="0"/>
                                        <a:ea typeface="Cambria Math" panose="02040503050406030204" pitchFamily="18" charset="0"/>
                                      </a:rPr>
                                      <m:t>4</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r>
                                      <a:rPr lang="en-US" sz="2400" i="1">
                                        <a:solidFill>
                                          <a:srgbClr val="002060"/>
                                        </a:solidFill>
                                        <a:latin typeface="Cambria Math" panose="02040503050406030204" pitchFamily="18" charset="0"/>
                                        <a:ea typeface="Cambria Math" panose="02040503050406030204" pitchFamily="18" charset="0"/>
                                      </a:rPr>
                                      <m:t>00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r>
                                      <a:rPr lang="en-US" sz="2400" b="0" i="1" smtClean="0">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r>
                          <m:e>
                            <m:r>
                              <a:rPr lang="en-US" sz="2400" i="1" smtClean="0">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m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𝐺𝐻𝑍</m:t>
                                    </m:r>
                                  </m:e>
                                  <m:sub>
                                    <m:r>
                                      <a:rPr lang="en-US" sz="2400" b="0" i="1" smtClean="0">
                                        <a:solidFill>
                                          <a:srgbClr val="002060"/>
                                        </a:solidFill>
                                        <a:latin typeface="Cambria Math" panose="02040503050406030204" pitchFamily="18" charset="0"/>
                                        <a:ea typeface="Cambria Math" panose="02040503050406030204" pitchFamily="18" charset="0"/>
                                      </a:rPr>
                                      <m:t>𝑛</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sSup>
                                  <m:sSupPr>
                                    <m:ctrlPr>
                                      <a:rPr lang="en-US" sz="2400" i="1" smtClean="0">
                                        <a:solidFill>
                                          <a:srgbClr val="002060"/>
                                        </a:solidFill>
                                        <a:latin typeface="Cambria Math" panose="02040503050406030204" pitchFamily="18" charset="0"/>
                                        <a:ea typeface="Cambria Math" panose="02040503050406030204" pitchFamily="18" charset="0"/>
                                      </a:rPr>
                                    </m:ctrlPr>
                                  </m:sSup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sup>
                                    <m:r>
                                      <a:rPr lang="en-US" sz="240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𝑛</m:t>
                                    </m:r>
                                  </m:sup>
                                </m:sSup>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e>
                                    </m:d>
                                  </m:e>
                                  <m:sup>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𝑛</m:t>
                                    </m:r>
                                  </m:sup>
                                </m:sSup>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
                    </m:oMath>
                  </m:oMathPara>
                </a14:m>
                <a:endParaRPr lang="en-US" sz="2400" dirty="0"/>
              </a:p>
            </p:txBody>
          </p:sp>
        </mc:Choice>
        <mc:Fallback xmlns="">
          <p:sp>
            <p:nvSpPr>
              <p:cNvPr id="50" name="Rectangle 49">
                <a:extLst>
                  <a:ext uri="{FF2B5EF4-FFF2-40B4-BE49-F238E27FC236}">
                    <a16:creationId xmlns:a16="http://schemas.microsoft.com/office/drawing/2014/main" id="{73B887A3-061F-EC4E-8DD2-DF05ACCE22FB}"/>
                  </a:ext>
                </a:extLst>
              </p:cNvPr>
              <p:cNvSpPr>
                <a:spLocks noRot="1" noChangeAspect="1" noMove="1" noResize="1" noEditPoints="1" noAdjustHandles="1" noChangeArrowheads="1" noChangeShapeType="1" noTextEdit="1"/>
              </p:cNvSpPr>
              <p:nvPr/>
            </p:nvSpPr>
            <p:spPr>
              <a:xfrm>
                <a:off x="7119467" y="2098285"/>
                <a:ext cx="4094967" cy="2948949"/>
              </a:xfrm>
              <a:prstGeom prst="rect">
                <a:avLst/>
              </a:prstGeom>
              <a:blipFill>
                <a:blip r:embed="rId4"/>
                <a:stretch>
                  <a:fillRect t="-20601" r="-5882" b="-206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4F977C38-1132-D347-98A9-4D0A3CD01DEE}"/>
                  </a:ext>
                </a:extLst>
              </p:cNvPr>
              <p:cNvSpPr/>
              <p:nvPr/>
            </p:nvSpPr>
            <p:spPr>
              <a:xfrm>
                <a:off x="245630" y="3083233"/>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1" name="Rectangle 50">
                <a:extLst>
                  <a:ext uri="{FF2B5EF4-FFF2-40B4-BE49-F238E27FC236}">
                    <a16:creationId xmlns:a16="http://schemas.microsoft.com/office/drawing/2014/main" id="{4F977C38-1132-D347-98A9-4D0A3CD01DEE}"/>
                  </a:ext>
                </a:extLst>
              </p:cNvPr>
              <p:cNvSpPr>
                <a:spLocks noRot="1" noChangeAspect="1" noMove="1" noResize="1" noEditPoints="1" noAdjustHandles="1" noChangeArrowheads="1" noChangeShapeType="1" noTextEdit="1"/>
              </p:cNvSpPr>
              <p:nvPr/>
            </p:nvSpPr>
            <p:spPr>
              <a:xfrm>
                <a:off x="245630" y="3083233"/>
                <a:ext cx="631903" cy="461665"/>
              </a:xfrm>
              <a:prstGeom prst="rect">
                <a:avLst/>
              </a:prstGeom>
              <a:blipFill>
                <a:blip r:embed="rId3"/>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59F2249A-C25A-5244-B185-384B43BAF264}"/>
                  </a:ext>
                </a:extLst>
              </p:cNvPr>
              <p:cNvSpPr/>
              <p:nvPr/>
            </p:nvSpPr>
            <p:spPr>
              <a:xfrm>
                <a:off x="245629" y="466817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2" name="Rectangle 51">
                <a:extLst>
                  <a:ext uri="{FF2B5EF4-FFF2-40B4-BE49-F238E27FC236}">
                    <a16:creationId xmlns:a16="http://schemas.microsoft.com/office/drawing/2014/main" id="{59F2249A-C25A-5244-B185-384B43BAF264}"/>
                  </a:ext>
                </a:extLst>
              </p:cNvPr>
              <p:cNvSpPr>
                <a:spLocks noRot="1" noChangeAspect="1" noMove="1" noResize="1" noEditPoints="1" noAdjustHandles="1" noChangeArrowheads="1" noChangeShapeType="1" noTextEdit="1"/>
              </p:cNvSpPr>
              <p:nvPr/>
            </p:nvSpPr>
            <p:spPr>
              <a:xfrm>
                <a:off x="245629" y="4668172"/>
                <a:ext cx="631903" cy="461665"/>
              </a:xfrm>
              <a:prstGeom prst="rect">
                <a:avLst/>
              </a:prstGeom>
              <a:blipFill>
                <a:blip r:embed="rId5"/>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2F55D8BC-C63D-0645-9C73-2E6B4A3E59DB}"/>
                  </a:ext>
                </a:extLst>
              </p:cNvPr>
              <p:cNvSpPr/>
              <p:nvPr/>
            </p:nvSpPr>
            <p:spPr>
              <a:xfrm>
                <a:off x="245628" y="572109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3" name="Rectangle 52">
                <a:extLst>
                  <a:ext uri="{FF2B5EF4-FFF2-40B4-BE49-F238E27FC236}">
                    <a16:creationId xmlns:a16="http://schemas.microsoft.com/office/drawing/2014/main" id="{2F55D8BC-C63D-0645-9C73-2E6B4A3E59DB}"/>
                  </a:ext>
                </a:extLst>
              </p:cNvPr>
              <p:cNvSpPr>
                <a:spLocks noRot="1" noChangeAspect="1" noMove="1" noResize="1" noEditPoints="1" noAdjustHandles="1" noChangeArrowheads="1" noChangeShapeType="1" noTextEdit="1"/>
              </p:cNvSpPr>
              <p:nvPr/>
            </p:nvSpPr>
            <p:spPr>
              <a:xfrm>
                <a:off x="245628" y="5721095"/>
                <a:ext cx="631903" cy="461665"/>
              </a:xfrm>
              <a:prstGeom prst="rect">
                <a:avLst/>
              </a:prstGeom>
              <a:blipFill>
                <a:blip r:embed="rId6"/>
                <a:stretch>
                  <a:fillRect l="-23529" t="-121053" r="-49020" b="-186842"/>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57ACA0F3-E322-0545-AAC8-6124283D2161}"/>
              </a:ext>
            </a:extLst>
          </p:cNvPr>
          <p:cNvSpPr/>
          <p:nvPr/>
        </p:nvSpPr>
        <p:spPr>
          <a:xfrm>
            <a:off x="877531" y="1077757"/>
            <a:ext cx="2053429" cy="2005476"/>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51A7C13-E2A5-D349-B081-1A1FF71769CC}"/>
              </a:ext>
            </a:extLst>
          </p:cNvPr>
          <p:cNvSpPr txBox="1"/>
          <p:nvPr/>
        </p:nvSpPr>
        <p:spPr>
          <a:xfrm>
            <a:off x="6930043" y="1411995"/>
            <a:ext cx="4977901" cy="430887"/>
          </a:xfrm>
          <a:prstGeom prst="rect">
            <a:avLst/>
          </a:prstGeom>
          <a:noFill/>
        </p:spPr>
        <p:txBody>
          <a:bodyPr wrap="none" rtlCol="0">
            <a:spAutoFit/>
          </a:bodyPr>
          <a:lstStyle/>
          <a:p>
            <a:r>
              <a:rPr lang="en-ZA" sz="2200" b="1" dirty="0"/>
              <a:t>GHZ state</a:t>
            </a:r>
            <a:r>
              <a:rPr lang="en-ZA" sz="2200" dirty="0"/>
              <a:t> (Greenberger–Horne–</a:t>
            </a:r>
            <a:r>
              <a:rPr lang="en-ZA" sz="2200" dirty="0" err="1"/>
              <a:t>Zeilinger</a:t>
            </a:r>
            <a:r>
              <a:rPr lang="en-ZA" sz="2200" dirty="0"/>
              <a:t>)</a:t>
            </a:r>
            <a:endParaRPr lang="en-US" sz="2200" dirty="0"/>
          </a:p>
        </p:txBody>
      </p:sp>
    </p:spTree>
    <p:extLst>
      <p:ext uri="{BB962C8B-B14F-4D97-AF65-F5344CB8AC3E}">
        <p14:creationId xmlns:p14="http://schemas.microsoft.com/office/powerpoint/2010/main" val="666421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9A7FFD-6FAA-0549-BECA-2DF270E9E334}"/>
              </a:ext>
            </a:extLst>
          </p:cNvPr>
          <p:cNvSpPr>
            <a:spLocks noGrp="1"/>
          </p:cNvSpPr>
          <p:nvPr>
            <p:ph type="title"/>
          </p:nvPr>
        </p:nvSpPr>
        <p:spPr/>
        <p:txBody>
          <a:bodyPr/>
          <a:lstStyle/>
          <a:p>
            <a:r>
              <a:rPr lang="en-ZA" dirty="0"/>
              <a:t>Nobel Prize 2022: Pioneers of Quantum Entanglement</a:t>
            </a:r>
            <a:endParaRPr lang="en-US" dirty="0"/>
          </a:p>
        </p:txBody>
      </p:sp>
      <p:sp>
        <p:nvSpPr>
          <p:cNvPr id="6" name="TextBox 5">
            <a:extLst>
              <a:ext uri="{FF2B5EF4-FFF2-40B4-BE49-F238E27FC236}">
                <a16:creationId xmlns:a16="http://schemas.microsoft.com/office/drawing/2014/main" id="{783CB05E-B325-B043-B241-24E5E0FEC2C9}"/>
              </a:ext>
            </a:extLst>
          </p:cNvPr>
          <p:cNvSpPr txBox="1"/>
          <p:nvPr/>
        </p:nvSpPr>
        <p:spPr>
          <a:xfrm>
            <a:off x="1497556" y="5993805"/>
            <a:ext cx="8470780" cy="584775"/>
          </a:xfrm>
          <a:prstGeom prst="rect">
            <a:avLst/>
          </a:prstGeom>
          <a:noFill/>
        </p:spPr>
        <p:txBody>
          <a:bodyPr wrap="none" rtlCol="0">
            <a:spAutoFit/>
          </a:bodyPr>
          <a:lstStyle/>
          <a:p>
            <a:r>
              <a:rPr lang="en-US" sz="3200" dirty="0"/>
              <a:t>Alain Aspect     John </a:t>
            </a:r>
            <a:r>
              <a:rPr lang="en-US" sz="3200" dirty="0" err="1"/>
              <a:t>Clauser</a:t>
            </a:r>
            <a:r>
              <a:rPr lang="en-US" sz="3200" dirty="0"/>
              <a:t>            Anton </a:t>
            </a:r>
            <a:r>
              <a:rPr lang="en-US" sz="3200" dirty="0" err="1"/>
              <a:t>Zeilinger</a:t>
            </a:r>
            <a:endParaRPr lang="en-US" sz="3200" dirty="0"/>
          </a:p>
        </p:txBody>
      </p:sp>
      <p:pic>
        <p:nvPicPr>
          <p:cNvPr id="8" name="Picture 7">
            <a:extLst>
              <a:ext uri="{FF2B5EF4-FFF2-40B4-BE49-F238E27FC236}">
                <a16:creationId xmlns:a16="http://schemas.microsoft.com/office/drawing/2014/main" id="{6B1A62A9-F7E6-2F48-AAC5-1C556CD4F0E2}"/>
              </a:ext>
            </a:extLst>
          </p:cNvPr>
          <p:cNvPicPr>
            <a:picLocks noChangeAspect="1"/>
          </p:cNvPicPr>
          <p:nvPr/>
        </p:nvPicPr>
        <p:blipFill>
          <a:blip r:embed="rId3"/>
          <a:stretch>
            <a:fillRect/>
          </a:stretch>
        </p:blipFill>
        <p:spPr>
          <a:xfrm>
            <a:off x="1497555" y="1085855"/>
            <a:ext cx="8679377" cy="4651285"/>
          </a:xfrm>
          <a:prstGeom prst="rect">
            <a:avLst/>
          </a:prstGeom>
        </p:spPr>
      </p:pic>
    </p:spTree>
    <p:extLst>
      <p:ext uri="{BB962C8B-B14F-4D97-AF65-F5344CB8AC3E}">
        <p14:creationId xmlns:p14="http://schemas.microsoft.com/office/powerpoint/2010/main" val="254626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850C8C-FDBE-964F-B929-3405AB90C161}"/>
              </a:ext>
            </a:extLst>
          </p:cNvPr>
          <p:cNvSpPr>
            <a:spLocks noGrp="1"/>
          </p:cNvSpPr>
          <p:nvPr>
            <p:ph type="sldNum" sz="quarter" idx="12"/>
          </p:nvPr>
        </p:nvSpPr>
        <p:spPr/>
        <p:txBody>
          <a:bodyPr/>
          <a:lstStyle/>
          <a:p>
            <a:fld id="{591A223C-FA10-BC46-A853-03BA373D023C}" type="slidenum">
              <a:rPr lang="en-US" smtClean="0"/>
              <a:t>18</a:t>
            </a:fld>
            <a:endParaRPr lang="en-US"/>
          </a:p>
        </p:txBody>
      </p:sp>
      <p:sp>
        <p:nvSpPr>
          <p:cNvPr id="2" name="Title 1">
            <a:extLst>
              <a:ext uri="{FF2B5EF4-FFF2-40B4-BE49-F238E27FC236}">
                <a16:creationId xmlns:a16="http://schemas.microsoft.com/office/drawing/2014/main" id="{B37070D1-4269-A94B-8594-8443743476DC}"/>
              </a:ext>
            </a:extLst>
          </p:cNvPr>
          <p:cNvSpPr>
            <a:spLocks noGrp="1"/>
          </p:cNvSpPr>
          <p:nvPr>
            <p:ph type="title"/>
          </p:nvPr>
        </p:nvSpPr>
        <p:spPr/>
        <p:txBody>
          <a:bodyPr/>
          <a:lstStyle/>
          <a:p>
            <a:r>
              <a:rPr lang="en-US" dirty="0"/>
              <a:t>EPR Paradox</a:t>
            </a:r>
          </a:p>
        </p:txBody>
      </p:sp>
      <p:sp>
        <p:nvSpPr>
          <p:cNvPr id="5" name="TextBox 4">
            <a:extLst>
              <a:ext uri="{FF2B5EF4-FFF2-40B4-BE49-F238E27FC236}">
                <a16:creationId xmlns:a16="http://schemas.microsoft.com/office/drawing/2014/main" id="{E8D55736-5C5F-B240-B454-B80EFE0B043C}"/>
              </a:ext>
            </a:extLst>
          </p:cNvPr>
          <p:cNvSpPr txBox="1"/>
          <p:nvPr/>
        </p:nvSpPr>
        <p:spPr>
          <a:xfrm>
            <a:off x="534774" y="4129605"/>
            <a:ext cx="6944465" cy="523220"/>
          </a:xfrm>
          <a:prstGeom prst="rect">
            <a:avLst/>
          </a:prstGeom>
          <a:noFill/>
        </p:spPr>
        <p:txBody>
          <a:bodyPr wrap="none" rtlCol="0">
            <a:spAutoFit/>
          </a:bodyPr>
          <a:lstStyle/>
          <a:p>
            <a:r>
              <a:rPr lang="en-ZA" sz="2800" dirty="0"/>
              <a:t>Albert Einstein,  Boris </a:t>
            </a:r>
            <a:r>
              <a:rPr lang="en-ZA" sz="2800" dirty="0" err="1"/>
              <a:t>Podolsky</a:t>
            </a:r>
            <a:r>
              <a:rPr lang="en-ZA" sz="2800" dirty="0"/>
              <a:t>,  Nathan Rosen</a:t>
            </a:r>
            <a:endParaRPr lang="en-US" sz="2800" dirty="0"/>
          </a:p>
        </p:txBody>
      </p:sp>
      <p:pic>
        <p:nvPicPr>
          <p:cNvPr id="6" name="Picture 5">
            <a:extLst>
              <a:ext uri="{FF2B5EF4-FFF2-40B4-BE49-F238E27FC236}">
                <a16:creationId xmlns:a16="http://schemas.microsoft.com/office/drawing/2014/main" id="{6F46C131-DF0A-F245-BD6F-E1BE798D432E}"/>
              </a:ext>
            </a:extLst>
          </p:cNvPr>
          <p:cNvPicPr>
            <a:picLocks noChangeAspect="1"/>
          </p:cNvPicPr>
          <p:nvPr/>
        </p:nvPicPr>
        <p:blipFill>
          <a:blip r:embed="rId3"/>
          <a:stretch>
            <a:fillRect/>
          </a:stretch>
        </p:blipFill>
        <p:spPr>
          <a:xfrm>
            <a:off x="7703127" y="1097279"/>
            <a:ext cx="3863642" cy="4620916"/>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7" name="TextBox 6">
            <a:extLst>
              <a:ext uri="{FF2B5EF4-FFF2-40B4-BE49-F238E27FC236}">
                <a16:creationId xmlns:a16="http://schemas.microsoft.com/office/drawing/2014/main" id="{6120A0FF-BF14-1848-931F-39F445BF55F5}"/>
              </a:ext>
            </a:extLst>
          </p:cNvPr>
          <p:cNvSpPr txBox="1"/>
          <p:nvPr/>
        </p:nvSpPr>
        <p:spPr>
          <a:xfrm>
            <a:off x="7315733" y="6031210"/>
            <a:ext cx="4311052" cy="461665"/>
          </a:xfrm>
          <a:prstGeom prst="rect">
            <a:avLst/>
          </a:prstGeom>
          <a:noFill/>
        </p:spPr>
        <p:txBody>
          <a:bodyPr wrap="none" rtlCol="0">
            <a:spAutoFit/>
          </a:bodyPr>
          <a:lstStyle/>
          <a:p>
            <a:r>
              <a:rPr lang="en-US" sz="2400" dirty="0"/>
              <a:t>The New York Times, 4 May 1935</a:t>
            </a:r>
          </a:p>
        </p:txBody>
      </p:sp>
      <p:sp>
        <p:nvSpPr>
          <p:cNvPr id="8" name="Rectangle 7">
            <a:extLst>
              <a:ext uri="{FF2B5EF4-FFF2-40B4-BE49-F238E27FC236}">
                <a16:creationId xmlns:a16="http://schemas.microsoft.com/office/drawing/2014/main" id="{A1110D2B-5B15-A745-A8F2-2AA4C8973C77}"/>
              </a:ext>
            </a:extLst>
          </p:cNvPr>
          <p:cNvSpPr/>
          <p:nvPr/>
        </p:nvSpPr>
        <p:spPr>
          <a:xfrm>
            <a:off x="670570" y="4938603"/>
            <a:ext cx="6720372" cy="1554272"/>
          </a:xfrm>
          <a:prstGeom prst="rect">
            <a:avLst/>
          </a:prstGeom>
        </p:spPr>
        <p:txBody>
          <a:bodyPr wrap="square">
            <a:spAutoFit/>
          </a:bodyPr>
          <a:lstStyle/>
          <a:p>
            <a:pPr algn="ctr"/>
            <a:r>
              <a:rPr lang="en-ZA" sz="2800" i="1" dirty="0"/>
              <a:t>Can Quantum-Mechanical Description of Physical Reality Be Considered Complete?</a:t>
            </a:r>
            <a:r>
              <a:rPr lang="en-US" sz="2800" i="1" dirty="0"/>
              <a:t> </a:t>
            </a:r>
          </a:p>
          <a:p>
            <a:pPr algn="ctr"/>
            <a:endParaRPr lang="en-US" sz="1100" i="1" dirty="0"/>
          </a:p>
          <a:p>
            <a:pPr algn="ctr"/>
            <a:r>
              <a:rPr lang="en-US" sz="2800" i="1" dirty="0"/>
              <a:t>Physical Review (1935)</a:t>
            </a:r>
          </a:p>
        </p:txBody>
      </p:sp>
      <p:pic>
        <p:nvPicPr>
          <p:cNvPr id="9" name="Picture 8">
            <a:extLst>
              <a:ext uri="{FF2B5EF4-FFF2-40B4-BE49-F238E27FC236}">
                <a16:creationId xmlns:a16="http://schemas.microsoft.com/office/drawing/2014/main" id="{0A00B404-F46F-0742-AAEB-4AAE15225AFE}"/>
              </a:ext>
            </a:extLst>
          </p:cNvPr>
          <p:cNvPicPr>
            <a:picLocks noChangeAspect="1"/>
          </p:cNvPicPr>
          <p:nvPr/>
        </p:nvPicPr>
        <p:blipFill>
          <a:blip r:embed="rId4"/>
          <a:stretch>
            <a:fillRect/>
          </a:stretch>
        </p:blipFill>
        <p:spPr>
          <a:xfrm>
            <a:off x="1055694" y="928688"/>
            <a:ext cx="6260039" cy="3187077"/>
          </a:xfrm>
          <a:prstGeom prst="rect">
            <a:avLst/>
          </a:prstGeom>
        </p:spPr>
      </p:pic>
    </p:spTree>
    <p:extLst>
      <p:ext uri="{BB962C8B-B14F-4D97-AF65-F5344CB8AC3E}">
        <p14:creationId xmlns:p14="http://schemas.microsoft.com/office/powerpoint/2010/main" val="1500004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7D777D-542C-3A4B-BEB1-6DD5EC878F87}"/>
              </a:ext>
            </a:extLst>
          </p:cNvPr>
          <p:cNvSpPr>
            <a:spLocks noGrp="1"/>
          </p:cNvSpPr>
          <p:nvPr>
            <p:ph type="title"/>
          </p:nvPr>
        </p:nvSpPr>
        <p:spPr/>
        <p:txBody>
          <a:bodyPr/>
          <a:lstStyle/>
          <a:p>
            <a:r>
              <a:rPr lang="en-ZA" dirty="0"/>
              <a:t>The No-communication Theorem</a:t>
            </a:r>
            <a:endParaRPr lang="en-US"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2F803F7C-7234-B24D-896B-FC05BB1E1356}"/>
                  </a:ext>
                </a:extLst>
              </p:cNvPr>
              <p:cNvSpPr/>
              <p:nvPr/>
            </p:nvSpPr>
            <p:spPr>
              <a:xfrm>
                <a:off x="2863524" y="9613668"/>
                <a:ext cx="3416128"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0</m:t>
                              </m:r>
                            </m:e>
                            <m:sub>
                              <m:r>
                                <a:rPr lang="en-US" sz="2400" i="1">
                                  <a:latin typeface="Cambria Math" panose="02040503050406030204" pitchFamily="18" charset="0"/>
                                </a:rPr>
                                <m:t>𝐴</m:t>
                              </m:r>
                            </m:sub>
                          </m:sSub>
                        </m:e>
                      </m:d>
                      <m:r>
                        <a:rPr lang="en-US" sz="2400" b="0" i="1" smtClean="0">
                          <a:latin typeface="Cambria Math" panose="02040503050406030204" pitchFamily="18" charset="0"/>
                        </a:rPr>
                        <m:t> </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0</m:t>
                                  </m:r>
                                </m:e>
                                <m:sub>
                                  <m:r>
                                    <a:rPr lang="en-US" sz="2400" i="1">
                                      <a:latin typeface="Cambria Math" panose="02040503050406030204" pitchFamily="18" charset="0"/>
                                    </a:rPr>
                                    <m:t>𝐴</m:t>
                                  </m:r>
                                </m:sub>
                              </m:sSub>
                            </m:e>
                          </m:d>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0</m:t>
                                  </m:r>
                                </m:e>
                                <m:sub>
                                  <m:r>
                                    <a:rPr lang="en-US" sz="2400" i="1">
                                      <a:latin typeface="Cambria Math" panose="02040503050406030204" pitchFamily="18" charset="0"/>
                                    </a:rPr>
                                    <m:t>𝐵</m:t>
                                  </m:r>
                                </m:sub>
                              </m:sSub>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1</m:t>
                                  </m:r>
                                </m:e>
                                <m:sub>
                                  <m:r>
                                    <a:rPr lang="en-US" sz="2400" i="1">
                                      <a:latin typeface="Cambria Math" panose="02040503050406030204" pitchFamily="18" charset="0"/>
                                    </a:rPr>
                                    <m:t>𝐴</m:t>
                                  </m:r>
                                </m:sub>
                              </m:sSub>
                            </m:e>
                          </m:d>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1</m:t>
                                  </m:r>
                                </m:e>
                                <m:sub>
                                  <m:r>
                                    <a:rPr lang="en-US" sz="2400" i="1">
                                      <a:latin typeface="Cambria Math" panose="02040503050406030204" pitchFamily="18" charset="0"/>
                                    </a:rPr>
                                    <m:t>𝐵</m:t>
                                  </m:r>
                                </m:sub>
                              </m:sSub>
                            </m:e>
                          </m:d>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oMath>
                  </m:oMathPara>
                </a14:m>
                <a:endParaRPr lang="en-US" sz="2400" dirty="0"/>
              </a:p>
            </p:txBody>
          </p:sp>
        </mc:Choice>
        <mc:Fallback xmlns="">
          <p:sp>
            <p:nvSpPr>
              <p:cNvPr id="32" name="Rectangle 31">
                <a:extLst>
                  <a:ext uri="{FF2B5EF4-FFF2-40B4-BE49-F238E27FC236}">
                    <a16:creationId xmlns:a16="http://schemas.microsoft.com/office/drawing/2014/main" id="{2F803F7C-7234-B24D-896B-FC05BB1E1356}"/>
                  </a:ext>
                </a:extLst>
              </p:cNvPr>
              <p:cNvSpPr>
                <a:spLocks noRot="1" noChangeAspect="1" noMove="1" noResize="1" noEditPoints="1" noAdjustHandles="1" noChangeArrowheads="1" noChangeShapeType="1" noTextEdit="1"/>
              </p:cNvSpPr>
              <p:nvPr/>
            </p:nvSpPr>
            <p:spPr>
              <a:xfrm>
                <a:off x="2863524" y="9613668"/>
                <a:ext cx="3416128" cy="876202"/>
              </a:xfrm>
              <a:prstGeom prst="rect">
                <a:avLst/>
              </a:prstGeom>
              <a:blipFill>
                <a:blip r:embed="rId8"/>
                <a:stretch>
                  <a:fillRect b="-1429"/>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8584B167-F1A4-AD47-9568-C765F42B2FBB}"/>
              </a:ext>
            </a:extLst>
          </p:cNvPr>
          <p:cNvSpPr/>
          <p:nvPr/>
        </p:nvSpPr>
        <p:spPr>
          <a:xfrm>
            <a:off x="1171097" y="1470476"/>
            <a:ext cx="4574515" cy="1922370"/>
          </a:xfrm>
          <a:prstGeom prst="ellipse">
            <a:avLst/>
          </a:prstGeom>
          <a:noFill/>
          <a:ln>
            <a:solidFill>
              <a:schemeClr val="bg1">
                <a:alpha val="10000"/>
              </a:schemeClr>
            </a:solidFill>
          </a:ln>
          <a:effectLst>
            <a:glow rad="622300">
              <a:schemeClr val="accent5">
                <a:satMod val="175000"/>
                <a:alpha val="20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FCE2E19-8E9E-CD4F-8305-3514273B970E}"/>
              </a:ext>
            </a:extLst>
          </p:cNvPr>
          <p:cNvSpPr/>
          <p:nvPr/>
        </p:nvSpPr>
        <p:spPr>
          <a:xfrm>
            <a:off x="6096000" y="1527549"/>
            <a:ext cx="4574515" cy="1922370"/>
          </a:xfrm>
          <a:prstGeom prst="ellipse">
            <a:avLst/>
          </a:prstGeom>
          <a:noFill/>
          <a:ln>
            <a:solidFill>
              <a:schemeClr val="bg1">
                <a:alpha val="10000"/>
              </a:schemeClr>
            </a:solidFill>
          </a:ln>
          <a:effectLst>
            <a:glow rad="622300">
              <a:schemeClr val="accent5">
                <a:satMod val="175000"/>
                <a:alpha val="20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924C63F8-A73D-4044-A21F-247B6749BA4D}"/>
                  </a:ext>
                </a:extLst>
              </p:cNvPr>
              <p:cNvSpPr/>
              <p:nvPr/>
            </p:nvSpPr>
            <p:spPr>
              <a:xfrm>
                <a:off x="4850469" y="2119028"/>
                <a:ext cx="1974515"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rgbClr val="FF000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0</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40" name="Rectangle 39">
                <a:extLst>
                  <a:ext uri="{FF2B5EF4-FFF2-40B4-BE49-F238E27FC236}">
                    <a16:creationId xmlns:a16="http://schemas.microsoft.com/office/drawing/2014/main" id="{924C63F8-A73D-4044-A21F-247B6749BA4D}"/>
                  </a:ext>
                </a:extLst>
              </p:cNvPr>
              <p:cNvSpPr>
                <a:spLocks noRot="1" noChangeAspect="1" noMove="1" noResize="1" noEditPoints="1" noAdjustHandles="1" noChangeArrowheads="1" noChangeShapeType="1" noTextEdit="1"/>
              </p:cNvSpPr>
              <p:nvPr/>
            </p:nvSpPr>
            <p:spPr>
              <a:xfrm>
                <a:off x="4850469" y="2119028"/>
                <a:ext cx="1974515" cy="1006814"/>
              </a:xfrm>
              <a:prstGeom prst="rect">
                <a:avLst/>
              </a:prstGeom>
              <a:blipFill>
                <a:blip r:embed="rId9"/>
                <a:stretch>
                  <a:fillRect l="-641" t="-72500" r="-19872" b="-56250"/>
                </a:stretch>
              </a:blipFill>
            </p:spPr>
            <p:txBody>
              <a:bodyPr/>
              <a:lstStyle/>
              <a:p>
                <a:r>
                  <a:rPr lang="en-US">
                    <a:noFill/>
                  </a:rPr>
                  <a:t> </a:t>
                </a:r>
              </a:p>
            </p:txBody>
          </p:sp>
        </mc:Fallback>
      </mc:AlternateContent>
      <p:sp>
        <p:nvSpPr>
          <p:cNvPr id="41" name="Arc 40">
            <a:extLst>
              <a:ext uri="{FF2B5EF4-FFF2-40B4-BE49-F238E27FC236}">
                <a16:creationId xmlns:a16="http://schemas.microsoft.com/office/drawing/2014/main" id="{3B04CECF-C78E-C640-9E2B-7142CFD55823}"/>
              </a:ext>
            </a:extLst>
          </p:cNvPr>
          <p:cNvSpPr/>
          <p:nvPr/>
        </p:nvSpPr>
        <p:spPr>
          <a:xfrm flipH="1">
            <a:off x="2728879" y="1954690"/>
            <a:ext cx="2875257" cy="2212923"/>
          </a:xfrm>
          <a:prstGeom prst="arc">
            <a:avLst>
              <a:gd name="adj1" fmla="val 13143119"/>
              <a:gd name="adj2" fmla="val 19650731"/>
            </a:avLst>
          </a:prstGeom>
          <a:ln>
            <a:solidFill>
              <a:srgbClr val="FF0000"/>
            </a:solidFill>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Arc 41">
            <a:extLst>
              <a:ext uri="{FF2B5EF4-FFF2-40B4-BE49-F238E27FC236}">
                <a16:creationId xmlns:a16="http://schemas.microsoft.com/office/drawing/2014/main" id="{03434A1F-CB67-F441-A86D-3FBAFE74CAF7}"/>
              </a:ext>
            </a:extLst>
          </p:cNvPr>
          <p:cNvSpPr/>
          <p:nvPr/>
        </p:nvSpPr>
        <p:spPr>
          <a:xfrm flipH="1">
            <a:off x="3225173" y="1392097"/>
            <a:ext cx="2982804" cy="1453861"/>
          </a:xfrm>
          <a:prstGeom prst="arc">
            <a:avLst>
              <a:gd name="adj1" fmla="val 10703046"/>
              <a:gd name="adj2" fmla="val 21102452"/>
            </a:avLst>
          </a:prstGeom>
          <a:ln>
            <a:solidFill>
              <a:srgbClr val="FF0000"/>
            </a:solidFill>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Arc 42">
            <a:extLst>
              <a:ext uri="{FF2B5EF4-FFF2-40B4-BE49-F238E27FC236}">
                <a16:creationId xmlns:a16="http://schemas.microsoft.com/office/drawing/2014/main" id="{254E878A-5FFE-F842-AE3D-56294BC43E7D}"/>
              </a:ext>
            </a:extLst>
          </p:cNvPr>
          <p:cNvSpPr/>
          <p:nvPr/>
        </p:nvSpPr>
        <p:spPr>
          <a:xfrm>
            <a:off x="5454310" y="1823267"/>
            <a:ext cx="2875257" cy="1173193"/>
          </a:xfrm>
          <a:prstGeom prst="arc">
            <a:avLst>
              <a:gd name="adj1" fmla="val 11365021"/>
              <a:gd name="adj2" fmla="val 0"/>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Arc 43">
            <a:extLst>
              <a:ext uri="{FF2B5EF4-FFF2-40B4-BE49-F238E27FC236}">
                <a16:creationId xmlns:a16="http://schemas.microsoft.com/office/drawing/2014/main" id="{6C16F405-F511-E041-92C1-2E9C3D7B85F8}"/>
              </a:ext>
            </a:extLst>
          </p:cNvPr>
          <p:cNvSpPr/>
          <p:nvPr/>
        </p:nvSpPr>
        <p:spPr>
          <a:xfrm>
            <a:off x="6490309" y="1600332"/>
            <a:ext cx="2226261" cy="1173193"/>
          </a:xfrm>
          <a:prstGeom prst="arc">
            <a:avLst>
              <a:gd name="adj1" fmla="val 10961464"/>
              <a:gd name="adj2" fmla="val 0"/>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5" name="Picture 44">
            <a:extLst>
              <a:ext uri="{FF2B5EF4-FFF2-40B4-BE49-F238E27FC236}">
                <a16:creationId xmlns:a16="http://schemas.microsoft.com/office/drawing/2014/main" id="{C2B3D229-A74E-B34E-B996-48CC2705241B}"/>
              </a:ext>
            </a:extLst>
          </p:cNvPr>
          <p:cNvPicPr>
            <a:picLocks noChangeAspect="1"/>
          </p:cNvPicPr>
          <p:nvPr/>
        </p:nvPicPr>
        <p:blipFill>
          <a:blip r:embed="rId10"/>
          <a:stretch>
            <a:fillRect/>
          </a:stretch>
        </p:blipFill>
        <p:spPr>
          <a:xfrm>
            <a:off x="8488361" y="2156713"/>
            <a:ext cx="1300835" cy="1926770"/>
          </a:xfrm>
          <a:prstGeom prst="rect">
            <a:avLst/>
          </a:prstGeom>
        </p:spPr>
      </p:pic>
      <p:pic>
        <p:nvPicPr>
          <p:cNvPr id="46" name="Picture 45">
            <a:extLst>
              <a:ext uri="{FF2B5EF4-FFF2-40B4-BE49-F238E27FC236}">
                <a16:creationId xmlns:a16="http://schemas.microsoft.com/office/drawing/2014/main" id="{18F00090-EFC5-8248-9571-1D6BBC0C9A73}"/>
              </a:ext>
            </a:extLst>
          </p:cNvPr>
          <p:cNvPicPr>
            <a:picLocks noChangeAspect="1"/>
          </p:cNvPicPr>
          <p:nvPr/>
        </p:nvPicPr>
        <p:blipFill>
          <a:blip r:embed="rId11"/>
          <a:stretch>
            <a:fillRect/>
          </a:stretch>
        </p:blipFill>
        <p:spPr>
          <a:xfrm>
            <a:off x="2211209" y="2404263"/>
            <a:ext cx="1089868" cy="1678816"/>
          </a:xfrm>
          <a:prstGeom prst="rect">
            <a:avLst/>
          </a:prstGeom>
        </p:spPr>
      </p:pic>
      <p:grpSp>
        <p:nvGrpSpPr>
          <p:cNvPr id="47" name="Group 46">
            <a:extLst>
              <a:ext uri="{FF2B5EF4-FFF2-40B4-BE49-F238E27FC236}">
                <a16:creationId xmlns:a16="http://schemas.microsoft.com/office/drawing/2014/main" id="{71502764-641D-6F45-B864-846BFDF75650}"/>
              </a:ext>
            </a:extLst>
          </p:cNvPr>
          <p:cNvGrpSpPr/>
          <p:nvPr/>
        </p:nvGrpSpPr>
        <p:grpSpPr>
          <a:xfrm>
            <a:off x="263826" y="4140101"/>
            <a:ext cx="11664347" cy="2697875"/>
            <a:chOff x="263826" y="4140101"/>
            <a:chExt cx="11664347" cy="2697875"/>
          </a:xfrm>
        </p:grpSpPr>
        <p:grpSp>
          <p:nvGrpSpPr>
            <p:cNvPr id="48" name="Group 47">
              <a:extLst>
                <a:ext uri="{FF2B5EF4-FFF2-40B4-BE49-F238E27FC236}">
                  <a16:creationId xmlns:a16="http://schemas.microsoft.com/office/drawing/2014/main" id="{131C2C65-6ADD-7242-9EF0-45CC7B495FCB}"/>
                </a:ext>
              </a:extLst>
            </p:cNvPr>
            <p:cNvGrpSpPr/>
            <p:nvPr/>
          </p:nvGrpSpPr>
          <p:grpSpPr>
            <a:xfrm>
              <a:off x="1229662" y="4140101"/>
              <a:ext cx="4128491" cy="2085510"/>
              <a:chOff x="1229662" y="4352751"/>
              <a:chExt cx="4128491" cy="2085510"/>
            </a:xfrm>
          </p:grpSpPr>
          <p:sp>
            <p:nvSpPr>
              <p:cNvPr id="57" name="Down Arrow 56">
                <a:extLst>
                  <a:ext uri="{FF2B5EF4-FFF2-40B4-BE49-F238E27FC236}">
                    <a16:creationId xmlns:a16="http://schemas.microsoft.com/office/drawing/2014/main" id="{0D48755A-1951-C24D-BB7E-4D2F64CC791C}"/>
                  </a:ext>
                </a:extLst>
              </p:cNvPr>
              <p:cNvSpPr/>
              <p:nvPr/>
            </p:nvSpPr>
            <p:spPr>
              <a:xfrm>
                <a:off x="2548879" y="4352751"/>
                <a:ext cx="360000" cy="569416"/>
              </a:xfrm>
              <a:prstGeom prst="downArrow">
                <a:avLst>
                  <a:gd name="adj1" fmla="val 57697"/>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1F1EE87B-2FFE-9D4C-9A9F-BEDD47E09C33}"/>
                  </a:ext>
                </a:extLst>
              </p:cNvPr>
              <p:cNvGrpSpPr/>
              <p:nvPr/>
            </p:nvGrpSpPr>
            <p:grpSpPr>
              <a:xfrm>
                <a:off x="2368879" y="5067071"/>
                <a:ext cx="720000" cy="807700"/>
                <a:chOff x="7526585" y="3067457"/>
                <a:chExt cx="720000" cy="807700"/>
              </a:xfrm>
            </p:grpSpPr>
            <p:sp>
              <p:nvSpPr>
                <p:cNvPr id="60" name="Rectangle 59">
                  <a:extLst>
                    <a:ext uri="{FF2B5EF4-FFF2-40B4-BE49-F238E27FC236}">
                      <a16:creationId xmlns:a16="http://schemas.microsoft.com/office/drawing/2014/main" id="{466C830D-919A-DF45-821E-2811EA59AAF1}"/>
                    </a:ext>
                  </a:extLst>
                </p:cNvPr>
                <p:cNvSpPr/>
                <p:nvPr/>
              </p:nvSpPr>
              <p:spPr>
                <a:xfrm>
                  <a:off x="7526585" y="306745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61" name="Arc 60">
                  <a:extLst>
                    <a:ext uri="{FF2B5EF4-FFF2-40B4-BE49-F238E27FC236}">
                      <a16:creationId xmlns:a16="http://schemas.microsoft.com/office/drawing/2014/main" id="{19E5B6A6-D0A4-1C46-9F8D-B401F5EC34BA}"/>
                    </a:ext>
                  </a:extLst>
                </p:cNvPr>
                <p:cNvSpPr/>
                <p:nvPr/>
              </p:nvSpPr>
              <p:spPr>
                <a:xfrm>
                  <a:off x="7632585" y="335074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9B7470D9-56BF-414E-B088-04FBBE1A9988}"/>
                    </a:ext>
                  </a:extLst>
                </p:cNvPr>
                <p:cNvCxnSpPr>
                  <a:cxnSpLocks/>
                </p:cNvCxnSpPr>
                <p:nvPr/>
              </p:nvCxnSpPr>
              <p:spPr>
                <a:xfrm flipV="1">
                  <a:off x="7886585" y="324140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A28A110F-1FBA-2043-8397-0A924C788C8C}"/>
                      </a:ext>
                    </a:extLst>
                  </p:cNvPr>
                  <p:cNvSpPr/>
                  <p:nvPr/>
                </p:nvSpPr>
                <p:spPr>
                  <a:xfrm>
                    <a:off x="1229662" y="5915041"/>
                    <a:ext cx="4128491" cy="523220"/>
                  </a:xfrm>
                  <a:prstGeom prst="rect">
                    <a:avLst/>
                  </a:prstGeom>
                </p:spPr>
                <p:txBody>
                  <a:bodyPr wrap="square">
                    <a:spAutoFit/>
                  </a:bodyPr>
                  <a:lstStyle/>
                  <a:p>
                    <a14:m>
                      <m:oMath xmlns:m="http://schemas.openxmlformats.org/officeDocument/2006/math">
                        <m:sSub>
                          <m:sSubPr>
                            <m:ctrlPr>
                              <a:rPr lang="sr-Latn-RS" sz="280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0</m:t>
                            </m:r>
                          </m:e>
                          <m:sub>
                            <m:r>
                              <a:rPr lang="sr-Latn-RS" sz="2800" i="1">
                                <a:solidFill>
                                  <a:srgbClr val="FF0000"/>
                                </a:solidFill>
                                <a:latin typeface="Cambria Math" panose="02040503050406030204" pitchFamily="18" charset="0"/>
                              </a:rPr>
                              <m:t>𝐴</m:t>
                            </m:r>
                          </m:sub>
                        </m:sSub>
                        <m:r>
                          <a:rPr lang="en-US" sz="2800" b="0" i="1" smtClean="0">
                            <a:latin typeface="Cambria Math" panose="02040503050406030204" pitchFamily="18" charset="0"/>
                          </a:rPr>
                          <m:t> </m:t>
                        </m:r>
                        <m:r>
                          <m:rPr>
                            <m:sty m:val="p"/>
                          </m:rPr>
                          <a:rPr lang="sr-Latn-RS" sz="2800" b="0" i="0" smtClean="0">
                            <a:latin typeface="Cambria Math" panose="02040503050406030204" pitchFamily="18" charset="0"/>
                          </a:rPr>
                          <m:t>or</m:t>
                        </m:r>
                        <m:r>
                          <a:rPr lang="en-US" sz="2800" b="0" i="1" smtClean="0">
                            <a:latin typeface="Cambria Math" panose="02040503050406030204" pitchFamily="18" charset="0"/>
                          </a:rPr>
                          <m:t> </m:t>
                        </m:r>
                        <m:sSub>
                          <m:sSubPr>
                            <m:ctrlPr>
                              <a:rPr lang="sr-Latn-R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1</m:t>
                            </m:r>
                          </m:e>
                          <m:sub>
                            <m:r>
                              <a:rPr lang="sr-Latn-RS" sz="2800" i="1">
                                <a:solidFill>
                                  <a:srgbClr val="FF0000"/>
                                </a:solidFill>
                                <a:latin typeface="Cambria Math" panose="02040503050406030204" pitchFamily="18" charset="0"/>
                              </a:rPr>
                              <m:t>𝐴</m:t>
                            </m:r>
                          </m:sub>
                        </m:sSub>
                      </m:oMath>
                    </a14:m>
                    <a:r>
                      <a:rPr lang="en-US" sz="2800" dirty="0"/>
                      <a:t> (50% - 50%)</a:t>
                    </a:r>
                  </a:p>
                </p:txBody>
              </p:sp>
            </mc:Choice>
            <mc:Fallback xmlns="">
              <p:sp>
                <p:nvSpPr>
                  <p:cNvPr id="59" name="Rectangle 58">
                    <a:extLst>
                      <a:ext uri="{FF2B5EF4-FFF2-40B4-BE49-F238E27FC236}">
                        <a16:creationId xmlns:a16="http://schemas.microsoft.com/office/drawing/2014/main" id="{A28A110F-1FBA-2043-8397-0A924C788C8C}"/>
                      </a:ext>
                    </a:extLst>
                  </p:cNvPr>
                  <p:cNvSpPr>
                    <a:spLocks noRot="1" noChangeAspect="1" noMove="1" noResize="1" noEditPoints="1" noAdjustHandles="1" noChangeArrowheads="1" noChangeShapeType="1" noTextEdit="1"/>
                  </p:cNvSpPr>
                  <p:nvPr/>
                </p:nvSpPr>
                <p:spPr>
                  <a:xfrm>
                    <a:off x="1229662" y="5915041"/>
                    <a:ext cx="4128491" cy="523220"/>
                  </a:xfrm>
                  <a:prstGeom prst="rect">
                    <a:avLst/>
                  </a:prstGeom>
                  <a:blipFill>
                    <a:blip r:embed="rId12"/>
                    <a:stretch>
                      <a:fillRect l="-613" t="-9524" b="-30952"/>
                    </a:stretch>
                  </a:blipFill>
                </p:spPr>
                <p:txBody>
                  <a:bodyPr/>
                  <a:lstStyle/>
                  <a:p>
                    <a:r>
                      <a:rPr lang="en-US">
                        <a:noFill/>
                      </a:rPr>
                      <a:t> </a:t>
                    </a:r>
                  </a:p>
                </p:txBody>
              </p:sp>
            </mc:Fallback>
          </mc:AlternateContent>
        </p:grpSp>
        <p:grpSp>
          <p:nvGrpSpPr>
            <p:cNvPr id="49" name="Group 48">
              <a:extLst>
                <a:ext uri="{FF2B5EF4-FFF2-40B4-BE49-F238E27FC236}">
                  <a16:creationId xmlns:a16="http://schemas.microsoft.com/office/drawing/2014/main" id="{05ED8CC1-95A8-D045-A179-6BB9495AA7C9}"/>
                </a:ext>
              </a:extLst>
            </p:cNvPr>
            <p:cNvGrpSpPr/>
            <p:nvPr/>
          </p:nvGrpSpPr>
          <p:grpSpPr>
            <a:xfrm>
              <a:off x="7266126" y="4170455"/>
              <a:ext cx="4128491" cy="2101594"/>
              <a:chOff x="676226" y="4352751"/>
              <a:chExt cx="4128491" cy="2101594"/>
            </a:xfrm>
          </p:grpSpPr>
          <p:sp>
            <p:nvSpPr>
              <p:cNvPr id="51" name="Down Arrow 50">
                <a:extLst>
                  <a:ext uri="{FF2B5EF4-FFF2-40B4-BE49-F238E27FC236}">
                    <a16:creationId xmlns:a16="http://schemas.microsoft.com/office/drawing/2014/main" id="{73B00789-33A2-6847-A472-671DDAC4A251}"/>
                  </a:ext>
                </a:extLst>
              </p:cNvPr>
              <p:cNvSpPr/>
              <p:nvPr/>
            </p:nvSpPr>
            <p:spPr>
              <a:xfrm>
                <a:off x="2548879" y="4352751"/>
                <a:ext cx="360000" cy="569416"/>
              </a:xfrm>
              <a:prstGeom prst="downArrow">
                <a:avLst>
                  <a:gd name="adj1" fmla="val 57697"/>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7B6164AB-DE87-3C47-9C0B-487B9F08FEDC}"/>
                  </a:ext>
                </a:extLst>
              </p:cNvPr>
              <p:cNvGrpSpPr/>
              <p:nvPr/>
            </p:nvGrpSpPr>
            <p:grpSpPr>
              <a:xfrm>
                <a:off x="2368879" y="5067071"/>
                <a:ext cx="720000" cy="807700"/>
                <a:chOff x="7526585" y="3067457"/>
                <a:chExt cx="720000" cy="807700"/>
              </a:xfrm>
            </p:grpSpPr>
            <p:sp>
              <p:nvSpPr>
                <p:cNvPr id="54" name="Rectangle 53">
                  <a:extLst>
                    <a:ext uri="{FF2B5EF4-FFF2-40B4-BE49-F238E27FC236}">
                      <a16:creationId xmlns:a16="http://schemas.microsoft.com/office/drawing/2014/main" id="{6A42A4F7-3D5B-1A45-8F7A-F668268F46C2}"/>
                    </a:ext>
                  </a:extLst>
                </p:cNvPr>
                <p:cNvSpPr/>
                <p:nvPr/>
              </p:nvSpPr>
              <p:spPr>
                <a:xfrm>
                  <a:off x="7526585" y="306745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55" name="Arc 54">
                  <a:extLst>
                    <a:ext uri="{FF2B5EF4-FFF2-40B4-BE49-F238E27FC236}">
                      <a16:creationId xmlns:a16="http://schemas.microsoft.com/office/drawing/2014/main" id="{C2DAC03F-C4C6-1E48-A70C-498466243886}"/>
                    </a:ext>
                  </a:extLst>
                </p:cNvPr>
                <p:cNvSpPr/>
                <p:nvPr/>
              </p:nvSpPr>
              <p:spPr>
                <a:xfrm>
                  <a:off x="7632585" y="335074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7C48BF1D-1B30-7841-BECA-215864900596}"/>
                    </a:ext>
                  </a:extLst>
                </p:cNvPr>
                <p:cNvCxnSpPr>
                  <a:cxnSpLocks/>
                </p:cNvCxnSpPr>
                <p:nvPr/>
              </p:nvCxnSpPr>
              <p:spPr>
                <a:xfrm flipV="1">
                  <a:off x="7886585" y="324140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DA72E43F-C447-4747-8940-02C7E09B136B}"/>
                      </a:ext>
                    </a:extLst>
                  </p:cNvPr>
                  <p:cNvSpPr/>
                  <p:nvPr/>
                </p:nvSpPr>
                <p:spPr>
                  <a:xfrm>
                    <a:off x="676226" y="5931125"/>
                    <a:ext cx="4128491" cy="52322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sr-Latn-RS" sz="2800" i="1" smtClean="0">
                                  <a:solidFill>
                                    <a:srgbClr val="FF0000"/>
                                  </a:solidFill>
                                  <a:latin typeface="Cambria Math" panose="02040503050406030204" pitchFamily="18" charset="0"/>
                                </a:rPr>
                              </m:ctrlPr>
                            </m:sSubPr>
                            <m:e>
                              <m:r>
                                <a:rPr lang="sr-Latn-RS" sz="2800" i="1">
                                  <a:solidFill>
                                    <a:srgbClr val="FF0000"/>
                                  </a:solidFill>
                                  <a:latin typeface="Cambria Math" panose="02040503050406030204" pitchFamily="18" charset="0"/>
                                </a:rPr>
                                <m:t>0</m:t>
                              </m:r>
                            </m:e>
                            <m:sub>
                              <m:r>
                                <a:rPr lang="sr-Latn-RS" sz="2800" b="0" i="1" smtClean="0">
                                  <a:solidFill>
                                    <a:srgbClr val="FF0000"/>
                                  </a:solidFill>
                                  <a:latin typeface="Cambria Math" panose="02040503050406030204" pitchFamily="18" charset="0"/>
                                </a:rPr>
                                <m:t>𝐴</m:t>
                              </m:r>
                            </m:sub>
                          </m:sSub>
                          <m:sSub>
                            <m:sSubPr>
                              <m:ctrlPr>
                                <a:rPr lang="sr-Latn-RS" sz="2800" i="1" smtClean="0">
                                  <a:latin typeface="Cambria Math" panose="02040503050406030204" pitchFamily="18" charset="0"/>
                                </a:rPr>
                              </m:ctrlPr>
                            </m:sSubPr>
                            <m:e>
                              <m:r>
                                <a:rPr lang="sr-Latn-RS" sz="280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rPr>
                                <m:t>0</m:t>
                              </m:r>
                            </m:e>
                            <m:sub>
                              <m:r>
                                <a:rPr lang="sr-Latn-RS" sz="2800" b="0" i="1" smtClean="0">
                                  <a:latin typeface="Cambria Math" panose="02040503050406030204" pitchFamily="18" charset="0"/>
                                </a:rPr>
                                <m:t>𝐵</m:t>
                              </m:r>
                            </m:sub>
                          </m:sSub>
                          <m:r>
                            <a:rPr lang="en-US" sz="2800" b="0" i="1" smtClean="0">
                              <a:latin typeface="Cambria Math" panose="02040503050406030204" pitchFamily="18" charset="0"/>
                            </a:rPr>
                            <m:t> </m:t>
                          </m:r>
                          <m:r>
                            <a:rPr lang="sr-Latn-RS" sz="2800" b="0" i="1" smtClean="0">
                              <a:latin typeface="Cambria Math" panose="02040503050406030204" pitchFamily="18" charset="0"/>
                            </a:rPr>
                            <m:t> /  </m:t>
                          </m:r>
                          <m:sSub>
                            <m:sSubPr>
                              <m:ctrlPr>
                                <a:rPr lang="sr-Latn-RS" sz="2800" i="1" smtClean="0">
                                  <a:solidFill>
                                    <a:srgbClr val="FF0000"/>
                                  </a:solidFill>
                                  <a:latin typeface="Cambria Math" panose="02040503050406030204" pitchFamily="18" charset="0"/>
                                </a:rPr>
                              </m:ctrlPr>
                            </m:sSubPr>
                            <m:e>
                              <m:r>
                                <a:rPr lang="sr-Latn-RS" sz="2800" i="1">
                                  <a:solidFill>
                                    <a:srgbClr val="FF0000"/>
                                  </a:solidFill>
                                  <a:latin typeface="Cambria Math" panose="02040503050406030204" pitchFamily="18" charset="0"/>
                                </a:rPr>
                                <m:t>1</m:t>
                              </m:r>
                            </m:e>
                            <m:sub>
                              <m:r>
                                <a:rPr lang="sr-Latn-RS" sz="2800" b="0" i="1" smtClean="0">
                                  <a:solidFill>
                                    <a:srgbClr val="FF0000"/>
                                  </a:solidFill>
                                  <a:latin typeface="Cambria Math" panose="02040503050406030204" pitchFamily="18" charset="0"/>
                                </a:rPr>
                                <m:t>𝐴</m:t>
                              </m:r>
                            </m:sub>
                          </m:sSub>
                          <m:r>
                            <a:rPr lang="sr-Latn-RS" sz="2800" i="1">
                              <a:latin typeface="Cambria Math" panose="02040503050406030204" pitchFamily="18" charset="0"/>
                              <a:ea typeface="Cambria Math" panose="02040503050406030204" pitchFamily="18" charset="0"/>
                            </a:rPr>
                            <m:t>→</m:t>
                          </m:r>
                          <m:sSub>
                            <m:sSubPr>
                              <m:ctrlPr>
                                <a:rPr lang="sr-Latn-RS" sz="2800" i="1">
                                  <a:latin typeface="Cambria Math" panose="02040503050406030204" pitchFamily="18" charset="0"/>
                                </a:rPr>
                              </m:ctrlPr>
                            </m:sSubPr>
                            <m:e>
                              <m:r>
                                <a:rPr lang="sr-Latn-RS" sz="2800" b="0" i="1" smtClean="0">
                                  <a:latin typeface="Cambria Math" panose="02040503050406030204" pitchFamily="18" charset="0"/>
                                </a:rPr>
                                <m:t>1</m:t>
                              </m:r>
                            </m:e>
                            <m:sub>
                              <m:r>
                                <a:rPr lang="sr-Latn-RS" sz="2800" i="1">
                                  <a:latin typeface="Cambria Math" panose="02040503050406030204" pitchFamily="18" charset="0"/>
                                </a:rPr>
                                <m:t>𝐵</m:t>
                              </m:r>
                            </m:sub>
                          </m:sSub>
                        </m:oMath>
                      </m:oMathPara>
                    </a14:m>
                    <a:endParaRPr lang="en-US" sz="2800" dirty="0"/>
                  </a:p>
                </p:txBody>
              </p:sp>
            </mc:Choice>
            <mc:Fallback xmlns="">
              <p:sp>
                <p:nvSpPr>
                  <p:cNvPr id="53" name="Rectangle 52">
                    <a:extLst>
                      <a:ext uri="{FF2B5EF4-FFF2-40B4-BE49-F238E27FC236}">
                        <a16:creationId xmlns:a16="http://schemas.microsoft.com/office/drawing/2014/main" id="{DA72E43F-C447-4747-8940-02C7E09B136B}"/>
                      </a:ext>
                    </a:extLst>
                  </p:cNvPr>
                  <p:cNvSpPr>
                    <a:spLocks noRot="1" noChangeAspect="1" noMove="1" noResize="1" noEditPoints="1" noAdjustHandles="1" noChangeArrowheads="1" noChangeShapeType="1" noTextEdit="1"/>
                  </p:cNvSpPr>
                  <p:nvPr/>
                </p:nvSpPr>
                <p:spPr>
                  <a:xfrm>
                    <a:off x="676226" y="5931125"/>
                    <a:ext cx="4128491" cy="523220"/>
                  </a:xfrm>
                  <a:prstGeom prst="rect">
                    <a:avLst/>
                  </a:prstGeom>
                  <a:blipFill>
                    <a:blip r:embed="rId13"/>
                    <a:stretch>
                      <a:fillRect b="-19048"/>
                    </a:stretch>
                  </a:blipFill>
                </p:spPr>
                <p:txBody>
                  <a:bodyPr/>
                  <a:lstStyle/>
                  <a:p>
                    <a:r>
                      <a:rPr lang="en-US">
                        <a:noFill/>
                      </a:rPr>
                      <a:t> </a:t>
                    </a:r>
                  </a:p>
                </p:txBody>
              </p:sp>
            </mc:Fallback>
          </mc:AlternateContent>
        </p:grpSp>
        <p:sp>
          <p:nvSpPr>
            <p:cNvPr id="50" name="TextBox 49">
              <a:extLst>
                <a:ext uri="{FF2B5EF4-FFF2-40B4-BE49-F238E27FC236}">
                  <a16:creationId xmlns:a16="http://schemas.microsoft.com/office/drawing/2014/main" id="{95472081-54FE-3741-A45A-98AA85BDAFD9}"/>
                </a:ext>
              </a:extLst>
            </p:cNvPr>
            <p:cNvSpPr txBox="1"/>
            <p:nvPr/>
          </p:nvSpPr>
          <p:spPr>
            <a:xfrm>
              <a:off x="263826" y="6376311"/>
              <a:ext cx="11664347" cy="461665"/>
            </a:xfrm>
            <a:prstGeom prst="rect">
              <a:avLst/>
            </a:prstGeom>
            <a:solidFill>
              <a:schemeClr val="accent4">
                <a:lumMod val="20000"/>
                <a:lumOff val="80000"/>
              </a:schemeClr>
            </a:solidFill>
          </p:spPr>
          <p:txBody>
            <a:bodyPr wrap="none" rtlCol="0">
              <a:spAutoFit/>
            </a:bodyPr>
            <a:lstStyle/>
            <a:p>
              <a:r>
                <a:rPr lang="en-ZA" sz="2400" dirty="0"/>
                <a:t>Quantum entanglement alone cannot be used to transmit information between two parties.</a:t>
              </a:r>
              <a:endParaRPr lang="en-US" sz="2400" dirty="0"/>
            </a:p>
          </p:txBody>
        </p:sp>
      </p:grpSp>
    </p:spTree>
    <p:extLst>
      <p:ext uri="{BB962C8B-B14F-4D97-AF65-F5344CB8AC3E}">
        <p14:creationId xmlns:p14="http://schemas.microsoft.com/office/powerpoint/2010/main" val="381238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DA3035-F83D-D044-9234-4E4C9756055B}"/>
              </a:ext>
            </a:extLst>
          </p:cNvPr>
          <p:cNvSpPr>
            <a:spLocks noGrp="1"/>
          </p:cNvSpPr>
          <p:nvPr>
            <p:ph type="sldNum" sz="quarter" idx="12"/>
          </p:nvPr>
        </p:nvSpPr>
        <p:spPr/>
        <p:txBody>
          <a:bodyPr/>
          <a:lstStyle/>
          <a:p>
            <a:fld id="{591A223C-FA10-BC46-A853-03BA373D023C}" type="slidenum">
              <a:rPr lang="en-US" smtClean="0"/>
              <a:t>20</a:t>
            </a:fld>
            <a:endParaRPr lang="en-US" dirty="0"/>
          </a:p>
        </p:txBody>
      </p:sp>
      <p:sp>
        <p:nvSpPr>
          <p:cNvPr id="2" name="Title 1">
            <a:extLst>
              <a:ext uri="{FF2B5EF4-FFF2-40B4-BE49-F238E27FC236}">
                <a16:creationId xmlns:a16="http://schemas.microsoft.com/office/drawing/2014/main" id="{E455D213-BE69-4443-96FE-1F1738571583}"/>
              </a:ext>
            </a:extLst>
          </p:cNvPr>
          <p:cNvSpPr>
            <a:spLocks noGrp="1"/>
          </p:cNvSpPr>
          <p:nvPr>
            <p:ph type="title"/>
          </p:nvPr>
        </p:nvSpPr>
        <p:spPr/>
        <p:txBody>
          <a:bodyPr/>
          <a:lstStyle/>
          <a:p>
            <a:r>
              <a:rPr lang="en-ZA" dirty="0"/>
              <a:t>No-cloning Theorem</a:t>
            </a:r>
            <a:endParaRPr lang="en-US" dirty="0"/>
          </a:p>
        </p:txBody>
      </p:sp>
      <p:grpSp>
        <p:nvGrpSpPr>
          <p:cNvPr id="11" name="Group 10">
            <a:extLst>
              <a:ext uri="{FF2B5EF4-FFF2-40B4-BE49-F238E27FC236}">
                <a16:creationId xmlns:a16="http://schemas.microsoft.com/office/drawing/2014/main" id="{38D055C4-5EF5-A64D-9A54-8197DE42EB80}"/>
              </a:ext>
            </a:extLst>
          </p:cNvPr>
          <p:cNvGrpSpPr/>
          <p:nvPr/>
        </p:nvGrpSpPr>
        <p:grpSpPr>
          <a:xfrm>
            <a:off x="3785575" y="956531"/>
            <a:ext cx="5071926" cy="1524845"/>
            <a:chOff x="473733" y="1040731"/>
            <a:chExt cx="5071926" cy="1524845"/>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3276DE-D03A-894C-87B8-4D4F71EA4223}"/>
                    </a:ext>
                  </a:extLst>
                </p:cNvPr>
                <p:cNvSpPr>
                  <a:spLocks noChangeAspect="1"/>
                </p:cNvSpPr>
                <p:nvPr/>
              </p:nvSpPr>
              <p:spPr>
                <a:xfrm>
                  <a:off x="473733" y="1040731"/>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4" name="Oval 3">
                  <a:extLst>
                    <a:ext uri="{FF2B5EF4-FFF2-40B4-BE49-F238E27FC236}">
                      <a16:creationId xmlns:a16="http://schemas.microsoft.com/office/drawing/2014/main" id="{633276DE-D03A-894C-87B8-4D4F71EA4223}"/>
                    </a:ext>
                  </a:extLst>
                </p:cNvPr>
                <p:cNvSpPr>
                  <a:spLocks noRot="1" noChangeAspect="1" noMove="1" noResize="1" noEditPoints="1" noAdjustHandles="1" noChangeArrowheads="1" noChangeShapeType="1" noTextEdit="1"/>
                </p:cNvSpPr>
                <p:nvPr/>
              </p:nvSpPr>
              <p:spPr>
                <a:xfrm>
                  <a:off x="473733" y="1040731"/>
                  <a:ext cx="720000" cy="720000"/>
                </a:xfrm>
                <a:prstGeom prst="ellipse">
                  <a:avLst/>
                </a:prstGeom>
                <a:blipFill>
                  <a:blip r:embed="rId3"/>
                  <a:stretch>
                    <a:fillRect l="-32759" t="-82759" r="-46552" b="-13275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E3A22435-B525-1446-8B99-9D80EB018740}"/>
                    </a:ext>
                  </a:extLst>
                </p:cNvPr>
                <p:cNvSpPr>
                  <a:spLocks noChangeAspect="1"/>
                </p:cNvSpPr>
                <p:nvPr/>
              </p:nvSpPr>
              <p:spPr>
                <a:xfrm>
                  <a:off x="473733" y="1845576"/>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5" name="Oval 4">
                  <a:extLst>
                    <a:ext uri="{FF2B5EF4-FFF2-40B4-BE49-F238E27FC236}">
                      <a16:creationId xmlns:a16="http://schemas.microsoft.com/office/drawing/2014/main" id="{E3A22435-B525-1446-8B99-9D80EB018740}"/>
                    </a:ext>
                  </a:extLst>
                </p:cNvPr>
                <p:cNvSpPr>
                  <a:spLocks noRot="1" noChangeAspect="1" noMove="1" noResize="1" noEditPoints="1" noAdjustHandles="1" noChangeArrowheads="1" noChangeShapeType="1" noTextEdit="1"/>
                </p:cNvSpPr>
                <p:nvPr/>
              </p:nvSpPr>
              <p:spPr>
                <a:xfrm>
                  <a:off x="473733" y="1845576"/>
                  <a:ext cx="720000" cy="720000"/>
                </a:xfrm>
                <a:prstGeom prst="ellipse">
                  <a:avLst/>
                </a:prstGeom>
                <a:blipFill>
                  <a:blip r:embed="rId4"/>
                  <a:stretch>
                    <a:fillRect l="-32759" t="-82759" r="-48276" b="-131034"/>
                  </a:stretch>
                </a:blipFill>
                <a:ln>
                  <a:noFill/>
                </a:ln>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D2C05439-D42E-4E4A-AF35-413BA23EE998}"/>
                </a:ext>
              </a:extLst>
            </p:cNvPr>
            <p:cNvCxnSpPr>
              <a:cxnSpLocks/>
            </p:cNvCxnSpPr>
            <p:nvPr/>
          </p:nvCxnSpPr>
          <p:spPr>
            <a:xfrm>
              <a:off x="1330699" y="1400731"/>
              <a:ext cx="343247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53298A6-3237-5146-9FC6-188DADFF5789}"/>
                </a:ext>
              </a:extLst>
            </p:cNvPr>
            <p:cNvCxnSpPr>
              <a:cxnSpLocks/>
            </p:cNvCxnSpPr>
            <p:nvPr/>
          </p:nvCxnSpPr>
          <p:spPr>
            <a:xfrm>
              <a:off x="1330699" y="2113570"/>
              <a:ext cx="343247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E2AEFBE-67F5-2F4F-85B1-D2C6D1BDE48E}"/>
                </a:ext>
              </a:extLst>
            </p:cNvPr>
            <p:cNvSpPr/>
            <p:nvPr/>
          </p:nvSpPr>
          <p:spPr>
            <a:xfrm>
              <a:off x="2205827" y="1196389"/>
              <a:ext cx="1682219" cy="110158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i="1" dirty="0" err="1">
                  <a:solidFill>
                    <a:schemeClr val="tx1"/>
                  </a:solidFill>
                  <a:latin typeface="Cambria Math" panose="02040503050406030204" pitchFamily="18" charset="0"/>
                  <a:ea typeface="Cambria Math" panose="02040503050406030204" pitchFamily="18" charset="0"/>
                </a:rPr>
                <a:t>U</a:t>
              </a:r>
              <a:r>
                <a:rPr lang="en-US" sz="4000" i="1" baseline="-25000" dirty="0" err="1">
                  <a:solidFill>
                    <a:schemeClr val="tx1"/>
                  </a:solidFill>
                  <a:latin typeface="Cambria Math" panose="02040503050406030204" pitchFamily="18" charset="0"/>
                  <a:ea typeface="Cambria Math" panose="02040503050406030204" pitchFamily="18" charset="0"/>
                </a:rPr>
                <a:t>c</a:t>
              </a:r>
              <a:endParaRPr lang="en-US" sz="4000" i="1" baseline="-25000" dirty="0">
                <a:solidFill>
                  <a:schemeClr val="tx1"/>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7FDA4EE3-E758-174E-99C5-AA62FC554D14}"/>
                    </a:ext>
                  </a:extLst>
                </p:cNvPr>
                <p:cNvSpPr>
                  <a:spLocks noChangeAspect="1"/>
                </p:cNvSpPr>
                <p:nvPr/>
              </p:nvSpPr>
              <p:spPr>
                <a:xfrm>
                  <a:off x="4825659" y="1040731"/>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28" name="Oval 27">
                  <a:extLst>
                    <a:ext uri="{FF2B5EF4-FFF2-40B4-BE49-F238E27FC236}">
                      <a16:creationId xmlns:a16="http://schemas.microsoft.com/office/drawing/2014/main" id="{7FDA4EE3-E758-174E-99C5-AA62FC554D14}"/>
                    </a:ext>
                  </a:extLst>
                </p:cNvPr>
                <p:cNvSpPr>
                  <a:spLocks noRot="1" noChangeAspect="1" noMove="1" noResize="1" noEditPoints="1" noAdjustHandles="1" noChangeArrowheads="1" noChangeShapeType="1" noTextEdit="1"/>
                </p:cNvSpPr>
                <p:nvPr/>
              </p:nvSpPr>
              <p:spPr>
                <a:xfrm>
                  <a:off x="4825659" y="1040731"/>
                  <a:ext cx="720000" cy="720000"/>
                </a:xfrm>
                <a:prstGeom prst="ellipse">
                  <a:avLst/>
                </a:prstGeom>
                <a:blipFill>
                  <a:blip r:embed="rId5"/>
                  <a:stretch>
                    <a:fillRect l="-34483" t="-82759" r="-46552" b="-13275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A45C7543-9135-E64F-8BD4-55CE6CE73649}"/>
                    </a:ext>
                  </a:extLst>
                </p:cNvPr>
                <p:cNvSpPr>
                  <a:spLocks noChangeAspect="1"/>
                </p:cNvSpPr>
                <p:nvPr/>
              </p:nvSpPr>
              <p:spPr>
                <a:xfrm>
                  <a:off x="4825659" y="1788458"/>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29" name="Oval 28">
                  <a:extLst>
                    <a:ext uri="{FF2B5EF4-FFF2-40B4-BE49-F238E27FC236}">
                      <a16:creationId xmlns:a16="http://schemas.microsoft.com/office/drawing/2014/main" id="{A45C7543-9135-E64F-8BD4-55CE6CE73649}"/>
                    </a:ext>
                  </a:extLst>
                </p:cNvPr>
                <p:cNvSpPr>
                  <a:spLocks noRot="1" noChangeAspect="1" noMove="1" noResize="1" noEditPoints="1" noAdjustHandles="1" noChangeArrowheads="1" noChangeShapeType="1" noTextEdit="1"/>
                </p:cNvSpPr>
                <p:nvPr/>
              </p:nvSpPr>
              <p:spPr>
                <a:xfrm>
                  <a:off x="4825659" y="1788458"/>
                  <a:ext cx="720000" cy="720000"/>
                </a:xfrm>
                <a:prstGeom prst="ellipse">
                  <a:avLst/>
                </a:prstGeom>
                <a:blipFill>
                  <a:blip r:embed="rId6"/>
                  <a:stretch>
                    <a:fillRect l="-34483" t="-82759" r="-46552" b="-131034"/>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7B4B2231-CF24-7E4E-A8FF-BAE7A3B6A19C}"/>
                  </a:ext>
                </a:extLst>
              </p:cNvPr>
              <p:cNvSpPr/>
              <p:nvPr/>
            </p:nvSpPr>
            <p:spPr>
              <a:xfrm>
                <a:off x="8919984" y="1415309"/>
                <a:ext cx="12771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m:t>
                          </m:r>
                        </m:e>
                      </m:d>
                    </m:oMath>
                  </m:oMathPara>
                </a14:m>
                <a:endParaRPr lang="en-US" sz="2400" dirty="0"/>
              </a:p>
            </p:txBody>
          </p:sp>
        </mc:Choice>
        <mc:Fallback xmlns="">
          <p:sp>
            <p:nvSpPr>
              <p:cNvPr id="32" name="Rectangle 31">
                <a:extLst>
                  <a:ext uri="{FF2B5EF4-FFF2-40B4-BE49-F238E27FC236}">
                    <a16:creationId xmlns:a16="http://schemas.microsoft.com/office/drawing/2014/main" id="{7B4B2231-CF24-7E4E-A8FF-BAE7A3B6A19C}"/>
                  </a:ext>
                </a:extLst>
              </p:cNvPr>
              <p:cNvSpPr>
                <a:spLocks noRot="1" noChangeAspect="1" noMove="1" noResize="1" noEditPoints="1" noAdjustHandles="1" noChangeArrowheads="1" noChangeShapeType="1" noTextEdit="1"/>
              </p:cNvSpPr>
              <p:nvPr/>
            </p:nvSpPr>
            <p:spPr>
              <a:xfrm>
                <a:off x="8919984" y="1415309"/>
                <a:ext cx="1277144" cy="461665"/>
              </a:xfrm>
              <a:prstGeom prst="rect">
                <a:avLst/>
              </a:prstGeom>
              <a:blipFill>
                <a:blip r:embed="rId7"/>
                <a:stretch>
                  <a:fillRect l="-11765" t="-121053" r="-2451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7EB1A0-40D0-E348-9415-D66082D29296}"/>
                  </a:ext>
                </a:extLst>
              </p:cNvPr>
              <p:cNvSpPr txBox="1"/>
              <p:nvPr/>
            </p:nvSpPr>
            <p:spPr>
              <a:xfrm>
                <a:off x="5341256" y="2267410"/>
                <a:ext cx="203504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ea typeface="Cambria Math" panose="02040503050406030204" pitchFamily="18" charset="0"/>
                            </a:rPr>
                          </m:ctrlPr>
                        </m:dPr>
                        <m:e>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𝑥</m:t>
                          </m:r>
                          <m:r>
                            <a:rPr lang="en-US" sz="2800" i="1">
                              <a:solidFill>
                                <a:schemeClr val="tx1"/>
                              </a:solidFill>
                              <a:latin typeface="Cambria Math" panose="02040503050406030204" pitchFamily="18" charset="0"/>
                              <a:ea typeface="Cambria Math" panose="02040503050406030204" pitchFamily="18" charset="0"/>
                            </a:rPr>
                            <m:t>0</m:t>
                          </m:r>
                        </m:e>
                      </m:d>
                      <m:r>
                        <a:rPr lang="en-US" sz="28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𝑥𝑥</m:t>
                          </m:r>
                        </m:e>
                      </m:d>
                    </m:oMath>
                  </m:oMathPara>
                </a14:m>
                <a:endParaRPr lang="en-US" sz="2800" dirty="0">
                  <a:solidFill>
                    <a:schemeClr val="tx1"/>
                  </a:solidFill>
                </a:endParaRPr>
              </a:p>
            </p:txBody>
          </p:sp>
        </mc:Choice>
        <mc:Fallback xmlns="">
          <p:sp>
            <p:nvSpPr>
              <p:cNvPr id="8" name="TextBox 7">
                <a:extLst>
                  <a:ext uri="{FF2B5EF4-FFF2-40B4-BE49-F238E27FC236}">
                    <a16:creationId xmlns:a16="http://schemas.microsoft.com/office/drawing/2014/main" id="{427EB1A0-40D0-E348-9415-D66082D29296}"/>
                  </a:ext>
                </a:extLst>
              </p:cNvPr>
              <p:cNvSpPr txBox="1">
                <a:spLocks noRot="1" noChangeAspect="1" noMove="1" noResize="1" noEditPoints="1" noAdjustHandles="1" noChangeArrowheads="1" noChangeShapeType="1" noTextEdit="1"/>
              </p:cNvSpPr>
              <p:nvPr/>
            </p:nvSpPr>
            <p:spPr>
              <a:xfrm>
                <a:off x="5341256" y="2267410"/>
                <a:ext cx="2035044" cy="523220"/>
              </a:xfrm>
              <a:prstGeom prst="rect">
                <a:avLst/>
              </a:prstGeom>
              <a:blipFill>
                <a:blip r:embed="rId8"/>
                <a:stretch>
                  <a:fillRect l="-1242" t="-135714" r="-19255" b="-2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62F321C9-DE53-9643-9337-9857B0719B09}"/>
                  </a:ext>
                </a:extLst>
              </p:cNvPr>
              <p:cNvSpPr/>
              <p:nvPr/>
            </p:nvSpPr>
            <p:spPr>
              <a:xfrm>
                <a:off x="0" y="1447821"/>
                <a:ext cx="34910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d>
                        <m:dPr>
                          <m:begChr m:val=""/>
                          <m:endChr m:val="⟩"/>
                          <m:ctrlPr>
                            <a:rPr lang="en-US" sz="2400" i="1">
                              <a:latin typeface="Cambria Math" panose="02040503050406030204" pitchFamily="18" charset="0"/>
                              <a:ea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𝑎</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m:t>
                          </m:r>
                        </m:e>
                      </m:d>
                    </m:oMath>
                  </m:oMathPara>
                </a14:m>
                <a:endParaRPr lang="en-US" sz="2400" dirty="0"/>
              </a:p>
            </p:txBody>
          </p:sp>
        </mc:Choice>
        <mc:Fallback xmlns="">
          <p:sp>
            <p:nvSpPr>
              <p:cNvPr id="20" name="Rectangle 19">
                <a:extLst>
                  <a:ext uri="{FF2B5EF4-FFF2-40B4-BE49-F238E27FC236}">
                    <a16:creationId xmlns:a16="http://schemas.microsoft.com/office/drawing/2014/main" id="{62F321C9-DE53-9643-9337-9857B0719B09}"/>
                  </a:ext>
                </a:extLst>
              </p:cNvPr>
              <p:cNvSpPr>
                <a:spLocks noRot="1" noChangeAspect="1" noMove="1" noResize="1" noEditPoints="1" noAdjustHandles="1" noChangeArrowheads="1" noChangeShapeType="1" noTextEdit="1"/>
              </p:cNvSpPr>
              <p:nvPr/>
            </p:nvSpPr>
            <p:spPr>
              <a:xfrm>
                <a:off x="0" y="1447821"/>
                <a:ext cx="3491084" cy="461665"/>
              </a:xfrm>
              <a:prstGeom prst="rect">
                <a:avLst/>
              </a:prstGeom>
              <a:blipFill>
                <a:blip r:embed="rId9"/>
                <a:stretch>
                  <a:fillRect l="-4364" t="-124324" r="-8727" b="-191892"/>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A5B3C619-4A0C-0340-A99B-266F4D7D08EF}"/>
              </a:ext>
            </a:extLst>
          </p:cNvPr>
          <p:cNvGrpSpPr/>
          <p:nvPr/>
        </p:nvGrpSpPr>
        <p:grpSpPr>
          <a:xfrm>
            <a:off x="419265" y="3007670"/>
            <a:ext cx="9259006" cy="461665"/>
            <a:chOff x="419265" y="3007670"/>
            <a:chExt cx="9259006" cy="461665"/>
          </a:xfrm>
        </p:grpSpPr>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5AD0008A-E38F-7C4F-8B37-B0B5D8C2E337}"/>
                    </a:ext>
                  </a:extLst>
                </p:cNvPr>
                <p:cNvSpPr/>
                <p:nvPr/>
              </p:nvSpPr>
              <p:spPr>
                <a:xfrm>
                  <a:off x="1788291" y="3007670"/>
                  <a:ext cx="78899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𝑐</m:t>
                            </m:r>
                          </m:sub>
                        </m:sSub>
                        <m:d>
                          <m:dPr>
                            <m:ctrlPr>
                              <a:rPr lang="en-US" sz="2400" b="0" i="1" smtClean="0">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m:t>
                                </m:r>
                              </m:e>
                            </m:d>
                          </m:e>
                        </m:d>
                        <m:r>
                          <a:rPr lang="en-US" sz="2400" b="0" i="1" smtClean="0">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𝑎𝑈</m:t>
                            </m:r>
                          </m:e>
                          <m:sub>
                            <m:r>
                              <a:rPr lang="en-US" sz="2400" i="1">
                                <a:latin typeface="Cambria Math" panose="02040503050406030204" pitchFamily="18" charset="0"/>
                                <a:ea typeface="Cambria Math" panose="02040503050406030204" pitchFamily="18" charset="0"/>
                              </a:rPr>
                              <m:t>𝑐</m:t>
                            </m:r>
                          </m:sub>
                        </m:sSub>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|00</m:t>
                            </m:r>
                          </m:e>
                        </m:d>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𝑏𝑈</m:t>
                            </m:r>
                          </m:e>
                          <m:sub>
                            <m:r>
                              <a:rPr lang="en-US" sz="2400" i="1">
                                <a:latin typeface="Cambria Math" panose="02040503050406030204" pitchFamily="18" charset="0"/>
                                <a:ea typeface="Cambria Math" panose="02040503050406030204" pitchFamily="18" charset="0"/>
                              </a:rPr>
                              <m:t>𝑐</m:t>
                            </m:r>
                          </m:sub>
                        </m:sSub>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m:t>
                            </m:r>
                          </m:e>
                        </m:d>
                        <m:r>
                          <a:rPr lang="en-US" sz="2400" b="0" i="1" smtClean="0">
                            <a:latin typeface="Cambria Math" panose="02040503050406030204" pitchFamily="18" charset="0"/>
                            <a:ea typeface="Cambria Math" panose="02040503050406030204" pitchFamily="18" charset="0"/>
                          </a:rPr>
                          <m:t>=</m:t>
                        </m:r>
                        <m:r>
                          <a:rPr lang="en-US" sz="2400" i="1" smtClean="0">
                            <a:solidFill>
                              <a:srgbClr val="0000FF"/>
                            </a:solidFill>
                            <a:latin typeface="Cambria Math" panose="02040503050406030204" pitchFamily="18" charset="0"/>
                            <a:ea typeface="Cambria Math" panose="02040503050406030204" pitchFamily="18" charset="0"/>
                          </a:rPr>
                          <m:t>𝑎</m:t>
                        </m:r>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|00</m:t>
                            </m:r>
                          </m:e>
                        </m:d>
                        <m:r>
                          <a:rPr lang="en-US" sz="2400" i="1">
                            <a:solidFill>
                              <a:srgbClr val="0000FF"/>
                            </a:solidFill>
                            <a:latin typeface="Cambria Math" panose="02040503050406030204" pitchFamily="18" charset="0"/>
                            <a:ea typeface="Cambria Math" panose="02040503050406030204" pitchFamily="18" charset="0"/>
                          </a:rPr>
                          <m:t>+</m:t>
                        </m:r>
                        <m:r>
                          <a:rPr lang="en-US" sz="2400" i="1">
                            <a:solidFill>
                              <a:srgbClr val="0000FF"/>
                            </a:solidFill>
                            <a:latin typeface="Cambria Math" panose="02040503050406030204" pitchFamily="18" charset="0"/>
                            <a:ea typeface="Cambria Math" panose="02040503050406030204" pitchFamily="18" charset="0"/>
                          </a:rPr>
                          <m:t>𝑏</m:t>
                        </m:r>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|11</m:t>
                            </m:r>
                          </m:e>
                        </m:d>
                      </m:oMath>
                    </m:oMathPara>
                  </a14:m>
                  <a:endParaRPr lang="en-US" sz="2400" dirty="0"/>
                </a:p>
              </p:txBody>
            </p:sp>
          </mc:Choice>
          <mc:Fallback xmlns="">
            <p:sp>
              <p:nvSpPr>
                <p:cNvPr id="23" name="Rectangle 22">
                  <a:extLst>
                    <a:ext uri="{FF2B5EF4-FFF2-40B4-BE49-F238E27FC236}">
                      <a16:creationId xmlns:a16="http://schemas.microsoft.com/office/drawing/2014/main" id="{5AD0008A-E38F-7C4F-8B37-B0B5D8C2E337}"/>
                    </a:ext>
                  </a:extLst>
                </p:cNvPr>
                <p:cNvSpPr>
                  <a:spLocks noRot="1" noChangeAspect="1" noMove="1" noResize="1" noEditPoints="1" noAdjustHandles="1" noChangeArrowheads="1" noChangeShapeType="1" noTextEdit="1"/>
                </p:cNvSpPr>
                <p:nvPr/>
              </p:nvSpPr>
              <p:spPr>
                <a:xfrm>
                  <a:off x="1788291" y="3007670"/>
                  <a:ext cx="7889980" cy="461665"/>
                </a:xfrm>
                <a:prstGeom prst="rect">
                  <a:avLst/>
                </a:prstGeom>
                <a:blipFill>
                  <a:blip r:embed="rId10"/>
                  <a:stretch>
                    <a:fillRect t="-124324" r="-2572" b="-191892"/>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29B25162-2C36-8A4D-A9FC-DC4CBE15330E}"/>
                </a:ext>
              </a:extLst>
            </p:cNvPr>
            <p:cNvSpPr txBox="1"/>
            <p:nvPr/>
          </p:nvSpPr>
          <p:spPr>
            <a:xfrm>
              <a:off x="419265" y="3007670"/>
              <a:ext cx="1303562" cy="461665"/>
            </a:xfrm>
            <a:prstGeom prst="rect">
              <a:avLst/>
            </a:prstGeom>
            <a:solidFill>
              <a:schemeClr val="bg1">
                <a:lumMod val="95000"/>
              </a:schemeClr>
            </a:solidFill>
          </p:spPr>
          <p:txBody>
            <a:bodyPr wrap="none" rtlCol="0">
              <a:spAutoFit/>
            </a:bodyPr>
            <a:lstStyle/>
            <a:p>
              <a:r>
                <a:rPr lang="en-US" sz="2400" dirty="0"/>
                <a:t>Output 1</a:t>
              </a:r>
            </a:p>
          </p:txBody>
        </p:sp>
      </p:grpSp>
      <p:grpSp>
        <p:nvGrpSpPr>
          <p:cNvPr id="15" name="Group 14">
            <a:extLst>
              <a:ext uri="{FF2B5EF4-FFF2-40B4-BE49-F238E27FC236}">
                <a16:creationId xmlns:a16="http://schemas.microsoft.com/office/drawing/2014/main" id="{E1D5B3DA-9C87-5F48-A174-B880CFBC31A3}"/>
              </a:ext>
            </a:extLst>
          </p:cNvPr>
          <p:cNvGrpSpPr/>
          <p:nvPr/>
        </p:nvGrpSpPr>
        <p:grpSpPr>
          <a:xfrm>
            <a:off x="419265" y="3695023"/>
            <a:ext cx="11870102" cy="461665"/>
            <a:chOff x="419265" y="3695023"/>
            <a:chExt cx="11870102" cy="461665"/>
          </a:xfrm>
        </p:grpSpPr>
        <p:sp>
          <p:nvSpPr>
            <p:cNvPr id="26" name="TextBox 25">
              <a:extLst>
                <a:ext uri="{FF2B5EF4-FFF2-40B4-BE49-F238E27FC236}">
                  <a16:creationId xmlns:a16="http://schemas.microsoft.com/office/drawing/2014/main" id="{EE71E6D0-9D18-DE45-AC99-5D2759850B2E}"/>
                </a:ext>
              </a:extLst>
            </p:cNvPr>
            <p:cNvSpPr txBox="1"/>
            <p:nvPr/>
          </p:nvSpPr>
          <p:spPr>
            <a:xfrm>
              <a:off x="419265" y="3695023"/>
              <a:ext cx="1303562" cy="461665"/>
            </a:xfrm>
            <a:prstGeom prst="rect">
              <a:avLst/>
            </a:prstGeom>
            <a:solidFill>
              <a:schemeClr val="bg1">
                <a:lumMod val="95000"/>
              </a:schemeClr>
            </a:solidFill>
          </p:spPr>
          <p:txBody>
            <a:bodyPr wrap="none" rtlCol="0">
              <a:spAutoFit/>
            </a:bodyPr>
            <a:lstStyle/>
            <a:p>
              <a:r>
                <a:rPr lang="en-US" sz="2400" dirty="0"/>
                <a:t>Output 2</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F8FD2D9-7B08-DA4F-AAEC-B862EBDBBB30}"/>
                    </a:ext>
                  </a:extLst>
                </p:cNvPr>
                <p:cNvSpPr/>
                <p:nvPr/>
              </p:nvSpPr>
              <p:spPr>
                <a:xfrm>
                  <a:off x="1868501" y="3695023"/>
                  <a:ext cx="1042086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r>
                          <a:rPr lang="en-US" sz="2400" b="0" i="1" smtClean="0">
                            <a:latin typeface="Cambria Math" panose="02040503050406030204" pitchFamily="18" charset="0"/>
                            <a:ea typeface="Cambria Math" panose="02040503050406030204" pitchFamily="18" charset="0"/>
                          </a:rPr>
                          <m:t>=</m:t>
                        </m:r>
                        <m:sSup>
                          <m:sSupPr>
                            <m:ctrlPr>
                              <a:rPr lang="en-US" sz="2400" i="1">
                                <a:solidFill>
                                  <a:srgbClr val="C00000"/>
                                </a:solidFill>
                                <a:latin typeface="Cambria Math" panose="02040503050406030204" pitchFamily="18" charset="0"/>
                                <a:ea typeface="Cambria Math" panose="02040503050406030204" pitchFamily="18" charset="0"/>
                              </a:rPr>
                            </m:ctrlPr>
                          </m:sSupPr>
                          <m:e>
                            <m:r>
                              <a:rPr lang="en-US" sz="2400" i="1">
                                <a:solidFill>
                                  <a:srgbClr val="C00000"/>
                                </a:solidFill>
                                <a:latin typeface="Cambria Math" panose="02040503050406030204" pitchFamily="18" charset="0"/>
                                <a:ea typeface="Cambria Math" panose="02040503050406030204" pitchFamily="18" charset="0"/>
                              </a:rPr>
                              <m:t>𝑎</m:t>
                            </m:r>
                          </m:e>
                          <m:sup>
                            <m:r>
                              <a:rPr lang="en-US" sz="2400" i="1">
                                <a:solidFill>
                                  <a:srgbClr val="C00000"/>
                                </a:solidFill>
                                <a:latin typeface="Cambria Math" panose="02040503050406030204" pitchFamily="18" charset="0"/>
                                <a:ea typeface="Cambria Math" panose="02040503050406030204" pitchFamily="18" charset="0"/>
                              </a:rPr>
                              <m:t>2</m:t>
                            </m:r>
                          </m:sup>
                        </m:sSup>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|00</m:t>
                            </m:r>
                          </m:e>
                        </m:d>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𝑎𝑏</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|01</m:t>
                            </m:r>
                          </m:e>
                        </m:d>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𝑏𝑎</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|10</m:t>
                            </m:r>
                          </m:e>
                        </m:d>
                        <m:r>
                          <a:rPr lang="en-US" sz="2400" i="1">
                            <a:solidFill>
                              <a:srgbClr val="C00000"/>
                            </a:solidFill>
                            <a:latin typeface="Cambria Math" panose="02040503050406030204" pitchFamily="18" charset="0"/>
                            <a:ea typeface="Cambria Math" panose="02040503050406030204" pitchFamily="18" charset="0"/>
                          </a:rPr>
                          <m:t>+</m:t>
                        </m:r>
                        <m:sSup>
                          <m:sSupPr>
                            <m:ctrlPr>
                              <a:rPr lang="en-US" sz="2400" i="1">
                                <a:solidFill>
                                  <a:srgbClr val="C00000"/>
                                </a:solidFill>
                                <a:latin typeface="Cambria Math" panose="02040503050406030204" pitchFamily="18" charset="0"/>
                                <a:ea typeface="Cambria Math" panose="02040503050406030204" pitchFamily="18" charset="0"/>
                              </a:rPr>
                            </m:ctrlPr>
                          </m:sSupPr>
                          <m:e>
                            <m:r>
                              <a:rPr lang="en-US" sz="2400" i="1">
                                <a:solidFill>
                                  <a:srgbClr val="C00000"/>
                                </a:solidFill>
                                <a:latin typeface="Cambria Math" panose="02040503050406030204" pitchFamily="18" charset="0"/>
                                <a:ea typeface="Cambria Math" panose="02040503050406030204" pitchFamily="18" charset="0"/>
                              </a:rPr>
                              <m:t>𝑏</m:t>
                            </m:r>
                          </m:e>
                          <m:sup>
                            <m:r>
                              <a:rPr lang="en-US" sz="2400" i="1">
                                <a:solidFill>
                                  <a:srgbClr val="C00000"/>
                                </a:solidFill>
                                <a:latin typeface="Cambria Math" panose="02040503050406030204" pitchFamily="18" charset="0"/>
                                <a:ea typeface="Cambria Math" panose="02040503050406030204" pitchFamily="18" charset="0"/>
                              </a:rPr>
                              <m:t>2</m:t>
                            </m:r>
                          </m:sup>
                        </m:sSup>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|11</m:t>
                            </m:r>
                          </m:e>
                        </m:d>
                      </m:oMath>
                    </m:oMathPara>
                  </a14:m>
                  <a:endParaRPr lang="en-US" sz="2400" dirty="0"/>
                </a:p>
              </p:txBody>
            </p:sp>
          </mc:Choice>
          <mc:Fallback xmlns="">
            <p:sp>
              <p:nvSpPr>
                <p:cNvPr id="13" name="Rectangle 12">
                  <a:extLst>
                    <a:ext uri="{FF2B5EF4-FFF2-40B4-BE49-F238E27FC236}">
                      <a16:creationId xmlns:a16="http://schemas.microsoft.com/office/drawing/2014/main" id="{3F8FD2D9-7B08-DA4F-AAEC-B862EBDBBB30}"/>
                    </a:ext>
                  </a:extLst>
                </p:cNvPr>
                <p:cNvSpPr>
                  <a:spLocks noRot="1" noChangeAspect="1" noMove="1" noResize="1" noEditPoints="1" noAdjustHandles="1" noChangeArrowheads="1" noChangeShapeType="1" noTextEdit="1"/>
                </p:cNvSpPr>
                <p:nvPr/>
              </p:nvSpPr>
              <p:spPr>
                <a:xfrm>
                  <a:off x="1868501" y="3695023"/>
                  <a:ext cx="10420866" cy="461665"/>
                </a:xfrm>
                <a:prstGeom prst="rect">
                  <a:avLst/>
                </a:prstGeom>
                <a:blipFill>
                  <a:blip r:embed="rId11"/>
                  <a:stretch>
                    <a:fillRect l="-1095" t="-124324" r="-2555" b="-191892"/>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30C8F5BD-F587-904C-9F14-356AC627203B}"/>
              </a:ext>
            </a:extLst>
          </p:cNvPr>
          <p:cNvGrpSpPr/>
          <p:nvPr/>
        </p:nvGrpSpPr>
        <p:grpSpPr>
          <a:xfrm>
            <a:off x="3785575" y="4548738"/>
            <a:ext cx="7574183" cy="2218855"/>
            <a:chOff x="3785575" y="4548738"/>
            <a:chExt cx="7574183" cy="2218855"/>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0FAC68F8-01E3-F443-A404-F3C2218DDD45}"/>
                    </a:ext>
                  </a:extLst>
                </p:cNvPr>
                <p:cNvSpPr/>
                <p:nvPr/>
              </p:nvSpPr>
              <p:spPr>
                <a:xfrm>
                  <a:off x="3996204" y="5059753"/>
                  <a:ext cx="7363554" cy="170784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800" i="1" smtClean="0">
                                <a:solidFill>
                                  <a:srgbClr val="0000FF"/>
                                </a:solidFill>
                                <a:latin typeface="Cambria Math" panose="02040503050406030204" pitchFamily="18" charset="0"/>
                                <a:ea typeface="Cambria Math" panose="02040503050406030204" pitchFamily="18" charset="0"/>
                              </a:rPr>
                            </m:ctrlPr>
                          </m:dPr>
                          <m:e>
                            <m:m>
                              <m:mPr>
                                <m:mcs>
                                  <m:mc>
                                    <m:mcPr>
                                      <m:count m:val="1"/>
                                      <m:mcJc m:val="center"/>
                                    </m:mcPr>
                                  </m:mc>
                                </m:mcs>
                                <m:ctrlPr>
                                  <a:rPr lang="en-US" sz="2800" i="1" smtClean="0">
                                    <a:solidFill>
                                      <a:srgbClr val="0000FF"/>
                                    </a:solidFill>
                                    <a:latin typeface="Cambria Math" panose="02040503050406030204" pitchFamily="18" charset="0"/>
                                    <a:ea typeface="Cambria Math" panose="02040503050406030204" pitchFamily="18" charset="0"/>
                                  </a:rPr>
                                </m:ctrlPr>
                              </m:mPr>
                              <m:mr>
                                <m:e>
                                  <m:r>
                                    <m:rPr>
                                      <m:brk m:alnAt="7"/>
                                    </m:rPr>
                                    <a:rPr lang="en-US" sz="2800" b="0" i="1" smtClean="0">
                                      <a:solidFill>
                                        <a:srgbClr val="0000FF"/>
                                      </a:solidFill>
                                      <a:latin typeface="Cambria Math" panose="02040503050406030204" pitchFamily="18" charset="0"/>
                                      <a:ea typeface="Cambria Math" panose="02040503050406030204" pitchFamily="18" charset="0"/>
                                    </a:rPr>
                                    <m:t>𝑎</m:t>
                                  </m:r>
                                </m:e>
                              </m:mr>
                              <m:mr>
                                <m:e>
                                  <m:r>
                                    <a:rPr lang="en-US" sz="2800" b="0" i="1" smtClean="0">
                                      <a:solidFill>
                                        <a:srgbClr val="0000FF"/>
                                      </a:solidFill>
                                      <a:latin typeface="Cambria Math" panose="02040503050406030204" pitchFamily="18" charset="0"/>
                                      <a:ea typeface="Cambria Math" panose="02040503050406030204" pitchFamily="18" charset="0"/>
                                    </a:rPr>
                                    <m:t>0</m:t>
                                  </m:r>
                                </m:e>
                              </m:mr>
                              <m:mr>
                                <m:e>
                                  <m:r>
                                    <a:rPr lang="en-US" sz="2800" b="0" i="1" smtClean="0">
                                      <a:solidFill>
                                        <a:srgbClr val="0000FF"/>
                                      </a:solidFill>
                                      <a:latin typeface="Cambria Math" panose="02040503050406030204" pitchFamily="18" charset="0"/>
                                      <a:ea typeface="Cambria Math" panose="02040503050406030204" pitchFamily="18" charset="0"/>
                                    </a:rPr>
                                    <m:t>0</m:t>
                                  </m:r>
                                </m:e>
                              </m:mr>
                              <m:mr>
                                <m:e>
                                  <m:r>
                                    <a:rPr lang="en-US" sz="2800" b="0" i="1" smtClean="0">
                                      <a:solidFill>
                                        <a:srgbClr val="0000FF"/>
                                      </a:solidFill>
                                      <a:latin typeface="Cambria Math" panose="02040503050406030204" pitchFamily="18" charset="0"/>
                                      <a:ea typeface="Cambria Math" panose="02040503050406030204" pitchFamily="18" charset="0"/>
                                    </a:rPr>
                                    <m:t>𝑏</m:t>
                                  </m:r>
                                </m:e>
                              </m:mr>
                            </m:m>
                          </m:e>
                        </m:d>
                        <m:r>
                          <a:rPr lang="en-US" sz="2800" b="0" i="1" smtClean="0">
                            <a:latin typeface="Cambria Math" panose="02040503050406030204" pitchFamily="18" charset="0"/>
                            <a:ea typeface="Cambria Math" panose="02040503050406030204" pitchFamily="18" charset="0"/>
                          </a:rPr>
                          <m:t>     =     </m:t>
                        </m:r>
                        <m:d>
                          <m:dPr>
                            <m:ctrlPr>
                              <a:rPr lang="en-US" sz="2800" i="1" smtClean="0">
                                <a:solidFill>
                                  <a:srgbClr val="FF000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800" i="1">
                                    <a:solidFill>
                                      <a:srgbClr val="FF0000"/>
                                    </a:solidFill>
                                    <a:latin typeface="Cambria Math" panose="02040503050406030204" pitchFamily="18" charset="0"/>
                                    <a:ea typeface="Cambria Math" panose="02040503050406030204" pitchFamily="18" charset="0"/>
                                  </a:rPr>
                                </m:ctrlPr>
                              </m:mPr>
                              <m:mr>
                                <m:e>
                                  <m:sSup>
                                    <m:sSupPr>
                                      <m:ctrlPr>
                                        <a:rPr lang="en-US" sz="2800" i="1">
                                          <a:solidFill>
                                            <a:srgbClr val="FF0000"/>
                                          </a:solidFill>
                                          <a:latin typeface="Cambria Math" panose="02040503050406030204" pitchFamily="18" charset="0"/>
                                          <a:ea typeface="Cambria Math" panose="02040503050406030204" pitchFamily="18" charset="0"/>
                                        </a:rPr>
                                      </m:ctrlPr>
                                    </m:sSupPr>
                                    <m:e>
                                      <m:r>
                                        <a:rPr lang="en-US" sz="2800" i="1">
                                          <a:solidFill>
                                            <a:srgbClr val="FF0000"/>
                                          </a:solidFill>
                                          <a:latin typeface="Cambria Math" panose="02040503050406030204" pitchFamily="18" charset="0"/>
                                          <a:ea typeface="Cambria Math" panose="02040503050406030204" pitchFamily="18" charset="0"/>
                                        </a:rPr>
                                        <m:t>𝑎</m:t>
                                      </m:r>
                                    </m:e>
                                    <m:sup>
                                      <m:r>
                                        <a:rPr lang="en-US" sz="2800" i="1">
                                          <a:solidFill>
                                            <a:srgbClr val="FF0000"/>
                                          </a:solidFill>
                                          <a:latin typeface="Cambria Math" panose="02040503050406030204" pitchFamily="18" charset="0"/>
                                          <a:ea typeface="Cambria Math" panose="02040503050406030204" pitchFamily="18" charset="0"/>
                                        </a:rPr>
                                        <m:t>2</m:t>
                                      </m:r>
                                    </m:sup>
                                  </m:sSup>
                                </m:e>
                              </m:mr>
                              <m:mr>
                                <m:e>
                                  <m:r>
                                    <a:rPr lang="en-US" sz="2800" b="0" i="1" smtClean="0">
                                      <a:solidFill>
                                        <a:srgbClr val="FF0000"/>
                                      </a:solidFill>
                                      <a:latin typeface="Cambria Math" panose="02040503050406030204" pitchFamily="18" charset="0"/>
                                      <a:ea typeface="Cambria Math" panose="02040503050406030204" pitchFamily="18" charset="0"/>
                                    </a:rPr>
                                    <m:t>𝑎𝑏</m:t>
                                  </m:r>
                                </m:e>
                              </m:mr>
                              <m:mr>
                                <m:e>
                                  <m:r>
                                    <a:rPr lang="en-US" sz="2800" b="0" i="1" smtClean="0">
                                      <a:solidFill>
                                        <a:srgbClr val="FF0000"/>
                                      </a:solidFill>
                                      <a:latin typeface="Cambria Math" panose="02040503050406030204" pitchFamily="18" charset="0"/>
                                      <a:ea typeface="Cambria Math" panose="02040503050406030204" pitchFamily="18" charset="0"/>
                                    </a:rPr>
                                    <m:t>𝑏𝑎</m:t>
                                  </m:r>
                                </m:e>
                              </m:mr>
                              <m:mr>
                                <m:e>
                                  <m:sSup>
                                    <m:sSupPr>
                                      <m:ctrlPr>
                                        <a:rPr lang="en-US" sz="2800" i="1">
                                          <a:solidFill>
                                            <a:srgbClr val="FF0000"/>
                                          </a:solidFill>
                                          <a:latin typeface="Cambria Math" panose="02040503050406030204" pitchFamily="18" charset="0"/>
                                          <a:ea typeface="Cambria Math" panose="02040503050406030204" pitchFamily="18" charset="0"/>
                                        </a:rPr>
                                      </m:ctrlPr>
                                    </m:sSupPr>
                                    <m:e>
                                      <m:r>
                                        <a:rPr lang="en-US" sz="2800" b="0" i="1" smtClean="0">
                                          <a:solidFill>
                                            <a:srgbClr val="FF0000"/>
                                          </a:solidFill>
                                          <a:latin typeface="Cambria Math" panose="02040503050406030204" pitchFamily="18" charset="0"/>
                                          <a:ea typeface="Cambria Math" panose="02040503050406030204" pitchFamily="18" charset="0"/>
                                        </a:rPr>
                                        <m:t>𝑏</m:t>
                                      </m:r>
                                    </m:e>
                                    <m:sup>
                                      <m:r>
                                        <a:rPr lang="en-US" sz="2800" i="1">
                                          <a:solidFill>
                                            <a:srgbClr val="FF0000"/>
                                          </a:solidFill>
                                          <a:latin typeface="Cambria Math" panose="02040503050406030204" pitchFamily="18" charset="0"/>
                                          <a:ea typeface="Cambria Math" panose="02040503050406030204" pitchFamily="18" charset="0"/>
                                        </a:rPr>
                                        <m:t>2</m:t>
                                      </m:r>
                                    </m:sup>
                                  </m:sSup>
                                </m:e>
                              </m:mr>
                            </m:m>
                          </m:e>
                        </m:d>
                        <m:r>
                          <a:rPr lang="en-US" sz="2800" b="0"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𝑎</m:t>
                        </m:r>
                        <m:r>
                          <a:rPr lang="en-US" sz="2800" i="1">
                            <a:latin typeface="Cambria Math" panose="02040503050406030204" pitchFamily="18" charset="0"/>
                            <a:ea typeface="Cambria Math" panose="02040503050406030204" pitchFamily="18" charset="0"/>
                          </a:rPr>
                          <m:t>=1,</m:t>
                        </m:r>
                        <m:r>
                          <a:rPr lang="en-US" sz="2800" i="1">
                            <a:latin typeface="Cambria Math" panose="02040503050406030204" pitchFamily="18" charset="0"/>
                            <a:ea typeface="Cambria Math" panose="02040503050406030204" pitchFamily="18" charset="0"/>
                          </a:rPr>
                          <m:t>𝑏</m:t>
                        </m:r>
                        <m:r>
                          <a:rPr lang="en-US" sz="2800" i="1">
                            <a:latin typeface="Cambria Math" panose="02040503050406030204" pitchFamily="18" charset="0"/>
                            <a:ea typeface="Cambria Math" panose="02040503050406030204" pitchFamily="18" charset="0"/>
                          </a:rPr>
                          <m:t>=1, </m:t>
                        </m:r>
                        <m:r>
                          <a:rPr lang="en-US" sz="2800" b="0" i="1" smtClean="0">
                            <a:latin typeface="Cambria Math" panose="02040503050406030204" pitchFamily="18" charset="0"/>
                            <a:ea typeface="Cambria Math" panose="02040503050406030204" pitchFamily="18" charset="0"/>
                          </a:rPr>
                          <m:t>𝑎𝑏</m:t>
                        </m:r>
                        <m:r>
                          <a:rPr lang="en-US" sz="2800" b="0" i="1" smtClean="0">
                            <a:latin typeface="Cambria Math" panose="02040503050406030204" pitchFamily="18" charset="0"/>
                            <a:ea typeface="Cambria Math" panose="02040503050406030204" pitchFamily="18" charset="0"/>
                          </a:rPr>
                          <m:t>=0 !?</m:t>
                        </m:r>
                      </m:oMath>
                    </m:oMathPara>
                  </a14:m>
                  <a:endParaRPr lang="en-US" sz="2800" dirty="0"/>
                </a:p>
              </p:txBody>
            </p:sp>
          </mc:Choice>
          <mc:Fallback xmlns="">
            <p:sp>
              <p:nvSpPr>
                <p:cNvPr id="39" name="Rectangle 38">
                  <a:extLst>
                    <a:ext uri="{FF2B5EF4-FFF2-40B4-BE49-F238E27FC236}">
                      <a16:creationId xmlns:a16="http://schemas.microsoft.com/office/drawing/2014/main" id="{0FAC68F8-01E3-F443-A404-F3C2218DDD45}"/>
                    </a:ext>
                  </a:extLst>
                </p:cNvPr>
                <p:cNvSpPr>
                  <a:spLocks noRot="1" noChangeAspect="1" noMove="1" noResize="1" noEditPoints="1" noAdjustHandles="1" noChangeArrowheads="1" noChangeShapeType="1" noTextEdit="1"/>
                </p:cNvSpPr>
                <p:nvPr/>
              </p:nvSpPr>
              <p:spPr>
                <a:xfrm>
                  <a:off x="3996204" y="5059753"/>
                  <a:ext cx="7363554" cy="1707840"/>
                </a:xfrm>
                <a:prstGeom prst="rect">
                  <a:avLst/>
                </a:prstGeom>
                <a:blipFill>
                  <a:blip r:embed="rId12"/>
                  <a:stretch>
                    <a:fillRect b="-2941"/>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53BD33C4-2587-C644-8A54-CCDFF141250E}"/>
                </a:ext>
              </a:extLst>
            </p:cNvPr>
            <p:cNvSpPr txBox="1"/>
            <p:nvPr/>
          </p:nvSpPr>
          <p:spPr>
            <a:xfrm>
              <a:off x="3785575" y="4548739"/>
              <a:ext cx="1303562" cy="461665"/>
            </a:xfrm>
            <a:prstGeom prst="rect">
              <a:avLst/>
            </a:prstGeom>
            <a:solidFill>
              <a:schemeClr val="bg1">
                <a:lumMod val="95000"/>
              </a:schemeClr>
            </a:solidFill>
          </p:spPr>
          <p:txBody>
            <a:bodyPr wrap="none" rtlCol="0">
              <a:spAutoFit/>
            </a:bodyPr>
            <a:lstStyle/>
            <a:p>
              <a:r>
                <a:rPr lang="en-US" sz="2400" dirty="0"/>
                <a:t>Output 1</a:t>
              </a:r>
            </a:p>
          </p:txBody>
        </p:sp>
        <p:sp>
          <p:nvSpPr>
            <p:cNvPr id="31" name="TextBox 30">
              <a:extLst>
                <a:ext uri="{FF2B5EF4-FFF2-40B4-BE49-F238E27FC236}">
                  <a16:creationId xmlns:a16="http://schemas.microsoft.com/office/drawing/2014/main" id="{3A5B437A-AD1A-1843-AB27-B5C9F4D69FFD}"/>
                </a:ext>
              </a:extLst>
            </p:cNvPr>
            <p:cNvSpPr txBox="1"/>
            <p:nvPr/>
          </p:nvSpPr>
          <p:spPr>
            <a:xfrm>
              <a:off x="5818225" y="4548738"/>
              <a:ext cx="1303562" cy="461665"/>
            </a:xfrm>
            <a:prstGeom prst="rect">
              <a:avLst/>
            </a:prstGeom>
            <a:solidFill>
              <a:schemeClr val="bg1">
                <a:lumMod val="95000"/>
              </a:schemeClr>
            </a:solidFill>
          </p:spPr>
          <p:txBody>
            <a:bodyPr wrap="none" rtlCol="0">
              <a:spAutoFit/>
            </a:bodyPr>
            <a:lstStyle/>
            <a:p>
              <a:r>
                <a:rPr lang="en-US" sz="2400" dirty="0"/>
                <a:t>Output 2</a:t>
              </a:r>
            </a:p>
          </p:txBody>
        </p:sp>
      </p:grpSp>
    </p:spTree>
    <p:extLst>
      <p:ext uri="{BB962C8B-B14F-4D97-AF65-F5344CB8AC3E}">
        <p14:creationId xmlns:p14="http://schemas.microsoft.com/office/powerpoint/2010/main" val="348867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DA3035-F83D-D044-9234-4E4C9756055B}"/>
              </a:ext>
            </a:extLst>
          </p:cNvPr>
          <p:cNvSpPr>
            <a:spLocks noGrp="1"/>
          </p:cNvSpPr>
          <p:nvPr>
            <p:ph type="sldNum" sz="quarter" idx="12"/>
          </p:nvPr>
        </p:nvSpPr>
        <p:spPr/>
        <p:txBody>
          <a:bodyPr/>
          <a:lstStyle/>
          <a:p>
            <a:fld id="{591A223C-FA10-BC46-A853-03BA373D023C}" type="slidenum">
              <a:rPr lang="en-US" smtClean="0"/>
              <a:t>21</a:t>
            </a:fld>
            <a:endParaRPr lang="en-US" dirty="0"/>
          </a:p>
        </p:txBody>
      </p:sp>
      <p:sp>
        <p:nvSpPr>
          <p:cNvPr id="2" name="Title 1">
            <a:extLst>
              <a:ext uri="{FF2B5EF4-FFF2-40B4-BE49-F238E27FC236}">
                <a16:creationId xmlns:a16="http://schemas.microsoft.com/office/drawing/2014/main" id="{E455D213-BE69-4443-96FE-1F1738571583}"/>
              </a:ext>
            </a:extLst>
          </p:cNvPr>
          <p:cNvSpPr>
            <a:spLocks noGrp="1"/>
          </p:cNvSpPr>
          <p:nvPr>
            <p:ph type="title"/>
          </p:nvPr>
        </p:nvSpPr>
        <p:spPr/>
        <p:txBody>
          <a:bodyPr/>
          <a:lstStyle/>
          <a:p>
            <a:r>
              <a:rPr lang="en-US" dirty="0"/>
              <a:t>No-deleting </a:t>
            </a:r>
            <a:r>
              <a:rPr lang="en-ZA" dirty="0"/>
              <a:t>Theorem</a:t>
            </a:r>
            <a:endParaRPr lang="en-US" dirty="0"/>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633276DE-D03A-894C-87B8-4D4F71EA4223}"/>
                  </a:ext>
                </a:extLst>
              </p:cNvPr>
              <p:cNvSpPr>
                <a:spLocks noChangeAspect="1"/>
              </p:cNvSpPr>
              <p:nvPr/>
            </p:nvSpPr>
            <p:spPr>
              <a:xfrm>
                <a:off x="2805293" y="954895"/>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4" name="Oval 3">
                <a:extLst>
                  <a:ext uri="{FF2B5EF4-FFF2-40B4-BE49-F238E27FC236}">
                    <a16:creationId xmlns:a16="http://schemas.microsoft.com/office/drawing/2014/main" id="{633276DE-D03A-894C-87B8-4D4F71EA4223}"/>
                  </a:ext>
                </a:extLst>
              </p:cNvPr>
              <p:cNvSpPr>
                <a:spLocks noRot="1" noChangeAspect="1" noMove="1" noResize="1" noEditPoints="1" noAdjustHandles="1" noChangeArrowheads="1" noChangeShapeType="1" noTextEdit="1"/>
              </p:cNvSpPr>
              <p:nvPr/>
            </p:nvSpPr>
            <p:spPr>
              <a:xfrm>
                <a:off x="2805293" y="954895"/>
                <a:ext cx="720000" cy="720000"/>
              </a:xfrm>
              <a:prstGeom prst="ellipse">
                <a:avLst/>
              </a:prstGeom>
              <a:blipFill>
                <a:blip r:embed="rId3"/>
                <a:stretch>
                  <a:fillRect l="-32759" t="-82759" r="-46552" b="-13103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E3A22435-B525-1446-8B99-9D80EB018740}"/>
                  </a:ext>
                </a:extLst>
              </p:cNvPr>
              <p:cNvSpPr>
                <a:spLocks noChangeAspect="1"/>
              </p:cNvSpPr>
              <p:nvPr/>
            </p:nvSpPr>
            <p:spPr>
              <a:xfrm>
                <a:off x="7203542" y="1741194"/>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5" name="Oval 4">
                <a:extLst>
                  <a:ext uri="{FF2B5EF4-FFF2-40B4-BE49-F238E27FC236}">
                    <a16:creationId xmlns:a16="http://schemas.microsoft.com/office/drawing/2014/main" id="{E3A22435-B525-1446-8B99-9D80EB018740}"/>
                  </a:ext>
                </a:extLst>
              </p:cNvPr>
              <p:cNvSpPr>
                <a:spLocks noRot="1" noChangeAspect="1" noMove="1" noResize="1" noEditPoints="1" noAdjustHandles="1" noChangeArrowheads="1" noChangeShapeType="1" noTextEdit="1"/>
              </p:cNvSpPr>
              <p:nvPr/>
            </p:nvSpPr>
            <p:spPr>
              <a:xfrm>
                <a:off x="7203542" y="1741194"/>
                <a:ext cx="720000" cy="720000"/>
              </a:xfrm>
              <a:prstGeom prst="ellipse">
                <a:avLst/>
              </a:prstGeom>
              <a:blipFill>
                <a:blip r:embed="rId4"/>
                <a:stretch>
                  <a:fillRect l="-32759" t="-82759" r="-46552" b="-131034"/>
                </a:stretch>
              </a:blipFill>
              <a:ln>
                <a:noFill/>
              </a:ln>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D2C05439-D42E-4E4A-AF35-413BA23EE998}"/>
              </a:ext>
            </a:extLst>
          </p:cNvPr>
          <p:cNvCxnSpPr>
            <a:cxnSpLocks/>
          </p:cNvCxnSpPr>
          <p:nvPr/>
        </p:nvCxnSpPr>
        <p:spPr>
          <a:xfrm>
            <a:off x="3662259" y="1314895"/>
            <a:ext cx="343247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53298A6-3237-5146-9FC6-188DADFF5789}"/>
              </a:ext>
            </a:extLst>
          </p:cNvPr>
          <p:cNvCxnSpPr>
            <a:cxnSpLocks/>
          </p:cNvCxnSpPr>
          <p:nvPr/>
        </p:nvCxnSpPr>
        <p:spPr>
          <a:xfrm>
            <a:off x="3662259" y="2027734"/>
            <a:ext cx="343247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E2AEFBE-67F5-2F4F-85B1-D2C6D1BDE48E}"/>
              </a:ext>
            </a:extLst>
          </p:cNvPr>
          <p:cNvSpPr/>
          <p:nvPr/>
        </p:nvSpPr>
        <p:spPr>
          <a:xfrm>
            <a:off x="4537387" y="1110553"/>
            <a:ext cx="1682219" cy="110158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i="1" dirty="0" err="1">
                <a:solidFill>
                  <a:schemeClr val="tx1"/>
                </a:solidFill>
                <a:latin typeface="Cambria Math" panose="02040503050406030204" pitchFamily="18" charset="0"/>
                <a:ea typeface="Cambria Math" panose="02040503050406030204" pitchFamily="18" charset="0"/>
              </a:rPr>
              <a:t>U</a:t>
            </a:r>
            <a:r>
              <a:rPr lang="en-US" sz="4000" i="1" baseline="-25000" dirty="0" err="1">
                <a:solidFill>
                  <a:schemeClr val="tx1"/>
                </a:solidFill>
                <a:latin typeface="Cambria Math" panose="02040503050406030204" pitchFamily="18" charset="0"/>
                <a:ea typeface="Cambria Math" panose="02040503050406030204" pitchFamily="18" charset="0"/>
              </a:rPr>
              <a:t>d</a:t>
            </a:r>
            <a:endParaRPr lang="en-US" sz="4000" i="1" baseline="-25000" dirty="0">
              <a:solidFill>
                <a:schemeClr val="tx1"/>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7FDA4EE3-E758-174E-99C5-AA62FC554D14}"/>
                  </a:ext>
                </a:extLst>
              </p:cNvPr>
              <p:cNvSpPr>
                <a:spLocks noChangeAspect="1"/>
              </p:cNvSpPr>
              <p:nvPr/>
            </p:nvSpPr>
            <p:spPr>
              <a:xfrm>
                <a:off x="7157219" y="954895"/>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28" name="Oval 27">
                <a:extLst>
                  <a:ext uri="{FF2B5EF4-FFF2-40B4-BE49-F238E27FC236}">
                    <a16:creationId xmlns:a16="http://schemas.microsoft.com/office/drawing/2014/main" id="{7FDA4EE3-E758-174E-99C5-AA62FC554D14}"/>
                  </a:ext>
                </a:extLst>
              </p:cNvPr>
              <p:cNvSpPr>
                <a:spLocks noRot="1" noChangeAspect="1" noMove="1" noResize="1" noEditPoints="1" noAdjustHandles="1" noChangeArrowheads="1" noChangeShapeType="1" noTextEdit="1"/>
              </p:cNvSpPr>
              <p:nvPr/>
            </p:nvSpPr>
            <p:spPr>
              <a:xfrm>
                <a:off x="7157219" y="954895"/>
                <a:ext cx="720000" cy="720000"/>
              </a:xfrm>
              <a:prstGeom prst="ellipse">
                <a:avLst/>
              </a:prstGeom>
              <a:blipFill>
                <a:blip r:embed="rId5"/>
                <a:stretch>
                  <a:fillRect l="-37500" t="-82759" r="-50000" b="-13103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A45C7543-9135-E64F-8BD4-55CE6CE73649}"/>
                  </a:ext>
                </a:extLst>
              </p:cNvPr>
              <p:cNvSpPr>
                <a:spLocks noChangeAspect="1"/>
              </p:cNvSpPr>
              <p:nvPr/>
            </p:nvSpPr>
            <p:spPr>
              <a:xfrm>
                <a:off x="2826879" y="1747703"/>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sz="280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𝑆</m:t>
                          </m:r>
                        </m:e>
                      </m:d>
                    </m:oMath>
                  </m:oMathPara>
                </a14:m>
                <a:endParaRPr lang="en-US" sz="2800" dirty="0"/>
              </a:p>
            </p:txBody>
          </p:sp>
        </mc:Choice>
        <mc:Fallback xmlns="">
          <p:sp>
            <p:nvSpPr>
              <p:cNvPr id="29" name="Oval 28">
                <a:extLst>
                  <a:ext uri="{FF2B5EF4-FFF2-40B4-BE49-F238E27FC236}">
                    <a16:creationId xmlns:a16="http://schemas.microsoft.com/office/drawing/2014/main" id="{A45C7543-9135-E64F-8BD4-55CE6CE73649}"/>
                  </a:ext>
                </a:extLst>
              </p:cNvPr>
              <p:cNvSpPr>
                <a:spLocks noRot="1" noChangeAspect="1" noMove="1" noResize="1" noEditPoints="1" noAdjustHandles="1" noChangeArrowheads="1" noChangeShapeType="1" noTextEdit="1"/>
              </p:cNvSpPr>
              <p:nvPr/>
            </p:nvSpPr>
            <p:spPr>
              <a:xfrm>
                <a:off x="2826879" y="1747703"/>
                <a:ext cx="720000" cy="720000"/>
              </a:xfrm>
              <a:prstGeom prst="ellipse">
                <a:avLst/>
              </a:prstGeom>
              <a:blipFill>
                <a:blip r:embed="rId6"/>
                <a:stretch>
                  <a:fillRect l="-35088" t="-85965" r="-49123" b="-13508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7B4B2231-CF24-7E4E-A8FF-BAE7A3B6A19C}"/>
                  </a:ext>
                </a:extLst>
              </p:cNvPr>
              <p:cNvSpPr/>
              <p:nvPr/>
            </p:nvSpPr>
            <p:spPr>
              <a:xfrm>
                <a:off x="1149719" y="1432147"/>
                <a:ext cx="12771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m:t>
                          </m:r>
                        </m:e>
                      </m:d>
                    </m:oMath>
                  </m:oMathPara>
                </a14:m>
                <a:endParaRPr lang="en-US" sz="2400" dirty="0"/>
              </a:p>
            </p:txBody>
          </p:sp>
        </mc:Choice>
        <mc:Fallback xmlns="">
          <p:sp>
            <p:nvSpPr>
              <p:cNvPr id="32" name="Rectangle 31">
                <a:extLst>
                  <a:ext uri="{FF2B5EF4-FFF2-40B4-BE49-F238E27FC236}">
                    <a16:creationId xmlns:a16="http://schemas.microsoft.com/office/drawing/2014/main" id="{7B4B2231-CF24-7E4E-A8FF-BAE7A3B6A19C}"/>
                  </a:ext>
                </a:extLst>
              </p:cNvPr>
              <p:cNvSpPr>
                <a:spLocks noRot="1" noChangeAspect="1" noMove="1" noResize="1" noEditPoints="1" noAdjustHandles="1" noChangeArrowheads="1" noChangeShapeType="1" noTextEdit="1"/>
              </p:cNvSpPr>
              <p:nvPr/>
            </p:nvSpPr>
            <p:spPr>
              <a:xfrm>
                <a:off x="1149719" y="1432147"/>
                <a:ext cx="1277144" cy="461665"/>
              </a:xfrm>
              <a:prstGeom prst="rect">
                <a:avLst/>
              </a:prstGeom>
              <a:blipFill>
                <a:blip r:embed="rId7"/>
                <a:stretch>
                  <a:fillRect l="-12871" t="-124324" r="-24752"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7EB1A0-40D0-E348-9415-D66082D29296}"/>
                  </a:ext>
                </a:extLst>
              </p:cNvPr>
              <p:cNvSpPr txBox="1"/>
              <p:nvPr/>
            </p:nvSpPr>
            <p:spPr>
              <a:xfrm>
                <a:off x="4462906" y="2283706"/>
                <a:ext cx="203991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ea typeface="Cambria Math" panose="02040503050406030204" pitchFamily="18" charset="0"/>
                            </a:rPr>
                          </m:ctrlPr>
                        </m:dPr>
                        <m:e>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𝑥</m:t>
                          </m:r>
                          <m:r>
                            <a:rPr lang="sr-Latn-RS" sz="2800" b="0" i="1" smtClean="0">
                              <a:solidFill>
                                <a:schemeClr val="tx1"/>
                              </a:solidFill>
                              <a:latin typeface="Cambria Math" panose="02040503050406030204" pitchFamily="18" charset="0"/>
                              <a:ea typeface="Cambria Math" panose="02040503050406030204" pitchFamily="18" charset="0"/>
                            </a:rPr>
                            <m:t>𝑦</m:t>
                          </m:r>
                        </m:e>
                      </m:d>
                      <m:r>
                        <a:rPr lang="en-US" sz="28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𝑥</m:t>
                          </m:r>
                          <m:r>
                            <a:rPr lang="sr-Latn-RS" sz="2800" b="0" i="1" smtClean="0">
                              <a:latin typeface="Cambria Math" panose="02040503050406030204" pitchFamily="18" charset="0"/>
                              <a:ea typeface="Cambria Math" panose="02040503050406030204" pitchFamily="18" charset="0"/>
                            </a:rPr>
                            <m:t>0</m:t>
                          </m:r>
                        </m:e>
                      </m:d>
                    </m:oMath>
                  </m:oMathPara>
                </a14:m>
                <a:endParaRPr lang="en-US" sz="2800" dirty="0">
                  <a:solidFill>
                    <a:schemeClr val="tx1"/>
                  </a:solidFill>
                </a:endParaRPr>
              </a:p>
            </p:txBody>
          </p:sp>
        </mc:Choice>
        <mc:Fallback xmlns="">
          <p:sp>
            <p:nvSpPr>
              <p:cNvPr id="8" name="TextBox 7">
                <a:extLst>
                  <a:ext uri="{FF2B5EF4-FFF2-40B4-BE49-F238E27FC236}">
                    <a16:creationId xmlns:a16="http://schemas.microsoft.com/office/drawing/2014/main" id="{427EB1A0-40D0-E348-9415-D66082D29296}"/>
                  </a:ext>
                </a:extLst>
              </p:cNvPr>
              <p:cNvSpPr txBox="1">
                <a:spLocks noRot="1" noChangeAspect="1" noMove="1" noResize="1" noEditPoints="1" noAdjustHandles="1" noChangeArrowheads="1" noChangeShapeType="1" noTextEdit="1"/>
              </p:cNvSpPr>
              <p:nvPr/>
            </p:nvSpPr>
            <p:spPr>
              <a:xfrm>
                <a:off x="4462906" y="2283706"/>
                <a:ext cx="2039917" cy="523220"/>
              </a:xfrm>
              <a:prstGeom prst="rect">
                <a:avLst/>
              </a:prstGeom>
              <a:blipFill>
                <a:blip r:embed="rId8"/>
                <a:stretch>
                  <a:fillRect l="-617" t="-141463" r="-19136" b="-20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62F321C9-DE53-9643-9337-9857B0719B09}"/>
                  </a:ext>
                </a:extLst>
              </p:cNvPr>
              <p:cNvSpPr/>
              <p:nvPr/>
            </p:nvSpPr>
            <p:spPr>
              <a:xfrm>
                <a:off x="7947222" y="1475164"/>
                <a:ext cx="34910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d>
                        <m:dPr>
                          <m:begChr m:val=""/>
                          <m:endChr m:val="⟩"/>
                          <m:ctrlPr>
                            <a:rPr lang="en-US" sz="2400" i="1">
                              <a:latin typeface="Cambria Math" panose="02040503050406030204" pitchFamily="18" charset="0"/>
                              <a:ea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𝑎</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m:t>
                          </m:r>
                        </m:e>
                      </m:d>
                    </m:oMath>
                  </m:oMathPara>
                </a14:m>
                <a:endParaRPr lang="en-US" sz="2400" dirty="0"/>
              </a:p>
            </p:txBody>
          </p:sp>
        </mc:Choice>
        <mc:Fallback xmlns="">
          <p:sp>
            <p:nvSpPr>
              <p:cNvPr id="20" name="Rectangle 19">
                <a:extLst>
                  <a:ext uri="{FF2B5EF4-FFF2-40B4-BE49-F238E27FC236}">
                    <a16:creationId xmlns:a16="http://schemas.microsoft.com/office/drawing/2014/main" id="{62F321C9-DE53-9643-9337-9857B0719B09}"/>
                  </a:ext>
                </a:extLst>
              </p:cNvPr>
              <p:cNvSpPr>
                <a:spLocks noRot="1" noChangeAspect="1" noMove="1" noResize="1" noEditPoints="1" noAdjustHandles="1" noChangeArrowheads="1" noChangeShapeType="1" noTextEdit="1"/>
              </p:cNvSpPr>
              <p:nvPr/>
            </p:nvSpPr>
            <p:spPr>
              <a:xfrm>
                <a:off x="7947222" y="1475164"/>
                <a:ext cx="3491084" cy="461665"/>
              </a:xfrm>
              <a:prstGeom prst="rect">
                <a:avLst/>
              </a:prstGeom>
              <a:blipFill>
                <a:blip r:embed="rId9"/>
                <a:stretch>
                  <a:fillRect l="-4348" t="-121053" r="-8333" b="-186842"/>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A5B3C619-4A0C-0340-A99B-266F4D7D08EF}"/>
              </a:ext>
            </a:extLst>
          </p:cNvPr>
          <p:cNvGrpSpPr/>
          <p:nvPr/>
        </p:nvGrpSpPr>
        <p:grpSpPr>
          <a:xfrm>
            <a:off x="93808" y="3007670"/>
            <a:ext cx="12196011" cy="461665"/>
            <a:chOff x="93808" y="3007670"/>
            <a:chExt cx="12196011" cy="461665"/>
          </a:xfrm>
        </p:grpSpPr>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5AD0008A-E38F-7C4F-8B37-B0B5D8C2E337}"/>
                    </a:ext>
                  </a:extLst>
                </p:cNvPr>
                <p:cNvSpPr/>
                <p:nvPr/>
              </p:nvSpPr>
              <p:spPr>
                <a:xfrm>
                  <a:off x="1788291" y="3007670"/>
                  <a:ext cx="105015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𝑈</m:t>
                            </m:r>
                          </m:e>
                          <m:sub>
                            <m:r>
                              <a:rPr lang="en-US" sz="2400" b="0" i="1" smtClean="0">
                                <a:solidFill>
                                  <a:schemeClr val="tx1"/>
                                </a:solidFill>
                                <a:latin typeface="Cambria Math" panose="02040503050406030204" pitchFamily="18" charset="0"/>
                              </a:rPr>
                              <m:t>𝑑</m:t>
                            </m:r>
                          </m:sub>
                        </m:sSub>
                        <m:d>
                          <m:dPr>
                            <m:ctrlPr>
                              <a:rPr lang="en-US" sz="2400" b="0" i="1" smtClean="0">
                                <a:solidFill>
                                  <a:schemeClr val="tx1"/>
                                </a:solidFill>
                                <a:latin typeface="Cambria Math" panose="02040503050406030204" pitchFamily="18" charset="0"/>
                              </a:rPr>
                            </m:ctrlPr>
                          </m:dPr>
                          <m:e>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𝑎</m:t>
                                </m:r>
                              </m:e>
                              <m:sup>
                                <m:r>
                                  <a:rPr lang="en-US" sz="2400" i="1">
                                    <a:solidFill>
                                      <a:schemeClr val="tx1"/>
                                    </a:solidFill>
                                    <a:latin typeface="Cambria Math" panose="02040503050406030204" pitchFamily="18" charset="0"/>
                                    <a:ea typeface="Cambria Math" panose="02040503050406030204" pitchFamily="18" charset="0"/>
                                  </a:rPr>
                                  <m:t>2</m:t>
                                </m:r>
                              </m:sup>
                            </m:sSup>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|00</m:t>
                                </m:r>
                              </m:e>
                            </m:d>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𝑎𝑏</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|01</m:t>
                                </m:r>
                              </m:e>
                            </m:d>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𝑏𝑎</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|10</m:t>
                                </m:r>
                              </m:e>
                            </m:d>
                            <m:r>
                              <a:rPr lang="en-US" sz="2400" i="1">
                                <a:solidFill>
                                  <a:schemeClr val="tx1"/>
                                </a:solidFill>
                                <a:latin typeface="Cambria Math" panose="02040503050406030204" pitchFamily="18" charset="0"/>
                                <a:ea typeface="Cambria Math" panose="02040503050406030204" pitchFamily="18" charset="0"/>
                              </a:rPr>
                              <m:t>+</m:t>
                            </m:r>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𝑏</m:t>
                                </m:r>
                              </m:e>
                              <m:sup>
                                <m:r>
                                  <a:rPr lang="en-US" sz="2400" i="1">
                                    <a:solidFill>
                                      <a:schemeClr val="tx1"/>
                                    </a:solidFill>
                                    <a:latin typeface="Cambria Math" panose="02040503050406030204" pitchFamily="18" charset="0"/>
                                    <a:ea typeface="Cambria Math" panose="02040503050406030204" pitchFamily="18" charset="0"/>
                                  </a:rPr>
                                  <m:t>2</m:t>
                                </m:r>
                              </m:sup>
                            </m:sSup>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|11</m:t>
                                </m:r>
                              </m:e>
                            </m:d>
                          </m:e>
                        </m:d>
                        <m:r>
                          <a:rPr lang="en-US" sz="2400" b="0" i="1" smtClean="0">
                            <a:solidFill>
                              <a:schemeClr val="tx1"/>
                            </a:solidFill>
                            <a:latin typeface="Cambria Math" panose="02040503050406030204" pitchFamily="18" charset="0"/>
                            <a:ea typeface="Cambria Math" panose="02040503050406030204" pitchFamily="18" charset="0"/>
                          </a:rPr>
                          <m:t>=</m:t>
                        </m:r>
                        <m:sSup>
                          <m:sSupPr>
                            <m:ctrlPr>
                              <a:rPr lang="en-US" sz="2400" i="1" smtClean="0">
                                <a:solidFill>
                                  <a:srgbClr val="0000FF"/>
                                </a:solidFill>
                                <a:latin typeface="Cambria Math" panose="02040503050406030204" pitchFamily="18" charset="0"/>
                                <a:ea typeface="Cambria Math" panose="02040503050406030204" pitchFamily="18" charset="0"/>
                              </a:rPr>
                            </m:ctrlPr>
                          </m:sSupPr>
                          <m:e>
                            <m:r>
                              <a:rPr lang="en-US" sz="2400" i="1">
                                <a:solidFill>
                                  <a:srgbClr val="0000FF"/>
                                </a:solidFill>
                                <a:latin typeface="Cambria Math" panose="02040503050406030204" pitchFamily="18" charset="0"/>
                                <a:ea typeface="Cambria Math" panose="02040503050406030204" pitchFamily="18" charset="0"/>
                              </a:rPr>
                              <m:t>𝑎</m:t>
                            </m:r>
                          </m:e>
                          <m:sup>
                            <m:r>
                              <a:rPr lang="en-US" sz="2400" i="1">
                                <a:solidFill>
                                  <a:srgbClr val="0000FF"/>
                                </a:solidFill>
                                <a:latin typeface="Cambria Math" panose="02040503050406030204" pitchFamily="18" charset="0"/>
                                <a:ea typeface="Cambria Math" panose="02040503050406030204" pitchFamily="18" charset="0"/>
                              </a:rPr>
                              <m:t>2</m:t>
                            </m:r>
                          </m:sup>
                        </m:sSup>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|00</m:t>
                            </m:r>
                          </m:e>
                        </m:d>
                        <m:r>
                          <a:rPr lang="en-US" sz="2400" i="1">
                            <a:solidFill>
                              <a:srgbClr val="0000FF"/>
                            </a:solidFill>
                            <a:latin typeface="Cambria Math" panose="02040503050406030204" pitchFamily="18" charset="0"/>
                            <a:ea typeface="Cambria Math" panose="02040503050406030204" pitchFamily="18" charset="0"/>
                          </a:rPr>
                          <m:t>+</m:t>
                        </m:r>
                        <m:r>
                          <a:rPr lang="en-US" sz="2400" i="1">
                            <a:solidFill>
                              <a:srgbClr val="0000FF"/>
                            </a:solidFill>
                            <a:latin typeface="Cambria Math" panose="02040503050406030204" pitchFamily="18" charset="0"/>
                            <a:ea typeface="Cambria Math" panose="02040503050406030204" pitchFamily="18" charset="0"/>
                          </a:rPr>
                          <m:t>𝑎𝑏</m:t>
                        </m:r>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|0</m:t>
                            </m:r>
                            <m:r>
                              <a:rPr lang="sr-Latn-RS" sz="2400" b="0" i="1" smtClean="0">
                                <a:solidFill>
                                  <a:srgbClr val="0000FF"/>
                                </a:solidFill>
                                <a:latin typeface="Cambria Math" panose="02040503050406030204" pitchFamily="18" charset="0"/>
                                <a:ea typeface="Cambria Math" panose="02040503050406030204" pitchFamily="18" charset="0"/>
                              </a:rPr>
                              <m:t>0</m:t>
                            </m:r>
                          </m:e>
                        </m:d>
                        <m:r>
                          <a:rPr lang="en-US" sz="2400" i="1">
                            <a:solidFill>
                              <a:srgbClr val="0000FF"/>
                            </a:solidFill>
                            <a:latin typeface="Cambria Math" panose="02040503050406030204" pitchFamily="18" charset="0"/>
                            <a:ea typeface="Cambria Math" panose="02040503050406030204" pitchFamily="18" charset="0"/>
                          </a:rPr>
                          <m:t>+</m:t>
                        </m:r>
                        <m:r>
                          <a:rPr lang="en-US" sz="2400" i="1">
                            <a:solidFill>
                              <a:srgbClr val="0000FF"/>
                            </a:solidFill>
                            <a:latin typeface="Cambria Math" panose="02040503050406030204" pitchFamily="18" charset="0"/>
                            <a:ea typeface="Cambria Math" panose="02040503050406030204" pitchFamily="18" charset="0"/>
                          </a:rPr>
                          <m:t>𝑏𝑎</m:t>
                        </m:r>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|10</m:t>
                            </m:r>
                          </m:e>
                        </m:d>
                        <m:r>
                          <a:rPr lang="en-US" sz="2400" i="1">
                            <a:solidFill>
                              <a:srgbClr val="0000FF"/>
                            </a:solidFill>
                            <a:latin typeface="Cambria Math" panose="02040503050406030204" pitchFamily="18" charset="0"/>
                            <a:ea typeface="Cambria Math" panose="02040503050406030204" pitchFamily="18" charset="0"/>
                          </a:rPr>
                          <m:t>+</m:t>
                        </m:r>
                        <m:sSup>
                          <m:sSupPr>
                            <m:ctrlPr>
                              <a:rPr lang="en-US" sz="2400" i="1">
                                <a:solidFill>
                                  <a:srgbClr val="0000FF"/>
                                </a:solidFill>
                                <a:latin typeface="Cambria Math" panose="02040503050406030204" pitchFamily="18" charset="0"/>
                                <a:ea typeface="Cambria Math" panose="02040503050406030204" pitchFamily="18" charset="0"/>
                              </a:rPr>
                            </m:ctrlPr>
                          </m:sSupPr>
                          <m:e>
                            <m:r>
                              <a:rPr lang="en-US" sz="2400" i="1">
                                <a:solidFill>
                                  <a:srgbClr val="0000FF"/>
                                </a:solidFill>
                                <a:latin typeface="Cambria Math" panose="02040503050406030204" pitchFamily="18" charset="0"/>
                                <a:ea typeface="Cambria Math" panose="02040503050406030204" pitchFamily="18" charset="0"/>
                              </a:rPr>
                              <m:t>𝑏</m:t>
                            </m:r>
                          </m:e>
                          <m:sup>
                            <m:r>
                              <a:rPr lang="en-US" sz="2400" i="1">
                                <a:solidFill>
                                  <a:srgbClr val="0000FF"/>
                                </a:solidFill>
                                <a:latin typeface="Cambria Math" panose="02040503050406030204" pitchFamily="18" charset="0"/>
                                <a:ea typeface="Cambria Math" panose="02040503050406030204" pitchFamily="18" charset="0"/>
                              </a:rPr>
                              <m:t>2</m:t>
                            </m:r>
                          </m:sup>
                        </m:sSup>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r>
                              <a:rPr lang="en-US" sz="2400" i="1">
                                <a:solidFill>
                                  <a:srgbClr val="0000FF"/>
                                </a:solidFill>
                                <a:latin typeface="Cambria Math" panose="02040503050406030204" pitchFamily="18" charset="0"/>
                                <a:ea typeface="Cambria Math" panose="02040503050406030204" pitchFamily="18" charset="0"/>
                              </a:rPr>
                              <m:t>|1</m:t>
                            </m:r>
                            <m:r>
                              <a:rPr lang="sr-Latn-RS" sz="2400" b="0" i="1" smtClean="0">
                                <a:solidFill>
                                  <a:srgbClr val="0000FF"/>
                                </a:solidFill>
                                <a:latin typeface="Cambria Math" panose="02040503050406030204" pitchFamily="18" charset="0"/>
                                <a:ea typeface="Cambria Math" panose="02040503050406030204" pitchFamily="18" charset="0"/>
                              </a:rPr>
                              <m:t>0</m:t>
                            </m:r>
                          </m:e>
                        </m:d>
                      </m:oMath>
                    </m:oMathPara>
                  </a14:m>
                  <a:endParaRPr lang="en-US" sz="2400" dirty="0">
                    <a:solidFill>
                      <a:schemeClr val="tx1"/>
                    </a:solidFill>
                  </a:endParaRPr>
                </a:p>
              </p:txBody>
            </p:sp>
          </mc:Choice>
          <mc:Fallback xmlns="">
            <p:sp>
              <p:nvSpPr>
                <p:cNvPr id="23" name="Rectangle 22">
                  <a:extLst>
                    <a:ext uri="{FF2B5EF4-FFF2-40B4-BE49-F238E27FC236}">
                      <a16:creationId xmlns:a16="http://schemas.microsoft.com/office/drawing/2014/main" id="{5AD0008A-E38F-7C4F-8B37-B0B5D8C2E337}"/>
                    </a:ext>
                  </a:extLst>
                </p:cNvPr>
                <p:cNvSpPr>
                  <a:spLocks noRot="1" noChangeAspect="1" noMove="1" noResize="1" noEditPoints="1" noAdjustHandles="1" noChangeArrowheads="1" noChangeShapeType="1" noTextEdit="1"/>
                </p:cNvSpPr>
                <p:nvPr/>
              </p:nvSpPr>
              <p:spPr>
                <a:xfrm>
                  <a:off x="1788291" y="3007670"/>
                  <a:ext cx="10501528" cy="461665"/>
                </a:xfrm>
                <a:prstGeom prst="rect">
                  <a:avLst/>
                </a:prstGeom>
                <a:blipFill>
                  <a:blip r:embed="rId10"/>
                  <a:stretch>
                    <a:fillRect t="-124324" r="-2536" b="-191892"/>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29B25162-2C36-8A4D-A9FC-DC4CBE15330E}"/>
                </a:ext>
              </a:extLst>
            </p:cNvPr>
            <p:cNvSpPr txBox="1"/>
            <p:nvPr/>
          </p:nvSpPr>
          <p:spPr>
            <a:xfrm>
              <a:off x="93808" y="3007670"/>
              <a:ext cx="1303562" cy="461665"/>
            </a:xfrm>
            <a:prstGeom prst="rect">
              <a:avLst/>
            </a:prstGeom>
            <a:solidFill>
              <a:schemeClr val="bg1">
                <a:lumMod val="95000"/>
              </a:schemeClr>
            </a:solidFill>
          </p:spPr>
          <p:txBody>
            <a:bodyPr wrap="none" rtlCol="0">
              <a:spAutoFit/>
            </a:bodyPr>
            <a:lstStyle/>
            <a:p>
              <a:r>
                <a:rPr lang="en-US" sz="2400" dirty="0"/>
                <a:t>Output 1</a:t>
              </a:r>
            </a:p>
          </p:txBody>
        </p:sp>
      </p:grpSp>
      <p:grpSp>
        <p:nvGrpSpPr>
          <p:cNvPr id="15" name="Group 14">
            <a:extLst>
              <a:ext uri="{FF2B5EF4-FFF2-40B4-BE49-F238E27FC236}">
                <a16:creationId xmlns:a16="http://schemas.microsoft.com/office/drawing/2014/main" id="{E1D5B3DA-9C87-5F48-A174-B880CFBC31A3}"/>
              </a:ext>
            </a:extLst>
          </p:cNvPr>
          <p:cNvGrpSpPr/>
          <p:nvPr/>
        </p:nvGrpSpPr>
        <p:grpSpPr>
          <a:xfrm>
            <a:off x="59657" y="3695023"/>
            <a:ext cx="5489067" cy="461665"/>
            <a:chOff x="59657" y="3695023"/>
            <a:chExt cx="5489067" cy="461665"/>
          </a:xfrm>
        </p:grpSpPr>
        <p:sp>
          <p:nvSpPr>
            <p:cNvPr id="26" name="TextBox 25">
              <a:extLst>
                <a:ext uri="{FF2B5EF4-FFF2-40B4-BE49-F238E27FC236}">
                  <a16:creationId xmlns:a16="http://schemas.microsoft.com/office/drawing/2014/main" id="{EE71E6D0-9D18-DE45-AC99-5D2759850B2E}"/>
                </a:ext>
              </a:extLst>
            </p:cNvPr>
            <p:cNvSpPr txBox="1"/>
            <p:nvPr/>
          </p:nvSpPr>
          <p:spPr>
            <a:xfrm>
              <a:off x="59657" y="3695023"/>
              <a:ext cx="1303562" cy="461665"/>
            </a:xfrm>
            <a:prstGeom prst="rect">
              <a:avLst/>
            </a:prstGeom>
            <a:solidFill>
              <a:schemeClr val="bg1">
                <a:lumMod val="95000"/>
              </a:schemeClr>
            </a:solidFill>
          </p:spPr>
          <p:txBody>
            <a:bodyPr wrap="none" rtlCol="0">
              <a:spAutoFit/>
            </a:bodyPr>
            <a:lstStyle/>
            <a:p>
              <a:r>
                <a:rPr lang="en-US" sz="2400" dirty="0"/>
                <a:t>Output 2</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F8FD2D9-7B08-DA4F-AAEC-B862EBDBBB30}"/>
                    </a:ext>
                  </a:extLst>
                </p:cNvPr>
                <p:cNvSpPr/>
                <p:nvPr/>
              </p:nvSpPr>
              <p:spPr>
                <a:xfrm>
                  <a:off x="2057640" y="3695023"/>
                  <a:ext cx="34910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𝑆</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smtClean="0">
                            <a:solidFill>
                              <a:srgbClr val="FF0000"/>
                            </a:solidFill>
                            <a:latin typeface="Cambria Math" panose="02040503050406030204" pitchFamily="18" charset="0"/>
                            <a:ea typeface="Cambria Math" panose="02040503050406030204" pitchFamily="18" charset="0"/>
                          </a:rPr>
                          <m:t>𝑎</m:t>
                        </m:r>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|00</m:t>
                            </m:r>
                          </m:e>
                        </m:d>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𝑏</m:t>
                        </m:r>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|1</m:t>
                            </m:r>
                            <m:r>
                              <a:rPr lang="en-US" sz="2400" b="0" i="1" smtClean="0">
                                <a:solidFill>
                                  <a:srgbClr val="FF000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3" name="Rectangle 12">
                  <a:extLst>
                    <a:ext uri="{FF2B5EF4-FFF2-40B4-BE49-F238E27FC236}">
                      <a16:creationId xmlns:a16="http://schemas.microsoft.com/office/drawing/2014/main" id="{3F8FD2D9-7B08-DA4F-AAEC-B862EBDBBB30}"/>
                    </a:ext>
                  </a:extLst>
                </p:cNvPr>
                <p:cNvSpPr>
                  <a:spLocks noRot="1" noChangeAspect="1" noMove="1" noResize="1" noEditPoints="1" noAdjustHandles="1" noChangeArrowheads="1" noChangeShapeType="1" noTextEdit="1"/>
                </p:cNvSpPr>
                <p:nvPr/>
              </p:nvSpPr>
              <p:spPr>
                <a:xfrm>
                  <a:off x="2057640" y="3695023"/>
                  <a:ext cx="3491084" cy="461665"/>
                </a:xfrm>
                <a:prstGeom prst="rect">
                  <a:avLst/>
                </a:prstGeom>
                <a:blipFill>
                  <a:blip r:embed="rId11"/>
                  <a:stretch>
                    <a:fillRect l="-4348" t="-124324" r="-8696" b="-191892"/>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30C8F5BD-F587-904C-9F14-356AC627203B}"/>
              </a:ext>
            </a:extLst>
          </p:cNvPr>
          <p:cNvGrpSpPr/>
          <p:nvPr/>
        </p:nvGrpSpPr>
        <p:grpSpPr>
          <a:xfrm>
            <a:off x="3206052" y="4528916"/>
            <a:ext cx="9042988" cy="2243853"/>
            <a:chOff x="3996204" y="4523740"/>
            <a:chExt cx="9042988" cy="2243853"/>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0FAC68F8-01E3-F443-A404-F3C2218DDD45}"/>
                    </a:ext>
                  </a:extLst>
                </p:cNvPr>
                <p:cNvSpPr/>
                <p:nvPr/>
              </p:nvSpPr>
              <p:spPr>
                <a:xfrm>
                  <a:off x="3996204" y="5059753"/>
                  <a:ext cx="9042988" cy="170784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800" i="1" smtClean="0">
                                <a:solidFill>
                                  <a:srgbClr val="0000FF"/>
                                </a:solidFill>
                                <a:latin typeface="Cambria Math" panose="02040503050406030204" pitchFamily="18" charset="0"/>
                                <a:ea typeface="Cambria Math" panose="02040503050406030204" pitchFamily="18" charset="0"/>
                              </a:rPr>
                            </m:ctrlPr>
                          </m:dPr>
                          <m:e>
                            <m:m>
                              <m:mPr>
                                <m:mcs>
                                  <m:mc>
                                    <m:mcPr>
                                      <m:count m:val="1"/>
                                      <m:mcJc m:val="center"/>
                                    </m:mcPr>
                                  </m:mc>
                                </m:mcs>
                                <m:ctrlPr>
                                  <a:rPr lang="en-US" sz="2800" i="1" smtClean="0">
                                    <a:solidFill>
                                      <a:srgbClr val="0000FF"/>
                                    </a:solidFill>
                                    <a:latin typeface="Cambria Math" panose="02040503050406030204" pitchFamily="18" charset="0"/>
                                    <a:ea typeface="Cambria Math" panose="02040503050406030204" pitchFamily="18" charset="0"/>
                                  </a:rPr>
                                </m:ctrlPr>
                              </m:mPr>
                              <m:mr>
                                <m:e>
                                  <m:sSup>
                                    <m:sSupPr>
                                      <m:ctrlPr>
                                        <a:rPr lang="en-US" sz="2800" i="1" smtClean="0">
                                          <a:solidFill>
                                            <a:srgbClr val="0000FF"/>
                                          </a:solidFill>
                                          <a:latin typeface="Cambria Math" panose="02040503050406030204" pitchFamily="18" charset="0"/>
                                          <a:ea typeface="Cambria Math" panose="02040503050406030204" pitchFamily="18" charset="0"/>
                                        </a:rPr>
                                      </m:ctrlPr>
                                    </m:sSupPr>
                                    <m:e>
                                      <m:r>
                                        <a:rPr lang="sr-Latn-RS" sz="2800" b="0" i="1" smtClean="0">
                                          <a:solidFill>
                                            <a:srgbClr val="0000FF"/>
                                          </a:solidFill>
                                          <a:latin typeface="Cambria Math" panose="02040503050406030204" pitchFamily="18" charset="0"/>
                                          <a:ea typeface="Cambria Math" panose="02040503050406030204" pitchFamily="18" charset="0"/>
                                        </a:rPr>
                                        <m:t>𝑎</m:t>
                                      </m:r>
                                    </m:e>
                                    <m:sup>
                                      <m:r>
                                        <a:rPr lang="sr-Latn-RS" sz="2800" b="0" i="1" smtClean="0">
                                          <a:solidFill>
                                            <a:srgbClr val="0000FF"/>
                                          </a:solidFill>
                                          <a:latin typeface="Cambria Math" panose="02040503050406030204" pitchFamily="18" charset="0"/>
                                          <a:ea typeface="Cambria Math" panose="02040503050406030204" pitchFamily="18" charset="0"/>
                                        </a:rPr>
                                        <m:t>2</m:t>
                                      </m:r>
                                    </m:sup>
                                  </m:sSup>
                                  <m:r>
                                    <m:rPr>
                                      <m:brk m:alnAt="7"/>
                                    </m:rPr>
                                    <a:rPr lang="sr-Latn-RS" sz="2800" b="0" i="1" smtClean="0">
                                      <a:solidFill>
                                        <a:srgbClr val="0000FF"/>
                                      </a:solidFill>
                                      <a:latin typeface="Cambria Math" panose="02040503050406030204" pitchFamily="18" charset="0"/>
                                      <a:ea typeface="Cambria Math" panose="02040503050406030204" pitchFamily="18" charset="0"/>
                                    </a:rPr>
                                    <m:t>+</m:t>
                                  </m:r>
                                  <m:r>
                                    <a:rPr lang="sr-Latn-RS" sz="2800" b="0" i="1" smtClean="0">
                                      <a:solidFill>
                                        <a:srgbClr val="0000FF"/>
                                      </a:solidFill>
                                      <a:latin typeface="Cambria Math" panose="02040503050406030204" pitchFamily="18" charset="0"/>
                                      <a:ea typeface="Cambria Math" panose="02040503050406030204" pitchFamily="18" charset="0"/>
                                    </a:rPr>
                                    <m:t>𝑎𝑏</m:t>
                                  </m:r>
                                </m:e>
                              </m:mr>
                              <m:mr>
                                <m:e>
                                  <m:r>
                                    <a:rPr lang="sr-Latn-RS" sz="2800" b="0" i="1" smtClean="0">
                                      <a:solidFill>
                                        <a:srgbClr val="0000FF"/>
                                      </a:solidFill>
                                      <a:latin typeface="Cambria Math" panose="02040503050406030204" pitchFamily="18" charset="0"/>
                                      <a:ea typeface="Cambria Math" panose="02040503050406030204" pitchFamily="18" charset="0"/>
                                    </a:rPr>
                                    <m:t>0</m:t>
                                  </m:r>
                                </m:e>
                              </m:mr>
                              <m:mr>
                                <m:e>
                                  <m:sSup>
                                    <m:sSupPr>
                                      <m:ctrlPr>
                                        <a:rPr lang="en-US" sz="2800" i="1">
                                          <a:solidFill>
                                            <a:srgbClr val="0000FF"/>
                                          </a:solidFill>
                                          <a:latin typeface="Cambria Math" panose="02040503050406030204" pitchFamily="18" charset="0"/>
                                          <a:ea typeface="Cambria Math" panose="02040503050406030204" pitchFamily="18" charset="0"/>
                                        </a:rPr>
                                      </m:ctrlPr>
                                    </m:sSupPr>
                                    <m:e>
                                      <m:r>
                                        <a:rPr lang="sr-Latn-RS" sz="2800" b="0" i="1" smtClean="0">
                                          <a:solidFill>
                                            <a:srgbClr val="0000FF"/>
                                          </a:solidFill>
                                          <a:latin typeface="Cambria Math" panose="02040503050406030204" pitchFamily="18" charset="0"/>
                                          <a:ea typeface="Cambria Math" panose="02040503050406030204" pitchFamily="18" charset="0"/>
                                        </a:rPr>
                                        <m:t>𝑏</m:t>
                                      </m:r>
                                    </m:e>
                                    <m:sup>
                                      <m:r>
                                        <a:rPr lang="sr-Latn-RS" sz="2800" i="1">
                                          <a:solidFill>
                                            <a:srgbClr val="0000FF"/>
                                          </a:solidFill>
                                          <a:latin typeface="Cambria Math" panose="02040503050406030204" pitchFamily="18" charset="0"/>
                                          <a:ea typeface="Cambria Math" panose="02040503050406030204" pitchFamily="18" charset="0"/>
                                        </a:rPr>
                                        <m:t>2</m:t>
                                      </m:r>
                                    </m:sup>
                                  </m:sSup>
                                  <m:r>
                                    <m:rPr>
                                      <m:brk m:alnAt="7"/>
                                    </m:rPr>
                                    <a:rPr lang="sr-Latn-RS" sz="2800" i="1">
                                      <a:solidFill>
                                        <a:srgbClr val="0000FF"/>
                                      </a:solidFill>
                                      <a:latin typeface="Cambria Math" panose="02040503050406030204" pitchFamily="18" charset="0"/>
                                      <a:ea typeface="Cambria Math" panose="02040503050406030204" pitchFamily="18" charset="0"/>
                                    </a:rPr>
                                    <m:t>+</m:t>
                                  </m:r>
                                  <m:r>
                                    <a:rPr lang="sr-Latn-RS" sz="2800" i="1">
                                      <a:solidFill>
                                        <a:srgbClr val="0000FF"/>
                                      </a:solidFill>
                                      <a:latin typeface="Cambria Math" panose="02040503050406030204" pitchFamily="18" charset="0"/>
                                      <a:ea typeface="Cambria Math" panose="02040503050406030204" pitchFamily="18" charset="0"/>
                                    </a:rPr>
                                    <m:t>𝑎𝑏</m:t>
                                  </m:r>
                                </m:e>
                              </m:mr>
                              <m:mr>
                                <m:e>
                                  <m:r>
                                    <a:rPr lang="sr-Latn-RS" sz="2800" b="0" i="1" smtClean="0">
                                      <a:solidFill>
                                        <a:srgbClr val="0000FF"/>
                                      </a:solidFill>
                                      <a:latin typeface="Cambria Math" panose="02040503050406030204" pitchFamily="18" charset="0"/>
                                      <a:ea typeface="Cambria Math" panose="02040503050406030204" pitchFamily="18" charset="0"/>
                                    </a:rPr>
                                    <m:t>0</m:t>
                                  </m:r>
                                </m:e>
                              </m:mr>
                            </m:m>
                          </m:e>
                        </m:d>
                        <m:r>
                          <a:rPr lang="en-US" sz="2800" b="0" i="1" smtClean="0">
                            <a:latin typeface="Cambria Math" panose="02040503050406030204" pitchFamily="18" charset="0"/>
                            <a:ea typeface="Cambria Math" panose="02040503050406030204" pitchFamily="18" charset="0"/>
                          </a:rPr>
                          <m:t>     =     </m:t>
                        </m:r>
                        <m:d>
                          <m:dPr>
                            <m:ctrlPr>
                              <a:rPr lang="en-US" sz="2800" i="1" smtClean="0">
                                <a:solidFill>
                                  <a:srgbClr val="FF000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800" i="1">
                                    <a:solidFill>
                                      <a:srgbClr val="FF0000"/>
                                    </a:solidFill>
                                    <a:latin typeface="Cambria Math" panose="02040503050406030204" pitchFamily="18" charset="0"/>
                                    <a:ea typeface="Cambria Math" panose="02040503050406030204" pitchFamily="18" charset="0"/>
                                  </a:rPr>
                                </m:ctrlPr>
                              </m:mPr>
                              <m:mr>
                                <m:e>
                                  <m:r>
                                    <a:rPr lang="sr-Latn-RS" sz="2800" b="0" i="1" smtClean="0">
                                      <a:solidFill>
                                        <a:srgbClr val="FF0000"/>
                                      </a:solidFill>
                                      <a:latin typeface="Cambria Math" panose="02040503050406030204" pitchFamily="18" charset="0"/>
                                      <a:ea typeface="Cambria Math" panose="02040503050406030204" pitchFamily="18" charset="0"/>
                                    </a:rPr>
                                    <m:t>𝑎</m:t>
                                  </m:r>
                                </m:e>
                              </m:mr>
                              <m:mr>
                                <m:e>
                                  <m:r>
                                    <a:rPr lang="en-US" sz="2800" b="0" i="1" smtClean="0">
                                      <a:solidFill>
                                        <a:srgbClr val="FF0000"/>
                                      </a:solidFill>
                                      <a:latin typeface="Cambria Math" panose="02040503050406030204" pitchFamily="18" charset="0"/>
                                      <a:ea typeface="Cambria Math" panose="02040503050406030204" pitchFamily="18" charset="0"/>
                                    </a:rPr>
                                    <m:t>0</m:t>
                                  </m:r>
                                </m:e>
                              </m:mr>
                              <m:mr>
                                <m:e>
                                  <m:r>
                                    <a:rPr lang="en-US" sz="2800" b="0" i="1" smtClean="0">
                                      <a:solidFill>
                                        <a:srgbClr val="FF0000"/>
                                      </a:solidFill>
                                      <a:latin typeface="Cambria Math" panose="02040503050406030204" pitchFamily="18" charset="0"/>
                                      <a:ea typeface="Cambria Math" panose="02040503050406030204" pitchFamily="18" charset="0"/>
                                    </a:rPr>
                                    <m:t>𝑏</m:t>
                                  </m:r>
                                </m:e>
                              </m:mr>
                              <m:mr>
                                <m:e>
                                  <m:r>
                                    <a:rPr lang="sr-Latn-RS" sz="2800" b="0" i="1" smtClean="0">
                                      <a:solidFill>
                                        <a:srgbClr val="FF0000"/>
                                      </a:solidFill>
                                      <a:latin typeface="Cambria Math" panose="02040503050406030204" pitchFamily="18" charset="0"/>
                                      <a:ea typeface="Cambria Math" panose="02040503050406030204" pitchFamily="18" charset="0"/>
                                    </a:rPr>
                                    <m:t>0</m:t>
                                  </m:r>
                                </m:e>
                              </m:mr>
                            </m:m>
                          </m:e>
                        </m:d>
                        <m:r>
                          <a:rPr lang="en-US" sz="2800" b="0"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𝑎</m:t>
                        </m:r>
                        <m:r>
                          <a:rPr lang="en-US" sz="2800" i="1">
                            <a:latin typeface="Cambria Math" panose="02040503050406030204" pitchFamily="18" charset="0"/>
                            <a:ea typeface="Cambria Math" panose="02040503050406030204" pitchFamily="18" charset="0"/>
                          </a:rPr>
                          <m:t>=1,</m:t>
                        </m:r>
                        <m:r>
                          <a:rPr lang="en-US" sz="2800" i="1">
                            <a:latin typeface="Cambria Math" panose="02040503050406030204" pitchFamily="18" charset="0"/>
                            <a:ea typeface="Cambria Math" panose="02040503050406030204" pitchFamily="18" charset="0"/>
                          </a:rPr>
                          <m:t>𝑏</m:t>
                        </m:r>
                        <m:r>
                          <a:rPr lang="en-US" sz="2800" i="1">
                            <a:latin typeface="Cambria Math" panose="02040503050406030204" pitchFamily="18" charset="0"/>
                            <a:ea typeface="Cambria Math" panose="02040503050406030204" pitchFamily="18" charset="0"/>
                          </a:rPr>
                          <m:t>=0;</m:t>
                        </m:r>
                        <m:r>
                          <a:rPr lang="sr-Latn-RS" sz="2800" b="0" i="1" smtClean="0">
                            <a:latin typeface="Cambria Math" panose="02040503050406030204" pitchFamily="18" charset="0"/>
                            <a:ea typeface="Cambria Math" panose="02040503050406030204" pitchFamily="18" charset="0"/>
                          </a:rPr>
                          <m:t>𝑎</m:t>
                        </m:r>
                        <m:r>
                          <a:rPr lang="en-US" sz="2800" b="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0</m:t>
                        </m:r>
                        <m:r>
                          <a:rPr lang="en-US" sz="2800" b="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𝑏</m:t>
                        </m:r>
                        <m:r>
                          <a:rPr lang="en-US" sz="2800" b="0" i="1" smtClean="0">
                            <a:latin typeface="Cambria Math" panose="02040503050406030204" pitchFamily="18" charset="0"/>
                            <a:ea typeface="Cambria Math" panose="02040503050406030204" pitchFamily="18" charset="0"/>
                          </a:rPr>
                          <m:t>=0 !?</m:t>
                        </m:r>
                      </m:oMath>
                    </m:oMathPara>
                  </a14:m>
                  <a:endParaRPr lang="en-US" sz="2800" dirty="0"/>
                </a:p>
              </p:txBody>
            </p:sp>
          </mc:Choice>
          <mc:Fallback xmlns="">
            <p:sp>
              <p:nvSpPr>
                <p:cNvPr id="39" name="Rectangle 38">
                  <a:extLst>
                    <a:ext uri="{FF2B5EF4-FFF2-40B4-BE49-F238E27FC236}">
                      <a16:creationId xmlns:a16="http://schemas.microsoft.com/office/drawing/2014/main" id="{0FAC68F8-01E3-F443-A404-F3C2218DDD45}"/>
                    </a:ext>
                  </a:extLst>
                </p:cNvPr>
                <p:cNvSpPr>
                  <a:spLocks noRot="1" noChangeAspect="1" noMove="1" noResize="1" noEditPoints="1" noAdjustHandles="1" noChangeArrowheads="1" noChangeShapeType="1" noTextEdit="1"/>
                </p:cNvSpPr>
                <p:nvPr/>
              </p:nvSpPr>
              <p:spPr>
                <a:xfrm>
                  <a:off x="3996204" y="5059753"/>
                  <a:ext cx="9042988" cy="1707840"/>
                </a:xfrm>
                <a:prstGeom prst="rect">
                  <a:avLst/>
                </a:prstGeom>
                <a:blipFill>
                  <a:blip r:embed="rId12"/>
                  <a:stretch>
                    <a:fillRect b="-3704"/>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53BD33C4-2587-C644-8A54-CCDFF141250E}"/>
                </a:ext>
              </a:extLst>
            </p:cNvPr>
            <p:cNvSpPr txBox="1"/>
            <p:nvPr/>
          </p:nvSpPr>
          <p:spPr>
            <a:xfrm>
              <a:off x="4315445" y="4529324"/>
              <a:ext cx="1303562" cy="461665"/>
            </a:xfrm>
            <a:prstGeom prst="rect">
              <a:avLst/>
            </a:prstGeom>
            <a:solidFill>
              <a:schemeClr val="bg1">
                <a:lumMod val="95000"/>
              </a:schemeClr>
            </a:solidFill>
          </p:spPr>
          <p:txBody>
            <a:bodyPr wrap="none" rtlCol="0">
              <a:spAutoFit/>
            </a:bodyPr>
            <a:lstStyle/>
            <a:p>
              <a:r>
                <a:rPr lang="en-US" sz="2400" dirty="0"/>
                <a:t>Output 1</a:t>
              </a:r>
            </a:p>
          </p:txBody>
        </p:sp>
        <p:sp>
          <p:nvSpPr>
            <p:cNvPr id="31" name="TextBox 30">
              <a:extLst>
                <a:ext uri="{FF2B5EF4-FFF2-40B4-BE49-F238E27FC236}">
                  <a16:creationId xmlns:a16="http://schemas.microsoft.com/office/drawing/2014/main" id="{3A5B437A-AD1A-1843-AB27-B5C9F4D69FFD}"/>
                </a:ext>
              </a:extLst>
            </p:cNvPr>
            <p:cNvSpPr txBox="1"/>
            <p:nvPr/>
          </p:nvSpPr>
          <p:spPr>
            <a:xfrm>
              <a:off x="6886152" y="4523740"/>
              <a:ext cx="1303562" cy="461665"/>
            </a:xfrm>
            <a:prstGeom prst="rect">
              <a:avLst/>
            </a:prstGeom>
            <a:solidFill>
              <a:schemeClr val="bg1">
                <a:lumMod val="95000"/>
              </a:schemeClr>
            </a:solidFill>
          </p:spPr>
          <p:txBody>
            <a:bodyPr wrap="none" rtlCol="0">
              <a:spAutoFit/>
            </a:bodyPr>
            <a:lstStyle/>
            <a:p>
              <a:r>
                <a:rPr lang="en-US" sz="2400" dirty="0"/>
                <a:t>Output 2</a:t>
              </a:r>
            </a:p>
          </p:txBody>
        </p:sp>
      </p:grpSp>
    </p:spTree>
    <p:extLst>
      <p:ext uri="{BB962C8B-B14F-4D97-AF65-F5344CB8AC3E}">
        <p14:creationId xmlns:p14="http://schemas.microsoft.com/office/powerpoint/2010/main" val="54792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83932C-E1C7-4D4E-B1FB-D20E0F508F2E}"/>
              </a:ext>
            </a:extLst>
          </p:cNvPr>
          <p:cNvPicPr>
            <a:picLocks noChangeAspect="1"/>
          </p:cNvPicPr>
          <p:nvPr/>
        </p:nvPicPr>
        <p:blipFill>
          <a:blip r:embed="rId2"/>
          <a:stretch>
            <a:fillRect/>
          </a:stretch>
        </p:blipFill>
        <p:spPr>
          <a:xfrm>
            <a:off x="204321" y="-148291"/>
            <a:ext cx="11747500" cy="5397500"/>
          </a:xfrm>
          <a:prstGeom prst="rect">
            <a:avLst/>
          </a:prstGeom>
        </p:spPr>
      </p:pic>
      <p:sp>
        <p:nvSpPr>
          <p:cNvPr id="6" name="TextBox 5">
            <a:extLst>
              <a:ext uri="{FF2B5EF4-FFF2-40B4-BE49-F238E27FC236}">
                <a16:creationId xmlns:a16="http://schemas.microsoft.com/office/drawing/2014/main" id="{0662F499-FE49-9846-A16E-0F9137EAD2F2}"/>
              </a:ext>
            </a:extLst>
          </p:cNvPr>
          <p:cNvSpPr txBox="1"/>
          <p:nvPr/>
        </p:nvSpPr>
        <p:spPr>
          <a:xfrm>
            <a:off x="1684891" y="5527876"/>
            <a:ext cx="9182322" cy="769441"/>
          </a:xfrm>
          <a:prstGeom prst="rect">
            <a:avLst/>
          </a:prstGeom>
          <a:noFill/>
        </p:spPr>
        <p:txBody>
          <a:bodyPr wrap="none" rtlCol="0">
            <a:spAutoFit/>
          </a:bodyPr>
          <a:lstStyle/>
          <a:p>
            <a:r>
              <a:rPr lang="en-US" sz="4400" dirty="0">
                <a:latin typeface="Comic Sans MS" panose="030F0902030302020204" pitchFamily="66" charset="0"/>
              </a:rPr>
              <a:t>Quantum Communication Protocols</a:t>
            </a:r>
          </a:p>
        </p:txBody>
      </p:sp>
    </p:spTree>
    <p:extLst>
      <p:ext uri="{BB962C8B-B14F-4D97-AF65-F5344CB8AC3E}">
        <p14:creationId xmlns:p14="http://schemas.microsoft.com/office/powerpoint/2010/main" val="1698039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186412-6170-E449-9D03-48F6DF0B08B0}"/>
              </a:ext>
            </a:extLst>
          </p:cNvPr>
          <p:cNvSpPr>
            <a:spLocks noGrp="1"/>
          </p:cNvSpPr>
          <p:nvPr>
            <p:ph type="title"/>
          </p:nvPr>
        </p:nvSpPr>
        <p:spPr/>
        <p:txBody>
          <a:bodyPr/>
          <a:lstStyle/>
          <a:p>
            <a:r>
              <a:rPr lang="en-ZA" dirty="0"/>
              <a:t>Evolution of Quantum Communication</a:t>
            </a:r>
            <a:endParaRPr lang="en-US" dirty="0"/>
          </a:p>
        </p:txBody>
      </p:sp>
      <p:sp>
        <p:nvSpPr>
          <p:cNvPr id="6" name="Slide Number Placeholder 2">
            <a:extLst>
              <a:ext uri="{FF2B5EF4-FFF2-40B4-BE49-F238E27FC236}">
                <a16:creationId xmlns:a16="http://schemas.microsoft.com/office/drawing/2014/main" id="{F00D7B29-C800-1841-90B2-27A677FBDF47}"/>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23</a:t>
            </a:fld>
            <a:endParaRPr lang="en-US"/>
          </a:p>
        </p:txBody>
      </p:sp>
      <p:graphicFrame>
        <p:nvGraphicFramePr>
          <p:cNvPr id="2" name="Diagram 1">
            <a:extLst>
              <a:ext uri="{FF2B5EF4-FFF2-40B4-BE49-F238E27FC236}">
                <a16:creationId xmlns:a16="http://schemas.microsoft.com/office/drawing/2014/main" id="{FD78DEA8-282F-8547-8093-79B54B1BA899}"/>
              </a:ext>
            </a:extLst>
          </p:cNvPr>
          <p:cNvGraphicFramePr/>
          <p:nvPr>
            <p:extLst>
              <p:ext uri="{D42A27DB-BD31-4B8C-83A1-F6EECF244321}">
                <p14:modId xmlns:p14="http://schemas.microsoft.com/office/powerpoint/2010/main" val="2672217543"/>
              </p:ext>
            </p:extLst>
          </p:nvPr>
        </p:nvGraphicFramePr>
        <p:xfrm>
          <a:off x="1081740" y="928688"/>
          <a:ext cx="10124141" cy="54914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35863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44BCE70-E76C-4F45-BE59-D6DB713B6B5D}"/>
              </a:ext>
            </a:extLst>
          </p:cNvPr>
          <p:cNvCxnSpPr>
            <a:cxnSpLocks/>
          </p:cNvCxnSpPr>
          <p:nvPr/>
        </p:nvCxnSpPr>
        <p:spPr>
          <a:xfrm>
            <a:off x="1272218" y="2170789"/>
            <a:ext cx="2968366" cy="0"/>
          </a:xfrm>
          <a:prstGeom prst="line">
            <a:avLst/>
          </a:prstGeom>
          <a:ln w="25400">
            <a:tailEnd type="triangle" w="lg" len="lg"/>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838ABD24-77B9-5343-97EB-DFB85FFAD92C}"/>
              </a:ext>
            </a:extLst>
          </p:cNvPr>
          <p:cNvGrpSpPr/>
          <p:nvPr/>
        </p:nvGrpSpPr>
        <p:grpSpPr>
          <a:xfrm>
            <a:off x="1683957" y="3893847"/>
            <a:ext cx="2143407" cy="2759260"/>
            <a:chOff x="709722" y="3770938"/>
            <a:chExt cx="2143407" cy="2759260"/>
          </a:xfrm>
        </p:grpSpPr>
        <mc:AlternateContent xmlns:mc="http://schemas.openxmlformats.org/markup-compatibility/2006">
          <mc:Choice xmlns:a14="http://schemas.microsoft.com/office/drawing/2010/main" Requires="a14">
            <p:sp>
              <p:nvSpPr>
                <p:cNvPr id="33" name="Rectangle 32">
                  <a:extLst>
                    <a:ext uri="{FF2B5EF4-FFF2-40B4-BE49-F238E27FC236}">
                      <a16:creationId xmlns:a16="http://schemas.microsoft.com/office/drawing/2014/main" id="{DD6083C9-9098-9F4F-B1E1-6DE55C316632}"/>
                    </a:ext>
                  </a:extLst>
                </p:cNvPr>
                <p:cNvSpPr/>
                <p:nvPr/>
              </p:nvSpPr>
              <p:spPr>
                <a:xfrm>
                  <a:off x="709722" y="3770938"/>
                  <a:ext cx="2143407" cy="6802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sSub>
                              <m:sSubPr>
                                <m:ctrlPr>
                                  <a:rPr lang="en-US" i="1" smtClean="0">
                                    <a:solidFill>
                                      <a:srgbClr val="002060"/>
                                    </a:solidFill>
                                    <a:latin typeface="Cambria Math" panose="02040503050406030204" pitchFamily="18" charset="0"/>
                                    <a:ea typeface="Cambria Math" panose="02040503050406030204" pitchFamily="18" charset="0"/>
                                  </a:rPr>
                                </m:ctrlPr>
                              </m:sSubPr>
                              <m:e>
                                <m:r>
                                  <a:rPr lang="en-US" b="0" i="1" smtClean="0">
                                    <a:solidFill>
                                      <a:srgbClr val="002060"/>
                                    </a:solidFill>
                                    <a:latin typeface="Cambria Math" panose="02040503050406030204" pitchFamily="18" charset="0"/>
                                    <a:ea typeface="Cambria Math" panose="02040503050406030204" pitchFamily="18" charset="0"/>
                                  </a:rPr>
                                  <m:t>𝐵</m:t>
                                </m:r>
                              </m:e>
                              <m:sub>
                                <m:r>
                                  <a:rPr lang="en-US" b="0" i="1" smtClean="0">
                                    <a:solidFill>
                                      <a:srgbClr val="002060"/>
                                    </a:solidFill>
                                    <a:latin typeface="Cambria Math" panose="02040503050406030204" pitchFamily="18" charset="0"/>
                                    <a:ea typeface="Cambria Math" panose="02040503050406030204" pitchFamily="18" charset="0"/>
                                  </a:rPr>
                                  <m:t>00</m:t>
                                </m:r>
                              </m:sub>
                            </m:sSub>
                          </m:e>
                        </m:d>
                        <m:r>
                          <a:rPr lang="en-US" b="0" i="1" smtClean="0">
                            <a:solidFill>
                              <a:srgbClr val="002060"/>
                            </a:solidFill>
                            <a:latin typeface="Cambria Math" panose="02040503050406030204" pitchFamily="18" charset="0"/>
                            <a:ea typeface="Cambria Math" panose="02040503050406030204" pitchFamily="18" charset="0"/>
                          </a:rPr>
                          <m:t>=</m:t>
                        </m:r>
                        <m:f>
                          <m:fPr>
                            <m:ctrlPr>
                              <a:rPr lang="en-US"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r>
                                  <a:rPr lang="en-US" b="0" i="1" smtClean="0">
                                    <a:solidFill>
                                      <a:srgbClr val="002060"/>
                                    </a:solidFill>
                                    <a:latin typeface="Cambria Math" panose="02040503050406030204" pitchFamily="18" charset="0"/>
                                    <a:ea typeface="Cambria Math" panose="02040503050406030204" pitchFamily="18" charset="0"/>
                                  </a:rPr>
                                  <m:t>0</m:t>
                                </m:r>
                              </m:e>
                            </m:d>
                            <m:r>
                              <a:rPr lang="en-US"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i="1">
                                    <a:solidFill>
                                      <a:srgbClr val="002060"/>
                                    </a:solidFill>
                                    <a:latin typeface="Cambria Math" panose="02040503050406030204" pitchFamily="18" charset="0"/>
                                    <a:ea typeface="Cambria Math" panose="02040503050406030204" pitchFamily="18" charset="0"/>
                                  </a:rPr>
                                </m:ctrlPr>
                              </m:radPr>
                              <m:deg/>
                              <m:e>
                                <m:r>
                                  <a:rPr lang="en-US" i="1">
                                    <a:solidFill>
                                      <a:srgbClr val="002060"/>
                                    </a:solidFill>
                                    <a:latin typeface="Cambria Math" panose="02040503050406030204" pitchFamily="18" charset="0"/>
                                    <a:ea typeface="Cambria Math" panose="02040503050406030204" pitchFamily="18" charset="0"/>
                                  </a:rPr>
                                  <m:t>2</m:t>
                                </m:r>
                              </m:e>
                            </m:rad>
                          </m:den>
                        </m:f>
                      </m:oMath>
                    </m:oMathPara>
                  </a14:m>
                  <a:endParaRPr lang="en-US" dirty="0"/>
                </a:p>
              </p:txBody>
            </p:sp>
          </mc:Choice>
          <mc:Fallback>
            <p:sp>
              <p:nvSpPr>
                <p:cNvPr id="33" name="Rectangle 32">
                  <a:extLst>
                    <a:ext uri="{FF2B5EF4-FFF2-40B4-BE49-F238E27FC236}">
                      <a16:creationId xmlns:a16="http://schemas.microsoft.com/office/drawing/2014/main" id="{DD6083C9-9098-9F4F-B1E1-6DE55C316632}"/>
                    </a:ext>
                  </a:extLst>
                </p:cNvPr>
                <p:cNvSpPr>
                  <a:spLocks noRot="1" noChangeAspect="1" noMove="1" noResize="1" noEditPoints="1" noAdjustHandles="1" noChangeArrowheads="1" noChangeShapeType="1" noTextEdit="1"/>
                </p:cNvSpPr>
                <p:nvPr/>
              </p:nvSpPr>
              <p:spPr>
                <a:xfrm>
                  <a:off x="709722" y="3770938"/>
                  <a:ext cx="2143407" cy="680251"/>
                </a:xfrm>
                <a:prstGeom prst="rect">
                  <a:avLst/>
                </a:prstGeom>
                <a:blipFill>
                  <a:blip r:embed="rId3"/>
                  <a:stretch>
                    <a:fillRect t="-62963" r="-9467" b="-703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Rectangle 34">
                  <a:extLst>
                    <a:ext uri="{FF2B5EF4-FFF2-40B4-BE49-F238E27FC236}">
                      <a16:creationId xmlns:a16="http://schemas.microsoft.com/office/drawing/2014/main" id="{C31CD91B-4D38-6141-A1E3-5E2E9925C938}"/>
                    </a:ext>
                  </a:extLst>
                </p:cNvPr>
                <p:cNvSpPr/>
                <p:nvPr/>
              </p:nvSpPr>
              <p:spPr>
                <a:xfrm>
                  <a:off x="709722" y="4463941"/>
                  <a:ext cx="2143407" cy="6802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𝐵</m:t>
                                </m:r>
                              </m:e>
                              <m:sub>
                                <m:r>
                                  <a:rPr lang="sr-Latn-RS" b="0" i="1" smtClean="0">
                                    <a:solidFill>
                                      <a:srgbClr val="002060"/>
                                    </a:solidFill>
                                    <a:latin typeface="Cambria Math" panose="02040503050406030204" pitchFamily="18" charset="0"/>
                                    <a:ea typeface="Cambria Math" panose="02040503050406030204" pitchFamily="18" charset="0"/>
                                  </a:rPr>
                                  <m:t>0</m:t>
                                </m:r>
                                <m:r>
                                  <a:rPr lang="en-US" b="0" i="1" smtClean="0">
                                    <a:solidFill>
                                      <a:srgbClr val="002060"/>
                                    </a:solidFill>
                                    <a:latin typeface="Cambria Math" panose="02040503050406030204" pitchFamily="18" charset="0"/>
                                    <a:ea typeface="Cambria Math" panose="02040503050406030204" pitchFamily="18" charset="0"/>
                                  </a:rPr>
                                  <m:t>1</m:t>
                                </m:r>
                              </m:sub>
                            </m:sSub>
                          </m:e>
                        </m:d>
                        <m:r>
                          <a:rPr lang="en-US" b="0" i="1" smtClean="0">
                            <a:solidFill>
                              <a:srgbClr val="002060"/>
                            </a:solidFill>
                            <a:latin typeface="Cambria Math" panose="02040503050406030204" pitchFamily="18" charset="0"/>
                            <a:ea typeface="Cambria Math" panose="02040503050406030204" pitchFamily="18" charset="0"/>
                          </a:rPr>
                          <m:t>=</m:t>
                        </m:r>
                        <m:f>
                          <m:fPr>
                            <m:ctrlPr>
                              <a:rPr lang="en-US"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r>
                                  <a:rPr lang="en-US" b="0" i="1" smtClean="0">
                                    <a:solidFill>
                                      <a:srgbClr val="002060"/>
                                    </a:solidFill>
                                    <a:latin typeface="Cambria Math" panose="02040503050406030204" pitchFamily="18" charset="0"/>
                                    <a:ea typeface="Cambria Math" panose="02040503050406030204" pitchFamily="18" charset="0"/>
                                  </a:rPr>
                                  <m:t>1</m:t>
                                </m:r>
                              </m:e>
                            </m:d>
                            <m:r>
                              <a:rPr lang="en-US"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1</m:t>
                                </m:r>
                                <m:r>
                                  <a:rPr lang="en-US" b="0" i="1" smtClean="0">
                                    <a:solidFill>
                                      <a:srgbClr val="002060"/>
                                    </a:solidFill>
                                    <a:latin typeface="Cambria Math" panose="02040503050406030204" pitchFamily="18" charset="0"/>
                                    <a:ea typeface="Cambria Math" panose="02040503050406030204" pitchFamily="18" charset="0"/>
                                  </a:rPr>
                                  <m:t>0</m:t>
                                </m:r>
                              </m:e>
                            </m:d>
                          </m:num>
                          <m:den>
                            <m:rad>
                              <m:radPr>
                                <m:degHide m:val="on"/>
                                <m:ctrlPr>
                                  <a:rPr lang="en-US" i="1">
                                    <a:solidFill>
                                      <a:srgbClr val="002060"/>
                                    </a:solidFill>
                                    <a:latin typeface="Cambria Math" panose="02040503050406030204" pitchFamily="18" charset="0"/>
                                    <a:ea typeface="Cambria Math" panose="02040503050406030204" pitchFamily="18" charset="0"/>
                                  </a:rPr>
                                </m:ctrlPr>
                              </m:radPr>
                              <m:deg/>
                              <m:e>
                                <m:r>
                                  <a:rPr lang="en-US" i="1">
                                    <a:solidFill>
                                      <a:srgbClr val="002060"/>
                                    </a:solidFill>
                                    <a:latin typeface="Cambria Math" panose="02040503050406030204" pitchFamily="18" charset="0"/>
                                    <a:ea typeface="Cambria Math" panose="02040503050406030204" pitchFamily="18" charset="0"/>
                                  </a:rPr>
                                  <m:t>2</m:t>
                                </m:r>
                              </m:e>
                            </m:rad>
                          </m:den>
                        </m:f>
                      </m:oMath>
                    </m:oMathPara>
                  </a14:m>
                  <a:endParaRPr lang="en-US" dirty="0"/>
                </a:p>
              </p:txBody>
            </p:sp>
          </mc:Choice>
          <mc:Fallback>
            <p:sp>
              <p:nvSpPr>
                <p:cNvPr id="35" name="Rectangle 34">
                  <a:extLst>
                    <a:ext uri="{FF2B5EF4-FFF2-40B4-BE49-F238E27FC236}">
                      <a16:creationId xmlns:a16="http://schemas.microsoft.com/office/drawing/2014/main" id="{C31CD91B-4D38-6141-A1E3-5E2E9925C938}"/>
                    </a:ext>
                  </a:extLst>
                </p:cNvPr>
                <p:cNvSpPr>
                  <a:spLocks noRot="1" noChangeAspect="1" noMove="1" noResize="1" noEditPoints="1" noAdjustHandles="1" noChangeArrowheads="1" noChangeShapeType="1" noTextEdit="1"/>
                </p:cNvSpPr>
                <p:nvPr/>
              </p:nvSpPr>
              <p:spPr>
                <a:xfrm>
                  <a:off x="709722" y="4463941"/>
                  <a:ext cx="2143407" cy="680251"/>
                </a:xfrm>
                <a:prstGeom prst="rect">
                  <a:avLst/>
                </a:prstGeom>
                <a:blipFill>
                  <a:blip r:embed="rId4"/>
                  <a:stretch>
                    <a:fillRect t="-60000" r="-9467" b="-6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Rectangle 42">
                  <a:extLst>
                    <a:ext uri="{FF2B5EF4-FFF2-40B4-BE49-F238E27FC236}">
                      <a16:creationId xmlns:a16="http://schemas.microsoft.com/office/drawing/2014/main" id="{41E472C4-1767-2941-B2FB-A9E312672176}"/>
                    </a:ext>
                  </a:extLst>
                </p:cNvPr>
                <p:cNvSpPr/>
                <p:nvPr/>
              </p:nvSpPr>
              <p:spPr>
                <a:xfrm>
                  <a:off x="709722" y="5156944"/>
                  <a:ext cx="2138086" cy="6802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𝐵</m:t>
                                </m:r>
                              </m:e>
                              <m:sub>
                                <m:r>
                                  <a:rPr lang="en-US" b="0" i="1" smtClean="0">
                                    <a:solidFill>
                                      <a:srgbClr val="002060"/>
                                    </a:solidFill>
                                    <a:latin typeface="Cambria Math" panose="02040503050406030204" pitchFamily="18" charset="0"/>
                                    <a:ea typeface="Cambria Math" panose="02040503050406030204" pitchFamily="18" charset="0"/>
                                  </a:rPr>
                                  <m:t>1</m:t>
                                </m:r>
                                <m:r>
                                  <a:rPr lang="en-US" b="0" i="1" smtClean="0">
                                    <a:solidFill>
                                      <a:srgbClr val="002060"/>
                                    </a:solidFill>
                                    <a:latin typeface="Cambria Math" panose="02040503050406030204" pitchFamily="18" charset="0"/>
                                    <a:ea typeface="Cambria Math" panose="02040503050406030204" pitchFamily="18" charset="0"/>
                                  </a:rPr>
                                  <m:t>0</m:t>
                                </m:r>
                              </m:sub>
                            </m:sSub>
                          </m:e>
                        </m:d>
                        <m:r>
                          <a:rPr lang="en-US" b="0" i="1" smtClean="0">
                            <a:solidFill>
                              <a:srgbClr val="002060"/>
                            </a:solidFill>
                            <a:latin typeface="Cambria Math" panose="02040503050406030204" pitchFamily="18" charset="0"/>
                            <a:ea typeface="Cambria Math" panose="02040503050406030204" pitchFamily="18" charset="0"/>
                          </a:rPr>
                          <m:t>=</m:t>
                        </m:r>
                        <m:f>
                          <m:fPr>
                            <m:ctrlPr>
                              <a:rPr lang="en-US"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r>
                                  <a:rPr lang="en-US" b="0" i="1" smtClean="0">
                                    <a:solidFill>
                                      <a:srgbClr val="002060"/>
                                    </a:solidFill>
                                    <a:latin typeface="Cambria Math" panose="02040503050406030204" pitchFamily="18" charset="0"/>
                                    <a:ea typeface="Cambria Math" panose="02040503050406030204" pitchFamily="18" charset="0"/>
                                  </a:rPr>
                                  <m:t>0</m:t>
                                </m:r>
                              </m:e>
                            </m:d>
                            <m:r>
                              <a:rPr lang="en-US"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1</m:t>
                                </m:r>
                                <m:r>
                                  <a:rPr lang="en-US"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i="1">
                                    <a:solidFill>
                                      <a:srgbClr val="002060"/>
                                    </a:solidFill>
                                    <a:latin typeface="Cambria Math" panose="02040503050406030204" pitchFamily="18" charset="0"/>
                                    <a:ea typeface="Cambria Math" panose="02040503050406030204" pitchFamily="18" charset="0"/>
                                  </a:rPr>
                                </m:ctrlPr>
                              </m:radPr>
                              <m:deg/>
                              <m:e>
                                <m:r>
                                  <a:rPr lang="en-US" i="1">
                                    <a:solidFill>
                                      <a:srgbClr val="002060"/>
                                    </a:solidFill>
                                    <a:latin typeface="Cambria Math" panose="02040503050406030204" pitchFamily="18" charset="0"/>
                                    <a:ea typeface="Cambria Math" panose="02040503050406030204" pitchFamily="18" charset="0"/>
                                  </a:rPr>
                                  <m:t>2</m:t>
                                </m:r>
                              </m:e>
                            </m:rad>
                          </m:den>
                        </m:f>
                      </m:oMath>
                    </m:oMathPara>
                  </a14:m>
                  <a:endParaRPr lang="en-US" dirty="0"/>
                </a:p>
              </p:txBody>
            </p:sp>
          </mc:Choice>
          <mc:Fallback>
            <p:sp>
              <p:nvSpPr>
                <p:cNvPr id="43" name="Rectangle 42">
                  <a:extLst>
                    <a:ext uri="{FF2B5EF4-FFF2-40B4-BE49-F238E27FC236}">
                      <a16:creationId xmlns:a16="http://schemas.microsoft.com/office/drawing/2014/main" id="{41E472C4-1767-2941-B2FB-A9E312672176}"/>
                    </a:ext>
                  </a:extLst>
                </p:cNvPr>
                <p:cNvSpPr>
                  <a:spLocks noRot="1" noChangeAspect="1" noMove="1" noResize="1" noEditPoints="1" noAdjustHandles="1" noChangeArrowheads="1" noChangeShapeType="1" noTextEdit="1"/>
                </p:cNvSpPr>
                <p:nvPr/>
              </p:nvSpPr>
              <p:spPr>
                <a:xfrm>
                  <a:off x="709722" y="5156944"/>
                  <a:ext cx="2138086" cy="680251"/>
                </a:xfrm>
                <a:prstGeom prst="rect">
                  <a:avLst/>
                </a:prstGeom>
                <a:blipFill>
                  <a:blip r:embed="rId5"/>
                  <a:stretch>
                    <a:fillRect t="-62963" r="-8876" b="-703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Rectangle 50">
                  <a:extLst>
                    <a:ext uri="{FF2B5EF4-FFF2-40B4-BE49-F238E27FC236}">
                      <a16:creationId xmlns:a16="http://schemas.microsoft.com/office/drawing/2014/main" id="{4A21F023-DBEE-524D-8DAD-88675F4A2071}"/>
                    </a:ext>
                  </a:extLst>
                </p:cNvPr>
                <p:cNvSpPr/>
                <p:nvPr/>
              </p:nvSpPr>
              <p:spPr>
                <a:xfrm>
                  <a:off x="709722" y="5849947"/>
                  <a:ext cx="2138086" cy="6802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sSub>
                              <m:sSubPr>
                                <m:ctrlPr>
                                  <a:rPr lang="en-US" i="1">
                                    <a:solidFill>
                                      <a:srgbClr val="002060"/>
                                    </a:solidFill>
                                    <a:latin typeface="Cambria Math" panose="02040503050406030204" pitchFamily="18" charset="0"/>
                                    <a:ea typeface="Cambria Math" panose="02040503050406030204" pitchFamily="18" charset="0"/>
                                  </a:rPr>
                                </m:ctrlPr>
                              </m:sSubPr>
                              <m:e>
                                <m:r>
                                  <a:rPr lang="en-US" i="1">
                                    <a:solidFill>
                                      <a:srgbClr val="002060"/>
                                    </a:solidFill>
                                    <a:latin typeface="Cambria Math" panose="02040503050406030204" pitchFamily="18" charset="0"/>
                                    <a:ea typeface="Cambria Math" panose="02040503050406030204" pitchFamily="18" charset="0"/>
                                  </a:rPr>
                                  <m:t>𝐵</m:t>
                                </m:r>
                              </m:e>
                              <m:sub>
                                <m:r>
                                  <a:rPr lang="en-US" b="0" i="1" smtClean="0">
                                    <a:solidFill>
                                      <a:srgbClr val="002060"/>
                                    </a:solidFill>
                                    <a:latin typeface="Cambria Math" panose="02040503050406030204" pitchFamily="18" charset="0"/>
                                    <a:ea typeface="Cambria Math" panose="02040503050406030204" pitchFamily="18" charset="0"/>
                                  </a:rPr>
                                  <m:t>11</m:t>
                                </m:r>
                              </m:sub>
                            </m:sSub>
                          </m:e>
                        </m:d>
                        <m:r>
                          <a:rPr lang="en-US" b="0" i="1" smtClean="0">
                            <a:solidFill>
                              <a:srgbClr val="002060"/>
                            </a:solidFill>
                            <a:latin typeface="Cambria Math" panose="02040503050406030204" pitchFamily="18" charset="0"/>
                            <a:ea typeface="Cambria Math" panose="02040503050406030204" pitchFamily="18" charset="0"/>
                          </a:rPr>
                          <m:t>=</m:t>
                        </m:r>
                        <m:f>
                          <m:fPr>
                            <m:ctrlPr>
                              <a:rPr lang="en-US"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r>
                                  <a:rPr lang="en-US" b="0" i="1" smtClean="0">
                                    <a:solidFill>
                                      <a:srgbClr val="002060"/>
                                    </a:solidFill>
                                    <a:latin typeface="Cambria Math" panose="02040503050406030204" pitchFamily="18" charset="0"/>
                                    <a:ea typeface="Cambria Math" panose="02040503050406030204" pitchFamily="18" charset="0"/>
                                  </a:rPr>
                                  <m:t>1</m:t>
                                </m:r>
                              </m:e>
                            </m:d>
                            <m:r>
                              <a:rPr lang="en-US"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i="1">
                                    <a:solidFill>
                                      <a:srgbClr val="002060"/>
                                    </a:solidFill>
                                    <a:latin typeface="Cambria Math" panose="02040503050406030204" pitchFamily="18" charset="0"/>
                                    <a:ea typeface="Cambria Math" panose="02040503050406030204" pitchFamily="18" charset="0"/>
                                  </a:rPr>
                                </m:ctrlPr>
                              </m:radPr>
                              <m:deg/>
                              <m:e>
                                <m:r>
                                  <a:rPr lang="en-US" i="1">
                                    <a:solidFill>
                                      <a:srgbClr val="002060"/>
                                    </a:solidFill>
                                    <a:latin typeface="Cambria Math" panose="02040503050406030204" pitchFamily="18" charset="0"/>
                                    <a:ea typeface="Cambria Math" panose="02040503050406030204" pitchFamily="18" charset="0"/>
                                  </a:rPr>
                                  <m:t>2</m:t>
                                </m:r>
                              </m:e>
                            </m:rad>
                          </m:den>
                        </m:f>
                      </m:oMath>
                    </m:oMathPara>
                  </a14:m>
                  <a:endParaRPr lang="en-US" dirty="0"/>
                </a:p>
              </p:txBody>
            </p:sp>
          </mc:Choice>
          <mc:Fallback>
            <p:sp>
              <p:nvSpPr>
                <p:cNvPr id="51" name="Rectangle 50">
                  <a:extLst>
                    <a:ext uri="{FF2B5EF4-FFF2-40B4-BE49-F238E27FC236}">
                      <a16:creationId xmlns:a16="http://schemas.microsoft.com/office/drawing/2014/main" id="{4A21F023-DBEE-524D-8DAD-88675F4A2071}"/>
                    </a:ext>
                  </a:extLst>
                </p:cNvPr>
                <p:cNvSpPr>
                  <a:spLocks noRot="1" noChangeAspect="1" noMove="1" noResize="1" noEditPoints="1" noAdjustHandles="1" noChangeArrowheads="1" noChangeShapeType="1" noTextEdit="1"/>
                </p:cNvSpPr>
                <p:nvPr/>
              </p:nvSpPr>
              <p:spPr>
                <a:xfrm>
                  <a:off x="709722" y="5849947"/>
                  <a:ext cx="2138086" cy="680251"/>
                </a:xfrm>
                <a:prstGeom prst="rect">
                  <a:avLst/>
                </a:prstGeom>
                <a:blipFill>
                  <a:blip r:embed="rId6"/>
                  <a:stretch>
                    <a:fillRect t="-60000" r="-8876" b="-69091"/>
                  </a:stretch>
                </a:blipFill>
              </p:spPr>
              <p:txBody>
                <a:bodyPr/>
                <a:lstStyle/>
                <a:p>
                  <a:r>
                    <a:rPr lang="en-US">
                      <a:noFill/>
                    </a:rPr>
                    <a:t> </a:t>
                  </a:r>
                </a:p>
              </p:txBody>
            </p:sp>
          </mc:Fallback>
        </mc:AlternateContent>
      </p:grpSp>
      <p:sp>
        <p:nvSpPr>
          <p:cNvPr id="4" name="Title 3">
            <a:extLst>
              <a:ext uri="{FF2B5EF4-FFF2-40B4-BE49-F238E27FC236}">
                <a16:creationId xmlns:a16="http://schemas.microsoft.com/office/drawing/2014/main" id="{C4E57C2E-859A-1E43-8EA5-A4D112639C23}"/>
              </a:ext>
            </a:extLst>
          </p:cNvPr>
          <p:cNvSpPr>
            <a:spLocks noGrp="1"/>
          </p:cNvSpPr>
          <p:nvPr>
            <p:ph type="title"/>
          </p:nvPr>
        </p:nvSpPr>
        <p:spPr/>
        <p:txBody>
          <a:bodyPr/>
          <a:lstStyle/>
          <a:p>
            <a:r>
              <a:rPr lang="en-ZA" b="1" dirty="0"/>
              <a:t>Quantum Communication Approaches</a:t>
            </a:r>
            <a:r>
              <a:rPr lang="en-ZA" dirty="0"/>
              <a:t> </a:t>
            </a:r>
            <a:endParaRPr lang="en-US" dirty="0"/>
          </a:p>
        </p:txBody>
      </p:sp>
      <p:sp>
        <p:nvSpPr>
          <p:cNvPr id="7" name="Rounded Rectangle 6">
            <a:extLst>
              <a:ext uri="{FF2B5EF4-FFF2-40B4-BE49-F238E27FC236}">
                <a16:creationId xmlns:a16="http://schemas.microsoft.com/office/drawing/2014/main" id="{582028BE-D4AA-9F4D-B808-7BA782D44671}"/>
              </a:ext>
            </a:extLst>
          </p:cNvPr>
          <p:cNvSpPr/>
          <p:nvPr/>
        </p:nvSpPr>
        <p:spPr>
          <a:xfrm>
            <a:off x="383216" y="1810789"/>
            <a:ext cx="720000" cy="7200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A</a:t>
            </a:r>
          </a:p>
        </p:txBody>
      </p:sp>
      <p:sp>
        <p:nvSpPr>
          <p:cNvPr id="8" name="Rounded Rectangle 7">
            <a:extLst>
              <a:ext uri="{FF2B5EF4-FFF2-40B4-BE49-F238E27FC236}">
                <a16:creationId xmlns:a16="http://schemas.microsoft.com/office/drawing/2014/main" id="{BC5B32C4-7C8C-C24B-89D6-2BFEF351B528}"/>
              </a:ext>
            </a:extLst>
          </p:cNvPr>
          <p:cNvSpPr/>
          <p:nvPr/>
        </p:nvSpPr>
        <p:spPr>
          <a:xfrm>
            <a:off x="4409585" y="1810789"/>
            <a:ext cx="720000" cy="7200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B</a:t>
            </a:r>
          </a:p>
        </p:txBody>
      </p:sp>
      <p:sp>
        <p:nvSpPr>
          <p:cNvPr id="9" name="Oval 8">
            <a:extLst>
              <a:ext uri="{FF2B5EF4-FFF2-40B4-BE49-F238E27FC236}">
                <a16:creationId xmlns:a16="http://schemas.microsoft.com/office/drawing/2014/main" id="{7C8B8229-7B1E-0447-964D-17F48FCC5430}"/>
              </a:ext>
            </a:extLst>
          </p:cNvPr>
          <p:cNvSpPr/>
          <p:nvPr/>
        </p:nvSpPr>
        <p:spPr>
          <a:xfrm>
            <a:off x="2754756" y="1890034"/>
            <a:ext cx="540000" cy="540000"/>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255D155-F22F-C046-8C9E-F62E871FA78C}"/>
              </a:ext>
            </a:extLst>
          </p:cNvPr>
          <p:cNvSpPr txBox="1"/>
          <p:nvPr/>
        </p:nvSpPr>
        <p:spPr>
          <a:xfrm>
            <a:off x="6386881" y="1505454"/>
            <a:ext cx="5316455" cy="646331"/>
          </a:xfrm>
          <a:prstGeom prst="rect">
            <a:avLst/>
          </a:prstGeom>
          <a:solidFill>
            <a:schemeClr val="accent6">
              <a:lumMod val="20000"/>
              <a:lumOff val="80000"/>
            </a:schemeClr>
          </a:solidFill>
        </p:spPr>
        <p:txBody>
          <a:bodyPr wrap="none" rtlCol="0">
            <a:spAutoFit/>
          </a:bodyPr>
          <a:lstStyle/>
          <a:p>
            <a:pPr algn="ctr"/>
            <a:r>
              <a:rPr lang="en-ZA" b="1" dirty="0"/>
              <a:t>Single-qubit communication</a:t>
            </a:r>
          </a:p>
          <a:p>
            <a:pPr algn="ctr"/>
            <a:r>
              <a:rPr lang="en-ZA" dirty="0"/>
              <a:t>Information is encoded in the state of individual qubits</a:t>
            </a:r>
            <a:endParaRPr lang="en-US" dirty="0"/>
          </a:p>
        </p:txBody>
      </p:sp>
      <p:sp>
        <p:nvSpPr>
          <p:cNvPr id="17" name="TextBox 16">
            <a:extLst>
              <a:ext uri="{FF2B5EF4-FFF2-40B4-BE49-F238E27FC236}">
                <a16:creationId xmlns:a16="http://schemas.microsoft.com/office/drawing/2014/main" id="{7CE2E375-7318-AA49-9C51-30492CB5FA1B}"/>
              </a:ext>
            </a:extLst>
          </p:cNvPr>
          <p:cNvSpPr txBox="1"/>
          <p:nvPr/>
        </p:nvSpPr>
        <p:spPr>
          <a:xfrm>
            <a:off x="2684759" y="2554866"/>
            <a:ext cx="679994" cy="369332"/>
          </a:xfrm>
          <a:prstGeom prst="rect">
            <a:avLst/>
          </a:prstGeom>
          <a:noFill/>
        </p:spPr>
        <p:txBody>
          <a:bodyPr wrap="square" rtlCol="0">
            <a:spAutoFit/>
          </a:bodyPr>
          <a:lstStyle/>
          <a:p>
            <a:r>
              <a:rPr lang="en-US" dirty="0"/>
              <a:t>qubit</a:t>
            </a:r>
          </a:p>
        </p:txBody>
      </p:sp>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6076B14E-1642-B845-A997-34CE753D7CB1}"/>
                  </a:ext>
                </a:extLst>
              </p:cNvPr>
              <p:cNvSpPr/>
              <p:nvPr/>
            </p:nvSpPr>
            <p:spPr>
              <a:xfrm>
                <a:off x="1142027" y="1709124"/>
                <a:ext cx="1117998" cy="92333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e>
                      </m:d>
                      <m:r>
                        <a:rPr lang="en-US"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1</m:t>
                          </m:r>
                        </m:e>
                      </m:d>
                    </m:oMath>
                  </m:oMathPara>
                </a14:m>
                <a:endParaRPr lang="en-US" dirty="0">
                  <a:solidFill>
                    <a:srgbClr val="002060"/>
                  </a:solidFill>
                  <a:ea typeface="Cambria Math" panose="02040503050406030204" pitchFamily="18" charset="0"/>
                </a:endParaRPr>
              </a:p>
              <a:p>
                <a:pPr algn="ctr"/>
                <a:endParaRPr lang="en-US" dirty="0"/>
              </a:p>
              <a:p>
                <a:pPr algn="ctr"/>
                <a14:m>
                  <m:oMathPara xmlns:m="http://schemas.openxmlformats.org/officeDocument/2006/math">
                    <m:oMathParaPr>
                      <m:jc m:val="centerGroup"/>
                    </m:oMathParaPr>
                    <m:oMath xmlns:m="http://schemas.openxmlformats.org/officeDocument/2006/math">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m:t>
                          </m:r>
                        </m:e>
                      </m:d>
                      <m:r>
                        <a:rPr lang="en-US" i="1">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m:t>
                          </m:r>
                        </m:e>
                      </m:d>
                    </m:oMath>
                  </m:oMathPara>
                </a14:m>
                <a:endParaRPr lang="en-US" dirty="0">
                  <a:solidFill>
                    <a:srgbClr val="002060"/>
                  </a:solidFill>
                  <a:ea typeface="Cambria Math" panose="02040503050406030204" pitchFamily="18" charset="0"/>
                </a:endParaRPr>
              </a:p>
            </p:txBody>
          </p:sp>
        </mc:Choice>
        <mc:Fallback>
          <p:sp>
            <p:nvSpPr>
              <p:cNvPr id="18" name="Rectangle 17">
                <a:extLst>
                  <a:ext uri="{FF2B5EF4-FFF2-40B4-BE49-F238E27FC236}">
                    <a16:creationId xmlns:a16="http://schemas.microsoft.com/office/drawing/2014/main" id="{6076B14E-1642-B845-A997-34CE753D7CB1}"/>
                  </a:ext>
                </a:extLst>
              </p:cNvPr>
              <p:cNvSpPr>
                <a:spLocks noRot="1" noChangeAspect="1" noMove="1" noResize="1" noEditPoints="1" noAdjustHandles="1" noChangeArrowheads="1" noChangeShapeType="1" noTextEdit="1"/>
              </p:cNvSpPr>
              <p:nvPr/>
            </p:nvSpPr>
            <p:spPr>
              <a:xfrm>
                <a:off x="1142027" y="1709124"/>
                <a:ext cx="1117998" cy="923330"/>
              </a:xfrm>
              <a:prstGeom prst="rect">
                <a:avLst/>
              </a:prstGeom>
              <a:blipFill>
                <a:blip r:embed="rId7"/>
                <a:stretch>
                  <a:fillRect t="-45205" r="-14607" b="-67123"/>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7D23EAA-67CF-0944-B246-8F747219A5B1}"/>
              </a:ext>
            </a:extLst>
          </p:cNvPr>
          <p:cNvSpPr txBox="1"/>
          <p:nvPr/>
        </p:nvSpPr>
        <p:spPr>
          <a:xfrm>
            <a:off x="6060189" y="3692375"/>
            <a:ext cx="5969839" cy="646331"/>
          </a:xfrm>
          <a:prstGeom prst="rect">
            <a:avLst/>
          </a:prstGeom>
          <a:solidFill>
            <a:schemeClr val="accent4">
              <a:lumMod val="20000"/>
              <a:lumOff val="80000"/>
            </a:schemeClr>
          </a:solidFill>
        </p:spPr>
        <p:txBody>
          <a:bodyPr wrap="none" rtlCol="0">
            <a:spAutoFit/>
          </a:bodyPr>
          <a:lstStyle/>
          <a:p>
            <a:pPr algn="ctr"/>
            <a:r>
              <a:rPr lang="en-ZA" b="1" dirty="0"/>
              <a:t>Entanglement-based communication:</a:t>
            </a:r>
          </a:p>
          <a:p>
            <a:pPr algn="ctr"/>
            <a:r>
              <a:rPr lang="en-ZA" dirty="0"/>
              <a:t>Information is encoded in the joint states of entangled qubits.</a:t>
            </a:r>
          </a:p>
        </p:txBody>
      </p:sp>
      <p:sp>
        <p:nvSpPr>
          <p:cNvPr id="22" name="TextBox 21">
            <a:extLst>
              <a:ext uri="{FF2B5EF4-FFF2-40B4-BE49-F238E27FC236}">
                <a16:creationId xmlns:a16="http://schemas.microsoft.com/office/drawing/2014/main" id="{0F16B74F-8FAB-7243-87D0-98451146DD6B}"/>
              </a:ext>
            </a:extLst>
          </p:cNvPr>
          <p:cNvSpPr txBox="1"/>
          <p:nvPr/>
        </p:nvSpPr>
        <p:spPr>
          <a:xfrm>
            <a:off x="383216" y="2573335"/>
            <a:ext cx="636713" cy="369332"/>
          </a:xfrm>
          <a:prstGeom prst="rect">
            <a:avLst/>
          </a:prstGeom>
          <a:noFill/>
        </p:spPr>
        <p:txBody>
          <a:bodyPr wrap="square" rtlCol="0">
            <a:spAutoFit/>
          </a:bodyPr>
          <a:lstStyle/>
          <a:p>
            <a:r>
              <a:rPr lang="en-US" dirty="0"/>
              <a:t>Alice</a:t>
            </a:r>
          </a:p>
        </p:txBody>
      </p:sp>
      <p:sp>
        <p:nvSpPr>
          <p:cNvPr id="24" name="TextBox 23">
            <a:extLst>
              <a:ext uri="{FF2B5EF4-FFF2-40B4-BE49-F238E27FC236}">
                <a16:creationId xmlns:a16="http://schemas.microsoft.com/office/drawing/2014/main" id="{E1629CBA-BB19-1746-878A-033B9A2E3AC4}"/>
              </a:ext>
            </a:extLst>
          </p:cNvPr>
          <p:cNvSpPr txBox="1"/>
          <p:nvPr/>
        </p:nvSpPr>
        <p:spPr>
          <a:xfrm>
            <a:off x="4449458" y="2573335"/>
            <a:ext cx="553357" cy="369332"/>
          </a:xfrm>
          <a:prstGeom prst="rect">
            <a:avLst/>
          </a:prstGeom>
          <a:noFill/>
        </p:spPr>
        <p:txBody>
          <a:bodyPr wrap="square" rtlCol="0">
            <a:spAutoFit/>
          </a:bodyPr>
          <a:lstStyle/>
          <a:p>
            <a:r>
              <a:rPr lang="en-US" dirty="0"/>
              <a:t>Bob</a:t>
            </a:r>
          </a:p>
        </p:txBody>
      </p:sp>
      <p:sp>
        <p:nvSpPr>
          <p:cNvPr id="25" name="Rounded Rectangle 24">
            <a:extLst>
              <a:ext uri="{FF2B5EF4-FFF2-40B4-BE49-F238E27FC236}">
                <a16:creationId xmlns:a16="http://schemas.microsoft.com/office/drawing/2014/main" id="{EE4B3E8F-2F3E-FB46-964B-2714FFEB672C}"/>
              </a:ext>
            </a:extLst>
          </p:cNvPr>
          <p:cNvSpPr/>
          <p:nvPr/>
        </p:nvSpPr>
        <p:spPr>
          <a:xfrm>
            <a:off x="368997" y="4888637"/>
            <a:ext cx="720000" cy="7200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A</a:t>
            </a:r>
          </a:p>
        </p:txBody>
      </p:sp>
      <p:sp>
        <p:nvSpPr>
          <p:cNvPr id="26" name="Rounded Rectangle 25">
            <a:extLst>
              <a:ext uri="{FF2B5EF4-FFF2-40B4-BE49-F238E27FC236}">
                <a16:creationId xmlns:a16="http://schemas.microsoft.com/office/drawing/2014/main" id="{56E02C62-5C71-744B-8291-E3596974B5B0}"/>
              </a:ext>
            </a:extLst>
          </p:cNvPr>
          <p:cNvSpPr/>
          <p:nvPr/>
        </p:nvSpPr>
        <p:spPr>
          <a:xfrm>
            <a:off x="7060175" y="4885095"/>
            <a:ext cx="720000" cy="7200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B</a:t>
            </a:r>
          </a:p>
        </p:txBody>
      </p:sp>
      <p:sp>
        <p:nvSpPr>
          <p:cNvPr id="31" name="TextBox 30">
            <a:extLst>
              <a:ext uri="{FF2B5EF4-FFF2-40B4-BE49-F238E27FC236}">
                <a16:creationId xmlns:a16="http://schemas.microsoft.com/office/drawing/2014/main" id="{8F4E8EC0-91F0-AE4F-88ED-748C7230A907}"/>
              </a:ext>
            </a:extLst>
          </p:cNvPr>
          <p:cNvSpPr txBox="1"/>
          <p:nvPr/>
        </p:nvSpPr>
        <p:spPr>
          <a:xfrm>
            <a:off x="410640" y="5702507"/>
            <a:ext cx="636713" cy="369332"/>
          </a:xfrm>
          <a:prstGeom prst="rect">
            <a:avLst/>
          </a:prstGeom>
          <a:noFill/>
        </p:spPr>
        <p:txBody>
          <a:bodyPr wrap="none" rtlCol="0">
            <a:spAutoFit/>
          </a:bodyPr>
          <a:lstStyle/>
          <a:p>
            <a:r>
              <a:rPr lang="en-US" dirty="0"/>
              <a:t>Alice</a:t>
            </a:r>
          </a:p>
        </p:txBody>
      </p:sp>
      <p:sp>
        <p:nvSpPr>
          <p:cNvPr id="32" name="TextBox 31">
            <a:extLst>
              <a:ext uri="{FF2B5EF4-FFF2-40B4-BE49-F238E27FC236}">
                <a16:creationId xmlns:a16="http://schemas.microsoft.com/office/drawing/2014/main" id="{A7EEA497-9C2E-C74D-AD7F-B4FEBEC5C610}"/>
              </a:ext>
            </a:extLst>
          </p:cNvPr>
          <p:cNvSpPr txBox="1"/>
          <p:nvPr/>
        </p:nvSpPr>
        <p:spPr>
          <a:xfrm>
            <a:off x="7143496" y="5702507"/>
            <a:ext cx="553357" cy="369332"/>
          </a:xfrm>
          <a:prstGeom prst="rect">
            <a:avLst/>
          </a:prstGeom>
          <a:noFill/>
        </p:spPr>
        <p:txBody>
          <a:bodyPr wrap="none" rtlCol="0">
            <a:spAutoFit/>
          </a:bodyPr>
          <a:lstStyle/>
          <a:p>
            <a:r>
              <a:rPr lang="en-US" dirty="0"/>
              <a:t>Bob</a:t>
            </a:r>
          </a:p>
        </p:txBody>
      </p:sp>
      <p:sp>
        <p:nvSpPr>
          <p:cNvPr id="59" name="Left Brace 58">
            <a:extLst>
              <a:ext uri="{FF2B5EF4-FFF2-40B4-BE49-F238E27FC236}">
                <a16:creationId xmlns:a16="http://schemas.microsoft.com/office/drawing/2014/main" id="{149B794E-D175-EC43-ADA7-31BD7F7C9C27}"/>
              </a:ext>
            </a:extLst>
          </p:cNvPr>
          <p:cNvSpPr/>
          <p:nvPr/>
        </p:nvSpPr>
        <p:spPr>
          <a:xfrm>
            <a:off x="1265997" y="3912316"/>
            <a:ext cx="565183" cy="2759260"/>
          </a:xfrm>
          <a:prstGeom prst="leftBrace">
            <a:avLst>
              <a:gd name="adj1" fmla="val 3220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6" name="Group 75">
            <a:extLst>
              <a:ext uri="{FF2B5EF4-FFF2-40B4-BE49-F238E27FC236}">
                <a16:creationId xmlns:a16="http://schemas.microsoft.com/office/drawing/2014/main" id="{CEC16104-C9C2-BB45-9DDF-DD577B9E6ED4}"/>
              </a:ext>
            </a:extLst>
          </p:cNvPr>
          <p:cNvGrpSpPr/>
          <p:nvPr/>
        </p:nvGrpSpPr>
        <p:grpSpPr>
          <a:xfrm>
            <a:off x="4151574" y="5021946"/>
            <a:ext cx="2101303" cy="540000"/>
            <a:chOff x="4897157" y="5684243"/>
            <a:chExt cx="2101303" cy="540000"/>
          </a:xfrm>
        </p:grpSpPr>
        <p:grpSp>
          <p:nvGrpSpPr>
            <p:cNvPr id="75" name="Group 74">
              <a:extLst>
                <a:ext uri="{FF2B5EF4-FFF2-40B4-BE49-F238E27FC236}">
                  <a16:creationId xmlns:a16="http://schemas.microsoft.com/office/drawing/2014/main" id="{5BF587A4-A327-BB43-9852-45E38CE3B243}"/>
                </a:ext>
              </a:extLst>
            </p:cNvPr>
            <p:cNvGrpSpPr/>
            <p:nvPr/>
          </p:nvGrpSpPr>
          <p:grpSpPr>
            <a:xfrm>
              <a:off x="5103697" y="5772992"/>
              <a:ext cx="1783080" cy="362503"/>
              <a:chOff x="4211863" y="4586850"/>
              <a:chExt cx="1783080" cy="362503"/>
            </a:xfrm>
          </p:grpSpPr>
          <p:sp>
            <p:nvSpPr>
              <p:cNvPr id="73" name="Freeform 72">
                <a:extLst>
                  <a:ext uri="{FF2B5EF4-FFF2-40B4-BE49-F238E27FC236}">
                    <a16:creationId xmlns:a16="http://schemas.microsoft.com/office/drawing/2014/main" id="{15B97E8B-3984-6346-85AB-CF0532891C2F}"/>
                  </a:ext>
                </a:extLst>
              </p:cNvPr>
              <p:cNvSpPr/>
              <p:nvPr/>
            </p:nvSpPr>
            <p:spPr>
              <a:xfrm>
                <a:off x="4211863" y="4586850"/>
                <a:ext cx="1783080" cy="362503"/>
              </a:xfrm>
              <a:custGeom>
                <a:avLst/>
                <a:gdLst>
                  <a:gd name="connsiteX0" fmla="*/ 0 w 1783080"/>
                  <a:gd name="connsiteY0" fmla="*/ 355966 h 362503"/>
                  <a:gd name="connsiteX1" fmla="*/ 359228 w 1783080"/>
                  <a:gd name="connsiteY1" fmla="*/ 4 h 362503"/>
                  <a:gd name="connsiteX2" fmla="*/ 711925 w 1783080"/>
                  <a:gd name="connsiteY2" fmla="*/ 362498 h 362503"/>
                  <a:gd name="connsiteX3" fmla="*/ 1058091 w 1783080"/>
                  <a:gd name="connsiteY3" fmla="*/ 9801 h 362503"/>
                  <a:gd name="connsiteX4" fmla="*/ 1436914 w 1783080"/>
                  <a:gd name="connsiteY4" fmla="*/ 362498 h 362503"/>
                  <a:gd name="connsiteX5" fmla="*/ 1783080 w 1783080"/>
                  <a:gd name="connsiteY5" fmla="*/ 6535 h 362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3080" h="362503">
                    <a:moveTo>
                      <a:pt x="0" y="355966"/>
                    </a:moveTo>
                    <a:cubicBezTo>
                      <a:pt x="120287" y="177440"/>
                      <a:pt x="240574" y="-1085"/>
                      <a:pt x="359228" y="4"/>
                    </a:cubicBezTo>
                    <a:cubicBezTo>
                      <a:pt x="477882" y="1093"/>
                      <a:pt x="595448" y="360865"/>
                      <a:pt x="711925" y="362498"/>
                    </a:cubicBezTo>
                    <a:cubicBezTo>
                      <a:pt x="828402" y="364131"/>
                      <a:pt x="937260" y="9801"/>
                      <a:pt x="1058091" y="9801"/>
                    </a:cubicBezTo>
                    <a:cubicBezTo>
                      <a:pt x="1178922" y="9801"/>
                      <a:pt x="1316083" y="363042"/>
                      <a:pt x="1436914" y="362498"/>
                    </a:cubicBezTo>
                    <a:cubicBezTo>
                      <a:pt x="1557745" y="361954"/>
                      <a:pt x="1670412" y="184244"/>
                      <a:pt x="1783080" y="653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a:extLst>
                  <a:ext uri="{FF2B5EF4-FFF2-40B4-BE49-F238E27FC236}">
                    <a16:creationId xmlns:a16="http://schemas.microsoft.com/office/drawing/2014/main" id="{8724DCFA-6495-EE44-A023-5660BAC39591}"/>
                  </a:ext>
                </a:extLst>
              </p:cNvPr>
              <p:cNvSpPr/>
              <p:nvPr/>
            </p:nvSpPr>
            <p:spPr>
              <a:xfrm flipV="1">
                <a:off x="4211863" y="4586850"/>
                <a:ext cx="1783080" cy="362503"/>
              </a:xfrm>
              <a:custGeom>
                <a:avLst/>
                <a:gdLst>
                  <a:gd name="connsiteX0" fmla="*/ 0 w 1783080"/>
                  <a:gd name="connsiteY0" fmla="*/ 355966 h 362503"/>
                  <a:gd name="connsiteX1" fmla="*/ 359228 w 1783080"/>
                  <a:gd name="connsiteY1" fmla="*/ 4 h 362503"/>
                  <a:gd name="connsiteX2" fmla="*/ 711925 w 1783080"/>
                  <a:gd name="connsiteY2" fmla="*/ 362498 h 362503"/>
                  <a:gd name="connsiteX3" fmla="*/ 1058091 w 1783080"/>
                  <a:gd name="connsiteY3" fmla="*/ 9801 h 362503"/>
                  <a:gd name="connsiteX4" fmla="*/ 1436914 w 1783080"/>
                  <a:gd name="connsiteY4" fmla="*/ 362498 h 362503"/>
                  <a:gd name="connsiteX5" fmla="*/ 1783080 w 1783080"/>
                  <a:gd name="connsiteY5" fmla="*/ 6535 h 362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3080" h="362503">
                    <a:moveTo>
                      <a:pt x="0" y="355966"/>
                    </a:moveTo>
                    <a:cubicBezTo>
                      <a:pt x="120287" y="177440"/>
                      <a:pt x="240574" y="-1085"/>
                      <a:pt x="359228" y="4"/>
                    </a:cubicBezTo>
                    <a:cubicBezTo>
                      <a:pt x="477882" y="1093"/>
                      <a:pt x="595448" y="360865"/>
                      <a:pt x="711925" y="362498"/>
                    </a:cubicBezTo>
                    <a:cubicBezTo>
                      <a:pt x="828402" y="364131"/>
                      <a:pt x="937260" y="9801"/>
                      <a:pt x="1058091" y="9801"/>
                    </a:cubicBezTo>
                    <a:cubicBezTo>
                      <a:pt x="1178922" y="9801"/>
                      <a:pt x="1316083" y="363042"/>
                      <a:pt x="1436914" y="362498"/>
                    </a:cubicBezTo>
                    <a:cubicBezTo>
                      <a:pt x="1557745" y="361954"/>
                      <a:pt x="1670412" y="184244"/>
                      <a:pt x="1783080" y="653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Oval 26">
              <a:extLst>
                <a:ext uri="{FF2B5EF4-FFF2-40B4-BE49-F238E27FC236}">
                  <a16:creationId xmlns:a16="http://schemas.microsoft.com/office/drawing/2014/main" id="{2F104EEC-0078-0344-93BE-F6BF9B02A4F3}"/>
                </a:ext>
              </a:extLst>
            </p:cNvPr>
            <p:cNvSpPr/>
            <p:nvPr/>
          </p:nvSpPr>
          <p:spPr>
            <a:xfrm>
              <a:off x="6458460" y="5684243"/>
              <a:ext cx="540000" cy="540000"/>
            </a:xfrm>
            <a:prstGeom prst="ellipse">
              <a:avLst/>
            </a:prstGeom>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path path="shap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431730B-C4D9-554A-AAB9-C5FBD227B5F4}"/>
                </a:ext>
              </a:extLst>
            </p:cNvPr>
            <p:cNvSpPr/>
            <p:nvPr/>
          </p:nvSpPr>
          <p:spPr>
            <a:xfrm>
              <a:off x="4897157" y="5684243"/>
              <a:ext cx="540000" cy="540000"/>
            </a:xfrm>
            <a:prstGeom prst="ellipse">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85515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ular Callout 11">
            <a:extLst>
              <a:ext uri="{FF2B5EF4-FFF2-40B4-BE49-F238E27FC236}">
                <a16:creationId xmlns:a16="http://schemas.microsoft.com/office/drawing/2014/main" id="{0E600890-3BE4-6C44-886B-A28A0503806F}"/>
              </a:ext>
            </a:extLst>
          </p:cNvPr>
          <p:cNvSpPr/>
          <p:nvPr/>
        </p:nvSpPr>
        <p:spPr>
          <a:xfrm>
            <a:off x="1133187" y="1205817"/>
            <a:ext cx="9058217" cy="2048553"/>
          </a:xfrm>
          <a:prstGeom prst="wedgeRectCallout">
            <a:avLst>
              <a:gd name="adj1" fmla="val 56254"/>
              <a:gd name="adj2" fmla="val 76297"/>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ular Callout 10">
            <a:extLst>
              <a:ext uri="{FF2B5EF4-FFF2-40B4-BE49-F238E27FC236}">
                <a16:creationId xmlns:a16="http://schemas.microsoft.com/office/drawing/2014/main" id="{D6087B89-7180-344A-9ED9-35BC63451EC8}"/>
              </a:ext>
            </a:extLst>
          </p:cNvPr>
          <p:cNvSpPr/>
          <p:nvPr/>
        </p:nvSpPr>
        <p:spPr>
          <a:xfrm>
            <a:off x="1133187" y="1224836"/>
            <a:ext cx="9058217" cy="2048553"/>
          </a:xfrm>
          <a:prstGeom prst="wedgeRectCallout">
            <a:avLst>
              <a:gd name="adj1" fmla="val -48180"/>
              <a:gd name="adj2" fmla="val 72239"/>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8AA8A5B-1C4E-6442-9219-F0FB1EEA604B}"/>
              </a:ext>
            </a:extLst>
          </p:cNvPr>
          <p:cNvSpPr>
            <a:spLocks noGrp="1"/>
          </p:cNvSpPr>
          <p:nvPr>
            <p:ph type="title"/>
          </p:nvPr>
        </p:nvSpPr>
        <p:spPr/>
        <p:txBody>
          <a:bodyPr>
            <a:normAutofit/>
          </a:bodyPr>
          <a:lstStyle/>
          <a:p>
            <a:r>
              <a:rPr lang="en-US" sz="2600" dirty="0"/>
              <a:t>Quantum Secure Direct Communication  (QSDC)</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46FCC18-B76F-0345-BD8D-8D82293FA35B}"/>
                  </a:ext>
                </a:extLst>
              </p:cNvPr>
              <p:cNvSpPr/>
              <p:nvPr/>
            </p:nvSpPr>
            <p:spPr>
              <a:xfrm>
                <a:off x="1799454" y="1414889"/>
                <a:ext cx="3583289"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r>
                        <a:rPr lang="en-US" sz="2400" i="1" smtClean="0">
                          <a:solidFill>
                            <a:srgbClr val="002060"/>
                          </a:solidFill>
                          <a:latin typeface="Cambria Math" panose="02040503050406030204" pitchFamily="18" charset="0"/>
                          <a:ea typeface="Cambria Math" panose="02040503050406030204" pitchFamily="18" charset="0"/>
                        </a:rPr>
                        <m:t>→</m:t>
                      </m:r>
                      <m:r>
                        <a:rPr lang="sr-Latn-RS" sz="2400" b="1" i="1" smtClean="0">
                          <a:solidFill>
                            <a:srgbClr val="002060"/>
                          </a:solidFill>
                          <a:latin typeface="Cambria Math" panose="02040503050406030204" pitchFamily="18" charset="0"/>
                          <a:ea typeface="Cambria Math" panose="02040503050406030204" pitchFamily="18" charset="0"/>
                        </a:rPr>
                        <m:t>𝟏𝟎</m:t>
                      </m:r>
                    </m:oMath>
                  </m:oMathPara>
                </a14:m>
                <a:endParaRPr lang="en-US" sz="2400" b="1" dirty="0"/>
              </a:p>
            </p:txBody>
          </p:sp>
        </mc:Choice>
        <mc:Fallback xmlns="">
          <p:sp>
            <p:nvSpPr>
              <p:cNvPr id="7" name="Rectangle 6">
                <a:extLst>
                  <a:ext uri="{FF2B5EF4-FFF2-40B4-BE49-F238E27FC236}">
                    <a16:creationId xmlns:a16="http://schemas.microsoft.com/office/drawing/2014/main" id="{446FCC18-B76F-0345-BD8D-8D82293FA35B}"/>
                  </a:ext>
                </a:extLst>
              </p:cNvPr>
              <p:cNvSpPr>
                <a:spLocks noRot="1" noChangeAspect="1" noMove="1" noResize="1" noEditPoints="1" noAdjustHandles="1" noChangeArrowheads="1" noChangeShapeType="1" noTextEdit="1"/>
              </p:cNvSpPr>
              <p:nvPr/>
            </p:nvSpPr>
            <p:spPr>
              <a:xfrm>
                <a:off x="1799454" y="1414889"/>
                <a:ext cx="3583289" cy="876202"/>
              </a:xfrm>
              <a:prstGeom prst="rect">
                <a:avLst/>
              </a:prstGeom>
              <a:blipFill>
                <a:blip r:embed="rId3"/>
                <a:stretch>
                  <a:fillRect t="-68571" b="-7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0E72028-29E2-004E-ABBB-59580958E730}"/>
                  </a:ext>
                </a:extLst>
              </p:cNvPr>
              <p:cNvSpPr/>
              <p:nvPr/>
            </p:nvSpPr>
            <p:spPr>
              <a:xfrm>
                <a:off x="1777717" y="2397187"/>
                <a:ext cx="3576172"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r>
                        <a:rPr lang="en-US" sz="2400" i="1">
                          <a:solidFill>
                            <a:srgbClr val="002060"/>
                          </a:solidFill>
                          <a:latin typeface="Cambria Math" panose="02040503050406030204" pitchFamily="18" charset="0"/>
                          <a:ea typeface="Cambria Math" panose="02040503050406030204" pitchFamily="18" charset="0"/>
                        </a:rPr>
                        <m:t>→</m:t>
                      </m:r>
                      <m:r>
                        <a:rPr lang="sr-Latn-RS" sz="2400" b="1" i="1" smtClean="0">
                          <a:solidFill>
                            <a:srgbClr val="002060"/>
                          </a:solidFill>
                          <a:latin typeface="Cambria Math" panose="02040503050406030204" pitchFamily="18" charset="0"/>
                          <a:ea typeface="Cambria Math" panose="02040503050406030204" pitchFamily="18" charset="0"/>
                        </a:rPr>
                        <m:t>𝟎</m:t>
                      </m:r>
                      <m:r>
                        <a:rPr lang="sr-Latn-RS" sz="2400" b="1" i="1">
                          <a:solidFill>
                            <a:srgbClr val="002060"/>
                          </a:solidFill>
                          <a:latin typeface="Cambria Math" panose="02040503050406030204" pitchFamily="18" charset="0"/>
                          <a:ea typeface="Cambria Math" panose="02040503050406030204" pitchFamily="18" charset="0"/>
                        </a:rPr>
                        <m:t>𝟎</m:t>
                      </m:r>
                    </m:oMath>
                  </m:oMathPara>
                </a14:m>
                <a:endParaRPr lang="en-US" sz="2400" b="1" dirty="0"/>
              </a:p>
            </p:txBody>
          </p:sp>
        </mc:Choice>
        <mc:Fallback xmlns="">
          <p:sp>
            <p:nvSpPr>
              <p:cNvPr id="8" name="Rectangle 7">
                <a:extLst>
                  <a:ext uri="{FF2B5EF4-FFF2-40B4-BE49-F238E27FC236}">
                    <a16:creationId xmlns:a16="http://schemas.microsoft.com/office/drawing/2014/main" id="{40E72028-29E2-004E-ABBB-59580958E730}"/>
                  </a:ext>
                </a:extLst>
              </p:cNvPr>
              <p:cNvSpPr>
                <a:spLocks noRot="1" noChangeAspect="1" noMove="1" noResize="1" noEditPoints="1" noAdjustHandles="1" noChangeArrowheads="1" noChangeShapeType="1" noTextEdit="1"/>
              </p:cNvSpPr>
              <p:nvPr/>
            </p:nvSpPr>
            <p:spPr>
              <a:xfrm>
                <a:off x="1777717" y="2397187"/>
                <a:ext cx="3576172" cy="876202"/>
              </a:xfrm>
              <a:prstGeom prst="rect">
                <a:avLst/>
              </a:prstGeom>
              <a:blipFill>
                <a:blip r:embed="rId4"/>
                <a:stretch>
                  <a:fillRect t="-68571" b="-7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EDE5406-6619-C043-80EE-E3782545CE1E}"/>
                  </a:ext>
                </a:extLst>
              </p:cNvPr>
              <p:cNvSpPr/>
              <p:nvPr/>
            </p:nvSpPr>
            <p:spPr>
              <a:xfrm>
                <a:off x="5885904" y="2397187"/>
                <a:ext cx="3576172"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r>
                        <a:rPr lang="en-US" sz="2400" i="1">
                          <a:solidFill>
                            <a:srgbClr val="002060"/>
                          </a:solidFill>
                          <a:latin typeface="Cambria Math" panose="02040503050406030204" pitchFamily="18" charset="0"/>
                          <a:ea typeface="Cambria Math" panose="02040503050406030204" pitchFamily="18" charset="0"/>
                        </a:rPr>
                        <m:t>→</m:t>
                      </m:r>
                      <m:r>
                        <a:rPr lang="sr-Latn-RS" sz="2400" b="1" i="1" smtClean="0">
                          <a:solidFill>
                            <a:srgbClr val="002060"/>
                          </a:solidFill>
                          <a:latin typeface="Cambria Math" panose="02040503050406030204" pitchFamily="18" charset="0"/>
                          <a:ea typeface="Cambria Math" panose="02040503050406030204" pitchFamily="18" charset="0"/>
                        </a:rPr>
                        <m:t>𝟎𝟏</m:t>
                      </m:r>
                    </m:oMath>
                  </m:oMathPara>
                </a14:m>
                <a:endParaRPr lang="en-US" sz="2400" b="1" dirty="0"/>
              </a:p>
            </p:txBody>
          </p:sp>
        </mc:Choice>
        <mc:Fallback xmlns="">
          <p:sp>
            <p:nvSpPr>
              <p:cNvPr id="9" name="Rectangle 8">
                <a:extLst>
                  <a:ext uri="{FF2B5EF4-FFF2-40B4-BE49-F238E27FC236}">
                    <a16:creationId xmlns:a16="http://schemas.microsoft.com/office/drawing/2014/main" id="{BEDE5406-6619-C043-80EE-E3782545CE1E}"/>
                  </a:ext>
                </a:extLst>
              </p:cNvPr>
              <p:cNvSpPr>
                <a:spLocks noRot="1" noChangeAspect="1" noMove="1" noResize="1" noEditPoints="1" noAdjustHandles="1" noChangeArrowheads="1" noChangeShapeType="1" noTextEdit="1"/>
              </p:cNvSpPr>
              <p:nvPr/>
            </p:nvSpPr>
            <p:spPr>
              <a:xfrm>
                <a:off x="5885904" y="2397187"/>
                <a:ext cx="3576172" cy="876202"/>
              </a:xfrm>
              <a:prstGeom prst="rect">
                <a:avLst/>
              </a:prstGeom>
              <a:blipFill>
                <a:blip r:embed="rId5"/>
                <a:stretch>
                  <a:fillRect t="-68571" b="-7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B633EF6-644C-6E42-B6E8-C8CF56684915}"/>
                  </a:ext>
                </a:extLst>
              </p:cNvPr>
              <p:cNvSpPr/>
              <p:nvPr/>
            </p:nvSpPr>
            <p:spPr>
              <a:xfrm>
                <a:off x="5353889" y="1414889"/>
                <a:ext cx="3583289"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smtClean="0">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r>
                        <a:rPr lang="en-US" sz="2400" i="1">
                          <a:solidFill>
                            <a:srgbClr val="002060"/>
                          </a:solidFill>
                          <a:latin typeface="Cambria Math" panose="02040503050406030204" pitchFamily="18" charset="0"/>
                          <a:ea typeface="Cambria Math" panose="02040503050406030204" pitchFamily="18" charset="0"/>
                        </a:rPr>
                        <m:t>→</m:t>
                      </m:r>
                      <m:r>
                        <a:rPr lang="sr-Latn-RS" sz="2400" b="1" i="1" smtClean="0">
                          <a:solidFill>
                            <a:srgbClr val="002060"/>
                          </a:solidFill>
                          <a:latin typeface="Cambria Math" panose="02040503050406030204" pitchFamily="18" charset="0"/>
                          <a:ea typeface="Cambria Math" panose="02040503050406030204" pitchFamily="18" charset="0"/>
                        </a:rPr>
                        <m:t>𝟏𝟏</m:t>
                      </m:r>
                    </m:oMath>
                  </m:oMathPara>
                </a14:m>
                <a:endParaRPr lang="en-US" sz="2400" b="1" dirty="0"/>
              </a:p>
            </p:txBody>
          </p:sp>
        </mc:Choice>
        <mc:Fallback xmlns="">
          <p:sp>
            <p:nvSpPr>
              <p:cNvPr id="10" name="Rectangle 9">
                <a:extLst>
                  <a:ext uri="{FF2B5EF4-FFF2-40B4-BE49-F238E27FC236}">
                    <a16:creationId xmlns:a16="http://schemas.microsoft.com/office/drawing/2014/main" id="{5B633EF6-644C-6E42-B6E8-C8CF56684915}"/>
                  </a:ext>
                </a:extLst>
              </p:cNvPr>
              <p:cNvSpPr>
                <a:spLocks noRot="1" noChangeAspect="1" noMove="1" noResize="1" noEditPoints="1" noAdjustHandles="1" noChangeArrowheads="1" noChangeShapeType="1" noTextEdit="1"/>
              </p:cNvSpPr>
              <p:nvPr/>
            </p:nvSpPr>
            <p:spPr>
              <a:xfrm>
                <a:off x="5353889" y="1414889"/>
                <a:ext cx="3583289" cy="876202"/>
              </a:xfrm>
              <a:prstGeom prst="rect">
                <a:avLst/>
              </a:prstGeom>
              <a:blipFill>
                <a:blip r:embed="rId6"/>
                <a:stretch>
                  <a:fillRect t="-68571" b="-78571"/>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071FF0C5-DF25-D945-8389-C37CCE3D61FC}"/>
              </a:ext>
            </a:extLst>
          </p:cNvPr>
          <p:cNvCxnSpPr>
            <a:cxnSpLocks/>
            <a:stCxn id="57" idx="3"/>
          </p:cNvCxnSpPr>
          <p:nvPr/>
        </p:nvCxnSpPr>
        <p:spPr>
          <a:xfrm flipV="1">
            <a:off x="1562674" y="5869427"/>
            <a:ext cx="9313799"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0C7B977-1AB3-564F-9393-7BCC9EA13E88}"/>
              </a:ext>
            </a:extLst>
          </p:cNvPr>
          <p:cNvCxnSpPr>
            <a:cxnSpLocks/>
            <a:stCxn id="56" idx="3"/>
          </p:cNvCxnSpPr>
          <p:nvPr/>
        </p:nvCxnSpPr>
        <p:spPr>
          <a:xfrm flipV="1">
            <a:off x="1562674" y="4590737"/>
            <a:ext cx="9293978" cy="149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9B87F6A1-6F37-3547-B3D1-2C6073497FFD}"/>
              </a:ext>
            </a:extLst>
          </p:cNvPr>
          <p:cNvGrpSpPr/>
          <p:nvPr/>
        </p:nvGrpSpPr>
        <p:grpSpPr>
          <a:xfrm>
            <a:off x="9829890" y="5503569"/>
            <a:ext cx="720000" cy="720000"/>
            <a:chOff x="9366454" y="1830509"/>
            <a:chExt cx="720000" cy="720000"/>
          </a:xfrm>
        </p:grpSpPr>
        <p:sp>
          <p:nvSpPr>
            <p:cNvPr id="17" name="Rectangle 16">
              <a:extLst>
                <a:ext uri="{FF2B5EF4-FFF2-40B4-BE49-F238E27FC236}">
                  <a16:creationId xmlns:a16="http://schemas.microsoft.com/office/drawing/2014/main" id="{FD89555B-8E82-0749-AAAA-DD4FC2216E0E}"/>
                </a:ext>
              </a:extLst>
            </p:cNvPr>
            <p:cNvSpPr/>
            <p:nvPr/>
          </p:nvSpPr>
          <p:spPr>
            <a:xfrm>
              <a:off x="9366454" y="1830509"/>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18" name="Straight Connector 17">
              <a:extLst>
                <a:ext uri="{FF2B5EF4-FFF2-40B4-BE49-F238E27FC236}">
                  <a16:creationId xmlns:a16="http://schemas.microsoft.com/office/drawing/2014/main" id="{2EA5F929-BCAF-CC48-9849-4FD37F4DB65B}"/>
                </a:ext>
              </a:extLst>
            </p:cNvPr>
            <p:cNvCxnSpPr>
              <a:cxnSpLocks/>
            </p:cNvCxnSpPr>
            <p:nvPr/>
          </p:nvCxnSpPr>
          <p:spPr>
            <a:xfrm flipV="1">
              <a:off x="9724774" y="1992322"/>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9" name="Arc 18">
              <a:extLst>
                <a:ext uri="{FF2B5EF4-FFF2-40B4-BE49-F238E27FC236}">
                  <a16:creationId xmlns:a16="http://schemas.microsoft.com/office/drawing/2014/main" id="{6C532589-5DF8-9A44-8AA2-7FD52C8C6065}"/>
                </a:ext>
              </a:extLst>
            </p:cNvPr>
            <p:cNvSpPr/>
            <p:nvPr/>
          </p:nvSpPr>
          <p:spPr>
            <a:xfrm>
              <a:off x="9446605" y="1994032"/>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8358927A-1B98-084F-9ABA-7A0C54B10168}"/>
              </a:ext>
            </a:extLst>
          </p:cNvPr>
          <p:cNvGrpSpPr/>
          <p:nvPr/>
        </p:nvGrpSpPr>
        <p:grpSpPr>
          <a:xfrm>
            <a:off x="9805001" y="4185319"/>
            <a:ext cx="720000" cy="720000"/>
            <a:chOff x="9366454" y="1830509"/>
            <a:chExt cx="720000" cy="720000"/>
          </a:xfrm>
        </p:grpSpPr>
        <p:sp>
          <p:nvSpPr>
            <p:cNvPr id="21" name="Rectangle 20">
              <a:extLst>
                <a:ext uri="{FF2B5EF4-FFF2-40B4-BE49-F238E27FC236}">
                  <a16:creationId xmlns:a16="http://schemas.microsoft.com/office/drawing/2014/main" id="{DB16BCD4-772A-6640-BD56-FDDE3B1BF9D0}"/>
                </a:ext>
              </a:extLst>
            </p:cNvPr>
            <p:cNvSpPr/>
            <p:nvPr/>
          </p:nvSpPr>
          <p:spPr>
            <a:xfrm>
              <a:off x="9366454" y="1830509"/>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22" name="Straight Connector 21">
              <a:extLst>
                <a:ext uri="{FF2B5EF4-FFF2-40B4-BE49-F238E27FC236}">
                  <a16:creationId xmlns:a16="http://schemas.microsoft.com/office/drawing/2014/main" id="{C81A9CB8-59F6-FD46-9FB1-171D5A807013}"/>
                </a:ext>
              </a:extLst>
            </p:cNvPr>
            <p:cNvCxnSpPr>
              <a:cxnSpLocks/>
            </p:cNvCxnSpPr>
            <p:nvPr/>
          </p:nvCxnSpPr>
          <p:spPr>
            <a:xfrm flipV="1">
              <a:off x="9724774" y="1992322"/>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09456626-E1A7-2041-990F-E376CA5EA0BF}"/>
                </a:ext>
              </a:extLst>
            </p:cNvPr>
            <p:cNvSpPr/>
            <p:nvPr/>
          </p:nvSpPr>
          <p:spPr>
            <a:xfrm>
              <a:off x="9446605" y="1994032"/>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C0B05D36-B273-674A-8511-8E3A72514698}"/>
              </a:ext>
            </a:extLst>
          </p:cNvPr>
          <p:cNvSpPr/>
          <p:nvPr/>
        </p:nvSpPr>
        <p:spPr>
          <a:xfrm>
            <a:off x="1759426" y="421377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46" name="Group 45">
            <a:extLst>
              <a:ext uri="{FF2B5EF4-FFF2-40B4-BE49-F238E27FC236}">
                <a16:creationId xmlns:a16="http://schemas.microsoft.com/office/drawing/2014/main" id="{9D51F91C-D79D-4042-BF94-E303CCD67035}"/>
              </a:ext>
            </a:extLst>
          </p:cNvPr>
          <p:cNvGrpSpPr/>
          <p:nvPr/>
        </p:nvGrpSpPr>
        <p:grpSpPr>
          <a:xfrm>
            <a:off x="2506127" y="4408180"/>
            <a:ext cx="720000" cy="1800167"/>
            <a:chOff x="3886736" y="3546193"/>
            <a:chExt cx="720000" cy="1800167"/>
          </a:xfrm>
        </p:grpSpPr>
        <p:sp>
          <p:nvSpPr>
            <p:cNvPr id="47" name="Oval 46">
              <a:extLst>
                <a:ext uri="{FF2B5EF4-FFF2-40B4-BE49-F238E27FC236}">
                  <a16:creationId xmlns:a16="http://schemas.microsoft.com/office/drawing/2014/main" id="{CFF0CB22-56FA-D946-BFA3-A087EC608B91}"/>
                </a:ext>
              </a:extLst>
            </p:cNvPr>
            <p:cNvSpPr/>
            <p:nvPr/>
          </p:nvSpPr>
          <p:spPr>
            <a:xfrm>
              <a:off x="3886736" y="4626360"/>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8" name="Oval 47">
              <a:extLst>
                <a:ext uri="{FF2B5EF4-FFF2-40B4-BE49-F238E27FC236}">
                  <a16:creationId xmlns:a16="http://schemas.microsoft.com/office/drawing/2014/main" id="{9866B245-944F-AD45-A024-A6BE016FD2B8}"/>
                </a:ext>
              </a:extLst>
            </p:cNvPr>
            <p:cNvSpPr>
              <a:spLocks noChangeAspect="1"/>
            </p:cNvSpPr>
            <p:nvPr/>
          </p:nvSpPr>
          <p:spPr>
            <a:xfrm>
              <a:off x="4075930" y="354619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49" name="Straight Connector 48">
              <a:extLst>
                <a:ext uri="{FF2B5EF4-FFF2-40B4-BE49-F238E27FC236}">
                  <a16:creationId xmlns:a16="http://schemas.microsoft.com/office/drawing/2014/main" id="{140BACB1-0EC7-A742-AA2D-86350F47DBBC}"/>
                </a:ext>
              </a:extLst>
            </p:cNvPr>
            <p:cNvCxnSpPr>
              <a:cxnSpLocks/>
              <a:stCxn id="48" idx="4"/>
              <a:endCxn id="47" idx="0"/>
            </p:cNvCxnSpPr>
            <p:nvPr/>
          </p:nvCxnSpPr>
          <p:spPr>
            <a:xfrm flipH="1">
              <a:off x="4246736" y="3906193"/>
              <a:ext cx="9194" cy="720167"/>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1EE55786-8E4C-FC4A-A663-14EB2B4B696C}"/>
              </a:ext>
            </a:extLst>
          </p:cNvPr>
          <p:cNvGrpSpPr/>
          <p:nvPr/>
        </p:nvGrpSpPr>
        <p:grpSpPr>
          <a:xfrm>
            <a:off x="7894667" y="4372286"/>
            <a:ext cx="720000" cy="1851283"/>
            <a:chOff x="3902013" y="3546193"/>
            <a:chExt cx="720000" cy="1851283"/>
          </a:xfrm>
        </p:grpSpPr>
        <p:sp>
          <p:nvSpPr>
            <p:cNvPr id="52" name="Oval 51">
              <a:extLst>
                <a:ext uri="{FF2B5EF4-FFF2-40B4-BE49-F238E27FC236}">
                  <a16:creationId xmlns:a16="http://schemas.microsoft.com/office/drawing/2014/main" id="{0244FAAC-1EBF-E846-983C-6BE1FED7EAED}"/>
                </a:ext>
              </a:extLst>
            </p:cNvPr>
            <p:cNvSpPr/>
            <p:nvPr/>
          </p:nvSpPr>
          <p:spPr>
            <a:xfrm>
              <a:off x="3902013" y="4677476"/>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3" name="Oval 52">
              <a:extLst>
                <a:ext uri="{FF2B5EF4-FFF2-40B4-BE49-F238E27FC236}">
                  <a16:creationId xmlns:a16="http://schemas.microsoft.com/office/drawing/2014/main" id="{483566C8-2977-2249-9B52-BEA056D14530}"/>
                </a:ext>
              </a:extLst>
            </p:cNvPr>
            <p:cNvSpPr>
              <a:spLocks noChangeAspect="1"/>
            </p:cNvSpPr>
            <p:nvPr/>
          </p:nvSpPr>
          <p:spPr>
            <a:xfrm>
              <a:off x="4075930" y="354619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4" name="Straight Connector 53">
              <a:extLst>
                <a:ext uri="{FF2B5EF4-FFF2-40B4-BE49-F238E27FC236}">
                  <a16:creationId xmlns:a16="http://schemas.microsoft.com/office/drawing/2014/main" id="{9069F8D9-26F4-2047-9234-814C55519930}"/>
                </a:ext>
              </a:extLst>
            </p:cNvPr>
            <p:cNvCxnSpPr>
              <a:cxnSpLocks/>
              <a:stCxn id="53" idx="4"/>
              <a:endCxn id="52" idx="0"/>
            </p:cNvCxnSpPr>
            <p:nvPr/>
          </p:nvCxnSpPr>
          <p:spPr>
            <a:xfrm>
              <a:off x="4255930" y="3906193"/>
              <a:ext cx="6083" cy="771283"/>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DE5B3911-96E3-504B-B341-5E2D1028EC7D}"/>
              </a:ext>
            </a:extLst>
          </p:cNvPr>
          <p:cNvSpPr/>
          <p:nvPr/>
        </p:nvSpPr>
        <p:spPr>
          <a:xfrm>
            <a:off x="8676287" y="4192286"/>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FF5261C8-B828-0A49-A203-A7A8D555C992}"/>
                  </a:ext>
                </a:extLst>
              </p:cNvPr>
              <p:cNvSpPr/>
              <p:nvPr/>
            </p:nvSpPr>
            <p:spPr>
              <a:xfrm>
                <a:off x="930770" y="4361400"/>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6" name="Rectangle 55">
                <a:extLst>
                  <a:ext uri="{FF2B5EF4-FFF2-40B4-BE49-F238E27FC236}">
                    <a16:creationId xmlns:a16="http://schemas.microsoft.com/office/drawing/2014/main" id="{FF5261C8-B828-0A49-A203-A7A8D555C992}"/>
                  </a:ext>
                </a:extLst>
              </p:cNvPr>
              <p:cNvSpPr>
                <a:spLocks noRot="1" noChangeAspect="1" noMove="1" noResize="1" noEditPoints="1" noAdjustHandles="1" noChangeArrowheads="1" noChangeShapeType="1" noTextEdit="1"/>
              </p:cNvSpPr>
              <p:nvPr/>
            </p:nvSpPr>
            <p:spPr>
              <a:xfrm>
                <a:off x="930770" y="4361400"/>
                <a:ext cx="631904" cy="461665"/>
              </a:xfrm>
              <a:prstGeom prst="rect">
                <a:avLst/>
              </a:prstGeom>
              <a:blipFill>
                <a:blip r:embed="rId7"/>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1D2F039E-050C-5B4C-8970-329968E8DD61}"/>
                  </a:ext>
                </a:extLst>
              </p:cNvPr>
              <p:cNvSpPr/>
              <p:nvPr/>
            </p:nvSpPr>
            <p:spPr>
              <a:xfrm>
                <a:off x="930770" y="5670060"/>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7" name="Rectangle 56">
                <a:extLst>
                  <a:ext uri="{FF2B5EF4-FFF2-40B4-BE49-F238E27FC236}">
                    <a16:creationId xmlns:a16="http://schemas.microsoft.com/office/drawing/2014/main" id="{1D2F039E-050C-5B4C-8970-329968E8DD61}"/>
                  </a:ext>
                </a:extLst>
              </p:cNvPr>
              <p:cNvSpPr>
                <a:spLocks noRot="1" noChangeAspect="1" noMove="1" noResize="1" noEditPoints="1" noAdjustHandles="1" noChangeArrowheads="1" noChangeShapeType="1" noTextEdit="1"/>
              </p:cNvSpPr>
              <p:nvPr/>
            </p:nvSpPr>
            <p:spPr>
              <a:xfrm>
                <a:off x="930770" y="5670060"/>
                <a:ext cx="631904" cy="461665"/>
              </a:xfrm>
              <a:prstGeom prst="rect">
                <a:avLst/>
              </a:prstGeom>
              <a:blipFill>
                <a:blip r:embed="rId7"/>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7F7A6EF8-373A-3E40-A0CD-1E34A2B8028B}"/>
                  </a:ext>
                </a:extLst>
              </p:cNvPr>
              <p:cNvSpPr/>
              <p:nvPr/>
            </p:nvSpPr>
            <p:spPr>
              <a:xfrm>
                <a:off x="3388440" y="3641364"/>
                <a:ext cx="95757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FF"/>
                              </a:solidFill>
                              <a:latin typeface="Cambria Math" panose="02040503050406030204" pitchFamily="18" charset="0"/>
                              <a:ea typeface="Cambria Math" panose="02040503050406030204" pitchFamily="18" charset="0"/>
                            </a:rPr>
                          </m:ctrlPr>
                        </m:sSubPr>
                        <m:e>
                          <m:r>
                            <a:rPr lang="en-US" sz="2800" b="0" i="1" smtClean="0">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1</m:t>
                          </m:r>
                        </m:sub>
                      </m:sSub>
                      <m:sSub>
                        <m:sSubPr>
                          <m:ctrlPr>
                            <a:rPr lang="en-US" sz="2800" i="1">
                              <a:solidFill>
                                <a:srgbClr val="0000FF"/>
                              </a:solidFill>
                              <a:latin typeface="Cambria Math" panose="02040503050406030204" pitchFamily="18" charset="0"/>
                              <a:ea typeface="Cambria Math" panose="02040503050406030204" pitchFamily="18" charset="0"/>
                            </a:rPr>
                          </m:ctrlPr>
                        </m:sSubPr>
                        <m:e>
                          <m:r>
                            <a:rPr lang="en-US" sz="2800" i="1">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2</m:t>
                          </m:r>
                        </m:sub>
                      </m:sSub>
                    </m:oMath>
                  </m:oMathPara>
                </a14:m>
                <a:endParaRPr lang="en-US" sz="2800" dirty="0">
                  <a:solidFill>
                    <a:srgbClr val="0000FF"/>
                  </a:solidFill>
                </a:endParaRPr>
              </a:p>
            </p:txBody>
          </p:sp>
        </mc:Choice>
        <mc:Fallback xmlns="">
          <p:sp>
            <p:nvSpPr>
              <p:cNvPr id="64" name="Rectangle 63">
                <a:extLst>
                  <a:ext uri="{FF2B5EF4-FFF2-40B4-BE49-F238E27FC236}">
                    <a16:creationId xmlns:a16="http://schemas.microsoft.com/office/drawing/2014/main" id="{7F7A6EF8-373A-3E40-A0CD-1E34A2B8028B}"/>
                  </a:ext>
                </a:extLst>
              </p:cNvPr>
              <p:cNvSpPr>
                <a:spLocks noRot="1" noChangeAspect="1" noMove="1" noResize="1" noEditPoints="1" noAdjustHandles="1" noChangeArrowheads="1" noChangeShapeType="1" noTextEdit="1"/>
              </p:cNvSpPr>
              <p:nvPr/>
            </p:nvSpPr>
            <p:spPr>
              <a:xfrm>
                <a:off x="3388440" y="3641364"/>
                <a:ext cx="957570"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36E8256A-F700-7C42-A07E-9816058F4A74}"/>
                  </a:ext>
                </a:extLst>
              </p:cNvPr>
              <p:cNvSpPr/>
              <p:nvPr/>
            </p:nvSpPr>
            <p:spPr>
              <a:xfrm>
                <a:off x="10382384" y="4967698"/>
                <a:ext cx="95757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FF"/>
                              </a:solidFill>
                              <a:latin typeface="Cambria Math" panose="02040503050406030204" pitchFamily="18" charset="0"/>
                              <a:ea typeface="Cambria Math" panose="02040503050406030204" pitchFamily="18" charset="0"/>
                            </a:rPr>
                          </m:ctrlPr>
                        </m:sSubPr>
                        <m:e>
                          <m:r>
                            <a:rPr lang="en-US" sz="2800" b="0" i="1" smtClean="0">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1</m:t>
                          </m:r>
                        </m:sub>
                      </m:sSub>
                      <m:sSub>
                        <m:sSubPr>
                          <m:ctrlPr>
                            <a:rPr lang="en-US" sz="2800" i="1">
                              <a:solidFill>
                                <a:srgbClr val="0000FF"/>
                              </a:solidFill>
                              <a:latin typeface="Cambria Math" panose="02040503050406030204" pitchFamily="18" charset="0"/>
                              <a:ea typeface="Cambria Math" panose="02040503050406030204" pitchFamily="18" charset="0"/>
                            </a:rPr>
                          </m:ctrlPr>
                        </m:sSubPr>
                        <m:e>
                          <m:r>
                            <a:rPr lang="en-US" sz="2800" i="1">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2</m:t>
                          </m:r>
                        </m:sub>
                      </m:sSub>
                    </m:oMath>
                  </m:oMathPara>
                </a14:m>
                <a:endParaRPr lang="en-US" sz="2800" dirty="0">
                  <a:solidFill>
                    <a:srgbClr val="0000FF"/>
                  </a:solidFill>
                </a:endParaRPr>
              </a:p>
            </p:txBody>
          </p:sp>
        </mc:Choice>
        <mc:Fallback xmlns="">
          <p:sp>
            <p:nvSpPr>
              <p:cNvPr id="74" name="Rectangle 73">
                <a:extLst>
                  <a:ext uri="{FF2B5EF4-FFF2-40B4-BE49-F238E27FC236}">
                    <a16:creationId xmlns:a16="http://schemas.microsoft.com/office/drawing/2014/main" id="{36E8256A-F700-7C42-A07E-9816058F4A74}"/>
                  </a:ext>
                </a:extLst>
              </p:cNvPr>
              <p:cNvSpPr>
                <a:spLocks noRot="1" noChangeAspect="1" noMove="1" noResize="1" noEditPoints="1" noAdjustHandles="1" noChangeArrowheads="1" noChangeShapeType="1" noTextEdit="1"/>
              </p:cNvSpPr>
              <p:nvPr/>
            </p:nvSpPr>
            <p:spPr>
              <a:xfrm>
                <a:off x="10382384" y="4967698"/>
                <a:ext cx="957570" cy="523220"/>
              </a:xfrm>
              <a:prstGeom prst="rect">
                <a:avLst/>
              </a:prstGeom>
              <a:blipFill>
                <a:blip r:embed="rId12"/>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FC57C0CF-4188-E145-BBB1-998D9D5C1118}"/>
                  </a:ext>
                </a:extLst>
              </p:cNvPr>
              <p:cNvSpPr/>
              <p:nvPr/>
            </p:nvSpPr>
            <p:spPr>
              <a:xfrm rot="16833338">
                <a:off x="5679356" y="4265014"/>
                <a:ext cx="62869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m:t>
                      </m:r>
                    </m:oMath>
                  </m:oMathPara>
                </a14:m>
                <a:endParaRPr lang="en-US" sz="3600" dirty="0">
                  <a:solidFill>
                    <a:schemeClr val="tx1"/>
                  </a:solidFill>
                </a:endParaRPr>
              </a:p>
            </p:txBody>
          </p:sp>
        </mc:Choice>
        <mc:Fallback xmlns="">
          <p:sp>
            <p:nvSpPr>
              <p:cNvPr id="75" name="Rectangle 74">
                <a:extLst>
                  <a:ext uri="{FF2B5EF4-FFF2-40B4-BE49-F238E27FC236}">
                    <a16:creationId xmlns:a16="http://schemas.microsoft.com/office/drawing/2014/main" id="{FC57C0CF-4188-E145-BBB1-998D9D5C1118}"/>
                  </a:ext>
                </a:extLst>
              </p:cNvPr>
              <p:cNvSpPr>
                <a:spLocks noRot="1" noChangeAspect="1" noMove="1" noResize="1" noEditPoints="1" noAdjustHandles="1" noChangeArrowheads="1" noChangeShapeType="1" noTextEdit="1"/>
              </p:cNvSpPr>
              <p:nvPr/>
            </p:nvSpPr>
            <p:spPr>
              <a:xfrm rot="16833338">
                <a:off x="5679356" y="4265014"/>
                <a:ext cx="628697" cy="64633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3532343E-7E38-BE41-8729-5C9386F55C51}"/>
                  </a:ext>
                </a:extLst>
              </p:cNvPr>
              <p:cNvSpPr/>
              <p:nvPr/>
            </p:nvSpPr>
            <p:spPr>
              <a:xfrm rot="16833338">
                <a:off x="5679356" y="5540403"/>
                <a:ext cx="62869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m:t>
                      </m:r>
                    </m:oMath>
                  </m:oMathPara>
                </a14:m>
                <a:endParaRPr lang="en-US" sz="3600" dirty="0">
                  <a:solidFill>
                    <a:schemeClr val="tx1"/>
                  </a:solidFill>
                </a:endParaRPr>
              </a:p>
            </p:txBody>
          </p:sp>
        </mc:Choice>
        <mc:Fallback xmlns="">
          <p:sp>
            <p:nvSpPr>
              <p:cNvPr id="76" name="Rectangle 75">
                <a:extLst>
                  <a:ext uri="{FF2B5EF4-FFF2-40B4-BE49-F238E27FC236}">
                    <a16:creationId xmlns:a16="http://schemas.microsoft.com/office/drawing/2014/main" id="{3532343E-7E38-BE41-8729-5C9386F55C51}"/>
                  </a:ext>
                </a:extLst>
              </p:cNvPr>
              <p:cNvSpPr>
                <a:spLocks noRot="1" noChangeAspect="1" noMove="1" noResize="1" noEditPoints="1" noAdjustHandles="1" noChangeArrowheads="1" noChangeShapeType="1" noTextEdit="1"/>
              </p:cNvSpPr>
              <p:nvPr/>
            </p:nvSpPr>
            <p:spPr>
              <a:xfrm rot="16833338">
                <a:off x="5679356" y="5540403"/>
                <a:ext cx="628697" cy="646331"/>
              </a:xfrm>
              <a:prstGeom prst="rect">
                <a:avLst/>
              </a:prstGeom>
              <a:blipFill>
                <a:blip r:embed="rId14"/>
                <a:stretch>
                  <a:fillRect/>
                </a:stretch>
              </a:blipFill>
            </p:spPr>
            <p:txBody>
              <a:bodyPr/>
              <a:lstStyle/>
              <a:p>
                <a:r>
                  <a:rPr lang="en-US">
                    <a:noFill/>
                  </a:rPr>
                  <a:t> </a:t>
                </a:r>
              </a:p>
            </p:txBody>
          </p:sp>
        </mc:Fallback>
      </mc:AlternateContent>
      <p:sp>
        <p:nvSpPr>
          <p:cNvPr id="39" name="Slide Number Placeholder 2">
            <a:extLst>
              <a:ext uri="{FF2B5EF4-FFF2-40B4-BE49-F238E27FC236}">
                <a16:creationId xmlns:a16="http://schemas.microsoft.com/office/drawing/2014/main" id="{BAC456E4-EAC4-3A42-878D-FC69D73E4DD6}"/>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25</a:t>
            </a:fld>
            <a:endParaRPr lang="en-US"/>
          </a:p>
        </p:txBody>
      </p:sp>
      <p:pic>
        <p:nvPicPr>
          <p:cNvPr id="40" name="Picture 39">
            <a:extLst>
              <a:ext uri="{FF2B5EF4-FFF2-40B4-BE49-F238E27FC236}">
                <a16:creationId xmlns:a16="http://schemas.microsoft.com/office/drawing/2014/main" id="{EBCBD5C7-88CA-9E44-95D0-3C88B227FC47}"/>
              </a:ext>
            </a:extLst>
          </p:cNvPr>
          <p:cNvPicPr>
            <a:picLocks noChangeAspect="1"/>
          </p:cNvPicPr>
          <p:nvPr/>
        </p:nvPicPr>
        <p:blipFill>
          <a:blip r:embed="rId15"/>
          <a:stretch>
            <a:fillRect/>
          </a:stretch>
        </p:blipFill>
        <p:spPr>
          <a:xfrm>
            <a:off x="11157911" y="4347132"/>
            <a:ext cx="926032" cy="1371620"/>
          </a:xfrm>
          <a:prstGeom prst="rect">
            <a:avLst/>
          </a:prstGeom>
        </p:spPr>
      </p:pic>
      <p:pic>
        <p:nvPicPr>
          <p:cNvPr id="41" name="Picture 40">
            <a:extLst>
              <a:ext uri="{FF2B5EF4-FFF2-40B4-BE49-F238E27FC236}">
                <a16:creationId xmlns:a16="http://schemas.microsoft.com/office/drawing/2014/main" id="{CB609C41-6552-6A4D-9EA9-068CE630530D}"/>
              </a:ext>
            </a:extLst>
          </p:cNvPr>
          <p:cNvPicPr>
            <a:picLocks noChangeAspect="1"/>
          </p:cNvPicPr>
          <p:nvPr/>
        </p:nvPicPr>
        <p:blipFill>
          <a:blip r:embed="rId16"/>
          <a:stretch>
            <a:fillRect/>
          </a:stretch>
        </p:blipFill>
        <p:spPr>
          <a:xfrm>
            <a:off x="101536" y="4580427"/>
            <a:ext cx="775850" cy="1195108"/>
          </a:xfrm>
          <a:prstGeom prst="rect">
            <a:avLst/>
          </a:prstGeom>
        </p:spPr>
      </p:pic>
      <p:sp>
        <p:nvSpPr>
          <p:cNvPr id="42" name="Rectangle 41">
            <a:extLst>
              <a:ext uri="{FF2B5EF4-FFF2-40B4-BE49-F238E27FC236}">
                <a16:creationId xmlns:a16="http://schemas.microsoft.com/office/drawing/2014/main" id="{35577ABC-0D56-AC4F-822D-38880EDC6A70}"/>
              </a:ext>
            </a:extLst>
          </p:cNvPr>
          <p:cNvSpPr/>
          <p:nvPr/>
        </p:nvSpPr>
        <p:spPr>
          <a:xfrm>
            <a:off x="3507225" y="4209039"/>
            <a:ext cx="720000" cy="196645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2" name="TextBox 1">
            <a:extLst>
              <a:ext uri="{FF2B5EF4-FFF2-40B4-BE49-F238E27FC236}">
                <a16:creationId xmlns:a16="http://schemas.microsoft.com/office/drawing/2014/main" id="{2D69C605-B025-564C-BDBA-3AEA8CC44074}"/>
              </a:ext>
            </a:extLst>
          </p:cNvPr>
          <p:cNvSpPr txBox="1"/>
          <p:nvPr/>
        </p:nvSpPr>
        <p:spPr>
          <a:xfrm rot="16200000">
            <a:off x="3036873" y="4971112"/>
            <a:ext cx="1614866" cy="430887"/>
          </a:xfrm>
          <a:prstGeom prst="rect">
            <a:avLst/>
          </a:prstGeom>
          <a:noFill/>
        </p:spPr>
        <p:txBody>
          <a:bodyPr wrap="none" rtlCol="0">
            <a:spAutoFit/>
          </a:bodyPr>
          <a:lstStyle/>
          <a:p>
            <a:r>
              <a:rPr lang="en-US" sz="2200" dirty="0"/>
              <a:t>modify state</a:t>
            </a:r>
          </a:p>
        </p:txBody>
      </p:sp>
    </p:spTree>
    <p:extLst>
      <p:ext uri="{BB962C8B-B14F-4D97-AF65-F5344CB8AC3E}">
        <p14:creationId xmlns:p14="http://schemas.microsoft.com/office/powerpoint/2010/main" val="3983371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E6E459D-A14A-8D47-9B60-CDE3155F94A2}"/>
              </a:ext>
            </a:extLst>
          </p:cNvPr>
          <p:cNvSpPr/>
          <p:nvPr/>
        </p:nvSpPr>
        <p:spPr>
          <a:xfrm>
            <a:off x="1179728" y="3884275"/>
            <a:ext cx="1460876" cy="4747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AB645AC-4E2B-6147-9F00-DDC2F5DDEE61}"/>
              </a:ext>
            </a:extLst>
          </p:cNvPr>
          <p:cNvSpPr/>
          <p:nvPr/>
        </p:nvSpPr>
        <p:spPr>
          <a:xfrm>
            <a:off x="1224698" y="2876244"/>
            <a:ext cx="1460876" cy="4747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8AA8A5B-1C4E-6442-9219-F0FB1EEA604B}"/>
              </a:ext>
            </a:extLst>
          </p:cNvPr>
          <p:cNvSpPr>
            <a:spLocks noGrp="1"/>
          </p:cNvSpPr>
          <p:nvPr>
            <p:ph type="title"/>
          </p:nvPr>
        </p:nvSpPr>
        <p:spPr/>
        <p:txBody>
          <a:bodyPr>
            <a:normAutofit/>
          </a:bodyPr>
          <a:lstStyle/>
          <a:p>
            <a:r>
              <a:rPr lang="en-ZA" sz="2800" dirty="0"/>
              <a:t>QSDC with Channel Security Testing</a:t>
            </a:r>
            <a:endParaRPr lang="en-US" sz="2600" dirty="0"/>
          </a:p>
        </p:txBody>
      </p:sp>
      <p:grpSp>
        <p:nvGrpSpPr>
          <p:cNvPr id="3" name="Group 2">
            <a:extLst>
              <a:ext uri="{FF2B5EF4-FFF2-40B4-BE49-F238E27FC236}">
                <a16:creationId xmlns:a16="http://schemas.microsoft.com/office/drawing/2014/main" id="{44273D77-A93B-834E-96DB-BFEEDF5E74E0}"/>
              </a:ext>
            </a:extLst>
          </p:cNvPr>
          <p:cNvGrpSpPr/>
          <p:nvPr/>
        </p:nvGrpSpPr>
        <p:grpSpPr>
          <a:xfrm>
            <a:off x="1483066" y="2410998"/>
            <a:ext cx="865113" cy="360000"/>
            <a:chOff x="1500995" y="2070340"/>
            <a:chExt cx="865113" cy="360000"/>
          </a:xfrm>
        </p:grpSpPr>
        <p:sp>
          <p:nvSpPr>
            <p:cNvPr id="2" name="Oval 1">
              <a:extLst>
                <a:ext uri="{FF2B5EF4-FFF2-40B4-BE49-F238E27FC236}">
                  <a16:creationId xmlns:a16="http://schemas.microsoft.com/office/drawing/2014/main" id="{80F32256-4D7F-C948-9CB4-086776C2FC09}"/>
                </a:ext>
              </a:extLst>
            </p:cNvPr>
            <p:cNvSpPr/>
            <p:nvPr/>
          </p:nvSpPr>
          <p:spPr>
            <a:xfrm>
              <a:off x="1500995"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F146102-C104-344C-A120-1D465E0FCBA3}"/>
                </a:ext>
              </a:extLst>
            </p:cNvPr>
            <p:cNvSpPr/>
            <p:nvPr/>
          </p:nvSpPr>
          <p:spPr>
            <a:xfrm>
              <a:off x="2006108"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8F924F21-96C1-7D49-982A-AA501E72167B}"/>
              </a:ext>
            </a:extLst>
          </p:cNvPr>
          <p:cNvGrpSpPr/>
          <p:nvPr/>
        </p:nvGrpSpPr>
        <p:grpSpPr>
          <a:xfrm>
            <a:off x="1483066" y="2921214"/>
            <a:ext cx="865113" cy="360000"/>
            <a:chOff x="1500995" y="2070340"/>
            <a:chExt cx="865113" cy="360000"/>
          </a:xfrm>
        </p:grpSpPr>
        <p:sp>
          <p:nvSpPr>
            <p:cNvPr id="43" name="Oval 42">
              <a:extLst>
                <a:ext uri="{FF2B5EF4-FFF2-40B4-BE49-F238E27FC236}">
                  <a16:creationId xmlns:a16="http://schemas.microsoft.com/office/drawing/2014/main" id="{B91F56EE-89E4-944B-9091-7172C0FAA756}"/>
                </a:ext>
              </a:extLst>
            </p:cNvPr>
            <p:cNvSpPr/>
            <p:nvPr/>
          </p:nvSpPr>
          <p:spPr>
            <a:xfrm>
              <a:off x="1500995"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194B4FF-A944-304B-8D1B-5AB0F4BF6CDB}"/>
                </a:ext>
              </a:extLst>
            </p:cNvPr>
            <p:cNvSpPr/>
            <p:nvPr/>
          </p:nvSpPr>
          <p:spPr>
            <a:xfrm>
              <a:off x="2006108"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4E7B5117-FCDE-2A42-BB10-698307B9E968}"/>
              </a:ext>
            </a:extLst>
          </p:cNvPr>
          <p:cNvGrpSpPr/>
          <p:nvPr/>
        </p:nvGrpSpPr>
        <p:grpSpPr>
          <a:xfrm>
            <a:off x="1483066" y="3431430"/>
            <a:ext cx="865113" cy="360000"/>
            <a:chOff x="1500995" y="2070340"/>
            <a:chExt cx="865113" cy="360000"/>
          </a:xfrm>
        </p:grpSpPr>
        <p:sp>
          <p:nvSpPr>
            <p:cNvPr id="50" name="Oval 49">
              <a:extLst>
                <a:ext uri="{FF2B5EF4-FFF2-40B4-BE49-F238E27FC236}">
                  <a16:creationId xmlns:a16="http://schemas.microsoft.com/office/drawing/2014/main" id="{D12597BC-52E2-9247-B779-10679156AC3B}"/>
                </a:ext>
              </a:extLst>
            </p:cNvPr>
            <p:cNvSpPr/>
            <p:nvPr/>
          </p:nvSpPr>
          <p:spPr>
            <a:xfrm>
              <a:off x="1500995"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73532BCA-C702-ED40-91E4-3341FAC598D5}"/>
                </a:ext>
              </a:extLst>
            </p:cNvPr>
            <p:cNvSpPr/>
            <p:nvPr/>
          </p:nvSpPr>
          <p:spPr>
            <a:xfrm>
              <a:off x="2006108"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 name="Oval 68">
            <a:extLst>
              <a:ext uri="{FF2B5EF4-FFF2-40B4-BE49-F238E27FC236}">
                <a16:creationId xmlns:a16="http://schemas.microsoft.com/office/drawing/2014/main" id="{8A47B3E9-34B4-4D4A-9B89-209171C20C7F}"/>
              </a:ext>
            </a:extLst>
          </p:cNvPr>
          <p:cNvSpPr/>
          <p:nvPr/>
        </p:nvSpPr>
        <p:spPr>
          <a:xfrm>
            <a:off x="1483066" y="4962078"/>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BB84AFF-B263-BC40-BDF4-0687F012645B}"/>
              </a:ext>
            </a:extLst>
          </p:cNvPr>
          <p:cNvSpPr/>
          <p:nvPr/>
        </p:nvSpPr>
        <p:spPr>
          <a:xfrm>
            <a:off x="1988179" y="4962078"/>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F0B4D79-3B79-EF45-99EE-3DCE268354A8}"/>
              </a:ext>
            </a:extLst>
          </p:cNvPr>
          <p:cNvSpPr/>
          <p:nvPr/>
        </p:nvSpPr>
        <p:spPr>
          <a:xfrm>
            <a:off x="1558552" y="1675786"/>
            <a:ext cx="593432" cy="461665"/>
          </a:xfrm>
          <a:prstGeom prst="rect">
            <a:avLst/>
          </a:prstGeom>
        </p:spPr>
        <p:txBody>
          <a:bodyPr wrap="none">
            <a:spAutoFit/>
          </a:bodyPr>
          <a:lstStyle/>
          <a:p>
            <a:r>
              <a:rPr lang="en-US" sz="2400" dirty="0"/>
              <a:t>①</a:t>
            </a:r>
          </a:p>
        </p:txBody>
      </p:sp>
      <p:grpSp>
        <p:nvGrpSpPr>
          <p:cNvPr id="89" name="Group 88">
            <a:extLst>
              <a:ext uri="{FF2B5EF4-FFF2-40B4-BE49-F238E27FC236}">
                <a16:creationId xmlns:a16="http://schemas.microsoft.com/office/drawing/2014/main" id="{6377135D-DE9D-4D40-8F8B-FF3CEA4CAB23}"/>
              </a:ext>
            </a:extLst>
          </p:cNvPr>
          <p:cNvGrpSpPr/>
          <p:nvPr/>
        </p:nvGrpSpPr>
        <p:grpSpPr>
          <a:xfrm>
            <a:off x="1479782" y="3941646"/>
            <a:ext cx="865113" cy="360000"/>
            <a:chOff x="1500995" y="2070340"/>
            <a:chExt cx="865113" cy="360000"/>
          </a:xfrm>
        </p:grpSpPr>
        <p:sp>
          <p:nvSpPr>
            <p:cNvPr id="90" name="Oval 89">
              <a:extLst>
                <a:ext uri="{FF2B5EF4-FFF2-40B4-BE49-F238E27FC236}">
                  <a16:creationId xmlns:a16="http://schemas.microsoft.com/office/drawing/2014/main" id="{D6AD9935-85F0-B14A-B8D9-864663D1B561}"/>
                </a:ext>
              </a:extLst>
            </p:cNvPr>
            <p:cNvSpPr/>
            <p:nvPr/>
          </p:nvSpPr>
          <p:spPr>
            <a:xfrm>
              <a:off x="1500995"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04C17315-52D3-A04A-91E1-A138C14260EF}"/>
                </a:ext>
              </a:extLst>
            </p:cNvPr>
            <p:cNvSpPr/>
            <p:nvPr/>
          </p:nvSpPr>
          <p:spPr>
            <a:xfrm>
              <a:off x="2006108"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701C2AF-4843-F74A-93DE-E3A39B6A92CB}"/>
              </a:ext>
            </a:extLst>
          </p:cNvPr>
          <p:cNvGrpSpPr/>
          <p:nvPr/>
        </p:nvGrpSpPr>
        <p:grpSpPr>
          <a:xfrm>
            <a:off x="1856166" y="4422626"/>
            <a:ext cx="112288" cy="475842"/>
            <a:chOff x="1874095" y="4081968"/>
            <a:chExt cx="112288" cy="475842"/>
          </a:xfrm>
        </p:grpSpPr>
        <p:sp>
          <p:nvSpPr>
            <p:cNvPr id="98" name="Oval 97">
              <a:extLst>
                <a:ext uri="{FF2B5EF4-FFF2-40B4-BE49-F238E27FC236}">
                  <a16:creationId xmlns:a16="http://schemas.microsoft.com/office/drawing/2014/main" id="{CF466E27-A039-DA43-978E-9B94D252005C}"/>
                </a:ext>
              </a:extLst>
            </p:cNvPr>
            <p:cNvSpPr>
              <a:spLocks noChangeAspect="1"/>
            </p:cNvSpPr>
            <p:nvPr/>
          </p:nvSpPr>
          <p:spPr>
            <a:xfrm>
              <a:off x="1874095" y="4081968"/>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DD7BFFE9-938E-0F41-8DD1-2FB3A58E716C}"/>
                </a:ext>
              </a:extLst>
            </p:cNvPr>
            <p:cNvSpPr>
              <a:spLocks noChangeAspect="1"/>
            </p:cNvSpPr>
            <p:nvPr/>
          </p:nvSpPr>
          <p:spPr>
            <a:xfrm>
              <a:off x="1876239" y="4265889"/>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D87D61A8-D438-E747-B875-3EA71C93A851}"/>
                </a:ext>
              </a:extLst>
            </p:cNvPr>
            <p:cNvSpPr>
              <a:spLocks noChangeAspect="1"/>
            </p:cNvSpPr>
            <p:nvPr/>
          </p:nvSpPr>
          <p:spPr>
            <a:xfrm>
              <a:off x="1878383" y="4449810"/>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 name="Slide Number Placeholder 2">
            <a:extLst>
              <a:ext uri="{FF2B5EF4-FFF2-40B4-BE49-F238E27FC236}">
                <a16:creationId xmlns:a16="http://schemas.microsoft.com/office/drawing/2014/main" id="{517DFCC9-D45F-0745-B0A7-159DBB86DDF5}"/>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26</a:t>
            </a:fld>
            <a:endParaRPr lang="en-US"/>
          </a:p>
        </p:txBody>
      </p:sp>
      <p:pic>
        <p:nvPicPr>
          <p:cNvPr id="124" name="Picture 123">
            <a:extLst>
              <a:ext uri="{FF2B5EF4-FFF2-40B4-BE49-F238E27FC236}">
                <a16:creationId xmlns:a16="http://schemas.microsoft.com/office/drawing/2014/main" id="{090A59EA-3DE4-7F45-AC25-97C7EF6987B9}"/>
              </a:ext>
            </a:extLst>
          </p:cNvPr>
          <p:cNvPicPr>
            <a:picLocks noChangeAspect="1"/>
          </p:cNvPicPr>
          <p:nvPr/>
        </p:nvPicPr>
        <p:blipFill>
          <a:blip r:embed="rId3"/>
          <a:stretch>
            <a:fillRect/>
          </a:stretch>
        </p:blipFill>
        <p:spPr>
          <a:xfrm>
            <a:off x="471696" y="1860867"/>
            <a:ext cx="565292" cy="870767"/>
          </a:xfrm>
          <a:prstGeom prst="rect">
            <a:avLst/>
          </a:prstGeom>
        </p:spPr>
      </p:pic>
      <p:grpSp>
        <p:nvGrpSpPr>
          <p:cNvPr id="17" name="Group 16">
            <a:extLst>
              <a:ext uri="{FF2B5EF4-FFF2-40B4-BE49-F238E27FC236}">
                <a16:creationId xmlns:a16="http://schemas.microsoft.com/office/drawing/2014/main" id="{6E909F98-BF97-424D-B2CC-781344EE111D}"/>
              </a:ext>
            </a:extLst>
          </p:cNvPr>
          <p:cNvGrpSpPr/>
          <p:nvPr/>
        </p:nvGrpSpPr>
        <p:grpSpPr>
          <a:xfrm>
            <a:off x="8662965" y="1146828"/>
            <a:ext cx="2717798" cy="4750611"/>
            <a:chOff x="8662965" y="1146828"/>
            <a:chExt cx="2717798" cy="4750611"/>
          </a:xfrm>
        </p:grpSpPr>
        <p:grpSp>
          <p:nvGrpSpPr>
            <p:cNvPr id="14" name="Group 13">
              <a:extLst>
                <a:ext uri="{FF2B5EF4-FFF2-40B4-BE49-F238E27FC236}">
                  <a16:creationId xmlns:a16="http://schemas.microsoft.com/office/drawing/2014/main" id="{4204E074-DC3D-F049-B63B-9DB5D2264526}"/>
                </a:ext>
              </a:extLst>
            </p:cNvPr>
            <p:cNvGrpSpPr/>
            <p:nvPr/>
          </p:nvGrpSpPr>
          <p:grpSpPr>
            <a:xfrm>
              <a:off x="8662965" y="1659902"/>
              <a:ext cx="2592870" cy="4237537"/>
              <a:chOff x="8662965" y="1659902"/>
              <a:chExt cx="2592870" cy="4237537"/>
            </a:xfrm>
          </p:grpSpPr>
          <p:grpSp>
            <p:nvGrpSpPr>
              <p:cNvPr id="84" name="Group 83">
                <a:extLst>
                  <a:ext uri="{FF2B5EF4-FFF2-40B4-BE49-F238E27FC236}">
                    <a16:creationId xmlns:a16="http://schemas.microsoft.com/office/drawing/2014/main" id="{ACD83BAE-CB17-4B40-A020-4149A4D98D02}"/>
                  </a:ext>
                </a:extLst>
              </p:cNvPr>
              <p:cNvGrpSpPr/>
              <p:nvPr/>
            </p:nvGrpSpPr>
            <p:grpSpPr>
              <a:xfrm>
                <a:off x="10376623" y="4935865"/>
                <a:ext cx="865113" cy="360000"/>
                <a:chOff x="3334141" y="2070340"/>
                <a:chExt cx="865113" cy="360000"/>
              </a:xfrm>
            </p:grpSpPr>
            <p:sp>
              <p:nvSpPr>
                <p:cNvPr id="85" name="Oval 84">
                  <a:extLst>
                    <a:ext uri="{FF2B5EF4-FFF2-40B4-BE49-F238E27FC236}">
                      <a16:creationId xmlns:a16="http://schemas.microsoft.com/office/drawing/2014/main" id="{78E772E6-7C50-CD4A-8009-3BD38D8FD83C}"/>
                    </a:ext>
                  </a:extLst>
                </p:cNvPr>
                <p:cNvSpPr/>
                <p:nvPr/>
              </p:nvSpPr>
              <p:spPr>
                <a:xfrm>
                  <a:off x="3334141"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8906FD95-ED5E-B248-9895-54D18FB368C1}"/>
                    </a:ext>
                  </a:extLst>
                </p:cNvPr>
                <p:cNvSpPr/>
                <p:nvPr/>
              </p:nvSpPr>
              <p:spPr>
                <a:xfrm>
                  <a:off x="3839254"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a:extLst>
                  <a:ext uri="{FF2B5EF4-FFF2-40B4-BE49-F238E27FC236}">
                    <a16:creationId xmlns:a16="http://schemas.microsoft.com/office/drawing/2014/main" id="{E322841E-BBEC-7F48-8221-B6CC36949C2F}"/>
                  </a:ext>
                </a:extLst>
              </p:cNvPr>
              <p:cNvGrpSpPr/>
              <p:nvPr/>
            </p:nvGrpSpPr>
            <p:grpSpPr>
              <a:xfrm>
                <a:off x="10390722" y="3395645"/>
                <a:ext cx="865113" cy="360000"/>
                <a:chOff x="3334141" y="2070340"/>
                <a:chExt cx="865113" cy="360000"/>
              </a:xfrm>
            </p:grpSpPr>
            <p:sp>
              <p:nvSpPr>
                <p:cNvPr id="80" name="Oval 79">
                  <a:extLst>
                    <a:ext uri="{FF2B5EF4-FFF2-40B4-BE49-F238E27FC236}">
                      <a16:creationId xmlns:a16="http://schemas.microsoft.com/office/drawing/2014/main" id="{2FA42828-62C0-AD4F-A8AB-67FDBF43977B}"/>
                    </a:ext>
                  </a:extLst>
                </p:cNvPr>
                <p:cNvSpPr/>
                <p:nvPr/>
              </p:nvSpPr>
              <p:spPr>
                <a:xfrm>
                  <a:off x="3334141"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9230FABD-E953-0E43-B2B7-54DE28711E30}"/>
                    </a:ext>
                  </a:extLst>
                </p:cNvPr>
                <p:cNvSpPr/>
                <p:nvPr/>
              </p:nvSpPr>
              <p:spPr>
                <a:xfrm>
                  <a:off x="3839254"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B06C7928-AAF4-214F-A362-978874A4C880}"/>
                  </a:ext>
                </a:extLst>
              </p:cNvPr>
              <p:cNvGrpSpPr/>
              <p:nvPr/>
            </p:nvGrpSpPr>
            <p:grpSpPr>
              <a:xfrm>
                <a:off x="10384537" y="2371634"/>
                <a:ext cx="865113" cy="360000"/>
                <a:chOff x="3334141" y="2070340"/>
                <a:chExt cx="865113" cy="360000"/>
              </a:xfrm>
            </p:grpSpPr>
            <p:sp>
              <p:nvSpPr>
                <p:cNvPr id="75" name="Oval 74">
                  <a:extLst>
                    <a:ext uri="{FF2B5EF4-FFF2-40B4-BE49-F238E27FC236}">
                      <a16:creationId xmlns:a16="http://schemas.microsoft.com/office/drawing/2014/main" id="{488B1CA3-A184-544E-B11E-66E37ABA35F2}"/>
                    </a:ext>
                  </a:extLst>
                </p:cNvPr>
                <p:cNvSpPr/>
                <p:nvPr/>
              </p:nvSpPr>
              <p:spPr>
                <a:xfrm>
                  <a:off x="3334141"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0359EE36-F1D5-324D-9FDD-4583DABBC93C}"/>
                    </a:ext>
                  </a:extLst>
                </p:cNvPr>
                <p:cNvSpPr/>
                <p:nvPr/>
              </p:nvSpPr>
              <p:spPr>
                <a:xfrm>
                  <a:off x="3839254"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3" name="Straight Connector 122">
                <a:extLst>
                  <a:ext uri="{FF2B5EF4-FFF2-40B4-BE49-F238E27FC236}">
                    <a16:creationId xmlns:a16="http://schemas.microsoft.com/office/drawing/2014/main" id="{7A1D37A9-DCF2-314C-AFB8-CA3D02E47555}"/>
                  </a:ext>
                </a:extLst>
              </p:cNvPr>
              <p:cNvCxnSpPr>
                <a:cxnSpLocks/>
              </p:cNvCxnSpPr>
              <p:nvPr/>
            </p:nvCxnSpPr>
            <p:spPr>
              <a:xfrm>
                <a:off x="8662965" y="1778817"/>
                <a:ext cx="0" cy="4118622"/>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48DE09CD-4CE3-6743-895C-6B48921054F6}"/>
                  </a:ext>
                </a:extLst>
              </p:cNvPr>
              <p:cNvSpPr/>
              <p:nvPr/>
            </p:nvSpPr>
            <p:spPr>
              <a:xfrm>
                <a:off x="9402469" y="2395114"/>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F918895F-D5C0-EA4B-98BD-4F0B6E45DC9E}"/>
                  </a:ext>
                </a:extLst>
              </p:cNvPr>
              <p:cNvSpPr/>
              <p:nvPr/>
            </p:nvSpPr>
            <p:spPr>
              <a:xfrm>
                <a:off x="9402469" y="3415546"/>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3866554-AFF5-9845-82C9-1FE347710AC6}"/>
                  </a:ext>
                </a:extLst>
              </p:cNvPr>
              <p:cNvSpPr/>
              <p:nvPr/>
            </p:nvSpPr>
            <p:spPr>
              <a:xfrm>
                <a:off x="9402469" y="4946194"/>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FE608CC-7311-474A-A29A-1F37869C3C94}"/>
                  </a:ext>
                </a:extLst>
              </p:cNvPr>
              <p:cNvSpPr/>
              <p:nvPr/>
            </p:nvSpPr>
            <p:spPr>
              <a:xfrm>
                <a:off x="9878785" y="1659902"/>
                <a:ext cx="593432" cy="461665"/>
              </a:xfrm>
              <a:prstGeom prst="rect">
                <a:avLst/>
              </a:prstGeom>
            </p:spPr>
            <p:txBody>
              <a:bodyPr wrap="none">
                <a:spAutoFit/>
              </a:bodyPr>
              <a:lstStyle/>
              <a:p>
                <a:r>
                  <a:rPr lang="en-US" sz="2400" dirty="0"/>
                  <a:t>④</a:t>
                </a:r>
              </a:p>
            </p:txBody>
          </p:sp>
          <p:grpSp>
            <p:nvGrpSpPr>
              <p:cNvPr id="8" name="Group 7">
                <a:extLst>
                  <a:ext uri="{FF2B5EF4-FFF2-40B4-BE49-F238E27FC236}">
                    <a16:creationId xmlns:a16="http://schemas.microsoft.com/office/drawing/2014/main" id="{8B9E0057-DEF7-B047-86B5-A9C4C36F3736}"/>
                  </a:ext>
                </a:extLst>
              </p:cNvPr>
              <p:cNvGrpSpPr/>
              <p:nvPr/>
            </p:nvGrpSpPr>
            <p:grpSpPr>
              <a:xfrm>
                <a:off x="9878785" y="2575114"/>
                <a:ext cx="449353" cy="2574434"/>
                <a:chOff x="9896714" y="2234456"/>
                <a:chExt cx="814784" cy="2574434"/>
              </a:xfrm>
            </p:grpSpPr>
            <p:cxnSp>
              <p:nvCxnSpPr>
                <p:cNvPr id="137" name="Straight Arrow Connector 136">
                  <a:extLst>
                    <a:ext uri="{FF2B5EF4-FFF2-40B4-BE49-F238E27FC236}">
                      <a16:creationId xmlns:a16="http://schemas.microsoft.com/office/drawing/2014/main" id="{EC017E06-53C2-3946-8F8D-C0E258BA3B58}"/>
                    </a:ext>
                  </a:extLst>
                </p:cNvPr>
                <p:cNvCxnSpPr>
                  <a:cxnSpLocks/>
                </p:cNvCxnSpPr>
                <p:nvPr/>
              </p:nvCxnSpPr>
              <p:spPr>
                <a:xfrm>
                  <a:off x="9952374" y="2234456"/>
                  <a:ext cx="75912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E61C97C7-F38F-494F-8F76-29640F3E7799}"/>
                    </a:ext>
                  </a:extLst>
                </p:cNvPr>
                <p:cNvCxnSpPr>
                  <a:cxnSpLocks/>
                </p:cNvCxnSpPr>
                <p:nvPr/>
              </p:nvCxnSpPr>
              <p:spPr>
                <a:xfrm>
                  <a:off x="9952374" y="4808890"/>
                  <a:ext cx="75912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E0AC888D-C05C-DF45-9C8C-2DC9CDF78D16}"/>
                    </a:ext>
                  </a:extLst>
                </p:cNvPr>
                <p:cNvCxnSpPr>
                  <a:cxnSpLocks/>
                </p:cNvCxnSpPr>
                <p:nvPr/>
              </p:nvCxnSpPr>
              <p:spPr>
                <a:xfrm>
                  <a:off x="9896714" y="3278242"/>
                  <a:ext cx="75912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95" name="Oval 94">
                <a:extLst>
                  <a:ext uri="{FF2B5EF4-FFF2-40B4-BE49-F238E27FC236}">
                    <a16:creationId xmlns:a16="http://schemas.microsoft.com/office/drawing/2014/main" id="{A6DF0DB5-B00E-4849-84BC-714119654438}"/>
                  </a:ext>
                </a:extLst>
              </p:cNvPr>
              <p:cNvSpPr/>
              <p:nvPr/>
            </p:nvSpPr>
            <p:spPr>
              <a:xfrm>
                <a:off x="8893588" y="4946194"/>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AB0902B-38CC-4343-8910-20CDF6C8FA92}"/>
                  </a:ext>
                </a:extLst>
              </p:cNvPr>
              <p:cNvSpPr/>
              <p:nvPr/>
            </p:nvSpPr>
            <p:spPr>
              <a:xfrm>
                <a:off x="8893588" y="3424693"/>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77929FC8-DF89-4E41-B9D4-53DFBE087A00}"/>
                  </a:ext>
                </a:extLst>
              </p:cNvPr>
              <p:cNvSpPr/>
              <p:nvPr/>
            </p:nvSpPr>
            <p:spPr>
              <a:xfrm>
                <a:off x="8893588" y="2407936"/>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 name="Group 105">
                <a:extLst>
                  <a:ext uri="{FF2B5EF4-FFF2-40B4-BE49-F238E27FC236}">
                    <a16:creationId xmlns:a16="http://schemas.microsoft.com/office/drawing/2014/main" id="{D425D3A6-A0E0-C743-8196-CF3C2860A5D7}"/>
                  </a:ext>
                </a:extLst>
              </p:cNvPr>
              <p:cNvGrpSpPr/>
              <p:nvPr/>
            </p:nvGrpSpPr>
            <p:grpSpPr>
              <a:xfrm>
                <a:off x="9299722" y="4122949"/>
                <a:ext cx="112288" cy="475842"/>
                <a:chOff x="1874095" y="4081968"/>
                <a:chExt cx="112288" cy="475842"/>
              </a:xfrm>
            </p:grpSpPr>
            <p:sp>
              <p:nvSpPr>
                <p:cNvPr id="107" name="Oval 106">
                  <a:extLst>
                    <a:ext uri="{FF2B5EF4-FFF2-40B4-BE49-F238E27FC236}">
                      <a16:creationId xmlns:a16="http://schemas.microsoft.com/office/drawing/2014/main" id="{845099D6-68B7-3443-BB5A-E756CADBD6FF}"/>
                    </a:ext>
                  </a:extLst>
                </p:cNvPr>
                <p:cNvSpPr>
                  <a:spLocks noChangeAspect="1"/>
                </p:cNvSpPr>
                <p:nvPr/>
              </p:nvSpPr>
              <p:spPr>
                <a:xfrm>
                  <a:off x="1874095" y="4081968"/>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A6D49B5-B839-3846-B026-2CA77D26AC12}"/>
                    </a:ext>
                  </a:extLst>
                </p:cNvPr>
                <p:cNvSpPr>
                  <a:spLocks noChangeAspect="1"/>
                </p:cNvSpPr>
                <p:nvPr/>
              </p:nvSpPr>
              <p:spPr>
                <a:xfrm>
                  <a:off x="1876239" y="4265889"/>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7A0B9CFE-D610-0046-A281-5DAF903372BB}"/>
                    </a:ext>
                  </a:extLst>
                </p:cNvPr>
                <p:cNvSpPr>
                  <a:spLocks noChangeAspect="1"/>
                </p:cNvSpPr>
                <p:nvPr/>
              </p:nvSpPr>
              <p:spPr>
                <a:xfrm>
                  <a:off x="1878383" y="4449810"/>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94" name="Picture 93">
              <a:extLst>
                <a:ext uri="{FF2B5EF4-FFF2-40B4-BE49-F238E27FC236}">
                  <a16:creationId xmlns:a16="http://schemas.microsoft.com/office/drawing/2014/main" id="{2A1944BB-6FBD-8A42-9FBA-3398C0FFED38}"/>
                </a:ext>
              </a:extLst>
            </p:cNvPr>
            <p:cNvPicPr>
              <a:picLocks noChangeAspect="1"/>
            </p:cNvPicPr>
            <p:nvPr/>
          </p:nvPicPr>
          <p:blipFill>
            <a:blip r:embed="rId4"/>
            <a:stretch>
              <a:fillRect/>
            </a:stretch>
          </p:blipFill>
          <p:spPr>
            <a:xfrm>
              <a:off x="10676616" y="1146828"/>
              <a:ext cx="704147" cy="1042967"/>
            </a:xfrm>
            <a:prstGeom prst="rect">
              <a:avLst/>
            </a:prstGeom>
          </p:spPr>
        </p:pic>
        <p:pic>
          <p:nvPicPr>
            <p:cNvPr id="128" name="Picture 127">
              <a:extLst>
                <a:ext uri="{FF2B5EF4-FFF2-40B4-BE49-F238E27FC236}">
                  <a16:creationId xmlns:a16="http://schemas.microsoft.com/office/drawing/2014/main" id="{5A126D97-7EEB-D44C-8F81-ECEAEF68EC7A}"/>
                </a:ext>
              </a:extLst>
            </p:cNvPr>
            <p:cNvPicPr>
              <a:picLocks noChangeAspect="1"/>
            </p:cNvPicPr>
            <p:nvPr/>
          </p:nvPicPr>
          <p:blipFill>
            <a:blip r:embed="rId3"/>
            <a:stretch>
              <a:fillRect/>
            </a:stretch>
          </p:blipFill>
          <p:spPr>
            <a:xfrm>
              <a:off x="8889936" y="1399128"/>
              <a:ext cx="565292" cy="870767"/>
            </a:xfrm>
            <a:prstGeom prst="rect">
              <a:avLst/>
            </a:prstGeom>
          </p:spPr>
        </p:pic>
      </p:grpSp>
      <p:grpSp>
        <p:nvGrpSpPr>
          <p:cNvPr id="18" name="Group 17">
            <a:extLst>
              <a:ext uri="{FF2B5EF4-FFF2-40B4-BE49-F238E27FC236}">
                <a16:creationId xmlns:a16="http://schemas.microsoft.com/office/drawing/2014/main" id="{905BF806-4DF1-0349-AFA8-94425DDA083B}"/>
              </a:ext>
            </a:extLst>
          </p:cNvPr>
          <p:cNvGrpSpPr/>
          <p:nvPr/>
        </p:nvGrpSpPr>
        <p:grpSpPr>
          <a:xfrm>
            <a:off x="2777028" y="1248437"/>
            <a:ext cx="3037547" cy="4699392"/>
            <a:chOff x="2777028" y="1248437"/>
            <a:chExt cx="3037547" cy="4699392"/>
          </a:xfrm>
        </p:grpSpPr>
        <p:grpSp>
          <p:nvGrpSpPr>
            <p:cNvPr id="11" name="Group 10">
              <a:extLst>
                <a:ext uri="{FF2B5EF4-FFF2-40B4-BE49-F238E27FC236}">
                  <a16:creationId xmlns:a16="http://schemas.microsoft.com/office/drawing/2014/main" id="{0A0F8698-41E5-EC4A-A322-91652EE48B2B}"/>
                </a:ext>
              </a:extLst>
            </p:cNvPr>
            <p:cNvGrpSpPr/>
            <p:nvPr/>
          </p:nvGrpSpPr>
          <p:grpSpPr>
            <a:xfrm>
              <a:off x="2777028" y="1420637"/>
              <a:ext cx="2883564" cy="4527192"/>
              <a:chOff x="2777028" y="1420637"/>
              <a:chExt cx="2883564" cy="4527192"/>
            </a:xfrm>
          </p:grpSpPr>
          <p:grpSp>
            <p:nvGrpSpPr>
              <p:cNvPr id="10" name="Group 9">
                <a:extLst>
                  <a:ext uri="{FF2B5EF4-FFF2-40B4-BE49-F238E27FC236}">
                    <a16:creationId xmlns:a16="http://schemas.microsoft.com/office/drawing/2014/main" id="{56E70D8F-556E-FF46-9101-4AD937E8F078}"/>
                  </a:ext>
                </a:extLst>
              </p:cNvPr>
              <p:cNvGrpSpPr/>
              <p:nvPr/>
            </p:nvGrpSpPr>
            <p:grpSpPr>
              <a:xfrm>
                <a:off x="2777028" y="1675786"/>
                <a:ext cx="2883564" cy="4272043"/>
                <a:chOff x="2777028" y="1675786"/>
                <a:chExt cx="2883564" cy="4272043"/>
              </a:xfrm>
            </p:grpSpPr>
            <p:sp>
              <p:nvSpPr>
                <p:cNvPr id="64" name="Rectangle 63">
                  <a:extLst>
                    <a:ext uri="{FF2B5EF4-FFF2-40B4-BE49-F238E27FC236}">
                      <a16:creationId xmlns:a16="http://schemas.microsoft.com/office/drawing/2014/main" id="{42C50330-8575-2D47-84A6-109D56ABBBA6}"/>
                    </a:ext>
                  </a:extLst>
                </p:cNvPr>
                <p:cNvSpPr/>
                <p:nvPr/>
              </p:nvSpPr>
              <p:spPr>
                <a:xfrm>
                  <a:off x="2994645" y="3856521"/>
                  <a:ext cx="1460876" cy="4747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3188B1AA-B436-E54E-B71E-1BA33BDF64A2}"/>
                    </a:ext>
                  </a:extLst>
                </p:cNvPr>
                <p:cNvSpPr/>
                <p:nvPr/>
              </p:nvSpPr>
              <p:spPr>
                <a:xfrm>
                  <a:off x="3039615" y="2848490"/>
                  <a:ext cx="1460876" cy="47474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6CD7767-746E-AC4A-912E-624FFD74D5A8}"/>
                    </a:ext>
                  </a:extLst>
                </p:cNvPr>
                <p:cNvCxnSpPr>
                  <a:cxnSpLocks/>
                </p:cNvCxnSpPr>
                <p:nvPr/>
              </p:nvCxnSpPr>
              <p:spPr>
                <a:xfrm>
                  <a:off x="2777028" y="1829207"/>
                  <a:ext cx="0" cy="4118622"/>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A00E5406-DC95-084F-B517-EB6CC2A7ADE6}"/>
                    </a:ext>
                  </a:extLst>
                </p:cNvPr>
                <p:cNvGrpSpPr/>
                <p:nvPr/>
              </p:nvGrpSpPr>
              <p:grpSpPr>
                <a:xfrm>
                  <a:off x="3316212" y="2410998"/>
                  <a:ext cx="865113" cy="360000"/>
                  <a:chOff x="3334141" y="2070340"/>
                  <a:chExt cx="865113" cy="360000"/>
                </a:xfrm>
              </p:grpSpPr>
              <p:sp>
                <p:nvSpPr>
                  <p:cNvPr id="72" name="Oval 71">
                    <a:extLst>
                      <a:ext uri="{FF2B5EF4-FFF2-40B4-BE49-F238E27FC236}">
                        <a16:creationId xmlns:a16="http://schemas.microsoft.com/office/drawing/2014/main" id="{7E932A0C-017B-A044-9B09-EDEA6427683D}"/>
                      </a:ext>
                    </a:extLst>
                  </p:cNvPr>
                  <p:cNvSpPr/>
                  <p:nvPr/>
                </p:nvSpPr>
                <p:spPr>
                  <a:xfrm>
                    <a:off x="3334141" y="207034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8FF67C1-EDE9-314E-952E-5DAE2AA4B8C3}"/>
                      </a:ext>
                    </a:extLst>
                  </p:cNvPr>
                  <p:cNvSpPr/>
                  <p:nvPr/>
                </p:nvSpPr>
                <p:spPr>
                  <a:xfrm>
                    <a:off x="3839254" y="207034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Oval 77">
                  <a:extLst>
                    <a:ext uri="{FF2B5EF4-FFF2-40B4-BE49-F238E27FC236}">
                      <a16:creationId xmlns:a16="http://schemas.microsoft.com/office/drawing/2014/main" id="{BF28DF2A-4F9B-9248-9C66-7205BF76F8AB}"/>
                    </a:ext>
                  </a:extLst>
                </p:cNvPr>
                <p:cNvSpPr/>
                <p:nvPr/>
              </p:nvSpPr>
              <p:spPr>
                <a:xfrm>
                  <a:off x="3316212" y="2921214"/>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6FC83C9-0307-0941-8A4E-8689FD3B252A}"/>
                    </a:ext>
                  </a:extLst>
                </p:cNvPr>
                <p:cNvSpPr/>
                <p:nvPr/>
              </p:nvSpPr>
              <p:spPr>
                <a:xfrm>
                  <a:off x="3316212" y="3431430"/>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7BD9A299-3B97-0944-A500-AB8D38EBE4C2}"/>
                    </a:ext>
                  </a:extLst>
                </p:cNvPr>
                <p:cNvSpPr/>
                <p:nvPr/>
              </p:nvSpPr>
              <p:spPr>
                <a:xfrm>
                  <a:off x="3821325" y="343143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916DE9E9-0C94-E142-9007-F3AAE76BC8C4}"/>
                    </a:ext>
                  </a:extLst>
                </p:cNvPr>
                <p:cNvSpPr/>
                <p:nvPr/>
              </p:nvSpPr>
              <p:spPr>
                <a:xfrm>
                  <a:off x="3316212" y="4962078"/>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A71987D1-6BA1-A245-B883-1F5BDB3C1EDE}"/>
                    </a:ext>
                  </a:extLst>
                </p:cNvPr>
                <p:cNvSpPr/>
                <p:nvPr/>
              </p:nvSpPr>
              <p:spPr>
                <a:xfrm>
                  <a:off x="3821325" y="4962078"/>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C21D8281-F59D-4843-957D-65C79F83C6F5}"/>
                    </a:ext>
                  </a:extLst>
                </p:cNvPr>
                <p:cNvSpPr/>
                <p:nvPr/>
              </p:nvSpPr>
              <p:spPr>
                <a:xfrm>
                  <a:off x="4297641" y="1675786"/>
                  <a:ext cx="593432" cy="461665"/>
                </a:xfrm>
                <a:prstGeom prst="rect">
                  <a:avLst/>
                </a:prstGeom>
              </p:spPr>
              <p:txBody>
                <a:bodyPr wrap="none">
                  <a:spAutoFit/>
                </a:bodyPr>
                <a:lstStyle/>
                <a:p>
                  <a:r>
                    <a:rPr lang="en-US" sz="2400" dirty="0"/>
                    <a:t>②</a:t>
                  </a:r>
                </a:p>
              </p:txBody>
            </p:sp>
            <p:sp>
              <p:nvSpPr>
                <p:cNvPr id="93" name="Oval 92">
                  <a:extLst>
                    <a:ext uri="{FF2B5EF4-FFF2-40B4-BE49-F238E27FC236}">
                      <a16:creationId xmlns:a16="http://schemas.microsoft.com/office/drawing/2014/main" id="{3EAF0D51-EDC9-EB42-BCC0-97FF037F4FD2}"/>
                    </a:ext>
                  </a:extLst>
                </p:cNvPr>
                <p:cNvSpPr/>
                <p:nvPr/>
              </p:nvSpPr>
              <p:spPr>
                <a:xfrm>
                  <a:off x="3316212" y="3941646"/>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31520DC7-2C24-B740-8B67-79AA9E05FC91}"/>
                    </a:ext>
                  </a:extLst>
                </p:cNvPr>
                <p:cNvSpPr/>
                <p:nvPr/>
              </p:nvSpPr>
              <p:spPr>
                <a:xfrm>
                  <a:off x="5300592" y="2921214"/>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E443D627-71FE-8B40-8308-847BAF676C5D}"/>
                    </a:ext>
                  </a:extLst>
                </p:cNvPr>
                <p:cNvSpPr/>
                <p:nvPr/>
              </p:nvSpPr>
              <p:spPr>
                <a:xfrm>
                  <a:off x="5300592" y="39416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E4B68DFB-8168-C94B-8A01-734C10783367}"/>
                    </a:ext>
                  </a:extLst>
                </p:cNvPr>
                <p:cNvCxnSpPr>
                  <a:cxnSpLocks/>
                </p:cNvCxnSpPr>
                <p:nvPr/>
              </p:nvCxnSpPr>
              <p:spPr>
                <a:xfrm>
                  <a:off x="4353301" y="3101214"/>
                  <a:ext cx="75912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F88E1875-94B3-4848-85D7-EADC2B37F492}"/>
                    </a:ext>
                  </a:extLst>
                </p:cNvPr>
                <p:cNvCxnSpPr>
                  <a:cxnSpLocks/>
                </p:cNvCxnSpPr>
                <p:nvPr/>
              </p:nvCxnSpPr>
              <p:spPr>
                <a:xfrm>
                  <a:off x="4353301" y="4125973"/>
                  <a:ext cx="75912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48BCD71D-980E-C045-8EDC-83B51736F10B}"/>
                    </a:ext>
                  </a:extLst>
                </p:cNvPr>
                <p:cNvSpPr/>
                <p:nvPr/>
              </p:nvSpPr>
              <p:spPr>
                <a:xfrm>
                  <a:off x="3822601" y="2905860"/>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589BF4DD-31CF-9F46-A1D8-F5AC16C26B8E}"/>
                    </a:ext>
                  </a:extLst>
                </p:cNvPr>
                <p:cNvSpPr/>
                <p:nvPr/>
              </p:nvSpPr>
              <p:spPr>
                <a:xfrm>
                  <a:off x="3821325" y="3936405"/>
                  <a:ext cx="360000" cy="36000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a:extLst>
                    <a:ext uri="{FF2B5EF4-FFF2-40B4-BE49-F238E27FC236}">
                      <a16:creationId xmlns:a16="http://schemas.microsoft.com/office/drawing/2014/main" id="{175167C2-087F-524E-AEE8-C9477B88C034}"/>
                    </a:ext>
                  </a:extLst>
                </p:cNvPr>
                <p:cNvGrpSpPr/>
                <p:nvPr/>
              </p:nvGrpSpPr>
              <p:grpSpPr>
                <a:xfrm>
                  <a:off x="3712675" y="4425579"/>
                  <a:ext cx="112288" cy="475842"/>
                  <a:chOff x="1874095" y="4081968"/>
                  <a:chExt cx="112288" cy="475842"/>
                </a:xfrm>
              </p:grpSpPr>
              <p:sp>
                <p:nvSpPr>
                  <p:cNvPr id="103" name="Oval 102">
                    <a:extLst>
                      <a:ext uri="{FF2B5EF4-FFF2-40B4-BE49-F238E27FC236}">
                        <a16:creationId xmlns:a16="http://schemas.microsoft.com/office/drawing/2014/main" id="{6C261768-34A3-E941-8D05-F226268EBB00}"/>
                      </a:ext>
                    </a:extLst>
                  </p:cNvPr>
                  <p:cNvSpPr>
                    <a:spLocks noChangeAspect="1"/>
                  </p:cNvSpPr>
                  <p:nvPr/>
                </p:nvSpPr>
                <p:spPr>
                  <a:xfrm>
                    <a:off x="1874095" y="4081968"/>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8DA7623F-11DF-BE4E-9564-67B2FFF97023}"/>
                      </a:ext>
                    </a:extLst>
                  </p:cNvPr>
                  <p:cNvSpPr>
                    <a:spLocks noChangeAspect="1"/>
                  </p:cNvSpPr>
                  <p:nvPr/>
                </p:nvSpPr>
                <p:spPr>
                  <a:xfrm>
                    <a:off x="1876239" y="4265889"/>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1D980065-60AB-164A-BC8E-14B802FEE028}"/>
                      </a:ext>
                    </a:extLst>
                  </p:cNvPr>
                  <p:cNvSpPr>
                    <a:spLocks noChangeAspect="1"/>
                  </p:cNvSpPr>
                  <p:nvPr/>
                </p:nvSpPr>
                <p:spPr>
                  <a:xfrm>
                    <a:off x="1878383" y="4449810"/>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26" name="Picture 125">
                <a:extLst>
                  <a:ext uri="{FF2B5EF4-FFF2-40B4-BE49-F238E27FC236}">
                    <a16:creationId xmlns:a16="http://schemas.microsoft.com/office/drawing/2014/main" id="{FA6D6BFC-034C-2149-B6AA-B2192E426E04}"/>
                  </a:ext>
                </a:extLst>
              </p:cNvPr>
              <p:cNvPicPr>
                <a:picLocks noChangeAspect="1"/>
              </p:cNvPicPr>
              <p:nvPr/>
            </p:nvPicPr>
            <p:blipFill>
              <a:blip r:embed="rId3"/>
              <a:stretch>
                <a:fillRect/>
              </a:stretch>
            </p:blipFill>
            <p:spPr>
              <a:xfrm>
                <a:off x="3302066" y="1420637"/>
                <a:ext cx="565292" cy="870767"/>
              </a:xfrm>
              <a:prstGeom prst="rect">
                <a:avLst/>
              </a:prstGeom>
            </p:spPr>
          </p:pic>
        </p:grpSp>
        <p:pic>
          <p:nvPicPr>
            <p:cNvPr id="130" name="Picture 129">
              <a:extLst>
                <a:ext uri="{FF2B5EF4-FFF2-40B4-BE49-F238E27FC236}">
                  <a16:creationId xmlns:a16="http://schemas.microsoft.com/office/drawing/2014/main" id="{B6A80357-0532-8544-8EFD-FE462A87A81F}"/>
                </a:ext>
              </a:extLst>
            </p:cNvPr>
            <p:cNvPicPr>
              <a:picLocks noChangeAspect="1"/>
            </p:cNvPicPr>
            <p:nvPr/>
          </p:nvPicPr>
          <p:blipFill>
            <a:blip r:embed="rId4"/>
            <a:stretch>
              <a:fillRect/>
            </a:stretch>
          </p:blipFill>
          <p:spPr>
            <a:xfrm>
              <a:off x="5110428" y="1248437"/>
              <a:ext cx="704147" cy="1042967"/>
            </a:xfrm>
            <a:prstGeom prst="rect">
              <a:avLst/>
            </a:prstGeom>
          </p:spPr>
        </p:pic>
      </p:grpSp>
      <p:grpSp>
        <p:nvGrpSpPr>
          <p:cNvPr id="16" name="Group 15">
            <a:extLst>
              <a:ext uri="{FF2B5EF4-FFF2-40B4-BE49-F238E27FC236}">
                <a16:creationId xmlns:a16="http://schemas.microsoft.com/office/drawing/2014/main" id="{6673EAB6-823A-D247-AC6D-BB8776F22C84}"/>
              </a:ext>
            </a:extLst>
          </p:cNvPr>
          <p:cNvGrpSpPr/>
          <p:nvPr/>
        </p:nvGrpSpPr>
        <p:grpSpPr>
          <a:xfrm>
            <a:off x="6244128" y="1675785"/>
            <a:ext cx="2222946" cy="4243968"/>
            <a:chOff x="6244128" y="1675785"/>
            <a:chExt cx="2222946" cy="4243968"/>
          </a:xfrm>
        </p:grpSpPr>
        <p:grpSp>
          <p:nvGrpSpPr>
            <p:cNvPr id="15" name="Group 14">
              <a:extLst>
                <a:ext uri="{FF2B5EF4-FFF2-40B4-BE49-F238E27FC236}">
                  <a16:creationId xmlns:a16="http://schemas.microsoft.com/office/drawing/2014/main" id="{BAEB5DCE-F7C9-8841-8A17-6C04355D5AAE}"/>
                </a:ext>
              </a:extLst>
            </p:cNvPr>
            <p:cNvGrpSpPr/>
            <p:nvPr/>
          </p:nvGrpSpPr>
          <p:grpSpPr>
            <a:xfrm>
              <a:off x="6244128" y="1675785"/>
              <a:ext cx="1765127" cy="4243968"/>
              <a:chOff x="6244128" y="1675785"/>
              <a:chExt cx="1765127" cy="4243968"/>
            </a:xfrm>
          </p:grpSpPr>
          <p:grpSp>
            <p:nvGrpSpPr>
              <p:cNvPr id="12" name="Group 11">
                <a:extLst>
                  <a:ext uri="{FF2B5EF4-FFF2-40B4-BE49-F238E27FC236}">
                    <a16:creationId xmlns:a16="http://schemas.microsoft.com/office/drawing/2014/main" id="{91DC0EE6-6C05-D04B-9EDC-E56BE82BCBF0}"/>
                  </a:ext>
                </a:extLst>
              </p:cNvPr>
              <p:cNvGrpSpPr/>
              <p:nvPr/>
            </p:nvGrpSpPr>
            <p:grpSpPr>
              <a:xfrm>
                <a:off x="6244128" y="1675785"/>
                <a:ext cx="1765127" cy="4243968"/>
                <a:chOff x="6244128" y="1675785"/>
                <a:chExt cx="1765127" cy="4243968"/>
              </a:xfrm>
            </p:grpSpPr>
            <p:cxnSp>
              <p:nvCxnSpPr>
                <p:cNvPr id="117" name="Straight Connector 116">
                  <a:extLst>
                    <a:ext uri="{FF2B5EF4-FFF2-40B4-BE49-F238E27FC236}">
                      <a16:creationId xmlns:a16="http://schemas.microsoft.com/office/drawing/2014/main" id="{FDC75146-0FFD-9B46-AF27-19D4DA29C68E}"/>
                    </a:ext>
                  </a:extLst>
                </p:cNvPr>
                <p:cNvCxnSpPr>
                  <a:cxnSpLocks/>
                </p:cNvCxnSpPr>
                <p:nvPr/>
              </p:nvCxnSpPr>
              <p:spPr>
                <a:xfrm>
                  <a:off x="6244128" y="1801131"/>
                  <a:ext cx="0" cy="4118622"/>
                </a:xfrm>
                <a:prstGeom prst="line">
                  <a:avLst/>
                </a:prstGeom>
              </p:spPr>
              <p:style>
                <a:lnRef idx="1">
                  <a:schemeClr val="accent1"/>
                </a:lnRef>
                <a:fillRef idx="0">
                  <a:schemeClr val="accent1"/>
                </a:fillRef>
                <a:effectRef idx="0">
                  <a:schemeClr val="accent1"/>
                </a:effectRef>
                <a:fontRef idx="minor">
                  <a:schemeClr val="tx1"/>
                </a:fontRef>
              </p:style>
            </p:cxnSp>
            <p:pic>
              <p:nvPicPr>
                <p:cNvPr id="114" name="Picture 113">
                  <a:extLst>
                    <a:ext uri="{FF2B5EF4-FFF2-40B4-BE49-F238E27FC236}">
                      <a16:creationId xmlns:a16="http://schemas.microsoft.com/office/drawing/2014/main" id="{1026F5B8-A709-E24E-85CA-1378845BA9A3}"/>
                    </a:ext>
                  </a:extLst>
                </p:cNvPr>
                <p:cNvPicPr>
                  <a:picLocks noChangeAspect="1"/>
                </p:cNvPicPr>
                <p:nvPr/>
              </p:nvPicPr>
              <p:blipFill>
                <a:blip r:embed="rId5"/>
                <a:stretch>
                  <a:fillRect/>
                </a:stretch>
              </p:blipFill>
              <p:spPr>
                <a:xfrm>
                  <a:off x="7044250" y="2814803"/>
                  <a:ext cx="636119" cy="636119"/>
                </a:xfrm>
                <a:prstGeom prst="rect">
                  <a:avLst/>
                </a:prstGeom>
              </p:spPr>
            </p:pic>
            <p:sp>
              <p:nvSpPr>
                <p:cNvPr id="116" name="Freeform 115">
                  <a:extLst>
                    <a:ext uri="{FF2B5EF4-FFF2-40B4-BE49-F238E27FC236}">
                      <a16:creationId xmlns:a16="http://schemas.microsoft.com/office/drawing/2014/main" id="{4344B40C-DDAE-364A-BE89-1EF9CF8E2362}"/>
                    </a:ext>
                  </a:extLst>
                </p:cNvPr>
                <p:cNvSpPr/>
                <p:nvPr/>
              </p:nvSpPr>
              <p:spPr>
                <a:xfrm rot="5887996">
                  <a:off x="7097674" y="3193917"/>
                  <a:ext cx="714026" cy="1109137"/>
                </a:xfrm>
                <a:custGeom>
                  <a:avLst/>
                  <a:gdLst>
                    <a:gd name="connsiteX0" fmla="*/ 0 w 304800"/>
                    <a:gd name="connsiteY0" fmla="*/ 636501 h 1326162"/>
                    <a:gd name="connsiteX1" fmla="*/ 58615 w 304800"/>
                    <a:gd name="connsiteY1" fmla="*/ 21039 h 1326162"/>
                    <a:gd name="connsiteX2" fmla="*/ 228600 w 304800"/>
                    <a:gd name="connsiteY2" fmla="*/ 1316439 h 1326162"/>
                    <a:gd name="connsiteX3" fmla="*/ 304800 w 304800"/>
                    <a:gd name="connsiteY3" fmla="*/ 648224 h 1326162"/>
                    <a:gd name="connsiteX4" fmla="*/ 304800 w 304800"/>
                    <a:gd name="connsiteY4" fmla="*/ 648224 h 1326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326162">
                      <a:moveTo>
                        <a:pt x="0" y="636501"/>
                      </a:moveTo>
                      <a:cubicBezTo>
                        <a:pt x="10257" y="272108"/>
                        <a:pt x="20515" y="-92284"/>
                        <a:pt x="58615" y="21039"/>
                      </a:cubicBezTo>
                      <a:cubicBezTo>
                        <a:pt x="96715" y="134362"/>
                        <a:pt x="187569" y="1211908"/>
                        <a:pt x="228600" y="1316439"/>
                      </a:cubicBezTo>
                      <a:cubicBezTo>
                        <a:pt x="269631" y="1420970"/>
                        <a:pt x="304800" y="648224"/>
                        <a:pt x="304800" y="648224"/>
                      </a:cubicBezTo>
                      <a:lnTo>
                        <a:pt x="304800" y="648224"/>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Picture 117">
                  <a:extLst>
                    <a:ext uri="{FF2B5EF4-FFF2-40B4-BE49-F238E27FC236}">
                      <a16:creationId xmlns:a16="http://schemas.microsoft.com/office/drawing/2014/main" id="{43C89AE5-5503-D641-83DA-4D58ED79EE7A}"/>
                    </a:ext>
                  </a:extLst>
                </p:cNvPr>
                <p:cNvPicPr>
                  <a:picLocks noChangeAspect="1"/>
                </p:cNvPicPr>
                <p:nvPr/>
              </p:nvPicPr>
              <p:blipFill>
                <a:blip r:embed="rId5"/>
                <a:stretch>
                  <a:fillRect/>
                </a:stretch>
              </p:blipFill>
              <p:spPr>
                <a:xfrm>
                  <a:off x="7044249" y="4104567"/>
                  <a:ext cx="636119" cy="636119"/>
                </a:xfrm>
                <a:prstGeom prst="rect">
                  <a:avLst/>
                </a:prstGeom>
              </p:spPr>
            </p:pic>
            <p:sp>
              <p:nvSpPr>
                <p:cNvPr id="121" name="Rectangle 120">
                  <a:extLst>
                    <a:ext uri="{FF2B5EF4-FFF2-40B4-BE49-F238E27FC236}">
                      <a16:creationId xmlns:a16="http://schemas.microsoft.com/office/drawing/2014/main" id="{E8BBB134-F55B-964A-96B6-CBAE51D4AD66}"/>
                    </a:ext>
                  </a:extLst>
                </p:cNvPr>
                <p:cNvSpPr/>
                <p:nvPr/>
              </p:nvSpPr>
              <p:spPr>
                <a:xfrm>
                  <a:off x="6971590" y="1675785"/>
                  <a:ext cx="593432" cy="461665"/>
                </a:xfrm>
                <a:prstGeom prst="rect">
                  <a:avLst/>
                </a:prstGeom>
              </p:spPr>
              <p:txBody>
                <a:bodyPr wrap="none">
                  <a:spAutoFit/>
                </a:bodyPr>
                <a:lstStyle/>
                <a:p>
                  <a:r>
                    <a:rPr lang="en-US" sz="2400" dirty="0"/>
                    <a:t>③</a:t>
                  </a:r>
                </a:p>
              </p:txBody>
            </p:sp>
          </p:grpSp>
          <p:pic>
            <p:nvPicPr>
              <p:cNvPr id="127" name="Picture 126">
                <a:extLst>
                  <a:ext uri="{FF2B5EF4-FFF2-40B4-BE49-F238E27FC236}">
                    <a16:creationId xmlns:a16="http://schemas.microsoft.com/office/drawing/2014/main" id="{4674DD15-BCDB-5147-925B-55D924D3EF2A}"/>
                  </a:ext>
                </a:extLst>
              </p:cNvPr>
              <p:cNvPicPr>
                <a:picLocks noChangeAspect="1"/>
              </p:cNvPicPr>
              <p:nvPr/>
            </p:nvPicPr>
            <p:blipFill>
              <a:blip r:embed="rId3"/>
              <a:stretch>
                <a:fillRect/>
              </a:stretch>
            </p:blipFill>
            <p:spPr>
              <a:xfrm>
                <a:off x="6418340" y="2296250"/>
                <a:ext cx="565292" cy="870767"/>
              </a:xfrm>
              <a:prstGeom prst="rect">
                <a:avLst/>
              </a:prstGeom>
            </p:spPr>
          </p:pic>
        </p:grpSp>
        <p:pic>
          <p:nvPicPr>
            <p:cNvPr id="133" name="Picture 132">
              <a:extLst>
                <a:ext uri="{FF2B5EF4-FFF2-40B4-BE49-F238E27FC236}">
                  <a16:creationId xmlns:a16="http://schemas.microsoft.com/office/drawing/2014/main" id="{CC2A682F-7E33-8F41-9F8B-D6FCAB442518}"/>
                </a:ext>
              </a:extLst>
            </p:cNvPr>
            <p:cNvPicPr>
              <a:picLocks noChangeAspect="1"/>
            </p:cNvPicPr>
            <p:nvPr/>
          </p:nvPicPr>
          <p:blipFill>
            <a:blip r:embed="rId4"/>
            <a:stretch>
              <a:fillRect/>
            </a:stretch>
          </p:blipFill>
          <p:spPr>
            <a:xfrm>
              <a:off x="7762927" y="4598791"/>
              <a:ext cx="704147" cy="1042967"/>
            </a:xfrm>
            <a:prstGeom prst="rect">
              <a:avLst/>
            </a:prstGeom>
          </p:spPr>
        </p:pic>
      </p:grpSp>
    </p:spTree>
    <p:extLst>
      <p:ext uri="{BB962C8B-B14F-4D97-AF65-F5344CB8AC3E}">
        <p14:creationId xmlns:p14="http://schemas.microsoft.com/office/powerpoint/2010/main" val="19540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7369B357-29B5-504C-9015-30B4EC60C7E4}"/>
              </a:ext>
            </a:extLst>
          </p:cNvPr>
          <p:cNvCxnSpPr>
            <a:cxnSpLocks/>
            <a:stCxn id="82" idx="3"/>
            <a:endCxn id="90" idx="1"/>
          </p:cNvCxnSpPr>
          <p:nvPr/>
        </p:nvCxnSpPr>
        <p:spPr>
          <a:xfrm flipV="1">
            <a:off x="1462460" y="5656196"/>
            <a:ext cx="9392377" cy="31467"/>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AC33294-5EA5-604C-9B01-D9E64CB00624}"/>
              </a:ext>
            </a:extLst>
          </p:cNvPr>
          <p:cNvCxnSpPr>
            <a:cxnSpLocks/>
            <a:stCxn id="81" idx="3"/>
          </p:cNvCxnSpPr>
          <p:nvPr/>
        </p:nvCxnSpPr>
        <p:spPr>
          <a:xfrm flipV="1">
            <a:off x="1482281" y="3472505"/>
            <a:ext cx="2382765" cy="405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4E71AD76-A76A-424A-8599-EC71FB5D8C8E}"/>
              </a:ext>
            </a:extLst>
          </p:cNvPr>
          <p:cNvSpPr>
            <a:spLocks noGrp="1"/>
          </p:cNvSpPr>
          <p:nvPr>
            <p:ph type="sldNum" sz="quarter" idx="12"/>
          </p:nvPr>
        </p:nvSpPr>
        <p:spPr/>
        <p:txBody>
          <a:bodyPr/>
          <a:lstStyle/>
          <a:p>
            <a:fld id="{591A223C-FA10-BC46-A853-03BA373D023C}" type="slidenum">
              <a:rPr lang="en-US" smtClean="0"/>
              <a:t>27</a:t>
            </a:fld>
            <a:endParaRPr lang="en-US" dirty="0"/>
          </a:p>
        </p:txBody>
      </p:sp>
      <p:sp>
        <p:nvSpPr>
          <p:cNvPr id="4" name="Title 3">
            <a:extLst>
              <a:ext uri="{FF2B5EF4-FFF2-40B4-BE49-F238E27FC236}">
                <a16:creationId xmlns:a16="http://schemas.microsoft.com/office/drawing/2014/main" id="{0AFA12AD-57FD-514B-9A55-46F43DB696E9}"/>
              </a:ext>
            </a:extLst>
          </p:cNvPr>
          <p:cNvSpPr>
            <a:spLocks noGrp="1"/>
          </p:cNvSpPr>
          <p:nvPr>
            <p:ph type="title"/>
          </p:nvPr>
        </p:nvSpPr>
        <p:spPr/>
        <p:txBody>
          <a:bodyPr/>
          <a:lstStyle/>
          <a:p>
            <a:r>
              <a:rPr lang="en-ZA" dirty="0" err="1"/>
              <a:t>Superdense</a:t>
            </a:r>
            <a:r>
              <a:rPr lang="en-ZA" dirty="0"/>
              <a:t> Coding</a:t>
            </a:r>
            <a:endParaRPr lang="en-US" dirty="0"/>
          </a:p>
        </p:txBody>
      </p:sp>
      <p:sp>
        <p:nvSpPr>
          <p:cNvPr id="7" name="Rectangle 6">
            <a:extLst>
              <a:ext uri="{FF2B5EF4-FFF2-40B4-BE49-F238E27FC236}">
                <a16:creationId xmlns:a16="http://schemas.microsoft.com/office/drawing/2014/main" id="{B0D571B5-B38C-B847-B7E0-20B3D2F6265B}"/>
              </a:ext>
            </a:extLst>
          </p:cNvPr>
          <p:cNvSpPr/>
          <p:nvPr/>
        </p:nvSpPr>
        <p:spPr>
          <a:xfrm>
            <a:off x="1720873" y="3098101"/>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63" name="Group 62">
            <a:extLst>
              <a:ext uri="{FF2B5EF4-FFF2-40B4-BE49-F238E27FC236}">
                <a16:creationId xmlns:a16="http://schemas.microsoft.com/office/drawing/2014/main" id="{CB776CFD-6A19-B947-82A3-FE4FE32DB827}"/>
              </a:ext>
            </a:extLst>
          </p:cNvPr>
          <p:cNvGrpSpPr/>
          <p:nvPr/>
        </p:nvGrpSpPr>
        <p:grpSpPr>
          <a:xfrm>
            <a:off x="2496919" y="3292504"/>
            <a:ext cx="720000" cy="2759586"/>
            <a:chOff x="3902013" y="3546193"/>
            <a:chExt cx="720000" cy="2759586"/>
          </a:xfrm>
        </p:grpSpPr>
        <p:sp>
          <p:nvSpPr>
            <p:cNvPr id="49" name="Oval 48">
              <a:extLst>
                <a:ext uri="{FF2B5EF4-FFF2-40B4-BE49-F238E27FC236}">
                  <a16:creationId xmlns:a16="http://schemas.microsoft.com/office/drawing/2014/main" id="{18050375-37D0-4C4A-BD27-9CFFC1481E81}"/>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0" name="Oval 49">
              <a:extLst>
                <a:ext uri="{FF2B5EF4-FFF2-40B4-BE49-F238E27FC236}">
                  <a16:creationId xmlns:a16="http://schemas.microsoft.com/office/drawing/2014/main" id="{746DD5AA-EB4C-1144-BCDE-D2D34B468E5F}"/>
                </a:ext>
              </a:extLst>
            </p:cNvPr>
            <p:cNvSpPr>
              <a:spLocks noChangeAspect="1"/>
            </p:cNvSpPr>
            <p:nvPr/>
          </p:nvSpPr>
          <p:spPr>
            <a:xfrm>
              <a:off x="4075930" y="354619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1" name="Straight Connector 50">
              <a:extLst>
                <a:ext uri="{FF2B5EF4-FFF2-40B4-BE49-F238E27FC236}">
                  <a16:creationId xmlns:a16="http://schemas.microsoft.com/office/drawing/2014/main" id="{F5646684-C595-9545-9084-FE26A7ECA7AD}"/>
                </a:ext>
              </a:extLst>
            </p:cNvPr>
            <p:cNvCxnSpPr>
              <a:cxnSpLocks/>
              <a:stCxn id="50" idx="4"/>
              <a:endCxn id="49" idx="0"/>
            </p:cNvCxnSpPr>
            <p:nvPr/>
          </p:nvCxnSpPr>
          <p:spPr>
            <a:xfrm>
              <a:off x="4255930" y="3906193"/>
              <a:ext cx="6083" cy="167958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5B4C9EA6-E303-EE44-8B2F-48236D97A03F}"/>
                  </a:ext>
                </a:extLst>
              </p:cNvPr>
              <p:cNvSpPr/>
              <p:nvPr/>
            </p:nvSpPr>
            <p:spPr>
              <a:xfrm>
                <a:off x="850377" y="3245724"/>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1" name="Rectangle 80">
                <a:extLst>
                  <a:ext uri="{FF2B5EF4-FFF2-40B4-BE49-F238E27FC236}">
                    <a16:creationId xmlns:a16="http://schemas.microsoft.com/office/drawing/2014/main" id="{5B4C9EA6-E303-EE44-8B2F-48236D97A03F}"/>
                  </a:ext>
                </a:extLst>
              </p:cNvPr>
              <p:cNvSpPr>
                <a:spLocks noRot="1" noChangeAspect="1" noMove="1" noResize="1" noEditPoints="1" noAdjustHandles="1" noChangeArrowheads="1" noChangeShapeType="1" noTextEdit="1"/>
              </p:cNvSpPr>
              <p:nvPr/>
            </p:nvSpPr>
            <p:spPr>
              <a:xfrm>
                <a:off x="850377" y="3245724"/>
                <a:ext cx="631904" cy="461665"/>
              </a:xfrm>
              <a:prstGeom prst="rect">
                <a:avLst/>
              </a:prstGeom>
              <a:blipFill>
                <a:blip r:embed="rId3"/>
                <a:stretch>
                  <a:fillRect l="-25490" t="-127027"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3675CBA2-A9B6-F748-A76F-2E719CD839E0}"/>
                  </a:ext>
                </a:extLst>
              </p:cNvPr>
              <p:cNvSpPr/>
              <p:nvPr/>
            </p:nvSpPr>
            <p:spPr>
              <a:xfrm>
                <a:off x="830556" y="5456830"/>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2" name="Rectangle 81">
                <a:extLst>
                  <a:ext uri="{FF2B5EF4-FFF2-40B4-BE49-F238E27FC236}">
                    <a16:creationId xmlns:a16="http://schemas.microsoft.com/office/drawing/2014/main" id="{3675CBA2-A9B6-F748-A76F-2E719CD839E0}"/>
                  </a:ext>
                </a:extLst>
              </p:cNvPr>
              <p:cNvSpPr>
                <a:spLocks noRot="1" noChangeAspect="1" noMove="1" noResize="1" noEditPoints="1" noAdjustHandles="1" noChangeArrowheads="1" noChangeShapeType="1" noTextEdit="1"/>
              </p:cNvSpPr>
              <p:nvPr/>
            </p:nvSpPr>
            <p:spPr>
              <a:xfrm>
                <a:off x="830556" y="5456830"/>
                <a:ext cx="631904" cy="461665"/>
              </a:xfrm>
              <a:prstGeom prst="rect">
                <a:avLst/>
              </a:prstGeom>
              <a:blipFill>
                <a:blip r:embed="rId4"/>
                <a:stretch>
                  <a:fillRect l="-23529" t="-124324" r="-49020" b="-191892"/>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61B4B226-28B4-BA44-974C-BC040A3F2EDB}"/>
              </a:ext>
            </a:extLst>
          </p:cNvPr>
          <p:cNvGrpSpPr/>
          <p:nvPr/>
        </p:nvGrpSpPr>
        <p:grpSpPr>
          <a:xfrm>
            <a:off x="3313466" y="1709469"/>
            <a:ext cx="3835160" cy="3387667"/>
            <a:chOff x="3032106" y="1709469"/>
            <a:chExt cx="3835160" cy="3387667"/>
          </a:xfrm>
        </p:grpSpPr>
        <p:sp>
          <p:nvSpPr>
            <p:cNvPr id="25" name="Oval 24">
              <a:extLst>
                <a:ext uri="{FF2B5EF4-FFF2-40B4-BE49-F238E27FC236}">
                  <a16:creationId xmlns:a16="http://schemas.microsoft.com/office/drawing/2014/main" id="{E03B736B-D62D-8F43-A71F-30CED731FB07}"/>
                </a:ext>
              </a:extLst>
            </p:cNvPr>
            <p:cNvSpPr>
              <a:spLocks noChangeAspect="1"/>
            </p:cNvSpPr>
            <p:nvPr/>
          </p:nvSpPr>
          <p:spPr>
            <a:xfrm>
              <a:off x="3595327" y="3202504"/>
              <a:ext cx="540000" cy="540000"/>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grpSp>
          <p:nvGrpSpPr>
            <p:cNvPr id="38" name="Group 37">
              <a:extLst>
                <a:ext uri="{FF2B5EF4-FFF2-40B4-BE49-F238E27FC236}">
                  <a16:creationId xmlns:a16="http://schemas.microsoft.com/office/drawing/2014/main" id="{2F7D7558-E89A-DF47-9220-E5AF872FC61F}"/>
                </a:ext>
              </a:extLst>
            </p:cNvPr>
            <p:cNvGrpSpPr/>
            <p:nvPr/>
          </p:nvGrpSpPr>
          <p:grpSpPr>
            <a:xfrm>
              <a:off x="4054125" y="3073597"/>
              <a:ext cx="718480" cy="208713"/>
              <a:chOff x="4086782" y="2571913"/>
              <a:chExt cx="718480" cy="208713"/>
            </a:xfrm>
          </p:grpSpPr>
          <p:cxnSp>
            <p:nvCxnSpPr>
              <p:cNvPr id="34" name="Straight Connector 33">
                <a:extLst>
                  <a:ext uri="{FF2B5EF4-FFF2-40B4-BE49-F238E27FC236}">
                    <a16:creationId xmlns:a16="http://schemas.microsoft.com/office/drawing/2014/main" id="{8F4EC454-10A6-1944-A5FD-A6D92D2ED1B9}"/>
                  </a:ext>
                </a:extLst>
              </p:cNvPr>
              <p:cNvCxnSpPr>
                <a:cxnSpLocks/>
              </p:cNvCxnSpPr>
              <p:nvPr/>
            </p:nvCxnSpPr>
            <p:spPr>
              <a:xfrm>
                <a:off x="4341298" y="2571913"/>
                <a:ext cx="463964" cy="0"/>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29BF494-B971-1547-8ED6-BB575AC39C39}"/>
                  </a:ext>
                </a:extLst>
              </p:cNvPr>
              <p:cNvCxnSpPr>
                <a:cxnSpLocks/>
              </p:cNvCxnSpPr>
              <p:nvPr/>
            </p:nvCxnSpPr>
            <p:spPr>
              <a:xfrm flipV="1">
                <a:off x="4086782" y="2572638"/>
                <a:ext cx="248493" cy="207988"/>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E4A0B9A6-4FFB-AF4D-A36E-AB26FAA6F2D4}"/>
                </a:ext>
              </a:extLst>
            </p:cNvPr>
            <p:cNvCxnSpPr>
              <a:cxnSpLocks/>
            </p:cNvCxnSpPr>
            <p:nvPr/>
          </p:nvCxnSpPr>
          <p:spPr>
            <a:xfrm>
              <a:off x="3858574" y="2205622"/>
              <a:ext cx="2346753"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497051B-9150-6545-9933-58439390CD86}"/>
                </a:ext>
              </a:extLst>
            </p:cNvPr>
            <p:cNvCxnSpPr>
              <a:cxnSpLocks/>
            </p:cNvCxnSpPr>
            <p:nvPr/>
          </p:nvCxnSpPr>
          <p:spPr>
            <a:xfrm>
              <a:off x="3865046" y="4739386"/>
              <a:ext cx="2340281"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FA549591-460D-6F47-8C0E-02435C6E21CA}"/>
                </a:ext>
              </a:extLst>
            </p:cNvPr>
            <p:cNvSpPr/>
            <p:nvPr/>
          </p:nvSpPr>
          <p:spPr>
            <a:xfrm>
              <a:off x="4765327" y="2690210"/>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 name="Rectangle 7">
              <a:extLst>
                <a:ext uri="{FF2B5EF4-FFF2-40B4-BE49-F238E27FC236}">
                  <a16:creationId xmlns:a16="http://schemas.microsoft.com/office/drawing/2014/main" id="{0182BA51-8AC5-C140-A7AA-12E5FCB27905}"/>
                </a:ext>
              </a:extLst>
            </p:cNvPr>
            <p:cNvSpPr/>
            <p:nvPr/>
          </p:nvSpPr>
          <p:spPr>
            <a:xfrm>
              <a:off x="4765327" y="3532549"/>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13" name="Rectangle 12">
              <a:extLst>
                <a:ext uri="{FF2B5EF4-FFF2-40B4-BE49-F238E27FC236}">
                  <a16:creationId xmlns:a16="http://schemas.microsoft.com/office/drawing/2014/main" id="{D626E0C8-AE56-474F-8A8F-56FEAC198022}"/>
                </a:ext>
              </a:extLst>
            </p:cNvPr>
            <p:cNvSpPr/>
            <p:nvPr/>
          </p:nvSpPr>
          <p:spPr>
            <a:xfrm>
              <a:off x="5237490" y="437713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14" name="Rectangle 13">
              <a:extLst>
                <a:ext uri="{FF2B5EF4-FFF2-40B4-BE49-F238E27FC236}">
                  <a16:creationId xmlns:a16="http://schemas.microsoft.com/office/drawing/2014/main" id="{765C8B4B-4908-D44A-97A0-CE255C29CFB6}"/>
                </a:ext>
              </a:extLst>
            </p:cNvPr>
            <p:cNvSpPr/>
            <p:nvPr/>
          </p:nvSpPr>
          <p:spPr>
            <a:xfrm>
              <a:off x="4765327" y="1847871"/>
              <a:ext cx="720000" cy="7200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I</a:t>
              </a:r>
            </a:p>
          </p:txBody>
        </p:sp>
        <p:sp>
          <p:nvSpPr>
            <p:cNvPr id="15" name="Oval 14">
              <a:extLst>
                <a:ext uri="{FF2B5EF4-FFF2-40B4-BE49-F238E27FC236}">
                  <a16:creationId xmlns:a16="http://schemas.microsoft.com/office/drawing/2014/main" id="{73BF3948-7718-BA45-B984-1D6D8935B76B}"/>
                </a:ext>
              </a:extLst>
            </p:cNvPr>
            <p:cNvSpPr/>
            <p:nvPr/>
          </p:nvSpPr>
          <p:spPr>
            <a:xfrm>
              <a:off x="4354184" y="4377136"/>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20" name="Straight Connector 19">
              <a:extLst>
                <a:ext uri="{FF2B5EF4-FFF2-40B4-BE49-F238E27FC236}">
                  <a16:creationId xmlns:a16="http://schemas.microsoft.com/office/drawing/2014/main" id="{71F677B6-3DDF-4A4B-9BA7-D06BAC955C73}"/>
                </a:ext>
              </a:extLst>
            </p:cNvPr>
            <p:cNvCxnSpPr>
              <a:cxnSpLocks/>
            </p:cNvCxnSpPr>
            <p:nvPr/>
          </p:nvCxnSpPr>
          <p:spPr>
            <a:xfrm flipV="1">
              <a:off x="5485327" y="3050210"/>
              <a:ext cx="7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67AC0E-2BA6-D64B-B4DD-4AF220F5638D}"/>
                </a:ext>
              </a:extLst>
            </p:cNvPr>
            <p:cNvCxnSpPr>
              <a:cxnSpLocks/>
            </p:cNvCxnSpPr>
            <p:nvPr/>
          </p:nvCxnSpPr>
          <p:spPr>
            <a:xfrm flipV="1">
              <a:off x="5485327" y="3894798"/>
              <a:ext cx="7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5E22A5-4BEC-754C-9192-F7C7194C535C}"/>
                </a:ext>
              </a:extLst>
            </p:cNvPr>
            <p:cNvCxnSpPr>
              <a:cxnSpLocks/>
            </p:cNvCxnSpPr>
            <p:nvPr/>
          </p:nvCxnSpPr>
          <p:spPr>
            <a:xfrm>
              <a:off x="6205327" y="2205622"/>
              <a:ext cx="0" cy="2533764"/>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11401C0-5B7F-1640-A9A3-0BFB8290FB2E}"/>
                </a:ext>
              </a:extLst>
            </p:cNvPr>
            <p:cNvCxnSpPr>
              <a:cxnSpLocks/>
            </p:cNvCxnSpPr>
            <p:nvPr/>
          </p:nvCxnSpPr>
          <p:spPr>
            <a:xfrm>
              <a:off x="3865046" y="3742504"/>
              <a:ext cx="1706" cy="99688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56CC58A-C3F4-8649-988F-A24BB7182CC9}"/>
                </a:ext>
              </a:extLst>
            </p:cNvPr>
            <p:cNvCxnSpPr>
              <a:cxnSpLocks/>
            </p:cNvCxnSpPr>
            <p:nvPr/>
          </p:nvCxnSpPr>
          <p:spPr>
            <a:xfrm>
              <a:off x="3858574" y="2205622"/>
              <a:ext cx="1706" cy="99688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B68C30CF-4656-8442-ADBA-8062EF9C27F3}"/>
                </a:ext>
              </a:extLst>
            </p:cNvPr>
            <p:cNvGrpSpPr/>
            <p:nvPr/>
          </p:nvGrpSpPr>
          <p:grpSpPr>
            <a:xfrm flipV="1">
              <a:off x="4045327" y="3688186"/>
              <a:ext cx="712457" cy="207988"/>
              <a:chOff x="5102688" y="3327286"/>
              <a:chExt cx="712457" cy="207988"/>
            </a:xfrm>
          </p:grpSpPr>
          <p:cxnSp>
            <p:nvCxnSpPr>
              <p:cNvPr id="41" name="Straight Connector 40">
                <a:extLst>
                  <a:ext uri="{FF2B5EF4-FFF2-40B4-BE49-F238E27FC236}">
                    <a16:creationId xmlns:a16="http://schemas.microsoft.com/office/drawing/2014/main" id="{1207F432-8A7E-2844-909E-67FFC676211F}"/>
                  </a:ext>
                </a:extLst>
              </p:cNvPr>
              <p:cNvCxnSpPr>
                <a:cxnSpLocks/>
              </p:cNvCxnSpPr>
              <p:nvPr/>
            </p:nvCxnSpPr>
            <p:spPr>
              <a:xfrm>
                <a:off x="5351181" y="3330663"/>
                <a:ext cx="463964" cy="0"/>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3613596-8674-A943-9346-FCAD1866E8C2}"/>
                  </a:ext>
                </a:extLst>
              </p:cNvPr>
              <p:cNvCxnSpPr>
                <a:cxnSpLocks/>
              </p:cNvCxnSpPr>
              <p:nvPr/>
            </p:nvCxnSpPr>
            <p:spPr>
              <a:xfrm flipV="1">
                <a:off x="5102688" y="3327286"/>
                <a:ext cx="248493" cy="207988"/>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A4313DB2-69FF-F342-9F85-D19365996A35}"/>
                </a:ext>
              </a:extLst>
            </p:cNvPr>
            <p:cNvCxnSpPr>
              <a:cxnSpLocks/>
              <a:endCxn id="25" idx="7"/>
            </p:cNvCxnSpPr>
            <p:nvPr/>
          </p:nvCxnSpPr>
          <p:spPr>
            <a:xfrm flipV="1">
              <a:off x="3865046" y="3281585"/>
              <a:ext cx="191200" cy="190920"/>
            </a:xfrm>
            <a:prstGeom prst="line">
              <a:avLst/>
            </a:prstGeom>
            <a:ln w="25400">
              <a:solidFill>
                <a:srgbClr val="FF0000"/>
              </a:solidFill>
              <a:headEnd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4E6E88D-C346-F249-B1E0-1112588CA7C8}"/>
                </a:ext>
              </a:extLst>
            </p:cNvPr>
            <p:cNvCxnSpPr>
              <a:cxnSpLocks/>
            </p:cNvCxnSpPr>
            <p:nvPr/>
          </p:nvCxnSpPr>
          <p:spPr>
            <a:xfrm>
              <a:off x="6205327" y="3410210"/>
              <a:ext cx="661939"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AE63D3A5-519F-1B42-9A54-C94F8D13653A}"/>
                    </a:ext>
                  </a:extLst>
                </p:cNvPr>
                <p:cNvSpPr/>
                <p:nvPr/>
              </p:nvSpPr>
              <p:spPr>
                <a:xfrm>
                  <a:off x="3032106" y="1709469"/>
                  <a:ext cx="18223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C00000"/>
                                </a:solidFill>
                                <a:latin typeface="Cambria Math" panose="02040503050406030204" pitchFamily="18" charset="0"/>
                                <a:ea typeface="Cambria Math" panose="02040503050406030204" pitchFamily="18" charset="0"/>
                              </a:rPr>
                            </m:ctrlPr>
                          </m:sSubPr>
                          <m:e>
                            <m:r>
                              <a:rPr lang="en-US" sz="2800" b="0" i="1" smtClean="0">
                                <a:solidFill>
                                  <a:srgbClr val="C00000"/>
                                </a:solidFill>
                                <a:latin typeface="Cambria Math" panose="02040503050406030204" pitchFamily="18" charset="0"/>
                                <a:ea typeface="Cambria Math" panose="02040503050406030204" pitchFamily="18" charset="0"/>
                              </a:rPr>
                              <m:t>𝑏</m:t>
                            </m:r>
                          </m:e>
                          <m:sub>
                            <m:r>
                              <a:rPr lang="en-US" sz="2800" b="0" i="1" smtClean="0">
                                <a:solidFill>
                                  <a:srgbClr val="C00000"/>
                                </a:solidFill>
                                <a:latin typeface="Cambria Math" panose="02040503050406030204" pitchFamily="18" charset="0"/>
                                <a:ea typeface="Cambria Math" panose="02040503050406030204" pitchFamily="18" charset="0"/>
                              </a:rPr>
                              <m:t>1</m:t>
                            </m:r>
                          </m:sub>
                        </m:sSub>
                        <m:sSub>
                          <m:sSubPr>
                            <m:ctrlPr>
                              <a:rPr lang="en-US" sz="2800" i="1">
                                <a:solidFill>
                                  <a:srgbClr val="C00000"/>
                                </a:solidFill>
                                <a:latin typeface="Cambria Math" panose="02040503050406030204" pitchFamily="18" charset="0"/>
                                <a:ea typeface="Cambria Math" panose="02040503050406030204" pitchFamily="18" charset="0"/>
                              </a:rPr>
                            </m:ctrlPr>
                          </m:sSubPr>
                          <m:e>
                            <m:r>
                              <a:rPr lang="en-US" sz="2800" i="1">
                                <a:solidFill>
                                  <a:srgbClr val="C00000"/>
                                </a:solidFill>
                                <a:latin typeface="Cambria Math" panose="02040503050406030204" pitchFamily="18" charset="0"/>
                                <a:ea typeface="Cambria Math" panose="02040503050406030204" pitchFamily="18" charset="0"/>
                              </a:rPr>
                              <m:t>𝑏</m:t>
                            </m:r>
                          </m:e>
                          <m:sub>
                            <m:r>
                              <a:rPr lang="en-US" sz="2800" b="0" i="1" smtClean="0">
                                <a:solidFill>
                                  <a:srgbClr val="C00000"/>
                                </a:solidFill>
                                <a:latin typeface="Cambria Math" panose="02040503050406030204" pitchFamily="18" charset="0"/>
                                <a:ea typeface="Cambria Math" panose="02040503050406030204" pitchFamily="18" charset="0"/>
                              </a:rPr>
                              <m:t>2</m:t>
                            </m:r>
                          </m:sub>
                        </m:sSub>
                        <m:r>
                          <a:rPr lang="en-US" sz="2800" b="0" i="1" smtClean="0">
                            <a:solidFill>
                              <a:srgbClr val="C00000"/>
                            </a:solidFill>
                            <a:latin typeface="Cambria Math" panose="02040503050406030204" pitchFamily="18" charset="0"/>
                            <a:ea typeface="Cambria Math" panose="02040503050406030204" pitchFamily="18" charset="0"/>
                          </a:rPr>
                          <m:t>=</m:t>
                        </m:r>
                        <m:r>
                          <a:rPr lang="en-US" sz="2800" i="1" smtClean="0">
                            <a:solidFill>
                              <a:srgbClr val="C00000"/>
                            </a:solidFill>
                            <a:latin typeface="Cambria Math" panose="02040503050406030204" pitchFamily="18" charset="0"/>
                            <a:ea typeface="Cambria Math" panose="02040503050406030204" pitchFamily="18" charset="0"/>
                          </a:rPr>
                          <m:t>0</m:t>
                        </m:r>
                        <m:r>
                          <a:rPr lang="en-US" sz="2800" b="0" i="1" smtClean="0">
                            <a:solidFill>
                              <a:srgbClr val="C00000"/>
                            </a:solidFill>
                            <a:latin typeface="Cambria Math" panose="02040503050406030204" pitchFamily="18" charset="0"/>
                            <a:ea typeface="Cambria Math" panose="02040503050406030204" pitchFamily="18" charset="0"/>
                          </a:rPr>
                          <m:t>0</m:t>
                        </m:r>
                      </m:oMath>
                    </m:oMathPara>
                  </a14:m>
                  <a:endParaRPr lang="en-US" sz="2800" dirty="0">
                    <a:solidFill>
                      <a:srgbClr val="C00000"/>
                    </a:solidFill>
                  </a:endParaRPr>
                </a:p>
              </p:txBody>
            </p:sp>
          </mc:Choice>
          <mc:Fallback xmlns="">
            <p:sp>
              <p:nvSpPr>
                <p:cNvPr id="84" name="Rectangle 83">
                  <a:extLst>
                    <a:ext uri="{FF2B5EF4-FFF2-40B4-BE49-F238E27FC236}">
                      <a16:creationId xmlns:a16="http://schemas.microsoft.com/office/drawing/2014/main" id="{AE63D3A5-519F-1B42-9A54-C94F8D13653A}"/>
                    </a:ext>
                  </a:extLst>
                </p:cNvPr>
                <p:cNvSpPr>
                  <a:spLocks noRot="1" noChangeAspect="1" noMove="1" noResize="1" noEditPoints="1" noAdjustHandles="1" noChangeArrowheads="1" noChangeShapeType="1" noTextEdit="1"/>
                </p:cNvSpPr>
                <p:nvPr/>
              </p:nvSpPr>
              <p:spPr>
                <a:xfrm>
                  <a:off x="3032106" y="1709469"/>
                  <a:ext cx="1822358"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B4E432C3-6509-584A-B7E4-7F7B985465AA}"/>
                    </a:ext>
                  </a:extLst>
                </p:cNvPr>
                <p:cNvSpPr/>
                <p:nvPr/>
              </p:nvSpPr>
              <p:spPr>
                <a:xfrm>
                  <a:off x="4202225" y="2590438"/>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0</m:t>
                        </m:r>
                        <m:r>
                          <a:rPr lang="en-US" sz="2800" b="0" i="1" smtClean="0">
                            <a:solidFill>
                              <a:srgbClr val="C00000"/>
                            </a:solidFill>
                            <a:latin typeface="Cambria Math" panose="02040503050406030204" pitchFamily="18" charset="0"/>
                            <a:ea typeface="Cambria Math" panose="02040503050406030204" pitchFamily="18" charset="0"/>
                          </a:rPr>
                          <m:t>1</m:t>
                        </m:r>
                      </m:oMath>
                    </m:oMathPara>
                  </a14:m>
                  <a:endParaRPr lang="en-US" sz="2800" dirty="0">
                    <a:solidFill>
                      <a:srgbClr val="C00000"/>
                    </a:solidFill>
                  </a:endParaRPr>
                </a:p>
              </p:txBody>
            </p:sp>
          </mc:Choice>
          <mc:Fallback xmlns="">
            <p:sp>
              <p:nvSpPr>
                <p:cNvPr id="85" name="Rectangle 84">
                  <a:extLst>
                    <a:ext uri="{FF2B5EF4-FFF2-40B4-BE49-F238E27FC236}">
                      <a16:creationId xmlns:a16="http://schemas.microsoft.com/office/drawing/2014/main" id="{B4E432C3-6509-584A-B7E4-7F7B985465AA}"/>
                    </a:ext>
                  </a:extLst>
                </p:cNvPr>
                <p:cNvSpPr>
                  <a:spLocks noRot="1" noChangeAspect="1" noMove="1" noResize="1" noEditPoints="1" noAdjustHandles="1" noChangeArrowheads="1" noChangeShapeType="1" noTextEdit="1"/>
                </p:cNvSpPr>
                <p:nvPr/>
              </p:nvSpPr>
              <p:spPr>
                <a:xfrm>
                  <a:off x="4202225" y="2590438"/>
                  <a:ext cx="663964"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EE6F6614-B09C-BC43-962B-EEC3B4937EBC}"/>
                    </a:ext>
                  </a:extLst>
                </p:cNvPr>
                <p:cNvSpPr/>
                <p:nvPr/>
              </p:nvSpPr>
              <p:spPr>
                <a:xfrm>
                  <a:off x="4199711" y="3430836"/>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1</m:t>
                        </m:r>
                        <m:r>
                          <a:rPr lang="en-US" sz="2800" b="0" i="1" smtClean="0">
                            <a:solidFill>
                              <a:srgbClr val="C00000"/>
                            </a:solidFill>
                            <a:latin typeface="Cambria Math" panose="02040503050406030204" pitchFamily="18" charset="0"/>
                            <a:ea typeface="Cambria Math" panose="02040503050406030204" pitchFamily="18" charset="0"/>
                          </a:rPr>
                          <m:t>0</m:t>
                        </m:r>
                      </m:oMath>
                    </m:oMathPara>
                  </a14:m>
                  <a:endParaRPr lang="en-US" sz="2800" dirty="0">
                    <a:solidFill>
                      <a:srgbClr val="C00000"/>
                    </a:solidFill>
                  </a:endParaRPr>
                </a:p>
              </p:txBody>
            </p:sp>
          </mc:Choice>
          <mc:Fallback xmlns="">
            <p:sp>
              <p:nvSpPr>
                <p:cNvPr id="86" name="Rectangle 85">
                  <a:extLst>
                    <a:ext uri="{FF2B5EF4-FFF2-40B4-BE49-F238E27FC236}">
                      <a16:creationId xmlns:a16="http://schemas.microsoft.com/office/drawing/2014/main" id="{EE6F6614-B09C-BC43-962B-EEC3B4937EBC}"/>
                    </a:ext>
                  </a:extLst>
                </p:cNvPr>
                <p:cNvSpPr>
                  <a:spLocks noRot="1" noChangeAspect="1" noMove="1" noResize="1" noEditPoints="1" noAdjustHandles="1" noChangeArrowheads="1" noChangeShapeType="1" noTextEdit="1"/>
                </p:cNvSpPr>
                <p:nvPr/>
              </p:nvSpPr>
              <p:spPr>
                <a:xfrm>
                  <a:off x="4199711" y="3430836"/>
                  <a:ext cx="663964"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8F10F3C3-9877-A548-A33F-83BCE38AB50C}"/>
                    </a:ext>
                  </a:extLst>
                </p:cNvPr>
                <p:cNvSpPr/>
                <p:nvPr/>
              </p:nvSpPr>
              <p:spPr>
                <a:xfrm>
                  <a:off x="3774365" y="4293530"/>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ea typeface="Cambria Math" panose="02040503050406030204" pitchFamily="18" charset="0"/>
                          </a:rPr>
                          <m:t>11</m:t>
                        </m:r>
                      </m:oMath>
                    </m:oMathPara>
                  </a14:m>
                  <a:endParaRPr lang="en-US" sz="2800" dirty="0">
                    <a:solidFill>
                      <a:srgbClr val="C00000"/>
                    </a:solidFill>
                  </a:endParaRPr>
                </a:p>
              </p:txBody>
            </p:sp>
          </mc:Choice>
          <mc:Fallback xmlns="">
            <p:sp>
              <p:nvSpPr>
                <p:cNvPr id="87" name="Rectangle 86">
                  <a:extLst>
                    <a:ext uri="{FF2B5EF4-FFF2-40B4-BE49-F238E27FC236}">
                      <a16:creationId xmlns:a16="http://schemas.microsoft.com/office/drawing/2014/main" id="{8F10F3C3-9877-A548-A33F-83BCE38AB50C}"/>
                    </a:ext>
                  </a:extLst>
                </p:cNvPr>
                <p:cNvSpPr>
                  <a:spLocks noRot="1" noChangeAspect="1" noMove="1" noResize="1" noEditPoints="1" noAdjustHandles="1" noChangeArrowheads="1" noChangeShapeType="1" noTextEdit="1"/>
                </p:cNvSpPr>
                <p:nvPr/>
              </p:nvSpPr>
              <p:spPr>
                <a:xfrm>
                  <a:off x="3774365" y="4293530"/>
                  <a:ext cx="663964" cy="523220"/>
                </a:xfrm>
                <a:prstGeom prst="rect">
                  <a:avLst/>
                </a:prstGeom>
                <a:blipFill>
                  <a:blip r:embed="rId9"/>
                  <a:stretch>
                    <a:fillRect/>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3FC7D140-AFE9-BA43-82B7-0551213002C0}"/>
              </a:ext>
            </a:extLst>
          </p:cNvPr>
          <p:cNvGrpSpPr/>
          <p:nvPr/>
        </p:nvGrpSpPr>
        <p:grpSpPr>
          <a:xfrm>
            <a:off x="7148626" y="3069643"/>
            <a:ext cx="4322341" cy="2946553"/>
            <a:chOff x="6614042" y="3069643"/>
            <a:chExt cx="4322341" cy="2946553"/>
          </a:xfrm>
        </p:grpSpPr>
        <p:cxnSp>
          <p:nvCxnSpPr>
            <p:cNvPr id="69" name="Straight Connector 68">
              <a:extLst>
                <a:ext uri="{FF2B5EF4-FFF2-40B4-BE49-F238E27FC236}">
                  <a16:creationId xmlns:a16="http://schemas.microsoft.com/office/drawing/2014/main" id="{14C898F5-8F11-B74E-BBEC-A83AB4DA3CC5}"/>
                </a:ext>
              </a:extLst>
            </p:cNvPr>
            <p:cNvCxnSpPr>
              <a:cxnSpLocks/>
            </p:cNvCxnSpPr>
            <p:nvPr/>
          </p:nvCxnSpPr>
          <p:spPr>
            <a:xfrm>
              <a:off x="6614042" y="3410210"/>
              <a:ext cx="3706211"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B8F5109A-F5EB-5F42-8768-918830B12A1D}"/>
                </a:ext>
              </a:extLst>
            </p:cNvPr>
            <p:cNvGrpSpPr/>
            <p:nvPr/>
          </p:nvGrpSpPr>
          <p:grpSpPr>
            <a:xfrm>
              <a:off x="7358268" y="3069643"/>
              <a:ext cx="3578115" cy="2946553"/>
              <a:chOff x="7358268" y="3069643"/>
              <a:chExt cx="3578115" cy="2946553"/>
            </a:xfrm>
          </p:grpSpPr>
          <p:grpSp>
            <p:nvGrpSpPr>
              <p:cNvPr id="73" name="Group 72">
                <a:extLst>
                  <a:ext uri="{FF2B5EF4-FFF2-40B4-BE49-F238E27FC236}">
                    <a16:creationId xmlns:a16="http://schemas.microsoft.com/office/drawing/2014/main" id="{9EDFEDB2-033B-204E-B55E-D588344D57AE}"/>
                  </a:ext>
                </a:extLst>
              </p:cNvPr>
              <p:cNvGrpSpPr/>
              <p:nvPr/>
            </p:nvGrpSpPr>
            <p:grpSpPr>
              <a:xfrm>
                <a:off x="9273670" y="5290339"/>
                <a:ext cx="720000" cy="720000"/>
                <a:chOff x="9366454" y="1830509"/>
                <a:chExt cx="720000" cy="720000"/>
              </a:xfrm>
            </p:grpSpPr>
            <p:sp>
              <p:nvSpPr>
                <p:cNvPr id="74" name="Rectangle 73">
                  <a:extLst>
                    <a:ext uri="{FF2B5EF4-FFF2-40B4-BE49-F238E27FC236}">
                      <a16:creationId xmlns:a16="http://schemas.microsoft.com/office/drawing/2014/main" id="{1279D304-DCEB-5042-B96B-C486533267C7}"/>
                    </a:ext>
                  </a:extLst>
                </p:cNvPr>
                <p:cNvSpPr/>
                <p:nvPr/>
              </p:nvSpPr>
              <p:spPr>
                <a:xfrm>
                  <a:off x="9366454" y="1830509"/>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75" name="Straight Connector 74">
                  <a:extLst>
                    <a:ext uri="{FF2B5EF4-FFF2-40B4-BE49-F238E27FC236}">
                      <a16:creationId xmlns:a16="http://schemas.microsoft.com/office/drawing/2014/main" id="{7C58905D-F806-1A4C-9785-DEC9AB782ED0}"/>
                    </a:ext>
                  </a:extLst>
                </p:cNvPr>
                <p:cNvCxnSpPr>
                  <a:cxnSpLocks/>
                </p:cNvCxnSpPr>
                <p:nvPr/>
              </p:nvCxnSpPr>
              <p:spPr>
                <a:xfrm flipV="1">
                  <a:off x="9724774" y="1992322"/>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76" name="Arc 75">
                  <a:extLst>
                    <a:ext uri="{FF2B5EF4-FFF2-40B4-BE49-F238E27FC236}">
                      <a16:creationId xmlns:a16="http://schemas.microsoft.com/office/drawing/2014/main" id="{5979930C-131E-B940-9CD3-5C1698A0BCFA}"/>
                    </a:ext>
                  </a:extLst>
                </p:cNvPr>
                <p:cNvSpPr/>
                <p:nvPr/>
              </p:nvSpPr>
              <p:spPr>
                <a:xfrm>
                  <a:off x="9446605" y="1994032"/>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C2E32E8D-C909-6E47-839C-AB69C733FEC0}"/>
                  </a:ext>
                </a:extLst>
              </p:cNvPr>
              <p:cNvGrpSpPr/>
              <p:nvPr/>
            </p:nvGrpSpPr>
            <p:grpSpPr>
              <a:xfrm>
                <a:off x="9268602" y="3069643"/>
                <a:ext cx="720000" cy="720000"/>
                <a:chOff x="9366454" y="1830509"/>
                <a:chExt cx="720000" cy="720000"/>
              </a:xfrm>
            </p:grpSpPr>
            <p:sp>
              <p:nvSpPr>
                <p:cNvPr id="70" name="Rectangle 69">
                  <a:extLst>
                    <a:ext uri="{FF2B5EF4-FFF2-40B4-BE49-F238E27FC236}">
                      <a16:creationId xmlns:a16="http://schemas.microsoft.com/office/drawing/2014/main" id="{FAA630FA-BD3C-D740-A7EF-AB95130A85C8}"/>
                    </a:ext>
                  </a:extLst>
                </p:cNvPr>
                <p:cNvSpPr/>
                <p:nvPr/>
              </p:nvSpPr>
              <p:spPr>
                <a:xfrm>
                  <a:off x="9366454" y="1830509"/>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71" name="Straight Connector 70">
                  <a:extLst>
                    <a:ext uri="{FF2B5EF4-FFF2-40B4-BE49-F238E27FC236}">
                      <a16:creationId xmlns:a16="http://schemas.microsoft.com/office/drawing/2014/main" id="{4CC9BE97-5426-8542-B689-15DA111BC93C}"/>
                    </a:ext>
                  </a:extLst>
                </p:cNvPr>
                <p:cNvCxnSpPr>
                  <a:cxnSpLocks/>
                </p:cNvCxnSpPr>
                <p:nvPr/>
              </p:nvCxnSpPr>
              <p:spPr>
                <a:xfrm flipV="1">
                  <a:off x="9724774" y="1992322"/>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72" name="Arc 71">
                  <a:extLst>
                    <a:ext uri="{FF2B5EF4-FFF2-40B4-BE49-F238E27FC236}">
                      <a16:creationId xmlns:a16="http://schemas.microsoft.com/office/drawing/2014/main" id="{17387FDE-7E7C-CE41-BDD7-26F04D0FC42D}"/>
                    </a:ext>
                  </a:extLst>
                </p:cNvPr>
                <p:cNvSpPr/>
                <p:nvPr/>
              </p:nvSpPr>
              <p:spPr>
                <a:xfrm>
                  <a:off x="9446605" y="1994032"/>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64C33F0D-C651-3440-BA67-7512508FFC44}"/>
                  </a:ext>
                </a:extLst>
              </p:cNvPr>
              <p:cNvGrpSpPr/>
              <p:nvPr/>
            </p:nvGrpSpPr>
            <p:grpSpPr>
              <a:xfrm>
                <a:off x="7358268" y="3256610"/>
                <a:ext cx="720000" cy="2759586"/>
                <a:chOff x="3902013" y="3546193"/>
                <a:chExt cx="720000" cy="2759586"/>
              </a:xfrm>
            </p:grpSpPr>
            <p:sp>
              <p:nvSpPr>
                <p:cNvPr id="65" name="Oval 64">
                  <a:extLst>
                    <a:ext uri="{FF2B5EF4-FFF2-40B4-BE49-F238E27FC236}">
                      <a16:creationId xmlns:a16="http://schemas.microsoft.com/office/drawing/2014/main" id="{49C79B91-45A9-4A4E-88B1-AA1169C28D6C}"/>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66" name="Oval 65">
                  <a:extLst>
                    <a:ext uri="{FF2B5EF4-FFF2-40B4-BE49-F238E27FC236}">
                      <a16:creationId xmlns:a16="http://schemas.microsoft.com/office/drawing/2014/main" id="{3147DB70-47D7-864E-B2E2-4DE62C32372A}"/>
                    </a:ext>
                  </a:extLst>
                </p:cNvPr>
                <p:cNvSpPr>
                  <a:spLocks noChangeAspect="1"/>
                </p:cNvSpPr>
                <p:nvPr/>
              </p:nvSpPr>
              <p:spPr>
                <a:xfrm>
                  <a:off x="4075930" y="354619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67" name="Straight Connector 66">
                  <a:extLst>
                    <a:ext uri="{FF2B5EF4-FFF2-40B4-BE49-F238E27FC236}">
                      <a16:creationId xmlns:a16="http://schemas.microsoft.com/office/drawing/2014/main" id="{7FF0D305-C8FA-7944-A5EE-6A19522DE14C}"/>
                    </a:ext>
                  </a:extLst>
                </p:cNvPr>
                <p:cNvCxnSpPr>
                  <a:cxnSpLocks/>
                  <a:stCxn id="66" idx="4"/>
                  <a:endCxn id="65" idx="0"/>
                </p:cNvCxnSpPr>
                <p:nvPr/>
              </p:nvCxnSpPr>
              <p:spPr>
                <a:xfrm>
                  <a:off x="4255930" y="3906193"/>
                  <a:ext cx="6083" cy="167958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EA432C36-2132-134A-B3B8-62D52158852F}"/>
                  </a:ext>
                </a:extLst>
              </p:cNvPr>
              <p:cNvSpPr/>
              <p:nvPr/>
            </p:nvSpPr>
            <p:spPr>
              <a:xfrm>
                <a:off x="8139888" y="3076610"/>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E18DB8A3-2042-6A4A-BD4E-D4A5D9103738}"/>
                      </a:ext>
                    </a:extLst>
                  </p:cNvPr>
                  <p:cNvSpPr/>
                  <p:nvPr/>
                </p:nvSpPr>
                <p:spPr>
                  <a:xfrm>
                    <a:off x="10282309" y="3164888"/>
                    <a:ext cx="6078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FF"/>
                                  </a:solidFill>
                                  <a:latin typeface="Cambria Math" panose="02040503050406030204" pitchFamily="18" charset="0"/>
                                  <a:ea typeface="Cambria Math" panose="02040503050406030204" pitchFamily="18" charset="0"/>
                                </a:rPr>
                              </m:ctrlPr>
                            </m:sSubPr>
                            <m:e>
                              <m:r>
                                <a:rPr lang="en-US" sz="2800" b="0" i="1" smtClean="0">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1</m:t>
                              </m:r>
                            </m:sub>
                          </m:sSub>
                        </m:oMath>
                      </m:oMathPara>
                    </a14:m>
                    <a:endParaRPr lang="en-US" sz="2800" dirty="0">
                      <a:solidFill>
                        <a:srgbClr val="0000FF"/>
                      </a:solidFill>
                    </a:endParaRPr>
                  </a:p>
                </p:txBody>
              </p:sp>
            </mc:Choice>
            <mc:Fallback xmlns="">
              <p:sp>
                <p:nvSpPr>
                  <p:cNvPr id="88" name="Rectangle 87">
                    <a:extLst>
                      <a:ext uri="{FF2B5EF4-FFF2-40B4-BE49-F238E27FC236}">
                        <a16:creationId xmlns:a16="http://schemas.microsoft.com/office/drawing/2014/main" id="{E18DB8A3-2042-6A4A-BD4E-D4A5D9103738}"/>
                      </a:ext>
                    </a:extLst>
                  </p:cNvPr>
                  <p:cNvSpPr>
                    <a:spLocks noRot="1" noChangeAspect="1" noMove="1" noResize="1" noEditPoints="1" noAdjustHandles="1" noChangeArrowheads="1" noChangeShapeType="1" noTextEdit="1"/>
                  </p:cNvSpPr>
                  <p:nvPr/>
                </p:nvSpPr>
                <p:spPr>
                  <a:xfrm>
                    <a:off x="10282309" y="3164888"/>
                    <a:ext cx="607859" cy="523220"/>
                  </a:xfrm>
                  <a:prstGeom prst="rect">
                    <a:avLst/>
                  </a:prstGeom>
                  <a:blipFill>
                    <a:blip r:embed="rId10"/>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09798107-CA06-714D-A59C-EE560F5709B8}"/>
                      </a:ext>
                    </a:extLst>
                  </p:cNvPr>
                  <p:cNvSpPr/>
                  <p:nvPr/>
                </p:nvSpPr>
                <p:spPr>
                  <a:xfrm>
                    <a:off x="10320253" y="5394586"/>
                    <a:ext cx="6161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FF"/>
                                  </a:solidFill>
                                  <a:latin typeface="Cambria Math" panose="02040503050406030204" pitchFamily="18" charset="0"/>
                                  <a:ea typeface="Cambria Math" panose="02040503050406030204" pitchFamily="18" charset="0"/>
                                </a:rPr>
                              </m:ctrlPr>
                            </m:sSubPr>
                            <m:e>
                              <m:r>
                                <a:rPr lang="en-US" sz="2800" b="0" i="1" smtClean="0">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2</m:t>
                              </m:r>
                            </m:sub>
                          </m:sSub>
                        </m:oMath>
                      </m:oMathPara>
                    </a14:m>
                    <a:endParaRPr lang="en-US" sz="2800" dirty="0">
                      <a:solidFill>
                        <a:srgbClr val="0000FF"/>
                      </a:solidFill>
                    </a:endParaRPr>
                  </a:p>
                </p:txBody>
              </p:sp>
            </mc:Choice>
            <mc:Fallback xmlns="">
              <p:sp>
                <p:nvSpPr>
                  <p:cNvPr id="90" name="Rectangle 89">
                    <a:extLst>
                      <a:ext uri="{FF2B5EF4-FFF2-40B4-BE49-F238E27FC236}">
                        <a16:creationId xmlns:a16="http://schemas.microsoft.com/office/drawing/2014/main" id="{09798107-CA06-714D-A59C-EE560F5709B8}"/>
                      </a:ext>
                    </a:extLst>
                  </p:cNvPr>
                  <p:cNvSpPr>
                    <a:spLocks noRot="1" noChangeAspect="1" noMove="1" noResize="1" noEditPoints="1" noAdjustHandles="1" noChangeArrowheads="1" noChangeShapeType="1" noTextEdit="1"/>
                  </p:cNvSpPr>
                  <p:nvPr/>
                </p:nvSpPr>
                <p:spPr>
                  <a:xfrm>
                    <a:off x="10320253" y="5394586"/>
                    <a:ext cx="616130" cy="523220"/>
                  </a:xfrm>
                  <a:prstGeom prst="rect">
                    <a:avLst/>
                  </a:prstGeom>
                  <a:blipFill>
                    <a:blip r:embed="rId11"/>
                    <a:stretch>
                      <a:fillRect b="-2381"/>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802C9A09-B54B-B74B-AA95-3846E56FCA55}"/>
                  </a:ext>
                </a:extLst>
              </p:cNvPr>
              <p:cNvSpPr/>
              <p:nvPr/>
            </p:nvSpPr>
            <p:spPr>
              <a:xfrm>
                <a:off x="1025010" y="4240945"/>
                <a:ext cx="95757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FF"/>
                              </a:solidFill>
                              <a:latin typeface="Cambria Math" panose="02040503050406030204" pitchFamily="18" charset="0"/>
                              <a:ea typeface="Cambria Math" panose="02040503050406030204" pitchFamily="18" charset="0"/>
                            </a:rPr>
                          </m:ctrlPr>
                        </m:sSubPr>
                        <m:e>
                          <m:r>
                            <a:rPr lang="en-US" sz="2800" b="0" i="1" smtClean="0">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1</m:t>
                          </m:r>
                        </m:sub>
                      </m:sSub>
                      <m:sSub>
                        <m:sSubPr>
                          <m:ctrlPr>
                            <a:rPr lang="en-US" sz="2800" i="1">
                              <a:solidFill>
                                <a:srgbClr val="0000FF"/>
                              </a:solidFill>
                              <a:latin typeface="Cambria Math" panose="02040503050406030204" pitchFamily="18" charset="0"/>
                              <a:ea typeface="Cambria Math" panose="02040503050406030204" pitchFamily="18" charset="0"/>
                            </a:rPr>
                          </m:ctrlPr>
                        </m:sSubPr>
                        <m:e>
                          <m:r>
                            <a:rPr lang="en-US" sz="2800" i="1">
                              <a:solidFill>
                                <a:srgbClr val="0000FF"/>
                              </a:solidFill>
                              <a:latin typeface="Cambria Math" panose="02040503050406030204" pitchFamily="18" charset="0"/>
                              <a:ea typeface="Cambria Math" panose="02040503050406030204" pitchFamily="18" charset="0"/>
                            </a:rPr>
                            <m:t>𝑏</m:t>
                          </m:r>
                        </m:e>
                        <m:sub>
                          <m:r>
                            <a:rPr lang="en-US" sz="2800" b="0" i="1" smtClean="0">
                              <a:solidFill>
                                <a:srgbClr val="0000FF"/>
                              </a:solidFill>
                              <a:latin typeface="Cambria Math" panose="02040503050406030204" pitchFamily="18" charset="0"/>
                              <a:ea typeface="Cambria Math" panose="02040503050406030204" pitchFamily="18" charset="0"/>
                            </a:rPr>
                            <m:t>2</m:t>
                          </m:r>
                        </m:sub>
                      </m:sSub>
                    </m:oMath>
                  </m:oMathPara>
                </a14:m>
                <a:endParaRPr lang="en-US" sz="2800" dirty="0">
                  <a:solidFill>
                    <a:srgbClr val="0000FF"/>
                  </a:solidFill>
                </a:endParaRPr>
              </a:p>
            </p:txBody>
          </p:sp>
        </mc:Choice>
        <mc:Fallback xmlns="">
          <p:sp>
            <p:nvSpPr>
              <p:cNvPr id="91" name="Rectangle 90">
                <a:extLst>
                  <a:ext uri="{FF2B5EF4-FFF2-40B4-BE49-F238E27FC236}">
                    <a16:creationId xmlns:a16="http://schemas.microsoft.com/office/drawing/2014/main" id="{802C9A09-B54B-B74B-AA95-3846E56FCA55}"/>
                  </a:ext>
                </a:extLst>
              </p:cNvPr>
              <p:cNvSpPr>
                <a:spLocks noRot="1" noChangeAspect="1" noMove="1" noResize="1" noEditPoints="1" noAdjustHandles="1" noChangeArrowheads="1" noChangeShapeType="1" noTextEdit="1"/>
              </p:cNvSpPr>
              <p:nvPr/>
            </p:nvSpPr>
            <p:spPr>
              <a:xfrm>
                <a:off x="1025010" y="4240945"/>
                <a:ext cx="95757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6ADD7E6C-3183-B242-AD85-46909FBC0E83}"/>
                  </a:ext>
                </a:extLst>
              </p:cNvPr>
              <p:cNvSpPr/>
              <p:nvPr/>
            </p:nvSpPr>
            <p:spPr>
              <a:xfrm>
                <a:off x="3001580" y="4335820"/>
                <a:ext cx="92288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FF000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sub>
                          </m:sSub>
                        </m:e>
                      </m:d>
                    </m:oMath>
                  </m:oMathPara>
                </a14:m>
                <a:endParaRPr lang="en-US" sz="2400" dirty="0"/>
              </a:p>
            </p:txBody>
          </p:sp>
        </mc:Choice>
        <mc:Fallback xmlns="">
          <p:sp>
            <p:nvSpPr>
              <p:cNvPr id="59" name="Rectangle 58">
                <a:extLst>
                  <a:ext uri="{FF2B5EF4-FFF2-40B4-BE49-F238E27FC236}">
                    <a16:creationId xmlns:a16="http://schemas.microsoft.com/office/drawing/2014/main" id="{6ADD7E6C-3183-B242-AD85-46909FBC0E83}"/>
                  </a:ext>
                </a:extLst>
              </p:cNvPr>
              <p:cNvSpPr>
                <a:spLocks noRot="1" noChangeAspect="1" noMove="1" noResize="1" noEditPoints="1" noAdjustHandles="1" noChangeArrowheads="1" noChangeShapeType="1" noTextEdit="1"/>
              </p:cNvSpPr>
              <p:nvPr/>
            </p:nvSpPr>
            <p:spPr>
              <a:xfrm>
                <a:off x="3001580" y="4335820"/>
                <a:ext cx="922881" cy="461665"/>
              </a:xfrm>
              <a:prstGeom prst="rect">
                <a:avLst/>
              </a:prstGeom>
              <a:blipFill>
                <a:blip r:embed="rId13"/>
                <a:stretch>
                  <a:fillRect t="-121053" r="-33784" b="-186842"/>
                </a:stretch>
              </a:blipFill>
            </p:spPr>
            <p:txBody>
              <a:bodyPr/>
              <a:lstStyle/>
              <a:p>
                <a:r>
                  <a:rPr lang="en-US">
                    <a:noFill/>
                  </a:rPr>
                  <a:t> </a:t>
                </a:r>
              </a:p>
            </p:txBody>
          </p:sp>
        </mc:Fallback>
      </mc:AlternateContent>
      <p:pic>
        <p:nvPicPr>
          <p:cNvPr id="77" name="Picture 76">
            <a:extLst>
              <a:ext uri="{FF2B5EF4-FFF2-40B4-BE49-F238E27FC236}">
                <a16:creationId xmlns:a16="http://schemas.microsoft.com/office/drawing/2014/main" id="{064679E2-FC20-8E40-94D0-5A10DE161524}"/>
              </a:ext>
            </a:extLst>
          </p:cNvPr>
          <p:cNvPicPr>
            <a:picLocks noChangeAspect="1"/>
          </p:cNvPicPr>
          <p:nvPr/>
        </p:nvPicPr>
        <p:blipFill>
          <a:blip r:embed="rId14"/>
          <a:stretch>
            <a:fillRect/>
          </a:stretch>
        </p:blipFill>
        <p:spPr>
          <a:xfrm>
            <a:off x="188485" y="3664418"/>
            <a:ext cx="864988" cy="1332416"/>
          </a:xfrm>
          <a:prstGeom prst="rect">
            <a:avLst/>
          </a:prstGeom>
        </p:spPr>
      </p:pic>
      <p:pic>
        <p:nvPicPr>
          <p:cNvPr id="78" name="Picture 77">
            <a:extLst>
              <a:ext uri="{FF2B5EF4-FFF2-40B4-BE49-F238E27FC236}">
                <a16:creationId xmlns:a16="http://schemas.microsoft.com/office/drawing/2014/main" id="{523FE886-3926-C24E-BBE8-90A97F9AC940}"/>
              </a:ext>
            </a:extLst>
          </p:cNvPr>
          <p:cNvPicPr>
            <a:picLocks noChangeAspect="1"/>
          </p:cNvPicPr>
          <p:nvPr/>
        </p:nvPicPr>
        <p:blipFill>
          <a:blip r:embed="rId15"/>
          <a:stretch>
            <a:fillRect/>
          </a:stretch>
        </p:blipFill>
        <p:spPr>
          <a:xfrm>
            <a:off x="10831191" y="3730472"/>
            <a:ext cx="1032425" cy="1529208"/>
          </a:xfrm>
          <a:prstGeom prst="rect">
            <a:avLst/>
          </a:prstGeom>
        </p:spPr>
      </p:pic>
      <p:cxnSp>
        <p:nvCxnSpPr>
          <p:cNvPr id="26" name="Straight Arrow Connector 25">
            <a:extLst>
              <a:ext uri="{FF2B5EF4-FFF2-40B4-BE49-F238E27FC236}">
                <a16:creationId xmlns:a16="http://schemas.microsoft.com/office/drawing/2014/main" id="{03F71AFE-9AE3-3549-8D7A-666826E10996}"/>
              </a:ext>
            </a:extLst>
          </p:cNvPr>
          <p:cNvCxnSpPr>
            <a:cxnSpLocks/>
          </p:cNvCxnSpPr>
          <p:nvPr/>
        </p:nvCxnSpPr>
        <p:spPr>
          <a:xfrm flipV="1">
            <a:off x="3436738" y="3506284"/>
            <a:ext cx="0" cy="734661"/>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2B5F11C-1BCC-0443-A10C-49CC7E1A5F58}"/>
              </a:ext>
            </a:extLst>
          </p:cNvPr>
          <p:cNvCxnSpPr>
            <a:cxnSpLocks/>
          </p:cNvCxnSpPr>
          <p:nvPr/>
        </p:nvCxnSpPr>
        <p:spPr>
          <a:xfrm>
            <a:off x="3438614" y="4854872"/>
            <a:ext cx="0" cy="734661"/>
          </a:xfrm>
          <a:prstGeom prst="straightConnector1">
            <a:avLst/>
          </a:prstGeom>
          <a:ln w="254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40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35CD03-FABF-BA4F-B427-578993EBF196}"/>
              </a:ext>
            </a:extLst>
          </p:cNvPr>
          <p:cNvSpPr>
            <a:spLocks noGrp="1"/>
          </p:cNvSpPr>
          <p:nvPr>
            <p:ph type="title"/>
          </p:nvPr>
        </p:nvSpPr>
        <p:spPr/>
        <p:txBody>
          <a:bodyPr/>
          <a:lstStyle/>
          <a:p>
            <a:r>
              <a:rPr lang="en-ZA" dirty="0" err="1"/>
              <a:t>Superdense</a:t>
            </a:r>
            <a:r>
              <a:rPr lang="en-ZA" dirty="0"/>
              <a:t> Coding Implementation</a:t>
            </a:r>
            <a:endParaRPr lang="en-US" dirty="0"/>
          </a:p>
        </p:txBody>
      </p:sp>
      <p:pic>
        <p:nvPicPr>
          <p:cNvPr id="8" name="Picture 7">
            <a:extLst>
              <a:ext uri="{FF2B5EF4-FFF2-40B4-BE49-F238E27FC236}">
                <a16:creationId xmlns:a16="http://schemas.microsoft.com/office/drawing/2014/main" id="{D25BA680-0016-1D4B-9512-F8642C740BB9}"/>
              </a:ext>
            </a:extLst>
          </p:cNvPr>
          <p:cNvPicPr>
            <a:picLocks/>
          </p:cNvPicPr>
          <p:nvPr/>
        </p:nvPicPr>
        <p:blipFill>
          <a:blip r:embed="rId3">
            <a:alphaModFix amt="34000"/>
          </a:blip>
          <a:stretch>
            <a:fillRect/>
          </a:stretch>
        </p:blipFill>
        <p:spPr>
          <a:xfrm>
            <a:off x="5970105" y="3333750"/>
            <a:ext cx="2520000" cy="2520000"/>
          </a:xfrm>
          <a:prstGeom prst="rect">
            <a:avLst/>
          </a:prstGeom>
        </p:spPr>
      </p:pic>
      <p:pic>
        <p:nvPicPr>
          <p:cNvPr id="12" name="Picture 11">
            <a:extLst>
              <a:ext uri="{FF2B5EF4-FFF2-40B4-BE49-F238E27FC236}">
                <a16:creationId xmlns:a16="http://schemas.microsoft.com/office/drawing/2014/main" id="{D8A4D1E2-7749-9047-B6DD-C45958E3C5B1}"/>
              </a:ext>
            </a:extLst>
          </p:cNvPr>
          <p:cNvPicPr>
            <a:picLocks noChangeAspect="1"/>
          </p:cNvPicPr>
          <p:nvPr/>
        </p:nvPicPr>
        <p:blipFill>
          <a:blip r:embed="rId4"/>
          <a:stretch>
            <a:fillRect/>
          </a:stretch>
        </p:blipFill>
        <p:spPr>
          <a:xfrm>
            <a:off x="224921" y="2298700"/>
            <a:ext cx="11625668" cy="3168650"/>
          </a:xfrm>
          <a:prstGeom prst="rect">
            <a:avLst/>
          </a:prstGeom>
        </p:spPr>
      </p:pic>
      <p:pic>
        <p:nvPicPr>
          <p:cNvPr id="13" name="Picture 12">
            <a:extLst>
              <a:ext uri="{FF2B5EF4-FFF2-40B4-BE49-F238E27FC236}">
                <a16:creationId xmlns:a16="http://schemas.microsoft.com/office/drawing/2014/main" id="{C1944B8E-9D79-B54B-9615-52C71CC8CDA6}"/>
              </a:ext>
            </a:extLst>
          </p:cNvPr>
          <p:cNvPicPr>
            <a:picLocks noChangeAspect="1"/>
          </p:cNvPicPr>
          <p:nvPr/>
        </p:nvPicPr>
        <p:blipFill>
          <a:blip r:embed="rId5"/>
          <a:stretch>
            <a:fillRect/>
          </a:stretch>
        </p:blipFill>
        <p:spPr>
          <a:xfrm>
            <a:off x="10931976" y="1813420"/>
            <a:ext cx="918613" cy="1360630"/>
          </a:xfrm>
          <a:prstGeom prst="rect">
            <a:avLst/>
          </a:prstGeom>
        </p:spPr>
      </p:pic>
      <p:pic>
        <p:nvPicPr>
          <p:cNvPr id="14" name="Picture 13">
            <a:extLst>
              <a:ext uri="{FF2B5EF4-FFF2-40B4-BE49-F238E27FC236}">
                <a16:creationId xmlns:a16="http://schemas.microsoft.com/office/drawing/2014/main" id="{EAF39791-1657-1245-B5FB-865F3FC3F282}"/>
              </a:ext>
            </a:extLst>
          </p:cNvPr>
          <p:cNvPicPr>
            <a:picLocks noChangeAspect="1"/>
          </p:cNvPicPr>
          <p:nvPr/>
        </p:nvPicPr>
        <p:blipFill>
          <a:blip r:embed="rId6"/>
          <a:stretch>
            <a:fillRect/>
          </a:stretch>
        </p:blipFill>
        <p:spPr>
          <a:xfrm>
            <a:off x="894947" y="1912300"/>
            <a:ext cx="819113" cy="1261750"/>
          </a:xfrm>
          <a:prstGeom prst="rect">
            <a:avLst/>
          </a:prstGeom>
        </p:spPr>
      </p:pic>
    </p:spTree>
    <p:extLst>
      <p:ext uri="{BB962C8B-B14F-4D97-AF65-F5344CB8AC3E}">
        <p14:creationId xmlns:p14="http://schemas.microsoft.com/office/powerpoint/2010/main" val="110658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7D96B7-70F3-4140-ADAB-F6D64574520F}"/>
              </a:ext>
            </a:extLst>
          </p:cNvPr>
          <p:cNvSpPr>
            <a:spLocks noGrp="1"/>
          </p:cNvSpPr>
          <p:nvPr>
            <p:ph type="title"/>
          </p:nvPr>
        </p:nvSpPr>
        <p:spPr/>
        <p:txBody>
          <a:bodyPr/>
          <a:lstStyle/>
          <a:p>
            <a:r>
              <a:rPr lang="en-ZA" dirty="0"/>
              <a:t>Quantum Teleportation</a:t>
            </a:r>
            <a:endParaRPr lang="en-US" dirty="0"/>
          </a:p>
        </p:txBody>
      </p:sp>
      <p:sp>
        <p:nvSpPr>
          <p:cNvPr id="7" name="Rounded Rectangle 6">
            <a:extLst>
              <a:ext uri="{FF2B5EF4-FFF2-40B4-BE49-F238E27FC236}">
                <a16:creationId xmlns:a16="http://schemas.microsoft.com/office/drawing/2014/main" id="{01E9DF6B-EDF6-3C40-93D3-E93076214428}"/>
              </a:ext>
            </a:extLst>
          </p:cNvPr>
          <p:cNvSpPr/>
          <p:nvPr/>
        </p:nvSpPr>
        <p:spPr>
          <a:xfrm>
            <a:off x="8162364" y="1740397"/>
            <a:ext cx="2572871" cy="326371"/>
          </a:xfrm>
          <a:prstGeom prst="round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630ED13-BDCB-1E42-8128-4D3982B00FE0}"/>
              </a:ext>
            </a:extLst>
          </p:cNvPr>
          <p:cNvSpPr/>
          <p:nvPr/>
        </p:nvSpPr>
        <p:spPr>
          <a:xfrm>
            <a:off x="8162363" y="5359259"/>
            <a:ext cx="2572871" cy="326371"/>
          </a:xfrm>
          <a:prstGeom prst="round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721101D-DE78-2C42-8FC2-C2B7C53CF5C6}"/>
              </a:ext>
            </a:extLst>
          </p:cNvPr>
          <p:cNvSpPr/>
          <p:nvPr/>
        </p:nvSpPr>
        <p:spPr>
          <a:xfrm>
            <a:off x="1627093" y="1740397"/>
            <a:ext cx="2572871" cy="326371"/>
          </a:xfrm>
          <a:prstGeom prst="round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C9E1AA87-503C-BA4A-806F-C74B3B67A199}"/>
              </a:ext>
            </a:extLst>
          </p:cNvPr>
          <p:cNvSpPr/>
          <p:nvPr/>
        </p:nvSpPr>
        <p:spPr>
          <a:xfrm>
            <a:off x="1627092" y="5359259"/>
            <a:ext cx="2572871" cy="326371"/>
          </a:xfrm>
          <a:prstGeom prst="round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8D59F7CB-26A4-E346-ACAE-F9CD717000E3}"/>
              </a:ext>
            </a:extLst>
          </p:cNvPr>
          <p:cNvGrpSpPr/>
          <p:nvPr/>
        </p:nvGrpSpPr>
        <p:grpSpPr>
          <a:xfrm>
            <a:off x="1627092" y="2066768"/>
            <a:ext cx="2572871" cy="3292491"/>
            <a:chOff x="1627092" y="2066768"/>
            <a:chExt cx="2572871" cy="3292491"/>
          </a:xfrm>
        </p:grpSpPr>
        <p:pic>
          <p:nvPicPr>
            <p:cNvPr id="9" name="Picture 8">
              <a:extLst>
                <a:ext uri="{FF2B5EF4-FFF2-40B4-BE49-F238E27FC236}">
                  <a16:creationId xmlns:a16="http://schemas.microsoft.com/office/drawing/2014/main" id="{6F8F4C33-3B12-544D-92F4-FE66B5B42B83}"/>
                </a:ext>
              </a:extLst>
            </p:cNvPr>
            <p:cNvPicPr>
              <a:picLocks noChangeAspect="1"/>
            </p:cNvPicPr>
            <p:nvPr/>
          </p:nvPicPr>
          <p:blipFill>
            <a:blip r:embed="rId3"/>
            <a:stretch>
              <a:fillRect/>
            </a:stretch>
          </p:blipFill>
          <p:spPr>
            <a:xfrm>
              <a:off x="1756061" y="2270678"/>
              <a:ext cx="2314932" cy="2880206"/>
            </a:xfrm>
            <a:prstGeom prst="rect">
              <a:avLst/>
            </a:prstGeom>
          </p:spPr>
        </p:pic>
        <p:sp>
          <p:nvSpPr>
            <p:cNvPr id="12" name="Rectangle 11">
              <a:extLst>
                <a:ext uri="{FF2B5EF4-FFF2-40B4-BE49-F238E27FC236}">
                  <a16:creationId xmlns:a16="http://schemas.microsoft.com/office/drawing/2014/main" id="{4A17FE09-39DF-5742-8406-F191906BFEA4}"/>
                </a:ext>
              </a:extLst>
            </p:cNvPr>
            <p:cNvSpPr/>
            <p:nvPr/>
          </p:nvSpPr>
          <p:spPr>
            <a:xfrm>
              <a:off x="1627092" y="2066768"/>
              <a:ext cx="2572871" cy="3292491"/>
            </a:xfrm>
            <a:prstGeom prst="rect">
              <a:avLst/>
            </a:prstGeom>
            <a:gradFill>
              <a:gsLst>
                <a:gs pos="0">
                  <a:schemeClr val="accent3">
                    <a:lumMod val="5000"/>
                    <a:lumOff val="95000"/>
                    <a:alpha val="23000"/>
                  </a:schemeClr>
                </a:gs>
                <a:gs pos="100000">
                  <a:schemeClr val="accent3">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B1FF880C-926F-D640-B4A3-916D1EFAA924}"/>
              </a:ext>
            </a:extLst>
          </p:cNvPr>
          <p:cNvGrpSpPr/>
          <p:nvPr/>
        </p:nvGrpSpPr>
        <p:grpSpPr>
          <a:xfrm>
            <a:off x="8162363" y="2062304"/>
            <a:ext cx="2572871" cy="3292491"/>
            <a:chOff x="8162363" y="2062304"/>
            <a:chExt cx="2572871" cy="3292491"/>
          </a:xfrm>
        </p:grpSpPr>
        <p:pic>
          <p:nvPicPr>
            <p:cNvPr id="3" name="Picture 2">
              <a:extLst>
                <a:ext uri="{FF2B5EF4-FFF2-40B4-BE49-F238E27FC236}">
                  <a16:creationId xmlns:a16="http://schemas.microsoft.com/office/drawing/2014/main" id="{ABB5FE9E-A5AC-6045-A8F0-6193887717E7}"/>
                </a:ext>
              </a:extLst>
            </p:cNvPr>
            <p:cNvPicPr>
              <a:picLocks noChangeAspect="1"/>
            </p:cNvPicPr>
            <p:nvPr/>
          </p:nvPicPr>
          <p:blipFill>
            <a:blip r:embed="rId3"/>
            <a:stretch>
              <a:fillRect/>
            </a:stretch>
          </p:blipFill>
          <p:spPr>
            <a:xfrm>
              <a:off x="8291332" y="2270678"/>
              <a:ext cx="2314932" cy="2880206"/>
            </a:xfrm>
            <a:prstGeom prst="rect">
              <a:avLst/>
            </a:prstGeom>
          </p:spPr>
        </p:pic>
        <p:sp>
          <p:nvSpPr>
            <p:cNvPr id="13" name="Rectangle 12">
              <a:extLst>
                <a:ext uri="{FF2B5EF4-FFF2-40B4-BE49-F238E27FC236}">
                  <a16:creationId xmlns:a16="http://schemas.microsoft.com/office/drawing/2014/main" id="{034D687E-AE6A-2648-A191-5C22361E5791}"/>
                </a:ext>
              </a:extLst>
            </p:cNvPr>
            <p:cNvSpPr/>
            <p:nvPr/>
          </p:nvSpPr>
          <p:spPr>
            <a:xfrm flipV="1">
              <a:off x="8162363" y="2062304"/>
              <a:ext cx="2572871" cy="3292491"/>
            </a:xfrm>
            <a:prstGeom prst="rect">
              <a:avLst/>
            </a:prstGeom>
            <a:gradFill>
              <a:gsLst>
                <a:gs pos="0">
                  <a:schemeClr val="accent3">
                    <a:lumMod val="5000"/>
                    <a:lumOff val="95000"/>
                    <a:alpha val="23000"/>
                  </a:schemeClr>
                </a:gs>
                <a:gs pos="100000">
                  <a:schemeClr val="accent3">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Slide Number Placeholder 2">
            <a:extLst>
              <a:ext uri="{FF2B5EF4-FFF2-40B4-BE49-F238E27FC236}">
                <a16:creationId xmlns:a16="http://schemas.microsoft.com/office/drawing/2014/main" id="{4CAE54AD-4F17-6A44-81D1-DF6DCBB362A1}"/>
              </a:ext>
            </a:extLst>
          </p:cNvPr>
          <p:cNvSpPr>
            <a:spLocks noGrp="1"/>
          </p:cNvSpPr>
          <p:nvPr>
            <p:ph type="sldNum" sz="quarter" idx="12"/>
          </p:nvPr>
        </p:nvSpPr>
        <p:spPr>
          <a:xfrm>
            <a:off x="0" y="6492875"/>
            <a:ext cx="797827" cy="365125"/>
          </a:xfrm>
        </p:spPr>
        <p:txBody>
          <a:bodyPr/>
          <a:lstStyle/>
          <a:p>
            <a:fld id="{591A223C-FA10-BC46-A853-03BA373D023C}" type="slidenum">
              <a:rPr lang="en-US" smtClean="0"/>
              <a:t>29</a:t>
            </a:fld>
            <a:endParaRPr lang="en-US" dirty="0"/>
          </a:p>
        </p:txBody>
      </p:sp>
    </p:spTree>
    <p:extLst>
      <p:ext uri="{BB962C8B-B14F-4D97-AF65-F5344CB8AC3E}">
        <p14:creationId xmlns:p14="http://schemas.microsoft.com/office/powerpoint/2010/main" val="420322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0"/>
                                        <p:tgtEl>
                                          <p:spTgt spid="2"/>
                                        </p:tgtEl>
                                      </p:cBhvr>
                                    </p:animEffect>
                                  </p:childTnLst>
                                  <p:subTnLst>
                                    <p:set>
                                      <p:cBhvr override="childStyle">
                                        <p:cTn dur="1" fill="hold" display="0" masterRel="sameClick" afterEffect="1">
                                          <p:stCondLst>
                                            <p:cond evt="end" delay="0">
                                              <p:tn val="5"/>
                                            </p:cond>
                                          </p:stCondLst>
                                        </p:cTn>
                                        <p:tgtEl>
                                          <p:spTgt spid="2"/>
                                        </p:tgtEl>
                                        <p:attrNameLst>
                                          <p:attrName>style.visibility</p:attrName>
                                        </p:attrNameLst>
                                      </p:cBhvr>
                                      <p:to>
                                        <p:strVal val="hidden"/>
                                      </p:to>
                                    </p:set>
                                  </p:subTnLst>
                                </p:cTn>
                              </p:par>
                            </p:childTnLst>
                          </p:cTn>
                        </p:par>
                        <p:par>
                          <p:cTn id="8" fill="hold">
                            <p:stCondLst>
                              <p:cond delay="50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35CCC82-55F0-7049-8B91-625848C0C3AF}"/>
              </a:ext>
            </a:extLst>
          </p:cNvPr>
          <p:cNvSpPr/>
          <p:nvPr/>
        </p:nvSpPr>
        <p:spPr>
          <a:xfrm>
            <a:off x="585307" y="2825003"/>
            <a:ext cx="1878902" cy="202590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B0C04-D22F-7B44-B869-00E02991A750}"/>
              </a:ext>
            </a:extLst>
          </p:cNvPr>
          <p:cNvSpPr>
            <a:spLocks noGrp="1"/>
          </p:cNvSpPr>
          <p:nvPr>
            <p:ph type="title"/>
          </p:nvPr>
        </p:nvSpPr>
        <p:spPr/>
        <p:txBody>
          <a:bodyPr/>
          <a:lstStyle/>
          <a:p>
            <a:r>
              <a:rPr lang="en-ZA" dirty="0"/>
              <a:t>Quantum Teleportation (1)</a:t>
            </a:r>
            <a:endParaRPr lang="en-US" dirty="0"/>
          </a:p>
        </p:txBody>
      </p:sp>
      <p:cxnSp>
        <p:nvCxnSpPr>
          <p:cNvPr id="7" name="Straight Connector 6">
            <a:extLst>
              <a:ext uri="{FF2B5EF4-FFF2-40B4-BE49-F238E27FC236}">
                <a16:creationId xmlns:a16="http://schemas.microsoft.com/office/drawing/2014/main" id="{3F45C707-926F-1A49-BAA3-76F601169713}"/>
              </a:ext>
            </a:extLst>
          </p:cNvPr>
          <p:cNvCxnSpPr>
            <a:cxnSpLocks/>
          </p:cNvCxnSpPr>
          <p:nvPr/>
        </p:nvCxnSpPr>
        <p:spPr>
          <a:xfrm>
            <a:off x="550692" y="2363337"/>
            <a:ext cx="324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DDF0BB-1E72-5542-B583-6BBFAE896B3F}"/>
              </a:ext>
            </a:extLst>
          </p:cNvPr>
          <p:cNvCxnSpPr>
            <a:cxnSpLocks/>
          </p:cNvCxnSpPr>
          <p:nvPr/>
        </p:nvCxnSpPr>
        <p:spPr>
          <a:xfrm>
            <a:off x="543507" y="3383898"/>
            <a:ext cx="324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46B40D6-7743-5044-9910-E01EFD777C58}"/>
              </a:ext>
            </a:extLst>
          </p:cNvPr>
          <p:cNvSpPr/>
          <p:nvPr/>
        </p:nvSpPr>
        <p:spPr>
          <a:xfrm>
            <a:off x="786446" y="303010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5" name="Straight Connector 14">
            <a:extLst>
              <a:ext uri="{FF2B5EF4-FFF2-40B4-BE49-F238E27FC236}">
                <a16:creationId xmlns:a16="http://schemas.microsoft.com/office/drawing/2014/main" id="{1D85F885-5D76-C14C-B7F2-BD9A389B7B15}"/>
              </a:ext>
            </a:extLst>
          </p:cNvPr>
          <p:cNvCxnSpPr>
            <a:cxnSpLocks/>
          </p:cNvCxnSpPr>
          <p:nvPr/>
        </p:nvCxnSpPr>
        <p:spPr>
          <a:xfrm>
            <a:off x="543506" y="4335131"/>
            <a:ext cx="324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552AE55-CD3D-254A-8F7D-70BC64F985AF}"/>
              </a:ext>
            </a:extLst>
          </p:cNvPr>
          <p:cNvGrpSpPr/>
          <p:nvPr/>
        </p:nvGrpSpPr>
        <p:grpSpPr>
          <a:xfrm>
            <a:off x="1627936" y="3207569"/>
            <a:ext cx="720000" cy="1523456"/>
            <a:chOff x="3902013" y="4782323"/>
            <a:chExt cx="720000" cy="1523456"/>
          </a:xfrm>
        </p:grpSpPr>
        <p:sp>
          <p:nvSpPr>
            <p:cNvPr id="30" name="Oval 29">
              <a:extLst>
                <a:ext uri="{FF2B5EF4-FFF2-40B4-BE49-F238E27FC236}">
                  <a16:creationId xmlns:a16="http://schemas.microsoft.com/office/drawing/2014/main" id="{7CA11699-B9D8-7245-BD85-28F0C1351CA0}"/>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1" name="Oval 30">
              <a:extLst>
                <a:ext uri="{FF2B5EF4-FFF2-40B4-BE49-F238E27FC236}">
                  <a16:creationId xmlns:a16="http://schemas.microsoft.com/office/drawing/2014/main" id="{DB464219-E704-7147-97FB-862229518A5E}"/>
                </a:ext>
              </a:extLst>
            </p:cNvPr>
            <p:cNvSpPr>
              <a:spLocks noChangeAspect="1"/>
            </p:cNvSpPr>
            <p:nvPr/>
          </p:nvSpPr>
          <p:spPr>
            <a:xfrm>
              <a:off x="4075930" y="478232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2" name="Straight Connector 31">
              <a:extLst>
                <a:ext uri="{FF2B5EF4-FFF2-40B4-BE49-F238E27FC236}">
                  <a16:creationId xmlns:a16="http://schemas.microsoft.com/office/drawing/2014/main" id="{FA1D0A80-4AE3-CF41-A019-A2F4473A58EC}"/>
                </a:ext>
              </a:extLst>
            </p:cNvPr>
            <p:cNvCxnSpPr>
              <a:cxnSpLocks/>
              <a:stCxn id="31" idx="4"/>
              <a:endCxn id="30" idx="0"/>
            </p:cNvCxnSpPr>
            <p:nvPr/>
          </p:nvCxnSpPr>
          <p:spPr>
            <a:xfrm>
              <a:off x="4255930" y="5142323"/>
              <a:ext cx="6083" cy="44345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4941CE57-5B1C-2D4E-8F51-9785BBD63938}"/>
                  </a:ext>
                </a:extLst>
              </p:cNvPr>
              <p:cNvSpPr/>
              <p:nvPr/>
            </p:nvSpPr>
            <p:spPr>
              <a:xfrm>
                <a:off x="-54140" y="317772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0" name="Rectangle 39">
                <a:extLst>
                  <a:ext uri="{FF2B5EF4-FFF2-40B4-BE49-F238E27FC236}">
                    <a16:creationId xmlns:a16="http://schemas.microsoft.com/office/drawing/2014/main" id="{4941CE57-5B1C-2D4E-8F51-9785BBD63938}"/>
                  </a:ext>
                </a:extLst>
              </p:cNvPr>
              <p:cNvSpPr>
                <a:spLocks noRot="1" noChangeAspect="1" noMove="1" noResize="1" noEditPoints="1" noAdjustHandles="1" noChangeArrowheads="1" noChangeShapeType="1" noTextEdit="1"/>
              </p:cNvSpPr>
              <p:nvPr/>
            </p:nvSpPr>
            <p:spPr>
              <a:xfrm>
                <a:off x="-54140" y="3177726"/>
                <a:ext cx="631904" cy="461665"/>
              </a:xfrm>
              <a:prstGeom prst="rect">
                <a:avLst/>
              </a:prstGeom>
              <a:blipFill>
                <a:blip r:embed="rId4"/>
                <a:stretch>
                  <a:fillRect l="-26531" t="-121053" r="-53061"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48311FB0-F384-884A-812E-8BAC78407FA0}"/>
                  </a:ext>
                </a:extLst>
              </p:cNvPr>
              <p:cNvSpPr/>
              <p:nvPr/>
            </p:nvSpPr>
            <p:spPr>
              <a:xfrm>
                <a:off x="-73961" y="4135765"/>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1" name="Rectangle 40">
                <a:extLst>
                  <a:ext uri="{FF2B5EF4-FFF2-40B4-BE49-F238E27FC236}">
                    <a16:creationId xmlns:a16="http://schemas.microsoft.com/office/drawing/2014/main" id="{48311FB0-F384-884A-812E-8BAC78407FA0}"/>
                  </a:ext>
                </a:extLst>
              </p:cNvPr>
              <p:cNvSpPr>
                <a:spLocks noRot="1" noChangeAspect="1" noMove="1" noResize="1" noEditPoints="1" noAdjustHandles="1" noChangeArrowheads="1" noChangeShapeType="1" noTextEdit="1"/>
              </p:cNvSpPr>
              <p:nvPr/>
            </p:nvSpPr>
            <p:spPr>
              <a:xfrm>
                <a:off x="-73961" y="4135765"/>
                <a:ext cx="631904" cy="461665"/>
              </a:xfrm>
              <a:prstGeom prst="rect">
                <a:avLst/>
              </a:prstGeom>
              <a:blipFill>
                <a:blip r:embed="rId5"/>
                <a:stretch>
                  <a:fillRect l="-26000" t="-127027" r="-50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FD69F425-451C-D645-8213-3FF0FCA283A8}"/>
                  </a:ext>
                </a:extLst>
              </p:cNvPr>
              <p:cNvSpPr/>
              <p:nvPr/>
            </p:nvSpPr>
            <p:spPr>
              <a:xfrm>
                <a:off x="18988" y="1908430"/>
                <a:ext cx="25531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b="0" i="1" smtClean="0">
                              <a:solidFill>
                                <a:srgbClr val="C00000"/>
                              </a:solidFill>
                              <a:latin typeface="Cambria Math" panose="02040503050406030204" pitchFamily="18" charset="0"/>
                              <a:ea typeface="Cambria Math" panose="02040503050406030204" pitchFamily="18" charset="0"/>
                            </a:rPr>
                            <m:t>𝑄</m:t>
                          </m:r>
                        </m:e>
                      </m:d>
                      <m:r>
                        <a:rPr lang="en-US" sz="2400" b="0" i="1" smtClean="0">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𝑎</m:t>
                      </m:r>
                      <m:r>
                        <a:rPr lang="en-US" sz="2400" i="1">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0</m:t>
                          </m:r>
                        </m:e>
                      </m:d>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𝑏</m:t>
                      </m:r>
                      <m:r>
                        <a:rPr lang="en-US" sz="2400" i="1">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1</m:t>
                          </m:r>
                        </m:e>
                      </m:d>
                    </m:oMath>
                  </m:oMathPara>
                </a14:m>
                <a:endParaRPr lang="en-US" sz="2400" dirty="0">
                  <a:solidFill>
                    <a:srgbClr val="C00000"/>
                  </a:solidFill>
                </a:endParaRPr>
              </a:p>
            </p:txBody>
          </p:sp>
        </mc:Choice>
        <mc:Fallback xmlns="">
          <p:sp>
            <p:nvSpPr>
              <p:cNvPr id="58" name="Rectangle 57">
                <a:extLst>
                  <a:ext uri="{FF2B5EF4-FFF2-40B4-BE49-F238E27FC236}">
                    <a16:creationId xmlns:a16="http://schemas.microsoft.com/office/drawing/2014/main" id="{FD69F425-451C-D645-8213-3FF0FCA283A8}"/>
                  </a:ext>
                </a:extLst>
              </p:cNvPr>
              <p:cNvSpPr>
                <a:spLocks noRot="1" noChangeAspect="1" noMove="1" noResize="1" noEditPoints="1" noAdjustHandles="1" noChangeArrowheads="1" noChangeShapeType="1" noTextEdit="1"/>
              </p:cNvSpPr>
              <p:nvPr/>
            </p:nvSpPr>
            <p:spPr>
              <a:xfrm>
                <a:off x="18988" y="1908430"/>
                <a:ext cx="2553135" cy="461665"/>
              </a:xfrm>
              <a:prstGeom prst="rect">
                <a:avLst/>
              </a:prstGeom>
              <a:blipFill>
                <a:blip r:embed="rId10"/>
                <a:stretch>
                  <a:fillRect l="-3448" t="-121053" r="-11823"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B28E0DBB-2E61-ED4A-B0AF-BFA511D2512B}"/>
                  </a:ext>
                </a:extLst>
              </p:cNvPr>
              <p:cNvSpPr/>
              <p:nvPr/>
            </p:nvSpPr>
            <p:spPr>
              <a:xfrm>
                <a:off x="2969274" y="4299552"/>
                <a:ext cx="6722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𝐵</m:t>
                          </m:r>
                        </m:e>
                      </m:d>
                    </m:oMath>
                  </m:oMathPara>
                </a14:m>
                <a:endParaRPr lang="en-US" sz="2400" dirty="0">
                  <a:solidFill>
                    <a:schemeClr val="tx1"/>
                  </a:solidFill>
                </a:endParaRPr>
              </a:p>
            </p:txBody>
          </p:sp>
        </mc:Choice>
        <mc:Fallback xmlns="">
          <p:sp>
            <p:nvSpPr>
              <p:cNvPr id="94" name="Rectangle 93">
                <a:extLst>
                  <a:ext uri="{FF2B5EF4-FFF2-40B4-BE49-F238E27FC236}">
                    <a16:creationId xmlns:a16="http://schemas.microsoft.com/office/drawing/2014/main" id="{B28E0DBB-2E61-ED4A-B0AF-BFA511D2512B}"/>
                  </a:ext>
                </a:extLst>
              </p:cNvPr>
              <p:cNvSpPr>
                <a:spLocks noRot="1" noChangeAspect="1" noMove="1" noResize="1" noEditPoints="1" noAdjustHandles="1" noChangeArrowheads="1" noChangeShapeType="1" noTextEdit="1"/>
              </p:cNvSpPr>
              <p:nvPr/>
            </p:nvSpPr>
            <p:spPr>
              <a:xfrm>
                <a:off x="2969274" y="4299552"/>
                <a:ext cx="672235" cy="461665"/>
              </a:xfrm>
              <a:prstGeom prst="rect">
                <a:avLst/>
              </a:prstGeom>
              <a:blipFill>
                <a:blip r:embed="rId11"/>
                <a:stretch>
                  <a:fillRect l="-18519" t="-127027" r="-46296"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CCDF888D-B924-CC4A-9984-1EFB405F71ED}"/>
                  </a:ext>
                </a:extLst>
              </p:cNvPr>
              <p:cNvSpPr/>
              <p:nvPr/>
            </p:nvSpPr>
            <p:spPr>
              <a:xfrm>
                <a:off x="2981837" y="2913863"/>
                <a:ext cx="6605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𝐴</m:t>
                          </m:r>
                        </m:e>
                      </m:d>
                    </m:oMath>
                  </m:oMathPara>
                </a14:m>
                <a:endParaRPr lang="en-US" sz="2400" dirty="0">
                  <a:solidFill>
                    <a:schemeClr val="tx1"/>
                  </a:solidFill>
                </a:endParaRPr>
              </a:p>
            </p:txBody>
          </p:sp>
        </mc:Choice>
        <mc:Fallback xmlns="">
          <p:sp>
            <p:nvSpPr>
              <p:cNvPr id="95" name="Rectangle 94">
                <a:extLst>
                  <a:ext uri="{FF2B5EF4-FFF2-40B4-BE49-F238E27FC236}">
                    <a16:creationId xmlns:a16="http://schemas.microsoft.com/office/drawing/2014/main" id="{CCDF888D-B924-CC4A-9984-1EFB405F71ED}"/>
                  </a:ext>
                </a:extLst>
              </p:cNvPr>
              <p:cNvSpPr>
                <a:spLocks noRot="1" noChangeAspect="1" noMove="1" noResize="1" noEditPoints="1" noAdjustHandles="1" noChangeArrowheads="1" noChangeShapeType="1" noTextEdit="1"/>
              </p:cNvSpPr>
              <p:nvPr/>
            </p:nvSpPr>
            <p:spPr>
              <a:xfrm>
                <a:off x="2981837" y="2913863"/>
                <a:ext cx="660565" cy="461665"/>
              </a:xfrm>
              <a:prstGeom prst="rect">
                <a:avLst/>
              </a:prstGeom>
              <a:blipFill>
                <a:blip r:embed="rId12"/>
                <a:stretch>
                  <a:fillRect l="-20755" t="-121053" r="-47170" b="-186842"/>
                </a:stretch>
              </a:blipFill>
            </p:spPr>
            <p:txBody>
              <a:bodyPr/>
              <a:lstStyle/>
              <a:p>
                <a:r>
                  <a:rPr lang="en-US">
                    <a:noFill/>
                  </a:rPr>
                  <a:t> </a:t>
                </a:r>
              </a:p>
            </p:txBody>
          </p:sp>
        </mc:Fallback>
      </mc:AlternateContent>
      <p:pic>
        <p:nvPicPr>
          <p:cNvPr id="75" name="Picture 74">
            <a:extLst>
              <a:ext uri="{FF2B5EF4-FFF2-40B4-BE49-F238E27FC236}">
                <a16:creationId xmlns:a16="http://schemas.microsoft.com/office/drawing/2014/main" id="{19E6A796-DAB5-EB48-8F80-E76DAF5E712E}"/>
              </a:ext>
            </a:extLst>
          </p:cNvPr>
          <p:cNvPicPr>
            <a:picLocks noChangeAspect="1"/>
          </p:cNvPicPr>
          <p:nvPr/>
        </p:nvPicPr>
        <p:blipFill>
          <a:blip r:embed="rId13"/>
          <a:stretch>
            <a:fillRect/>
          </a:stretch>
        </p:blipFill>
        <p:spPr>
          <a:xfrm>
            <a:off x="799166" y="795991"/>
            <a:ext cx="661021" cy="1018228"/>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4DE361-A4E8-B444-8EF4-D8051A51B22A}"/>
                  </a:ext>
                </a:extLst>
              </p:cNvPr>
              <p:cNvSpPr txBox="1"/>
              <p:nvPr/>
            </p:nvSpPr>
            <p:spPr>
              <a:xfrm>
                <a:off x="3963506" y="4858447"/>
                <a:ext cx="2661819" cy="8109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𝐵</m:t>
                              </m:r>
                            </m:e>
                            <m:sub>
                              <m:r>
                                <a:rPr lang="en-US" sz="2200" i="1">
                                  <a:solidFill>
                                    <a:srgbClr val="002060"/>
                                  </a:solidFill>
                                  <a:latin typeface="Cambria Math" panose="02040503050406030204" pitchFamily="18" charset="0"/>
                                  <a:ea typeface="Cambria Math" panose="02040503050406030204" pitchFamily="18" charset="0"/>
                                </a:rPr>
                                <m:t>00</m:t>
                              </m:r>
                            </m:sub>
                          </m:sSub>
                        </m:e>
                      </m:d>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0</m:t>
                              </m:r>
                              <m:r>
                                <a:rPr lang="en-US" sz="2200" i="1">
                                  <a:solidFill>
                                    <a:srgbClr val="002060"/>
                                  </a:solidFill>
                                  <a:latin typeface="Cambria Math" panose="02040503050406030204" pitchFamily="18" charset="0"/>
                                  <a:ea typeface="Cambria Math" panose="02040503050406030204" pitchFamily="18" charset="0"/>
                                </a:rPr>
                                <m:t>0</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m:t>
                              </m:r>
                              <m:r>
                                <a:rPr lang="en-US" sz="22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14" name="TextBox 13">
                <a:extLst>
                  <a:ext uri="{FF2B5EF4-FFF2-40B4-BE49-F238E27FC236}">
                    <a16:creationId xmlns:a16="http://schemas.microsoft.com/office/drawing/2014/main" id="{E64DE361-A4E8-B444-8EF4-D8051A51B22A}"/>
                  </a:ext>
                </a:extLst>
              </p:cNvPr>
              <p:cNvSpPr txBox="1">
                <a:spLocks noRot="1" noChangeAspect="1" noMove="1" noResize="1" noEditPoints="1" noAdjustHandles="1" noChangeArrowheads="1" noChangeShapeType="1" noTextEdit="1"/>
              </p:cNvSpPr>
              <p:nvPr/>
            </p:nvSpPr>
            <p:spPr>
              <a:xfrm>
                <a:off x="3963506" y="4858447"/>
                <a:ext cx="2661819" cy="810991"/>
              </a:xfrm>
              <a:prstGeom prst="rect">
                <a:avLst/>
              </a:prstGeom>
              <a:blipFill>
                <a:blip r:embed="rId14"/>
                <a:stretch>
                  <a:fillRect l="-1429" t="-67188" r="-10000" b="-7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025AB74-96D8-0349-9E5C-D2B8CE02963B}"/>
                  </a:ext>
                </a:extLst>
              </p:cNvPr>
              <p:cNvSpPr txBox="1"/>
              <p:nvPr/>
            </p:nvSpPr>
            <p:spPr>
              <a:xfrm>
                <a:off x="4432463" y="2541420"/>
                <a:ext cx="7352718" cy="15800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US" sz="2200" i="1">
                              <a:solidFill>
                                <a:srgbClr val="002060"/>
                              </a:solidFill>
                              <a:latin typeface="Cambria Math" panose="02040503050406030204" pitchFamily="18" charset="0"/>
                              <a:ea typeface="Cambria Math" panose="02040503050406030204" pitchFamily="18" charset="0"/>
                            </a:rPr>
                          </m:ctrlPr>
                        </m:mPr>
                        <m:mr>
                          <m:e>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𝑆</m:t>
                                    </m:r>
                                  </m:e>
                                  <m:sub>
                                    <m:r>
                                      <a:rPr lang="en-US" sz="2200" i="1">
                                        <a:solidFill>
                                          <a:srgbClr val="002060"/>
                                        </a:solidFill>
                                        <a:latin typeface="Cambria Math" panose="02040503050406030204" pitchFamily="18" charset="0"/>
                                        <a:ea typeface="Cambria Math" panose="02040503050406030204" pitchFamily="18" charset="0"/>
                                      </a:rPr>
                                      <m:t>1</m:t>
                                    </m:r>
                                  </m:sub>
                                </m:sSub>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𝑄</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𝐵</m:t>
                                    </m:r>
                                  </m:e>
                                  <m:sub>
                                    <m:r>
                                      <a:rPr lang="en-US" sz="2200" i="1">
                                        <a:solidFill>
                                          <a:srgbClr val="002060"/>
                                        </a:solidFill>
                                        <a:latin typeface="Cambria Math" panose="02040503050406030204" pitchFamily="18" charset="0"/>
                                        <a:ea typeface="Cambria Math" panose="02040503050406030204" pitchFamily="18" charset="0"/>
                                      </a:rPr>
                                      <m:t>00</m:t>
                                    </m:r>
                                  </m:sub>
                                </m:sSub>
                              </m:e>
                            </m:d>
                          </m:e>
                          <m:e>
                            <m:r>
                              <a:rPr lang="en-US" sz="2200" i="1">
                                <a:solidFill>
                                  <a:srgbClr val="002060"/>
                                </a:solidFill>
                                <a:latin typeface="Cambria Math" panose="02040503050406030204" pitchFamily="18" charset="0"/>
                                <a:ea typeface="Cambria Math" panose="02040503050406030204" pitchFamily="18" charset="0"/>
                              </a:rPr>
                              <m:t>=</m:t>
                            </m:r>
                            <m:d>
                              <m:dPr>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𝑎</m:t>
                                </m:r>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r>
                                  <a:rPr lang="en-US" sz="2200" i="1">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ea typeface="Cambria Math" panose="02040503050406030204" pitchFamily="18" charset="0"/>
                                  </a:rPr>
                                  <m:t>𝑏</m:t>
                                </m:r>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1</m:t>
                                    </m:r>
                                  </m:e>
                                </m:d>
                              </m:e>
                            </m:d>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0</m:t>
                                    </m:r>
                                    <m:r>
                                      <a:rPr lang="en-US" sz="2200" i="1">
                                        <a:solidFill>
                                          <a:srgbClr val="002060"/>
                                        </a:solidFill>
                                        <a:latin typeface="Cambria Math" panose="02040503050406030204" pitchFamily="18" charset="0"/>
                                        <a:ea typeface="Cambria Math" panose="02040503050406030204" pitchFamily="18" charset="0"/>
                                      </a:rPr>
                                      <m:t>0</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m:t>
                                    </m:r>
                                    <m:r>
                                      <a:rPr lang="en-US" sz="22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r>
                              <a:rPr lang="en-US" sz="2200" i="1">
                                <a:solidFill>
                                  <a:srgbClr val="002060"/>
                                </a:solidFill>
                                <a:latin typeface="Cambria Math" panose="02040503050406030204" pitchFamily="18" charset="0"/>
                                <a:ea typeface="Cambria Math" panose="02040503050406030204" pitchFamily="18" charset="0"/>
                              </a:rPr>
                              <m:t>                    </m:t>
                            </m:r>
                          </m:e>
                        </m:mr>
                        <m:mr>
                          <m:e/>
                          <m:e>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𝑎</m:t>
                                </m:r>
                                <m:d>
                                  <m:dPr>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00</m:t>
                                        </m:r>
                                        <m:r>
                                          <a:rPr lang="en-US" sz="2200" i="1">
                                            <a:solidFill>
                                              <a:srgbClr val="002060"/>
                                            </a:solidFill>
                                            <a:latin typeface="Cambria Math" panose="02040503050406030204" pitchFamily="18" charset="0"/>
                                            <a:ea typeface="Cambria Math" panose="02040503050406030204" pitchFamily="18" charset="0"/>
                                          </a:rPr>
                                          <m:t>0</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01</m:t>
                                        </m:r>
                                        <m:r>
                                          <a:rPr lang="en-US" sz="2200" i="1">
                                            <a:solidFill>
                                              <a:srgbClr val="002060"/>
                                            </a:solidFill>
                                            <a:latin typeface="Cambria Math" panose="02040503050406030204" pitchFamily="18" charset="0"/>
                                            <a:ea typeface="Cambria Math" panose="02040503050406030204" pitchFamily="18" charset="0"/>
                                          </a:rPr>
                                          <m:t>1</m:t>
                                        </m:r>
                                      </m:e>
                                    </m:d>
                                  </m:e>
                                </m:d>
                                <m:r>
                                  <a:rPr lang="en-US" sz="2200" i="1">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ea typeface="Cambria Math" panose="02040503050406030204" pitchFamily="18" charset="0"/>
                                  </a:rPr>
                                  <m:t>𝑏</m:t>
                                </m:r>
                                <m:d>
                                  <m:dPr>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10</m:t>
                                        </m:r>
                                        <m:r>
                                          <a:rPr lang="en-US" sz="2200" i="1">
                                            <a:solidFill>
                                              <a:srgbClr val="002060"/>
                                            </a:solidFill>
                                            <a:latin typeface="Cambria Math" panose="02040503050406030204" pitchFamily="18" charset="0"/>
                                            <a:ea typeface="Cambria Math" panose="02040503050406030204" pitchFamily="18" charset="0"/>
                                          </a:rPr>
                                          <m:t>0</m:t>
                                        </m:r>
                                      </m:e>
                                    </m:d>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FF0000"/>
                                            </a:solidFill>
                                            <a:latin typeface="Cambria Math" panose="02040503050406030204" pitchFamily="18" charset="0"/>
                                            <a:ea typeface="Cambria Math" panose="02040503050406030204" pitchFamily="18" charset="0"/>
                                          </a:rPr>
                                          <m:t>11</m:t>
                                        </m:r>
                                        <m:r>
                                          <a:rPr lang="en-US" sz="2200" i="1">
                                            <a:solidFill>
                                              <a:srgbClr val="002060"/>
                                            </a:solidFill>
                                            <a:latin typeface="Cambria Math" panose="02040503050406030204" pitchFamily="18" charset="0"/>
                                            <a:ea typeface="Cambria Math" panose="02040503050406030204" pitchFamily="18" charset="0"/>
                                          </a:rPr>
                                          <m:t>1</m:t>
                                        </m:r>
                                      </m:e>
                                    </m:d>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e>
                        </m:mr>
                      </m:m>
                    </m:oMath>
                  </m:oMathPara>
                </a14:m>
                <a:endParaRPr lang="en-US" sz="2200" dirty="0"/>
              </a:p>
            </p:txBody>
          </p:sp>
        </mc:Choice>
        <mc:Fallback xmlns="">
          <p:sp>
            <p:nvSpPr>
              <p:cNvPr id="34" name="TextBox 33">
                <a:extLst>
                  <a:ext uri="{FF2B5EF4-FFF2-40B4-BE49-F238E27FC236}">
                    <a16:creationId xmlns:a16="http://schemas.microsoft.com/office/drawing/2014/main" id="{F025AB74-96D8-0349-9E5C-D2B8CE02963B}"/>
                  </a:ext>
                </a:extLst>
              </p:cNvPr>
              <p:cNvSpPr txBox="1">
                <a:spLocks noRot="1" noChangeAspect="1" noMove="1" noResize="1" noEditPoints="1" noAdjustHandles="1" noChangeArrowheads="1" noChangeShapeType="1" noTextEdit="1"/>
              </p:cNvSpPr>
              <p:nvPr/>
            </p:nvSpPr>
            <p:spPr>
              <a:xfrm>
                <a:off x="4432463" y="2541420"/>
                <a:ext cx="7352718" cy="1580048"/>
              </a:xfrm>
              <a:prstGeom prst="rect">
                <a:avLst/>
              </a:prstGeom>
              <a:blipFill>
                <a:blip r:embed="rId15"/>
                <a:stretch>
                  <a:fillRect t="-33333" r="-1379" b="-25397"/>
                </a:stretch>
              </a:blipFill>
            </p:spPr>
            <p:txBody>
              <a:bodyPr/>
              <a:lstStyle/>
              <a:p>
                <a:r>
                  <a:rPr lang="en-US">
                    <a:noFill/>
                  </a:rPr>
                  <a:t> </a:t>
                </a:r>
              </a:p>
            </p:txBody>
          </p:sp>
        </mc:Fallback>
      </mc:AlternateContent>
      <p:cxnSp>
        <p:nvCxnSpPr>
          <p:cNvPr id="88" name="Straight Connector 87">
            <a:extLst>
              <a:ext uri="{FF2B5EF4-FFF2-40B4-BE49-F238E27FC236}">
                <a16:creationId xmlns:a16="http://schemas.microsoft.com/office/drawing/2014/main" id="{84F687C0-4B8C-3A48-A4A6-B4A4F828A5DD}"/>
              </a:ext>
            </a:extLst>
          </p:cNvPr>
          <p:cNvCxnSpPr>
            <a:cxnSpLocks/>
          </p:cNvCxnSpPr>
          <p:nvPr/>
        </p:nvCxnSpPr>
        <p:spPr>
          <a:xfrm>
            <a:off x="3194109" y="3383898"/>
            <a:ext cx="0" cy="951233"/>
          </a:xfrm>
          <a:prstGeom prst="line">
            <a:avLst/>
          </a:prstGeom>
          <a:ln>
            <a:solidFill>
              <a:schemeClr val="bg1">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C317EF8-544B-874A-ADA6-490999EB06F6}"/>
              </a:ext>
            </a:extLst>
          </p:cNvPr>
          <p:cNvCxnSpPr>
            <a:cxnSpLocks/>
            <a:stCxn id="14" idx="1"/>
          </p:cNvCxnSpPr>
          <p:nvPr/>
        </p:nvCxnSpPr>
        <p:spPr>
          <a:xfrm flipH="1" flipV="1">
            <a:off x="3390892" y="3886625"/>
            <a:ext cx="572614" cy="1377318"/>
          </a:xfrm>
          <a:prstGeom prst="line">
            <a:avLst/>
          </a:prstGeom>
        </p:spPr>
        <p:style>
          <a:lnRef idx="1">
            <a:schemeClr val="accent1"/>
          </a:lnRef>
          <a:fillRef idx="0">
            <a:schemeClr val="accent1"/>
          </a:fillRef>
          <a:effectRef idx="0">
            <a:schemeClr val="accent1"/>
          </a:effectRef>
          <a:fontRef idx="minor">
            <a:schemeClr val="tx1"/>
          </a:fontRef>
        </p:style>
      </p:cxnSp>
      <p:sp>
        <p:nvSpPr>
          <p:cNvPr id="60" name="Right Brace 59">
            <a:extLst>
              <a:ext uri="{FF2B5EF4-FFF2-40B4-BE49-F238E27FC236}">
                <a16:creationId xmlns:a16="http://schemas.microsoft.com/office/drawing/2014/main" id="{A16E2D30-1ED0-EF40-BDAA-0D3BD3423562}"/>
              </a:ext>
            </a:extLst>
          </p:cNvPr>
          <p:cNvSpPr/>
          <p:nvPr/>
        </p:nvSpPr>
        <p:spPr>
          <a:xfrm>
            <a:off x="3984171" y="2363337"/>
            <a:ext cx="471570" cy="1936215"/>
          </a:xfrm>
          <a:prstGeom prst="rightBrace">
            <a:avLst>
              <a:gd name="adj1" fmla="val 3603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Slide Number Placeholder 2">
            <a:extLst>
              <a:ext uri="{FF2B5EF4-FFF2-40B4-BE49-F238E27FC236}">
                <a16:creationId xmlns:a16="http://schemas.microsoft.com/office/drawing/2014/main" id="{75C95187-9CDE-D34E-A639-B50886530D5A}"/>
              </a:ext>
            </a:extLst>
          </p:cNvPr>
          <p:cNvSpPr>
            <a:spLocks noGrp="1"/>
          </p:cNvSpPr>
          <p:nvPr>
            <p:ph type="sldNum" sz="quarter" idx="12"/>
          </p:nvPr>
        </p:nvSpPr>
        <p:spPr>
          <a:xfrm>
            <a:off x="0" y="6492875"/>
            <a:ext cx="797827" cy="365125"/>
          </a:xfrm>
        </p:spPr>
        <p:txBody>
          <a:bodyPr/>
          <a:lstStyle/>
          <a:p>
            <a:fld id="{591A223C-FA10-BC46-A853-03BA373D023C}" type="slidenum">
              <a:rPr lang="en-US" smtClean="0"/>
              <a:t>30</a:t>
            </a:fld>
            <a:endParaRPr lang="en-US" dirty="0"/>
          </a:p>
        </p:txBody>
      </p:sp>
    </p:spTree>
    <p:extLst>
      <p:ext uri="{BB962C8B-B14F-4D97-AF65-F5344CB8AC3E}">
        <p14:creationId xmlns:p14="http://schemas.microsoft.com/office/powerpoint/2010/main" val="1508074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0ED6146A-CCB8-1748-A79C-4D69154504AA}"/>
              </a:ext>
            </a:extLst>
          </p:cNvPr>
          <p:cNvSpPr/>
          <p:nvPr/>
        </p:nvSpPr>
        <p:spPr>
          <a:xfrm>
            <a:off x="2611193" y="1925328"/>
            <a:ext cx="2835450" cy="18940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435CCC82-55F0-7049-8B91-625848C0C3AF}"/>
              </a:ext>
            </a:extLst>
          </p:cNvPr>
          <p:cNvSpPr/>
          <p:nvPr/>
        </p:nvSpPr>
        <p:spPr>
          <a:xfrm>
            <a:off x="585307" y="2825003"/>
            <a:ext cx="1878902" cy="20259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B0C04-D22F-7B44-B869-00E02991A750}"/>
              </a:ext>
            </a:extLst>
          </p:cNvPr>
          <p:cNvSpPr>
            <a:spLocks noGrp="1"/>
          </p:cNvSpPr>
          <p:nvPr>
            <p:ph type="title"/>
          </p:nvPr>
        </p:nvSpPr>
        <p:spPr/>
        <p:txBody>
          <a:bodyPr>
            <a:normAutofit/>
          </a:bodyPr>
          <a:lstStyle/>
          <a:p>
            <a:r>
              <a:rPr lang="en-ZA" dirty="0"/>
              <a:t>Quantum Teleportation (2)</a:t>
            </a:r>
            <a:endParaRPr lang="en-US" dirty="0"/>
          </a:p>
        </p:txBody>
      </p:sp>
      <p:cxnSp>
        <p:nvCxnSpPr>
          <p:cNvPr id="7" name="Straight Connector 6">
            <a:extLst>
              <a:ext uri="{FF2B5EF4-FFF2-40B4-BE49-F238E27FC236}">
                <a16:creationId xmlns:a16="http://schemas.microsoft.com/office/drawing/2014/main" id="{3F45C707-926F-1A49-BAA3-76F601169713}"/>
              </a:ext>
            </a:extLst>
          </p:cNvPr>
          <p:cNvCxnSpPr>
            <a:cxnSpLocks/>
          </p:cNvCxnSpPr>
          <p:nvPr/>
        </p:nvCxnSpPr>
        <p:spPr>
          <a:xfrm>
            <a:off x="550692" y="2363337"/>
            <a:ext cx="5112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DDF0BB-1E72-5542-B583-6BBFAE896B3F}"/>
              </a:ext>
            </a:extLst>
          </p:cNvPr>
          <p:cNvCxnSpPr>
            <a:cxnSpLocks/>
          </p:cNvCxnSpPr>
          <p:nvPr/>
        </p:nvCxnSpPr>
        <p:spPr>
          <a:xfrm flipV="1">
            <a:off x="543507" y="3383898"/>
            <a:ext cx="5150113"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46B40D6-7743-5044-9910-E01EFD777C58}"/>
              </a:ext>
            </a:extLst>
          </p:cNvPr>
          <p:cNvSpPr/>
          <p:nvPr/>
        </p:nvSpPr>
        <p:spPr>
          <a:xfrm>
            <a:off x="786446" y="303010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5" name="Straight Connector 14">
            <a:extLst>
              <a:ext uri="{FF2B5EF4-FFF2-40B4-BE49-F238E27FC236}">
                <a16:creationId xmlns:a16="http://schemas.microsoft.com/office/drawing/2014/main" id="{1D85F885-5D76-C14C-B7F2-BD9A389B7B15}"/>
              </a:ext>
            </a:extLst>
          </p:cNvPr>
          <p:cNvCxnSpPr>
            <a:cxnSpLocks/>
          </p:cNvCxnSpPr>
          <p:nvPr/>
        </p:nvCxnSpPr>
        <p:spPr>
          <a:xfrm>
            <a:off x="543506" y="4335131"/>
            <a:ext cx="373519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552AE55-CD3D-254A-8F7D-70BC64F985AF}"/>
              </a:ext>
            </a:extLst>
          </p:cNvPr>
          <p:cNvGrpSpPr/>
          <p:nvPr/>
        </p:nvGrpSpPr>
        <p:grpSpPr>
          <a:xfrm>
            <a:off x="1627936" y="3207569"/>
            <a:ext cx="720000" cy="1523456"/>
            <a:chOff x="3902013" y="4782323"/>
            <a:chExt cx="720000" cy="1523456"/>
          </a:xfrm>
        </p:grpSpPr>
        <p:sp>
          <p:nvSpPr>
            <p:cNvPr id="30" name="Oval 29">
              <a:extLst>
                <a:ext uri="{FF2B5EF4-FFF2-40B4-BE49-F238E27FC236}">
                  <a16:creationId xmlns:a16="http://schemas.microsoft.com/office/drawing/2014/main" id="{7CA11699-B9D8-7245-BD85-28F0C1351CA0}"/>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1" name="Oval 30">
              <a:extLst>
                <a:ext uri="{FF2B5EF4-FFF2-40B4-BE49-F238E27FC236}">
                  <a16:creationId xmlns:a16="http://schemas.microsoft.com/office/drawing/2014/main" id="{DB464219-E704-7147-97FB-862229518A5E}"/>
                </a:ext>
              </a:extLst>
            </p:cNvPr>
            <p:cNvSpPr>
              <a:spLocks noChangeAspect="1"/>
            </p:cNvSpPr>
            <p:nvPr/>
          </p:nvSpPr>
          <p:spPr>
            <a:xfrm>
              <a:off x="4075930" y="478232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2" name="Straight Connector 31">
              <a:extLst>
                <a:ext uri="{FF2B5EF4-FFF2-40B4-BE49-F238E27FC236}">
                  <a16:creationId xmlns:a16="http://schemas.microsoft.com/office/drawing/2014/main" id="{FA1D0A80-4AE3-CF41-A019-A2F4473A58EC}"/>
                </a:ext>
              </a:extLst>
            </p:cNvPr>
            <p:cNvCxnSpPr>
              <a:cxnSpLocks/>
              <a:stCxn id="31" idx="4"/>
              <a:endCxn id="30" idx="0"/>
            </p:cNvCxnSpPr>
            <p:nvPr/>
          </p:nvCxnSpPr>
          <p:spPr>
            <a:xfrm>
              <a:off x="4255930" y="5142323"/>
              <a:ext cx="6083" cy="44345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AF36C35-3380-0A41-8183-2EC3275FF26A}"/>
              </a:ext>
            </a:extLst>
          </p:cNvPr>
          <p:cNvGrpSpPr/>
          <p:nvPr/>
        </p:nvGrpSpPr>
        <p:grpSpPr>
          <a:xfrm>
            <a:off x="2896881" y="2183337"/>
            <a:ext cx="720000" cy="1557320"/>
            <a:chOff x="3902013" y="4748459"/>
            <a:chExt cx="720000" cy="1557320"/>
          </a:xfrm>
        </p:grpSpPr>
        <p:sp>
          <p:nvSpPr>
            <p:cNvPr id="36" name="Oval 35">
              <a:extLst>
                <a:ext uri="{FF2B5EF4-FFF2-40B4-BE49-F238E27FC236}">
                  <a16:creationId xmlns:a16="http://schemas.microsoft.com/office/drawing/2014/main" id="{02373F65-C903-FF46-A699-B433AB06C088}"/>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Oval 36">
              <a:extLst>
                <a:ext uri="{FF2B5EF4-FFF2-40B4-BE49-F238E27FC236}">
                  <a16:creationId xmlns:a16="http://schemas.microsoft.com/office/drawing/2014/main" id="{53E70F6D-EB49-5745-A346-E163A287CB11}"/>
                </a:ext>
              </a:extLst>
            </p:cNvPr>
            <p:cNvSpPr>
              <a:spLocks noChangeAspect="1"/>
            </p:cNvSpPr>
            <p:nvPr/>
          </p:nvSpPr>
          <p:spPr>
            <a:xfrm>
              <a:off x="4075930" y="4748459"/>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77E24676-5805-E241-B53B-75F9176CC6E3}"/>
                </a:ext>
              </a:extLst>
            </p:cNvPr>
            <p:cNvCxnSpPr>
              <a:cxnSpLocks/>
              <a:stCxn id="37" idx="4"/>
              <a:endCxn id="36" idx="0"/>
            </p:cNvCxnSpPr>
            <p:nvPr/>
          </p:nvCxnSpPr>
          <p:spPr>
            <a:xfrm>
              <a:off x="4255930" y="5108459"/>
              <a:ext cx="6083" cy="47732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5E0ACC07-3250-C74C-9270-6E2910FFD976}"/>
              </a:ext>
            </a:extLst>
          </p:cNvPr>
          <p:cNvSpPr/>
          <p:nvPr/>
        </p:nvSpPr>
        <p:spPr>
          <a:xfrm>
            <a:off x="4459914" y="198233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4941CE57-5B1C-2D4E-8F51-9785BBD63938}"/>
                  </a:ext>
                </a:extLst>
              </p:cNvPr>
              <p:cNvSpPr/>
              <p:nvPr/>
            </p:nvSpPr>
            <p:spPr>
              <a:xfrm>
                <a:off x="-54140" y="317772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0" name="Rectangle 39">
                <a:extLst>
                  <a:ext uri="{FF2B5EF4-FFF2-40B4-BE49-F238E27FC236}">
                    <a16:creationId xmlns:a16="http://schemas.microsoft.com/office/drawing/2014/main" id="{4941CE57-5B1C-2D4E-8F51-9785BBD63938}"/>
                  </a:ext>
                </a:extLst>
              </p:cNvPr>
              <p:cNvSpPr>
                <a:spLocks noRot="1" noChangeAspect="1" noMove="1" noResize="1" noEditPoints="1" noAdjustHandles="1" noChangeArrowheads="1" noChangeShapeType="1" noTextEdit="1"/>
              </p:cNvSpPr>
              <p:nvPr/>
            </p:nvSpPr>
            <p:spPr>
              <a:xfrm>
                <a:off x="-54140" y="3177726"/>
                <a:ext cx="631904" cy="461665"/>
              </a:xfrm>
              <a:prstGeom prst="rect">
                <a:avLst/>
              </a:prstGeom>
              <a:blipFill>
                <a:blip r:embed="rId4"/>
                <a:stretch>
                  <a:fillRect l="-26531" t="-121053" r="-53061"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48311FB0-F384-884A-812E-8BAC78407FA0}"/>
                  </a:ext>
                </a:extLst>
              </p:cNvPr>
              <p:cNvSpPr/>
              <p:nvPr/>
            </p:nvSpPr>
            <p:spPr>
              <a:xfrm>
                <a:off x="-73961" y="4135765"/>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41" name="Rectangle 40">
                <a:extLst>
                  <a:ext uri="{FF2B5EF4-FFF2-40B4-BE49-F238E27FC236}">
                    <a16:creationId xmlns:a16="http://schemas.microsoft.com/office/drawing/2014/main" id="{48311FB0-F384-884A-812E-8BAC78407FA0}"/>
                  </a:ext>
                </a:extLst>
              </p:cNvPr>
              <p:cNvSpPr>
                <a:spLocks noRot="1" noChangeAspect="1" noMove="1" noResize="1" noEditPoints="1" noAdjustHandles="1" noChangeArrowheads="1" noChangeShapeType="1" noTextEdit="1"/>
              </p:cNvSpPr>
              <p:nvPr/>
            </p:nvSpPr>
            <p:spPr>
              <a:xfrm>
                <a:off x="-73961" y="4135765"/>
                <a:ext cx="631904" cy="461665"/>
              </a:xfrm>
              <a:prstGeom prst="rect">
                <a:avLst/>
              </a:prstGeom>
              <a:blipFill>
                <a:blip r:embed="rId5"/>
                <a:stretch>
                  <a:fillRect l="-26000" t="-127027" r="-50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FD69F425-451C-D645-8213-3FF0FCA283A8}"/>
                  </a:ext>
                </a:extLst>
              </p:cNvPr>
              <p:cNvSpPr/>
              <p:nvPr/>
            </p:nvSpPr>
            <p:spPr>
              <a:xfrm>
                <a:off x="18988" y="1908430"/>
                <a:ext cx="25531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b="0" i="1" smtClean="0">
                              <a:solidFill>
                                <a:srgbClr val="C00000"/>
                              </a:solidFill>
                              <a:latin typeface="Cambria Math" panose="02040503050406030204" pitchFamily="18" charset="0"/>
                              <a:ea typeface="Cambria Math" panose="02040503050406030204" pitchFamily="18" charset="0"/>
                            </a:rPr>
                            <m:t>𝑄</m:t>
                          </m:r>
                        </m:e>
                      </m:d>
                      <m:r>
                        <a:rPr lang="en-US" sz="2400" b="0" i="1" smtClean="0">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𝑎</m:t>
                      </m:r>
                      <m:r>
                        <a:rPr lang="en-US" sz="2400" i="1">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0</m:t>
                          </m:r>
                        </m:e>
                      </m:d>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𝑏</m:t>
                      </m:r>
                      <m:r>
                        <a:rPr lang="en-US" sz="2400" i="1">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1</m:t>
                          </m:r>
                        </m:e>
                      </m:d>
                    </m:oMath>
                  </m:oMathPara>
                </a14:m>
                <a:endParaRPr lang="en-US" sz="2400" dirty="0">
                  <a:solidFill>
                    <a:srgbClr val="C00000"/>
                  </a:solidFill>
                </a:endParaRPr>
              </a:p>
            </p:txBody>
          </p:sp>
        </mc:Choice>
        <mc:Fallback xmlns="">
          <p:sp>
            <p:nvSpPr>
              <p:cNvPr id="58" name="Rectangle 57">
                <a:extLst>
                  <a:ext uri="{FF2B5EF4-FFF2-40B4-BE49-F238E27FC236}">
                    <a16:creationId xmlns:a16="http://schemas.microsoft.com/office/drawing/2014/main" id="{FD69F425-451C-D645-8213-3FF0FCA283A8}"/>
                  </a:ext>
                </a:extLst>
              </p:cNvPr>
              <p:cNvSpPr>
                <a:spLocks noRot="1" noChangeAspect="1" noMove="1" noResize="1" noEditPoints="1" noAdjustHandles="1" noChangeArrowheads="1" noChangeShapeType="1" noTextEdit="1"/>
              </p:cNvSpPr>
              <p:nvPr/>
            </p:nvSpPr>
            <p:spPr>
              <a:xfrm>
                <a:off x="18988" y="1908430"/>
                <a:ext cx="2553135" cy="461665"/>
              </a:xfrm>
              <a:prstGeom prst="rect">
                <a:avLst/>
              </a:prstGeom>
              <a:blipFill>
                <a:blip r:embed="rId10"/>
                <a:stretch>
                  <a:fillRect l="-3448" t="-121053" r="-11823"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B28E0DBB-2E61-ED4A-B0AF-BFA511D2512B}"/>
                  </a:ext>
                </a:extLst>
              </p:cNvPr>
              <p:cNvSpPr/>
              <p:nvPr/>
            </p:nvSpPr>
            <p:spPr>
              <a:xfrm>
                <a:off x="2443264" y="3930390"/>
                <a:ext cx="6722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𝐵</m:t>
                          </m:r>
                        </m:e>
                      </m:d>
                    </m:oMath>
                  </m:oMathPara>
                </a14:m>
                <a:endParaRPr lang="en-US" sz="2400" dirty="0">
                  <a:solidFill>
                    <a:schemeClr val="tx1"/>
                  </a:solidFill>
                </a:endParaRPr>
              </a:p>
            </p:txBody>
          </p:sp>
        </mc:Choice>
        <mc:Fallback xmlns="">
          <p:sp>
            <p:nvSpPr>
              <p:cNvPr id="94" name="Rectangle 93">
                <a:extLst>
                  <a:ext uri="{FF2B5EF4-FFF2-40B4-BE49-F238E27FC236}">
                    <a16:creationId xmlns:a16="http://schemas.microsoft.com/office/drawing/2014/main" id="{B28E0DBB-2E61-ED4A-B0AF-BFA511D2512B}"/>
                  </a:ext>
                </a:extLst>
              </p:cNvPr>
              <p:cNvSpPr>
                <a:spLocks noRot="1" noChangeAspect="1" noMove="1" noResize="1" noEditPoints="1" noAdjustHandles="1" noChangeArrowheads="1" noChangeShapeType="1" noTextEdit="1"/>
              </p:cNvSpPr>
              <p:nvPr/>
            </p:nvSpPr>
            <p:spPr>
              <a:xfrm>
                <a:off x="2443264" y="3930390"/>
                <a:ext cx="672235" cy="461665"/>
              </a:xfrm>
              <a:prstGeom prst="rect">
                <a:avLst/>
              </a:prstGeom>
              <a:blipFill>
                <a:blip r:embed="rId16"/>
                <a:stretch>
                  <a:fillRect l="-18868" t="-118421" r="-4717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CCDF888D-B924-CC4A-9984-1EFB405F71ED}"/>
                  </a:ext>
                </a:extLst>
              </p:cNvPr>
              <p:cNvSpPr/>
              <p:nvPr/>
            </p:nvSpPr>
            <p:spPr>
              <a:xfrm>
                <a:off x="2105031" y="2909885"/>
                <a:ext cx="6605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𝐴</m:t>
                          </m:r>
                        </m:e>
                      </m:d>
                    </m:oMath>
                  </m:oMathPara>
                </a14:m>
                <a:endParaRPr lang="en-US" sz="2400" dirty="0">
                  <a:solidFill>
                    <a:schemeClr val="tx1"/>
                  </a:solidFill>
                </a:endParaRPr>
              </a:p>
            </p:txBody>
          </p:sp>
        </mc:Choice>
        <mc:Fallback xmlns="">
          <p:sp>
            <p:nvSpPr>
              <p:cNvPr id="95" name="Rectangle 94">
                <a:extLst>
                  <a:ext uri="{FF2B5EF4-FFF2-40B4-BE49-F238E27FC236}">
                    <a16:creationId xmlns:a16="http://schemas.microsoft.com/office/drawing/2014/main" id="{CCDF888D-B924-CC4A-9984-1EFB405F71ED}"/>
                  </a:ext>
                </a:extLst>
              </p:cNvPr>
              <p:cNvSpPr>
                <a:spLocks noRot="1" noChangeAspect="1" noMove="1" noResize="1" noEditPoints="1" noAdjustHandles="1" noChangeArrowheads="1" noChangeShapeType="1" noTextEdit="1"/>
              </p:cNvSpPr>
              <p:nvPr/>
            </p:nvSpPr>
            <p:spPr>
              <a:xfrm>
                <a:off x="2105031" y="2909885"/>
                <a:ext cx="660565" cy="461665"/>
              </a:xfrm>
              <a:prstGeom prst="rect">
                <a:avLst/>
              </a:prstGeom>
              <a:blipFill>
                <a:blip r:embed="rId17"/>
                <a:stretch>
                  <a:fillRect l="-20755" t="-124324" r="-47170" b="-191892"/>
                </a:stretch>
              </a:blipFill>
            </p:spPr>
            <p:txBody>
              <a:bodyPr/>
              <a:lstStyle/>
              <a:p>
                <a:r>
                  <a:rPr lang="en-US">
                    <a:noFill/>
                  </a:rPr>
                  <a:t> </a:t>
                </a:r>
              </a:p>
            </p:txBody>
          </p:sp>
        </mc:Fallback>
      </mc:AlternateContent>
      <p:pic>
        <p:nvPicPr>
          <p:cNvPr id="75" name="Picture 74">
            <a:extLst>
              <a:ext uri="{FF2B5EF4-FFF2-40B4-BE49-F238E27FC236}">
                <a16:creationId xmlns:a16="http://schemas.microsoft.com/office/drawing/2014/main" id="{A6681DE6-69CC-A448-B0AC-501812EBBA06}"/>
              </a:ext>
            </a:extLst>
          </p:cNvPr>
          <p:cNvPicPr>
            <a:picLocks noChangeAspect="1"/>
          </p:cNvPicPr>
          <p:nvPr/>
        </p:nvPicPr>
        <p:blipFill>
          <a:blip r:embed="rId18"/>
          <a:stretch>
            <a:fillRect/>
          </a:stretch>
        </p:blipFill>
        <p:spPr>
          <a:xfrm>
            <a:off x="799166" y="795991"/>
            <a:ext cx="661021" cy="1018228"/>
          </a:xfrm>
          <a:prstGeom prst="rect">
            <a:avLst/>
          </a:prstGeom>
        </p:spPr>
      </p:pic>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00404F7-E63B-3A4F-8B55-6ED123633109}"/>
                  </a:ext>
                </a:extLst>
              </p:cNvPr>
              <p:cNvSpPr txBox="1"/>
              <p:nvPr/>
            </p:nvSpPr>
            <p:spPr>
              <a:xfrm>
                <a:off x="4690787" y="4345568"/>
                <a:ext cx="7322069" cy="23298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ZA" sz="2200" i="1" smtClean="0">
                              <a:latin typeface="Cambria Math" panose="02040503050406030204" pitchFamily="18" charset="0"/>
                            </a:rPr>
                          </m:ctrlPr>
                        </m:mPr>
                        <m:mr>
                          <m:e>
                            <m:r>
                              <a:rPr lang="sr-Latn-RS" sz="2200" i="1">
                                <a:latin typeface="Cambria Math" panose="02040503050406030204" pitchFamily="18" charset="0"/>
                              </a:rPr>
                              <m:t>=</m:t>
                            </m:r>
                          </m:e>
                          <m:e>
                            <m:f>
                              <m:fPr>
                                <m:ctrlPr>
                                  <a:rPr lang="en-ZA" sz="2200" i="1">
                                    <a:latin typeface="Cambria Math" panose="02040503050406030204" pitchFamily="18" charset="0"/>
                                  </a:rPr>
                                </m:ctrlPr>
                              </m:fPr>
                              <m:num>
                                <m:r>
                                  <a:rPr lang="sr-Latn-RS" sz="2200" i="1">
                                    <a:latin typeface="Cambria Math" panose="02040503050406030204" pitchFamily="18" charset="0"/>
                                  </a:rPr>
                                  <m:t>𝑎</m:t>
                                </m:r>
                                <m:d>
                                  <m:dPr>
                                    <m:ctrlPr>
                                      <a:rPr lang="en-ZA" sz="2200" i="1">
                                        <a:latin typeface="Cambria Math" panose="02040503050406030204" pitchFamily="18" charset="0"/>
                                      </a:rPr>
                                    </m:ctrlPr>
                                  </m:dPr>
                                  <m:e>
                                    <m:r>
                                      <a:rPr lang="en-US" sz="2200" i="1">
                                        <a:latin typeface="Cambria Math" panose="02040503050406030204" pitchFamily="18" charset="0"/>
                                      </a:rPr>
                                      <m:t>𝐶</m:t>
                                    </m:r>
                                    <m:r>
                                      <a:rPr lang="sr-Latn-RS" sz="2200" i="1">
                                        <a:latin typeface="Cambria Math" panose="02040503050406030204" pitchFamily="18" charset="0"/>
                                      </a:rPr>
                                      <m:t>𝑋</m:t>
                                    </m:r>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00</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m:t>
                                        </m:r>
                                      </m:e>
                                    </m:d>
                                    <m:r>
                                      <a:rPr lang="sr-Latn-RS" sz="2200" i="1">
                                        <a:latin typeface="Cambria Math" panose="02040503050406030204" pitchFamily="18" charset="0"/>
                                      </a:rPr>
                                      <m:t>+</m:t>
                                    </m:r>
                                    <m:r>
                                      <a:rPr lang="sr-Latn-RS" sz="2200" i="1">
                                        <a:latin typeface="Cambria Math" panose="02040503050406030204" pitchFamily="18" charset="0"/>
                                      </a:rPr>
                                      <m:t>𝑐𝑋</m:t>
                                    </m:r>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01</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m:t>
                                        </m:r>
                                      </m:e>
                                    </m:d>
                                  </m:e>
                                </m:d>
                                <m:r>
                                  <a:rPr lang="sr-Latn-RS" sz="2200" i="1">
                                    <a:latin typeface="Cambria Math" panose="02040503050406030204" pitchFamily="18" charset="0"/>
                                  </a:rPr>
                                  <m:t>+</m:t>
                                </m:r>
                                <m:r>
                                  <a:rPr lang="sr-Latn-RS" sz="2200" i="1">
                                    <a:latin typeface="Cambria Math" panose="02040503050406030204" pitchFamily="18" charset="0"/>
                                  </a:rPr>
                                  <m:t>𝑏</m:t>
                                </m:r>
                                <m:d>
                                  <m:dPr>
                                    <m:ctrlPr>
                                      <a:rPr lang="sr-Latn-RS" sz="2200" i="1">
                                        <a:latin typeface="Cambria Math" panose="02040503050406030204" pitchFamily="18" charset="0"/>
                                      </a:rPr>
                                    </m:ctrlPr>
                                  </m:dPr>
                                  <m:e>
                                    <m:r>
                                      <a:rPr lang="en-US" sz="2200" i="1">
                                        <a:latin typeface="Cambria Math" panose="02040503050406030204" pitchFamily="18" charset="0"/>
                                      </a:rPr>
                                      <m:t>𝐶</m:t>
                                    </m:r>
                                    <m:r>
                                      <a:rPr lang="sr-Latn-RS" sz="2200" i="1">
                                        <a:latin typeface="Cambria Math" panose="02040503050406030204" pitchFamily="18" charset="0"/>
                                      </a:rPr>
                                      <m:t>𝑋</m:t>
                                    </m:r>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10</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m:t>
                                        </m:r>
                                      </m:e>
                                    </m:d>
                                    <m:r>
                                      <a:rPr lang="sr-Latn-RS" sz="2200" i="1">
                                        <a:latin typeface="Cambria Math" panose="02040503050406030204" pitchFamily="18" charset="0"/>
                                      </a:rPr>
                                      <m:t>+</m:t>
                                    </m:r>
                                    <m:r>
                                      <a:rPr lang="en-US" sz="2200" i="1">
                                        <a:latin typeface="Cambria Math" panose="02040503050406030204" pitchFamily="18" charset="0"/>
                                      </a:rPr>
                                      <m:t>𝐶</m:t>
                                    </m:r>
                                    <m:r>
                                      <a:rPr lang="sr-Latn-RS" sz="2200" i="1">
                                        <a:latin typeface="Cambria Math" panose="02040503050406030204" pitchFamily="18" charset="0"/>
                                      </a:rPr>
                                      <m:t>𝑋</m:t>
                                    </m:r>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11</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m:t>
                                        </m:r>
                                      </m:e>
                                    </m:d>
                                  </m:e>
                                </m:d>
                              </m:num>
                              <m:den>
                                <m:rad>
                                  <m:radPr>
                                    <m:degHide m:val="on"/>
                                    <m:ctrlPr>
                                      <a:rPr lang="en-ZA" sz="2200" i="1">
                                        <a:latin typeface="Cambria Math" panose="02040503050406030204" pitchFamily="18" charset="0"/>
                                      </a:rPr>
                                    </m:ctrlPr>
                                  </m:radPr>
                                  <m:deg/>
                                  <m:e>
                                    <m:r>
                                      <a:rPr lang="sr-Latn-RS" sz="2200" i="1">
                                        <a:latin typeface="Cambria Math" panose="02040503050406030204" pitchFamily="18" charset="0"/>
                                      </a:rPr>
                                      <m:t>2</m:t>
                                    </m:r>
                                  </m:e>
                                </m:rad>
                              </m:den>
                            </m:f>
                          </m:e>
                        </m:mr>
                        <m:mr>
                          <m:e>
                            <m:r>
                              <a:rPr lang="sr-Latn-RS" sz="2200" i="1">
                                <a:latin typeface="Cambria Math" panose="02040503050406030204" pitchFamily="18" charset="0"/>
                              </a:rPr>
                              <m:t>=</m:t>
                            </m:r>
                          </m:e>
                          <m:e>
                            <m:f>
                              <m:fPr>
                                <m:ctrlPr>
                                  <a:rPr lang="en-ZA" sz="2200" i="1">
                                    <a:latin typeface="Cambria Math" panose="02040503050406030204" pitchFamily="18" charset="0"/>
                                  </a:rPr>
                                </m:ctrlPr>
                              </m:fPr>
                              <m:num>
                                <m:r>
                                  <a:rPr lang="sr-Latn-RS" sz="2200" i="1">
                                    <a:latin typeface="Cambria Math" panose="02040503050406030204" pitchFamily="18" charset="0"/>
                                  </a:rPr>
                                  <m:t>𝑎</m:t>
                                </m:r>
                                <m:d>
                                  <m:dPr>
                                    <m:ctrlPr>
                                      <a:rPr lang="en-ZA" sz="2200" i="1">
                                        <a:latin typeface="Cambria Math" panose="02040503050406030204" pitchFamily="18" charset="0"/>
                                      </a:rPr>
                                    </m:ctrlPr>
                                  </m:dPr>
                                  <m:e>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00</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m:t>
                                        </m:r>
                                      </m:e>
                                    </m:d>
                                    <m:r>
                                      <a:rPr lang="sr-Latn-RS" sz="2200" i="1">
                                        <a:latin typeface="Cambria Math" panose="02040503050406030204" pitchFamily="18" charset="0"/>
                                      </a:rPr>
                                      <m:t>+</m:t>
                                    </m:r>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01</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m:t>
                                        </m:r>
                                      </m:e>
                                    </m:d>
                                  </m:e>
                                </m:d>
                                <m:r>
                                  <a:rPr lang="sr-Latn-RS" sz="2200" i="1">
                                    <a:latin typeface="Cambria Math" panose="02040503050406030204" pitchFamily="18" charset="0"/>
                                  </a:rPr>
                                  <m:t>+</m:t>
                                </m:r>
                                <m:r>
                                  <a:rPr lang="sr-Latn-RS" sz="2200" i="1">
                                    <a:latin typeface="Cambria Math" panose="02040503050406030204" pitchFamily="18" charset="0"/>
                                  </a:rPr>
                                  <m:t>𝑏</m:t>
                                </m:r>
                                <m:d>
                                  <m:dPr>
                                    <m:ctrlPr>
                                      <a:rPr lang="sr-Latn-RS" sz="2200" i="1">
                                        <a:latin typeface="Cambria Math" panose="02040503050406030204" pitchFamily="18" charset="0"/>
                                      </a:rPr>
                                    </m:ctrlPr>
                                  </m:dPr>
                                  <m:e>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11</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m:t>
                                        </m:r>
                                      </m:e>
                                    </m:d>
                                    <m:r>
                                      <a:rPr lang="sr-Latn-RS" sz="2200" i="1">
                                        <a:latin typeface="Cambria Math" panose="02040503050406030204" pitchFamily="18" charset="0"/>
                                      </a:rPr>
                                      <m:t>+</m:t>
                                    </m:r>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10</m:t>
                                        </m:r>
                                      </m:e>
                                    </m:d>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m:t>
                                        </m:r>
                                      </m:e>
                                    </m:d>
                                  </m:e>
                                </m:d>
                              </m:num>
                              <m:den>
                                <m:rad>
                                  <m:radPr>
                                    <m:degHide m:val="on"/>
                                    <m:ctrlPr>
                                      <a:rPr lang="en-ZA" sz="2200" i="1">
                                        <a:latin typeface="Cambria Math" panose="02040503050406030204" pitchFamily="18" charset="0"/>
                                      </a:rPr>
                                    </m:ctrlPr>
                                  </m:radPr>
                                  <m:deg/>
                                  <m:e>
                                    <m:r>
                                      <a:rPr lang="sr-Latn-RS" sz="2200" i="1">
                                        <a:latin typeface="Cambria Math" panose="02040503050406030204" pitchFamily="18" charset="0"/>
                                      </a:rPr>
                                      <m:t>2</m:t>
                                    </m:r>
                                  </m:e>
                                </m:rad>
                              </m:den>
                            </m:f>
                          </m:e>
                        </m:mr>
                        <m:mr>
                          <m:e>
                            <m:r>
                              <a:rPr lang="sr-Latn-RS" sz="2200" i="1">
                                <a:latin typeface="Cambria Math" panose="02040503050406030204" pitchFamily="18" charset="0"/>
                              </a:rPr>
                              <m:t>=</m:t>
                            </m:r>
                          </m:e>
                          <m:e>
                            <m:f>
                              <m:fPr>
                                <m:ctrlPr>
                                  <a:rPr lang="sr-Latn-RS" sz="2200" i="1">
                                    <a:latin typeface="Cambria Math" panose="02040503050406030204" pitchFamily="18" charset="0"/>
                                  </a:rPr>
                                </m:ctrlPr>
                              </m:fPr>
                              <m:num>
                                <m:r>
                                  <a:rPr lang="en-US" sz="2200" i="1">
                                    <a:latin typeface="Cambria Math" panose="02040503050406030204" pitchFamily="18" charset="0"/>
                                  </a:rPr>
                                  <m:t>1</m:t>
                                </m:r>
                              </m:num>
                              <m:den>
                                <m:rad>
                                  <m:radPr>
                                    <m:degHide m:val="on"/>
                                    <m:ctrlPr>
                                      <a:rPr lang="en-ZA" sz="2200" i="1">
                                        <a:latin typeface="Cambria Math" panose="02040503050406030204" pitchFamily="18" charset="0"/>
                                      </a:rPr>
                                    </m:ctrlPr>
                                  </m:radPr>
                                  <m:deg/>
                                  <m:e>
                                    <m:r>
                                      <a:rPr lang="sr-Latn-RS" sz="2200" i="1">
                                        <a:latin typeface="Cambria Math" panose="02040503050406030204" pitchFamily="18" charset="0"/>
                                      </a:rPr>
                                      <m:t>2</m:t>
                                    </m:r>
                                  </m:e>
                                </m:rad>
                              </m:den>
                            </m:f>
                            <m:d>
                              <m:dPr>
                                <m:begChr m:val="["/>
                                <m:endChr m:val="]"/>
                                <m:ctrlPr>
                                  <a:rPr lang="sr-Latn-RS" sz="2200" i="1">
                                    <a:latin typeface="Cambria Math" panose="02040503050406030204" pitchFamily="18" charset="0"/>
                                  </a:rPr>
                                </m:ctrlPr>
                              </m:dPr>
                              <m:e>
                                <m:r>
                                  <a:rPr lang="sr-Latn-RS" sz="2200" i="1">
                                    <a:solidFill>
                                      <a:srgbClr val="FF0000"/>
                                    </a:solidFill>
                                    <a:latin typeface="Cambria Math" panose="02040503050406030204" pitchFamily="18" charset="0"/>
                                  </a:rPr>
                                  <m:t>𝑎</m:t>
                                </m:r>
                                <m:d>
                                  <m:dPr>
                                    <m:begChr m:val="|"/>
                                    <m:endChr m:val="⟩"/>
                                    <m:ctrlPr>
                                      <a:rPr lang="en-ZA" sz="2200" i="1">
                                        <a:solidFill>
                                          <a:srgbClr val="FF0000"/>
                                        </a:solidFill>
                                        <a:latin typeface="Cambria Math" panose="02040503050406030204" pitchFamily="18" charset="0"/>
                                      </a:rPr>
                                    </m:ctrlPr>
                                  </m:dPr>
                                  <m:e>
                                    <m:r>
                                      <a:rPr lang="sr-Latn-RS" sz="2200" i="1">
                                        <a:solidFill>
                                          <a:srgbClr val="FF0000"/>
                                        </a:solidFill>
                                        <a:latin typeface="Cambria Math" panose="02040503050406030204" pitchFamily="18" charset="0"/>
                                      </a:rPr>
                                      <m:t>0</m:t>
                                    </m:r>
                                  </m:e>
                                </m:d>
                                <m:d>
                                  <m:dPr>
                                    <m:ctrlPr>
                                      <a:rPr lang="en-ZA" sz="2200" i="1">
                                        <a:latin typeface="Cambria Math" panose="02040503050406030204" pitchFamily="18" charset="0"/>
                                      </a:rPr>
                                    </m:ctrlPr>
                                  </m:dPr>
                                  <m:e>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00</m:t>
                                        </m:r>
                                      </m:e>
                                    </m:d>
                                    <m:r>
                                      <a:rPr lang="sr-Latn-RS" sz="2200" i="1">
                                        <a:latin typeface="Cambria Math" panose="02040503050406030204" pitchFamily="18" charset="0"/>
                                      </a:rPr>
                                      <m:t>+</m:t>
                                    </m:r>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11</m:t>
                                        </m:r>
                                      </m:e>
                                    </m:d>
                                  </m:e>
                                </m:d>
                                <m:r>
                                  <a:rPr lang="sr-Latn-RS" sz="2200" i="1">
                                    <a:latin typeface="Cambria Math" panose="02040503050406030204" pitchFamily="18" charset="0"/>
                                  </a:rPr>
                                  <m:t>+</m:t>
                                </m:r>
                                <m:r>
                                  <a:rPr lang="sr-Latn-RS" sz="2200" i="1">
                                    <a:solidFill>
                                      <a:srgbClr val="FF0000"/>
                                    </a:solidFill>
                                    <a:latin typeface="Cambria Math" panose="02040503050406030204" pitchFamily="18" charset="0"/>
                                  </a:rPr>
                                  <m:t>𝑏</m:t>
                                </m:r>
                                <m:d>
                                  <m:dPr>
                                    <m:begChr m:val="|"/>
                                    <m:endChr m:val="⟩"/>
                                    <m:ctrlPr>
                                      <a:rPr lang="en-ZA" sz="2200" i="1">
                                        <a:solidFill>
                                          <a:srgbClr val="FF0000"/>
                                        </a:solidFill>
                                        <a:latin typeface="Cambria Math" panose="02040503050406030204" pitchFamily="18" charset="0"/>
                                      </a:rPr>
                                    </m:ctrlPr>
                                  </m:dPr>
                                  <m:e>
                                    <m:r>
                                      <a:rPr lang="sr-Latn-RS" sz="2200" i="1">
                                        <a:solidFill>
                                          <a:srgbClr val="FF0000"/>
                                        </a:solidFill>
                                        <a:latin typeface="Cambria Math" panose="02040503050406030204" pitchFamily="18" charset="0"/>
                                      </a:rPr>
                                      <m:t>1</m:t>
                                    </m:r>
                                  </m:e>
                                </m:d>
                                <m:d>
                                  <m:dPr>
                                    <m:ctrlPr>
                                      <a:rPr lang="sr-Latn-RS" sz="2200" i="1">
                                        <a:solidFill>
                                          <a:srgbClr val="FF0000"/>
                                        </a:solidFill>
                                        <a:latin typeface="Cambria Math" panose="02040503050406030204" pitchFamily="18" charset="0"/>
                                      </a:rPr>
                                    </m:ctrlPr>
                                  </m:dPr>
                                  <m:e>
                                    <m:d>
                                      <m:dPr>
                                        <m:begChr m:val="|"/>
                                        <m:endChr m:val="⟩"/>
                                        <m:ctrlPr>
                                          <a:rPr lang="en-ZA" sz="2200" i="1">
                                            <a:latin typeface="Cambria Math" panose="02040503050406030204" pitchFamily="18" charset="0"/>
                                          </a:rPr>
                                        </m:ctrlPr>
                                      </m:dPr>
                                      <m:e>
                                        <m:r>
                                          <a:rPr lang="sr-Latn-RS" sz="2200">
                                            <a:latin typeface="Cambria Math" panose="02040503050406030204" pitchFamily="18" charset="0"/>
                                          </a:rPr>
                                          <m:t>10</m:t>
                                        </m:r>
                                      </m:e>
                                    </m:d>
                                    <m:r>
                                      <a:rPr lang="sr-Latn-RS" sz="2200" i="1">
                                        <a:latin typeface="Cambria Math" panose="02040503050406030204" pitchFamily="18" charset="0"/>
                                      </a:rPr>
                                      <m:t>+</m:t>
                                    </m:r>
                                    <m:d>
                                      <m:dPr>
                                        <m:begChr m:val="|"/>
                                        <m:endChr m:val="⟩"/>
                                        <m:ctrlPr>
                                          <a:rPr lang="en-ZA" sz="2200" i="1">
                                            <a:latin typeface="Cambria Math" panose="02040503050406030204" pitchFamily="18" charset="0"/>
                                          </a:rPr>
                                        </m:ctrlPr>
                                      </m:dPr>
                                      <m:e>
                                        <m:r>
                                          <a:rPr lang="sr-Latn-RS" sz="2200">
                                            <a:latin typeface="Cambria Math" panose="02040503050406030204" pitchFamily="18" charset="0"/>
                                          </a:rPr>
                                          <m:t>01</m:t>
                                        </m:r>
                                      </m:e>
                                    </m:d>
                                  </m:e>
                                </m:d>
                              </m:e>
                            </m:d>
                          </m:e>
                        </m:mr>
                      </m:m>
                    </m:oMath>
                  </m:oMathPara>
                </a14:m>
                <a:endParaRPr lang="en-US" sz="2200" dirty="0"/>
              </a:p>
            </p:txBody>
          </p:sp>
        </mc:Choice>
        <mc:Fallback xmlns="">
          <p:sp>
            <p:nvSpPr>
              <p:cNvPr id="47" name="TextBox 46">
                <a:extLst>
                  <a:ext uri="{FF2B5EF4-FFF2-40B4-BE49-F238E27FC236}">
                    <a16:creationId xmlns:a16="http://schemas.microsoft.com/office/drawing/2014/main" id="{000404F7-E63B-3A4F-8B55-6ED123633109}"/>
                  </a:ext>
                </a:extLst>
              </p:cNvPr>
              <p:cNvSpPr txBox="1">
                <a:spLocks noRot="1" noChangeAspect="1" noMove="1" noResize="1" noEditPoints="1" noAdjustHandles="1" noChangeArrowheads="1" noChangeShapeType="1" noTextEdit="1"/>
              </p:cNvSpPr>
              <p:nvPr/>
            </p:nvSpPr>
            <p:spPr>
              <a:xfrm>
                <a:off x="4690787" y="4345568"/>
                <a:ext cx="7322069" cy="2329869"/>
              </a:xfrm>
              <a:prstGeom prst="rect">
                <a:avLst/>
              </a:prstGeom>
              <a:blipFill>
                <a:blip r:embed="rId19"/>
                <a:stretch>
                  <a:fillRect/>
                </a:stretch>
              </a:blipFill>
            </p:spPr>
            <p:txBody>
              <a:bodyPr/>
              <a:lstStyle/>
              <a:p>
                <a:r>
                  <a:rPr lang="en-US">
                    <a:noFill/>
                  </a:rPr>
                  <a:t> </a:t>
                </a:r>
              </a:p>
            </p:txBody>
          </p:sp>
        </mc:Fallback>
      </mc:AlternateContent>
      <p:cxnSp>
        <p:nvCxnSpPr>
          <p:cNvPr id="89" name="Straight Connector 88">
            <a:extLst>
              <a:ext uri="{FF2B5EF4-FFF2-40B4-BE49-F238E27FC236}">
                <a16:creationId xmlns:a16="http://schemas.microsoft.com/office/drawing/2014/main" id="{54A165C2-BCE9-6E40-AAF8-46C238E6EAFA}"/>
              </a:ext>
            </a:extLst>
          </p:cNvPr>
          <p:cNvCxnSpPr>
            <a:cxnSpLocks/>
          </p:cNvCxnSpPr>
          <p:nvPr/>
        </p:nvCxnSpPr>
        <p:spPr>
          <a:xfrm>
            <a:off x="4039497" y="2349386"/>
            <a:ext cx="0" cy="1985745"/>
          </a:xfrm>
          <a:prstGeom prst="line">
            <a:avLst/>
          </a:prstGeom>
          <a:ln>
            <a:solidFill>
              <a:schemeClr val="bg1">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5E3D9CA-1836-6742-B379-9FDEC97586E3}"/>
              </a:ext>
            </a:extLst>
          </p:cNvPr>
          <p:cNvCxnSpPr>
            <a:cxnSpLocks/>
          </p:cNvCxnSpPr>
          <p:nvPr/>
        </p:nvCxnSpPr>
        <p:spPr>
          <a:xfrm>
            <a:off x="4278702" y="3207569"/>
            <a:ext cx="2091939" cy="86526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64369BBA-E151-9443-BDD1-08E77BA9CC56}"/>
                  </a:ext>
                </a:extLst>
              </p:cNvPr>
              <p:cNvSpPr/>
              <p:nvPr/>
            </p:nvSpPr>
            <p:spPr>
              <a:xfrm>
                <a:off x="2561271" y="4503093"/>
                <a:ext cx="2335191" cy="430887"/>
              </a:xfrm>
              <a:prstGeom prst="rect">
                <a:avLst/>
              </a:prstGeom>
            </p:spPr>
            <p:txBody>
              <a:bodyPr wrap="none">
                <a:spAutoFit/>
              </a:bodyPr>
              <a:lstStyle/>
              <a:p>
                <a14:m>
                  <m:oMath xmlns:m="http://schemas.openxmlformats.org/officeDocument/2006/math">
                    <m:d>
                      <m:dPr>
                        <m:begChr m:val="|"/>
                        <m:endChr m:val="⟩"/>
                        <m:ctrlPr>
                          <a:rPr lang="en-ZA" sz="2200" i="1" smtClean="0">
                            <a:latin typeface="Cambria Math" panose="02040503050406030204" pitchFamily="18" charset="0"/>
                          </a:rPr>
                        </m:ctrlPr>
                      </m:dPr>
                      <m:e>
                        <m:sSub>
                          <m:sSubPr>
                            <m:ctrlPr>
                              <a:rPr lang="en-ZA" sz="2200" i="1">
                                <a:latin typeface="Cambria Math" panose="02040503050406030204" pitchFamily="18" charset="0"/>
                              </a:rPr>
                            </m:ctrlPr>
                          </m:sSubPr>
                          <m:e>
                            <m:r>
                              <a:rPr lang="sr-Latn-RS" sz="2200" i="1">
                                <a:latin typeface="Cambria Math" panose="02040503050406030204" pitchFamily="18" charset="0"/>
                              </a:rPr>
                              <m:t>𝑆</m:t>
                            </m:r>
                          </m:e>
                          <m:sub>
                            <m:r>
                              <a:rPr lang="en-US" sz="2200" b="0" i="1" smtClean="0">
                                <a:latin typeface="Cambria Math" panose="02040503050406030204" pitchFamily="18" charset="0"/>
                              </a:rPr>
                              <m:t>2</m:t>
                            </m:r>
                          </m:sub>
                        </m:sSub>
                      </m:e>
                    </m:d>
                  </m:oMath>
                </a14:m>
                <a:r>
                  <a:rPr lang="sr-Latn-RS" sz="2200" dirty="0"/>
                  <a:t> =</a:t>
                </a:r>
                <a14:m>
                  <m:oMath xmlns:m="http://schemas.openxmlformats.org/officeDocument/2006/math">
                    <m:r>
                      <a:rPr lang="sr-Latn-RS" sz="2200" i="1">
                        <a:latin typeface="Cambria Math" panose="02040503050406030204" pitchFamily="18" charset="0"/>
                      </a:rPr>
                      <m:t>(</m:t>
                    </m:r>
                    <m:r>
                      <a:rPr lang="en-US" sz="2200" i="1">
                        <a:latin typeface="Cambria Math" panose="02040503050406030204" pitchFamily="18" charset="0"/>
                      </a:rPr>
                      <m:t>𝐶</m:t>
                    </m:r>
                    <m:r>
                      <a:rPr lang="sr-Latn-RS" sz="2200" i="1">
                        <a:latin typeface="Cambria Math" panose="02040503050406030204" pitchFamily="18" charset="0"/>
                      </a:rPr>
                      <m:t>𝑋</m:t>
                    </m:r>
                    <m:r>
                      <a:rPr lang="sr-Latn-RS" sz="2200" i="1">
                        <a:latin typeface="Cambria Math" panose="02040503050406030204" pitchFamily="18" charset="0"/>
                      </a:rPr>
                      <m:t>⨂</m:t>
                    </m:r>
                    <m:r>
                      <a:rPr lang="sr-Latn-RS" sz="2200" i="1">
                        <a:latin typeface="Cambria Math" panose="02040503050406030204" pitchFamily="18" charset="0"/>
                      </a:rPr>
                      <m:t>𝐼</m:t>
                    </m:r>
                    <m:r>
                      <a:rPr lang="sr-Latn-RS" sz="2200" i="1">
                        <a:latin typeface="Cambria Math" panose="02040503050406030204" pitchFamily="18" charset="0"/>
                      </a:rPr>
                      <m:t>)</m:t>
                    </m:r>
                    <m:d>
                      <m:dPr>
                        <m:begChr m:val="|"/>
                        <m:endChr m:val="⟩"/>
                        <m:ctrlPr>
                          <a:rPr lang="en-ZA" sz="2200" i="1">
                            <a:latin typeface="Cambria Math" panose="02040503050406030204" pitchFamily="18" charset="0"/>
                          </a:rPr>
                        </m:ctrlPr>
                      </m:dPr>
                      <m:e>
                        <m:sSub>
                          <m:sSubPr>
                            <m:ctrlPr>
                              <a:rPr lang="en-ZA" sz="2200" i="1">
                                <a:latin typeface="Cambria Math" panose="02040503050406030204" pitchFamily="18" charset="0"/>
                              </a:rPr>
                            </m:ctrlPr>
                          </m:sSubPr>
                          <m:e>
                            <m:r>
                              <a:rPr lang="sr-Latn-RS" sz="2200" i="1">
                                <a:latin typeface="Cambria Math" panose="02040503050406030204" pitchFamily="18" charset="0"/>
                              </a:rPr>
                              <m:t>𝑆</m:t>
                            </m:r>
                          </m:e>
                          <m:sub>
                            <m:r>
                              <a:rPr lang="sr-Latn-RS" sz="2200" i="1">
                                <a:latin typeface="Cambria Math" panose="02040503050406030204" pitchFamily="18" charset="0"/>
                              </a:rPr>
                              <m:t>1</m:t>
                            </m:r>
                          </m:sub>
                        </m:sSub>
                      </m:e>
                    </m:d>
                  </m:oMath>
                </a14:m>
                <a:endParaRPr lang="en-US" sz="2200" dirty="0"/>
              </a:p>
            </p:txBody>
          </p:sp>
        </mc:Choice>
        <mc:Fallback xmlns="">
          <p:sp>
            <p:nvSpPr>
              <p:cNvPr id="61" name="Rectangle 60">
                <a:extLst>
                  <a:ext uri="{FF2B5EF4-FFF2-40B4-BE49-F238E27FC236}">
                    <a16:creationId xmlns:a16="http://schemas.microsoft.com/office/drawing/2014/main" id="{64369BBA-E151-9443-BDD1-08E77BA9CC56}"/>
                  </a:ext>
                </a:extLst>
              </p:cNvPr>
              <p:cNvSpPr>
                <a:spLocks noRot="1" noChangeAspect="1" noMove="1" noResize="1" noEditPoints="1" noAdjustHandles="1" noChangeArrowheads="1" noChangeShapeType="1" noTextEdit="1"/>
              </p:cNvSpPr>
              <p:nvPr/>
            </p:nvSpPr>
            <p:spPr>
              <a:xfrm>
                <a:off x="2561271" y="4503093"/>
                <a:ext cx="2335191" cy="430887"/>
              </a:xfrm>
              <a:prstGeom prst="rect">
                <a:avLst/>
              </a:prstGeom>
              <a:blipFill>
                <a:blip r:embed="rId20"/>
                <a:stretch>
                  <a:fillRect t="-8571" b="-25714"/>
                </a:stretch>
              </a:blipFill>
            </p:spPr>
            <p:txBody>
              <a:bodyPr/>
              <a:lstStyle/>
              <a:p>
                <a:r>
                  <a:rPr lang="en-US">
                    <a:noFill/>
                  </a:rPr>
                  <a:t> </a:t>
                </a:r>
              </a:p>
            </p:txBody>
          </p:sp>
        </mc:Fallback>
      </mc:AlternateContent>
      <p:sp>
        <p:nvSpPr>
          <p:cNvPr id="33" name="Slide Number Placeholder 2">
            <a:extLst>
              <a:ext uri="{FF2B5EF4-FFF2-40B4-BE49-F238E27FC236}">
                <a16:creationId xmlns:a16="http://schemas.microsoft.com/office/drawing/2014/main" id="{5D812BF8-75C9-E54A-87EF-01037896CB31}"/>
              </a:ext>
            </a:extLst>
          </p:cNvPr>
          <p:cNvSpPr>
            <a:spLocks noGrp="1"/>
          </p:cNvSpPr>
          <p:nvPr>
            <p:ph type="sldNum" sz="quarter" idx="12"/>
          </p:nvPr>
        </p:nvSpPr>
        <p:spPr>
          <a:xfrm>
            <a:off x="0" y="6492875"/>
            <a:ext cx="797827" cy="365125"/>
          </a:xfrm>
        </p:spPr>
        <p:txBody>
          <a:bodyPr/>
          <a:lstStyle/>
          <a:p>
            <a:fld id="{591A223C-FA10-BC46-A853-03BA373D023C}" type="slidenum">
              <a:rPr lang="en-US" smtClean="0"/>
              <a:t>31</a:t>
            </a:fld>
            <a:endParaRPr lang="en-US" dirty="0"/>
          </a:p>
        </p:txBody>
      </p:sp>
    </p:spTree>
    <p:extLst>
      <p:ext uri="{BB962C8B-B14F-4D97-AF65-F5344CB8AC3E}">
        <p14:creationId xmlns:p14="http://schemas.microsoft.com/office/powerpoint/2010/main" val="427379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BCA95C8E-E4A3-CA42-B314-4E81E4CCC9EA}"/>
                  </a:ext>
                </a:extLst>
              </p:cNvPr>
              <p:cNvSpPr txBox="1"/>
              <p:nvPr/>
            </p:nvSpPr>
            <p:spPr>
              <a:xfrm>
                <a:off x="1627936" y="3819352"/>
                <a:ext cx="10293074" cy="29446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200" i="1" smtClean="0">
                              <a:solidFill>
                                <a:schemeClr val="tx1"/>
                              </a:solidFill>
                              <a:latin typeface="Cambria Math" panose="02040503050406030204" pitchFamily="18" charset="0"/>
                              <a:ea typeface="Cambria Math" panose="02040503050406030204" pitchFamily="18" charset="0"/>
                            </a:rPr>
                          </m:ctrlPr>
                        </m:mPr>
                        <m:mr>
                          <m:e>
                            <m:eqArr>
                              <m:eqArrPr>
                                <m:ctrlPr>
                                  <a:rPr lang="en-US" sz="2200" i="1">
                                    <a:solidFill>
                                      <a:schemeClr val="tx1"/>
                                    </a:solidFill>
                                    <a:latin typeface="Cambria Math" panose="02040503050406030204" pitchFamily="18" charset="0"/>
                                    <a:ea typeface="Cambria Math" panose="02040503050406030204" pitchFamily="18" charset="0"/>
                                  </a:rPr>
                                </m:ctrlPr>
                              </m:eqArrPr>
                              <m:e/>
                              <m:e/>
                            </m:eqArr>
                          </m:e>
                        </m:mr>
                        <m:mr>
                          <m:e>
                            <m:r>
                              <a:rPr lang="en-US" sz="2200" i="1">
                                <a:solidFill>
                                  <a:schemeClr val="tx1"/>
                                </a:solidFill>
                                <a:latin typeface="Cambria Math" panose="02040503050406030204" pitchFamily="18" charset="0"/>
                                <a:ea typeface="Cambria Math" panose="02040503050406030204" pitchFamily="18" charset="0"/>
                              </a:rPr>
                              <m:t>=</m:t>
                            </m:r>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𝑎𝐻</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d>
                                      <m:dPr>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11</m:t>
                                            </m:r>
                                          </m:e>
                                        </m:d>
                                      </m:e>
                                    </m:d>
                                    <m:r>
                                      <a:rPr lang="en-US"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𝑏𝐻</m:t>
                                    </m:r>
                                  </m:e>
                                </m:d>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d>
                                  <m:dPr>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01</m:t>
                                        </m:r>
                                      </m:e>
                                    </m:d>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r>
                              <a:rPr lang="en-US" sz="2200" i="1">
                                <a:solidFill>
                                  <a:schemeClr val="tx1"/>
                                </a:solidFill>
                                <a:latin typeface="Cambria Math" panose="02040503050406030204" pitchFamily="18" charset="0"/>
                                <a:ea typeface="Cambria Math" panose="02040503050406030204" pitchFamily="18" charset="0"/>
                              </a:rPr>
                              <m:t>                                </m:t>
                            </m:r>
                          </m:e>
                        </m:mr>
                        <m:mr>
                          <m:e>
                            <m:r>
                              <a:rPr lang="en-US"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𝑎</m:t>
                            </m:r>
                            <m:d>
                              <m:dPr>
                                <m:ctrlPr>
                                  <a:rPr lang="en-US" sz="2200" i="1">
                                    <a:solidFill>
                                      <a:schemeClr val="tx1"/>
                                    </a:solidFill>
                                    <a:latin typeface="Cambria Math" panose="02040503050406030204" pitchFamily="18" charset="0"/>
                                    <a:ea typeface="Cambria Math" panose="02040503050406030204" pitchFamily="18" charset="0"/>
                                  </a:rPr>
                                </m:ctrlPr>
                              </m:dPr>
                              <m:e>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e>
                            </m:d>
                            <m:d>
                              <m:dPr>
                                <m:ctrlPr>
                                  <a:rPr lang="en-US" sz="2200" i="1">
                                    <a:solidFill>
                                      <a:schemeClr val="tx1"/>
                                    </a:solidFill>
                                    <a:latin typeface="Cambria Math" panose="02040503050406030204" pitchFamily="18" charset="0"/>
                                    <a:ea typeface="Cambria Math" panose="02040503050406030204" pitchFamily="18" charset="0"/>
                                  </a:rPr>
                                </m:ctrlPr>
                              </m:dPr>
                              <m:e>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e>
                            </m:d>
                            <m:r>
                              <a:rPr lang="en-US"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𝑏</m:t>
                            </m:r>
                            <m:d>
                              <m:dPr>
                                <m:ctrlPr>
                                  <a:rPr lang="en-US" sz="2200" i="1">
                                    <a:solidFill>
                                      <a:schemeClr val="tx1"/>
                                    </a:solidFill>
                                    <a:latin typeface="Cambria Math" panose="02040503050406030204" pitchFamily="18" charset="0"/>
                                    <a:ea typeface="Cambria Math" panose="02040503050406030204" pitchFamily="18" charset="0"/>
                                  </a:rPr>
                                </m:ctrlPr>
                              </m:dPr>
                              <m:e>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e>
                            </m:d>
                            <m:d>
                              <m:dPr>
                                <m:ctrlPr>
                                  <a:rPr lang="en-US" sz="2200" i="1">
                                    <a:solidFill>
                                      <a:schemeClr val="tx1"/>
                                    </a:solidFill>
                                    <a:latin typeface="Cambria Math" panose="02040503050406030204" pitchFamily="18" charset="0"/>
                                    <a:ea typeface="Cambria Math" panose="02040503050406030204" pitchFamily="18" charset="0"/>
                                  </a:rPr>
                                </m:ctrlPr>
                              </m:dPr>
                              <m:e>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e>
                            </m:d>
                          </m:e>
                        </m:mr>
                        <m:mr>
                          <m:e>
                            <m:r>
                              <a:rPr lang="en-US" sz="2200" b="0" i="1" smtClean="0">
                                <a:solidFill>
                                  <a:schemeClr val="tx1"/>
                                </a:solidFill>
                                <a:latin typeface="Cambria Math" panose="02040503050406030204" pitchFamily="18" charset="0"/>
                                <a:ea typeface="Cambria Math" panose="02040503050406030204" pitchFamily="18" charset="0"/>
                              </a:rPr>
                              <m:t>=</m:t>
                            </m:r>
                            <m:f>
                              <m:fPr>
                                <m:ctrlPr>
                                  <a:rPr lang="en-US" sz="2200" b="0" i="1" smtClean="0">
                                    <a:solidFill>
                                      <a:schemeClr val="tx1"/>
                                    </a:solidFill>
                                    <a:latin typeface="Cambria Math" panose="02040503050406030204" pitchFamily="18" charset="0"/>
                                    <a:ea typeface="Cambria Math" panose="02040503050406030204" pitchFamily="18" charset="0"/>
                                  </a:rPr>
                                </m:ctrlPr>
                              </m:fPr>
                              <m:num>
                                <m:r>
                                  <a:rPr lang="en-US" sz="2200" b="0" i="1" smtClean="0">
                                    <a:solidFill>
                                      <a:schemeClr val="tx1"/>
                                    </a:solidFill>
                                    <a:latin typeface="Cambria Math" panose="02040503050406030204" pitchFamily="18" charset="0"/>
                                    <a:ea typeface="Cambria Math" panose="02040503050406030204" pitchFamily="18" charset="0"/>
                                  </a:rPr>
                                  <m:t>1</m:t>
                                </m:r>
                              </m:num>
                              <m:den>
                                <m:r>
                                  <a:rPr lang="en-US" sz="2200" b="0" i="1" smtClean="0">
                                    <a:solidFill>
                                      <a:schemeClr val="tx1"/>
                                    </a:solidFill>
                                    <a:latin typeface="Cambria Math" panose="02040503050406030204" pitchFamily="18" charset="0"/>
                                    <a:ea typeface="Cambria Math" panose="02040503050406030204" pitchFamily="18" charset="0"/>
                                  </a:rPr>
                                  <m:t>2</m:t>
                                </m:r>
                              </m:den>
                            </m:f>
                            <m:d>
                              <m:dPr>
                                <m:begChr m:val="["/>
                                <m:endChr m:val="]"/>
                                <m:ctrlPr>
                                  <a:rPr lang="en-US" sz="2200" b="0" i="1" smtClean="0">
                                    <a:solidFill>
                                      <a:schemeClr val="tx1"/>
                                    </a:solidFill>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smtClean="0">
                                        <a:solidFill>
                                          <a:srgbClr val="FF0000"/>
                                        </a:solidFill>
                                        <a:latin typeface="Cambria Math" panose="02040503050406030204" pitchFamily="18" charset="0"/>
                                        <a:ea typeface="Cambria Math" panose="02040503050406030204" pitchFamily="18" charset="0"/>
                                      </a:rPr>
                                      <m:t>00</m:t>
                                    </m:r>
                                  </m:e>
                                </m:d>
                                <m:d>
                                  <m:dPr>
                                    <m:ctrlPr>
                                      <a:rPr lang="en-US" sz="2200" i="1" smtClean="0">
                                        <a:solidFill>
                                          <a:schemeClr val="tx1"/>
                                        </a:solidFill>
                                        <a:latin typeface="Cambria Math" panose="02040503050406030204" pitchFamily="18" charset="0"/>
                                        <a:ea typeface="Cambria Math" panose="02040503050406030204" pitchFamily="18" charset="0"/>
                                      </a:rPr>
                                    </m:ctrlPr>
                                  </m:dPr>
                                  <m:e>
                                    <m:r>
                                      <a:rPr lang="en-US" sz="2200" b="0" i="1" smtClean="0">
                                        <a:solidFill>
                                          <a:schemeClr val="tx1"/>
                                        </a:solidFill>
                                        <a:latin typeface="Cambria Math" panose="02040503050406030204" pitchFamily="18" charset="0"/>
                                        <a:ea typeface="Cambria Math" panose="02040503050406030204" pitchFamily="18" charset="0"/>
                                      </a:rPr>
                                      <m:t>𝑎</m:t>
                                    </m:r>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𝑏</m:t>
                                    </m:r>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e>
                                </m:d>
                                <m:r>
                                  <a:rPr lang="en-US" sz="2200" b="0" i="1" smtClean="0">
                                    <a:solidFill>
                                      <a:schemeClr val="tx1"/>
                                    </a:solidFill>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smtClean="0">
                                        <a:solidFill>
                                          <a:srgbClr val="FF0000"/>
                                        </a:solidFill>
                                        <a:latin typeface="Cambria Math" panose="02040503050406030204" pitchFamily="18" charset="0"/>
                                        <a:ea typeface="Cambria Math" panose="02040503050406030204" pitchFamily="18" charset="0"/>
                                      </a:rPr>
                                      <m:t>0</m:t>
                                    </m:r>
                                    <m:r>
                                      <a:rPr lang="en-US" sz="2200" b="0" i="1" smtClean="0">
                                        <a:solidFill>
                                          <a:srgbClr val="FF0000"/>
                                        </a:solidFill>
                                        <a:latin typeface="Cambria Math" panose="02040503050406030204" pitchFamily="18" charset="0"/>
                                        <a:ea typeface="Cambria Math" panose="02040503050406030204" pitchFamily="18" charset="0"/>
                                      </a:rPr>
                                      <m:t>1</m:t>
                                    </m:r>
                                  </m:e>
                                </m:d>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1</m:t>
                                        </m:r>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0</m:t>
                                        </m:r>
                                      </m:e>
                                    </m:d>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solidFill>
                                          <a:srgbClr val="FF0000"/>
                                        </a:solidFill>
                                        <a:latin typeface="Cambria Math" panose="02040503050406030204" pitchFamily="18" charset="0"/>
                                        <a:ea typeface="Cambria Math" panose="02040503050406030204" pitchFamily="18" charset="0"/>
                                      </a:rPr>
                                      <m:t>1</m:t>
                                    </m:r>
                                    <m:r>
                                      <a:rPr lang="en-US" sz="2200" i="1">
                                        <a:solidFill>
                                          <a:srgbClr val="FF0000"/>
                                        </a:solidFill>
                                        <a:latin typeface="Cambria Math" panose="02040503050406030204" pitchFamily="18" charset="0"/>
                                        <a:ea typeface="Cambria Math" panose="02040503050406030204" pitchFamily="18" charset="0"/>
                                      </a:rPr>
                                      <m:t>0</m:t>
                                    </m:r>
                                  </m:e>
                                </m:d>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solidFill>
                                          <a:srgbClr val="FF0000"/>
                                        </a:solidFill>
                                        <a:latin typeface="Cambria Math" panose="02040503050406030204" pitchFamily="18" charset="0"/>
                                        <a:ea typeface="Cambria Math" panose="02040503050406030204" pitchFamily="18" charset="0"/>
                                      </a:rPr>
                                      <m:t>11</m:t>
                                    </m:r>
                                  </m:e>
                                </m:d>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1</m:t>
                                        </m:r>
                                      </m:e>
                                    </m:d>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0</m:t>
                                        </m:r>
                                      </m:e>
                                    </m:d>
                                  </m:e>
                                </m:d>
                              </m:e>
                            </m:d>
                          </m:e>
                        </m:mr>
                      </m:m>
                    </m:oMath>
                  </m:oMathPara>
                </a14:m>
                <a:endParaRPr lang="en-US" sz="2200" dirty="0">
                  <a:solidFill>
                    <a:schemeClr val="tx1"/>
                  </a:solidFill>
                </a:endParaRPr>
              </a:p>
            </p:txBody>
          </p:sp>
        </mc:Choice>
        <mc:Fallback>
          <p:sp>
            <p:nvSpPr>
              <p:cNvPr id="33" name="TextBox 32">
                <a:extLst>
                  <a:ext uri="{FF2B5EF4-FFF2-40B4-BE49-F238E27FC236}">
                    <a16:creationId xmlns:a16="http://schemas.microsoft.com/office/drawing/2014/main" id="{BCA95C8E-E4A3-CA42-B314-4E81E4CCC9EA}"/>
                  </a:ext>
                </a:extLst>
              </p:cNvPr>
              <p:cNvSpPr txBox="1">
                <a:spLocks noRot="1" noChangeAspect="1" noMove="1" noResize="1" noEditPoints="1" noAdjustHandles="1" noChangeArrowheads="1" noChangeShapeType="1" noTextEdit="1"/>
              </p:cNvSpPr>
              <p:nvPr/>
            </p:nvSpPr>
            <p:spPr>
              <a:xfrm>
                <a:off x="1627936" y="3819352"/>
                <a:ext cx="10293074" cy="2944652"/>
              </a:xfrm>
              <a:prstGeom prst="rect">
                <a:avLst/>
              </a:prstGeom>
              <a:blipFill>
                <a:blip r:embed="rId3"/>
                <a:stretch>
                  <a:fillRect r="-123" b="-22747"/>
                </a:stretch>
              </a:blipFill>
            </p:spPr>
            <p:txBody>
              <a:bodyPr/>
              <a:lstStyle/>
              <a:p>
                <a:r>
                  <a:rPr lang="en-US">
                    <a:noFill/>
                  </a:rPr>
                  <a:t> </a:t>
                </a:r>
              </a:p>
            </p:txBody>
          </p:sp>
        </mc:Fallback>
      </mc:AlternateContent>
      <p:sp>
        <p:nvSpPr>
          <p:cNvPr id="85" name="Rectangle 84">
            <a:extLst>
              <a:ext uri="{FF2B5EF4-FFF2-40B4-BE49-F238E27FC236}">
                <a16:creationId xmlns:a16="http://schemas.microsoft.com/office/drawing/2014/main" id="{0ED6146A-CCB8-1748-A79C-4D69154504AA}"/>
              </a:ext>
            </a:extLst>
          </p:cNvPr>
          <p:cNvSpPr/>
          <p:nvPr/>
        </p:nvSpPr>
        <p:spPr>
          <a:xfrm>
            <a:off x="2611193" y="1925328"/>
            <a:ext cx="2378126" cy="18940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435CCC82-55F0-7049-8B91-625848C0C3AF}"/>
              </a:ext>
            </a:extLst>
          </p:cNvPr>
          <p:cNvSpPr/>
          <p:nvPr/>
        </p:nvSpPr>
        <p:spPr>
          <a:xfrm>
            <a:off x="585307" y="2825003"/>
            <a:ext cx="1878902" cy="20259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B0C04-D22F-7B44-B869-00E02991A750}"/>
              </a:ext>
            </a:extLst>
          </p:cNvPr>
          <p:cNvSpPr>
            <a:spLocks noGrp="1"/>
          </p:cNvSpPr>
          <p:nvPr>
            <p:ph type="title"/>
          </p:nvPr>
        </p:nvSpPr>
        <p:spPr/>
        <p:txBody>
          <a:bodyPr>
            <a:normAutofit/>
          </a:bodyPr>
          <a:lstStyle/>
          <a:p>
            <a:r>
              <a:rPr lang="en-ZA" dirty="0"/>
              <a:t>Quantum Teleportation (3)</a:t>
            </a:r>
            <a:endParaRPr lang="en-US" dirty="0"/>
          </a:p>
        </p:txBody>
      </p:sp>
      <p:cxnSp>
        <p:nvCxnSpPr>
          <p:cNvPr id="7" name="Straight Connector 6">
            <a:extLst>
              <a:ext uri="{FF2B5EF4-FFF2-40B4-BE49-F238E27FC236}">
                <a16:creationId xmlns:a16="http://schemas.microsoft.com/office/drawing/2014/main" id="{3F45C707-926F-1A49-BAA3-76F601169713}"/>
              </a:ext>
            </a:extLst>
          </p:cNvPr>
          <p:cNvCxnSpPr>
            <a:cxnSpLocks/>
          </p:cNvCxnSpPr>
          <p:nvPr/>
        </p:nvCxnSpPr>
        <p:spPr>
          <a:xfrm>
            <a:off x="550692" y="2363337"/>
            <a:ext cx="4849444" cy="675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DDF0BB-1E72-5542-B583-6BBFAE896B3F}"/>
              </a:ext>
            </a:extLst>
          </p:cNvPr>
          <p:cNvCxnSpPr>
            <a:cxnSpLocks/>
          </p:cNvCxnSpPr>
          <p:nvPr/>
        </p:nvCxnSpPr>
        <p:spPr>
          <a:xfrm>
            <a:off x="543507" y="3383898"/>
            <a:ext cx="4856629"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46B40D6-7743-5044-9910-E01EFD777C58}"/>
              </a:ext>
            </a:extLst>
          </p:cNvPr>
          <p:cNvSpPr/>
          <p:nvPr/>
        </p:nvSpPr>
        <p:spPr>
          <a:xfrm>
            <a:off x="786446" y="303010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5" name="Straight Connector 14">
            <a:extLst>
              <a:ext uri="{FF2B5EF4-FFF2-40B4-BE49-F238E27FC236}">
                <a16:creationId xmlns:a16="http://schemas.microsoft.com/office/drawing/2014/main" id="{1D85F885-5D76-C14C-B7F2-BD9A389B7B15}"/>
              </a:ext>
            </a:extLst>
          </p:cNvPr>
          <p:cNvCxnSpPr>
            <a:cxnSpLocks/>
          </p:cNvCxnSpPr>
          <p:nvPr/>
        </p:nvCxnSpPr>
        <p:spPr>
          <a:xfrm>
            <a:off x="543506" y="4335131"/>
            <a:ext cx="485663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552AE55-CD3D-254A-8F7D-70BC64F985AF}"/>
              </a:ext>
            </a:extLst>
          </p:cNvPr>
          <p:cNvGrpSpPr/>
          <p:nvPr/>
        </p:nvGrpSpPr>
        <p:grpSpPr>
          <a:xfrm>
            <a:off x="1627936" y="3207569"/>
            <a:ext cx="720000" cy="1523456"/>
            <a:chOff x="3902013" y="4782323"/>
            <a:chExt cx="720000" cy="1523456"/>
          </a:xfrm>
        </p:grpSpPr>
        <p:sp>
          <p:nvSpPr>
            <p:cNvPr id="30" name="Oval 29">
              <a:extLst>
                <a:ext uri="{FF2B5EF4-FFF2-40B4-BE49-F238E27FC236}">
                  <a16:creationId xmlns:a16="http://schemas.microsoft.com/office/drawing/2014/main" id="{7CA11699-B9D8-7245-BD85-28F0C1351CA0}"/>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1" name="Oval 30">
              <a:extLst>
                <a:ext uri="{FF2B5EF4-FFF2-40B4-BE49-F238E27FC236}">
                  <a16:creationId xmlns:a16="http://schemas.microsoft.com/office/drawing/2014/main" id="{DB464219-E704-7147-97FB-862229518A5E}"/>
                </a:ext>
              </a:extLst>
            </p:cNvPr>
            <p:cNvSpPr>
              <a:spLocks noChangeAspect="1"/>
            </p:cNvSpPr>
            <p:nvPr/>
          </p:nvSpPr>
          <p:spPr>
            <a:xfrm>
              <a:off x="4075930" y="478232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2" name="Straight Connector 31">
              <a:extLst>
                <a:ext uri="{FF2B5EF4-FFF2-40B4-BE49-F238E27FC236}">
                  <a16:creationId xmlns:a16="http://schemas.microsoft.com/office/drawing/2014/main" id="{FA1D0A80-4AE3-CF41-A019-A2F4473A58EC}"/>
                </a:ext>
              </a:extLst>
            </p:cNvPr>
            <p:cNvCxnSpPr>
              <a:cxnSpLocks/>
              <a:stCxn id="31" idx="4"/>
              <a:endCxn id="30" idx="0"/>
            </p:cNvCxnSpPr>
            <p:nvPr/>
          </p:nvCxnSpPr>
          <p:spPr>
            <a:xfrm>
              <a:off x="4255930" y="5142323"/>
              <a:ext cx="6083" cy="44345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AF36C35-3380-0A41-8183-2EC3275FF26A}"/>
              </a:ext>
            </a:extLst>
          </p:cNvPr>
          <p:cNvGrpSpPr/>
          <p:nvPr/>
        </p:nvGrpSpPr>
        <p:grpSpPr>
          <a:xfrm>
            <a:off x="2896881" y="2183337"/>
            <a:ext cx="720000" cy="1557320"/>
            <a:chOff x="3902013" y="4748459"/>
            <a:chExt cx="720000" cy="1557320"/>
          </a:xfrm>
        </p:grpSpPr>
        <p:sp>
          <p:nvSpPr>
            <p:cNvPr id="36" name="Oval 35">
              <a:extLst>
                <a:ext uri="{FF2B5EF4-FFF2-40B4-BE49-F238E27FC236}">
                  <a16:creationId xmlns:a16="http://schemas.microsoft.com/office/drawing/2014/main" id="{02373F65-C903-FF46-A699-B433AB06C088}"/>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Oval 36">
              <a:extLst>
                <a:ext uri="{FF2B5EF4-FFF2-40B4-BE49-F238E27FC236}">
                  <a16:creationId xmlns:a16="http://schemas.microsoft.com/office/drawing/2014/main" id="{53E70F6D-EB49-5745-A346-E163A287CB11}"/>
                </a:ext>
              </a:extLst>
            </p:cNvPr>
            <p:cNvSpPr>
              <a:spLocks noChangeAspect="1"/>
            </p:cNvSpPr>
            <p:nvPr/>
          </p:nvSpPr>
          <p:spPr>
            <a:xfrm>
              <a:off x="4075930" y="4748459"/>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77E24676-5805-E241-B53B-75F9176CC6E3}"/>
                </a:ext>
              </a:extLst>
            </p:cNvPr>
            <p:cNvCxnSpPr>
              <a:cxnSpLocks/>
              <a:stCxn id="37" idx="4"/>
              <a:endCxn id="36" idx="0"/>
            </p:cNvCxnSpPr>
            <p:nvPr/>
          </p:nvCxnSpPr>
          <p:spPr>
            <a:xfrm>
              <a:off x="4255930" y="5108459"/>
              <a:ext cx="6083" cy="47732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5E0ACC07-3250-C74C-9270-6E2910FFD976}"/>
              </a:ext>
            </a:extLst>
          </p:cNvPr>
          <p:cNvSpPr/>
          <p:nvPr/>
        </p:nvSpPr>
        <p:spPr>
          <a:xfrm>
            <a:off x="4011336" y="198233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FD69F425-451C-D645-8213-3FF0FCA283A8}"/>
                  </a:ext>
                </a:extLst>
              </p:cNvPr>
              <p:cNvSpPr/>
              <p:nvPr/>
            </p:nvSpPr>
            <p:spPr>
              <a:xfrm>
                <a:off x="18988" y="1908430"/>
                <a:ext cx="25531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b="0" i="1" smtClean="0">
                              <a:solidFill>
                                <a:srgbClr val="C00000"/>
                              </a:solidFill>
                              <a:latin typeface="Cambria Math" panose="02040503050406030204" pitchFamily="18" charset="0"/>
                              <a:ea typeface="Cambria Math" panose="02040503050406030204" pitchFamily="18" charset="0"/>
                            </a:rPr>
                            <m:t>𝑄</m:t>
                          </m:r>
                        </m:e>
                      </m:d>
                      <m:r>
                        <a:rPr lang="en-US" sz="2400" b="0" i="1" smtClean="0">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𝑎</m:t>
                      </m:r>
                      <m:r>
                        <a:rPr lang="en-US" sz="2400" i="1">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0</m:t>
                          </m:r>
                        </m:e>
                      </m:d>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𝑏</m:t>
                      </m:r>
                      <m:r>
                        <a:rPr lang="en-US" sz="2400" i="1">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i="1">
                              <a:solidFill>
                                <a:srgbClr val="C00000"/>
                              </a:solidFill>
                              <a:latin typeface="Cambria Math" panose="02040503050406030204" pitchFamily="18" charset="0"/>
                              <a:ea typeface="Cambria Math" panose="02040503050406030204" pitchFamily="18" charset="0"/>
                            </a:rPr>
                            <m:t>1</m:t>
                          </m:r>
                        </m:e>
                      </m:d>
                    </m:oMath>
                  </m:oMathPara>
                </a14:m>
                <a:endParaRPr lang="en-US" sz="2400" dirty="0">
                  <a:solidFill>
                    <a:srgbClr val="C00000"/>
                  </a:solidFill>
                </a:endParaRPr>
              </a:p>
            </p:txBody>
          </p:sp>
        </mc:Choice>
        <mc:Fallback xmlns="">
          <p:sp>
            <p:nvSpPr>
              <p:cNvPr id="58" name="Rectangle 57">
                <a:extLst>
                  <a:ext uri="{FF2B5EF4-FFF2-40B4-BE49-F238E27FC236}">
                    <a16:creationId xmlns:a16="http://schemas.microsoft.com/office/drawing/2014/main" id="{FD69F425-451C-D645-8213-3FF0FCA283A8}"/>
                  </a:ext>
                </a:extLst>
              </p:cNvPr>
              <p:cNvSpPr>
                <a:spLocks noRot="1" noChangeAspect="1" noMove="1" noResize="1" noEditPoints="1" noAdjustHandles="1" noChangeArrowheads="1" noChangeShapeType="1" noTextEdit="1"/>
              </p:cNvSpPr>
              <p:nvPr/>
            </p:nvSpPr>
            <p:spPr>
              <a:xfrm>
                <a:off x="18988" y="1908430"/>
                <a:ext cx="2553135" cy="461665"/>
              </a:xfrm>
              <a:prstGeom prst="rect">
                <a:avLst/>
              </a:prstGeom>
              <a:blipFill>
                <a:blip r:embed="rId10"/>
                <a:stretch>
                  <a:fillRect l="-3448" t="-121053" r="-11823" b="-186842"/>
                </a:stretch>
              </a:blipFill>
            </p:spPr>
            <p:txBody>
              <a:bodyPr/>
              <a:lstStyle/>
              <a:p>
                <a:r>
                  <a:rPr lang="en-US">
                    <a:noFill/>
                  </a:rPr>
                  <a:t> </a:t>
                </a:r>
              </a:p>
            </p:txBody>
          </p:sp>
        </mc:Fallback>
      </mc:AlternateContent>
      <p:pic>
        <p:nvPicPr>
          <p:cNvPr id="75" name="Picture 74">
            <a:extLst>
              <a:ext uri="{FF2B5EF4-FFF2-40B4-BE49-F238E27FC236}">
                <a16:creationId xmlns:a16="http://schemas.microsoft.com/office/drawing/2014/main" id="{A6681DE6-69CC-A448-B0AC-501812EBBA06}"/>
              </a:ext>
            </a:extLst>
          </p:cNvPr>
          <p:cNvPicPr>
            <a:picLocks noChangeAspect="1"/>
          </p:cNvPicPr>
          <p:nvPr/>
        </p:nvPicPr>
        <p:blipFill>
          <a:blip r:embed="rId11"/>
          <a:stretch>
            <a:fillRect/>
          </a:stretch>
        </p:blipFill>
        <p:spPr>
          <a:xfrm>
            <a:off x="799166" y="795991"/>
            <a:ext cx="661021" cy="1018228"/>
          </a:xfrm>
          <a:prstGeom prst="rect">
            <a:avLst/>
          </a:prstGeom>
        </p:spPr>
      </p:pic>
      <p:sp>
        <p:nvSpPr>
          <p:cNvPr id="34" name="Right Brace 33">
            <a:extLst>
              <a:ext uri="{FF2B5EF4-FFF2-40B4-BE49-F238E27FC236}">
                <a16:creationId xmlns:a16="http://schemas.microsoft.com/office/drawing/2014/main" id="{CC273ADC-C255-8E4F-840B-07BAAB42C9BB}"/>
              </a:ext>
            </a:extLst>
          </p:cNvPr>
          <p:cNvSpPr/>
          <p:nvPr/>
        </p:nvSpPr>
        <p:spPr>
          <a:xfrm>
            <a:off x="5496905" y="2321831"/>
            <a:ext cx="471570" cy="1936215"/>
          </a:xfrm>
          <a:prstGeom prst="rightBrace">
            <a:avLst>
              <a:gd name="adj1" fmla="val 3603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F772E25-BD3E-1A44-8F75-803A11F29F8A}"/>
                  </a:ext>
                </a:extLst>
              </p:cNvPr>
              <p:cNvSpPr txBox="1"/>
              <p:nvPr/>
            </p:nvSpPr>
            <p:spPr>
              <a:xfrm>
                <a:off x="6096000" y="3140717"/>
                <a:ext cx="174432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a:latin typeface="Cambria Math" panose="02040503050406030204" pitchFamily="18" charset="0"/>
                            </a:rPr>
                          </m:ctrlPr>
                        </m:dPr>
                        <m:e>
                          <m:sSub>
                            <m:sSubPr>
                              <m:ctrlPr>
                                <a:rPr lang="en-ZA" sz="2200" i="1">
                                  <a:latin typeface="Cambria Math" panose="02040503050406030204" pitchFamily="18" charset="0"/>
                                </a:rPr>
                              </m:ctrlPr>
                            </m:sSubPr>
                            <m:e>
                              <m:r>
                                <a:rPr lang="sr-Latn-RS" sz="2200" i="1">
                                  <a:latin typeface="Cambria Math" panose="02040503050406030204" pitchFamily="18" charset="0"/>
                                </a:rPr>
                                <m:t>𝑆</m:t>
                              </m:r>
                            </m:e>
                            <m:sub>
                              <m:r>
                                <a:rPr lang="en-US" sz="2200" i="1">
                                  <a:latin typeface="Cambria Math" panose="02040503050406030204" pitchFamily="18" charset="0"/>
                                </a:rPr>
                                <m:t>3</m:t>
                              </m:r>
                            </m:sub>
                          </m:sSub>
                        </m:e>
                      </m:d>
                      <m:r>
                        <a:rPr lang="en-US" sz="2200" i="1">
                          <a:latin typeface="Cambria Math" panose="02040503050406030204" pitchFamily="18" charset="0"/>
                        </a:rPr>
                        <m:t>=</m:t>
                      </m:r>
                      <m:r>
                        <a:rPr lang="en-US" sz="2200" i="1">
                          <a:solidFill>
                            <a:srgbClr val="002060"/>
                          </a:solidFill>
                          <a:latin typeface="Cambria Math" panose="02040503050406030204" pitchFamily="18" charset="0"/>
                          <a:ea typeface="Cambria Math" panose="02040503050406030204" pitchFamily="18" charset="0"/>
                        </a:rPr>
                        <m:t>𝐻</m:t>
                      </m:r>
                      <m:d>
                        <m:dPr>
                          <m:begChr m:val="|"/>
                          <m:endChr m:val="⟩"/>
                          <m:ctrlPr>
                            <a:rPr lang="en-ZA" sz="2200" i="1">
                              <a:latin typeface="Cambria Math" panose="02040503050406030204" pitchFamily="18" charset="0"/>
                            </a:rPr>
                          </m:ctrlPr>
                        </m:dPr>
                        <m:e>
                          <m:sSub>
                            <m:sSubPr>
                              <m:ctrlPr>
                                <a:rPr lang="en-ZA" sz="2200" i="1">
                                  <a:latin typeface="Cambria Math" panose="02040503050406030204" pitchFamily="18" charset="0"/>
                                </a:rPr>
                              </m:ctrlPr>
                            </m:sSubPr>
                            <m:e>
                              <m:r>
                                <a:rPr lang="sr-Latn-RS" sz="2200" i="1">
                                  <a:latin typeface="Cambria Math" panose="02040503050406030204" pitchFamily="18" charset="0"/>
                                </a:rPr>
                                <m:t>𝑆</m:t>
                              </m:r>
                            </m:e>
                            <m:sub>
                              <m:r>
                                <a:rPr lang="sr-Latn-RS" sz="2200" i="1">
                                  <a:latin typeface="Cambria Math" panose="02040503050406030204" pitchFamily="18" charset="0"/>
                                </a:rPr>
                                <m:t>2</m:t>
                              </m:r>
                            </m:sub>
                          </m:sSub>
                        </m:e>
                      </m:d>
                    </m:oMath>
                  </m:oMathPara>
                </a14:m>
                <a:endParaRPr lang="en-US" sz="2200" dirty="0"/>
              </a:p>
            </p:txBody>
          </p:sp>
        </mc:Choice>
        <mc:Fallback xmlns="">
          <p:sp>
            <p:nvSpPr>
              <p:cNvPr id="42" name="TextBox 41">
                <a:extLst>
                  <a:ext uri="{FF2B5EF4-FFF2-40B4-BE49-F238E27FC236}">
                    <a16:creationId xmlns:a16="http://schemas.microsoft.com/office/drawing/2014/main" id="{5F772E25-BD3E-1A44-8F75-803A11F29F8A}"/>
                  </a:ext>
                </a:extLst>
              </p:cNvPr>
              <p:cNvSpPr txBox="1">
                <a:spLocks noRot="1" noChangeAspect="1" noMove="1" noResize="1" noEditPoints="1" noAdjustHandles="1" noChangeArrowheads="1" noChangeShapeType="1" noTextEdit="1"/>
              </p:cNvSpPr>
              <p:nvPr/>
            </p:nvSpPr>
            <p:spPr>
              <a:xfrm>
                <a:off x="6096000" y="3140717"/>
                <a:ext cx="1744324" cy="430887"/>
              </a:xfrm>
              <a:prstGeom prst="rect">
                <a:avLst/>
              </a:prstGeom>
              <a:blipFill>
                <a:blip r:embed="rId20"/>
                <a:stretch>
                  <a:fillRect b="-2857"/>
                </a:stretch>
              </a:blipFill>
            </p:spPr>
            <p:txBody>
              <a:bodyPr/>
              <a:lstStyle/>
              <a:p>
                <a:r>
                  <a:rPr lang="en-US">
                    <a:noFill/>
                  </a:rPr>
                  <a:t> </a:t>
                </a:r>
              </a:p>
            </p:txBody>
          </p:sp>
        </mc:Fallback>
      </mc:AlternateContent>
      <p:sp>
        <p:nvSpPr>
          <p:cNvPr id="9" name="Down Arrow 8">
            <a:extLst>
              <a:ext uri="{FF2B5EF4-FFF2-40B4-BE49-F238E27FC236}">
                <a16:creationId xmlns:a16="http://schemas.microsoft.com/office/drawing/2014/main" id="{E566F409-0FBF-824B-80D1-C8AFAE3F6C52}"/>
              </a:ext>
            </a:extLst>
          </p:cNvPr>
          <p:cNvSpPr/>
          <p:nvPr/>
        </p:nvSpPr>
        <p:spPr>
          <a:xfrm>
            <a:off x="7202905" y="3639391"/>
            <a:ext cx="357150" cy="455061"/>
          </a:xfrm>
          <a:prstGeom prst="downArrow">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lide Number Placeholder 2">
            <a:extLst>
              <a:ext uri="{FF2B5EF4-FFF2-40B4-BE49-F238E27FC236}">
                <a16:creationId xmlns:a16="http://schemas.microsoft.com/office/drawing/2014/main" id="{822D04A8-3A20-0E4F-BE78-2A7B4C2DEE2E}"/>
              </a:ext>
            </a:extLst>
          </p:cNvPr>
          <p:cNvSpPr>
            <a:spLocks noGrp="1"/>
          </p:cNvSpPr>
          <p:nvPr>
            <p:ph type="sldNum" sz="quarter" idx="12"/>
          </p:nvPr>
        </p:nvSpPr>
        <p:spPr>
          <a:xfrm>
            <a:off x="0" y="6492875"/>
            <a:ext cx="797827" cy="365125"/>
          </a:xfrm>
        </p:spPr>
        <p:txBody>
          <a:bodyPr/>
          <a:lstStyle/>
          <a:p>
            <a:fld id="{591A223C-FA10-BC46-A853-03BA373D023C}" type="slidenum">
              <a:rPr lang="en-US" smtClean="0"/>
              <a:t>32</a:t>
            </a:fld>
            <a:endParaRPr lang="en-US" dirty="0"/>
          </a:p>
        </p:txBody>
      </p:sp>
    </p:spTree>
    <p:extLst>
      <p:ext uri="{BB962C8B-B14F-4D97-AF65-F5344CB8AC3E}">
        <p14:creationId xmlns:p14="http://schemas.microsoft.com/office/powerpoint/2010/main" val="1466727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9BD12F4E-C209-5A4B-80EA-8FF88F91A093}"/>
              </a:ext>
            </a:extLst>
          </p:cNvPr>
          <p:cNvSpPr/>
          <p:nvPr/>
        </p:nvSpPr>
        <p:spPr>
          <a:xfrm>
            <a:off x="2611193" y="1925328"/>
            <a:ext cx="2066141" cy="18940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435CCC82-55F0-7049-8B91-625848C0C3AF}"/>
              </a:ext>
            </a:extLst>
          </p:cNvPr>
          <p:cNvSpPr/>
          <p:nvPr/>
        </p:nvSpPr>
        <p:spPr>
          <a:xfrm>
            <a:off x="585307" y="2825003"/>
            <a:ext cx="1878902" cy="20259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B0C04-D22F-7B44-B869-00E02991A750}"/>
              </a:ext>
            </a:extLst>
          </p:cNvPr>
          <p:cNvSpPr>
            <a:spLocks noGrp="1"/>
          </p:cNvSpPr>
          <p:nvPr>
            <p:ph type="title"/>
          </p:nvPr>
        </p:nvSpPr>
        <p:spPr/>
        <p:txBody>
          <a:bodyPr/>
          <a:lstStyle/>
          <a:p>
            <a:r>
              <a:rPr lang="en-ZA" dirty="0"/>
              <a:t>Quantum Teleportation (4)</a:t>
            </a:r>
            <a:endParaRPr lang="en-US" dirty="0"/>
          </a:p>
        </p:txBody>
      </p:sp>
      <p:cxnSp>
        <p:nvCxnSpPr>
          <p:cNvPr id="7" name="Straight Connector 6">
            <a:extLst>
              <a:ext uri="{FF2B5EF4-FFF2-40B4-BE49-F238E27FC236}">
                <a16:creationId xmlns:a16="http://schemas.microsoft.com/office/drawing/2014/main" id="{3F45C707-926F-1A49-BAA3-76F601169713}"/>
              </a:ext>
            </a:extLst>
          </p:cNvPr>
          <p:cNvCxnSpPr>
            <a:cxnSpLocks/>
          </p:cNvCxnSpPr>
          <p:nvPr/>
        </p:nvCxnSpPr>
        <p:spPr>
          <a:xfrm>
            <a:off x="550692" y="2363337"/>
            <a:ext cx="5481140" cy="675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DDF0BB-1E72-5542-B583-6BBFAE896B3F}"/>
              </a:ext>
            </a:extLst>
          </p:cNvPr>
          <p:cNvCxnSpPr>
            <a:cxnSpLocks/>
          </p:cNvCxnSpPr>
          <p:nvPr/>
        </p:nvCxnSpPr>
        <p:spPr>
          <a:xfrm>
            <a:off x="409433" y="3416361"/>
            <a:ext cx="5622399"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46B40D6-7743-5044-9910-E01EFD777C58}"/>
              </a:ext>
            </a:extLst>
          </p:cNvPr>
          <p:cNvSpPr/>
          <p:nvPr/>
        </p:nvSpPr>
        <p:spPr>
          <a:xfrm>
            <a:off x="786446" y="303010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5" name="Straight Connector 14">
            <a:extLst>
              <a:ext uri="{FF2B5EF4-FFF2-40B4-BE49-F238E27FC236}">
                <a16:creationId xmlns:a16="http://schemas.microsoft.com/office/drawing/2014/main" id="{1D85F885-5D76-C14C-B7F2-BD9A389B7B15}"/>
              </a:ext>
            </a:extLst>
          </p:cNvPr>
          <p:cNvCxnSpPr>
            <a:cxnSpLocks/>
          </p:cNvCxnSpPr>
          <p:nvPr/>
        </p:nvCxnSpPr>
        <p:spPr>
          <a:xfrm>
            <a:off x="409433" y="4335131"/>
            <a:ext cx="5622399"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552AE55-CD3D-254A-8F7D-70BC64F985AF}"/>
              </a:ext>
            </a:extLst>
          </p:cNvPr>
          <p:cNvGrpSpPr/>
          <p:nvPr/>
        </p:nvGrpSpPr>
        <p:grpSpPr>
          <a:xfrm>
            <a:off x="1627936" y="3207569"/>
            <a:ext cx="720000" cy="1523456"/>
            <a:chOff x="3902013" y="4782323"/>
            <a:chExt cx="720000" cy="1523456"/>
          </a:xfrm>
        </p:grpSpPr>
        <p:sp>
          <p:nvSpPr>
            <p:cNvPr id="30" name="Oval 29">
              <a:extLst>
                <a:ext uri="{FF2B5EF4-FFF2-40B4-BE49-F238E27FC236}">
                  <a16:creationId xmlns:a16="http://schemas.microsoft.com/office/drawing/2014/main" id="{7CA11699-B9D8-7245-BD85-28F0C1351CA0}"/>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1" name="Oval 30">
              <a:extLst>
                <a:ext uri="{FF2B5EF4-FFF2-40B4-BE49-F238E27FC236}">
                  <a16:creationId xmlns:a16="http://schemas.microsoft.com/office/drawing/2014/main" id="{DB464219-E704-7147-97FB-862229518A5E}"/>
                </a:ext>
              </a:extLst>
            </p:cNvPr>
            <p:cNvSpPr>
              <a:spLocks noChangeAspect="1"/>
            </p:cNvSpPr>
            <p:nvPr/>
          </p:nvSpPr>
          <p:spPr>
            <a:xfrm>
              <a:off x="4075930" y="478232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2" name="Straight Connector 31">
              <a:extLst>
                <a:ext uri="{FF2B5EF4-FFF2-40B4-BE49-F238E27FC236}">
                  <a16:creationId xmlns:a16="http://schemas.microsoft.com/office/drawing/2014/main" id="{FA1D0A80-4AE3-CF41-A019-A2F4473A58EC}"/>
                </a:ext>
              </a:extLst>
            </p:cNvPr>
            <p:cNvCxnSpPr>
              <a:cxnSpLocks/>
              <a:stCxn id="31" idx="4"/>
              <a:endCxn id="30" idx="0"/>
            </p:cNvCxnSpPr>
            <p:nvPr/>
          </p:nvCxnSpPr>
          <p:spPr>
            <a:xfrm>
              <a:off x="4255930" y="5142323"/>
              <a:ext cx="6083" cy="44345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AF36C35-3380-0A41-8183-2EC3275FF26A}"/>
              </a:ext>
            </a:extLst>
          </p:cNvPr>
          <p:cNvGrpSpPr/>
          <p:nvPr/>
        </p:nvGrpSpPr>
        <p:grpSpPr>
          <a:xfrm>
            <a:off x="2678223" y="2183337"/>
            <a:ext cx="720000" cy="1557320"/>
            <a:chOff x="3902013" y="4748459"/>
            <a:chExt cx="720000" cy="1557320"/>
          </a:xfrm>
        </p:grpSpPr>
        <p:sp>
          <p:nvSpPr>
            <p:cNvPr id="36" name="Oval 35">
              <a:extLst>
                <a:ext uri="{FF2B5EF4-FFF2-40B4-BE49-F238E27FC236}">
                  <a16:creationId xmlns:a16="http://schemas.microsoft.com/office/drawing/2014/main" id="{02373F65-C903-FF46-A699-B433AB06C088}"/>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Oval 36">
              <a:extLst>
                <a:ext uri="{FF2B5EF4-FFF2-40B4-BE49-F238E27FC236}">
                  <a16:creationId xmlns:a16="http://schemas.microsoft.com/office/drawing/2014/main" id="{53E70F6D-EB49-5745-A346-E163A287CB11}"/>
                </a:ext>
              </a:extLst>
            </p:cNvPr>
            <p:cNvSpPr>
              <a:spLocks noChangeAspect="1"/>
            </p:cNvSpPr>
            <p:nvPr/>
          </p:nvSpPr>
          <p:spPr>
            <a:xfrm>
              <a:off x="4075930" y="4748459"/>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77E24676-5805-E241-B53B-75F9176CC6E3}"/>
                </a:ext>
              </a:extLst>
            </p:cNvPr>
            <p:cNvCxnSpPr>
              <a:cxnSpLocks/>
              <a:stCxn id="37" idx="4"/>
              <a:endCxn id="36" idx="0"/>
            </p:cNvCxnSpPr>
            <p:nvPr/>
          </p:nvCxnSpPr>
          <p:spPr>
            <a:xfrm>
              <a:off x="4255930" y="5108459"/>
              <a:ext cx="6083" cy="47732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5E0ACC07-3250-C74C-9270-6E2910FFD976}"/>
              </a:ext>
            </a:extLst>
          </p:cNvPr>
          <p:cNvSpPr/>
          <p:nvPr/>
        </p:nvSpPr>
        <p:spPr>
          <a:xfrm>
            <a:off x="3459843" y="200333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B28E0DBB-2E61-ED4A-B0AF-BFA511D2512B}"/>
                  </a:ext>
                </a:extLst>
              </p:cNvPr>
              <p:cNvSpPr/>
              <p:nvPr/>
            </p:nvSpPr>
            <p:spPr>
              <a:xfrm>
                <a:off x="2443264" y="3930390"/>
                <a:ext cx="6722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𝐵</m:t>
                          </m:r>
                        </m:e>
                      </m:d>
                    </m:oMath>
                  </m:oMathPara>
                </a14:m>
                <a:endParaRPr lang="en-US" sz="2400" dirty="0">
                  <a:solidFill>
                    <a:schemeClr val="tx1"/>
                  </a:solidFill>
                </a:endParaRPr>
              </a:p>
            </p:txBody>
          </p:sp>
        </mc:Choice>
        <mc:Fallback xmlns="">
          <p:sp>
            <p:nvSpPr>
              <p:cNvPr id="94" name="Rectangle 93">
                <a:extLst>
                  <a:ext uri="{FF2B5EF4-FFF2-40B4-BE49-F238E27FC236}">
                    <a16:creationId xmlns:a16="http://schemas.microsoft.com/office/drawing/2014/main" id="{B28E0DBB-2E61-ED4A-B0AF-BFA511D2512B}"/>
                  </a:ext>
                </a:extLst>
              </p:cNvPr>
              <p:cNvSpPr>
                <a:spLocks noRot="1" noChangeAspect="1" noMove="1" noResize="1" noEditPoints="1" noAdjustHandles="1" noChangeArrowheads="1" noChangeShapeType="1" noTextEdit="1"/>
              </p:cNvSpPr>
              <p:nvPr/>
            </p:nvSpPr>
            <p:spPr>
              <a:xfrm>
                <a:off x="2443264" y="3930390"/>
                <a:ext cx="672235" cy="461665"/>
              </a:xfrm>
              <a:prstGeom prst="rect">
                <a:avLst/>
              </a:prstGeom>
              <a:blipFill>
                <a:blip r:embed="rId16"/>
                <a:stretch>
                  <a:fillRect l="-18868" t="-118421" r="-4717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CCDF888D-B924-CC4A-9984-1EFB405F71ED}"/>
                  </a:ext>
                </a:extLst>
              </p:cNvPr>
              <p:cNvSpPr/>
              <p:nvPr/>
            </p:nvSpPr>
            <p:spPr>
              <a:xfrm>
                <a:off x="2105031" y="2909885"/>
                <a:ext cx="6605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𝐴</m:t>
                          </m:r>
                        </m:e>
                      </m:d>
                    </m:oMath>
                  </m:oMathPara>
                </a14:m>
                <a:endParaRPr lang="en-US" sz="2400" dirty="0">
                  <a:solidFill>
                    <a:schemeClr val="tx1"/>
                  </a:solidFill>
                </a:endParaRPr>
              </a:p>
            </p:txBody>
          </p:sp>
        </mc:Choice>
        <mc:Fallback xmlns="">
          <p:sp>
            <p:nvSpPr>
              <p:cNvPr id="95" name="Rectangle 94">
                <a:extLst>
                  <a:ext uri="{FF2B5EF4-FFF2-40B4-BE49-F238E27FC236}">
                    <a16:creationId xmlns:a16="http://schemas.microsoft.com/office/drawing/2014/main" id="{CCDF888D-B924-CC4A-9984-1EFB405F71ED}"/>
                  </a:ext>
                </a:extLst>
              </p:cNvPr>
              <p:cNvSpPr>
                <a:spLocks noRot="1" noChangeAspect="1" noMove="1" noResize="1" noEditPoints="1" noAdjustHandles="1" noChangeArrowheads="1" noChangeShapeType="1" noTextEdit="1"/>
              </p:cNvSpPr>
              <p:nvPr/>
            </p:nvSpPr>
            <p:spPr>
              <a:xfrm>
                <a:off x="2105031" y="2909885"/>
                <a:ext cx="660565" cy="461665"/>
              </a:xfrm>
              <a:prstGeom prst="rect">
                <a:avLst/>
              </a:prstGeom>
              <a:blipFill>
                <a:blip r:embed="rId17"/>
                <a:stretch>
                  <a:fillRect l="-20755" t="-124324" r="-47170" b="-191892"/>
                </a:stretch>
              </a:blipFill>
            </p:spPr>
            <p:txBody>
              <a:bodyPr/>
              <a:lstStyle/>
              <a:p>
                <a:r>
                  <a:rPr lang="en-US">
                    <a:noFill/>
                  </a:rPr>
                  <a:t> </a:t>
                </a:r>
              </a:p>
            </p:txBody>
          </p:sp>
        </mc:Fallback>
      </mc:AlternateContent>
      <p:grpSp>
        <p:nvGrpSpPr>
          <p:cNvPr id="93" name="Group 92">
            <a:extLst>
              <a:ext uri="{FF2B5EF4-FFF2-40B4-BE49-F238E27FC236}">
                <a16:creationId xmlns:a16="http://schemas.microsoft.com/office/drawing/2014/main" id="{2EA8C95C-0A1A-AE49-B595-1CE76212168C}"/>
              </a:ext>
            </a:extLst>
          </p:cNvPr>
          <p:cNvGrpSpPr/>
          <p:nvPr/>
        </p:nvGrpSpPr>
        <p:grpSpPr>
          <a:xfrm>
            <a:off x="4942438" y="3056361"/>
            <a:ext cx="720000" cy="807700"/>
            <a:chOff x="8902649" y="1353231"/>
            <a:chExt cx="720000" cy="807700"/>
          </a:xfrm>
        </p:grpSpPr>
        <p:sp>
          <p:nvSpPr>
            <p:cNvPr id="96" name="Rectangle 95">
              <a:extLst>
                <a:ext uri="{FF2B5EF4-FFF2-40B4-BE49-F238E27FC236}">
                  <a16:creationId xmlns:a16="http://schemas.microsoft.com/office/drawing/2014/main" id="{1A60CE91-C873-984A-9302-D00F05ED4342}"/>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97" name="Arc 96">
              <a:extLst>
                <a:ext uri="{FF2B5EF4-FFF2-40B4-BE49-F238E27FC236}">
                  <a16:creationId xmlns:a16="http://schemas.microsoft.com/office/drawing/2014/main" id="{A63A458C-51DC-904F-B48B-F85FD15EFDD2}"/>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8" name="Straight Arrow Connector 97">
              <a:extLst>
                <a:ext uri="{FF2B5EF4-FFF2-40B4-BE49-F238E27FC236}">
                  <a16:creationId xmlns:a16="http://schemas.microsoft.com/office/drawing/2014/main" id="{0D5BC9E3-579B-4F48-AEF1-223565188518}"/>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C23277FE-EE43-F74C-B06A-302631BC0E57}"/>
              </a:ext>
            </a:extLst>
          </p:cNvPr>
          <p:cNvGrpSpPr/>
          <p:nvPr/>
        </p:nvGrpSpPr>
        <p:grpSpPr>
          <a:xfrm>
            <a:off x="4942948" y="1997782"/>
            <a:ext cx="720000" cy="807700"/>
            <a:chOff x="8902649" y="1353231"/>
            <a:chExt cx="720000" cy="807700"/>
          </a:xfrm>
        </p:grpSpPr>
        <p:sp>
          <p:nvSpPr>
            <p:cNvPr id="89" name="Rectangle 88">
              <a:extLst>
                <a:ext uri="{FF2B5EF4-FFF2-40B4-BE49-F238E27FC236}">
                  <a16:creationId xmlns:a16="http://schemas.microsoft.com/office/drawing/2014/main" id="{31C07D84-3A61-BF4A-BFFB-F9B1369C3F25}"/>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90" name="Arc 89">
              <a:extLst>
                <a:ext uri="{FF2B5EF4-FFF2-40B4-BE49-F238E27FC236}">
                  <a16:creationId xmlns:a16="http://schemas.microsoft.com/office/drawing/2014/main" id="{155411C9-0DFA-824F-AE99-7E78D84EB37A}"/>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167882C9-E080-B44C-9011-3FAAC554F7BB}"/>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pic>
        <p:nvPicPr>
          <p:cNvPr id="68" name="Picture 67">
            <a:extLst>
              <a:ext uri="{FF2B5EF4-FFF2-40B4-BE49-F238E27FC236}">
                <a16:creationId xmlns:a16="http://schemas.microsoft.com/office/drawing/2014/main" id="{3CA1DB5A-82B5-1842-A4EC-001488531057}"/>
              </a:ext>
            </a:extLst>
          </p:cNvPr>
          <p:cNvPicPr>
            <a:picLocks noChangeAspect="1"/>
          </p:cNvPicPr>
          <p:nvPr/>
        </p:nvPicPr>
        <p:blipFill>
          <a:blip r:embed="rId18"/>
          <a:stretch>
            <a:fillRect/>
          </a:stretch>
        </p:blipFill>
        <p:spPr>
          <a:xfrm>
            <a:off x="799166" y="795991"/>
            <a:ext cx="661021" cy="1018228"/>
          </a:xfrm>
          <a:prstGeom prst="rect">
            <a:avLst/>
          </a:prstGeom>
        </p:spPr>
      </p:pic>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EE6D419-42F4-DD45-8549-69C5153ED65C}"/>
                  </a:ext>
                </a:extLst>
              </p:cNvPr>
              <p:cNvSpPr txBox="1"/>
              <p:nvPr/>
            </p:nvSpPr>
            <p:spPr>
              <a:xfrm>
                <a:off x="6384392" y="2097102"/>
                <a:ext cx="4463338" cy="1847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sz="2200" i="1">
                              <a:solidFill>
                                <a:srgbClr val="002060"/>
                              </a:solidFill>
                              <a:latin typeface="Cambria Math" panose="02040503050406030204" pitchFamily="18" charset="0"/>
                              <a:ea typeface="Cambria Math" panose="02040503050406030204" pitchFamily="18" charset="0"/>
                            </a:rPr>
                          </m:ctrlPr>
                        </m:mPr>
                        <m:mr>
                          <m:e>
                            <m:r>
                              <a:rPr lang="en-US" sz="2200" i="1">
                                <a:solidFill>
                                  <a:srgbClr val="002060"/>
                                </a:solidFill>
                                <a:latin typeface="Cambria Math" panose="02040503050406030204" pitchFamily="18" charset="0"/>
                                <a:ea typeface="Cambria Math" panose="02040503050406030204" pitchFamily="18" charset="0"/>
                              </a:rPr>
                              <m:t>𝐴𝑙𝑖𝑐𝑒</m:t>
                            </m:r>
                            <m:r>
                              <a:rPr lang="en-US" sz="2200" i="1">
                                <a:solidFill>
                                  <a:srgbClr val="002060"/>
                                </a:solidFill>
                                <a:latin typeface="Cambria Math" panose="02040503050406030204" pitchFamily="18" charset="0"/>
                                <a:ea typeface="Cambria Math" panose="02040503050406030204" pitchFamily="18" charset="0"/>
                              </a:rPr>
                              <m:t> </m:t>
                            </m:r>
                            <m:r>
                              <a:rPr lang="en-US" sz="2200" i="1">
                                <a:solidFill>
                                  <a:srgbClr val="002060"/>
                                </a:solidFill>
                                <a:latin typeface="Cambria Math" panose="02040503050406030204" pitchFamily="18" charset="0"/>
                                <a:ea typeface="Cambria Math" panose="02040503050406030204" pitchFamily="18" charset="0"/>
                              </a:rPr>
                              <m:t>𝑚𝑒𝑎𝑠𝑢𝑟𝑒𝑠</m:t>
                            </m:r>
                          </m:e>
                          <m:e/>
                          <m:e>
                            <m:r>
                              <a:rPr lang="en-US" sz="2200" i="1">
                                <a:solidFill>
                                  <a:srgbClr val="002060"/>
                                </a:solidFill>
                                <a:latin typeface="Cambria Math" panose="02040503050406030204" pitchFamily="18" charset="0"/>
                                <a:ea typeface="Cambria Math" panose="02040503050406030204" pitchFamily="18" charset="0"/>
                              </a:rPr>
                              <m:t>𝐵𝑜</m:t>
                            </m:r>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𝑏</m:t>
                                </m:r>
                              </m:e>
                              <m:sup>
                                <m:r>
                                  <a:rPr lang="en-US" sz="2200" i="1">
                                    <a:solidFill>
                                      <a:srgbClr val="002060"/>
                                    </a:solidFill>
                                    <a:latin typeface="Cambria Math" panose="02040503050406030204" pitchFamily="18" charset="0"/>
                                    <a:ea typeface="Cambria Math" panose="02040503050406030204" pitchFamily="18" charset="0"/>
                                  </a:rPr>
                                  <m:t>′</m:t>
                                </m:r>
                              </m:sup>
                            </m:sSup>
                            <m:r>
                              <a:rPr lang="en-US" sz="2200" i="1">
                                <a:solidFill>
                                  <a:srgbClr val="002060"/>
                                </a:solidFill>
                                <a:latin typeface="Cambria Math" panose="02040503050406030204" pitchFamily="18" charset="0"/>
                                <a:ea typeface="Cambria Math" panose="02040503050406030204" pitchFamily="18" charset="0"/>
                              </a:rPr>
                              <m:t>𝑠</m:t>
                            </m:r>
                            <m:r>
                              <a:rPr lang="en-US" sz="2200" i="1">
                                <a:solidFill>
                                  <a:srgbClr val="002060"/>
                                </a:solidFill>
                                <a:latin typeface="Cambria Math" panose="02040503050406030204" pitchFamily="18" charset="0"/>
                                <a:ea typeface="Cambria Math" panose="02040503050406030204" pitchFamily="18" charset="0"/>
                              </a:rPr>
                              <m:t> </m:t>
                            </m:r>
                            <m:r>
                              <a:rPr lang="en-US" sz="2200" i="1">
                                <a:solidFill>
                                  <a:srgbClr val="002060"/>
                                </a:solidFill>
                                <a:latin typeface="Cambria Math" panose="02040503050406030204" pitchFamily="18" charset="0"/>
                                <a:ea typeface="Cambria Math" panose="02040503050406030204" pitchFamily="18" charset="0"/>
                              </a:rPr>
                              <m:t>𝑞𝑢𝑏𝑖𝑡</m:t>
                            </m:r>
                          </m:e>
                        </m:mr>
                        <m:mr>
                          <m:e>
                            <m:r>
                              <a:rPr lang="en-US" sz="2200" i="1">
                                <a:solidFill>
                                  <a:srgbClr val="002060"/>
                                </a:solidFill>
                                <a:latin typeface="Cambria Math" panose="02040503050406030204" pitchFamily="18" charset="0"/>
                                <a:ea typeface="Cambria Math" panose="02040503050406030204" pitchFamily="18" charset="0"/>
                              </a:rPr>
                              <m:t>00</m:t>
                            </m:r>
                          </m:e>
                          <m:e>
                            <m:r>
                              <a:rPr lang="en-US" sz="2200" i="1">
                                <a:solidFill>
                                  <a:srgbClr val="002060"/>
                                </a:solidFill>
                                <a:latin typeface="Cambria Math" panose="02040503050406030204" pitchFamily="18" charset="0"/>
                                <a:ea typeface="Cambria Math" panose="02040503050406030204" pitchFamily="18" charset="0"/>
                              </a:rPr>
                              <m:t>→</m:t>
                            </m:r>
                          </m:e>
                          <m:e>
                            <m:r>
                              <a:rPr lang="en-US" sz="2200" i="1">
                                <a:solidFill>
                                  <a:srgbClr val="002060"/>
                                </a:solidFill>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mr>
                        <m:mr>
                          <m:e>
                            <m:r>
                              <a:rPr lang="en-US" sz="2200" i="1">
                                <a:solidFill>
                                  <a:srgbClr val="002060"/>
                                </a:solidFill>
                                <a:latin typeface="Cambria Math" panose="02040503050406030204" pitchFamily="18" charset="0"/>
                                <a:ea typeface="Cambria Math" panose="02040503050406030204" pitchFamily="18" charset="0"/>
                              </a:rPr>
                              <m:t>01</m:t>
                            </m:r>
                          </m:e>
                          <m:e>
                            <m:r>
                              <a:rPr lang="en-US" sz="2200" i="1">
                                <a:solidFill>
                                  <a:srgbClr val="002060"/>
                                </a:solidFill>
                                <a:latin typeface="Cambria Math" panose="02040503050406030204" pitchFamily="18" charset="0"/>
                                <a:ea typeface="Cambria Math" panose="02040503050406030204" pitchFamily="18" charset="0"/>
                              </a:rPr>
                              <m:t>→</m:t>
                            </m:r>
                          </m:e>
                          <m:e>
                            <m:r>
                              <a:rPr lang="en-US" sz="2200" i="1">
                                <a:solidFill>
                                  <a:srgbClr val="002060"/>
                                </a:solidFill>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e>
                        </m:mr>
                        <m:mr>
                          <m:e>
                            <m:r>
                              <a:rPr lang="en-US" sz="2200" i="1">
                                <a:solidFill>
                                  <a:srgbClr val="002060"/>
                                </a:solidFill>
                                <a:latin typeface="Cambria Math" panose="02040503050406030204" pitchFamily="18" charset="0"/>
                                <a:ea typeface="Cambria Math" panose="02040503050406030204" pitchFamily="18" charset="0"/>
                              </a:rPr>
                              <m:t>10</m:t>
                            </m:r>
                          </m:e>
                          <m:e>
                            <m:r>
                              <a:rPr lang="en-US" sz="2200" i="1">
                                <a:solidFill>
                                  <a:srgbClr val="002060"/>
                                </a:solidFill>
                                <a:latin typeface="Cambria Math" panose="02040503050406030204" pitchFamily="18" charset="0"/>
                                <a:ea typeface="Cambria Math" panose="02040503050406030204" pitchFamily="18" charset="0"/>
                              </a:rPr>
                              <m:t>→</m:t>
                            </m:r>
                          </m:e>
                          <m:e>
                            <m:r>
                              <a:rPr lang="en-US" sz="2200" i="1">
                                <a:solidFill>
                                  <a:srgbClr val="002060"/>
                                </a:solidFill>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mr>
                        <m:mr>
                          <m:e>
                            <m:r>
                              <a:rPr lang="en-US" sz="2200" i="1">
                                <a:solidFill>
                                  <a:srgbClr val="002060"/>
                                </a:solidFill>
                                <a:latin typeface="Cambria Math" panose="02040503050406030204" pitchFamily="18" charset="0"/>
                                <a:ea typeface="Cambria Math" panose="02040503050406030204" pitchFamily="18" charset="0"/>
                              </a:rPr>
                              <m:t>11</m:t>
                            </m:r>
                          </m:e>
                          <m:e>
                            <m:r>
                              <a:rPr lang="en-US" sz="2200" i="1">
                                <a:solidFill>
                                  <a:srgbClr val="002060"/>
                                </a:solidFill>
                                <a:latin typeface="Cambria Math" panose="02040503050406030204" pitchFamily="18" charset="0"/>
                                <a:ea typeface="Cambria Math" panose="02040503050406030204" pitchFamily="18" charset="0"/>
                              </a:rPr>
                              <m:t>→</m:t>
                            </m:r>
                          </m:e>
                          <m:e>
                            <m:r>
                              <a:rPr lang="en-US" sz="2200" i="1">
                                <a:solidFill>
                                  <a:srgbClr val="002060"/>
                                </a:solidFill>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e>
                        </m:mr>
                      </m:m>
                    </m:oMath>
                  </m:oMathPara>
                </a14:m>
                <a:endParaRPr lang="en-US" sz="2200" dirty="0"/>
              </a:p>
            </p:txBody>
          </p:sp>
        </mc:Choice>
        <mc:Fallback xmlns="">
          <p:sp>
            <p:nvSpPr>
              <p:cNvPr id="47" name="TextBox 46">
                <a:extLst>
                  <a:ext uri="{FF2B5EF4-FFF2-40B4-BE49-F238E27FC236}">
                    <a16:creationId xmlns:a16="http://schemas.microsoft.com/office/drawing/2014/main" id="{4EE6D419-42F4-DD45-8549-69C5153ED65C}"/>
                  </a:ext>
                </a:extLst>
              </p:cNvPr>
              <p:cNvSpPr txBox="1">
                <a:spLocks noRot="1" noChangeAspect="1" noMove="1" noResize="1" noEditPoints="1" noAdjustHandles="1" noChangeArrowheads="1" noChangeShapeType="1" noTextEdit="1"/>
              </p:cNvSpPr>
              <p:nvPr/>
            </p:nvSpPr>
            <p:spPr>
              <a:xfrm>
                <a:off x="6384392" y="2097102"/>
                <a:ext cx="4463338" cy="1847109"/>
              </a:xfrm>
              <a:prstGeom prst="rect">
                <a:avLst/>
              </a:prstGeom>
              <a:blipFill>
                <a:blip r:embed="rId19"/>
                <a:stretch>
                  <a:fillRect t="-9524" r="-4545" b="-42857"/>
                </a:stretch>
              </a:blipFill>
            </p:spPr>
            <p:txBody>
              <a:bodyPr/>
              <a:lstStyle/>
              <a:p>
                <a:r>
                  <a:rPr lang="en-US">
                    <a:noFill/>
                  </a:rPr>
                  <a:t> </a:t>
                </a:r>
              </a:p>
            </p:txBody>
          </p:sp>
        </mc:Fallback>
      </mc:AlternateContent>
      <p:sp>
        <p:nvSpPr>
          <p:cNvPr id="34" name="Slide Number Placeholder 2">
            <a:extLst>
              <a:ext uri="{FF2B5EF4-FFF2-40B4-BE49-F238E27FC236}">
                <a16:creationId xmlns:a16="http://schemas.microsoft.com/office/drawing/2014/main" id="{258D1035-7BE2-9B4F-B4CA-6AD8FBE4084C}"/>
              </a:ext>
            </a:extLst>
          </p:cNvPr>
          <p:cNvSpPr>
            <a:spLocks noGrp="1"/>
          </p:cNvSpPr>
          <p:nvPr>
            <p:ph type="sldNum" sz="quarter" idx="12"/>
          </p:nvPr>
        </p:nvSpPr>
        <p:spPr>
          <a:xfrm>
            <a:off x="0" y="6492875"/>
            <a:ext cx="797827" cy="365125"/>
          </a:xfrm>
        </p:spPr>
        <p:txBody>
          <a:bodyPr/>
          <a:lstStyle/>
          <a:p>
            <a:fld id="{591A223C-FA10-BC46-A853-03BA373D023C}" type="slidenum">
              <a:rPr lang="en-US" smtClean="0"/>
              <a:t>33</a:t>
            </a:fld>
            <a:endParaRPr lang="en-US"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C2BE04F-56CA-A448-83AC-DF8155F28FB5}"/>
                  </a:ext>
                </a:extLst>
              </p:cNvPr>
              <p:cNvSpPr/>
              <p:nvPr/>
            </p:nvSpPr>
            <p:spPr>
              <a:xfrm>
                <a:off x="1627936" y="5364939"/>
                <a:ext cx="10934699"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00</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01</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10</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11</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e>
                          </m:d>
                        </m:e>
                      </m:d>
                    </m:oMath>
                  </m:oMathPara>
                </a14:m>
                <a:endParaRPr lang="en-US" dirty="0"/>
              </a:p>
            </p:txBody>
          </p:sp>
        </mc:Choice>
        <mc:Fallback xmlns="">
          <p:sp>
            <p:nvSpPr>
              <p:cNvPr id="3" name="Rectangle 2">
                <a:extLst>
                  <a:ext uri="{FF2B5EF4-FFF2-40B4-BE49-F238E27FC236}">
                    <a16:creationId xmlns:a16="http://schemas.microsoft.com/office/drawing/2014/main" id="{DC2BE04F-56CA-A448-83AC-DF8155F28FB5}"/>
                  </a:ext>
                </a:extLst>
              </p:cNvPr>
              <p:cNvSpPr>
                <a:spLocks noRot="1" noChangeAspect="1" noMove="1" noResize="1" noEditPoints="1" noAdjustHandles="1" noChangeArrowheads="1" noChangeShapeType="1" noTextEdit="1"/>
              </p:cNvSpPr>
              <p:nvPr/>
            </p:nvSpPr>
            <p:spPr>
              <a:xfrm>
                <a:off x="1627936" y="5364939"/>
                <a:ext cx="10934699" cy="610936"/>
              </a:xfrm>
              <a:prstGeom prst="rect">
                <a:avLst/>
              </a:prstGeom>
              <a:blipFill>
                <a:blip r:embed="rId20"/>
                <a:stretch>
                  <a:fillRect t="-44000" b="-82000"/>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E3D5A014-6812-CD4A-A7CA-0A257C677F17}"/>
              </a:ext>
            </a:extLst>
          </p:cNvPr>
          <p:cNvCxnSpPr>
            <a:cxnSpLocks/>
          </p:cNvCxnSpPr>
          <p:nvPr/>
        </p:nvCxnSpPr>
        <p:spPr>
          <a:xfrm>
            <a:off x="4817576" y="1542075"/>
            <a:ext cx="0" cy="384191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2854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E0006CFC-C93C-764E-A849-3740989DCF75}"/>
              </a:ext>
            </a:extLst>
          </p:cNvPr>
          <p:cNvSpPr/>
          <p:nvPr/>
        </p:nvSpPr>
        <p:spPr>
          <a:xfrm>
            <a:off x="2611193" y="1925328"/>
            <a:ext cx="2066141" cy="189402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34EA8469-B56C-6540-9A6E-028D4326D4DB}"/>
              </a:ext>
            </a:extLst>
          </p:cNvPr>
          <p:cNvSpPr txBox="1"/>
          <p:nvPr/>
        </p:nvSpPr>
        <p:spPr>
          <a:xfrm>
            <a:off x="4284922" y="5751831"/>
            <a:ext cx="2318520" cy="369332"/>
          </a:xfrm>
          <a:prstGeom prst="rect">
            <a:avLst/>
          </a:prstGeom>
          <a:noFill/>
        </p:spPr>
        <p:txBody>
          <a:bodyPr wrap="none" rtlCol="0">
            <a:spAutoFit/>
          </a:bodyPr>
          <a:lstStyle/>
          <a:p>
            <a:r>
              <a:rPr lang="en-US" dirty="0" err="1"/>
              <a:t>merenje</a:t>
            </a:r>
            <a:r>
              <a:rPr lang="en-US" dirty="0"/>
              <a:t> u </a:t>
            </a:r>
            <a:r>
              <a:rPr lang="en-US" dirty="0" err="1"/>
              <a:t>Belovoj</a:t>
            </a:r>
            <a:r>
              <a:rPr lang="en-US" dirty="0"/>
              <a:t> </a:t>
            </a:r>
            <a:r>
              <a:rPr lang="en-US" dirty="0" err="1"/>
              <a:t>bazi</a:t>
            </a:r>
            <a:endParaRPr lang="en-US" dirty="0"/>
          </a:p>
        </p:txBody>
      </p:sp>
      <p:sp>
        <p:nvSpPr>
          <p:cNvPr id="77" name="Rectangle 76">
            <a:extLst>
              <a:ext uri="{FF2B5EF4-FFF2-40B4-BE49-F238E27FC236}">
                <a16:creationId xmlns:a16="http://schemas.microsoft.com/office/drawing/2014/main" id="{B3DE8BBD-C0D6-5443-9BD7-2C85D560F084}"/>
              </a:ext>
            </a:extLst>
          </p:cNvPr>
          <p:cNvSpPr/>
          <p:nvPr/>
        </p:nvSpPr>
        <p:spPr>
          <a:xfrm>
            <a:off x="3466803" y="5494101"/>
            <a:ext cx="720000" cy="72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F21C3C57-EA7D-CF41-AA5C-76012B9B9F52}"/>
              </a:ext>
            </a:extLst>
          </p:cNvPr>
          <p:cNvSpPr/>
          <p:nvPr/>
        </p:nvSpPr>
        <p:spPr>
          <a:xfrm>
            <a:off x="8519341" y="909068"/>
            <a:ext cx="2968203" cy="368367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E040B4EF-00DF-D445-90E0-AD6C05942143}"/>
              </a:ext>
            </a:extLst>
          </p:cNvPr>
          <p:cNvSpPr/>
          <p:nvPr/>
        </p:nvSpPr>
        <p:spPr>
          <a:xfrm>
            <a:off x="6845680" y="5494101"/>
            <a:ext cx="720000" cy="720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509855E7-F248-4844-8124-328A965EDC72}"/>
              </a:ext>
            </a:extLst>
          </p:cNvPr>
          <p:cNvSpPr txBox="1"/>
          <p:nvPr/>
        </p:nvSpPr>
        <p:spPr>
          <a:xfrm>
            <a:off x="7658513" y="5751831"/>
            <a:ext cx="957570" cy="369332"/>
          </a:xfrm>
          <a:prstGeom prst="rect">
            <a:avLst/>
          </a:prstGeom>
          <a:noFill/>
        </p:spPr>
        <p:txBody>
          <a:bodyPr wrap="none" rtlCol="0">
            <a:spAutoFit/>
          </a:bodyPr>
          <a:lstStyle/>
          <a:p>
            <a:r>
              <a:rPr lang="en-US" dirty="0" err="1"/>
              <a:t>dekoder</a:t>
            </a:r>
            <a:endParaRPr lang="en-US" dirty="0"/>
          </a:p>
        </p:txBody>
      </p:sp>
      <p:sp>
        <p:nvSpPr>
          <p:cNvPr id="71" name="Rectangle 70">
            <a:extLst>
              <a:ext uri="{FF2B5EF4-FFF2-40B4-BE49-F238E27FC236}">
                <a16:creationId xmlns:a16="http://schemas.microsoft.com/office/drawing/2014/main" id="{435CCC82-55F0-7049-8B91-625848C0C3AF}"/>
              </a:ext>
            </a:extLst>
          </p:cNvPr>
          <p:cNvSpPr/>
          <p:nvPr/>
        </p:nvSpPr>
        <p:spPr>
          <a:xfrm>
            <a:off x="585307" y="2825003"/>
            <a:ext cx="1878902" cy="20259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42ACF075-179A-EF49-9CB8-3D522346B456}"/>
              </a:ext>
            </a:extLst>
          </p:cNvPr>
          <p:cNvSpPr>
            <a:spLocks noChangeAspect="1"/>
          </p:cNvSpPr>
          <p:nvPr/>
        </p:nvSpPr>
        <p:spPr>
          <a:xfrm>
            <a:off x="740187" y="5494101"/>
            <a:ext cx="720000" cy="72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44AB58FC-F928-BD45-91EA-310C9437C3DC}"/>
              </a:ext>
            </a:extLst>
          </p:cNvPr>
          <p:cNvSpPr txBox="1"/>
          <p:nvPr/>
        </p:nvSpPr>
        <p:spPr>
          <a:xfrm>
            <a:off x="1559490" y="5708951"/>
            <a:ext cx="1268617" cy="369332"/>
          </a:xfrm>
          <a:prstGeom prst="rect">
            <a:avLst/>
          </a:prstGeom>
          <a:noFill/>
        </p:spPr>
        <p:txBody>
          <a:bodyPr wrap="none" rtlCol="0">
            <a:spAutoFit/>
          </a:bodyPr>
          <a:lstStyle/>
          <a:p>
            <a:r>
              <a:rPr lang="en-US" dirty="0" err="1"/>
              <a:t>Belovo</a:t>
            </a:r>
            <a:r>
              <a:rPr lang="en-US" dirty="0"/>
              <a:t> </a:t>
            </a:r>
            <a:r>
              <a:rPr lang="en-US" dirty="0" err="1"/>
              <a:t>kolo</a:t>
            </a:r>
            <a:endParaRPr lang="en-US" dirty="0"/>
          </a:p>
        </p:txBody>
      </p:sp>
      <p:sp>
        <p:nvSpPr>
          <p:cNvPr id="2" name="Title 1">
            <a:extLst>
              <a:ext uri="{FF2B5EF4-FFF2-40B4-BE49-F238E27FC236}">
                <a16:creationId xmlns:a16="http://schemas.microsoft.com/office/drawing/2014/main" id="{158B0C04-D22F-7B44-B869-00E02991A750}"/>
              </a:ext>
            </a:extLst>
          </p:cNvPr>
          <p:cNvSpPr>
            <a:spLocks noGrp="1"/>
          </p:cNvSpPr>
          <p:nvPr>
            <p:ph type="title"/>
          </p:nvPr>
        </p:nvSpPr>
        <p:spPr/>
        <p:txBody>
          <a:bodyPr/>
          <a:lstStyle/>
          <a:p>
            <a:r>
              <a:rPr lang="en-ZA" dirty="0"/>
              <a:t>Quantum Teleportation (5)</a:t>
            </a:r>
            <a:endParaRPr lang="en-US" dirty="0"/>
          </a:p>
        </p:txBody>
      </p:sp>
      <p:cxnSp>
        <p:nvCxnSpPr>
          <p:cNvPr id="7" name="Straight Connector 6">
            <a:extLst>
              <a:ext uri="{FF2B5EF4-FFF2-40B4-BE49-F238E27FC236}">
                <a16:creationId xmlns:a16="http://schemas.microsoft.com/office/drawing/2014/main" id="{3F45C707-926F-1A49-BAA3-76F601169713}"/>
              </a:ext>
            </a:extLst>
          </p:cNvPr>
          <p:cNvCxnSpPr>
            <a:cxnSpLocks/>
          </p:cNvCxnSpPr>
          <p:nvPr/>
        </p:nvCxnSpPr>
        <p:spPr>
          <a:xfrm>
            <a:off x="550692" y="2363337"/>
            <a:ext cx="5112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DDF0BB-1E72-5542-B583-6BBFAE896B3F}"/>
              </a:ext>
            </a:extLst>
          </p:cNvPr>
          <p:cNvCxnSpPr>
            <a:cxnSpLocks/>
          </p:cNvCxnSpPr>
          <p:nvPr/>
        </p:nvCxnSpPr>
        <p:spPr>
          <a:xfrm flipV="1">
            <a:off x="543507" y="3383898"/>
            <a:ext cx="5150113"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46B40D6-7743-5044-9910-E01EFD777C58}"/>
              </a:ext>
            </a:extLst>
          </p:cNvPr>
          <p:cNvSpPr/>
          <p:nvPr/>
        </p:nvSpPr>
        <p:spPr>
          <a:xfrm>
            <a:off x="786446" y="303010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5" name="Straight Connector 14">
            <a:extLst>
              <a:ext uri="{FF2B5EF4-FFF2-40B4-BE49-F238E27FC236}">
                <a16:creationId xmlns:a16="http://schemas.microsoft.com/office/drawing/2014/main" id="{1D85F885-5D76-C14C-B7F2-BD9A389B7B15}"/>
              </a:ext>
            </a:extLst>
          </p:cNvPr>
          <p:cNvCxnSpPr>
            <a:cxnSpLocks/>
          </p:cNvCxnSpPr>
          <p:nvPr/>
        </p:nvCxnSpPr>
        <p:spPr>
          <a:xfrm>
            <a:off x="543506" y="4335131"/>
            <a:ext cx="67026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552AE55-CD3D-254A-8F7D-70BC64F985AF}"/>
              </a:ext>
            </a:extLst>
          </p:cNvPr>
          <p:cNvGrpSpPr/>
          <p:nvPr/>
        </p:nvGrpSpPr>
        <p:grpSpPr>
          <a:xfrm>
            <a:off x="1627936" y="3207569"/>
            <a:ext cx="720000" cy="1523456"/>
            <a:chOff x="3902013" y="4782323"/>
            <a:chExt cx="720000" cy="1523456"/>
          </a:xfrm>
        </p:grpSpPr>
        <p:sp>
          <p:nvSpPr>
            <p:cNvPr id="30" name="Oval 29">
              <a:extLst>
                <a:ext uri="{FF2B5EF4-FFF2-40B4-BE49-F238E27FC236}">
                  <a16:creationId xmlns:a16="http://schemas.microsoft.com/office/drawing/2014/main" id="{7CA11699-B9D8-7245-BD85-28F0C1351CA0}"/>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1" name="Oval 30">
              <a:extLst>
                <a:ext uri="{FF2B5EF4-FFF2-40B4-BE49-F238E27FC236}">
                  <a16:creationId xmlns:a16="http://schemas.microsoft.com/office/drawing/2014/main" id="{DB464219-E704-7147-97FB-862229518A5E}"/>
                </a:ext>
              </a:extLst>
            </p:cNvPr>
            <p:cNvSpPr>
              <a:spLocks noChangeAspect="1"/>
            </p:cNvSpPr>
            <p:nvPr/>
          </p:nvSpPr>
          <p:spPr>
            <a:xfrm>
              <a:off x="4075930" y="4782323"/>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2" name="Straight Connector 31">
              <a:extLst>
                <a:ext uri="{FF2B5EF4-FFF2-40B4-BE49-F238E27FC236}">
                  <a16:creationId xmlns:a16="http://schemas.microsoft.com/office/drawing/2014/main" id="{FA1D0A80-4AE3-CF41-A019-A2F4473A58EC}"/>
                </a:ext>
              </a:extLst>
            </p:cNvPr>
            <p:cNvCxnSpPr>
              <a:cxnSpLocks/>
              <a:stCxn id="31" idx="4"/>
              <a:endCxn id="30" idx="0"/>
            </p:cNvCxnSpPr>
            <p:nvPr/>
          </p:nvCxnSpPr>
          <p:spPr>
            <a:xfrm>
              <a:off x="4255930" y="5142323"/>
              <a:ext cx="6083" cy="44345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AF36C35-3380-0A41-8183-2EC3275FF26A}"/>
              </a:ext>
            </a:extLst>
          </p:cNvPr>
          <p:cNvGrpSpPr/>
          <p:nvPr/>
        </p:nvGrpSpPr>
        <p:grpSpPr>
          <a:xfrm>
            <a:off x="2678223" y="2183337"/>
            <a:ext cx="720000" cy="1557320"/>
            <a:chOff x="3902013" y="4748459"/>
            <a:chExt cx="720000" cy="1557320"/>
          </a:xfrm>
        </p:grpSpPr>
        <p:sp>
          <p:nvSpPr>
            <p:cNvPr id="36" name="Oval 35">
              <a:extLst>
                <a:ext uri="{FF2B5EF4-FFF2-40B4-BE49-F238E27FC236}">
                  <a16:creationId xmlns:a16="http://schemas.microsoft.com/office/drawing/2014/main" id="{02373F65-C903-FF46-A699-B433AB06C088}"/>
                </a:ext>
              </a:extLst>
            </p:cNvPr>
            <p:cNvSpPr/>
            <p:nvPr/>
          </p:nvSpPr>
          <p:spPr>
            <a:xfrm>
              <a:off x="3902013" y="5585779"/>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Oval 36">
              <a:extLst>
                <a:ext uri="{FF2B5EF4-FFF2-40B4-BE49-F238E27FC236}">
                  <a16:creationId xmlns:a16="http://schemas.microsoft.com/office/drawing/2014/main" id="{53E70F6D-EB49-5745-A346-E163A287CB11}"/>
                </a:ext>
              </a:extLst>
            </p:cNvPr>
            <p:cNvSpPr>
              <a:spLocks noChangeAspect="1"/>
            </p:cNvSpPr>
            <p:nvPr/>
          </p:nvSpPr>
          <p:spPr>
            <a:xfrm>
              <a:off x="4075930" y="4748459"/>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8" name="Straight Connector 37">
              <a:extLst>
                <a:ext uri="{FF2B5EF4-FFF2-40B4-BE49-F238E27FC236}">
                  <a16:creationId xmlns:a16="http://schemas.microsoft.com/office/drawing/2014/main" id="{77E24676-5805-E241-B53B-75F9176CC6E3}"/>
                </a:ext>
              </a:extLst>
            </p:cNvPr>
            <p:cNvCxnSpPr>
              <a:cxnSpLocks/>
              <a:stCxn id="37" idx="4"/>
              <a:endCxn id="36" idx="0"/>
            </p:cNvCxnSpPr>
            <p:nvPr/>
          </p:nvCxnSpPr>
          <p:spPr>
            <a:xfrm>
              <a:off x="4255930" y="5108459"/>
              <a:ext cx="6083" cy="47732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5E0ACC07-3250-C74C-9270-6E2910FFD976}"/>
              </a:ext>
            </a:extLst>
          </p:cNvPr>
          <p:cNvSpPr/>
          <p:nvPr/>
        </p:nvSpPr>
        <p:spPr>
          <a:xfrm>
            <a:off x="3459843" y="200333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49" name="Rectangle 48">
            <a:extLst>
              <a:ext uri="{FF2B5EF4-FFF2-40B4-BE49-F238E27FC236}">
                <a16:creationId xmlns:a16="http://schemas.microsoft.com/office/drawing/2014/main" id="{B070C83E-BD86-704C-9836-D8766B98490E}"/>
              </a:ext>
            </a:extLst>
          </p:cNvPr>
          <p:cNvSpPr/>
          <p:nvPr/>
        </p:nvSpPr>
        <p:spPr>
          <a:xfrm>
            <a:off x="162899" y="4751674"/>
            <a:ext cx="8698796" cy="1600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279724A7-5399-B548-B324-74EA99C785F2}"/>
              </a:ext>
            </a:extLst>
          </p:cNvPr>
          <p:cNvGrpSpPr/>
          <p:nvPr/>
        </p:nvGrpSpPr>
        <p:grpSpPr>
          <a:xfrm>
            <a:off x="8682657" y="909068"/>
            <a:ext cx="3018715" cy="3423185"/>
            <a:chOff x="3627984" y="1172267"/>
            <a:chExt cx="3018715" cy="3423185"/>
          </a:xfrm>
        </p:grpSpPr>
        <p:grpSp>
          <p:nvGrpSpPr>
            <p:cNvPr id="4" name="Group 3">
              <a:extLst>
                <a:ext uri="{FF2B5EF4-FFF2-40B4-BE49-F238E27FC236}">
                  <a16:creationId xmlns:a16="http://schemas.microsoft.com/office/drawing/2014/main" id="{B050F5C9-D5FF-3F46-BF84-1767CBEB83DF}"/>
                </a:ext>
              </a:extLst>
            </p:cNvPr>
            <p:cNvGrpSpPr/>
            <p:nvPr/>
          </p:nvGrpSpPr>
          <p:grpSpPr>
            <a:xfrm>
              <a:off x="4088903" y="2571913"/>
              <a:ext cx="716359" cy="207988"/>
              <a:chOff x="4088903" y="2571913"/>
              <a:chExt cx="716359" cy="207988"/>
            </a:xfrm>
          </p:grpSpPr>
          <p:cxnSp>
            <p:nvCxnSpPr>
              <p:cNvPr id="5" name="Straight Connector 4">
                <a:extLst>
                  <a:ext uri="{FF2B5EF4-FFF2-40B4-BE49-F238E27FC236}">
                    <a16:creationId xmlns:a16="http://schemas.microsoft.com/office/drawing/2014/main" id="{C7DE1571-DB93-1942-B36F-AE2705F5FFFA}"/>
                  </a:ext>
                </a:extLst>
              </p:cNvPr>
              <p:cNvCxnSpPr>
                <a:cxnSpLocks/>
              </p:cNvCxnSpPr>
              <p:nvPr/>
            </p:nvCxnSpPr>
            <p:spPr>
              <a:xfrm>
                <a:off x="4341298" y="2571913"/>
                <a:ext cx="463964" cy="0"/>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8142153-A253-2649-B6C7-3A701B6D92E4}"/>
                  </a:ext>
                </a:extLst>
              </p:cNvPr>
              <p:cNvCxnSpPr>
                <a:cxnSpLocks/>
                <a:stCxn id="22" idx="7"/>
              </p:cNvCxnSpPr>
              <p:nvPr/>
            </p:nvCxnSpPr>
            <p:spPr>
              <a:xfrm flipV="1">
                <a:off x="4088903" y="2571913"/>
                <a:ext cx="248493" cy="207988"/>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8B783046-5ED5-7B41-B3C1-2EFC64F75E79}"/>
                </a:ext>
              </a:extLst>
            </p:cNvPr>
            <p:cNvCxnSpPr>
              <a:cxnSpLocks/>
            </p:cNvCxnSpPr>
            <p:nvPr/>
          </p:nvCxnSpPr>
          <p:spPr>
            <a:xfrm>
              <a:off x="3891231" y="1703938"/>
              <a:ext cx="2346753"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8247D8-ABDA-F34C-940B-4D4F07E47954}"/>
                </a:ext>
              </a:extLst>
            </p:cNvPr>
            <p:cNvCxnSpPr>
              <a:cxnSpLocks/>
            </p:cNvCxnSpPr>
            <p:nvPr/>
          </p:nvCxnSpPr>
          <p:spPr>
            <a:xfrm>
              <a:off x="3897703" y="4237702"/>
              <a:ext cx="2340281"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9AD4C86-7E8D-DF4A-AB90-0B75A9BBABE1}"/>
                </a:ext>
              </a:extLst>
            </p:cNvPr>
            <p:cNvSpPr/>
            <p:nvPr/>
          </p:nvSpPr>
          <p:spPr>
            <a:xfrm>
              <a:off x="4797984" y="2188526"/>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3" name="Rectangle 12">
              <a:extLst>
                <a:ext uri="{FF2B5EF4-FFF2-40B4-BE49-F238E27FC236}">
                  <a16:creationId xmlns:a16="http://schemas.microsoft.com/office/drawing/2014/main" id="{3060305B-7E4D-E94C-AA88-C3B568C3A76A}"/>
                </a:ext>
              </a:extLst>
            </p:cNvPr>
            <p:cNvSpPr/>
            <p:nvPr/>
          </p:nvSpPr>
          <p:spPr>
            <a:xfrm>
              <a:off x="4797984" y="3030865"/>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16" name="Rectangle 15">
              <a:extLst>
                <a:ext uri="{FF2B5EF4-FFF2-40B4-BE49-F238E27FC236}">
                  <a16:creationId xmlns:a16="http://schemas.microsoft.com/office/drawing/2014/main" id="{BB625F89-78BF-EE40-9055-A352EB51B02D}"/>
                </a:ext>
              </a:extLst>
            </p:cNvPr>
            <p:cNvSpPr/>
            <p:nvPr/>
          </p:nvSpPr>
          <p:spPr>
            <a:xfrm>
              <a:off x="5270147" y="3875452"/>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17" name="Rectangle 16">
              <a:extLst>
                <a:ext uri="{FF2B5EF4-FFF2-40B4-BE49-F238E27FC236}">
                  <a16:creationId xmlns:a16="http://schemas.microsoft.com/office/drawing/2014/main" id="{F5A6CA3F-6ACA-5C47-B7E8-ABDFE9B7CC32}"/>
                </a:ext>
              </a:extLst>
            </p:cNvPr>
            <p:cNvSpPr/>
            <p:nvPr/>
          </p:nvSpPr>
          <p:spPr>
            <a:xfrm>
              <a:off x="4797984" y="1346187"/>
              <a:ext cx="720000" cy="7200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I</a:t>
              </a:r>
            </a:p>
          </p:txBody>
        </p:sp>
        <p:sp>
          <p:nvSpPr>
            <p:cNvPr id="18" name="Oval 17">
              <a:extLst>
                <a:ext uri="{FF2B5EF4-FFF2-40B4-BE49-F238E27FC236}">
                  <a16:creationId xmlns:a16="http://schemas.microsoft.com/office/drawing/2014/main" id="{7B33EEBB-A642-F841-85A9-34A933CB8702}"/>
                </a:ext>
              </a:extLst>
            </p:cNvPr>
            <p:cNvSpPr/>
            <p:nvPr/>
          </p:nvSpPr>
          <p:spPr>
            <a:xfrm>
              <a:off x="4386841" y="3875452"/>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19" name="Straight Connector 18">
              <a:extLst>
                <a:ext uri="{FF2B5EF4-FFF2-40B4-BE49-F238E27FC236}">
                  <a16:creationId xmlns:a16="http://schemas.microsoft.com/office/drawing/2014/main" id="{7E434A00-20B7-094B-9A0B-39E7EAAA1D1A}"/>
                </a:ext>
              </a:extLst>
            </p:cNvPr>
            <p:cNvCxnSpPr>
              <a:cxnSpLocks/>
            </p:cNvCxnSpPr>
            <p:nvPr/>
          </p:nvCxnSpPr>
          <p:spPr>
            <a:xfrm flipV="1">
              <a:off x="5517984" y="2548526"/>
              <a:ext cx="7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D68D6FB-62DE-9B4D-8AAF-94142628B445}"/>
                </a:ext>
              </a:extLst>
            </p:cNvPr>
            <p:cNvCxnSpPr>
              <a:cxnSpLocks/>
            </p:cNvCxnSpPr>
            <p:nvPr/>
          </p:nvCxnSpPr>
          <p:spPr>
            <a:xfrm flipV="1">
              <a:off x="5517984" y="3393114"/>
              <a:ext cx="7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3F82C16-261F-D148-B078-61CE24584F87}"/>
                </a:ext>
              </a:extLst>
            </p:cNvPr>
            <p:cNvCxnSpPr>
              <a:cxnSpLocks/>
            </p:cNvCxnSpPr>
            <p:nvPr/>
          </p:nvCxnSpPr>
          <p:spPr>
            <a:xfrm>
              <a:off x="6237984" y="1703938"/>
              <a:ext cx="0" cy="2533764"/>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AA8349B-F8EE-E349-84B8-0611A26F45B7}"/>
                </a:ext>
              </a:extLst>
            </p:cNvPr>
            <p:cNvSpPr>
              <a:spLocks noChangeAspect="1"/>
            </p:cNvSpPr>
            <p:nvPr/>
          </p:nvSpPr>
          <p:spPr>
            <a:xfrm>
              <a:off x="3627984" y="2700820"/>
              <a:ext cx="540000" cy="540000"/>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3" name="Straight Connector 22">
              <a:extLst>
                <a:ext uri="{FF2B5EF4-FFF2-40B4-BE49-F238E27FC236}">
                  <a16:creationId xmlns:a16="http://schemas.microsoft.com/office/drawing/2014/main" id="{233A66F6-2FCF-2C47-98DE-3EF3AE70157B}"/>
                </a:ext>
              </a:extLst>
            </p:cNvPr>
            <p:cNvCxnSpPr>
              <a:cxnSpLocks/>
            </p:cNvCxnSpPr>
            <p:nvPr/>
          </p:nvCxnSpPr>
          <p:spPr>
            <a:xfrm>
              <a:off x="3897703" y="3240820"/>
              <a:ext cx="1706" cy="99688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B9891B9-960C-8741-AF1D-456ED2424541}"/>
                </a:ext>
              </a:extLst>
            </p:cNvPr>
            <p:cNvCxnSpPr>
              <a:cxnSpLocks/>
            </p:cNvCxnSpPr>
            <p:nvPr/>
          </p:nvCxnSpPr>
          <p:spPr>
            <a:xfrm>
              <a:off x="3891231" y="1703938"/>
              <a:ext cx="1706" cy="99688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D9D8991A-94FD-A446-93EB-CD14B88B5EA3}"/>
                </a:ext>
              </a:extLst>
            </p:cNvPr>
            <p:cNvGrpSpPr/>
            <p:nvPr/>
          </p:nvGrpSpPr>
          <p:grpSpPr>
            <a:xfrm flipV="1">
              <a:off x="4077984" y="3186502"/>
              <a:ext cx="712457" cy="207988"/>
              <a:chOff x="5102688" y="3327286"/>
              <a:chExt cx="712457" cy="207988"/>
            </a:xfrm>
          </p:grpSpPr>
          <p:cxnSp>
            <p:nvCxnSpPr>
              <p:cNvPr id="26" name="Straight Connector 25">
                <a:extLst>
                  <a:ext uri="{FF2B5EF4-FFF2-40B4-BE49-F238E27FC236}">
                    <a16:creationId xmlns:a16="http://schemas.microsoft.com/office/drawing/2014/main" id="{86F71C94-9B69-AD4F-AA68-886AED1DA414}"/>
                  </a:ext>
                </a:extLst>
              </p:cNvPr>
              <p:cNvCxnSpPr>
                <a:cxnSpLocks/>
              </p:cNvCxnSpPr>
              <p:nvPr/>
            </p:nvCxnSpPr>
            <p:spPr>
              <a:xfrm>
                <a:off x="5351181" y="3330663"/>
                <a:ext cx="463964" cy="0"/>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205000-549F-2847-B183-8CBC3F3866E3}"/>
                  </a:ext>
                </a:extLst>
              </p:cNvPr>
              <p:cNvCxnSpPr>
                <a:cxnSpLocks/>
              </p:cNvCxnSpPr>
              <p:nvPr/>
            </p:nvCxnSpPr>
            <p:spPr>
              <a:xfrm flipV="1">
                <a:off x="5102688" y="3327286"/>
                <a:ext cx="248493" cy="207988"/>
              </a:xfrm>
              <a:prstGeom prst="line">
                <a:avLst/>
              </a:prstGeom>
              <a:ln w="254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76B5F627-AF9F-6841-8A9D-78C9D3DB1F45}"/>
                </a:ext>
              </a:extLst>
            </p:cNvPr>
            <p:cNvCxnSpPr>
              <a:cxnSpLocks/>
            </p:cNvCxnSpPr>
            <p:nvPr/>
          </p:nvCxnSpPr>
          <p:spPr>
            <a:xfrm flipH="1" flipV="1">
              <a:off x="3898888" y="2965538"/>
              <a:ext cx="0" cy="288000"/>
            </a:xfrm>
            <a:prstGeom prst="line">
              <a:avLst/>
            </a:prstGeom>
            <a:ln w="25400">
              <a:solidFill>
                <a:srgbClr val="FF0000"/>
              </a:solidFill>
              <a:headEnd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9275584-2CCA-B245-B628-58813AC2111B}"/>
                </a:ext>
              </a:extLst>
            </p:cNvPr>
            <p:cNvCxnSpPr>
              <a:cxnSpLocks/>
            </p:cNvCxnSpPr>
            <p:nvPr/>
          </p:nvCxnSpPr>
          <p:spPr>
            <a:xfrm>
              <a:off x="6237984" y="2956417"/>
              <a:ext cx="408715"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74F5BA94-354F-4F45-9BE8-5CCEE7805E89}"/>
                    </a:ext>
                  </a:extLst>
                </p:cNvPr>
                <p:cNvSpPr/>
                <p:nvPr/>
              </p:nvSpPr>
              <p:spPr>
                <a:xfrm>
                  <a:off x="4234882" y="1172267"/>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0</m:t>
                        </m:r>
                        <m:r>
                          <a:rPr lang="en-US" sz="2800" b="0" i="1" smtClean="0">
                            <a:solidFill>
                              <a:srgbClr val="C00000"/>
                            </a:solidFill>
                            <a:latin typeface="Cambria Math" panose="02040503050406030204" pitchFamily="18" charset="0"/>
                            <a:ea typeface="Cambria Math" panose="02040503050406030204" pitchFamily="18" charset="0"/>
                          </a:rPr>
                          <m:t>0</m:t>
                        </m:r>
                      </m:oMath>
                    </m:oMathPara>
                  </a14:m>
                  <a:endParaRPr lang="en-US" sz="2800" dirty="0">
                    <a:solidFill>
                      <a:srgbClr val="C00000"/>
                    </a:solidFill>
                  </a:endParaRPr>
                </a:p>
              </p:txBody>
            </p:sp>
          </mc:Choice>
          <mc:Fallback xmlns="">
            <p:sp>
              <p:nvSpPr>
                <p:cNvPr id="43" name="Rectangle 42">
                  <a:extLst>
                    <a:ext uri="{FF2B5EF4-FFF2-40B4-BE49-F238E27FC236}">
                      <a16:creationId xmlns:a16="http://schemas.microsoft.com/office/drawing/2014/main" id="{74F5BA94-354F-4F45-9BE8-5CCEE7805E89}"/>
                    </a:ext>
                  </a:extLst>
                </p:cNvPr>
                <p:cNvSpPr>
                  <a:spLocks noRot="1" noChangeAspect="1" noMove="1" noResize="1" noEditPoints="1" noAdjustHandles="1" noChangeArrowheads="1" noChangeShapeType="1" noTextEdit="1"/>
                </p:cNvSpPr>
                <p:nvPr/>
              </p:nvSpPr>
              <p:spPr>
                <a:xfrm>
                  <a:off x="4234882" y="1172267"/>
                  <a:ext cx="663964"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2DE43292-CFE4-6646-8CAD-39EA5C0C34CC}"/>
                    </a:ext>
                  </a:extLst>
                </p:cNvPr>
                <p:cNvSpPr/>
                <p:nvPr/>
              </p:nvSpPr>
              <p:spPr>
                <a:xfrm>
                  <a:off x="4234882" y="208875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0</m:t>
                        </m:r>
                        <m:r>
                          <a:rPr lang="en-US" sz="2800" b="0" i="1" smtClean="0">
                            <a:solidFill>
                              <a:srgbClr val="C00000"/>
                            </a:solidFill>
                            <a:latin typeface="Cambria Math" panose="02040503050406030204" pitchFamily="18" charset="0"/>
                            <a:ea typeface="Cambria Math" panose="02040503050406030204" pitchFamily="18" charset="0"/>
                          </a:rPr>
                          <m:t>1</m:t>
                        </m:r>
                      </m:oMath>
                    </m:oMathPara>
                  </a14:m>
                  <a:endParaRPr lang="en-US" sz="2800" dirty="0">
                    <a:solidFill>
                      <a:srgbClr val="C00000"/>
                    </a:solidFill>
                  </a:endParaRPr>
                </a:p>
              </p:txBody>
            </p:sp>
          </mc:Choice>
          <mc:Fallback xmlns="">
            <p:sp>
              <p:nvSpPr>
                <p:cNvPr id="44" name="Rectangle 43">
                  <a:extLst>
                    <a:ext uri="{FF2B5EF4-FFF2-40B4-BE49-F238E27FC236}">
                      <a16:creationId xmlns:a16="http://schemas.microsoft.com/office/drawing/2014/main" id="{2DE43292-CFE4-6646-8CAD-39EA5C0C34CC}"/>
                    </a:ext>
                  </a:extLst>
                </p:cNvPr>
                <p:cNvSpPr>
                  <a:spLocks noRot="1" noChangeAspect="1" noMove="1" noResize="1" noEditPoints="1" noAdjustHandles="1" noChangeArrowheads="1" noChangeShapeType="1" noTextEdit="1"/>
                </p:cNvSpPr>
                <p:nvPr/>
              </p:nvSpPr>
              <p:spPr>
                <a:xfrm>
                  <a:off x="4234882" y="2088754"/>
                  <a:ext cx="663964"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C030CFCF-9E55-4346-A803-42B61C0E7C4A}"/>
                    </a:ext>
                  </a:extLst>
                </p:cNvPr>
                <p:cNvSpPr/>
                <p:nvPr/>
              </p:nvSpPr>
              <p:spPr>
                <a:xfrm>
                  <a:off x="4232368" y="2929152"/>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ea typeface="Cambria Math" panose="02040503050406030204" pitchFamily="18" charset="0"/>
                          </a:rPr>
                          <m:t>1</m:t>
                        </m:r>
                        <m:r>
                          <a:rPr lang="en-US" sz="2800" b="0" i="1" smtClean="0">
                            <a:solidFill>
                              <a:srgbClr val="C00000"/>
                            </a:solidFill>
                            <a:latin typeface="Cambria Math" panose="02040503050406030204" pitchFamily="18" charset="0"/>
                            <a:ea typeface="Cambria Math" panose="02040503050406030204" pitchFamily="18" charset="0"/>
                          </a:rPr>
                          <m:t>0</m:t>
                        </m:r>
                      </m:oMath>
                    </m:oMathPara>
                  </a14:m>
                  <a:endParaRPr lang="en-US" sz="2800" dirty="0">
                    <a:solidFill>
                      <a:srgbClr val="C00000"/>
                    </a:solidFill>
                  </a:endParaRPr>
                </a:p>
              </p:txBody>
            </p:sp>
          </mc:Choice>
          <mc:Fallback xmlns="">
            <p:sp>
              <p:nvSpPr>
                <p:cNvPr id="45" name="Rectangle 44">
                  <a:extLst>
                    <a:ext uri="{FF2B5EF4-FFF2-40B4-BE49-F238E27FC236}">
                      <a16:creationId xmlns:a16="http://schemas.microsoft.com/office/drawing/2014/main" id="{C030CFCF-9E55-4346-A803-42B61C0E7C4A}"/>
                    </a:ext>
                  </a:extLst>
                </p:cNvPr>
                <p:cNvSpPr>
                  <a:spLocks noRot="1" noChangeAspect="1" noMove="1" noResize="1" noEditPoints="1" noAdjustHandles="1" noChangeArrowheads="1" noChangeShapeType="1" noTextEdit="1"/>
                </p:cNvSpPr>
                <p:nvPr/>
              </p:nvSpPr>
              <p:spPr>
                <a:xfrm>
                  <a:off x="4232368" y="2929152"/>
                  <a:ext cx="663964"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EBCF9520-1370-0C42-BA7A-68E454BAE97D}"/>
                    </a:ext>
                  </a:extLst>
                </p:cNvPr>
                <p:cNvSpPr/>
                <p:nvPr/>
              </p:nvSpPr>
              <p:spPr>
                <a:xfrm>
                  <a:off x="3807022" y="3791846"/>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ea typeface="Cambria Math" panose="02040503050406030204" pitchFamily="18" charset="0"/>
                          </a:rPr>
                          <m:t>11</m:t>
                        </m:r>
                      </m:oMath>
                    </m:oMathPara>
                  </a14:m>
                  <a:endParaRPr lang="en-US" sz="2800" dirty="0">
                    <a:solidFill>
                      <a:srgbClr val="C00000"/>
                    </a:solidFill>
                  </a:endParaRPr>
                </a:p>
              </p:txBody>
            </p:sp>
          </mc:Choice>
          <mc:Fallback xmlns="">
            <p:sp>
              <p:nvSpPr>
                <p:cNvPr id="46" name="Rectangle 45">
                  <a:extLst>
                    <a:ext uri="{FF2B5EF4-FFF2-40B4-BE49-F238E27FC236}">
                      <a16:creationId xmlns:a16="http://schemas.microsoft.com/office/drawing/2014/main" id="{EBCF9520-1370-0C42-BA7A-68E454BAE97D}"/>
                    </a:ext>
                  </a:extLst>
                </p:cNvPr>
                <p:cNvSpPr>
                  <a:spLocks noRot="1" noChangeAspect="1" noMove="1" noResize="1" noEditPoints="1" noAdjustHandles="1" noChangeArrowheads="1" noChangeShapeType="1" noTextEdit="1"/>
                </p:cNvSpPr>
                <p:nvPr/>
              </p:nvSpPr>
              <p:spPr>
                <a:xfrm>
                  <a:off x="3807022" y="3791846"/>
                  <a:ext cx="663964" cy="523220"/>
                </a:xfrm>
                <a:prstGeom prst="rect">
                  <a:avLst/>
                </a:prstGeom>
                <a:blipFill>
                  <a:blip r:embed="rId9"/>
                  <a:stretch>
                    <a:fillRect/>
                  </a:stretch>
                </a:blipFill>
              </p:spPr>
              <p:txBody>
                <a:bodyPr/>
                <a:lstStyle/>
                <a:p>
                  <a:r>
                    <a:rPr lang="en-US">
                      <a:noFill/>
                    </a:rPr>
                    <a:t> </a:t>
                  </a:r>
                </a:p>
              </p:txBody>
            </p:sp>
          </mc:Fallback>
        </mc:AlternateContent>
      </p:grpSp>
      <p:cxnSp>
        <p:nvCxnSpPr>
          <p:cNvPr id="69" name="Straight Connector 68">
            <a:extLst>
              <a:ext uri="{FF2B5EF4-FFF2-40B4-BE49-F238E27FC236}">
                <a16:creationId xmlns:a16="http://schemas.microsoft.com/office/drawing/2014/main" id="{10189DDD-E85F-4341-B572-D2FB92268B60}"/>
              </a:ext>
            </a:extLst>
          </p:cNvPr>
          <p:cNvCxnSpPr>
            <a:cxnSpLocks/>
            <a:endCxn id="22" idx="3"/>
          </p:cNvCxnSpPr>
          <p:nvPr/>
        </p:nvCxnSpPr>
        <p:spPr>
          <a:xfrm flipV="1">
            <a:off x="7246173" y="2898540"/>
            <a:ext cx="1515565" cy="143659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24E62851-14F0-ED43-ABAA-CD7759EB68DB}"/>
                  </a:ext>
                </a:extLst>
              </p:cNvPr>
              <p:cNvSpPr/>
              <p:nvPr/>
            </p:nvSpPr>
            <p:spPr>
              <a:xfrm>
                <a:off x="11507835" y="2200557"/>
                <a:ext cx="67941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C00000"/>
                          </a:solidFill>
                          <a:latin typeface="Cambria Math" panose="02040503050406030204" pitchFamily="18" charset="0"/>
                          <a:ea typeface="Cambria Math" panose="02040503050406030204" pitchFamily="18" charset="0"/>
                        </a:rPr>
                        <m:t>|</m:t>
                      </m:r>
                      <m:d>
                        <m:dPr>
                          <m:begChr m:val=""/>
                          <m:endChr m:val="⟩"/>
                          <m:ctrlPr>
                            <a:rPr lang="en-US" sz="2400" i="1">
                              <a:solidFill>
                                <a:srgbClr val="C00000"/>
                              </a:solidFill>
                              <a:latin typeface="Cambria Math" panose="02040503050406030204" pitchFamily="18" charset="0"/>
                              <a:ea typeface="Cambria Math" panose="02040503050406030204" pitchFamily="18" charset="0"/>
                            </a:rPr>
                          </m:ctrlPr>
                        </m:dPr>
                        <m:e>
                          <m:r>
                            <a:rPr lang="en-US" sz="2400" b="0" i="1" smtClean="0">
                              <a:solidFill>
                                <a:srgbClr val="C00000"/>
                              </a:solidFill>
                              <a:latin typeface="Cambria Math" panose="02040503050406030204" pitchFamily="18" charset="0"/>
                              <a:ea typeface="Cambria Math" panose="02040503050406030204" pitchFamily="18" charset="0"/>
                            </a:rPr>
                            <m:t>𝑄</m:t>
                          </m:r>
                        </m:e>
                      </m:d>
                    </m:oMath>
                  </m:oMathPara>
                </a14:m>
                <a:endParaRPr lang="en-US" sz="2400" dirty="0">
                  <a:solidFill>
                    <a:srgbClr val="C00000"/>
                  </a:solidFill>
                </a:endParaRPr>
              </a:p>
            </p:txBody>
          </p:sp>
        </mc:Choice>
        <mc:Fallback xmlns="">
          <p:sp>
            <p:nvSpPr>
              <p:cNvPr id="87" name="Rectangle 86">
                <a:extLst>
                  <a:ext uri="{FF2B5EF4-FFF2-40B4-BE49-F238E27FC236}">
                    <a16:creationId xmlns:a16="http://schemas.microsoft.com/office/drawing/2014/main" id="{24E62851-14F0-ED43-ABAA-CD7759EB68DB}"/>
                  </a:ext>
                </a:extLst>
              </p:cNvPr>
              <p:cNvSpPr>
                <a:spLocks noRot="1" noChangeAspect="1" noMove="1" noResize="1" noEditPoints="1" noAdjustHandles="1" noChangeArrowheads="1" noChangeShapeType="1" noTextEdit="1"/>
              </p:cNvSpPr>
              <p:nvPr/>
            </p:nvSpPr>
            <p:spPr>
              <a:xfrm>
                <a:off x="11507835" y="2200557"/>
                <a:ext cx="679417" cy="461665"/>
              </a:xfrm>
              <a:prstGeom prst="rect">
                <a:avLst/>
              </a:prstGeom>
              <a:blipFill>
                <a:blip r:embed="rId15"/>
                <a:stretch>
                  <a:fillRect l="-16364" t="-121053" r="-43636"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Line Callout 2 47">
                <a:extLst>
                  <a:ext uri="{FF2B5EF4-FFF2-40B4-BE49-F238E27FC236}">
                    <a16:creationId xmlns:a16="http://schemas.microsoft.com/office/drawing/2014/main" id="{1EABA06A-72D4-0642-9315-70BE824C6982}"/>
                  </a:ext>
                </a:extLst>
              </p:cNvPr>
              <p:cNvSpPr/>
              <p:nvPr/>
            </p:nvSpPr>
            <p:spPr>
              <a:xfrm>
                <a:off x="564459" y="5296434"/>
                <a:ext cx="8435004" cy="1315980"/>
              </a:xfrm>
              <a:prstGeom prst="borderCallout2">
                <a:avLst>
                  <a:gd name="adj1" fmla="val 52334"/>
                  <a:gd name="adj2" fmla="val 102783"/>
                  <a:gd name="adj3" fmla="val 18751"/>
                  <a:gd name="adj4" fmla="val 124531"/>
                  <a:gd name="adj5" fmla="val -186283"/>
                  <a:gd name="adj6" fmla="val 133106"/>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m>
                        <m:mPr>
                          <m:mcs>
                            <m:mc>
                              <m:mcPr>
                                <m:count m:val="6"/>
                                <m:mcJc m:val="center"/>
                              </m:mcPr>
                            </m:mc>
                          </m:mcs>
                          <m:ctrlPr>
                            <a:rPr lang="en-US" i="1" smtClean="0">
                              <a:solidFill>
                                <a:srgbClr val="002060"/>
                              </a:solidFill>
                              <a:latin typeface="Cambria Math" panose="02040503050406030204" pitchFamily="18" charset="0"/>
                              <a:ea typeface="Cambria Math" panose="02040503050406030204" pitchFamily="18" charset="0"/>
                            </a:rPr>
                          </m:ctrlPr>
                        </m:mPr>
                        <m:mr>
                          <m:e>
                            <m:r>
                              <a:rPr lang="en-US" b="0" i="1" smtClean="0">
                                <a:solidFill>
                                  <a:srgbClr val="002060"/>
                                </a:solidFill>
                                <a:latin typeface="Cambria Math" panose="02040503050406030204" pitchFamily="18" charset="0"/>
                                <a:ea typeface="Cambria Math" panose="02040503050406030204" pitchFamily="18" charset="0"/>
                              </a:rPr>
                              <m:t>𝑄𝑢𝑏𝑖𝑡</m:t>
                            </m:r>
                            <m:r>
                              <a:rPr lang="en-US" i="1">
                                <a:solidFill>
                                  <a:srgbClr val="002060"/>
                                </a:solidFill>
                                <a:latin typeface="Cambria Math" panose="02040503050406030204" pitchFamily="18" charset="0"/>
                                <a:ea typeface="Cambria Math" panose="02040503050406030204" pitchFamily="18" charset="0"/>
                              </a:rPr>
                              <m:t> </m:t>
                            </m:r>
                            <m:r>
                              <a:rPr lang="en-US" i="1">
                                <a:solidFill>
                                  <a:srgbClr val="002060"/>
                                </a:solidFill>
                                <a:latin typeface="Cambria Math" panose="02040503050406030204" pitchFamily="18" charset="0"/>
                                <a:ea typeface="Cambria Math" panose="02040503050406030204" pitchFamily="18" charset="0"/>
                              </a:rPr>
                              <m:t>𝑄</m:t>
                            </m:r>
                          </m:e>
                          <m:e>
                            <m:r>
                              <a:rPr lang="en-US" b="0" i="1" smtClean="0">
                                <a:solidFill>
                                  <a:srgbClr val="002060"/>
                                </a:solidFill>
                                <a:latin typeface="Cambria Math" panose="02040503050406030204" pitchFamily="18" charset="0"/>
                                <a:ea typeface="Cambria Math" panose="02040503050406030204" pitchFamily="18" charset="0"/>
                              </a:rPr>
                              <m:t>𝐴𝑙𝑖𝑐𝑒</m:t>
                            </m:r>
                          </m:e>
                          <m:e/>
                          <m:e>
                            <m:r>
                              <a:rPr lang="en-US" b="0" i="1" smtClean="0">
                                <a:solidFill>
                                  <a:srgbClr val="002060"/>
                                </a:solidFill>
                                <a:latin typeface="Cambria Math" panose="02040503050406030204" pitchFamily="18" charset="0"/>
                                <a:ea typeface="Cambria Math" panose="02040503050406030204" pitchFamily="18" charset="0"/>
                              </a:rPr>
                              <m:t>𝐵𝑜𝑏</m:t>
                            </m:r>
                          </m:e>
                          <m:e>
                            <m:r>
                              <a:rPr lang="en-US" b="0" i="1" smtClean="0">
                                <a:solidFill>
                                  <a:srgbClr val="002060"/>
                                </a:solidFill>
                                <a:latin typeface="Cambria Math" panose="02040503050406030204" pitchFamily="18" charset="0"/>
                                <a:ea typeface="Cambria Math" panose="02040503050406030204" pitchFamily="18" charset="0"/>
                              </a:rPr>
                              <m:t>𝐷𝑒𝑐𝑜𝑑𝑒𝑟</m:t>
                            </m:r>
                          </m:e>
                          <m:e>
                            <m:r>
                              <a:rPr lang="en-US" b="0" i="1" smtClean="0">
                                <a:solidFill>
                                  <a:srgbClr val="002060"/>
                                </a:solidFill>
                                <a:latin typeface="Cambria Math" panose="02040503050406030204" pitchFamily="18" charset="0"/>
                                <a:ea typeface="Cambria Math" panose="02040503050406030204" pitchFamily="18" charset="0"/>
                              </a:rPr>
                              <m:t>𝑇𝑒𝑙𝑒𝑝𝑜𝑟𝑡𝑒𝑑</m:t>
                            </m:r>
                            <m:r>
                              <a:rPr lang="en-US" b="0" i="1" smtClean="0">
                                <a:solidFill>
                                  <a:srgbClr val="002060"/>
                                </a:solidFill>
                                <a:latin typeface="Cambria Math" panose="02040503050406030204" pitchFamily="18" charset="0"/>
                                <a:ea typeface="Cambria Math" panose="02040503050406030204" pitchFamily="18" charset="0"/>
                              </a:rPr>
                              <m:t> </m:t>
                            </m:r>
                            <m:r>
                              <a:rPr lang="en-US" b="0" i="1" smtClean="0">
                                <a:solidFill>
                                  <a:srgbClr val="002060"/>
                                </a:solidFill>
                                <a:latin typeface="Cambria Math" panose="02040503050406030204" pitchFamily="18" charset="0"/>
                                <a:ea typeface="Cambria Math" panose="02040503050406030204" pitchFamily="18" charset="0"/>
                              </a:rPr>
                              <m:t>𝑠𝑡𝑎𝑡𝑒</m:t>
                            </m:r>
                          </m:e>
                        </m:mr>
                        <m:mr>
                          <m:e>
                            <m:d>
                              <m:dPr>
                                <m:ctrlPr>
                                  <a:rPr lang="en-US"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i="1">
                                        <a:solidFill>
                                          <a:schemeClr val="tx1"/>
                                        </a:solidFill>
                                        <a:latin typeface="Cambria Math" panose="02040503050406030204" pitchFamily="18" charset="0"/>
                                        <a:ea typeface="Cambria Math" panose="02040503050406030204" pitchFamily="18" charset="0"/>
                                      </a:rPr>
                                    </m:ctrlPr>
                                  </m:mPr>
                                  <m:mr>
                                    <m:e>
                                      <m:r>
                                        <m:rPr>
                                          <m:brk m:alnAt="7"/>
                                        </m:rPr>
                                        <a:rPr lang="en-US" i="1">
                                          <a:solidFill>
                                            <a:schemeClr val="tx1"/>
                                          </a:solidFill>
                                          <a:latin typeface="Cambria Math" panose="02040503050406030204" pitchFamily="18" charset="0"/>
                                          <a:ea typeface="Cambria Math" panose="02040503050406030204" pitchFamily="18" charset="0"/>
                                        </a:rPr>
                                        <m:t>𝑎</m:t>
                                      </m:r>
                                    </m:e>
                                  </m:mr>
                                  <m:mr>
                                    <m:e>
                                      <m:r>
                                        <a:rPr lang="en-US" i="1">
                                          <a:solidFill>
                                            <a:schemeClr val="tx1"/>
                                          </a:solidFill>
                                          <a:latin typeface="Cambria Math" panose="02040503050406030204" pitchFamily="18" charset="0"/>
                                          <a:ea typeface="Cambria Math" panose="02040503050406030204" pitchFamily="18" charset="0"/>
                                        </a:rPr>
                                        <m:t>𝑏</m:t>
                                      </m:r>
                                    </m:e>
                                  </m:mr>
                                </m:m>
                              </m:e>
                            </m:d>
                          </m:e>
                          <m:e>
                            <m:r>
                              <a:rPr lang="en-US" i="1">
                                <a:solidFill>
                                  <a:srgbClr val="002060"/>
                                </a:solidFill>
                                <a:latin typeface="Cambria Math" panose="02040503050406030204" pitchFamily="18" charset="0"/>
                                <a:ea typeface="Cambria Math" panose="02040503050406030204" pitchFamily="18" charset="0"/>
                              </a:rPr>
                              <m:t>11</m:t>
                            </m:r>
                          </m:e>
                          <m:e>
                            <m:r>
                              <a:rPr lang="en-US" i="1">
                                <a:solidFill>
                                  <a:srgbClr val="002060"/>
                                </a:solidFill>
                                <a:latin typeface="Cambria Math" panose="02040503050406030204" pitchFamily="18" charset="0"/>
                                <a:ea typeface="Cambria Math" panose="02040503050406030204" pitchFamily="18" charset="0"/>
                              </a:rPr>
                              <m:t>→</m:t>
                            </m:r>
                          </m:e>
                          <m:e>
                            <m:r>
                              <a:rPr lang="en-US" i="1">
                                <a:solidFill>
                                  <a:srgbClr val="002060"/>
                                </a:solidFill>
                                <a:latin typeface="Cambria Math" panose="02040503050406030204" pitchFamily="18" charset="0"/>
                                <a:ea typeface="Cambria Math" panose="02040503050406030204" pitchFamily="18" charset="0"/>
                              </a:rPr>
                              <m:t>𝑎</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m:t>
                                    </m:r>
                                  </m:e>
                                </m:d>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𝑏</m:t>
                                </m:r>
                              </m:e>
                            </m:d>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m:t>
                                </m:r>
                              </m:e>
                            </m:d>
                          </m:e>
                          <m:e>
                            <m:r>
                              <a:rPr lang="en-US" i="1">
                                <a:solidFill>
                                  <a:schemeClr val="tx1"/>
                                </a:solidFill>
                                <a:latin typeface="Cambria Math" panose="02040503050406030204" pitchFamily="18" charset="0"/>
                                <a:ea typeface="Cambria Math" panose="02040503050406030204" pitchFamily="18" charset="0"/>
                              </a:rPr>
                              <m:t>𝑋𝑍</m:t>
                            </m:r>
                          </m:e>
                          <m:e>
                            <m:d>
                              <m:dPr>
                                <m:ctrlPr>
                                  <a:rPr lang="en-US"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i="1">
                                        <a:solidFill>
                                          <a:schemeClr val="tx1"/>
                                        </a:solidFill>
                                        <a:latin typeface="Cambria Math" panose="02040503050406030204" pitchFamily="18" charset="0"/>
                                        <a:ea typeface="Cambria Math" panose="02040503050406030204" pitchFamily="18" charset="0"/>
                                      </a:rPr>
                                    </m:ctrlPr>
                                  </m:mPr>
                                  <m:mr>
                                    <m:e>
                                      <m:r>
                                        <m:rPr>
                                          <m:brk m:alnAt="7"/>
                                        </m:rPr>
                                        <a:rPr lang="en-US" i="1">
                                          <a:solidFill>
                                            <a:schemeClr val="tx1"/>
                                          </a:solidFill>
                                          <a:latin typeface="Cambria Math" panose="02040503050406030204" pitchFamily="18" charset="0"/>
                                          <a:ea typeface="Cambria Math" panose="02040503050406030204" pitchFamily="18" charset="0"/>
                                        </a:rPr>
                                        <m:t>1</m:t>
                                      </m:r>
                                    </m:e>
                                    <m:e>
                                      <m:r>
                                        <a:rPr lang="en-US" i="1">
                                          <a:solidFill>
                                            <a:schemeClr val="tx1"/>
                                          </a:solidFill>
                                          <a:latin typeface="Cambria Math" panose="02040503050406030204" pitchFamily="18" charset="0"/>
                                          <a:ea typeface="Cambria Math" panose="02040503050406030204" pitchFamily="18" charset="0"/>
                                        </a:rPr>
                                        <m:t>0</m:t>
                                      </m:r>
                                    </m:e>
                                  </m:mr>
                                  <m:mr>
                                    <m:e>
                                      <m:r>
                                        <a:rPr lang="en-US" i="1">
                                          <a:solidFill>
                                            <a:schemeClr val="tx1"/>
                                          </a:solidFill>
                                          <a:latin typeface="Cambria Math" panose="02040503050406030204" pitchFamily="18" charset="0"/>
                                          <a:ea typeface="Cambria Math" panose="02040503050406030204" pitchFamily="18" charset="0"/>
                                        </a:rPr>
                                        <m:t>0</m:t>
                                      </m:r>
                                    </m:e>
                                    <m:e>
                                      <m:r>
                                        <a:rPr lang="en-US" i="1">
                                          <a:solidFill>
                                            <a:schemeClr val="tx1"/>
                                          </a:solidFill>
                                          <a:latin typeface="Cambria Math" panose="02040503050406030204" pitchFamily="18" charset="0"/>
                                          <a:ea typeface="Cambria Math" panose="02040503050406030204" pitchFamily="18" charset="0"/>
                                        </a:rPr>
                                        <m:t>−1</m:t>
                                      </m:r>
                                    </m:e>
                                  </m:mr>
                                </m:m>
                              </m:e>
                            </m:d>
                            <m:d>
                              <m:dPr>
                                <m:ctrlPr>
                                  <a:rPr lang="en-US"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i="1">
                                        <a:solidFill>
                                          <a:schemeClr val="tx1"/>
                                        </a:solidFill>
                                        <a:latin typeface="Cambria Math" panose="02040503050406030204" pitchFamily="18" charset="0"/>
                                        <a:ea typeface="Cambria Math" panose="02040503050406030204" pitchFamily="18" charset="0"/>
                                      </a:rPr>
                                    </m:ctrlPr>
                                  </m:mPr>
                                  <m:mr>
                                    <m:e>
                                      <m:r>
                                        <m:rPr>
                                          <m:brk m:alnAt="7"/>
                                        </m:rPr>
                                        <a:rPr lang="en-US" i="1">
                                          <a:solidFill>
                                            <a:schemeClr val="tx1"/>
                                          </a:solidFill>
                                          <a:latin typeface="Cambria Math" panose="02040503050406030204" pitchFamily="18" charset="0"/>
                                          <a:ea typeface="Cambria Math" panose="02040503050406030204" pitchFamily="18" charset="0"/>
                                        </a:rPr>
                                        <m:t>0</m:t>
                                      </m:r>
                                    </m:e>
                                    <m:e>
                                      <m:r>
                                        <a:rPr lang="en-US" i="1">
                                          <a:solidFill>
                                            <a:schemeClr val="tx1"/>
                                          </a:solidFill>
                                          <a:latin typeface="Cambria Math" panose="02040503050406030204" pitchFamily="18" charset="0"/>
                                          <a:ea typeface="Cambria Math" panose="02040503050406030204" pitchFamily="18" charset="0"/>
                                        </a:rPr>
                                        <m:t>1</m:t>
                                      </m:r>
                                    </m:e>
                                  </m:mr>
                                  <m:mr>
                                    <m:e>
                                      <m:r>
                                        <a:rPr lang="en-US" i="1">
                                          <a:solidFill>
                                            <a:schemeClr val="tx1"/>
                                          </a:solidFill>
                                          <a:latin typeface="Cambria Math" panose="02040503050406030204" pitchFamily="18" charset="0"/>
                                          <a:ea typeface="Cambria Math" panose="02040503050406030204" pitchFamily="18" charset="0"/>
                                        </a:rPr>
                                        <m:t>1</m:t>
                                      </m:r>
                                    </m:e>
                                    <m:e>
                                      <m:r>
                                        <a:rPr lang="en-US" i="1">
                                          <a:solidFill>
                                            <a:schemeClr val="tx1"/>
                                          </a:solidFill>
                                          <a:latin typeface="Cambria Math" panose="02040503050406030204" pitchFamily="18" charset="0"/>
                                          <a:ea typeface="Cambria Math" panose="02040503050406030204" pitchFamily="18" charset="0"/>
                                        </a:rPr>
                                        <m:t>0</m:t>
                                      </m:r>
                                    </m:e>
                                  </m:mr>
                                </m:m>
                              </m:e>
                            </m:d>
                            <m:d>
                              <m:dPr>
                                <m:ctrlPr>
                                  <a:rPr lang="en-US"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i="1">
                                        <a:solidFill>
                                          <a:schemeClr val="tx1"/>
                                        </a:solidFill>
                                        <a:latin typeface="Cambria Math" panose="02040503050406030204" pitchFamily="18" charset="0"/>
                                        <a:ea typeface="Cambria Math" panose="02040503050406030204" pitchFamily="18" charset="0"/>
                                      </a:rPr>
                                    </m:ctrlPr>
                                  </m:mPr>
                                  <m:mr>
                                    <m:e>
                                      <m:r>
                                        <m:rPr>
                                          <m:brk m:alnAt="7"/>
                                        </m:rPr>
                                        <a:rPr lang="en-US" i="1">
                                          <a:solidFill>
                                            <a:schemeClr val="tx1"/>
                                          </a:solidFill>
                                          <a:latin typeface="Cambria Math" panose="02040503050406030204" pitchFamily="18" charset="0"/>
                                          <a:ea typeface="Cambria Math" panose="02040503050406030204" pitchFamily="18" charset="0"/>
                                        </a:rPr>
                                        <m:t>𝑎</m:t>
                                      </m:r>
                                    </m:e>
                                  </m:mr>
                                  <m:mr>
                                    <m:e>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𝑏</m:t>
                                      </m:r>
                                    </m:e>
                                  </m:mr>
                                </m:m>
                              </m:e>
                            </m:d>
                            <m:r>
                              <a:rPr lang="en-US" i="1">
                                <a:solidFill>
                                  <a:schemeClr val="tx1"/>
                                </a:solidFill>
                                <a:latin typeface="Cambria Math" panose="02040503050406030204" pitchFamily="18" charset="0"/>
                                <a:ea typeface="Cambria Math" panose="02040503050406030204" pitchFamily="18" charset="0"/>
                              </a:rPr>
                              <m:t>=</m:t>
                            </m:r>
                            <m:d>
                              <m:dPr>
                                <m:ctrlPr>
                                  <a:rPr lang="en-US"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i="1">
                                        <a:solidFill>
                                          <a:schemeClr val="tx1"/>
                                        </a:solidFill>
                                        <a:latin typeface="Cambria Math" panose="02040503050406030204" pitchFamily="18" charset="0"/>
                                        <a:ea typeface="Cambria Math" panose="02040503050406030204" pitchFamily="18" charset="0"/>
                                      </a:rPr>
                                    </m:ctrlPr>
                                  </m:mPr>
                                  <m:mr>
                                    <m:e>
                                      <m:r>
                                        <m:rPr>
                                          <m:brk m:alnAt="7"/>
                                        </m:rPr>
                                        <a:rPr lang="en-US" i="1">
                                          <a:solidFill>
                                            <a:schemeClr val="tx1"/>
                                          </a:solidFill>
                                          <a:latin typeface="Cambria Math" panose="02040503050406030204" pitchFamily="18" charset="0"/>
                                          <a:ea typeface="Cambria Math" panose="02040503050406030204" pitchFamily="18" charset="0"/>
                                        </a:rPr>
                                        <m:t>𝑎</m:t>
                                      </m:r>
                                    </m:e>
                                  </m:mr>
                                  <m:mr>
                                    <m:e>
                                      <m:r>
                                        <a:rPr lang="en-US" i="1">
                                          <a:solidFill>
                                            <a:schemeClr val="tx1"/>
                                          </a:solidFill>
                                          <a:latin typeface="Cambria Math" panose="02040503050406030204" pitchFamily="18" charset="0"/>
                                          <a:ea typeface="Cambria Math" panose="02040503050406030204" pitchFamily="18" charset="0"/>
                                        </a:rPr>
                                        <m:t>𝑏</m:t>
                                      </m:r>
                                    </m:e>
                                  </m:mr>
                                </m:m>
                              </m:e>
                            </m:d>
                          </m:e>
                        </m:mr>
                      </m:m>
                    </m:oMath>
                  </m:oMathPara>
                </a14:m>
                <a:endParaRPr lang="en-US" dirty="0"/>
              </a:p>
            </p:txBody>
          </p:sp>
        </mc:Choice>
        <mc:Fallback xmlns="">
          <p:sp>
            <p:nvSpPr>
              <p:cNvPr id="48" name="Line Callout 2 47">
                <a:extLst>
                  <a:ext uri="{FF2B5EF4-FFF2-40B4-BE49-F238E27FC236}">
                    <a16:creationId xmlns:a16="http://schemas.microsoft.com/office/drawing/2014/main" id="{1EABA06A-72D4-0642-9315-70BE824C6982}"/>
                  </a:ext>
                </a:extLst>
              </p:cNvPr>
              <p:cNvSpPr>
                <a:spLocks noRot="1" noChangeAspect="1" noMove="1" noResize="1" noEditPoints="1" noAdjustHandles="1" noChangeArrowheads="1" noChangeShapeType="1" noTextEdit="1"/>
              </p:cNvSpPr>
              <p:nvPr/>
            </p:nvSpPr>
            <p:spPr>
              <a:xfrm>
                <a:off x="564459" y="5296434"/>
                <a:ext cx="8435004" cy="1315980"/>
              </a:xfrm>
              <a:prstGeom prst="borderCallout2">
                <a:avLst>
                  <a:gd name="adj1" fmla="val 52334"/>
                  <a:gd name="adj2" fmla="val 102783"/>
                  <a:gd name="adj3" fmla="val 18751"/>
                  <a:gd name="adj4" fmla="val 124531"/>
                  <a:gd name="adj5" fmla="val -186283"/>
                  <a:gd name="adj6" fmla="val 133106"/>
                </a:avLst>
              </a:prstGeom>
              <a:blipFill>
                <a:blip r:embed="rId18"/>
                <a:stretch>
                  <a:fillRect b="-7692"/>
                </a:stretch>
              </a:blipFill>
              <a:ln>
                <a:solidFill>
                  <a:schemeClr val="accent1">
                    <a:shade val="50000"/>
                  </a:schemeClr>
                </a:solidFill>
              </a:ln>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88E70FEF-D685-CC44-8F2B-142A26778619}"/>
              </a:ext>
            </a:extLst>
          </p:cNvPr>
          <p:cNvGrpSpPr/>
          <p:nvPr/>
        </p:nvGrpSpPr>
        <p:grpSpPr>
          <a:xfrm>
            <a:off x="4942438" y="3056361"/>
            <a:ext cx="720000" cy="807700"/>
            <a:chOff x="8902649" y="1353231"/>
            <a:chExt cx="720000" cy="807700"/>
          </a:xfrm>
        </p:grpSpPr>
        <p:sp>
          <p:nvSpPr>
            <p:cNvPr id="101" name="Rectangle 100">
              <a:extLst>
                <a:ext uri="{FF2B5EF4-FFF2-40B4-BE49-F238E27FC236}">
                  <a16:creationId xmlns:a16="http://schemas.microsoft.com/office/drawing/2014/main" id="{AD465F81-1414-DF48-B0CD-502050AD3842}"/>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02" name="Arc 101">
              <a:extLst>
                <a:ext uri="{FF2B5EF4-FFF2-40B4-BE49-F238E27FC236}">
                  <a16:creationId xmlns:a16="http://schemas.microsoft.com/office/drawing/2014/main" id="{33EF5A4F-FC03-AE4F-A9B6-A57A424BD74D}"/>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3" name="Straight Arrow Connector 102">
              <a:extLst>
                <a:ext uri="{FF2B5EF4-FFF2-40B4-BE49-F238E27FC236}">
                  <a16:creationId xmlns:a16="http://schemas.microsoft.com/office/drawing/2014/main" id="{543CCA20-564F-D649-9C8B-57CF3FB43F15}"/>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F7FDD095-E144-014D-9592-0F160191EC1E}"/>
              </a:ext>
            </a:extLst>
          </p:cNvPr>
          <p:cNvGrpSpPr/>
          <p:nvPr/>
        </p:nvGrpSpPr>
        <p:grpSpPr>
          <a:xfrm>
            <a:off x="4942948" y="1997782"/>
            <a:ext cx="720000" cy="807700"/>
            <a:chOff x="8902649" y="1353231"/>
            <a:chExt cx="720000" cy="807700"/>
          </a:xfrm>
        </p:grpSpPr>
        <p:sp>
          <p:nvSpPr>
            <p:cNvPr id="86" name="Rectangle 85">
              <a:extLst>
                <a:ext uri="{FF2B5EF4-FFF2-40B4-BE49-F238E27FC236}">
                  <a16:creationId xmlns:a16="http://schemas.microsoft.com/office/drawing/2014/main" id="{849698DE-E179-044F-9BD8-1BC075322E44}"/>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92" name="Arc 91">
              <a:extLst>
                <a:ext uri="{FF2B5EF4-FFF2-40B4-BE49-F238E27FC236}">
                  <a16:creationId xmlns:a16="http://schemas.microsoft.com/office/drawing/2014/main" id="{FF766549-B7C3-C54A-AD36-6A88B26B9493}"/>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0" name="Straight Arrow Connector 99">
              <a:extLst>
                <a:ext uri="{FF2B5EF4-FFF2-40B4-BE49-F238E27FC236}">
                  <a16:creationId xmlns:a16="http://schemas.microsoft.com/office/drawing/2014/main" id="{EC643E95-4646-DE47-ABFA-27066F7F4D73}"/>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19455A73-EDAE-1A48-9954-7993F93B49C4}"/>
              </a:ext>
            </a:extLst>
          </p:cNvPr>
          <p:cNvGrpSpPr/>
          <p:nvPr/>
        </p:nvGrpSpPr>
        <p:grpSpPr>
          <a:xfrm>
            <a:off x="5926720" y="2112231"/>
            <a:ext cx="2478663" cy="1326162"/>
            <a:chOff x="5926720" y="2112231"/>
            <a:chExt cx="2478663" cy="1326162"/>
          </a:xfrm>
        </p:grpSpPr>
        <p:pic>
          <p:nvPicPr>
            <p:cNvPr id="99" name="Picture 98">
              <a:extLst>
                <a:ext uri="{FF2B5EF4-FFF2-40B4-BE49-F238E27FC236}">
                  <a16:creationId xmlns:a16="http://schemas.microsoft.com/office/drawing/2014/main" id="{DDE4BC94-722B-504B-B8DB-AEDBDF1E14C1}"/>
                </a:ext>
              </a:extLst>
            </p:cNvPr>
            <p:cNvPicPr>
              <a:picLocks noChangeAspect="1"/>
            </p:cNvPicPr>
            <p:nvPr/>
          </p:nvPicPr>
          <p:blipFill>
            <a:blip r:embed="rId19"/>
            <a:stretch>
              <a:fillRect/>
            </a:stretch>
          </p:blipFill>
          <p:spPr>
            <a:xfrm flipH="1">
              <a:off x="7582300" y="2317634"/>
              <a:ext cx="823083" cy="823083"/>
            </a:xfrm>
            <a:prstGeom prst="rect">
              <a:avLst/>
            </a:prstGeom>
          </p:spPr>
        </p:pic>
        <p:sp>
          <p:nvSpPr>
            <p:cNvPr id="53" name="Freeform 52">
              <a:extLst>
                <a:ext uri="{FF2B5EF4-FFF2-40B4-BE49-F238E27FC236}">
                  <a16:creationId xmlns:a16="http://schemas.microsoft.com/office/drawing/2014/main" id="{C2AA9242-A6F8-6A46-9AAF-46B7728C98E4}"/>
                </a:ext>
              </a:extLst>
            </p:cNvPr>
            <p:cNvSpPr/>
            <p:nvPr/>
          </p:nvSpPr>
          <p:spPr>
            <a:xfrm>
              <a:off x="6656515" y="2112231"/>
              <a:ext cx="1001998" cy="1326162"/>
            </a:xfrm>
            <a:custGeom>
              <a:avLst/>
              <a:gdLst>
                <a:gd name="connsiteX0" fmla="*/ 0 w 304800"/>
                <a:gd name="connsiteY0" fmla="*/ 636501 h 1326162"/>
                <a:gd name="connsiteX1" fmla="*/ 58615 w 304800"/>
                <a:gd name="connsiteY1" fmla="*/ 21039 h 1326162"/>
                <a:gd name="connsiteX2" fmla="*/ 228600 w 304800"/>
                <a:gd name="connsiteY2" fmla="*/ 1316439 h 1326162"/>
                <a:gd name="connsiteX3" fmla="*/ 304800 w 304800"/>
                <a:gd name="connsiteY3" fmla="*/ 648224 h 1326162"/>
                <a:gd name="connsiteX4" fmla="*/ 304800 w 304800"/>
                <a:gd name="connsiteY4" fmla="*/ 648224 h 1326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326162">
                  <a:moveTo>
                    <a:pt x="0" y="636501"/>
                  </a:moveTo>
                  <a:cubicBezTo>
                    <a:pt x="10257" y="272108"/>
                    <a:pt x="20515" y="-92284"/>
                    <a:pt x="58615" y="21039"/>
                  </a:cubicBezTo>
                  <a:cubicBezTo>
                    <a:pt x="96715" y="134362"/>
                    <a:pt x="187569" y="1211908"/>
                    <a:pt x="228600" y="1316439"/>
                  </a:cubicBezTo>
                  <a:cubicBezTo>
                    <a:pt x="269631" y="1420970"/>
                    <a:pt x="304800" y="648224"/>
                    <a:pt x="304800" y="648224"/>
                  </a:cubicBezTo>
                  <a:lnTo>
                    <a:pt x="304800" y="648224"/>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FAD643A1-DCEF-5743-B61E-62046D6138EA}"/>
                </a:ext>
              </a:extLst>
            </p:cNvPr>
            <p:cNvPicPr>
              <a:picLocks noChangeAspect="1"/>
            </p:cNvPicPr>
            <p:nvPr/>
          </p:nvPicPr>
          <p:blipFill>
            <a:blip r:embed="rId19"/>
            <a:stretch>
              <a:fillRect/>
            </a:stretch>
          </p:blipFill>
          <p:spPr>
            <a:xfrm>
              <a:off x="5926720" y="2345238"/>
              <a:ext cx="823083" cy="823083"/>
            </a:xfrm>
            <a:prstGeom prst="rect">
              <a:avLst/>
            </a:prstGeom>
          </p:spPr>
        </p:pic>
      </p:grpSp>
      <p:pic>
        <p:nvPicPr>
          <p:cNvPr id="75" name="Picture 74">
            <a:extLst>
              <a:ext uri="{FF2B5EF4-FFF2-40B4-BE49-F238E27FC236}">
                <a16:creationId xmlns:a16="http://schemas.microsoft.com/office/drawing/2014/main" id="{AF8A2EB3-842C-0C4E-81F5-D754A0775ED4}"/>
              </a:ext>
            </a:extLst>
          </p:cNvPr>
          <p:cNvPicPr>
            <a:picLocks noChangeAspect="1"/>
          </p:cNvPicPr>
          <p:nvPr/>
        </p:nvPicPr>
        <p:blipFill>
          <a:blip r:embed="rId20"/>
          <a:stretch>
            <a:fillRect/>
          </a:stretch>
        </p:blipFill>
        <p:spPr>
          <a:xfrm>
            <a:off x="799166" y="795991"/>
            <a:ext cx="661021" cy="1018228"/>
          </a:xfrm>
          <a:prstGeom prst="rect">
            <a:avLst/>
          </a:prstGeom>
        </p:spPr>
      </p:pic>
      <p:pic>
        <p:nvPicPr>
          <p:cNvPr id="80" name="Picture 79">
            <a:extLst>
              <a:ext uri="{FF2B5EF4-FFF2-40B4-BE49-F238E27FC236}">
                <a16:creationId xmlns:a16="http://schemas.microsoft.com/office/drawing/2014/main" id="{C103D90D-2113-0E4A-AEA8-BC2CC0BD9AF0}"/>
              </a:ext>
            </a:extLst>
          </p:cNvPr>
          <p:cNvPicPr>
            <a:picLocks noChangeAspect="1"/>
          </p:cNvPicPr>
          <p:nvPr/>
        </p:nvPicPr>
        <p:blipFill>
          <a:blip r:embed="rId21"/>
          <a:stretch>
            <a:fillRect/>
          </a:stretch>
        </p:blipFill>
        <p:spPr>
          <a:xfrm>
            <a:off x="7525196" y="674374"/>
            <a:ext cx="833157" cy="1234056"/>
          </a:xfrm>
          <a:prstGeom prst="rect">
            <a:avLst/>
          </a:prstGeom>
        </p:spPr>
      </p:pic>
      <p:sp>
        <p:nvSpPr>
          <p:cNvPr id="76" name="Slide Number Placeholder 2">
            <a:extLst>
              <a:ext uri="{FF2B5EF4-FFF2-40B4-BE49-F238E27FC236}">
                <a16:creationId xmlns:a16="http://schemas.microsoft.com/office/drawing/2014/main" id="{0519E503-6D7C-D34F-BE36-CCBB1A1821E7}"/>
              </a:ext>
            </a:extLst>
          </p:cNvPr>
          <p:cNvSpPr>
            <a:spLocks noGrp="1"/>
          </p:cNvSpPr>
          <p:nvPr>
            <p:ph type="sldNum" sz="quarter" idx="12"/>
          </p:nvPr>
        </p:nvSpPr>
        <p:spPr>
          <a:xfrm>
            <a:off x="0" y="6492875"/>
            <a:ext cx="797827" cy="365125"/>
          </a:xfrm>
        </p:spPr>
        <p:txBody>
          <a:bodyPr/>
          <a:lstStyle/>
          <a:p>
            <a:fld id="{591A223C-FA10-BC46-A853-03BA373D023C}" type="slidenum">
              <a:rPr lang="en-US" smtClean="0"/>
              <a:t>34</a:t>
            </a:fld>
            <a:endParaRPr lang="en-US" dirty="0"/>
          </a:p>
        </p:txBody>
      </p:sp>
    </p:spTree>
    <p:extLst>
      <p:ext uri="{BB962C8B-B14F-4D97-AF65-F5344CB8AC3E}">
        <p14:creationId xmlns:p14="http://schemas.microsoft.com/office/powerpoint/2010/main" val="3697589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F74610DF-AC13-D643-9522-3BBF5E50F1F5}"/>
              </a:ext>
            </a:extLst>
          </p:cNvPr>
          <p:cNvSpPr/>
          <p:nvPr/>
        </p:nvSpPr>
        <p:spPr>
          <a:xfrm>
            <a:off x="3908852" y="2242315"/>
            <a:ext cx="1970795" cy="17473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9104D95-1120-3C4E-98B4-1DB55C326828}"/>
              </a:ext>
            </a:extLst>
          </p:cNvPr>
          <p:cNvSpPr/>
          <p:nvPr/>
        </p:nvSpPr>
        <p:spPr>
          <a:xfrm>
            <a:off x="1407654" y="3127864"/>
            <a:ext cx="2076073" cy="17388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4ABA41E3-B5B7-8D45-B464-FCE354E9540C}"/>
              </a:ext>
            </a:extLst>
          </p:cNvPr>
          <p:cNvCxnSpPr>
            <a:cxnSpLocks/>
          </p:cNvCxnSpPr>
          <p:nvPr/>
        </p:nvCxnSpPr>
        <p:spPr>
          <a:xfrm>
            <a:off x="1087273" y="3619975"/>
            <a:ext cx="582940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DB1BD6-5B72-6846-86AD-B9CD9D6B946B}"/>
              </a:ext>
            </a:extLst>
          </p:cNvPr>
          <p:cNvCxnSpPr>
            <a:cxnSpLocks/>
          </p:cNvCxnSpPr>
          <p:nvPr/>
        </p:nvCxnSpPr>
        <p:spPr>
          <a:xfrm>
            <a:off x="1087273" y="4436064"/>
            <a:ext cx="1034272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D76EED6-0AC0-E445-A3B5-A937A349059D}"/>
              </a:ext>
            </a:extLst>
          </p:cNvPr>
          <p:cNvSpPr>
            <a:spLocks noGrp="1"/>
          </p:cNvSpPr>
          <p:nvPr>
            <p:ph type="title"/>
          </p:nvPr>
        </p:nvSpPr>
        <p:spPr/>
        <p:txBody>
          <a:bodyPr/>
          <a:lstStyle/>
          <a:p>
            <a:r>
              <a:rPr lang="en-ZA" dirty="0"/>
              <a:t>Quantum Teleportation Circuit</a:t>
            </a:r>
            <a:endParaRPr lang="en-US" dirty="0"/>
          </a:p>
        </p:txBody>
      </p:sp>
      <p:grpSp>
        <p:nvGrpSpPr>
          <p:cNvPr id="5" name="Group 4">
            <a:extLst>
              <a:ext uri="{FF2B5EF4-FFF2-40B4-BE49-F238E27FC236}">
                <a16:creationId xmlns:a16="http://schemas.microsoft.com/office/drawing/2014/main" id="{DF8A82DD-A2AB-8645-9BD9-352EC8E907FD}"/>
              </a:ext>
            </a:extLst>
          </p:cNvPr>
          <p:cNvGrpSpPr/>
          <p:nvPr/>
        </p:nvGrpSpPr>
        <p:grpSpPr>
          <a:xfrm>
            <a:off x="2535834" y="3442850"/>
            <a:ext cx="720000" cy="1353302"/>
            <a:chOff x="3902013" y="5099221"/>
            <a:chExt cx="720000" cy="1353302"/>
          </a:xfrm>
        </p:grpSpPr>
        <p:sp>
          <p:nvSpPr>
            <p:cNvPr id="6" name="Oval 5">
              <a:extLst>
                <a:ext uri="{FF2B5EF4-FFF2-40B4-BE49-F238E27FC236}">
                  <a16:creationId xmlns:a16="http://schemas.microsoft.com/office/drawing/2014/main" id="{4C1A55FE-FCCE-5E45-AB83-6A9D13E9CFAB}"/>
                </a:ext>
              </a:extLst>
            </p:cNvPr>
            <p:cNvSpPr/>
            <p:nvPr/>
          </p:nvSpPr>
          <p:spPr>
            <a:xfrm>
              <a:off x="3902013" y="5732523"/>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 name="Oval 6">
              <a:extLst>
                <a:ext uri="{FF2B5EF4-FFF2-40B4-BE49-F238E27FC236}">
                  <a16:creationId xmlns:a16="http://schemas.microsoft.com/office/drawing/2014/main" id="{D274F8D1-FBF2-AD4B-91CE-E103B9DA15A7}"/>
                </a:ext>
              </a:extLst>
            </p:cNvPr>
            <p:cNvSpPr>
              <a:spLocks noChangeAspect="1"/>
            </p:cNvSpPr>
            <p:nvPr/>
          </p:nvSpPr>
          <p:spPr>
            <a:xfrm>
              <a:off x="4075930" y="5099221"/>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8" name="Straight Connector 7">
              <a:extLst>
                <a:ext uri="{FF2B5EF4-FFF2-40B4-BE49-F238E27FC236}">
                  <a16:creationId xmlns:a16="http://schemas.microsoft.com/office/drawing/2014/main" id="{6DDEAF86-0F7C-D640-A3B7-283755F17467}"/>
                </a:ext>
              </a:extLst>
            </p:cNvPr>
            <p:cNvCxnSpPr>
              <a:cxnSpLocks/>
              <a:stCxn id="7" idx="4"/>
              <a:endCxn id="6" idx="0"/>
            </p:cNvCxnSpPr>
            <p:nvPr/>
          </p:nvCxnSpPr>
          <p:spPr>
            <a:xfrm>
              <a:off x="4255930" y="5459221"/>
              <a:ext cx="6083" cy="27330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AA5F1D42-30E7-E544-AB8A-D5CC7C79B300}"/>
              </a:ext>
            </a:extLst>
          </p:cNvPr>
          <p:cNvCxnSpPr>
            <a:cxnSpLocks/>
          </p:cNvCxnSpPr>
          <p:nvPr/>
        </p:nvCxnSpPr>
        <p:spPr>
          <a:xfrm>
            <a:off x="1087272" y="2749628"/>
            <a:ext cx="5030364"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591912B-048C-5648-9979-02C693E247A2}"/>
              </a:ext>
            </a:extLst>
          </p:cNvPr>
          <p:cNvSpPr/>
          <p:nvPr/>
        </p:nvSpPr>
        <p:spPr>
          <a:xfrm>
            <a:off x="1504320" y="3269615"/>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16" name="Rectangle 15">
            <a:extLst>
              <a:ext uri="{FF2B5EF4-FFF2-40B4-BE49-F238E27FC236}">
                <a16:creationId xmlns:a16="http://schemas.microsoft.com/office/drawing/2014/main" id="{0AF8E461-F4E7-4643-AF7C-D3EFE6DDF371}"/>
              </a:ext>
            </a:extLst>
          </p:cNvPr>
          <p:cNvSpPr/>
          <p:nvPr/>
        </p:nvSpPr>
        <p:spPr>
          <a:xfrm>
            <a:off x="10138635" y="4145388"/>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cxnSp>
        <p:nvCxnSpPr>
          <p:cNvPr id="20" name="Straight Connector 19">
            <a:extLst>
              <a:ext uri="{FF2B5EF4-FFF2-40B4-BE49-F238E27FC236}">
                <a16:creationId xmlns:a16="http://schemas.microsoft.com/office/drawing/2014/main" id="{688D49A3-314B-E248-B4A8-D66FAD115E9E}"/>
              </a:ext>
            </a:extLst>
          </p:cNvPr>
          <p:cNvCxnSpPr>
            <a:cxnSpLocks/>
            <a:stCxn id="16" idx="2"/>
            <a:endCxn id="19" idx="0"/>
          </p:cNvCxnSpPr>
          <p:nvPr/>
        </p:nvCxnSpPr>
        <p:spPr>
          <a:xfrm flipH="1">
            <a:off x="10477777" y="4865388"/>
            <a:ext cx="0" cy="458001"/>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16074D2A-EDFE-D144-913C-00EEB57E3A7B}"/>
              </a:ext>
            </a:extLst>
          </p:cNvPr>
          <p:cNvGrpSpPr/>
          <p:nvPr/>
        </p:nvGrpSpPr>
        <p:grpSpPr>
          <a:xfrm>
            <a:off x="4128861" y="2563655"/>
            <a:ext cx="720000" cy="1429502"/>
            <a:chOff x="3902013" y="5099221"/>
            <a:chExt cx="720000" cy="1429502"/>
          </a:xfrm>
        </p:grpSpPr>
        <p:sp>
          <p:nvSpPr>
            <p:cNvPr id="55" name="Oval 54">
              <a:extLst>
                <a:ext uri="{FF2B5EF4-FFF2-40B4-BE49-F238E27FC236}">
                  <a16:creationId xmlns:a16="http://schemas.microsoft.com/office/drawing/2014/main" id="{45F28D7A-A3E2-7E43-81D7-827B2DBBEDE0}"/>
                </a:ext>
              </a:extLst>
            </p:cNvPr>
            <p:cNvSpPr/>
            <p:nvPr/>
          </p:nvSpPr>
          <p:spPr>
            <a:xfrm>
              <a:off x="3902013" y="5808723"/>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68" name="Oval 67">
              <a:extLst>
                <a:ext uri="{FF2B5EF4-FFF2-40B4-BE49-F238E27FC236}">
                  <a16:creationId xmlns:a16="http://schemas.microsoft.com/office/drawing/2014/main" id="{6E455A36-BB23-5E4D-B7CB-833283B06DF6}"/>
                </a:ext>
              </a:extLst>
            </p:cNvPr>
            <p:cNvSpPr>
              <a:spLocks noChangeAspect="1"/>
            </p:cNvSpPr>
            <p:nvPr/>
          </p:nvSpPr>
          <p:spPr>
            <a:xfrm>
              <a:off x="4075930" y="5099221"/>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69" name="Straight Connector 68">
              <a:extLst>
                <a:ext uri="{FF2B5EF4-FFF2-40B4-BE49-F238E27FC236}">
                  <a16:creationId xmlns:a16="http://schemas.microsoft.com/office/drawing/2014/main" id="{AFC10DE0-97DA-5B49-98D2-871A64D894CA}"/>
                </a:ext>
              </a:extLst>
            </p:cNvPr>
            <p:cNvCxnSpPr>
              <a:cxnSpLocks/>
              <a:stCxn id="68" idx="4"/>
              <a:endCxn id="55" idx="0"/>
            </p:cNvCxnSpPr>
            <p:nvPr/>
          </p:nvCxnSpPr>
          <p:spPr>
            <a:xfrm>
              <a:off x="4255930" y="5459221"/>
              <a:ext cx="6083" cy="34950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0" name="Rectangle 69">
            <a:extLst>
              <a:ext uri="{FF2B5EF4-FFF2-40B4-BE49-F238E27FC236}">
                <a16:creationId xmlns:a16="http://schemas.microsoft.com/office/drawing/2014/main" id="{59250C37-25C6-CB48-A414-E3A920580723}"/>
              </a:ext>
            </a:extLst>
          </p:cNvPr>
          <p:cNvSpPr/>
          <p:nvPr/>
        </p:nvSpPr>
        <p:spPr>
          <a:xfrm>
            <a:off x="4992890" y="2386325"/>
            <a:ext cx="720000" cy="714961"/>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73" name="Straight Connector 72">
            <a:extLst>
              <a:ext uri="{FF2B5EF4-FFF2-40B4-BE49-F238E27FC236}">
                <a16:creationId xmlns:a16="http://schemas.microsoft.com/office/drawing/2014/main" id="{7E65F909-E995-0B46-8A13-52C04924C18B}"/>
              </a:ext>
            </a:extLst>
          </p:cNvPr>
          <p:cNvCxnSpPr>
            <a:cxnSpLocks/>
          </p:cNvCxnSpPr>
          <p:nvPr/>
        </p:nvCxnSpPr>
        <p:spPr>
          <a:xfrm>
            <a:off x="1087273" y="5502612"/>
            <a:ext cx="9626616" cy="1"/>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E49AA6A-BCB5-4944-9F01-159E57ECA887}"/>
              </a:ext>
            </a:extLst>
          </p:cNvPr>
          <p:cNvCxnSpPr>
            <a:cxnSpLocks/>
          </p:cNvCxnSpPr>
          <p:nvPr/>
        </p:nvCxnSpPr>
        <p:spPr>
          <a:xfrm>
            <a:off x="1087273" y="5839318"/>
            <a:ext cx="9626616" cy="1"/>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F4FAB2A-1EA0-6C4B-89A5-B87D62D1DEF9}"/>
              </a:ext>
            </a:extLst>
          </p:cNvPr>
          <p:cNvCxnSpPr>
            <a:cxnSpLocks/>
            <a:stCxn id="46" idx="2"/>
          </p:cNvCxnSpPr>
          <p:nvPr/>
        </p:nvCxnSpPr>
        <p:spPr>
          <a:xfrm>
            <a:off x="6471215" y="3061797"/>
            <a:ext cx="6421" cy="2440815"/>
          </a:xfrm>
          <a:prstGeom prst="line">
            <a:avLst/>
          </a:prstGeom>
          <a:ln w="25400">
            <a:solidFill>
              <a:schemeClr val="bg1">
                <a:lumMod val="50000"/>
              </a:schemeClr>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551AB2C-4ABA-1F49-B18D-FD385F00E6F6}"/>
              </a:ext>
            </a:extLst>
          </p:cNvPr>
          <p:cNvCxnSpPr>
            <a:cxnSpLocks/>
            <a:stCxn id="52" idx="2"/>
          </p:cNvCxnSpPr>
          <p:nvPr/>
        </p:nvCxnSpPr>
        <p:spPr>
          <a:xfrm>
            <a:off x="7274332" y="3939504"/>
            <a:ext cx="2348" cy="1899814"/>
          </a:xfrm>
          <a:prstGeom prst="line">
            <a:avLst/>
          </a:prstGeom>
          <a:ln w="25400">
            <a:solidFill>
              <a:schemeClr val="bg1">
                <a:lumMod val="50000"/>
              </a:schemeClr>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1671568E-BD5C-A34D-BBC6-0F39F98B2E96}"/>
              </a:ext>
            </a:extLst>
          </p:cNvPr>
          <p:cNvGrpSpPr/>
          <p:nvPr/>
        </p:nvGrpSpPr>
        <p:grpSpPr>
          <a:xfrm flipV="1">
            <a:off x="9154330" y="4086716"/>
            <a:ext cx="720000" cy="1925256"/>
            <a:chOff x="3902013" y="4576695"/>
            <a:chExt cx="720000" cy="1925256"/>
          </a:xfrm>
        </p:grpSpPr>
        <p:sp>
          <p:nvSpPr>
            <p:cNvPr id="77" name="Oval 76">
              <a:extLst>
                <a:ext uri="{FF2B5EF4-FFF2-40B4-BE49-F238E27FC236}">
                  <a16:creationId xmlns:a16="http://schemas.microsoft.com/office/drawing/2014/main" id="{2D77C0E1-0E5F-254A-94B7-CCB907CDA5E2}"/>
                </a:ext>
              </a:extLst>
            </p:cNvPr>
            <p:cNvSpPr/>
            <p:nvPr/>
          </p:nvSpPr>
          <p:spPr>
            <a:xfrm>
              <a:off x="3902013" y="5781951"/>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8" name="Oval 77">
              <a:extLst>
                <a:ext uri="{FF2B5EF4-FFF2-40B4-BE49-F238E27FC236}">
                  <a16:creationId xmlns:a16="http://schemas.microsoft.com/office/drawing/2014/main" id="{7BF17666-413F-A644-A94D-9DE5F1FB09D9}"/>
                </a:ext>
              </a:extLst>
            </p:cNvPr>
            <p:cNvSpPr>
              <a:spLocks noChangeAspect="1"/>
            </p:cNvSpPr>
            <p:nvPr/>
          </p:nvSpPr>
          <p:spPr>
            <a:xfrm>
              <a:off x="4075930" y="4576695"/>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9" name="Straight Connector 78">
              <a:extLst>
                <a:ext uri="{FF2B5EF4-FFF2-40B4-BE49-F238E27FC236}">
                  <a16:creationId xmlns:a16="http://schemas.microsoft.com/office/drawing/2014/main" id="{C8BDF131-B487-A84D-833D-98116C5E39E9}"/>
                </a:ext>
              </a:extLst>
            </p:cNvPr>
            <p:cNvCxnSpPr>
              <a:cxnSpLocks/>
              <a:stCxn id="78" idx="4"/>
              <a:endCxn id="77" idx="0"/>
            </p:cNvCxnSpPr>
            <p:nvPr/>
          </p:nvCxnSpPr>
          <p:spPr>
            <a:xfrm>
              <a:off x="4255930" y="4936695"/>
              <a:ext cx="6083" cy="84525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F6DFC7EA-D4FE-CE4C-B655-C68FE108B1C6}"/>
              </a:ext>
            </a:extLst>
          </p:cNvPr>
          <p:cNvSpPr>
            <a:spLocks noChangeAspect="1"/>
          </p:cNvSpPr>
          <p:nvPr/>
        </p:nvSpPr>
        <p:spPr>
          <a:xfrm>
            <a:off x="10297778" y="5323389"/>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C16C3228-65BD-2746-A72B-ACC1B980283B}"/>
                  </a:ext>
                </a:extLst>
              </p:cNvPr>
              <p:cNvSpPr/>
              <p:nvPr/>
            </p:nvSpPr>
            <p:spPr>
              <a:xfrm>
                <a:off x="5832444" y="4914466"/>
                <a:ext cx="61613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2060"/>
                              </a:solidFill>
                              <a:latin typeface="Cambria Math" panose="02040503050406030204" pitchFamily="18" charset="0"/>
                              <a:ea typeface="Cambria Math" panose="02040503050406030204" pitchFamily="18" charset="0"/>
                            </a:rPr>
                          </m:ctrlPr>
                        </m:sSubPr>
                        <m:e>
                          <m:r>
                            <a:rPr lang="en-US" sz="2800" b="0" i="1" smtClean="0">
                              <a:solidFill>
                                <a:srgbClr val="002060"/>
                              </a:solidFill>
                              <a:latin typeface="Cambria Math" panose="02040503050406030204" pitchFamily="18" charset="0"/>
                              <a:ea typeface="Cambria Math" panose="02040503050406030204" pitchFamily="18" charset="0"/>
                            </a:rPr>
                            <m:t>𝑏</m:t>
                          </m:r>
                        </m:e>
                        <m:sub>
                          <m:r>
                            <a:rPr lang="en-US" sz="2800" b="0" i="1" smtClean="0">
                              <a:solidFill>
                                <a:srgbClr val="002060"/>
                              </a:solidFill>
                              <a:latin typeface="Cambria Math" panose="02040503050406030204" pitchFamily="18" charset="0"/>
                              <a:ea typeface="Cambria Math" panose="02040503050406030204" pitchFamily="18" charset="0"/>
                            </a:rPr>
                            <m:t>0</m:t>
                          </m:r>
                        </m:sub>
                      </m:sSub>
                    </m:oMath>
                  </m:oMathPara>
                </a14:m>
                <a:endParaRPr lang="en-US" sz="2800" dirty="0"/>
              </a:p>
            </p:txBody>
          </p:sp>
        </mc:Choice>
        <mc:Fallback xmlns="">
          <p:sp>
            <p:nvSpPr>
              <p:cNvPr id="37" name="Rectangle 36">
                <a:extLst>
                  <a:ext uri="{FF2B5EF4-FFF2-40B4-BE49-F238E27FC236}">
                    <a16:creationId xmlns:a16="http://schemas.microsoft.com/office/drawing/2014/main" id="{C16C3228-65BD-2746-A72B-ACC1B980283B}"/>
                  </a:ext>
                </a:extLst>
              </p:cNvPr>
              <p:cNvSpPr>
                <a:spLocks noRot="1" noChangeAspect="1" noMove="1" noResize="1" noEditPoints="1" noAdjustHandles="1" noChangeArrowheads="1" noChangeShapeType="1" noTextEdit="1"/>
              </p:cNvSpPr>
              <p:nvPr/>
            </p:nvSpPr>
            <p:spPr>
              <a:xfrm>
                <a:off x="5832444" y="4914466"/>
                <a:ext cx="616131" cy="523220"/>
              </a:xfrm>
              <a:prstGeom prst="rect">
                <a:avLst/>
              </a:prstGeom>
              <a:blipFill>
                <a:blip r:embed="rId7"/>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7FA407A2-8B0F-0A41-9164-98589C474025}"/>
                  </a:ext>
                </a:extLst>
              </p:cNvPr>
              <p:cNvSpPr/>
              <p:nvPr/>
            </p:nvSpPr>
            <p:spPr>
              <a:xfrm>
                <a:off x="6809550" y="5762547"/>
                <a:ext cx="6078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2060"/>
                              </a:solidFill>
                              <a:latin typeface="Cambria Math" panose="02040503050406030204" pitchFamily="18" charset="0"/>
                              <a:ea typeface="Cambria Math" panose="02040503050406030204" pitchFamily="18" charset="0"/>
                            </a:rPr>
                          </m:ctrlPr>
                        </m:sSubPr>
                        <m:e>
                          <m:r>
                            <a:rPr lang="en-US" sz="2800" b="0" i="1" smtClean="0">
                              <a:solidFill>
                                <a:srgbClr val="002060"/>
                              </a:solidFill>
                              <a:latin typeface="Cambria Math" panose="02040503050406030204" pitchFamily="18" charset="0"/>
                              <a:ea typeface="Cambria Math" panose="02040503050406030204" pitchFamily="18" charset="0"/>
                            </a:rPr>
                            <m:t>𝑏</m:t>
                          </m:r>
                        </m:e>
                        <m:sub>
                          <m:r>
                            <a:rPr lang="en-US" sz="2800" b="0" i="1" smtClean="0">
                              <a:solidFill>
                                <a:srgbClr val="002060"/>
                              </a:solidFill>
                              <a:latin typeface="Cambria Math" panose="02040503050406030204" pitchFamily="18" charset="0"/>
                              <a:ea typeface="Cambria Math" panose="02040503050406030204" pitchFamily="18" charset="0"/>
                            </a:rPr>
                            <m:t>1</m:t>
                          </m:r>
                        </m:sub>
                      </m:sSub>
                    </m:oMath>
                  </m:oMathPara>
                </a14:m>
                <a:endParaRPr lang="en-US" sz="2800" dirty="0"/>
              </a:p>
            </p:txBody>
          </p:sp>
        </mc:Choice>
        <mc:Fallback xmlns="">
          <p:sp>
            <p:nvSpPr>
              <p:cNvPr id="81" name="Rectangle 80">
                <a:extLst>
                  <a:ext uri="{FF2B5EF4-FFF2-40B4-BE49-F238E27FC236}">
                    <a16:creationId xmlns:a16="http://schemas.microsoft.com/office/drawing/2014/main" id="{7FA407A2-8B0F-0A41-9164-98589C474025}"/>
                  </a:ext>
                </a:extLst>
              </p:cNvPr>
              <p:cNvSpPr>
                <a:spLocks noRot="1" noChangeAspect="1" noMove="1" noResize="1" noEditPoints="1" noAdjustHandles="1" noChangeArrowheads="1" noChangeShapeType="1" noTextEdit="1"/>
              </p:cNvSpPr>
              <p:nvPr/>
            </p:nvSpPr>
            <p:spPr>
              <a:xfrm>
                <a:off x="6809550" y="5762547"/>
                <a:ext cx="607859"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CF702620-37D0-E846-A034-6D58E2C637FF}"/>
                  </a:ext>
                </a:extLst>
              </p:cNvPr>
              <p:cNvSpPr/>
              <p:nvPr/>
            </p:nvSpPr>
            <p:spPr>
              <a:xfrm>
                <a:off x="8705217" y="6017605"/>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82" name="Rectangle 81">
                <a:extLst>
                  <a:ext uri="{FF2B5EF4-FFF2-40B4-BE49-F238E27FC236}">
                    <a16:creationId xmlns:a16="http://schemas.microsoft.com/office/drawing/2014/main" id="{CF702620-37D0-E846-A034-6D58E2C637FF}"/>
                  </a:ext>
                </a:extLst>
              </p:cNvPr>
              <p:cNvSpPr>
                <a:spLocks noRot="1" noChangeAspect="1" noMove="1" noResize="1" noEditPoints="1" noAdjustHandles="1" noChangeArrowheads="1" noChangeShapeType="1" noTextEdit="1"/>
              </p:cNvSpPr>
              <p:nvPr/>
            </p:nvSpPr>
            <p:spPr>
              <a:xfrm>
                <a:off x="8705217" y="6017605"/>
                <a:ext cx="967444"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B2837DC6-E590-A045-B083-A42B79B28BCF}"/>
                  </a:ext>
                </a:extLst>
              </p:cNvPr>
              <p:cNvSpPr/>
              <p:nvPr/>
            </p:nvSpPr>
            <p:spPr>
              <a:xfrm>
                <a:off x="10001585" y="6014432"/>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85" name="Rectangle 84">
                <a:extLst>
                  <a:ext uri="{FF2B5EF4-FFF2-40B4-BE49-F238E27FC236}">
                    <a16:creationId xmlns:a16="http://schemas.microsoft.com/office/drawing/2014/main" id="{B2837DC6-E590-A045-B083-A42B79B28BCF}"/>
                  </a:ext>
                </a:extLst>
              </p:cNvPr>
              <p:cNvSpPr>
                <a:spLocks noRot="1" noChangeAspect="1" noMove="1" noResize="1" noEditPoints="1" noAdjustHandles="1" noChangeArrowheads="1" noChangeShapeType="1" noTextEdit="1"/>
              </p:cNvSpPr>
              <p:nvPr/>
            </p:nvSpPr>
            <p:spPr>
              <a:xfrm>
                <a:off x="10001585" y="6014432"/>
                <a:ext cx="967444"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B0088513-FBF5-4C4B-8F3C-05C8444FC141}"/>
                  </a:ext>
                </a:extLst>
              </p:cNvPr>
              <p:cNvSpPr/>
              <p:nvPr/>
            </p:nvSpPr>
            <p:spPr>
              <a:xfrm>
                <a:off x="552436" y="2492017"/>
                <a:ext cx="67941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𝑄</m:t>
                          </m:r>
                        </m:e>
                      </m:d>
                    </m:oMath>
                  </m:oMathPara>
                </a14:m>
                <a:endParaRPr lang="en-US" sz="2400" dirty="0">
                  <a:solidFill>
                    <a:srgbClr val="FF0000"/>
                  </a:solidFill>
                </a:endParaRPr>
              </a:p>
            </p:txBody>
          </p:sp>
        </mc:Choice>
        <mc:Fallback xmlns="">
          <p:sp>
            <p:nvSpPr>
              <p:cNvPr id="42" name="Rectangle 41">
                <a:extLst>
                  <a:ext uri="{FF2B5EF4-FFF2-40B4-BE49-F238E27FC236}">
                    <a16:creationId xmlns:a16="http://schemas.microsoft.com/office/drawing/2014/main" id="{B0088513-FBF5-4C4B-8F3C-05C8444FC141}"/>
                  </a:ext>
                </a:extLst>
              </p:cNvPr>
              <p:cNvSpPr>
                <a:spLocks noRot="1" noChangeAspect="1" noMove="1" noResize="1" noEditPoints="1" noAdjustHandles="1" noChangeArrowheads="1" noChangeShapeType="1" noTextEdit="1"/>
              </p:cNvSpPr>
              <p:nvPr/>
            </p:nvSpPr>
            <p:spPr>
              <a:xfrm>
                <a:off x="552436" y="2492017"/>
                <a:ext cx="679417" cy="461665"/>
              </a:xfrm>
              <a:prstGeom prst="rect">
                <a:avLst/>
              </a:prstGeom>
              <a:blipFill>
                <a:blip r:embed="rId11"/>
                <a:stretch>
                  <a:fillRect l="-14545" t="-121053" r="-45455"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6CA86BE3-618C-5844-A290-BB9CFAAA205A}"/>
                  </a:ext>
                </a:extLst>
              </p:cNvPr>
              <p:cNvSpPr/>
              <p:nvPr/>
            </p:nvSpPr>
            <p:spPr>
              <a:xfrm>
                <a:off x="11116113" y="3869809"/>
                <a:ext cx="67941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FF0000"/>
                              </a:solidFill>
                              <a:latin typeface="Cambria Math" panose="02040503050406030204" pitchFamily="18" charset="0"/>
                              <a:ea typeface="Cambria Math" panose="02040503050406030204" pitchFamily="18" charset="0"/>
                            </a:rPr>
                          </m:ctrlPr>
                        </m:dPr>
                        <m:e>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𝑄</m:t>
                          </m:r>
                        </m:e>
                      </m:d>
                    </m:oMath>
                  </m:oMathPara>
                </a14:m>
                <a:endParaRPr lang="en-US" sz="2400" dirty="0">
                  <a:solidFill>
                    <a:srgbClr val="FF0000"/>
                  </a:solidFill>
                </a:endParaRPr>
              </a:p>
            </p:txBody>
          </p:sp>
        </mc:Choice>
        <mc:Fallback xmlns="">
          <p:sp>
            <p:nvSpPr>
              <p:cNvPr id="88" name="Rectangle 87">
                <a:extLst>
                  <a:ext uri="{FF2B5EF4-FFF2-40B4-BE49-F238E27FC236}">
                    <a16:creationId xmlns:a16="http://schemas.microsoft.com/office/drawing/2014/main" id="{6CA86BE3-618C-5844-A290-BB9CFAAA205A}"/>
                  </a:ext>
                </a:extLst>
              </p:cNvPr>
              <p:cNvSpPr>
                <a:spLocks noRot="1" noChangeAspect="1" noMove="1" noResize="1" noEditPoints="1" noAdjustHandles="1" noChangeArrowheads="1" noChangeShapeType="1" noTextEdit="1"/>
              </p:cNvSpPr>
              <p:nvPr/>
            </p:nvSpPr>
            <p:spPr>
              <a:xfrm>
                <a:off x="11116113" y="3869809"/>
                <a:ext cx="679417" cy="461665"/>
              </a:xfrm>
              <a:prstGeom prst="rect">
                <a:avLst/>
              </a:prstGeom>
              <a:blipFill>
                <a:blip r:embed="rId12"/>
                <a:stretch>
                  <a:fillRect l="-16364" t="-124324" r="-45455"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079E8DE0-EA91-B54A-9492-78ECDB30B93F}"/>
                  </a:ext>
                </a:extLst>
              </p:cNvPr>
              <p:cNvSpPr/>
              <p:nvPr/>
            </p:nvSpPr>
            <p:spPr>
              <a:xfrm>
                <a:off x="75341" y="3196633"/>
                <a:ext cx="12306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smtClean="0">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9" name="Rectangle 88">
                <a:extLst>
                  <a:ext uri="{FF2B5EF4-FFF2-40B4-BE49-F238E27FC236}">
                    <a16:creationId xmlns:a16="http://schemas.microsoft.com/office/drawing/2014/main" id="{079E8DE0-EA91-B54A-9492-78ECDB30B93F}"/>
                  </a:ext>
                </a:extLst>
              </p:cNvPr>
              <p:cNvSpPr>
                <a:spLocks noRot="1" noChangeAspect="1" noMove="1" noResize="1" noEditPoints="1" noAdjustHandles="1" noChangeArrowheads="1" noChangeShapeType="1" noTextEdit="1"/>
              </p:cNvSpPr>
              <p:nvPr/>
            </p:nvSpPr>
            <p:spPr>
              <a:xfrm>
                <a:off x="75341" y="3196633"/>
                <a:ext cx="1230657" cy="461665"/>
              </a:xfrm>
              <a:prstGeom prst="rect">
                <a:avLst/>
              </a:prstGeom>
              <a:blipFill>
                <a:blip r:embed="rId13"/>
                <a:stretch>
                  <a:fillRect t="-133333" r="-25510" b="-197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3E8FC956-165D-4D47-ACDE-CB156DB13C8C}"/>
                  </a:ext>
                </a:extLst>
              </p:cNvPr>
              <p:cNvSpPr/>
              <p:nvPr/>
            </p:nvSpPr>
            <p:spPr>
              <a:xfrm>
                <a:off x="75341" y="3969861"/>
                <a:ext cx="12423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smtClean="0">
                              <a:solidFill>
                                <a:srgbClr val="002060"/>
                              </a:solidFill>
                              <a:latin typeface="Cambria Math" panose="02040503050406030204" pitchFamily="18" charset="0"/>
                              <a:ea typeface="Cambria Math" panose="02040503050406030204" pitchFamily="18" charset="0"/>
                            </a:rPr>
                            <m:t>𝐵</m:t>
                          </m:r>
                          <m:r>
                            <a:rPr lang="en-US" sz="2400" b="0" i="1" smtClean="0">
                              <a:solidFill>
                                <a:srgbClr val="002060"/>
                              </a:solidFill>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91" name="Rectangle 90">
                <a:extLst>
                  <a:ext uri="{FF2B5EF4-FFF2-40B4-BE49-F238E27FC236}">
                    <a16:creationId xmlns:a16="http://schemas.microsoft.com/office/drawing/2014/main" id="{3E8FC956-165D-4D47-ACDE-CB156DB13C8C}"/>
                  </a:ext>
                </a:extLst>
              </p:cNvPr>
              <p:cNvSpPr>
                <a:spLocks noRot="1" noChangeAspect="1" noMove="1" noResize="1" noEditPoints="1" noAdjustHandles="1" noChangeArrowheads="1" noChangeShapeType="1" noTextEdit="1"/>
              </p:cNvSpPr>
              <p:nvPr/>
            </p:nvSpPr>
            <p:spPr>
              <a:xfrm>
                <a:off x="75341" y="3969861"/>
                <a:ext cx="1242328" cy="461665"/>
              </a:xfrm>
              <a:prstGeom prst="rect">
                <a:avLst/>
              </a:prstGeom>
              <a:blipFill>
                <a:blip r:embed="rId14"/>
                <a:stretch>
                  <a:fillRect t="-127027" r="-25253" b="-191892"/>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8EF5AC7F-DAD2-484A-936E-FFC6CC443112}"/>
              </a:ext>
            </a:extLst>
          </p:cNvPr>
          <p:cNvGrpSpPr/>
          <p:nvPr/>
        </p:nvGrpSpPr>
        <p:grpSpPr>
          <a:xfrm>
            <a:off x="6111215" y="2341797"/>
            <a:ext cx="720000" cy="807700"/>
            <a:chOff x="6128687" y="2341797"/>
            <a:chExt cx="720000" cy="807700"/>
          </a:xfrm>
        </p:grpSpPr>
        <p:sp>
          <p:nvSpPr>
            <p:cNvPr id="46" name="Rectangle 45">
              <a:extLst>
                <a:ext uri="{FF2B5EF4-FFF2-40B4-BE49-F238E27FC236}">
                  <a16:creationId xmlns:a16="http://schemas.microsoft.com/office/drawing/2014/main" id="{B1369007-1AC4-9946-808F-48074EC16F74}"/>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7" name="Arc 46">
              <a:extLst>
                <a:ext uri="{FF2B5EF4-FFF2-40B4-BE49-F238E27FC236}">
                  <a16:creationId xmlns:a16="http://schemas.microsoft.com/office/drawing/2014/main" id="{BDB4A343-EA88-0C48-9DC5-830C320B2FD7}"/>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E2D7D3E4-D2A4-2A43-BBEE-C20F113983DC}"/>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D2C9AE8C-A641-404E-9A23-3A48E8D02685}"/>
              </a:ext>
            </a:extLst>
          </p:cNvPr>
          <p:cNvGrpSpPr/>
          <p:nvPr/>
        </p:nvGrpSpPr>
        <p:grpSpPr>
          <a:xfrm>
            <a:off x="6914332" y="3219504"/>
            <a:ext cx="720000" cy="807700"/>
            <a:chOff x="6128687" y="2341797"/>
            <a:chExt cx="720000" cy="807700"/>
          </a:xfrm>
        </p:grpSpPr>
        <p:sp>
          <p:nvSpPr>
            <p:cNvPr id="52" name="Rectangle 51">
              <a:extLst>
                <a:ext uri="{FF2B5EF4-FFF2-40B4-BE49-F238E27FC236}">
                  <a16:creationId xmlns:a16="http://schemas.microsoft.com/office/drawing/2014/main" id="{0618ADA3-DCF9-F94A-932E-AF4311EFD367}"/>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53" name="Arc 52">
              <a:extLst>
                <a:ext uri="{FF2B5EF4-FFF2-40B4-BE49-F238E27FC236}">
                  <a16:creationId xmlns:a16="http://schemas.microsoft.com/office/drawing/2014/main" id="{1E7EF450-AF3E-9041-9FF5-B2F058273C0E}"/>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C9D7B0FA-9004-A647-B622-3D24BE97ECB8}"/>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pic>
        <p:nvPicPr>
          <p:cNvPr id="57" name="Picture 56">
            <a:extLst>
              <a:ext uri="{FF2B5EF4-FFF2-40B4-BE49-F238E27FC236}">
                <a16:creationId xmlns:a16="http://schemas.microsoft.com/office/drawing/2014/main" id="{BFDC1624-D8B8-7C48-AC22-11D085BCD338}"/>
              </a:ext>
            </a:extLst>
          </p:cNvPr>
          <p:cNvPicPr>
            <a:picLocks noChangeAspect="1"/>
          </p:cNvPicPr>
          <p:nvPr/>
        </p:nvPicPr>
        <p:blipFill>
          <a:blip r:embed="rId15"/>
          <a:stretch>
            <a:fillRect/>
          </a:stretch>
        </p:blipFill>
        <p:spPr>
          <a:xfrm>
            <a:off x="302888" y="890482"/>
            <a:ext cx="936220" cy="1442141"/>
          </a:xfrm>
          <a:prstGeom prst="rect">
            <a:avLst/>
          </a:prstGeom>
        </p:spPr>
      </p:pic>
      <p:pic>
        <p:nvPicPr>
          <p:cNvPr id="58" name="Picture 57">
            <a:extLst>
              <a:ext uri="{FF2B5EF4-FFF2-40B4-BE49-F238E27FC236}">
                <a16:creationId xmlns:a16="http://schemas.microsoft.com/office/drawing/2014/main" id="{5CEC7C4D-9CB2-214E-832C-AF6B9E457F8C}"/>
              </a:ext>
            </a:extLst>
          </p:cNvPr>
          <p:cNvPicPr>
            <a:picLocks noChangeAspect="1"/>
          </p:cNvPicPr>
          <p:nvPr/>
        </p:nvPicPr>
        <p:blipFill>
          <a:blip r:embed="rId16"/>
          <a:stretch>
            <a:fillRect/>
          </a:stretch>
        </p:blipFill>
        <p:spPr>
          <a:xfrm>
            <a:off x="10439145" y="1607540"/>
            <a:ext cx="1180021" cy="1747824"/>
          </a:xfrm>
          <a:prstGeom prst="rect">
            <a:avLst/>
          </a:prstGeom>
        </p:spPr>
      </p:pic>
      <p:sp>
        <p:nvSpPr>
          <p:cNvPr id="17" name="TextBox 16">
            <a:extLst>
              <a:ext uri="{FF2B5EF4-FFF2-40B4-BE49-F238E27FC236}">
                <a16:creationId xmlns:a16="http://schemas.microsoft.com/office/drawing/2014/main" id="{B9772ABC-A9CA-684D-BECC-FEDD6171E8CF}"/>
              </a:ext>
            </a:extLst>
          </p:cNvPr>
          <p:cNvSpPr txBox="1"/>
          <p:nvPr/>
        </p:nvSpPr>
        <p:spPr>
          <a:xfrm>
            <a:off x="7878774" y="3604145"/>
            <a:ext cx="1942648" cy="369332"/>
          </a:xfrm>
          <a:prstGeom prst="rect">
            <a:avLst/>
          </a:prstGeom>
          <a:noFill/>
        </p:spPr>
        <p:txBody>
          <a:bodyPr wrap="none" rtlCol="0">
            <a:spAutoFit/>
          </a:bodyPr>
          <a:lstStyle/>
          <a:p>
            <a:r>
              <a:rPr lang="en-US" dirty="0"/>
              <a:t>quantum channel  </a:t>
            </a:r>
          </a:p>
        </p:txBody>
      </p:sp>
      <p:sp>
        <p:nvSpPr>
          <p:cNvPr id="18" name="Can 17">
            <a:extLst>
              <a:ext uri="{FF2B5EF4-FFF2-40B4-BE49-F238E27FC236}">
                <a16:creationId xmlns:a16="http://schemas.microsoft.com/office/drawing/2014/main" id="{DE80B4BD-258A-694F-B718-CB4EA809A6C4}"/>
              </a:ext>
            </a:extLst>
          </p:cNvPr>
          <p:cNvSpPr/>
          <p:nvPr/>
        </p:nvSpPr>
        <p:spPr>
          <a:xfrm rot="16200000">
            <a:off x="8096456" y="3980609"/>
            <a:ext cx="406533" cy="841897"/>
          </a:xfrm>
          <a:prstGeom prst="can">
            <a:avLst/>
          </a:prstGeom>
          <a:gradFill>
            <a:gsLst>
              <a:gs pos="0">
                <a:schemeClr val="accent3">
                  <a:lumMod val="5000"/>
                  <a:lumOff val="95000"/>
                  <a:alpha val="2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2700000" scaled="1"/>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an 59">
            <a:extLst>
              <a:ext uri="{FF2B5EF4-FFF2-40B4-BE49-F238E27FC236}">
                <a16:creationId xmlns:a16="http://schemas.microsoft.com/office/drawing/2014/main" id="{0A86A81C-3725-334C-867C-486F21CC6651}"/>
              </a:ext>
            </a:extLst>
          </p:cNvPr>
          <p:cNvSpPr/>
          <p:nvPr/>
        </p:nvSpPr>
        <p:spPr>
          <a:xfrm rot="16200000">
            <a:off x="7948531" y="5241785"/>
            <a:ext cx="698474" cy="841897"/>
          </a:xfrm>
          <a:prstGeom prst="can">
            <a:avLst/>
          </a:prstGeom>
          <a:gradFill>
            <a:gsLst>
              <a:gs pos="0">
                <a:schemeClr val="accent3">
                  <a:lumMod val="5000"/>
                  <a:lumOff val="95000"/>
                  <a:alpha val="2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2700000" scaled="1"/>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3D21DE02-2ABC-1144-BD0A-04748CEC31B7}"/>
              </a:ext>
            </a:extLst>
          </p:cNvPr>
          <p:cNvSpPr txBox="1"/>
          <p:nvPr/>
        </p:nvSpPr>
        <p:spPr>
          <a:xfrm>
            <a:off x="7269963" y="6356225"/>
            <a:ext cx="1838645" cy="369332"/>
          </a:xfrm>
          <a:prstGeom prst="rect">
            <a:avLst/>
          </a:prstGeom>
          <a:noFill/>
        </p:spPr>
        <p:txBody>
          <a:bodyPr wrap="none" rtlCol="0">
            <a:spAutoFit/>
          </a:bodyPr>
          <a:lstStyle/>
          <a:p>
            <a:r>
              <a:rPr lang="en-US" dirty="0"/>
              <a:t>classical channel  </a:t>
            </a:r>
          </a:p>
        </p:txBody>
      </p:sp>
      <p:sp>
        <p:nvSpPr>
          <p:cNvPr id="59" name="Slide Number Placeholder 2">
            <a:extLst>
              <a:ext uri="{FF2B5EF4-FFF2-40B4-BE49-F238E27FC236}">
                <a16:creationId xmlns:a16="http://schemas.microsoft.com/office/drawing/2014/main" id="{637DBC65-17D8-A04C-9D9B-AACB5222A20C}"/>
              </a:ext>
            </a:extLst>
          </p:cNvPr>
          <p:cNvSpPr>
            <a:spLocks noGrp="1"/>
          </p:cNvSpPr>
          <p:nvPr>
            <p:ph type="sldNum" sz="quarter" idx="12"/>
          </p:nvPr>
        </p:nvSpPr>
        <p:spPr>
          <a:xfrm>
            <a:off x="0" y="6492875"/>
            <a:ext cx="797827" cy="365125"/>
          </a:xfrm>
        </p:spPr>
        <p:txBody>
          <a:bodyPr/>
          <a:lstStyle/>
          <a:p>
            <a:pPr algn="l"/>
            <a:fld id="{591A223C-FA10-BC46-A853-03BA373D023C}" type="slidenum">
              <a:rPr lang="en-US" smtClean="0"/>
              <a:pPr algn="l"/>
              <a:t>35</a:t>
            </a:fld>
            <a:endParaRPr lang="en-US" dirty="0"/>
          </a:p>
        </p:txBody>
      </p:sp>
    </p:spTree>
    <p:extLst>
      <p:ext uri="{BB962C8B-B14F-4D97-AF65-F5344CB8AC3E}">
        <p14:creationId xmlns:p14="http://schemas.microsoft.com/office/powerpoint/2010/main" val="17025934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FCBF3EB7-81F8-CC4F-8EA1-2952E97C4DC5}"/>
              </a:ext>
            </a:extLst>
          </p:cNvPr>
          <p:cNvSpPr/>
          <p:nvPr/>
        </p:nvSpPr>
        <p:spPr>
          <a:xfrm>
            <a:off x="4275948" y="1515733"/>
            <a:ext cx="3611105" cy="181410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355F977-7E5F-9A46-9CC3-6FDA35A62820}"/>
              </a:ext>
            </a:extLst>
          </p:cNvPr>
          <p:cNvSpPr txBox="1"/>
          <p:nvPr/>
        </p:nvSpPr>
        <p:spPr>
          <a:xfrm>
            <a:off x="5356980" y="3455066"/>
            <a:ext cx="1262846" cy="461665"/>
          </a:xfrm>
          <a:prstGeom prst="rect">
            <a:avLst/>
          </a:prstGeom>
          <a:noFill/>
        </p:spPr>
        <p:txBody>
          <a:bodyPr wrap="none" rtlCol="0">
            <a:spAutoFit/>
          </a:bodyPr>
          <a:lstStyle/>
          <a:p>
            <a:r>
              <a:rPr lang="en-US" sz="2400" dirty="0"/>
              <a:t>repeater</a:t>
            </a:r>
          </a:p>
        </p:txBody>
      </p:sp>
      <p:sp>
        <p:nvSpPr>
          <p:cNvPr id="4" name="Title 3">
            <a:extLst>
              <a:ext uri="{FF2B5EF4-FFF2-40B4-BE49-F238E27FC236}">
                <a16:creationId xmlns:a16="http://schemas.microsoft.com/office/drawing/2014/main" id="{17411777-1615-BE44-BB90-788F47186234}"/>
              </a:ext>
            </a:extLst>
          </p:cNvPr>
          <p:cNvSpPr>
            <a:spLocks noGrp="1"/>
          </p:cNvSpPr>
          <p:nvPr>
            <p:ph type="title"/>
          </p:nvPr>
        </p:nvSpPr>
        <p:spPr/>
        <p:txBody>
          <a:bodyPr/>
          <a:lstStyle/>
          <a:p>
            <a:r>
              <a:rPr lang="en-US" dirty="0"/>
              <a:t>Entanglement swapping</a:t>
            </a:r>
          </a:p>
        </p:txBody>
      </p:sp>
      <p:sp>
        <p:nvSpPr>
          <p:cNvPr id="7" name="Oval 6">
            <a:extLst>
              <a:ext uri="{FF2B5EF4-FFF2-40B4-BE49-F238E27FC236}">
                <a16:creationId xmlns:a16="http://schemas.microsoft.com/office/drawing/2014/main" id="{24D85DF9-A6C9-924A-8CC6-BB191A04A4E6}"/>
              </a:ext>
            </a:extLst>
          </p:cNvPr>
          <p:cNvSpPr/>
          <p:nvPr/>
        </p:nvSpPr>
        <p:spPr>
          <a:xfrm>
            <a:off x="9242792" y="2102622"/>
            <a:ext cx="720000" cy="720000"/>
          </a:xfrm>
          <a:prstGeom prst="ellipse">
            <a:avLst/>
          </a:prstGeom>
          <a:noFill/>
          <a:ln w="25400">
            <a:solidFill>
              <a:schemeClr val="accent5">
                <a:lumMod val="60000"/>
                <a:lumOff val="40000"/>
              </a:schemeClr>
            </a:solidFill>
          </a:ln>
          <a:effectLst>
            <a:glow rad="330200">
              <a:schemeClr val="accent1">
                <a:alpha val="3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A1147C9-5FFA-7E4A-BB28-75E8C564E970}"/>
              </a:ext>
            </a:extLst>
          </p:cNvPr>
          <p:cNvSpPr/>
          <p:nvPr/>
        </p:nvSpPr>
        <p:spPr>
          <a:xfrm>
            <a:off x="4941332" y="2104552"/>
            <a:ext cx="720000" cy="720000"/>
          </a:xfrm>
          <a:prstGeom prst="ellipse">
            <a:avLst/>
          </a:prstGeom>
          <a:noFill/>
          <a:ln w="25400">
            <a:solidFill>
              <a:schemeClr val="accent2">
                <a:lumMod val="40000"/>
                <a:lumOff val="60000"/>
              </a:schemeClr>
            </a:solidFill>
          </a:ln>
          <a:effectLst>
            <a:glow rad="330200">
              <a:schemeClr val="accent4">
                <a:lumMod val="75000"/>
                <a:alpha val="3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42D67A9-7E38-874A-93ED-567ABFA8B042}"/>
              </a:ext>
            </a:extLst>
          </p:cNvPr>
          <p:cNvSpPr/>
          <p:nvPr/>
        </p:nvSpPr>
        <p:spPr>
          <a:xfrm>
            <a:off x="6515344" y="2102622"/>
            <a:ext cx="720000" cy="720000"/>
          </a:xfrm>
          <a:prstGeom prst="ellipse">
            <a:avLst/>
          </a:prstGeom>
          <a:noFill/>
          <a:ln w="25400">
            <a:solidFill>
              <a:schemeClr val="accent6">
                <a:lumMod val="60000"/>
                <a:lumOff val="40000"/>
              </a:schemeClr>
            </a:solidFill>
          </a:ln>
          <a:effectLst>
            <a:glow rad="330200">
              <a:schemeClr val="accent6">
                <a:lumMod val="75000"/>
                <a:alpha val="3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E9B4E51-CF90-784E-9658-02464FACD1D6}"/>
              </a:ext>
            </a:extLst>
          </p:cNvPr>
          <p:cNvPicPr>
            <a:picLocks noChangeAspect="1"/>
          </p:cNvPicPr>
          <p:nvPr/>
        </p:nvPicPr>
        <p:blipFill>
          <a:blip r:embed="rId3">
            <a:alphaModFix amt="20000"/>
          </a:blip>
          <a:stretch>
            <a:fillRect/>
          </a:stretch>
        </p:blipFill>
        <p:spPr>
          <a:xfrm>
            <a:off x="6099017" y="1499136"/>
            <a:ext cx="4278548" cy="1926972"/>
          </a:xfrm>
          <a:prstGeom prst="rect">
            <a:avLst/>
          </a:prstGeom>
          <a:effectLst>
            <a:glow rad="177800">
              <a:schemeClr val="bg1">
                <a:lumMod val="65000"/>
                <a:alpha val="40000"/>
              </a:schemeClr>
            </a:glow>
          </a:effectLst>
        </p:spPr>
      </p:pic>
      <p:sp>
        <p:nvSpPr>
          <p:cNvPr id="8" name="Oval 7">
            <a:extLst>
              <a:ext uri="{FF2B5EF4-FFF2-40B4-BE49-F238E27FC236}">
                <a16:creationId xmlns:a16="http://schemas.microsoft.com/office/drawing/2014/main" id="{CD05B644-DDE8-124B-B792-F5DCDBD89298}"/>
              </a:ext>
            </a:extLst>
          </p:cNvPr>
          <p:cNvSpPr/>
          <p:nvPr/>
        </p:nvSpPr>
        <p:spPr>
          <a:xfrm>
            <a:off x="2324912" y="2102622"/>
            <a:ext cx="720000" cy="720000"/>
          </a:xfrm>
          <a:prstGeom prst="ellipse">
            <a:avLst/>
          </a:prstGeom>
          <a:noFill/>
          <a:ln w="25400">
            <a:solidFill>
              <a:schemeClr val="accent2">
                <a:lumMod val="60000"/>
                <a:lumOff val="40000"/>
              </a:schemeClr>
            </a:solidFill>
          </a:ln>
          <a:effectLst>
            <a:glow rad="330200">
              <a:srgbClr val="FF0000">
                <a:alpha val="38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66D283D0-48A0-1B48-AA32-1933F5A5EF93}"/>
                  </a:ext>
                </a:extLst>
              </p:cNvPr>
              <p:cNvSpPr/>
              <p:nvPr/>
            </p:nvSpPr>
            <p:spPr>
              <a:xfrm>
                <a:off x="2324912" y="928843"/>
                <a:ext cx="47461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𝐴</m:t>
                      </m:r>
                    </m:oMath>
                  </m:oMathPara>
                </a14:m>
                <a:endParaRPr lang="en-US" sz="2400" dirty="0">
                  <a:latin typeface="Comic Sans MS" panose="030F0902030302020204" pitchFamily="66" charset="0"/>
                </a:endParaRPr>
              </a:p>
            </p:txBody>
          </p:sp>
        </mc:Choice>
        <mc:Fallback xmlns="">
          <p:sp>
            <p:nvSpPr>
              <p:cNvPr id="21" name="Rectangle 20">
                <a:extLst>
                  <a:ext uri="{FF2B5EF4-FFF2-40B4-BE49-F238E27FC236}">
                    <a16:creationId xmlns:a16="http://schemas.microsoft.com/office/drawing/2014/main" id="{66D283D0-48A0-1B48-AA32-1933F5A5EF93}"/>
                  </a:ext>
                </a:extLst>
              </p:cNvPr>
              <p:cNvSpPr>
                <a:spLocks noRot="1" noChangeAspect="1" noMove="1" noResize="1" noEditPoints="1" noAdjustHandles="1" noChangeArrowheads="1" noChangeShapeType="1" noTextEdit="1"/>
              </p:cNvSpPr>
              <p:nvPr/>
            </p:nvSpPr>
            <p:spPr>
              <a:xfrm>
                <a:off x="2324912" y="928843"/>
                <a:ext cx="474617"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9A90AD1A-ED88-7848-B55B-1A85015199FF}"/>
                  </a:ext>
                </a:extLst>
              </p:cNvPr>
              <p:cNvSpPr/>
              <p:nvPr/>
            </p:nvSpPr>
            <p:spPr>
              <a:xfrm>
                <a:off x="4815424" y="964757"/>
                <a:ext cx="5517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m:t>
                      </m:r>
                    </m:oMath>
                  </m:oMathPara>
                </a14:m>
                <a:endParaRPr lang="en-US" sz="2400" dirty="0">
                  <a:latin typeface="Comic Sans MS" panose="030F0902030302020204" pitchFamily="66" charset="0"/>
                </a:endParaRPr>
              </a:p>
            </p:txBody>
          </p:sp>
        </mc:Choice>
        <mc:Fallback xmlns="">
          <p:sp>
            <p:nvSpPr>
              <p:cNvPr id="22" name="Rectangle 21">
                <a:extLst>
                  <a:ext uri="{FF2B5EF4-FFF2-40B4-BE49-F238E27FC236}">
                    <a16:creationId xmlns:a16="http://schemas.microsoft.com/office/drawing/2014/main" id="{9A90AD1A-ED88-7848-B55B-1A85015199FF}"/>
                  </a:ext>
                </a:extLst>
              </p:cNvPr>
              <p:cNvSpPr>
                <a:spLocks noRot="1" noChangeAspect="1" noMove="1" noResize="1" noEditPoints="1" noAdjustHandles="1" noChangeArrowheads="1" noChangeShapeType="1" noTextEdit="1"/>
              </p:cNvSpPr>
              <p:nvPr/>
            </p:nvSpPr>
            <p:spPr>
              <a:xfrm>
                <a:off x="4815424" y="964757"/>
                <a:ext cx="551753"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DBB4ACB2-B3D8-B846-AA8A-61C3154C2BA4}"/>
                  </a:ext>
                </a:extLst>
              </p:cNvPr>
              <p:cNvSpPr/>
              <p:nvPr/>
            </p:nvSpPr>
            <p:spPr>
              <a:xfrm>
                <a:off x="6495272" y="974859"/>
                <a:ext cx="5581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𝐵</m:t>
                      </m:r>
                      <m:r>
                        <a:rPr lang="en-US" sz="2400" b="0" i="1" smtClean="0">
                          <a:solidFill>
                            <a:srgbClr val="002060"/>
                          </a:solidFill>
                          <a:latin typeface="Cambria Math" panose="02040503050406030204" pitchFamily="18" charset="0"/>
                          <a:ea typeface="Cambria Math" panose="02040503050406030204" pitchFamily="18" charset="0"/>
                        </a:rPr>
                        <m:t>′</m:t>
                      </m:r>
                    </m:oMath>
                  </m:oMathPara>
                </a14:m>
                <a:endParaRPr lang="en-US" sz="2400" dirty="0">
                  <a:latin typeface="Comic Sans MS" panose="030F0902030302020204" pitchFamily="66" charset="0"/>
                </a:endParaRPr>
              </a:p>
            </p:txBody>
          </p:sp>
        </mc:Choice>
        <mc:Fallback xmlns="">
          <p:sp>
            <p:nvSpPr>
              <p:cNvPr id="23" name="Rectangle 22">
                <a:extLst>
                  <a:ext uri="{FF2B5EF4-FFF2-40B4-BE49-F238E27FC236}">
                    <a16:creationId xmlns:a16="http://schemas.microsoft.com/office/drawing/2014/main" id="{DBB4ACB2-B3D8-B846-AA8A-61C3154C2BA4}"/>
                  </a:ext>
                </a:extLst>
              </p:cNvPr>
              <p:cNvSpPr>
                <a:spLocks noRot="1" noChangeAspect="1" noMove="1" noResize="1" noEditPoints="1" noAdjustHandles="1" noChangeArrowheads="1" noChangeShapeType="1" noTextEdit="1"/>
              </p:cNvSpPr>
              <p:nvPr/>
            </p:nvSpPr>
            <p:spPr>
              <a:xfrm>
                <a:off x="6495272" y="974859"/>
                <a:ext cx="558165"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0C692579-D2BC-B645-9C1F-2C11216CE40E}"/>
                  </a:ext>
                </a:extLst>
              </p:cNvPr>
              <p:cNvSpPr/>
              <p:nvPr/>
            </p:nvSpPr>
            <p:spPr>
              <a:xfrm>
                <a:off x="9176956" y="972795"/>
                <a:ext cx="4862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𝐵</m:t>
                      </m:r>
                    </m:oMath>
                  </m:oMathPara>
                </a14:m>
                <a:endParaRPr lang="en-US" sz="2400" dirty="0">
                  <a:latin typeface="Comic Sans MS" panose="030F0902030302020204" pitchFamily="66" charset="0"/>
                </a:endParaRPr>
              </a:p>
            </p:txBody>
          </p:sp>
        </mc:Choice>
        <mc:Fallback xmlns="">
          <p:sp>
            <p:nvSpPr>
              <p:cNvPr id="24" name="Rectangle 23">
                <a:extLst>
                  <a:ext uri="{FF2B5EF4-FFF2-40B4-BE49-F238E27FC236}">
                    <a16:creationId xmlns:a16="http://schemas.microsoft.com/office/drawing/2014/main" id="{0C692579-D2BC-B645-9C1F-2C11216CE40E}"/>
                  </a:ext>
                </a:extLst>
              </p:cNvPr>
              <p:cNvSpPr>
                <a:spLocks noRot="1" noChangeAspect="1" noMove="1" noResize="1" noEditPoints="1" noAdjustHandles="1" noChangeArrowheads="1" noChangeShapeType="1" noTextEdit="1"/>
              </p:cNvSpPr>
              <p:nvPr/>
            </p:nvSpPr>
            <p:spPr>
              <a:xfrm>
                <a:off x="9176956" y="972795"/>
                <a:ext cx="486287" cy="461665"/>
              </a:xfrm>
              <a:prstGeom prst="rect">
                <a:avLst/>
              </a:prstGeom>
              <a:blipFill>
                <a:blip r:embed="rId10"/>
                <a:stretch>
                  <a:fillRect/>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E6729F99-D9A3-7644-8653-B44D4EE420F8}"/>
              </a:ext>
            </a:extLst>
          </p:cNvPr>
          <p:cNvGrpSpPr/>
          <p:nvPr/>
        </p:nvGrpSpPr>
        <p:grpSpPr>
          <a:xfrm>
            <a:off x="1497344" y="4608188"/>
            <a:ext cx="9639945" cy="1926972"/>
            <a:chOff x="1497344" y="4608188"/>
            <a:chExt cx="9639945" cy="1926972"/>
          </a:xfrm>
        </p:grpSpPr>
        <p:sp>
          <p:nvSpPr>
            <p:cNvPr id="15" name="Oval 14">
              <a:extLst>
                <a:ext uri="{FF2B5EF4-FFF2-40B4-BE49-F238E27FC236}">
                  <a16:creationId xmlns:a16="http://schemas.microsoft.com/office/drawing/2014/main" id="{AA64BEB2-C779-404C-87B4-7F78E77812EB}"/>
                </a:ext>
              </a:extLst>
            </p:cNvPr>
            <p:cNvSpPr/>
            <p:nvPr/>
          </p:nvSpPr>
          <p:spPr>
            <a:xfrm>
              <a:off x="2324912" y="5211674"/>
              <a:ext cx="720000" cy="720000"/>
            </a:xfrm>
            <a:prstGeom prst="ellipse">
              <a:avLst/>
            </a:prstGeom>
            <a:noFill/>
            <a:ln w="25400">
              <a:solidFill>
                <a:schemeClr val="accent2">
                  <a:lumMod val="60000"/>
                  <a:lumOff val="40000"/>
                </a:schemeClr>
              </a:solidFill>
            </a:ln>
            <a:effectLst>
              <a:glow rad="330200">
                <a:srgbClr val="FF0000">
                  <a:alpha val="38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B3B49B9C-2BB2-7946-A81E-4CC5AB30BEEA}"/>
                </a:ext>
              </a:extLst>
            </p:cNvPr>
            <p:cNvPicPr>
              <a:picLocks noChangeAspect="1"/>
            </p:cNvPicPr>
            <p:nvPr/>
          </p:nvPicPr>
          <p:blipFill>
            <a:blip r:embed="rId3">
              <a:alphaModFix amt="20000"/>
            </a:blip>
            <a:stretch>
              <a:fillRect/>
            </a:stretch>
          </p:blipFill>
          <p:spPr>
            <a:xfrm>
              <a:off x="1497344" y="4608188"/>
              <a:ext cx="9639945" cy="1926972"/>
            </a:xfrm>
            <a:prstGeom prst="rect">
              <a:avLst/>
            </a:prstGeom>
            <a:effectLst>
              <a:glow rad="177800">
                <a:schemeClr val="bg1">
                  <a:lumMod val="65000"/>
                  <a:alpha val="40000"/>
                </a:schemeClr>
              </a:glow>
            </a:effectLst>
          </p:spPr>
        </p:pic>
        <p:sp>
          <p:nvSpPr>
            <p:cNvPr id="20" name="Oval 19">
              <a:extLst>
                <a:ext uri="{FF2B5EF4-FFF2-40B4-BE49-F238E27FC236}">
                  <a16:creationId xmlns:a16="http://schemas.microsoft.com/office/drawing/2014/main" id="{A4590006-85B3-4840-9054-1FD08689B3E5}"/>
                </a:ext>
              </a:extLst>
            </p:cNvPr>
            <p:cNvSpPr/>
            <p:nvPr/>
          </p:nvSpPr>
          <p:spPr>
            <a:xfrm>
              <a:off x="9242792" y="5211674"/>
              <a:ext cx="720000" cy="720000"/>
            </a:xfrm>
            <a:prstGeom prst="ellipse">
              <a:avLst/>
            </a:prstGeom>
            <a:noFill/>
            <a:ln w="25400">
              <a:solidFill>
                <a:schemeClr val="accent2">
                  <a:lumMod val="40000"/>
                  <a:lumOff val="60000"/>
                </a:schemeClr>
              </a:solidFill>
            </a:ln>
            <a:effectLst>
              <a:glow rad="330200">
                <a:schemeClr val="accent4">
                  <a:lumMod val="75000"/>
                  <a:alpha val="3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7DC902E1-1192-7A4A-9D54-9F7B9349D7A3}"/>
                    </a:ext>
                  </a:extLst>
                </p:cNvPr>
                <p:cNvSpPr/>
                <p:nvPr/>
              </p:nvSpPr>
              <p:spPr>
                <a:xfrm>
                  <a:off x="3259219" y="5340841"/>
                  <a:ext cx="47461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𝐴</m:t>
                        </m:r>
                      </m:oMath>
                    </m:oMathPara>
                  </a14:m>
                  <a:endParaRPr lang="en-US" sz="2400" dirty="0">
                    <a:latin typeface="Comic Sans MS" panose="030F0902030302020204" pitchFamily="66" charset="0"/>
                  </a:endParaRPr>
                </a:p>
              </p:txBody>
            </p:sp>
          </mc:Choice>
          <mc:Fallback xmlns="">
            <p:sp>
              <p:nvSpPr>
                <p:cNvPr id="25" name="Rectangle 24">
                  <a:extLst>
                    <a:ext uri="{FF2B5EF4-FFF2-40B4-BE49-F238E27FC236}">
                      <a16:creationId xmlns:a16="http://schemas.microsoft.com/office/drawing/2014/main" id="{7DC902E1-1192-7A4A-9D54-9F7B9349D7A3}"/>
                    </a:ext>
                  </a:extLst>
                </p:cNvPr>
                <p:cNvSpPr>
                  <a:spLocks noRot="1" noChangeAspect="1" noMove="1" noResize="1" noEditPoints="1" noAdjustHandles="1" noChangeArrowheads="1" noChangeShapeType="1" noTextEdit="1"/>
                </p:cNvSpPr>
                <p:nvPr/>
              </p:nvSpPr>
              <p:spPr>
                <a:xfrm>
                  <a:off x="3259219" y="5340841"/>
                  <a:ext cx="474617"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C8DDEB1D-D169-BB4D-A066-FFA6078DD869}"/>
                    </a:ext>
                  </a:extLst>
                </p:cNvPr>
                <p:cNvSpPr/>
                <p:nvPr/>
              </p:nvSpPr>
              <p:spPr>
                <a:xfrm>
                  <a:off x="8238291" y="5369140"/>
                  <a:ext cx="4862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i="1" smtClean="0">
                            <a:solidFill>
                              <a:srgbClr val="002060"/>
                            </a:solidFill>
                            <a:latin typeface="Cambria Math" panose="02040503050406030204" pitchFamily="18" charset="0"/>
                            <a:ea typeface="Cambria Math" panose="02040503050406030204" pitchFamily="18" charset="0"/>
                          </a:rPr>
                          <m:t>𝐵</m:t>
                        </m:r>
                      </m:oMath>
                    </m:oMathPara>
                  </a14:m>
                  <a:endParaRPr lang="en-US" sz="2400" dirty="0">
                    <a:latin typeface="Comic Sans MS" panose="030F0902030302020204" pitchFamily="66" charset="0"/>
                  </a:endParaRPr>
                </a:p>
              </p:txBody>
            </p:sp>
          </mc:Choice>
          <mc:Fallback>
            <p:sp>
              <p:nvSpPr>
                <p:cNvPr id="27" name="Rectangle 26">
                  <a:extLst>
                    <a:ext uri="{FF2B5EF4-FFF2-40B4-BE49-F238E27FC236}">
                      <a16:creationId xmlns:a16="http://schemas.microsoft.com/office/drawing/2014/main" id="{C8DDEB1D-D169-BB4D-A066-FFA6078DD869}"/>
                    </a:ext>
                  </a:extLst>
                </p:cNvPr>
                <p:cNvSpPr>
                  <a:spLocks noRot="1" noChangeAspect="1" noMove="1" noResize="1" noEditPoints="1" noAdjustHandles="1" noChangeArrowheads="1" noChangeShapeType="1" noTextEdit="1"/>
                </p:cNvSpPr>
                <p:nvPr/>
              </p:nvSpPr>
              <p:spPr>
                <a:xfrm>
                  <a:off x="8238291" y="5369140"/>
                  <a:ext cx="486287" cy="461665"/>
                </a:xfrm>
                <a:prstGeom prst="rect">
                  <a:avLst/>
                </a:prstGeom>
                <a:blipFill>
                  <a:blip r:embed="rId14"/>
                  <a:stretch>
                    <a:fillRect/>
                  </a:stretch>
                </a:blipFill>
              </p:spPr>
              <p:txBody>
                <a:bodyPr/>
                <a:lstStyle/>
                <a:p>
                  <a:r>
                    <a:rPr lang="en-US">
                      <a:noFill/>
                    </a:rPr>
                    <a:t> </a:t>
                  </a:r>
                </a:p>
              </p:txBody>
            </p:sp>
          </mc:Fallback>
        </mc:AlternateContent>
      </p:grpSp>
      <p:grpSp>
        <p:nvGrpSpPr>
          <p:cNvPr id="33" name="Group 32">
            <a:extLst>
              <a:ext uri="{FF2B5EF4-FFF2-40B4-BE49-F238E27FC236}">
                <a16:creationId xmlns:a16="http://schemas.microsoft.com/office/drawing/2014/main" id="{78B26D7C-9070-ED43-A85F-41B62D44C4CE}"/>
              </a:ext>
            </a:extLst>
          </p:cNvPr>
          <p:cNvGrpSpPr/>
          <p:nvPr/>
        </p:nvGrpSpPr>
        <p:grpSpPr>
          <a:xfrm>
            <a:off x="7628148" y="2608405"/>
            <a:ext cx="2979884" cy="1666833"/>
            <a:chOff x="7628148" y="2608405"/>
            <a:chExt cx="2979884" cy="1666833"/>
          </a:xfrm>
        </p:grpSpPr>
        <p:sp>
          <p:nvSpPr>
            <p:cNvPr id="30" name="Arc 29">
              <a:extLst>
                <a:ext uri="{FF2B5EF4-FFF2-40B4-BE49-F238E27FC236}">
                  <a16:creationId xmlns:a16="http://schemas.microsoft.com/office/drawing/2014/main" id="{B98C5A49-C3C4-0849-85AA-2B6A33F0206B}"/>
                </a:ext>
              </a:extLst>
            </p:cNvPr>
            <p:cNvSpPr/>
            <p:nvPr/>
          </p:nvSpPr>
          <p:spPr>
            <a:xfrm rot="16200000" flipH="1">
              <a:off x="8284673" y="1951880"/>
              <a:ext cx="1666833" cy="2979884"/>
            </a:xfrm>
            <a:prstGeom prst="arc">
              <a:avLst>
                <a:gd name="adj1" fmla="val 16200000"/>
                <a:gd name="adj2" fmla="val 5162693"/>
              </a:avLst>
            </a:prstGeom>
            <a:ln w="63500">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a:extLst>
                <a:ext uri="{FF2B5EF4-FFF2-40B4-BE49-F238E27FC236}">
                  <a16:creationId xmlns:a16="http://schemas.microsoft.com/office/drawing/2014/main" id="{9901DC47-9DD3-C846-AD8D-782C62462E2A}"/>
                </a:ext>
              </a:extLst>
            </p:cNvPr>
            <p:cNvSpPr txBox="1"/>
            <p:nvPr/>
          </p:nvSpPr>
          <p:spPr>
            <a:xfrm>
              <a:off x="8844268" y="3749216"/>
              <a:ext cx="606256" cy="461665"/>
            </a:xfrm>
            <a:prstGeom prst="rect">
              <a:avLst/>
            </a:prstGeom>
            <a:noFill/>
          </p:spPr>
          <p:txBody>
            <a:bodyPr wrap="none" rtlCol="0">
              <a:spAutoFit/>
            </a:bodyPr>
            <a:lstStyle/>
            <a:p>
              <a:r>
                <a:rPr lang="en-US" sz="2400" dirty="0"/>
                <a:t>bb’</a:t>
              </a:r>
            </a:p>
          </p:txBody>
        </p:sp>
      </p:grpSp>
      <p:pic>
        <p:nvPicPr>
          <p:cNvPr id="14" name="Picture 13">
            <a:extLst>
              <a:ext uri="{FF2B5EF4-FFF2-40B4-BE49-F238E27FC236}">
                <a16:creationId xmlns:a16="http://schemas.microsoft.com/office/drawing/2014/main" id="{DA852C2E-82AE-A048-8983-4ECD824F68D5}"/>
              </a:ext>
            </a:extLst>
          </p:cNvPr>
          <p:cNvPicPr>
            <a:picLocks noChangeAspect="1"/>
          </p:cNvPicPr>
          <p:nvPr/>
        </p:nvPicPr>
        <p:blipFill>
          <a:blip r:embed="rId3">
            <a:alphaModFix amt="20000"/>
          </a:blip>
          <a:stretch>
            <a:fillRect/>
          </a:stretch>
        </p:blipFill>
        <p:spPr>
          <a:xfrm>
            <a:off x="1802952" y="1459301"/>
            <a:ext cx="4278548" cy="1926972"/>
          </a:xfrm>
          <a:prstGeom prst="rect">
            <a:avLst/>
          </a:prstGeom>
          <a:effectLst>
            <a:glow rad="177800">
              <a:schemeClr val="bg1">
                <a:lumMod val="65000"/>
                <a:alpha val="40000"/>
              </a:schemeClr>
            </a:glow>
          </a:effectLst>
        </p:spPr>
      </p:pic>
      <p:sp>
        <p:nvSpPr>
          <p:cNvPr id="29" name="Slide Number Placeholder 2">
            <a:extLst>
              <a:ext uri="{FF2B5EF4-FFF2-40B4-BE49-F238E27FC236}">
                <a16:creationId xmlns:a16="http://schemas.microsoft.com/office/drawing/2014/main" id="{145F0D56-0A4F-0E43-9D0F-36D8EFEDE353}"/>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36</a:t>
            </a:fld>
            <a:endParaRPr lang="en-US" dirty="0"/>
          </a:p>
        </p:txBody>
      </p:sp>
      <p:pic>
        <p:nvPicPr>
          <p:cNvPr id="34" name="Picture 33">
            <a:extLst>
              <a:ext uri="{FF2B5EF4-FFF2-40B4-BE49-F238E27FC236}">
                <a16:creationId xmlns:a16="http://schemas.microsoft.com/office/drawing/2014/main" id="{FC7DE5F3-59FB-D74B-9508-E2E46D60B67E}"/>
              </a:ext>
            </a:extLst>
          </p:cNvPr>
          <p:cNvPicPr>
            <a:picLocks noChangeAspect="1"/>
          </p:cNvPicPr>
          <p:nvPr/>
        </p:nvPicPr>
        <p:blipFill>
          <a:blip r:embed="rId15"/>
          <a:stretch>
            <a:fillRect/>
          </a:stretch>
        </p:blipFill>
        <p:spPr>
          <a:xfrm>
            <a:off x="255526" y="1283243"/>
            <a:ext cx="1127257" cy="1736410"/>
          </a:xfrm>
          <a:prstGeom prst="rect">
            <a:avLst/>
          </a:prstGeom>
        </p:spPr>
      </p:pic>
      <p:pic>
        <p:nvPicPr>
          <p:cNvPr id="35" name="Picture 34">
            <a:extLst>
              <a:ext uri="{FF2B5EF4-FFF2-40B4-BE49-F238E27FC236}">
                <a16:creationId xmlns:a16="http://schemas.microsoft.com/office/drawing/2014/main" id="{B482C925-A399-8046-AB33-E84C4B11353A}"/>
              </a:ext>
            </a:extLst>
          </p:cNvPr>
          <p:cNvPicPr>
            <a:picLocks noChangeAspect="1"/>
          </p:cNvPicPr>
          <p:nvPr/>
        </p:nvPicPr>
        <p:blipFill>
          <a:blip r:embed="rId16"/>
          <a:stretch>
            <a:fillRect/>
          </a:stretch>
        </p:blipFill>
        <p:spPr>
          <a:xfrm>
            <a:off x="10548335" y="1236359"/>
            <a:ext cx="1358360" cy="2011974"/>
          </a:xfrm>
          <a:prstGeom prst="rect">
            <a:avLst/>
          </a:prstGeom>
        </p:spPr>
      </p:pic>
    </p:spTree>
    <p:extLst>
      <p:ext uri="{BB962C8B-B14F-4D97-AF65-F5344CB8AC3E}">
        <p14:creationId xmlns:p14="http://schemas.microsoft.com/office/powerpoint/2010/main" val="247520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linds(horizontal)">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63ABE6C8-2CAB-D646-B0A0-4DC0B0750E56}"/>
              </a:ext>
            </a:extLst>
          </p:cNvPr>
          <p:cNvSpPr/>
          <p:nvPr/>
        </p:nvSpPr>
        <p:spPr>
          <a:xfrm>
            <a:off x="1910440" y="4971717"/>
            <a:ext cx="8076523" cy="180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56C000A-5E60-344C-9D42-20755E0A24A7}"/>
              </a:ext>
            </a:extLst>
          </p:cNvPr>
          <p:cNvSpPr>
            <a:spLocks noGrp="1"/>
          </p:cNvSpPr>
          <p:nvPr>
            <p:ph type="title"/>
          </p:nvPr>
        </p:nvSpPr>
        <p:spPr/>
        <p:txBody>
          <a:bodyPr/>
          <a:lstStyle/>
          <a:p>
            <a:r>
              <a:rPr lang="en-ZA" dirty="0"/>
              <a:t>Entanglement Swapping Circuit</a:t>
            </a:r>
            <a:endParaRPr lang="en-US" dirty="0"/>
          </a:p>
        </p:txBody>
      </p:sp>
      <p:sp>
        <p:nvSpPr>
          <p:cNvPr id="52" name="Rectangle 51">
            <a:extLst>
              <a:ext uri="{FF2B5EF4-FFF2-40B4-BE49-F238E27FC236}">
                <a16:creationId xmlns:a16="http://schemas.microsoft.com/office/drawing/2014/main" id="{A7A56187-62A7-D844-95A7-9AC5873149C0}"/>
              </a:ext>
            </a:extLst>
          </p:cNvPr>
          <p:cNvSpPr/>
          <p:nvPr/>
        </p:nvSpPr>
        <p:spPr>
          <a:xfrm>
            <a:off x="1910440" y="908998"/>
            <a:ext cx="8076523" cy="180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D3E856D7-6850-B642-B158-EEEEA5B697CA}"/>
              </a:ext>
            </a:extLst>
          </p:cNvPr>
          <p:cNvCxnSpPr>
            <a:cxnSpLocks/>
          </p:cNvCxnSpPr>
          <p:nvPr/>
        </p:nvCxnSpPr>
        <p:spPr>
          <a:xfrm>
            <a:off x="3984421" y="1563055"/>
            <a:ext cx="0" cy="314867"/>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2D858F-8831-B94C-A19E-DC64A5BE84C5}"/>
              </a:ext>
            </a:extLst>
          </p:cNvPr>
          <p:cNvCxnSpPr>
            <a:cxnSpLocks/>
          </p:cNvCxnSpPr>
          <p:nvPr/>
        </p:nvCxnSpPr>
        <p:spPr>
          <a:xfrm>
            <a:off x="2488150" y="2241134"/>
            <a:ext cx="2216305" cy="198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55A03B1-5D7C-6C4D-A8C3-69A5D59E57D7}"/>
              </a:ext>
            </a:extLst>
          </p:cNvPr>
          <p:cNvCxnSpPr>
            <a:cxnSpLocks/>
          </p:cNvCxnSpPr>
          <p:nvPr/>
        </p:nvCxnSpPr>
        <p:spPr>
          <a:xfrm>
            <a:off x="2488149" y="1370786"/>
            <a:ext cx="79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3CD2715-89FC-B44C-83B2-C29D1A45080C}"/>
              </a:ext>
            </a:extLst>
          </p:cNvPr>
          <p:cNvSpPr/>
          <p:nvPr/>
        </p:nvSpPr>
        <p:spPr>
          <a:xfrm>
            <a:off x="3624154" y="1882395"/>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0" name="Oval 19">
            <a:extLst>
              <a:ext uri="{FF2B5EF4-FFF2-40B4-BE49-F238E27FC236}">
                <a16:creationId xmlns:a16="http://schemas.microsoft.com/office/drawing/2014/main" id="{05F7A40E-50EF-7C4D-BCCF-7B99700EA3E5}"/>
              </a:ext>
            </a:extLst>
          </p:cNvPr>
          <p:cNvSpPr>
            <a:spLocks noChangeAspect="1"/>
          </p:cNvSpPr>
          <p:nvPr/>
        </p:nvSpPr>
        <p:spPr>
          <a:xfrm>
            <a:off x="3804421" y="1207528"/>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22" name="Rectangle 21">
            <a:extLst>
              <a:ext uri="{FF2B5EF4-FFF2-40B4-BE49-F238E27FC236}">
                <a16:creationId xmlns:a16="http://schemas.microsoft.com/office/drawing/2014/main" id="{3ECD8F84-A5A9-C444-A642-279B35E29490}"/>
              </a:ext>
            </a:extLst>
          </p:cNvPr>
          <p:cNvSpPr/>
          <p:nvPr/>
        </p:nvSpPr>
        <p:spPr>
          <a:xfrm>
            <a:off x="2734682" y="101151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51" name="Slide Number Placeholder 2">
            <a:extLst>
              <a:ext uri="{FF2B5EF4-FFF2-40B4-BE49-F238E27FC236}">
                <a16:creationId xmlns:a16="http://schemas.microsoft.com/office/drawing/2014/main" id="{A84D91B3-BF44-E240-A238-ED5E0F7A0F6D}"/>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37</a:t>
            </a:fld>
            <a:endParaRPr lang="en-US" dirty="0"/>
          </a:p>
        </p:txBody>
      </p:sp>
      <p:cxnSp>
        <p:nvCxnSpPr>
          <p:cNvPr id="81" name="Straight Connector 80">
            <a:extLst>
              <a:ext uri="{FF2B5EF4-FFF2-40B4-BE49-F238E27FC236}">
                <a16:creationId xmlns:a16="http://schemas.microsoft.com/office/drawing/2014/main" id="{6AD1DFD8-12FD-5E4D-9737-A1ACDA40BCE6}"/>
              </a:ext>
            </a:extLst>
          </p:cNvPr>
          <p:cNvCxnSpPr>
            <a:cxnSpLocks/>
          </p:cNvCxnSpPr>
          <p:nvPr/>
        </p:nvCxnSpPr>
        <p:spPr>
          <a:xfrm>
            <a:off x="4009065" y="5625774"/>
            <a:ext cx="0" cy="314867"/>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13FE644-0EBB-8D4A-BF96-A71E5B4CF0AE}"/>
              </a:ext>
            </a:extLst>
          </p:cNvPr>
          <p:cNvCxnSpPr>
            <a:cxnSpLocks/>
          </p:cNvCxnSpPr>
          <p:nvPr/>
        </p:nvCxnSpPr>
        <p:spPr>
          <a:xfrm>
            <a:off x="2512794" y="6303852"/>
            <a:ext cx="79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B7102C3-EABB-A140-8CD9-2849FA37A02F}"/>
              </a:ext>
            </a:extLst>
          </p:cNvPr>
          <p:cNvCxnSpPr>
            <a:cxnSpLocks/>
          </p:cNvCxnSpPr>
          <p:nvPr/>
        </p:nvCxnSpPr>
        <p:spPr>
          <a:xfrm>
            <a:off x="2512793" y="5433505"/>
            <a:ext cx="2191662" cy="2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1ADAD02-8C9C-7845-8492-3B66C25DB7AE}"/>
              </a:ext>
            </a:extLst>
          </p:cNvPr>
          <p:cNvSpPr/>
          <p:nvPr/>
        </p:nvSpPr>
        <p:spPr>
          <a:xfrm>
            <a:off x="3648798" y="5945114"/>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5" name="Oval 84">
            <a:extLst>
              <a:ext uri="{FF2B5EF4-FFF2-40B4-BE49-F238E27FC236}">
                <a16:creationId xmlns:a16="http://schemas.microsoft.com/office/drawing/2014/main" id="{B4E9EA31-018B-F246-88B0-59E8F3F6BC12}"/>
              </a:ext>
            </a:extLst>
          </p:cNvPr>
          <p:cNvSpPr>
            <a:spLocks noChangeAspect="1"/>
          </p:cNvSpPr>
          <p:nvPr/>
        </p:nvSpPr>
        <p:spPr>
          <a:xfrm>
            <a:off x="3829065" y="5270247"/>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86" name="Rectangle 85">
            <a:extLst>
              <a:ext uri="{FF2B5EF4-FFF2-40B4-BE49-F238E27FC236}">
                <a16:creationId xmlns:a16="http://schemas.microsoft.com/office/drawing/2014/main" id="{BEDB90FB-D489-0B49-B2FD-38BABF489A4E}"/>
              </a:ext>
            </a:extLst>
          </p:cNvPr>
          <p:cNvSpPr/>
          <p:nvPr/>
        </p:nvSpPr>
        <p:spPr>
          <a:xfrm>
            <a:off x="2759326" y="507423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CEEA82BF-FC43-3240-B1F0-92AF185EA5F9}"/>
                  </a:ext>
                </a:extLst>
              </p:cNvPr>
              <p:cNvSpPr/>
              <p:nvPr/>
            </p:nvSpPr>
            <p:spPr>
              <a:xfrm>
                <a:off x="4730918" y="881363"/>
                <a:ext cx="4521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𝐴</m:t>
                      </m:r>
                    </m:oMath>
                  </m:oMathPara>
                </a14:m>
                <a:endParaRPr lang="en-US" sz="2400" dirty="0"/>
              </a:p>
            </p:txBody>
          </p:sp>
        </mc:Choice>
        <mc:Fallback xmlns="">
          <p:sp>
            <p:nvSpPr>
              <p:cNvPr id="112" name="Rectangle 111">
                <a:extLst>
                  <a:ext uri="{FF2B5EF4-FFF2-40B4-BE49-F238E27FC236}">
                    <a16:creationId xmlns:a16="http://schemas.microsoft.com/office/drawing/2014/main" id="{CEEA82BF-FC43-3240-B1F0-92AF185EA5F9}"/>
                  </a:ext>
                </a:extLst>
              </p:cNvPr>
              <p:cNvSpPr>
                <a:spLocks noRot="1" noChangeAspect="1" noMove="1" noResize="1" noEditPoints="1" noAdjustHandles="1" noChangeArrowheads="1" noChangeShapeType="1" noTextEdit="1"/>
              </p:cNvSpPr>
              <p:nvPr/>
            </p:nvSpPr>
            <p:spPr>
              <a:xfrm>
                <a:off x="4730918" y="881363"/>
                <a:ext cx="452175"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Rectangle 112">
                <a:extLst>
                  <a:ext uri="{FF2B5EF4-FFF2-40B4-BE49-F238E27FC236}">
                    <a16:creationId xmlns:a16="http://schemas.microsoft.com/office/drawing/2014/main" id="{14CA7811-B0BB-7F46-923F-A8892F845BF6}"/>
                  </a:ext>
                </a:extLst>
              </p:cNvPr>
              <p:cNvSpPr/>
              <p:nvPr/>
            </p:nvSpPr>
            <p:spPr>
              <a:xfrm>
                <a:off x="4692349" y="1947361"/>
                <a:ext cx="5293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113" name="Rectangle 112">
                <a:extLst>
                  <a:ext uri="{FF2B5EF4-FFF2-40B4-BE49-F238E27FC236}">
                    <a16:creationId xmlns:a16="http://schemas.microsoft.com/office/drawing/2014/main" id="{14CA7811-B0BB-7F46-923F-A8892F845BF6}"/>
                  </a:ext>
                </a:extLst>
              </p:cNvPr>
              <p:cNvSpPr>
                <a:spLocks noRot="1" noChangeAspect="1" noMove="1" noResize="1" noEditPoints="1" noAdjustHandles="1" noChangeArrowheads="1" noChangeShapeType="1" noTextEdit="1"/>
              </p:cNvSpPr>
              <p:nvPr/>
            </p:nvSpPr>
            <p:spPr>
              <a:xfrm>
                <a:off x="4692349" y="1947361"/>
                <a:ext cx="52931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03BBAE1B-7DB6-D745-BAE0-CE5F6F9B5ED8}"/>
                  </a:ext>
                </a:extLst>
              </p:cNvPr>
              <p:cNvSpPr/>
              <p:nvPr/>
            </p:nvSpPr>
            <p:spPr>
              <a:xfrm>
                <a:off x="4725083" y="6262888"/>
                <a:ext cx="46384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𝐵</m:t>
                      </m:r>
                    </m:oMath>
                  </m:oMathPara>
                </a14:m>
                <a:endParaRPr lang="en-US" sz="2400" dirty="0"/>
              </a:p>
            </p:txBody>
          </p:sp>
        </mc:Choice>
        <mc:Fallback xmlns="">
          <p:sp>
            <p:nvSpPr>
              <p:cNvPr id="53" name="Rectangle 52">
                <a:extLst>
                  <a:ext uri="{FF2B5EF4-FFF2-40B4-BE49-F238E27FC236}">
                    <a16:creationId xmlns:a16="http://schemas.microsoft.com/office/drawing/2014/main" id="{03BBAE1B-7DB6-D745-BAE0-CE5F6F9B5ED8}"/>
                  </a:ext>
                </a:extLst>
              </p:cNvPr>
              <p:cNvSpPr>
                <a:spLocks noRot="1" noChangeAspect="1" noMove="1" noResize="1" noEditPoints="1" noAdjustHandles="1" noChangeArrowheads="1" noChangeShapeType="1" noTextEdit="1"/>
              </p:cNvSpPr>
              <p:nvPr/>
            </p:nvSpPr>
            <p:spPr>
              <a:xfrm>
                <a:off x="4725083" y="6262888"/>
                <a:ext cx="463845"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CEBF9525-D0DE-B748-AC7A-E86B7FA30BB1}"/>
                  </a:ext>
                </a:extLst>
              </p:cNvPr>
              <p:cNvSpPr/>
              <p:nvPr/>
            </p:nvSpPr>
            <p:spPr>
              <a:xfrm>
                <a:off x="4689143" y="5029093"/>
                <a:ext cx="53572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𝐵</m:t>
                      </m:r>
                      <m:r>
                        <a:rPr lang="en-US" sz="2400" b="0" i="1" smtClean="0">
                          <a:solidFill>
                            <a:srgbClr val="002060"/>
                          </a:solidFill>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4" name="Rectangle 53">
                <a:extLst>
                  <a:ext uri="{FF2B5EF4-FFF2-40B4-BE49-F238E27FC236}">
                    <a16:creationId xmlns:a16="http://schemas.microsoft.com/office/drawing/2014/main" id="{CEBF9525-D0DE-B748-AC7A-E86B7FA30BB1}"/>
                  </a:ext>
                </a:extLst>
              </p:cNvPr>
              <p:cNvSpPr>
                <a:spLocks noRot="1" noChangeAspect="1" noMove="1" noResize="1" noEditPoints="1" noAdjustHandles="1" noChangeArrowheads="1" noChangeShapeType="1" noTextEdit="1"/>
              </p:cNvSpPr>
              <p:nvPr/>
            </p:nvSpPr>
            <p:spPr>
              <a:xfrm>
                <a:off x="4689143" y="5029093"/>
                <a:ext cx="535724" cy="461665"/>
              </a:xfrm>
              <a:prstGeom prst="rect">
                <a:avLst/>
              </a:prstGeom>
              <a:blipFill>
                <a:blip r:embed="rId10"/>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E6671586-F47A-DA4B-AD4E-18130DE8F692}"/>
              </a:ext>
            </a:extLst>
          </p:cNvPr>
          <p:cNvGrpSpPr/>
          <p:nvPr/>
        </p:nvGrpSpPr>
        <p:grpSpPr>
          <a:xfrm>
            <a:off x="7526585" y="1370786"/>
            <a:ext cx="3481244" cy="5286780"/>
            <a:chOff x="7526585" y="1370786"/>
            <a:chExt cx="3481244" cy="5286780"/>
          </a:xfrm>
        </p:grpSpPr>
        <p:grpSp>
          <p:nvGrpSpPr>
            <p:cNvPr id="6" name="Group 5">
              <a:extLst>
                <a:ext uri="{FF2B5EF4-FFF2-40B4-BE49-F238E27FC236}">
                  <a16:creationId xmlns:a16="http://schemas.microsoft.com/office/drawing/2014/main" id="{D999BB19-FC9C-3743-B65D-64D3C453F520}"/>
                </a:ext>
              </a:extLst>
            </p:cNvPr>
            <p:cNvGrpSpPr/>
            <p:nvPr/>
          </p:nvGrpSpPr>
          <p:grpSpPr>
            <a:xfrm>
              <a:off x="7526585" y="1370786"/>
              <a:ext cx="3309984" cy="5286780"/>
              <a:chOff x="7526585" y="1370786"/>
              <a:chExt cx="3309984" cy="5286780"/>
            </a:xfrm>
          </p:grpSpPr>
          <p:grpSp>
            <p:nvGrpSpPr>
              <p:cNvPr id="110" name="Group 109">
                <a:extLst>
                  <a:ext uri="{FF2B5EF4-FFF2-40B4-BE49-F238E27FC236}">
                    <a16:creationId xmlns:a16="http://schemas.microsoft.com/office/drawing/2014/main" id="{38819FA9-BF95-6547-9D05-19F25AA045E7}"/>
                  </a:ext>
                </a:extLst>
              </p:cNvPr>
              <p:cNvGrpSpPr/>
              <p:nvPr/>
            </p:nvGrpSpPr>
            <p:grpSpPr>
              <a:xfrm>
                <a:off x="7526585" y="5930872"/>
                <a:ext cx="1836937" cy="726694"/>
                <a:chOff x="6644830" y="5930872"/>
                <a:chExt cx="1836937" cy="726694"/>
              </a:xfrm>
            </p:grpSpPr>
            <p:sp>
              <p:nvSpPr>
                <p:cNvPr id="102" name="Oval 101">
                  <a:extLst>
                    <a:ext uri="{FF2B5EF4-FFF2-40B4-BE49-F238E27FC236}">
                      <a16:creationId xmlns:a16="http://schemas.microsoft.com/office/drawing/2014/main" id="{36F1E57F-B3A2-504D-B3BF-7BBE6C47EFB9}"/>
                    </a:ext>
                  </a:extLst>
                </p:cNvPr>
                <p:cNvSpPr/>
                <p:nvPr/>
              </p:nvSpPr>
              <p:spPr>
                <a:xfrm>
                  <a:off x="6644830" y="5930872"/>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5" name="Rectangle 14">
                  <a:extLst>
                    <a:ext uri="{FF2B5EF4-FFF2-40B4-BE49-F238E27FC236}">
                      <a16:creationId xmlns:a16="http://schemas.microsoft.com/office/drawing/2014/main" id="{E05396EE-13BB-B946-88D2-0A8670083B4F}"/>
                    </a:ext>
                  </a:extLst>
                </p:cNvPr>
                <p:cNvSpPr/>
                <p:nvPr/>
              </p:nvSpPr>
              <p:spPr>
                <a:xfrm>
                  <a:off x="7761767" y="593756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grpSp>
          <p:pic>
            <p:nvPicPr>
              <p:cNvPr id="55" name="Picture 54">
                <a:extLst>
                  <a:ext uri="{FF2B5EF4-FFF2-40B4-BE49-F238E27FC236}">
                    <a16:creationId xmlns:a16="http://schemas.microsoft.com/office/drawing/2014/main" id="{A7D61345-DE09-3A4B-BD36-FE6716670F13}"/>
                  </a:ext>
                </a:extLst>
              </p:cNvPr>
              <p:cNvPicPr>
                <a:picLocks noChangeAspect="1"/>
              </p:cNvPicPr>
              <p:nvPr/>
            </p:nvPicPr>
            <p:blipFill>
              <a:blip r:embed="rId11">
                <a:alphaModFix amt="20000"/>
              </a:blip>
              <a:stretch>
                <a:fillRect/>
              </a:stretch>
            </p:blipFill>
            <p:spPr>
              <a:xfrm rot="5400000">
                <a:off x="9590106" y="3548132"/>
                <a:ext cx="1700931" cy="791994"/>
              </a:xfrm>
              <a:prstGeom prst="rect">
                <a:avLst/>
              </a:prstGeom>
              <a:effectLst>
                <a:glow rad="177800">
                  <a:schemeClr val="accent1">
                    <a:alpha val="40000"/>
                  </a:schemeClr>
                </a:glow>
              </a:effectLst>
            </p:spPr>
          </p:pic>
          <p:cxnSp>
            <p:nvCxnSpPr>
              <p:cNvPr id="3" name="Straight Connector 2">
                <a:extLst>
                  <a:ext uri="{FF2B5EF4-FFF2-40B4-BE49-F238E27FC236}">
                    <a16:creationId xmlns:a16="http://schemas.microsoft.com/office/drawing/2014/main" id="{60F3CBE8-DAE2-874F-9140-659E09C7A1B1}"/>
                  </a:ext>
                </a:extLst>
              </p:cNvPr>
              <p:cNvCxnSpPr>
                <a:cxnSpLocks/>
              </p:cNvCxnSpPr>
              <p:nvPr/>
            </p:nvCxnSpPr>
            <p:spPr>
              <a:xfrm flipH="1">
                <a:off x="10407360" y="1370786"/>
                <a:ext cx="789" cy="2064779"/>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6C0ADE-5C6A-5444-8D09-04525245200E}"/>
                  </a:ext>
                </a:extLst>
              </p:cNvPr>
              <p:cNvCxnSpPr>
                <a:cxnSpLocks/>
              </p:cNvCxnSpPr>
              <p:nvPr/>
            </p:nvCxnSpPr>
            <p:spPr>
              <a:xfrm flipH="1">
                <a:off x="10440572" y="4244641"/>
                <a:ext cx="789" cy="2064779"/>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5C10DBF4-F222-294C-9FB1-54191C4BB10C}"/>
                    </a:ext>
                  </a:extLst>
                </p:cNvPr>
                <p:cNvSpPr/>
                <p:nvPr/>
              </p:nvSpPr>
              <p:spPr>
                <a:xfrm>
                  <a:off x="10347264" y="2500841"/>
                  <a:ext cx="660565"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𝐴</m:t>
                        </m:r>
                      </m:oMath>
                    </m:oMathPara>
                  </a14:m>
                  <a:endParaRPr lang="en-US" sz="2400" dirty="0"/>
                </a:p>
              </p:txBody>
            </p:sp>
          </mc:Choice>
          <mc:Fallback xmlns="">
            <p:sp>
              <p:nvSpPr>
                <p:cNvPr id="57" name="Rectangle 56">
                  <a:extLst>
                    <a:ext uri="{FF2B5EF4-FFF2-40B4-BE49-F238E27FC236}">
                      <a16:creationId xmlns:a16="http://schemas.microsoft.com/office/drawing/2014/main" id="{5C10DBF4-F222-294C-9FB1-54191C4BB10C}"/>
                    </a:ext>
                  </a:extLst>
                </p:cNvPr>
                <p:cNvSpPr>
                  <a:spLocks noRot="1" noChangeAspect="1" noMove="1" noResize="1" noEditPoints="1" noAdjustHandles="1" noChangeArrowheads="1" noChangeShapeType="1" noTextEdit="1"/>
                </p:cNvSpPr>
                <p:nvPr/>
              </p:nvSpPr>
              <p:spPr>
                <a:xfrm>
                  <a:off x="10347264" y="2500841"/>
                  <a:ext cx="660565"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Rectangle 57">
                  <a:extLst>
                    <a:ext uri="{FF2B5EF4-FFF2-40B4-BE49-F238E27FC236}">
                      <a16:creationId xmlns:a16="http://schemas.microsoft.com/office/drawing/2014/main" id="{710600F6-C506-DE4C-B840-EC9EF91931E5}"/>
                    </a:ext>
                  </a:extLst>
                </p:cNvPr>
                <p:cNvSpPr/>
                <p:nvPr/>
              </p:nvSpPr>
              <p:spPr>
                <a:xfrm>
                  <a:off x="10407360" y="4876152"/>
                  <a:ext cx="502263"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sr-Latn-RS" sz="2400" i="1" smtClean="0">
                            <a:solidFill>
                              <a:srgbClr val="002060"/>
                            </a:solidFill>
                            <a:latin typeface="Cambria Math" panose="02040503050406030204" pitchFamily="18" charset="0"/>
                            <a:ea typeface="Cambria Math" panose="02040503050406030204" pitchFamily="18" charset="0"/>
                          </a:rPr>
                          <m:t>𝐵</m:t>
                        </m:r>
                      </m:oMath>
                    </m:oMathPara>
                  </a14:m>
                  <a:endParaRPr lang="en-US" sz="2400" dirty="0"/>
                </a:p>
              </p:txBody>
            </p:sp>
          </mc:Choice>
          <mc:Fallback>
            <p:sp>
              <p:nvSpPr>
                <p:cNvPr id="58" name="Rectangle 57">
                  <a:extLst>
                    <a:ext uri="{FF2B5EF4-FFF2-40B4-BE49-F238E27FC236}">
                      <a16:creationId xmlns:a16="http://schemas.microsoft.com/office/drawing/2014/main" id="{710600F6-C506-DE4C-B840-EC9EF91931E5}"/>
                    </a:ext>
                  </a:extLst>
                </p:cNvPr>
                <p:cNvSpPr>
                  <a:spLocks noRot="1" noChangeAspect="1" noMove="1" noResize="1" noEditPoints="1" noAdjustHandles="1" noChangeArrowheads="1" noChangeShapeType="1" noTextEdit="1"/>
                </p:cNvSpPr>
                <p:nvPr/>
              </p:nvSpPr>
              <p:spPr>
                <a:xfrm>
                  <a:off x="10407360" y="4876152"/>
                  <a:ext cx="502263" cy="461665"/>
                </a:xfrm>
                <a:prstGeom prst="rect">
                  <a:avLst/>
                </a:prstGeom>
                <a:blipFill>
                  <a:blip r:embed="rId13"/>
                  <a:stretch>
                    <a:fillRect/>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29783ED7-0156-1E41-B49A-718A09B04607}"/>
              </a:ext>
            </a:extLst>
          </p:cNvPr>
          <p:cNvGrpSpPr/>
          <p:nvPr/>
        </p:nvGrpSpPr>
        <p:grpSpPr>
          <a:xfrm>
            <a:off x="4368798" y="2235938"/>
            <a:ext cx="5310040" cy="3701628"/>
            <a:chOff x="4368798" y="2235938"/>
            <a:chExt cx="5310040" cy="3701628"/>
          </a:xfrm>
        </p:grpSpPr>
        <p:grpSp>
          <p:nvGrpSpPr>
            <p:cNvPr id="109" name="Group 108">
              <a:extLst>
                <a:ext uri="{FF2B5EF4-FFF2-40B4-BE49-F238E27FC236}">
                  <a16:creationId xmlns:a16="http://schemas.microsoft.com/office/drawing/2014/main" id="{7CC829EA-AF0A-CD42-B4CE-2319173CDE6B}"/>
                </a:ext>
              </a:extLst>
            </p:cNvPr>
            <p:cNvGrpSpPr/>
            <p:nvPr/>
          </p:nvGrpSpPr>
          <p:grpSpPr>
            <a:xfrm>
              <a:off x="4704455" y="2235938"/>
              <a:ext cx="4658401" cy="3701628"/>
              <a:chOff x="3822700" y="2235938"/>
              <a:chExt cx="4658401" cy="3701628"/>
            </a:xfrm>
          </p:grpSpPr>
          <p:cxnSp>
            <p:nvCxnSpPr>
              <p:cNvPr id="25" name="Straight Connector 24">
                <a:extLst>
                  <a:ext uri="{FF2B5EF4-FFF2-40B4-BE49-F238E27FC236}">
                    <a16:creationId xmlns:a16="http://schemas.microsoft.com/office/drawing/2014/main" id="{5540182F-0BDA-5244-AADF-7D0ADC92F48F}"/>
                  </a:ext>
                </a:extLst>
              </p:cNvPr>
              <p:cNvCxnSpPr>
                <a:cxnSpLocks/>
                <a:stCxn id="43" idx="2"/>
                <a:endCxn id="102" idx="0"/>
              </p:cNvCxnSpPr>
              <p:nvPr/>
            </p:nvCxnSpPr>
            <p:spPr>
              <a:xfrm>
                <a:off x="7004830" y="3787457"/>
                <a:ext cx="0" cy="2143415"/>
              </a:xfrm>
              <a:prstGeom prst="line">
                <a:avLst/>
              </a:prstGeom>
              <a:ln w="25400">
                <a:solidFill>
                  <a:schemeClr val="bg1">
                    <a:lumMod val="50000"/>
                  </a:schemeClr>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18F3BFD-AEA0-4A4B-9D94-ECDC511EFDED}"/>
                  </a:ext>
                </a:extLst>
              </p:cNvPr>
              <p:cNvCxnSpPr>
                <a:cxnSpLocks/>
                <a:stCxn id="47" idx="2"/>
                <a:endCxn id="15" idx="0"/>
              </p:cNvCxnSpPr>
              <p:nvPr/>
            </p:nvCxnSpPr>
            <p:spPr>
              <a:xfrm>
                <a:off x="8121101" y="4664129"/>
                <a:ext cx="666" cy="1273437"/>
              </a:xfrm>
              <a:prstGeom prst="line">
                <a:avLst/>
              </a:prstGeom>
              <a:ln w="25400">
                <a:solidFill>
                  <a:schemeClr val="bg1">
                    <a:lumMod val="50000"/>
                  </a:schemeClr>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108" name="Group 107">
                <a:extLst>
                  <a:ext uri="{FF2B5EF4-FFF2-40B4-BE49-F238E27FC236}">
                    <a16:creationId xmlns:a16="http://schemas.microsoft.com/office/drawing/2014/main" id="{ACAE3E67-0EB4-CB44-9911-CCFC2CAC4990}"/>
                  </a:ext>
                </a:extLst>
              </p:cNvPr>
              <p:cNvGrpSpPr/>
              <p:nvPr/>
            </p:nvGrpSpPr>
            <p:grpSpPr>
              <a:xfrm>
                <a:off x="3822700" y="2235938"/>
                <a:ext cx="4658401" cy="3197589"/>
                <a:chOff x="3822700" y="2235938"/>
                <a:chExt cx="4658401" cy="3197589"/>
              </a:xfrm>
            </p:grpSpPr>
            <p:cxnSp>
              <p:nvCxnSpPr>
                <p:cNvPr id="73" name="Straight Connector 72">
                  <a:extLst>
                    <a:ext uri="{FF2B5EF4-FFF2-40B4-BE49-F238E27FC236}">
                      <a16:creationId xmlns:a16="http://schemas.microsoft.com/office/drawing/2014/main" id="{A08A2AC2-1560-E44C-BB19-4AFF5611860D}"/>
                    </a:ext>
                  </a:extLst>
                </p:cNvPr>
                <p:cNvCxnSpPr>
                  <a:cxnSpLocks/>
                  <a:endCxn id="47" idx="1"/>
                </p:cNvCxnSpPr>
                <p:nvPr/>
              </p:nvCxnSpPr>
              <p:spPr>
                <a:xfrm flipV="1">
                  <a:off x="3822700" y="4304129"/>
                  <a:ext cx="3938401"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D62542D-8357-3248-B9F7-5665112C246F}"/>
                    </a:ext>
                  </a:extLst>
                </p:cNvPr>
                <p:cNvCxnSpPr>
                  <a:cxnSpLocks/>
                  <a:endCxn id="43" idx="1"/>
                </p:cNvCxnSpPr>
                <p:nvPr/>
              </p:nvCxnSpPr>
              <p:spPr>
                <a:xfrm>
                  <a:off x="3822700" y="3413618"/>
                  <a:ext cx="282213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B77118A-016B-E04D-9ACC-9F53B6FD993C}"/>
                    </a:ext>
                  </a:extLst>
                </p:cNvPr>
                <p:cNvCxnSpPr>
                  <a:cxnSpLocks/>
                  <a:endCxn id="75" idx="0"/>
                </p:cNvCxnSpPr>
                <p:nvPr/>
              </p:nvCxnSpPr>
              <p:spPr>
                <a:xfrm flipH="1">
                  <a:off x="4578972" y="3615103"/>
                  <a:ext cx="268" cy="335384"/>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36AE9B2F-02CA-784E-A387-8949060921B3}"/>
                    </a:ext>
                  </a:extLst>
                </p:cNvPr>
                <p:cNvSpPr/>
                <p:nvPr/>
              </p:nvSpPr>
              <p:spPr>
                <a:xfrm>
                  <a:off x="4218972" y="3950487"/>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6" name="Oval 75">
                  <a:extLst>
                    <a:ext uri="{FF2B5EF4-FFF2-40B4-BE49-F238E27FC236}">
                      <a16:creationId xmlns:a16="http://schemas.microsoft.com/office/drawing/2014/main" id="{B1AB0EF5-4753-F74B-855C-635ED8296C2D}"/>
                    </a:ext>
                  </a:extLst>
                </p:cNvPr>
                <p:cNvSpPr>
                  <a:spLocks noChangeAspect="1"/>
                </p:cNvSpPr>
                <p:nvPr/>
              </p:nvSpPr>
              <p:spPr>
                <a:xfrm>
                  <a:off x="4399239" y="3255565"/>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77" name="Rectangle 76">
                  <a:extLst>
                    <a:ext uri="{FF2B5EF4-FFF2-40B4-BE49-F238E27FC236}">
                      <a16:creationId xmlns:a16="http://schemas.microsoft.com/office/drawing/2014/main" id="{BF875ECF-BC63-BE4B-BD03-4980D9C2FD7F}"/>
                    </a:ext>
                  </a:extLst>
                </p:cNvPr>
                <p:cNvSpPr/>
                <p:nvPr/>
              </p:nvSpPr>
              <p:spPr>
                <a:xfrm>
                  <a:off x="5397561" y="3066770"/>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42" name="Group 41">
                  <a:extLst>
                    <a:ext uri="{FF2B5EF4-FFF2-40B4-BE49-F238E27FC236}">
                      <a16:creationId xmlns:a16="http://schemas.microsoft.com/office/drawing/2014/main" id="{C1A680FD-1F9C-1F44-8FAE-9C29A2156C2F}"/>
                    </a:ext>
                  </a:extLst>
                </p:cNvPr>
                <p:cNvGrpSpPr/>
                <p:nvPr/>
              </p:nvGrpSpPr>
              <p:grpSpPr>
                <a:xfrm>
                  <a:off x="6644830" y="3067457"/>
                  <a:ext cx="720000" cy="807700"/>
                  <a:chOff x="6128687" y="2341797"/>
                  <a:chExt cx="720000" cy="807700"/>
                </a:xfrm>
              </p:grpSpPr>
              <p:sp>
                <p:nvSpPr>
                  <p:cNvPr id="43" name="Rectangle 42">
                    <a:extLst>
                      <a:ext uri="{FF2B5EF4-FFF2-40B4-BE49-F238E27FC236}">
                        <a16:creationId xmlns:a16="http://schemas.microsoft.com/office/drawing/2014/main" id="{D800D664-DA26-3246-900C-931093689208}"/>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4" name="Arc 43">
                    <a:extLst>
                      <a:ext uri="{FF2B5EF4-FFF2-40B4-BE49-F238E27FC236}">
                        <a16:creationId xmlns:a16="http://schemas.microsoft.com/office/drawing/2014/main" id="{1D46F481-6D2B-CF4C-BE07-43B0376FA1C4}"/>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85AAFBCA-8803-0B48-B8FD-742E441991AB}"/>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13D8DC80-829B-3545-845F-477405162545}"/>
                    </a:ext>
                  </a:extLst>
                </p:cNvPr>
                <p:cNvGrpSpPr/>
                <p:nvPr/>
              </p:nvGrpSpPr>
              <p:grpSpPr>
                <a:xfrm>
                  <a:off x="7761101" y="3944129"/>
                  <a:ext cx="720000" cy="807700"/>
                  <a:chOff x="6128687" y="2341797"/>
                  <a:chExt cx="720000" cy="807700"/>
                </a:xfrm>
              </p:grpSpPr>
              <p:sp>
                <p:nvSpPr>
                  <p:cNvPr id="47" name="Rectangle 46">
                    <a:extLst>
                      <a:ext uri="{FF2B5EF4-FFF2-40B4-BE49-F238E27FC236}">
                        <a16:creationId xmlns:a16="http://schemas.microsoft.com/office/drawing/2014/main" id="{CC314756-D88F-C34B-82EA-574C6EB3F2FC}"/>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8" name="Arc 47">
                    <a:extLst>
                      <a:ext uri="{FF2B5EF4-FFF2-40B4-BE49-F238E27FC236}">
                        <a16:creationId xmlns:a16="http://schemas.microsoft.com/office/drawing/2014/main" id="{46F94D5C-FEE6-C84D-A577-E9BAB5503A06}"/>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E29F5AC5-55D7-4149-847B-11C19F59583A}"/>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cxnSp>
              <p:nvCxnSpPr>
                <p:cNvPr id="91" name="Straight Connector 90">
                  <a:extLst>
                    <a:ext uri="{FF2B5EF4-FFF2-40B4-BE49-F238E27FC236}">
                      <a16:creationId xmlns:a16="http://schemas.microsoft.com/office/drawing/2014/main" id="{9F79B68E-0DE0-1B49-A412-5C944D723546}"/>
                    </a:ext>
                  </a:extLst>
                </p:cNvPr>
                <p:cNvCxnSpPr>
                  <a:cxnSpLocks/>
                </p:cNvCxnSpPr>
                <p:nvPr/>
              </p:nvCxnSpPr>
              <p:spPr>
                <a:xfrm>
                  <a:off x="3822700" y="2235938"/>
                  <a:ext cx="0" cy="1191519"/>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811E723-EDE9-F547-9A82-A74CFDAC3EFC}"/>
                    </a:ext>
                  </a:extLst>
                </p:cNvPr>
                <p:cNvCxnSpPr>
                  <a:cxnSpLocks/>
                </p:cNvCxnSpPr>
                <p:nvPr/>
              </p:nvCxnSpPr>
              <p:spPr>
                <a:xfrm>
                  <a:off x="3822700" y="4303654"/>
                  <a:ext cx="0" cy="1129873"/>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
          <p:nvSpPr>
            <p:cNvPr id="2" name="Rectangle 1">
              <a:extLst>
                <a:ext uri="{FF2B5EF4-FFF2-40B4-BE49-F238E27FC236}">
                  <a16:creationId xmlns:a16="http://schemas.microsoft.com/office/drawing/2014/main" id="{F5467941-601E-2443-9B4C-00F573DB86D2}"/>
                </a:ext>
              </a:extLst>
            </p:cNvPr>
            <p:cNvSpPr/>
            <p:nvPr/>
          </p:nvSpPr>
          <p:spPr>
            <a:xfrm>
              <a:off x="4368798" y="2962506"/>
              <a:ext cx="5310040" cy="183208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9" name="Picture 58">
            <a:extLst>
              <a:ext uri="{FF2B5EF4-FFF2-40B4-BE49-F238E27FC236}">
                <a16:creationId xmlns:a16="http://schemas.microsoft.com/office/drawing/2014/main" id="{00B02571-7219-B740-8768-94BF02D665F4}"/>
              </a:ext>
            </a:extLst>
          </p:cNvPr>
          <p:cNvPicPr>
            <a:picLocks noChangeAspect="1"/>
          </p:cNvPicPr>
          <p:nvPr/>
        </p:nvPicPr>
        <p:blipFill>
          <a:blip r:embed="rId14"/>
          <a:stretch>
            <a:fillRect/>
          </a:stretch>
        </p:blipFill>
        <p:spPr>
          <a:xfrm>
            <a:off x="787813" y="1080584"/>
            <a:ext cx="762326" cy="1174276"/>
          </a:xfrm>
          <a:prstGeom prst="rect">
            <a:avLst/>
          </a:prstGeom>
        </p:spPr>
      </p:pic>
      <p:pic>
        <p:nvPicPr>
          <p:cNvPr id="60" name="Picture 59">
            <a:extLst>
              <a:ext uri="{FF2B5EF4-FFF2-40B4-BE49-F238E27FC236}">
                <a16:creationId xmlns:a16="http://schemas.microsoft.com/office/drawing/2014/main" id="{B427A8C7-143F-4D41-87FD-2829346AE23F}"/>
              </a:ext>
            </a:extLst>
          </p:cNvPr>
          <p:cNvPicPr>
            <a:picLocks noChangeAspect="1"/>
          </p:cNvPicPr>
          <p:nvPr/>
        </p:nvPicPr>
        <p:blipFill>
          <a:blip r:embed="rId15"/>
          <a:stretch>
            <a:fillRect/>
          </a:stretch>
        </p:blipFill>
        <p:spPr>
          <a:xfrm>
            <a:off x="627918" y="5191402"/>
            <a:ext cx="918613" cy="1360630"/>
          </a:xfrm>
          <a:prstGeom prst="rect">
            <a:avLst/>
          </a:prstGeom>
        </p:spPr>
      </p:pic>
    </p:spTree>
    <p:extLst>
      <p:ext uri="{BB962C8B-B14F-4D97-AF65-F5344CB8AC3E}">
        <p14:creationId xmlns:p14="http://schemas.microsoft.com/office/powerpoint/2010/main" val="258424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C000A-5E60-344C-9D42-20755E0A24A7}"/>
              </a:ext>
            </a:extLst>
          </p:cNvPr>
          <p:cNvSpPr>
            <a:spLocks noGrp="1"/>
          </p:cNvSpPr>
          <p:nvPr>
            <p:ph type="title"/>
          </p:nvPr>
        </p:nvSpPr>
        <p:spPr/>
        <p:txBody>
          <a:bodyPr/>
          <a:lstStyle/>
          <a:p>
            <a:r>
              <a:rPr lang="en-ZA" dirty="0"/>
              <a:t>Entanglement Swapping Analysis</a:t>
            </a:r>
            <a:endParaRPr lang="en-US" dirty="0"/>
          </a:p>
        </p:txBody>
      </p:sp>
      <p:sp>
        <p:nvSpPr>
          <p:cNvPr id="51" name="Slide Number Placeholder 2">
            <a:extLst>
              <a:ext uri="{FF2B5EF4-FFF2-40B4-BE49-F238E27FC236}">
                <a16:creationId xmlns:a16="http://schemas.microsoft.com/office/drawing/2014/main" id="{A84D91B3-BF44-E240-A238-ED5E0F7A0F6D}"/>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38</a:t>
            </a:fld>
            <a:endParaRPr lang="en-US" dirty="0"/>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C63AD63-0114-2747-9D06-022CC72738F1}"/>
                  </a:ext>
                </a:extLst>
              </p:cNvPr>
              <p:cNvSpPr/>
              <p:nvPr/>
            </p:nvSpPr>
            <p:spPr>
              <a:xfrm>
                <a:off x="287938" y="5964562"/>
                <a:ext cx="11252248" cy="613886"/>
              </a:xfrm>
              <a:prstGeom prst="rect">
                <a:avLst/>
              </a:prstGeom>
            </p:spPr>
            <p:txBody>
              <a:bodyPr wrap="none">
                <a:spAutoFit/>
              </a:bodyPr>
              <a:lstStyle/>
              <a:p>
                <a14:m>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b="0" i="1" smtClean="0">
                            <a:solidFill>
                              <a:srgbClr val="002060"/>
                            </a:solidFill>
                            <a:latin typeface="Cambria Math" panose="02040503050406030204" pitchFamily="18" charset="0"/>
                            <a:ea typeface="Cambria Math" panose="02040503050406030204" pitchFamily="18" charset="0"/>
                          </a:rPr>
                        </m:ctrlPr>
                      </m:fPr>
                      <m:num>
                        <m:r>
                          <a:rPr lang="en-US" sz="2400" b="0" i="1" smtClean="0">
                            <a:solidFill>
                              <a:srgbClr val="002060"/>
                            </a:solidFill>
                            <a:latin typeface="Cambria Math" panose="02040503050406030204" pitchFamily="18" charset="0"/>
                            <a:ea typeface="Cambria Math" panose="02040503050406030204" pitchFamily="18" charset="0"/>
                          </a:rPr>
                          <m:t>1</m:t>
                        </m:r>
                      </m:num>
                      <m:den>
                        <m:r>
                          <a:rPr lang="en-US" sz="2400" b="0" i="1" smtClean="0">
                            <a:solidFill>
                              <a:srgbClr val="002060"/>
                            </a:solidFill>
                            <a:latin typeface="Cambria Math" panose="02040503050406030204" pitchFamily="18" charset="0"/>
                            <a:ea typeface="Cambria Math" panose="02040503050406030204" pitchFamily="18" charset="0"/>
                          </a:rPr>
                          <m:t>2</m:t>
                        </m:r>
                      </m:den>
                    </m:f>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e>
                      <m:sub>
                        <m:r>
                          <a:rPr lang="en-US" sz="2400" b="0" i="1" smtClean="0">
                            <a:solidFill>
                              <a:srgbClr val="002060"/>
                            </a:solidFill>
                            <a:latin typeface="Cambria Math" panose="02040503050406030204" pitchFamily="18" charset="0"/>
                            <a:ea typeface="Cambria Math" panose="02040503050406030204" pitchFamily="18" charset="0"/>
                          </a:rPr>
                          <m:t>𝐴</m:t>
                        </m:r>
                        <m:r>
                          <a:rPr lang="en-US" sz="2400" i="1" smtClean="0">
                            <a:solidFill>
                              <a:srgbClr val="002060"/>
                            </a:solidFill>
                            <a:latin typeface="Cambria Math" panose="02040503050406030204" pitchFamily="18" charset="0"/>
                            <a:ea typeface="Cambria Math" panose="02040503050406030204" pitchFamily="18" charset="0"/>
                          </a:rPr>
                          <m:t>𝐵</m:t>
                        </m:r>
                      </m:sub>
                    </m:sSub>
                    <m:sSub>
                      <m:sSubPr>
                        <m:ctrlPr>
                          <a:rPr lang="en-US" sz="2400" i="1" smtClean="0">
                            <a:solidFill>
                              <a:srgbClr val="FF0000"/>
                            </a:solidFill>
                            <a:latin typeface="Cambria Math" panose="02040503050406030204" pitchFamily="18" charset="0"/>
                            <a:ea typeface="Cambria Math" panose="02040503050406030204" pitchFamily="18" charset="0"/>
                          </a:rPr>
                        </m:ctrlPr>
                      </m:sSubPr>
                      <m:e>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𝐵</m:t>
                                </m:r>
                              </m:e>
                              <m:sub>
                                <m:r>
                                  <a:rPr lang="en-US" sz="2400" i="1">
                                    <a:solidFill>
                                      <a:srgbClr val="FF0000"/>
                                    </a:solidFill>
                                    <a:latin typeface="Cambria Math" panose="02040503050406030204" pitchFamily="18" charset="0"/>
                                    <a:ea typeface="Cambria Math" panose="02040503050406030204" pitchFamily="18" charset="0"/>
                                  </a:rPr>
                                  <m:t>00</m:t>
                                </m:r>
                              </m:sub>
                            </m:sSub>
                          </m:e>
                        </m:d>
                      </m:e>
                      <m:sub>
                        <m:sSup>
                          <m:sSupPr>
                            <m:ctrlPr>
                              <a:rPr lang="en-US" sz="2400" b="0" i="1" smtClean="0">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𝐴</m:t>
                            </m:r>
                          </m:e>
                          <m:sup>
                            <m:r>
                              <a:rPr lang="en-US" sz="2400" b="0" i="1" smtClean="0">
                                <a:solidFill>
                                  <a:srgbClr val="FF0000"/>
                                </a:solidFill>
                                <a:latin typeface="Cambria Math" panose="02040503050406030204" pitchFamily="18" charset="0"/>
                                <a:ea typeface="Cambria Math" panose="02040503050406030204" pitchFamily="18" charset="0"/>
                              </a:rPr>
                              <m:t>′</m:t>
                            </m:r>
                          </m:sup>
                        </m:sSup>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𝐵</m:t>
                            </m:r>
                          </m:e>
                          <m:sup>
                            <m:r>
                              <a:rPr lang="en-US" sz="2400" i="1">
                                <a:solidFill>
                                  <a:srgbClr val="FF0000"/>
                                </a:solidFill>
                                <a:latin typeface="Cambria Math" panose="02040503050406030204" pitchFamily="18" charset="0"/>
                                <a:ea typeface="Cambria Math" panose="02040503050406030204" pitchFamily="18" charset="0"/>
                              </a:rPr>
                              <m:t>′</m:t>
                            </m:r>
                          </m:sup>
                        </m:sSup>
                      </m:sub>
                    </m:sSub>
                  </m:oMath>
                </a14:m>
                <a:r>
                  <a:rPr lang="en-US" sz="2400" dirty="0"/>
                  <a:t>+</a:t>
                </a:r>
                <a:r>
                  <a:rPr lang="en-US" sz="2400" dirty="0">
                    <a:solidFill>
                      <a:srgbClr val="002060"/>
                    </a:solidFill>
                    <a:ea typeface="Cambria Math" panose="02040503050406030204" pitchFamily="18" charset="0"/>
                  </a:rPr>
                  <a:t> </a:t>
                </a:r>
                <a14:m>
                  <m:oMath xmlns:m="http://schemas.openxmlformats.org/officeDocument/2006/math">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01</m:t>
                                </m:r>
                              </m:sub>
                            </m:sSub>
                          </m:e>
                        </m:d>
                      </m:e>
                      <m:sub>
                        <m:r>
                          <a:rPr lang="en-US" sz="2400" i="1">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𝐵</m:t>
                        </m:r>
                      </m:sub>
                    </m:sSub>
                    <m:sSub>
                      <m:sSubPr>
                        <m:ctrlPr>
                          <a:rPr lang="en-US" sz="2400" i="1" smtClean="0">
                            <a:solidFill>
                              <a:srgbClr val="FF0000"/>
                            </a:solidFill>
                            <a:latin typeface="Cambria Math" panose="02040503050406030204" pitchFamily="18" charset="0"/>
                            <a:ea typeface="Cambria Math" panose="02040503050406030204" pitchFamily="18" charset="0"/>
                          </a:rPr>
                        </m:ctrlPr>
                      </m:sSubPr>
                      <m:e>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𝐵</m:t>
                                </m:r>
                              </m:e>
                              <m:sub>
                                <m:r>
                                  <a:rPr lang="en-US" sz="2400" i="1">
                                    <a:solidFill>
                                      <a:srgbClr val="FF0000"/>
                                    </a:solidFill>
                                    <a:latin typeface="Cambria Math" panose="02040503050406030204" pitchFamily="18" charset="0"/>
                                    <a:ea typeface="Cambria Math" panose="02040503050406030204" pitchFamily="18" charset="0"/>
                                  </a:rPr>
                                  <m:t>0</m:t>
                                </m:r>
                                <m:r>
                                  <a:rPr lang="en-US" sz="2400" b="0" i="1" smtClean="0">
                                    <a:solidFill>
                                      <a:srgbClr val="FF0000"/>
                                    </a:solidFill>
                                    <a:latin typeface="Cambria Math" panose="02040503050406030204" pitchFamily="18" charset="0"/>
                                    <a:ea typeface="Cambria Math" panose="02040503050406030204" pitchFamily="18" charset="0"/>
                                  </a:rPr>
                                  <m:t>1</m:t>
                                </m:r>
                              </m:sub>
                            </m:sSub>
                          </m:e>
                        </m:d>
                      </m:e>
                      <m:sub>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𝐴</m:t>
                            </m:r>
                          </m:e>
                          <m:sup>
                            <m:r>
                              <a:rPr lang="en-US" sz="2400" i="1">
                                <a:solidFill>
                                  <a:srgbClr val="FF0000"/>
                                </a:solidFill>
                                <a:latin typeface="Cambria Math" panose="02040503050406030204" pitchFamily="18" charset="0"/>
                                <a:ea typeface="Cambria Math" panose="02040503050406030204" pitchFamily="18" charset="0"/>
                              </a:rPr>
                              <m:t>′</m:t>
                            </m:r>
                          </m:sup>
                        </m:sSup>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𝐵</m:t>
                            </m:r>
                          </m:e>
                          <m:sup>
                            <m:r>
                              <a:rPr lang="en-US" sz="2400" i="1">
                                <a:solidFill>
                                  <a:srgbClr val="FF0000"/>
                                </a:solidFill>
                                <a:latin typeface="Cambria Math" panose="02040503050406030204" pitchFamily="18" charset="0"/>
                                <a:ea typeface="Cambria Math" panose="02040503050406030204" pitchFamily="18" charset="0"/>
                              </a:rPr>
                              <m:t>′</m:t>
                            </m:r>
                          </m:sup>
                        </m:sSup>
                      </m:sub>
                    </m:sSub>
                  </m:oMath>
                </a14:m>
                <a:r>
                  <a:rPr lang="en-US" sz="2400" dirty="0"/>
                  <a:t>+</a:t>
                </a:r>
                <a:r>
                  <a:rPr lang="en-US" sz="2400" dirty="0">
                    <a:solidFill>
                      <a:srgbClr val="002060"/>
                    </a:solidFill>
                    <a:ea typeface="Cambria Math" panose="02040503050406030204" pitchFamily="18" charset="0"/>
                  </a:rPr>
                  <a:t> </a:t>
                </a:r>
                <a14:m>
                  <m:oMath xmlns:m="http://schemas.openxmlformats.org/officeDocument/2006/math">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0</m:t>
                                </m:r>
                              </m:sub>
                            </m:sSub>
                          </m:e>
                        </m:d>
                      </m:e>
                      <m:sub>
                        <m:r>
                          <a:rPr lang="en-US" sz="2400" i="1">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𝐵</m:t>
                        </m:r>
                      </m:sub>
                    </m:sSub>
                    <m:sSub>
                      <m:sSubPr>
                        <m:ctrlPr>
                          <a:rPr lang="en-US" sz="2400" i="1" smtClean="0">
                            <a:solidFill>
                              <a:srgbClr val="FF0000"/>
                            </a:solidFill>
                            <a:latin typeface="Cambria Math" panose="02040503050406030204" pitchFamily="18" charset="0"/>
                            <a:ea typeface="Cambria Math" panose="02040503050406030204" pitchFamily="18" charset="0"/>
                          </a:rPr>
                        </m:ctrlPr>
                      </m:sSubPr>
                      <m:e>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𝐵</m:t>
                                </m:r>
                              </m:e>
                              <m:sub>
                                <m:r>
                                  <a:rPr lang="en-US" sz="2400" b="0" i="1" smtClean="0">
                                    <a:solidFill>
                                      <a:srgbClr val="FF0000"/>
                                    </a:solidFill>
                                    <a:latin typeface="Cambria Math" panose="02040503050406030204" pitchFamily="18" charset="0"/>
                                    <a:ea typeface="Cambria Math" panose="02040503050406030204" pitchFamily="18" charset="0"/>
                                  </a:rPr>
                                  <m:t>1</m:t>
                                </m:r>
                                <m:r>
                                  <a:rPr lang="en-US" sz="2400" i="1">
                                    <a:solidFill>
                                      <a:srgbClr val="FF0000"/>
                                    </a:solidFill>
                                    <a:latin typeface="Cambria Math" panose="02040503050406030204" pitchFamily="18" charset="0"/>
                                    <a:ea typeface="Cambria Math" panose="02040503050406030204" pitchFamily="18" charset="0"/>
                                  </a:rPr>
                                  <m:t>0</m:t>
                                </m:r>
                              </m:sub>
                            </m:sSub>
                          </m:e>
                        </m:d>
                      </m:e>
                      <m:sub>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𝐴</m:t>
                            </m:r>
                          </m:e>
                          <m:sup>
                            <m:r>
                              <a:rPr lang="en-US" sz="2400" i="1">
                                <a:solidFill>
                                  <a:srgbClr val="FF0000"/>
                                </a:solidFill>
                                <a:latin typeface="Cambria Math" panose="02040503050406030204" pitchFamily="18" charset="0"/>
                                <a:ea typeface="Cambria Math" panose="02040503050406030204" pitchFamily="18" charset="0"/>
                              </a:rPr>
                              <m:t>′</m:t>
                            </m:r>
                          </m:sup>
                        </m:sSup>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𝐵</m:t>
                            </m:r>
                          </m:e>
                          <m:sup>
                            <m:r>
                              <a:rPr lang="en-US" sz="2400" i="1">
                                <a:solidFill>
                                  <a:srgbClr val="FF0000"/>
                                </a:solidFill>
                                <a:latin typeface="Cambria Math" panose="02040503050406030204" pitchFamily="18" charset="0"/>
                                <a:ea typeface="Cambria Math" panose="02040503050406030204" pitchFamily="18" charset="0"/>
                              </a:rPr>
                              <m:t>′</m:t>
                            </m:r>
                          </m:sup>
                        </m:sSup>
                      </m:sub>
                    </m:sSub>
                  </m:oMath>
                </a14:m>
                <a:r>
                  <a:rPr lang="en-US" sz="2400" dirty="0"/>
                  <a:t>+</a:t>
                </a:r>
                <a:r>
                  <a:rPr lang="en-US" sz="2400" dirty="0">
                    <a:solidFill>
                      <a:srgbClr val="002060"/>
                    </a:solidFill>
                    <a:ea typeface="Cambria Math" panose="02040503050406030204" pitchFamily="18" charset="0"/>
                  </a:rPr>
                  <a:t> </a:t>
                </a:r>
                <a14:m>
                  <m:oMath xmlns:m="http://schemas.openxmlformats.org/officeDocument/2006/math">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11</m:t>
                                </m:r>
                              </m:sub>
                            </m:sSub>
                          </m:e>
                        </m:d>
                      </m:e>
                      <m:sub>
                        <m:r>
                          <a:rPr lang="en-US" sz="2400" i="1">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𝐵</m:t>
                        </m:r>
                      </m:sub>
                    </m:sSub>
                    <m:sSub>
                      <m:sSubPr>
                        <m:ctrlPr>
                          <a:rPr lang="en-US" sz="2400" i="1" smtClean="0">
                            <a:solidFill>
                              <a:srgbClr val="FF0000"/>
                            </a:solidFill>
                            <a:latin typeface="Cambria Math" panose="02040503050406030204" pitchFamily="18" charset="0"/>
                            <a:ea typeface="Cambria Math" panose="02040503050406030204" pitchFamily="18" charset="0"/>
                          </a:rPr>
                        </m:ctrlPr>
                      </m:sSubPr>
                      <m:e>
                        <m:d>
                          <m:dPr>
                            <m:begChr m:val=""/>
                            <m:endChr m:val="⟩"/>
                            <m:ctrlPr>
                              <a:rPr lang="en-US" sz="2400" i="1">
                                <a:solidFill>
                                  <a:srgbClr val="FF0000"/>
                                </a:solidFill>
                                <a:latin typeface="Cambria Math" panose="02040503050406030204" pitchFamily="18" charset="0"/>
                                <a:ea typeface="Cambria Math" panose="02040503050406030204" pitchFamily="18" charset="0"/>
                              </a:rPr>
                            </m:ctrlPr>
                          </m:dPr>
                          <m:e>
                            <m:r>
                              <a:rPr lang="en-US" sz="2400" i="1">
                                <a:solidFill>
                                  <a:srgbClr val="FF000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𝐵</m:t>
                                </m:r>
                              </m:e>
                              <m:sub>
                                <m:r>
                                  <a:rPr lang="en-US" sz="2400" b="0" i="1" smtClean="0">
                                    <a:solidFill>
                                      <a:srgbClr val="FF0000"/>
                                    </a:solidFill>
                                    <a:latin typeface="Cambria Math" panose="02040503050406030204" pitchFamily="18" charset="0"/>
                                    <a:ea typeface="Cambria Math" panose="02040503050406030204" pitchFamily="18" charset="0"/>
                                  </a:rPr>
                                  <m:t>11</m:t>
                                </m:r>
                              </m:sub>
                            </m:sSub>
                          </m:e>
                        </m:d>
                      </m:e>
                      <m:sub>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𝐴</m:t>
                            </m:r>
                          </m:e>
                          <m:sup>
                            <m:r>
                              <a:rPr lang="en-US" sz="2400" i="1">
                                <a:solidFill>
                                  <a:srgbClr val="FF0000"/>
                                </a:solidFill>
                                <a:latin typeface="Cambria Math" panose="02040503050406030204" pitchFamily="18" charset="0"/>
                                <a:ea typeface="Cambria Math" panose="02040503050406030204" pitchFamily="18" charset="0"/>
                              </a:rPr>
                              <m:t>′</m:t>
                            </m:r>
                          </m:sup>
                        </m:sSup>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𝐵</m:t>
                            </m:r>
                          </m:e>
                          <m:sup>
                            <m:r>
                              <a:rPr lang="en-US" sz="2400" i="1">
                                <a:solidFill>
                                  <a:srgbClr val="FF0000"/>
                                </a:solidFill>
                                <a:latin typeface="Cambria Math" panose="02040503050406030204" pitchFamily="18" charset="0"/>
                                <a:ea typeface="Cambria Math" panose="02040503050406030204" pitchFamily="18" charset="0"/>
                              </a:rPr>
                              <m:t>′</m:t>
                            </m:r>
                          </m:sup>
                        </m:sSup>
                      </m:sub>
                    </m:sSub>
                  </m:oMath>
                </a14:m>
                <a:endParaRPr lang="en-US" sz="2400" dirty="0"/>
              </a:p>
            </p:txBody>
          </p:sp>
        </mc:Choice>
        <mc:Fallback xmlns="">
          <p:sp>
            <p:nvSpPr>
              <p:cNvPr id="9" name="Rectangle 8">
                <a:extLst>
                  <a:ext uri="{FF2B5EF4-FFF2-40B4-BE49-F238E27FC236}">
                    <a16:creationId xmlns:a16="http://schemas.microsoft.com/office/drawing/2014/main" id="{AC63AD63-0114-2747-9D06-022CC72738F1}"/>
                  </a:ext>
                </a:extLst>
              </p:cNvPr>
              <p:cNvSpPr>
                <a:spLocks noRot="1" noChangeAspect="1" noMove="1" noResize="1" noEditPoints="1" noAdjustHandles="1" noChangeArrowheads="1" noChangeShapeType="1" noTextEdit="1"/>
              </p:cNvSpPr>
              <p:nvPr/>
            </p:nvSpPr>
            <p:spPr>
              <a:xfrm>
                <a:off x="287938" y="5964562"/>
                <a:ext cx="11252248" cy="613886"/>
              </a:xfrm>
              <a:prstGeom prst="rect">
                <a:avLst/>
              </a:prstGeom>
              <a:blipFill>
                <a:blip r:embed="rId3"/>
                <a:stretch>
                  <a:fillRect l="-451" t="-81633" b="-132653"/>
                </a:stretch>
              </a:blipFill>
            </p:spPr>
            <p:txBody>
              <a:bodyPr/>
              <a:lstStyle/>
              <a:p>
                <a:r>
                  <a:rPr lang="en-US">
                    <a:noFill/>
                  </a:rPr>
                  <a:t> </a:t>
                </a:r>
              </a:p>
            </p:txBody>
          </p:sp>
        </mc:Fallback>
      </mc:AlternateContent>
      <p:sp>
        <p:nvSpPr>
          <p:cNvPr id="60" name="Rectangle 59">
            <a:extLst>
              <a:ext uri="{FF2B5EF4-FFF2-40B4-BE49-F238E27FC236}">
                <a16:creationId xmlns:a16="http://schemas.microsoft.com/office/drawing/2014/main" id="{4E4AB63B-EE2E-194F-A329-7F3687E75B24}"/>
              </a:ext>
            </a:extLst>
          </p:cNvPr>
          <p:cNvSpPr/>
          <p:nvPr/>
        </p:nvSpPr>
        <p:spPr>
          <a:xfrm>
            <a:off x="6792295" y="2845156"/>
            <a:ext cx="4988589" cy="112435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F6AAFD7-A302-6C46-948C-6CD542D16BFB}"/>
              </a:ext>
            </a:extLst>
          </p:cNvPr>
          <p:cNvSpPr/>
          <p:nvPr/>
        </p:nvSpPr>
        <p:spPr>
          <a:xfrm>
            <a:off x="6778675" y="512845"/>
            <a:ext cx="5002210" cy="112435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D3E856D7-6850-B642-B158-EEEEA5B697CA}"/>
              </a:ext>
            </a:extLst>
          </p:cNvPr>
          <p:cNvCxnSpPr>
            <a:cxnSpLocks/>
          </p:cNvCxnSpPr>
          <p:nvPr/>
        </p:nvCxnSpPr>
        <p:spPr>
          <a:xfrm>
            <a:off x="7796373" y="946714"/>
            <a:ext cx="0" cy="174015"/>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2D858F-8831-B94C-A19E-DC64A5BE84C5}"/>
              </a:ext>
            </a:extLst>
          </p:cNvPr>
          <p:cNvCxnSpPr>
            <a:cxnSpLocks/>
          </p:cNvCxnSpPr>
          <p:nvPr/>
        </p:nvCxnSpPr>
        <p:spPr>
          <a:xfrm>
            <a:off x="6969440" y="1321463"/>
            <a:ext cx="1224868" cy="109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55A03B1-5D7C-6C4D-A8C3-69A5D59E57D7}"/>
              </a:ext>
            </a:extLst>
          </p:cNvPr>
          <p:cNvCxnSpPr>
            <a:cxnSpLocks/>
          </p:cNvCxnSpPr>
          <p:nvPr/>
        </p:nvCxnSpPr>
        <p:spPr>
          <a:xfrm>
            <a:off x="6969440" y="840455"/>
            <a:ext cx="4377085"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3CD2715-89FC-B44C-83B2-C29D1A45080C}"/>
              </a:ext>
            </a:extLst>
          </p:cNvPr>
          <p:cNvSpPr/>
          <p:nvPr/>
        </p:nvSpPr>
        <p:spPr>
          <a:xfrm>
            <a:off x="7597267" y="1123202"/>
            <a:ext cx="397917" cy="397917"/>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20" name="Oval 19">
            <a:extLst>
              <a:ext uri="{FF2B5EF4-FFF2-40B4-BE49-F238E27FC236}">
                <a16:creationId xmlns:a16="http://schemas.microsoft.com/office/drawing/2014/main" id="{05F7A40E-50EF-7C4D-BCCF-7B99700EA3E5}"/>
              </a:ext>
            </a:extLst>
          </p:cNvPr>
          <p:cNvSpPr>
            <a:spLocks noChangeAspect="1"/>
          </p:cNvSpPr>
          <p:nvPr/>
        </p:nvSpPr>
        <p:spPr>
          <a:xfrm>
            <a:off x="7696894" y="750228"/>
            <a:ext cx="198958" cy="198958"/>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22" name="Rectangle 21">
            <a:extLst>
              <a:ext uri="{FF2B5EF4-FFF2-40B4-BE49-F238E27FC236}">
                <a16:creationId xmlns:a16="http://schemas.microsoft.com/office/drawing/2014/main" id="{3ECD8F84-A5A9-C444-A642-279B35E29490}"/>
              </a:ext>
            </a:extLst>
          </p:cNvPr>
          <p:cNvSpPr/>
          <p:nvPr/>
        </p:nvSpPr>
        <p:spPr>
          <a:xfrm>
            <a:off x="7105690" y="641898"/>
            <a:ext cx="397917" cy="397917"/>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pitchFamily="2" charset="0"/>
              </a:rPr>
              <a:t>H</a:t>
            </a:r>
          </a:p>
        </p:txBody>
      </p:sp>
      <p:cxnSp>
        <p:nvCxnSpPr>
          <p:cNvPr id="81" name="Straight Connector 80">
            <a:extLst>
              <a:ext uri="{FF2B5EF4-FFF2-40B4-BE49-F238E27FC236}">
                <a16:creationId xmlns:a16="http://schemas.microsoft.com/office/drawing/2014/main" id="{6AD1DFD8-12FD-5E4D-9737-A1ACDA40BCE6}"/>
              </a:ext>
            </a:extLst>
          </p:cNvPr>
          <p:cNvCxnSpPr>
            <a:cxnSpLocks/>
          </p:cNvCxnSpPr>
          <p:nvPr/>
        </p:nvCxnSpPr>
        <p:spPr>
          <a:xfrm>
            <a:off x="7809993" y="3192026"/>
            <a:ext cx="0" cy="174015"/>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13FE644-0EBB-8D4A-BF96-A71E5B4CF0AE}"/>
              </a:ext>
            </a:extLst>
          </p:cNvPr>
          <p:cNvCxnSpPr>
            <a:cxnSpLocks/>
          </p:cNvCxnSpPr>
          <p:nvPr/>
        </p:nvCxnSpPr>
        <p:spPr>
          <a:xfrm>
            <a:off x="6983060" y="3566774"/>
            <a:ext cx="4377085"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B7102C3-EABB-A140-8CD9-2849FA37A02F}"/>
              </a:ext>
            </a:extLst>
          </p:cNvPr>
          <p:cNvCxnSpPr>
            <a:cxnSpLocks/>
          </p:cNvCxnSpPr>
          <p:nvPr/>
        </p:nvCxnSpPr>
        <p:spPr>
          <a:xfrm>
            <a:off x="6983060" y="3085765"/>
            <a:ext cx="1211249" cy="1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1ADAD02-8C9C-7845-8492-3B66C25DB7AE}"/>
              </a:ext>
            </a:extLst>
          </p:cNvPr>
          <p:cNvSpPr/>
          <p:nvPr/>
        </p:nvSpPr>
        <p:spPr>
          <a:xfrm>
            <a:off x="7610887" y="3368513"/>
            <a:ext cx="397917" cy="397917"/>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85" name="Oval 84">
            <a:extLst>
              <a:ext uri="{FF2B5EF4-FFF2-40B4-BE49-F238E27FC236}">
                <a16:creationId xmlns:a16="http://schemas.microsoft.com/office/drawing/2014/main" id="{B4E9EA31-018B-F246-88B0-59E8F3F6BC12}"/>
              </a:ext>
            </a:extLst>
          </p:cNvPr>
          <p:cNvSpPr>
            <a:spLocks noChangeAspect="1"/>
          </p:cNvSpPr>
          <p:nvPr/>
        </p:nvSpPr>
        <p:spPr>
          <a:xfrm>
            <a:off x="7710514" y="2995539"/>
            <a:ext cx="198958" cy="198958"/>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86" name="Rectangle 85">
            <a:extLst>
              <a:ext uri="{FF2B5EF4-FFF2-40B4-BE49-F238E27FC236}">
                <a16:creationId xmlns:a16="http://schemas.microsoft.com/office/drawing/2014/main" id="{BEDB90FB-D489-0B49-B2FD-38BABF489A4E}"/>
              </a:ext>
            </a:extLst>
          </p:cNvPr>
          <p:cNvSpPr/>
          <p:nvPr/>
        </p:nvSpPr>
        <p:spPr>
          <a:xfrm>
            <a:off x="7119310" y="2887210"/>
            <a:ext cx="397917" cy="397917"/>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pitchFamily="2" charset="0"/>
              </a:rPr>
              <a:t>H</a:t>
            </a:r>
          </a:p>
        </p:txBody>
      </p:sp>
      <p:cxnSp>
        <p:nvCxnSpPr>
          <p:cNvPr id="91" name="Straight Connector 90">
            <a:extLst>
              <a:ext uri="{FF2B5EF4-FFF2-40B4-BE49-F238E27FC236}">
                <a16:creationId xmlns:a16="http://schemas.microsoft.com/office/drawing/2014/main" id="{9F79B68E-0DE0-1B49-A412-5C944D723546}"/>
              </a:ext>
            </a:extLst>
          </p:cNvPr>
          <p:cNvCxnSpPr>
            <a:cxnSpLocks/>
          </p:cNvCxnSpPr>
          <p:nvPr/>
        </p:nvCxnSpPr>
        <p:spPr>
          <a:xfrm>
            <a:off x="8194308" y="1318591"/>
            <a:ext cx="0" cy="658507"/>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811E723-EDE9-F547-9A82-A74CFDAC3EFC}"/>
              </a:ext>
            </a:extLst>
          </p:cNvPr>
          <p:cNvCxnSpPr>
            <a:cxnSpLocks/>
          </p:cNvCxnSpPr>
          <p:nvPr/>
        </p:nvCxnSpPr>
        <p:spPr>
          <a:xfrm>
            <a:off x="8194308" y="2461340"/>
            <a:ext cx="0" cy="62443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B1823DD5-2676-8F4B-B1B4-E6C860A85686}"/>
                  </a:ext>
                </a:extLst>
              </p:cNvPr>
              <p:cNvSpPr/>
              <p:nvPr/>
            </p:nvSpPr>
            <p:spPr>
              <a:xfrm>
                <a:off x="8128117" y="318990"/>
                <a:ext cx="511475" cy="5222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𝐴</m:t>
                      </m:r>
                    </m:oMath>
                  </m:oMathPara>
                </a14:m>
                <a:endParaRPr lang="en-US" sz="2400" dirty="0"/>
              </a:p>
            </p:txBody>
          </p:sp>
        </mc:Choice>
        <mc:Fallback xmlns="">
          <p:sp>
            <p:nvSpPr>
              <p:cNvPr id="62" name="Rectangle 61">
                <a:extLst>
                  <a:ext uri="{FF2B5EF4-FFF2-40B4-BE49-F238E27FC236}">
                    <a16:creationId xmlns:a16="http://schemas.microsoft.com/office/drawing/2014/main" id="{B1823DD5-2676-8F4B-B1B4-E6C860A85686}"/>
                  </a:ext>
                </a:extLst>
              </p:cNvPr>
              <p:cNvSpPr>
                <a:spLocks noRot="1" noChangeAspect="1" noMove="1" noResize="1" noEditPoints="1" noAdjustHandles="1" noChangeArrowheads="1" noChangeShapeType="1" noTextEdit="1"/>
              </p:cNvSpPr>
              <p:nvPr/>
            </p:nvSpPr>
            <p:spPr>
              <a:xfrm>
                <a:off x="8128117" y="318990"/>
                <a:ext cx="511475" cy="5222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913BFE03-EB81-2047-893C-A5379978BF39}"/>
                  </a:ext>
                </a:extLst>
              </p:cNvPr>
              <p:cNvSpPr/>
              <p:nvPr/>
            </p:nvSpPr>
            <p:spPr>
              <a:xfrm>
                <a:off x="8130839" y="1227657"/>
                <a:ext cx="598727" cy="5222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𝐴</m:t>
                      </m:r>
                      <m:r>
                        <a:rPr lang="en-US" sz="2400" b="0" i="1" smtClean="0">
                          <a:solidFill>
                            <a:srgbClr val="002060"/>
                          </a:solidFill>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63" name="Rectangle 62">
                <a:extLst>
                  <a:ext uri="{FF2B5EF4-FFF2-40B4-BE49-F238E27FC236}">
                    <a16:creationId xmlns:a16="http://schemas.microsoft.com/office/drawing/2014/main" id="{913BFE03-EB81-2047-893C-A5379978BF39}"/>
                  </a:ext>
                </a:extLst>
              </p:cNvPr>
              <p:cNvSpPr>
                <a:spLocks noRot="1" noChangeAspect="1" noMove="1" noResize="1" noEditPoints="1" noAdjustHandles="1" noChangeArrowheads="1" noChangeShapeType="1" noTextEdit="1"/>
              </p:cNvSpPr>
              <p:nvPr/>
            </p:nvSpPr>
            <p:spPr>
              <a:xfrm>
                <a:off x="8130839" y="1227657"/>
                <a:ext cx="598727" cy="52220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9E1FF7E6-E021-3340-9D38-43C5A7D868F7}"/>
                  </a:ext>
                </a:extLst>
              </p:cNvPr>
              <p:cNvSpPr/>
              <p:nvPr/>
            </p:nvSpPr>
            <p:spPr>
              <a:xfrm>
                <a:off x="8125020" y="3497454"/>
                <a:ext cx="524675" cy="5222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𝐵</m:t>
                      </m:r>
                    </m:oMath>
                  </m:oMathPara>
                </a14:m>
                <a:endParaRPr lang="en-US" sz="2400" dirty="0"/>
              </a:p>
            </p:txBody>
          </p:sp>
        </mc:Choice>
        <mc:Fallback xmlns="">
          <p:sp>
            <p:nvSpPr>
              <p:cNvPr id="64" name="Rectangle 63">
                <a:extLst>
                  <a:ext uri="{FF2B5EF4-FFF2-40B4-BE49-F238E27FC236}">
                    <a16:creationId xmlns:a16="http://schemas.microsoft.com/office/drawing/2014/main" id="{9E1FF7E6-E021-3340-9D38-43C5A7D868F7}"/>
                  </a:ext>
                </a:extLst>
              </p:cNvPr>
              <p:cNvSpPr>
                <a:spLocks noRot="1" noChangeAspect="1" noMove="1" noResize="1" noEditPoints="1" noAdjustHandles="1" noChangeArrowheads="1" noChangeShapeType="1" noTextEdit="1"/>
              </p:cNvSpPr>
              <p:nvPr/>
            </p:nvSpPr>
            <p:spPr>
              <a:xfrm>
                <a:off x="8125020" y="3497454"/>
                <a:ext cx="524675" cy="52220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57A9383B-CD14-1747-A265-A3E2487CE4D3}"/>
                  </a:ext>
                </a:extLst>
              </p:cNvPr>
              <p:cNvSpPr/>
              <p:nvPr/>
            </p:nvSpPr>
            <p:spPr>
              <a:xfrm>
                <a:off x="8164660" y="2768350"/>
                <a:ext cx="605980" cy="5222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𝐵</m:t>
                      </m:r>
                      <m:r>
                        <a:rPr lang="en-US" sz="2400" b="0" i="1" smtClean="0">
                          <a:solidFill>
                            <a:srgbClr val="002060"/>
                          </a:solidFill>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65" name="Rectangle 64">
                <a:extLst>
                  <a:ext uri="{FF2B5EF4-FFF2-40B4-BE49-F238E27FC236}">
                    <a16:creationId xmlns:a16="http://schemas.microsoft.com/office/drawing/2014/main" id="{57A9383B-CD14-1747-A265-A3E2487CE4D3}"/>
                  </a:ext>
                </a:extLst>
              </p:cNvPr>
              <p:cNvSpPr>
                <a:spLocks noRot="1" noChangeAspect="1" noMove="1" noResize="1" noEditPoints="1" noAdjustHandles="1" noChangeArrowheads="1" noChangeShapeType="1" noTextEdit="1"/>
              </p:cNvSpPr>
              <p:nvPr/>
            </p:nvSpPr>
            <p:spPr>
              <a:xfrm>
                <a:off x="8164660" y="2768350"/>
                <a:ext cx="605980" cy="522209"/>
              </a:xfrm>
              <a:prstGeom prst="rect">
                <a:avLst/>
              </a:prstGeom>
              <a:blipFill>
                <a:blip r:embed="rId7"/>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90052BC1-A595-2347-97F0-FFAE4676B43E}"/>
              </a:ext>
            </a:extLst>
          </p:cNvPr>
          <p:cNvCxnSpPr>
            <a:cxnSpLocks/>
          </p:cNvCxnSpPr>
          <p:nvPr/>
        </p:nvCxnSpPr>
        <p:spPr>
          <a:xfrm flipH="1">
            <a:off x="8075993" y="455277"/>
            <a:ext cx="0" cy="371376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1AB932D-06F4-6349-9EBD-A15C11376D32}"/>
              </a:ext>
            </a:extLst>
          </p:cNvPr>
          <p:cNvGrpSpPr/>
          <p:nvPr/>
        </p:nvGrpSpPr>
        <p:grpSpPr>
          <a:xfrm>
            <a:off x="8194308" y="1777760"/>
            <a:ext cx="2960686" cy="1984499"/>
            <a:chOff x="1527404" y="2097845"/>
            <a:chExt cx="2617429" cy="1754419"/>
          </a:xfrm>
        </p:grpSpPr>
        <p:cxnSp>
          <p:nvCxnSpPr>
            <p:cNvPr id="25" name="Straight Connector 24">
              <a:extLst>
                <a:ext uri="{FF2B5EF4-FFF2-40B4-BE49-F238E27FC236}">
                  <a16:creationId xmlns:a16="http://schemas.microsoft.com/office/drawing/2014/main" id="{5540182F-0BDA-5244-AADF-7D0ADC92F48F}"/>
                </a:ext>
              </a:extLst>
            </p:cNvPr>
            <p:cNvCxnSpPr>
              <a:cxnSpLocks/>
              <a:stCxn id="43" idx="2"/>
              <a:endCxn id="102" idx="0"/>
            </p:cNvCxnSpPr>
            <p:nvPr/>
          </p:nvCxnSpPr>
          <p:spPr>
            <a:xfrm>
              <a:off x="3082153" y="2449964"/>
              <a:ext cx="0" cy="1047246"/>
            </a:xfrm>
            <a:prstGeom prst="line">
              <a:avLst/>
            </a:prstGeom>
            <a:ln w="25400">
              <a:solidFill>
                <a:schemeClr val="bg1">
                  <a:lumMod val="50000"/>
                </a:schemeClr>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18F3BFD-AEA0-4A4B-9D94-ECDC511EFDED}"/>
                </a:ext>
              </a:extLst>
            </p:cNvPr>
            <p:cNvCxnSpPr>
              <a:cxnSpLocks/>
              <a:stCxn id="47" idx="2"/>
              <a:endCxn id="15" idx="0"/>
            </p:cNvCxnSpPr>
            <p:nvPr/>
          </p:nvCxnSpPr>
          <p:spPr>
            <a:xfrm>
              <a:off x="3627549" y="2878295"/>
              <a:ext cx="325" cy="622185"/>
            </a:xfrm>
            <a:prstGeom prst="line">
              <a:avLst/>
            </a:prstGeom>
            <a:ln w="25400">
              <a:solidFill>
                <a:schemeClr val="bg1">
                  <a:lumMod val="50000"/>
                </a:schemeClr>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0B66F8-C759-4840-89D8-8A93BD1D519B}"/>
                </a:ext>
              </a:extLst>
            </p:cNvPr>
            <p:cNvGrpSpPr/>
            <p:nvPr/>
          </p:nvGrpSpPr>
          <p:grpSpPr>
            <a:xfrm>
              <a:off x="1527404" y="2097845"/>
              <a:ext cx="2617429" cy="1754419"/>
              <a:chOff x="1527404" y="2097845"/>
              <a:chExt cx="2617429" cy="1754419"/>
            </a:xfrm>
          </p:grpSpPr>
          <p:cxnSp>
            <p:nvCxnSpPr>
              <p:cNvPr id="73" name="Straight Connector 72">
                <a:extLst>
                  <a:ext uri="{FF2B5EF4-FFF2-40B4-BE49-F238E27FC236}">
                    <a16:creationId xmlns:a16="http://schemas.microsoft.com/office/drawing/2014/main" id="{A08A2AC2-1560-E44C-BB19-4AFF5611860D}"/>
                  </a:ext>
                </a:extLst>
              </p:cNvPr>
              <p:cNvCxnSpPr>
                <a:cxnSpLocks/>
                <a:endCxn id="47" idx="1"/>
              </p:cNvCxnSpPr>
              <p:nvPr/>
            </p:nvCxnSpPr>
            <p:spPr>
              <a:xfrm flipV="1">
                <a:off x="1527404" y="2702403"/>
                <a:ext cx="1924253"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D62542D-8357-3248-B9F7-5665112C246F}"/>
                  </a:ext>
                </a:extLst>
              </p:cNvPr>
              <p:cNvCxnSpPr>
                <a:cxnSpLocks/>
                <a:endCxn id="43" idx="1"/>
              </p:cNvCxnSpPr>
              <p:nvPr/>
            </p:nvCxnSpPr>
            <p:spPr>
              <a:xfrm>
                <a:off x="1527404" y="2267311"/>
                <a:ext cx="137885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B77118A-016B-E04D-9ACC-9F53B6FD993C}"/>
                  </a:ext>
                </a:extLst>
              </p:cNvPr>
              <p:cNvCxnSpPr>
                <a:cxnSpLocks/>
                <a:endCxn id="75" idx="0"/>
              </p:cNvCxnSpPr>
              <p:nvPr/>
            </p:nvCxnSpPr>
            <p:spPr>
              <a:xfrm flipH="1">
                <a:off x="1896909" y="2365754"/>
                <a:ext cx="131" cy="163864"/>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36AE9B2F-02CA-784E-A387-8949060921B3}"/>
                  </a:ext>
                </a:extLst>
              </p:cNvPr>
              <p:cNvSpPr/>
              <p:nvPr/>
            </p:nvSpPr>
            <p:spPr>
              <a:xfrm>
                <a:off x="1721018" y="2529618"/>
                <a:ext cx="351783" cy="351783"/>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76" name="Oval 75">
                <a:extLst>
                  <a:ext uri="{FF2B5EF4-FFF2-40B4-BE49-F238E27FC236}">
                    <a16:creationId xmlns:a16="http://schemas.microsoft.com/office/drawing/2014/main" id="{B1AB0EF5-4753-F74B-855C-635ED8296C2D}"/>
                  </a:ext>
                </a:extLst>
              </p:cNvPr>
              <p:cNvSpPr>
                <a:spLocks noChangeAspect="1"/>
              </p:cNvSpPr>
              <p:nvPr/>
            </p:nvSpPr>
            <p:spPr>
              <a:xfrm>
                <a:off x="1809094" y="2190088"/>
                <a:ext cx="175891" cy="175891"/>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77" name="Rectangle 76">
                <a:extLst>
                  <a:ext uri="{FF2B5EF4-FFF2-40B4-BE49-F238E27FC236}">
                    <a16:creationId xmlns:a16="http://schemas.microsoft.com/office/drawing/2014/main" id="{BF875ECF-BC63-BE4B-BD03-4980D9C2FD7F}"/>
                  </a:ext>
                </a:extLst>
              </p:cNvPr>
              <p:cNvSpPr/>
              <p:nvPr/>
            </p:nvSpPr>
            <p:spPr>
              <a:xfrm>
                <a:off x="2296862" y="2097845"/>
                <a:ext cx="351783" cy="351783"/>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pitchFamily="2" charset="0"/>
                  </a:rPr>
                  <a:t>H</a:t>
                </a:r>
              </a:p>
            </p:txBody>
          </p:sp>
          <p:grpSp>
            <p:nvGrpSpPr>
              <p:cNvPr id="42" name="Group 41">
                <a:extLst>
                  <a:ext uri="{FF2B5EF4-FFF2-40B4-BE49-F238E27FC236}">
                    <a16:creationId xmlns:a16="http://schemas.microsoft.com/office/drawing/2014/main" id="{C1A680FD-1F9C-1F44-8FAE-9C29A2156C2F}"/>
                  </a:ext>
                </a:extLst>
              </p:cNvPr>
              <p:cNvGrpSpPr/>
              <p:nvPr/>
            </p:nvGrpSpPr>
            <p:grpSpPr>
              <a:xfrm>
                <a:off x="2906262" y="2098181"/>
                <a:ext cx="351783" cy="394632"/>
                <a:chOff x="6128687" y="2341797"/>
                <a:chExt cx="720000" cy="807700"/>
              </a:xfrm>
            </p:grpSpPr>
            <p:sp>
              <p:nvSpPr>
                <p:cNvPr id="43" name="Rectangle 42">
                  <a:extLst>
                    <a:ext uri="{FF2B5EF4-FFF2-40B4-BE49-F238E27FC236}">
                      <a16:creationId xmlns:a16="http://schemas.microsoft.com/office/drawing/2014/main" id="{D800D664-DA26-3246-900C-931093689208}"/>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4" name="Arc 43">
                  <a:extLst>
                    <a:ext uri="{FF2B5EF4-FFF2-40B4-BE49-F238E27FC236}">
                      <a16:creationId xmlns:a16="http://schemas.microsoft.com/office/drawing/2014/main" id="{1D46F481-6D2B-CF4C-BE07-43B0376FA1C4}"/>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85AAFBCA-8803-0B48-B8FD-742E441991AB}"/>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13D8DC80-829B-3545-845F-477405162545}"/>
                  </a:ext>
                </a:extLst>
              </p:cNvPr>
              <p:cNvGrpSpPr/>
              <p:nvPr/>
            </p:nvGrpSpPr>
            <p:grpSpPr>
              <a:xfrm>
                <a:off x="3451658" y="2526512"/>
                <a:ext cx="351783" cy="394632"/>
                <a:chOff x="6128687" y="2341797"/>
                <a:chExt cx="720000" cy="807700"/>
              </a:xfrm>
            </p:grpSpPr>
            <p:sp>
              <p:nvSpPr>
                <p:cNvPr id="47" name="Rectangle 46">
                  <a:extLst>
                    <a:ext uri="{FF2B5EF4-FFF2-40B4-BE49-F238E27FC236}">
                      <a16:creationId xmlns:a16="http://schemas.microsoft.com/office/drawing/2014/main" id="{CC314756-D88F-C34B-82EA-574C6EB3F2FC}"/>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8" name="Arc 47">
                  <a:extLst>
                    <a:ext uri="{FF2B5EF4-FFF2-40B4-BE49-F238E27FC236}">
                      <a16:creationId xmlns:a16="http://schemas.microsoft.com/office/drawing/2014/main" id="{46F94D5C-FEE6-C84D-A577-E9BAB5503A06}"/>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E29F5AC5-55D7-4149-847B-11C19F59583A}"/>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38819FA9-BF95-6547-9D05-19F25AA045E7}"/>
                  </a:ext>
                </a:extLst>
              </p:cNvPr>
              <p:cNvGrpSpPr/>
              <p:nvPr/>
            </p:nvGrpSpPr>
            <p:grpSpPr>
              <a:xfrm>
                <a:off x="2906262" y="3497210"/>
                <a:ext cx="897504" cy="355054"/>
                <a:chOff x="6644830" y="5930872"/>
                <a:chExt cx="1836937" cy="726694"/>
              </a:xfrm>
            </p:grpSpPr>
            <p:sp>
              <p:nvSpPr>
                <p:cNvPr id="102" name="Oval 101">
                  <a:extLst>
                    <a:ext uri="{FF2B5EF4-FFF2-40B4-BE49-F238E27FC236}">
                      <a16:creationId xmlns:a16="http://schemas.microsoft.com/office/drawing/2014/main" id="{36F1E57F-B3A2-504D-B3BF-7BBE6C47EFB9}"/>
                    </a:ext>
                  </a:extLst>
                </p:cNvPr>
                <p:cNvSpPr/>
                <p:nvPr/>
              </p:nvSpPr>
              <p:spPr>
                <a:xfrm>
                  <a:off x="6644830" y="5930872"/>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a:t>
                  </a:r>
                </a:p>
              </p:txBody>
            </p:sp>
            <p:sp>
              <p:nvSpPr>
                <p:cNvPr id="15" name="Rectangle 14">
                  <a:extLst>
                    <a:ext uri="{FF2B5EF4-FFF2-40B4-BE49-F238E27FC236}">
                      <a16:creationId xmlns:a16="http://schemas.microsoft.com/office/drawing/2014/main" id="{E05396EE-13BB-B946-88D2-0A8670083B4F}"/>
                    </a:ext>
                  </a:extLst>
                </p:cNvPr>
                <p:cNvSpPr/>
                <p:nvPr/>
              </p:nvSpPr>
              <p:spPr>
                <a:xfrm>
                  <a:off x="7761767" y="593756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pitchFamily="2" charset="0"/>
                    </a:rPr>
                    <a:t>Z</a:t>
                  </a:r>
                </a:p>
              </p:txBody>
            </p:sp>
          </p:grp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549B63CC-9196-BE4D-8671-071533AADBF7}"/>
                      </a:ext>
                    </a:extLst>
                  </p:cNvPr>
                  <p:cNvSpPr/>
                  <p:nvPr/>
                </p:nvSpPr>
                <p:spPr>
                  <a:xfrm>
                    <a:off x="2626133" y="2919817"/>
                    <a:ext cx="5444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𝑏</m:t>
                              </m:r>
                            </m:e>
                            <m:sub>
                              <m:r>
                                <a:rPr lang="en-US" sz="2400" i="1">
                                  <a:solidFill>
                                    <a:srgbClr val="002060"/>
                                  </a:solidFill>
                                  <a:latin typeface="Cambria Math" panose="02040503050406030204" pitchFamily="18" charset="0"/>
                                  <a:ea typeface="Cambria Math" panose="02040503050406030204" pitchFamily="18" charset="0"/>
                                </a:rPr>
                                <m:t>1</m:t>
                              </m:r>
                            </m:sub>
                          </m:sSub>
                        </m:oMath>
                      </m:oMathPara>
                    </a14:m>
                    <a:endParaRPr lang="en-US" sz="2400" dirty="0"/>
                  </a:p>
                </p:txBody>
              </p:sp>
            </mc:Choice>
            <mc:Fallback xmlns="">
              <p:sp>
                <p:nvSpPr>
                  <p:cNvPr id="87" name="Rectangle 86">
                    <a:extLst>
                      <a:ext uri="{FF2B5EF4-FFF2-40B4-BE49-F238E27FC236}">
                        <a16:creationId xmlns:a16="http://schemas.microsoft.com/office/drawing/2014/main" id="{549B63CC-9196-BE4D-8671-071533AADBF7}"/>
                      </a:ext>
                    </a:extLst>
                  </p:cNvPr>
                  <p:cNvSpPr>
                    <a:spLocks noRot="1" noChangeAspect="1" noMove="1" noResize="1" noEditPoints="1" noAdjustHandles="1" noChangeArrowheads="1" noChangeShapeType="1" noTextEdit="1"/>
                  </p:cNvSpPr>
                  <p:nvPr/>
                </p:nvSpPr>
                <p:spPr>
                  <a:xfrm>
                    <a:off x="2626133" y="2919817"/>
                    <a:ext cx="544443"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5F211ABF-5C84-A54E-B1C6-BF33B349C37D}"/>
                      </a:ext>
                    </a:extLst>
                  </p:cNvPr>
                  <p:cNvSpPr/>
                  <p:nvPr/>
                </p:nvSpPr>
                <p:spPr>
                  <a:xfrm>
                    <a:off x="3593272" y="2925620"/>
                    <a:ext cx="5515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𝑏</m:t>
                              </m:r>
                            </m:e>
                            <m:sub>
                              <m:r>
                                <a:rPr lang="sr-Latn-RS" sz="2400" b="0" i="1" smtClean="0">
                                  <a:solidFill>
                                    <a:srgbClr val="002060"/>
                                  </a:solidFill>
                                  <a:latin typeface="Cambria Math" panose="02040503050406030204" pitchFamily="18" charset="0"/>
                                  <a:ea typeface="Cambria Math" panose="02040503050406030204" pitchFamily="18" charset="0"/>
                                </a:rPr>
                                <m:t>2</m:t>
                              </m:r>
                            </m:sub>
                          </m:sSub>
                        </m:oMath>
                      </m:oMathPara>
                    </a14:m>
                    <a:endParaRPr lang="en-US" sz="2400" dirty="0"/>
                  </a:p>
                </p:txBody>
              </p:sp>
            </mc:Choice>
            <mc:Fallback xmlns="">
              <p:sp>
                <p:nvSpPr>
                  <p:cNvPr id="88" name="Rectangle 87">
                    <a:extLst>
                      <a:ext uri="{FF2B5EF4-FFF2-40B4-BE49-F238E27FC236}">
                        <a16:creationId xmlns:a16="http://schemas.microsoft.com/office/drawing/2014/main" id="{5F211ABF-5C84-A54E-B1C6-BF33B349C37D}"/>
                      </a:ext>
                    </a:extLst>
                  </p:cNvPr>
                  <p:cNvSpPr>
                    <a:spLocks noRot="1" noChangeAspect="1" noMove="1" noResize="1" noEditPoints="1" noAdjustHandles="1" noChangeArrowheads="1" noChangeShapeType="1" noTextEdit="1"/>
                  </p:cNvSpPr>
                  <p:nvPr/>
                </p:nvSpPr>
                <p:spPr>
                  <a:xfrm>
                    <a:off x="3593272" y="2925620"/>
                    <a:ext cx="551561" cy="461665"/>
                  </a:xfrm>
                  <a:prstGeom prst="rect">
                    <a:avLst/>
                  </a:prstGeom>
                  <a:blipFill>
                    <a:blip r:embed="rId9"/>
                    <a:stretch>
                      <a:fillRect/>
                    </a:stretch>
                  </a:blipFill>
                </p:spPr>
                <p:txBody>
                  <a:bodyPr/>
                  <a:lstStyle/>
                  <a:p>
                    <a:r>
                      <a:rPr lang="en-US">
                        <a:noFill/>
                      </a:rPr>
                      <a:t> </a:t>
                    </a:r>
                  </a:p>
                </p:txBody>
              </p:sp>
            </mc:Fallback>
          </mc:AlternateContent>
        </p:grpSp>
      </p:grpSp>
      <p:grpSp>
        <p:nvGrpSpPr>
          <p:cNvPr id="16" name="Group 15">
            <a:extLst>
              <a:ext uri="{FF2B5EF4-FFF2-40B4-BE49-F238E27FC236}">
                <a16:creationId xmlns:a16="http://schemas.microsoft.com/office/drawing/2014/main" id="{CE857153-47FB-7244-9F60-AC3E93748091}"/>
              </a:ext>
            </a:extLst>
          </p:cNvPr>
          <p:cNvGrpSpPr/>
          <p:nvPr/>
        </p:nvGrpSpPr>
        <p:grpSpPr>
          <a:xfrm>
            <a:off x="287938" y="3241286"/>
            <a:ext cx="11353736" cy="2284773"/>
            <a:chOff x="4027501" y="1366004"/>
            <a:chExt cx="11353736" cy="2284773"/>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D7F43CF-E70B-254C-B110-6B7C82DDEC15}"/>
                    </a:ext>
                  </a:extLst>
                </p:cNvPr>
                <p:cNvSpPr/>
                <p:nvPr/>
              </p:nvSpPr>
              <p:spPr>
                <a:xfrm>
                  <a:off x="4027501" y="1366004"/>
                  <a:ext cx="3877985" cy="4641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e>
                        </m:d>
                        <m:r>
                          <a:rPr lang="sr-Latn-R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𝐵</m:t>
                                </m:r>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ub>
                            </m:sSub>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𝐵</m:t>
                                </m:r>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e>
                        </m:d>
                      </m:oMath>
                    </m:oMathPara>
                  </a14:m>
                  <a:endParaRPr lang="en-US" sz="2400" dirty="0"/>
                </a:p>
              </p:txBody>
            </p:sp>
          </mc:Choice>
          <mc:Fallback xmlns="">
            <p:sp>
              <p:nvSpPr>
                <p:cNvPr id="8" name="Rectangle 7">
                  <a:extLst>
                    <a:ext uri="{FF2B5EF4-FFF2-40B4-BE49-F238E27FC236}">
                      <a16:creationId xmlns:a16="http://schemas.microsoft.com/office/drawing/2014/main" id="{5D7F43CF-E70B-254C-B110-6B7C82DDEC15}"/>
                    </a:ext>
                  </a:extLst>
                </p:cNvPr>
                <p:cNvSpPr>
                  <a:spLocks noRot="1" noChangeAspect="1" noMove="1" noResize="1" noEditPoints="1" noAdjustHandles="1" noChangeArrowheads="1" noChangeShapeType="1" noTextEdit="1"/>
                </p:cNvSpPr>
                <p:nvPr/>
              </p:nvSpPr>
              <p:spPr>
                <a:xfrm>
                  <a:off x="4027501" y="1366004"/>
                  <a:ext cx="3877985" cy="464166"/>
                </a:xfrm>
                <a:prstGeom prst="rect">
                  <a:avLst/>
                </a:prstGeom>
                <a:blipFill>
                  <a:blip r:embed="rId10"/>
                  <a:stretch>
                    <a:fillRect t="-121053" r="-7843"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E6DE0CE-19FA-E34F-8E38-7417786BDF83}"/>
                    </a:ext>
                  </a:extLst>
                </p:cNvPr>
                <p:cNvSpPr/>
                <p:nvPr/>
              </p:nvSpPr>
              <p:spPr>
                <a:xfrm>
                  <a:off x="5246860" y="2049421"/>
                  <a:ext cx="5552930"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m:t>
                                    </m:r>
                                  </m:e>
                                </m:d>
                              </m:e>
                              <m:sub>
                                <m:r>
                                  <a:rPr lang="en-US" sz="2400" i="1">
                                    <a:solidFill>
                                      <a:srgbClr val="002060"/>
                                    </a:solidFill>
                                    <a:latin typeface="Cambria Math" panose="02040503050406030204" pitchFamily="18" charset="0"/>
                                    <a:ea typeface="Cambria Math" panose="02040503050406030204" pitchFamily="18" charset="0"/>
                                  </a:rPr>
                                  <m:t>𝐴𝐴</m:t>
                                </m:r>
                                <m:r>
                                  <a:rPr lang="en-US" sz="2400" i="1">
                                    <a:solidFill>
                                      <a:srgbClr val="002060"/>
                                    </a:solidFill>
                                    <a:latin typeface="Cambria Math" panose="02040503050406030204" pitchFamily="18" charset="0"/>
                                    <a:ea typeface="Cambria Math" panose="02040503050406030204" pitchFamily="18" charset="0"/>
                                  </a:rPr>
                                  <m:t>′</m:t>
                                </m:r>
                              </m:sub>
                            </m:sSub>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e>
                              <m:sub>
                                <m:r>
                                  <a:rPr lang="en-US" sz="2400" i="1">
                                    <a:solidFill>
                                      <a:srgbClr val="002060"/>
                                    </a:solidFill>
                                    <a:latin typeface="Cambria Math" panose="02040503050406030204" pitchFamily="18" charset="0"/>
                                    <a:ea typeface="Cambria Math" panose="02040503050406030204" pitchFamily="18" charset="0"/>
                                  </a:rPr>
                                  <m:t>𝐴𝐴</m:t>
                                </m:r>
                                <m:r>
                                  <a:rPr lang="en-US" sz="2400" i="1">
                                    <a:solidFill>
                                      <a:srgbClr val="002060"/>
                                    </a:solidFill>
                                    <a:latin typeface="Cambria Math" panose="02040503050406030204" pitchFamily="18" charset="0"/>
                                    <a:ea typeface="Cambria Math" panose="02040503050406030204" pitchFamily="18" charset="0"/>
                                  </a:rPr>
                                  <m:t>′</m:t>
                                </m:r>
                              </m:sub>
                            </m:sSub>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m:t>
                                    </m:r>
                                  </m:e>
                                </m:d>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1" name="Rectangle 10">
                  <a:extLst>
                    <a:ext uri="{FF2B5EF4-FFF2-40B4-BE49-F238E27FC236}">
                      <a16:creationId xmlns:a16="http://schemas.microsoft.com/office/drawing/2014/main" id="{CE6DE0CE-19FA-E34F-8E38-7417786BDF83}"/>
                    </a:ext>
                  </a:extLst>
                </p:cNvPr>
                <p:cNvSpPr>
                  <a:spLocks noRot="1" noChangeAspect="1" noMove="1" noResize="1" noEditPoints="1" noAdjustHandles="1" noChangeArrowheads="1" noChangeShapeType="1" noTextEdit="1"/>
                </p:cNvSpPr>
                <p:nvPr/>
              </p:nvSpPr>
              <p:spPr>
                <a:xfrm>
                  <a:off x="5246860" y="2049421"/>
                  <a:ext cx="5552930" cy="876202"/>
                </a:xfrm>
                <a:prstGeom prst="rect">
                  <a:avLst/>
                </a:prstGeom>
                <a:blipFill>
                  <a:blip r:embed="rId11"/>
                  <a:stretch>
                    <a:fillRect t="-68571" b="-5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9361865-345D-6142-83D4-C9DE1979B927}"/>
                    </a:ext>
                  </a:extLst>
                </p:cNvPr>
                <p:cNvSpPr/>
                <p:nvPr/>
              </p:nvSpPr>
              <p:spPr>
                <a:xfrm>
                  <a:off x="4817315" y="2866973"/>
                  <a:ext cx="10563922" cy="7838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sr-Latn-RS" sz="2400" b="0" i="1" smtClean="0">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
                              <a:rPr lang="en-US" sz="2400" i="1">
                                <a:solidFill>
                                  <a:srgbClr val="002060"/>
                                </a:solidFill>
                                <a:latin typeface="Cambria Math" panose="02040503050406030204" pitchFamily="18" charset="0"/>
                                <a:ea typeface="Cambria Math" panose="02040503050406030204" pitchFamily="18" charset="0"/>
                              </a:rPr>
                              <m:t>2</m:t>
                            </m:r>
                          </m:den>
                        </m:f>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m:t>
                                            </m:r>
                                          </m:e>
                                        </m:d>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ub>
                                    </m:sSub>
                                    <m:r>
                                      <a:rPr lang="en-US" sz="2400" i="1">
                                        <a:solidFill>
                                          <a:srgbClr val="002060"/>
                                        </a:solidFill>
                                        <a:latin typeface="Cambria Math" panose="02040503050406030204" pitchFamily="18" charset="0"/>
                                        <a:ea typeface="Cambria Math" panose="02040503050406030204" pitchFamily="18" charset="0"/>
                                      </a:rPr>
                                      <m:t>|00</m:t>
                                    </m:r>
                                  </m:e>
                                </m:d>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m:t>
                                    </m:r>
                                  </m:e>
                                </m:d>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ub>
                            </m:sSub>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ub>
                            </m:sSub>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m:t>
                                    </m:r>
                                  </m:e>
                                </m:d>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e>
                              <m:sub>
                                <m:r>
                                  <a:rPr lang="en-US" sz="2400" i="1">
                                    <a:solidFill>
                                      <a:srgbClr val="002060"/>
                                    </a:solidFill>
                                    <a:latin typeface="Cambria Math" panose="02040503050406030204" pitchFamily="18" charset="0"/>
                                    <a:ea typeface="Cambria Math" panose="02040503050406030204" pitchFamily="18" charset="0"/>
                                  </a:rPr>
                                  <m:t>𝐴</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𝐴</m:t>
                                    </m:r>
                                  </m:e>
                                  <m:sup>
                                    <m:r>
                                      <a:rPr lang="en-US" sz="2400" i="1">
                                        <a:solidFill>
                                          <a:srgbClr val="002060"/>
                                        </a:solidFill>
                                        <a:latin typeface="Cambria Math" panose="02040503050406030204" pitchFamily="18" charset="0"/>
                                        <a:ea typeface="Cambria Math" panose="02040503050406030204" pitchFamily="18" charset="0"/>
                                      </a:rPr>
                                      <m:t>′</m:t>
                                    </m:r>
                                  </m:sup>
                                </m:sSup>
                              </m:sub>
                            </m:sSub>
                            <m:sSub>
                              <m:sSubPr>
                                <m:ctrlPr>
                                  <a:rPr lang="en-US" sz="2400" i="1">
                                    <a:solidFill>
                                      <a:srgbClr val="002060"/>
                                    </a:solidFill>
                                    <a:latin typeface="Cambria Math" panose="02040503050406030204" pitchFamily="18" charset="0"/>
                                    <a:ea typeface="Cambria Math" panose="02040503050406030204" pitchFamily="18" charset="0"/>
                                  </a:rPr>
                                </m:ctrlPr>
                              </m:sSub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e>
                              <m: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𝐵</m:t>
                                    </m:r>
                                  </m:e>
                                  <m:sup>
                                    <m:r>
                                      <a:rPr lang="en-US" sz="2400" i="1">
                                        <a:solidFill>
                                          <a:srgbClr val="002060"/>
                                        </a:solidFill>
                                        <a:latin typeface="Cambria Math" panose="02040503050406030204" pitchFamily="18" charset="0"/>
                                        <a:ea typeface="Cambria Math" panose="02040503050406030204" pitchFamily="18" charset="0"/>
                                      </a:rPr>
                                      <m:t>′</m:t>
                                    </m:r>
                                  </m:sup>
                                </m:sSup>
                                <m:r>
                                  <a:rPr lang="en-US" sz="2400" i="1">
                                    <a:solidFill>
                                      <a:srgbClr val="002060"/>
                                    </a:solidFill>
                                    <a:latin typeface="Cambria Math" panose="02040503050406030204" pitchFamily="18" charset="0"/>
                                    <a:ea typeface="Cambria Math" panose="02040503050406030204" pitchFamily="18" charset="0"/>
                                  </a:rPr>
                                  <m:t>𝐵</m:t>
                                </m:r>
                              </m:sub>
                            </m:sSub>
                          </m:e>
                        </m:d>
                      </m:oMath>
                    </m:oMathPara>
                  </a14:m>
                  <a:endParaRPr lang="en-US" sz="2400" dirty="0"/>
                </a:p>
              </p:txBody>
            </p:sp>
          </mc:Choice>
          <mc:Fallback xmlns="">
            <p:sp>
              <p:nvSpPr>
                <p:cNvPr id="14" name="Rectangle 13">
                  <a:extLst>
                    <a:ext uri="{FF2B5EF4-FFF2-40B4-BE49-F238E27FC236}">
                      <a16:creationId xmlns:a16="http://schemas.microsoft.com/office/drawing/2014/main" id="{D9361865-345D-6142-83D4-C9DE1979B927}"/>
                    </a:ext>
                  </a:extLst>
                </p:cNvPr>
                <p:cNvSpPr>
                  <a:spLocks noRot="1" noChangeAspect="1" noMove="1" noResize="1" noEditPoints="1" noAdjustHandles="1" noChangeArrowheads="1" noChangeShapeType="1" noTextEdit="1"/>
                </p:cNvSpPr>
                <p:nvPr/>
              </p:nvSpPr>
              <p:spPr>
                <a:xfrm>
                  <a:off x="4817315" y="2866973"/>
                  <a:ext cx="10563922" cy="783804"/>
                </a:xfrm>
                <a:prstGeom prst="rect">
                  <a:avLst/>
                </a:prstGeom>
                <a:blipFill>
                  <a:blip r:embed="rId12"/>
                  <a:stretch>
                    <a:fillRect t="-80952" b="-142857"/>
                  </a:stretch>
                </a:blipFill>
              </p:spPr>
              <p:txBody>
                <a:bodyPr/>
                <a:lstStyle/>
                <a:p>
                  <a:r>
                    <a:rPr lang="en-US">
                      <a:noFill/>
                    </a:rPr>
                    <a:t> </a:t>
                  </a:r>
                </a:p>
              </p:txBody>
            </p:sp>
          </mc:Fallback>
        </mc:AlternateContent>
      </p:grpSp>
    </p:spTree>
    <p:extLst>
      <p:ext uri="{BB962C8B-B14F-4D97-AF65-F5344CB8AC3E}">
        <p14:creationId xmlns:p14="http://schemas.microsoft.com/office/powerpoint/2010/main" val="92566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734335-8C10-8B44-9260-15E8C8CC3C58}"/>
              </a:ext>
            </a:extLst>
          </p:cNvPr>
          <p:cNvSpPr>
            <a:spLocks noGrp="1"/>
          </p:cNvSpPr>
          <p:nvPr>
            <p:ph type="title"/>
          </p:nvPr>
        </p:nvSpPr>
        <p:spPr/>
        <p:txBody>
          <a:bodyPr/>
          <a:lstStyle/>
          <a:p>
            <a:r>
              <a:rPr lang="en-ZA" dirty="0"/>
              <a:t>Quantum Memory for Entanglement Swapping</a:t>
            </a:r>
            <a:endParaRPr lang="en-US" dirty="0"/>
          </a:p>
        </p:txBody>
      </p:sp>
      <p:sp>
        <p:nvSpPr>
          <p:cNvPr id="9" name="TextBox 8">
            <a:extLst>
              <a:ext uri="{FF2B5EF4-FFF2-40B4-BE49-F238E27FC236}">
                <a16:creationId xmlns:a16="http://schemas.microsoft.com/office/drawing/2014/main" id="{72D3EE5B-CFC6-A34F-A80B-F1AE01E13E65}"/>
              </a:ext>
            </a:extLst>
          </p:cNvPr>
          <p:cNvSpPr txBox="1"/>
          <p:nvPr/>
        </p:nvSpPr>
        <p:spPr>
          <a:xfrm>
            <a:off x="9795643" y="4674304"/>
            <a:ext cx="781176" cy="369332"/>
          </a:xfrm>
          <a:prstGeom prst="rect">
            <a:avLst/>
          </a:prstGeom>
          <a:noFill/>
        </p:spPr>
        <p:txBody>
          <a:bodyPr wrap="none" rtlCol="0">
            <a:spAutoFit/>
          </a:bodyPr>
          <a:lstStyle/>
          <a:p>
            <a:r>
              <a:rPr lang="en-US" dirty="0" err="1"/>
              <a:t>vreme</a:t>
            </a:r>
            <a:endParaRPr lang="en-US" dirty="0"/>
          </a:p>
        </p:txBody>
      </p:sp>
      <p:sp>
        <p:nvSpPr>
          <p:cNvPr id="17" name="TextBox 16">
            <a:extLst>
              <a:ext uri="{FF2B5EF4-FFF2-40B4-BE49-F238E27FC236}">
                <a16:creationId xmlns:a16="http://schemas.microsoft.com/office/drawing/2014/main" id="{B52A0DA3-CD99-5B4B-B2D2-A86D465C565C}"/>
              </a:ext>
            </a:extLst>
          </p:cNvPr>
          <p:cNvSpPr txBox="1"/>
          <p:nvPr/>
        </p:nvSpPr>
        <p:spPr>
          <a:xfrm>
            <a:off x="373691" y="5872355"/>
            <a:ext cx="7368620" cy="646331"/>
          </a:xfrm>
          <a:prstGeom prst="rect">
            <a:avLst/>
          </a:prstGeom>
          <a:noFill/>
        </p:spPr>
        <p:txBody>
          <a:bodyPr wrap="none" rtlCol="0">
            <a:spAutoFit/>
          </a:bodyPr>
          <a:lstStyle/>
          <a:p>
            <a:r>
              <a:rPr lang="en-US" dirty="0"/>
              <a:t>Experimental demonstration of memory-enhanced quantum communication</a:t>
            </a:r>
          </a:p>
          <a:p>
            <a:r>
              <a:rPr lang="en-US" dirty="0"/>
              <a:t>https://</a:t>
            </a:r>
            <a:r>
              <a:rPr lang="en-US" dirty="0" err="1"/>
              <a:t>www.nature.com</a:t>
            </a:r>
            <a:r>
              <a:rPr lang="en-US" dirty="0"/>
              <a:t>/articles/s41586-020-2103-5</a:t>
            </a:r>
          </a:p>
        </p:txBody>
      </p:sp>
      <p:sp>
        <p:nvSpPr>
          <p:cNvPr id="10" name="Slide Number Placeholder 2">
            <a:extLst>
              <a:ext uri="{FF2B5EF4-FFF2-40B4-BE49-F238E27FC236}">
                <a16:creationId xmlns:a16="http://schemas.microsoft.com/office/drawing/2014/main" id="{25B55427-83CF-7248-A65C-27EDF264EC5F}"/>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39</a:t>
            </a:fld>
            <a:endParaRPr lang="en-US" dirty="0"/>
          </a:p>
        </p:txBody>
      </p:sp>
      <p:sp>
        <p:nvSpPr>
          <p:cNvPr id="13" name="Rectangle 12">
            <a:extLst>
              <a:ext uri="{FF2B5EF4-FFF2-40B4-BE49-F238E27FC236}">
                <a16:creationId xmlns:a16="http://schemas.microsoft.com/office/drawing/2014/main" id="{6171F0AF-D8F2-274D-8643-DE0F2A25A384}"/>
              </a:ext>
            </a:extLst>
          </p:cNvPr>
          <p:cNvSpPr/>
          <p:nvPr/>
        </p:nvSpPr>
        <p:spPr>
          <a:xfrm>
            <a:off x="3779615" y="1339976"/>
            <a:ext cx="593432" cy="461665"/>
          </a:xfrm>
          <a:prstGeom prst="rect">
            <a:avLst/>
          </a:prstGeom>
        </p:spPr>
        <p:txBody>
          <a:bodyPr wrap="none">
            <a:spAutoFit/>
          </a:bodyPr>
          <a:lstStyle/>
          <a:p>
            <a:r>
              <a:rPr lang="en-ZA" sz="2400" dirty="0"/>
              <a:t>①</a:t>
            </a:r>
            <a:endParaRPr lang="en-US" sz="2400" dirty="0"/>
          </a:p>
        </p:txBody>
      </p:sp>
      <p:pic>
        <p:nvPicPr>
          <p:cNvPr id="16" name="Picture 15">
            <a:extLst>
              <a:ext uri="{FF2B5EF4-FFF2-40B4-BE49-F238E27FC236}">
                <a16:creationId xmlns:a16="http://schemas.microsoft.com/office/drawing/2014/main" id="{4182E707-E8BF-2F4F-A73D-AF86C275B820}"/>
              </a:ext>
            </a:extLst>
          </p:cNvPr>
          <p:cNvPicPr>
            <a:picLocks noChangeAspect="1"/>
          </p:cNvPicPr>
          <p:nvPr/>
        </p:nvPicPr>
        <p:blipFill>
          <a:blip r:embed="rId3"/>
          <a:stretch>
            <a:fillRect/>
          </a:stretch>
        </p:blipFill>
        <p:spPr>
          <a:xfrm>
            <a:off x="1546069" y="1757433"/>
            <a:ext cx="762326" cy="1174276"/>
          </a:xfrm>
          <a:prstGeom prst="rect">
            <a:avLst/>
          </a:prstGeom>
        </p:spPr>
      </p:pic>
      <p:pic>
        <p:nvPicPr>
          <p:cNvPr id="21" name="Picture 20">
            <a:extLst>
              <a:ext uri="{FF2B5EF4-FFF2-40B4-BE49-F238E27FC236}">
                <a16:creationId xmlns:a16="http://schemas.microsoft.com/office/drawing/2014/main" id="{29B4C902-6A66-DF43-B092-4E22510CAAE4}"/>
              </a:ext>
            </a:extLst>
          </p:cNvPr>
          <p:cNvPicPr>
            <a:picLocks noChangeAspect="1"/>
          </p:cNvPicPr>
          <p:nvPr/>
        </p:nvPicPr>
        <p:blipFill>
          <a:blip r:embed="rId4"/>
          <a:stretch>
            <a:fillRect/>
          </a:stretch>
        </p:blipFill>
        <p:spPr>
          <a:xfrm>
            <a:off x="1476990" y="3279710"/>
            <a:ext cx="918613" cy="1360630"/>
          </a:xfrm>
          <a:prstGeom prst="rect">
            <a:avLst/>
          </a:prstGeom>
        </p:spPr>
      </p:pic>
      <p:grpSp>
        <p:nvGrpSpPr>
          <p:cNvPr id="7" name="Group 6">
            <a:extLst>
              <a:ext uri="{FF2B5EF4-FFF2-40B4-BE49-F238E27FC236}">
                <a16:creationId xmlns:a16="http://schemas.microsoft.com/office/drawing/2014/main" id="{295B16E4-85A7-8049-9AF4-B6D41B91BD17}"/>
              </a:ext>
            </a:extLst>
          </p:cNvPr>
          <p:cNvGrpSpPr/>
          <p:nvPr/>
        </p:nvGrpSpPr>
        <p:grpSpPr>
          <a:xfrm>
            <a:off x="2774013" y="4658170"/>
            <a:ext cx="2208288" cy="385466"/>
            <a:chOff x="4315884" y="1560841"/>
            <a:chExt cx="2208288" cy="385466"/>
          </a:xfrm>
        </p:grpSpPr>
        <p:sp>
          <p:nvSpPr>
            <p:cNvPr id="6" name="Rectangle 5">
              <a:extLst>
                <a:ext uri="{FF2B5EF4-FFF2-40B4-BE49-F238E27FC236}">
                  <a16:creationId xmlns:a16="http://schemas.microsoft.com/office/drawing/2014/main" id="{E88294E0-3A84-2541-A16E-FAB6FABE539E}"/>
                </a:ext>
              </a:extLst>
            </p:cNvPr>
            <p:cNvSpPr/>
            <p:nvPr/>
          </p:nvSpPr>
          <p:spPr>
            <a:xfrm>
              <a:off x="4315884" y="1560841"/>
              <a:ext cx="1649489" cy="3854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T1</a:t>
              </a:r>
            </a:p>
          </p:txBody>
        </p:sp>
        <p:sp>
          <p:nvSpPr>
            <p:cNvPr id="23" name="Rectangle 22">
              <a:extLst>
                <a:ext uri="{FF2B5EF4-FFF2-40B4-BE49-F238E27FC236}">
                  <a16:creationId xmlns:a16="http://schemas.microsoft.com/office/drawing/2014/main" id="{C5960BF3-5906-E141-8D48-07E2BD32747D}"/>
                </a:ext>
              </a:extLst>
            </p:cNvPr>
            <p:cNvSpPr/>
            <p:nvPr/>
          </p:nvSpPr>
          <p:spPr>
            <a:xfrm>
              <a:off x="5959789" y="1560841"/>
              <a:ext cx="564383" cy="38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T2</a:t>
              </a:r>
            </a:p>
          </p:txBody>
        </p:sp>
      </p:grpSp>
      <p:cxnSp>
        <p:nvCxnSpPr>
          <p:cNvPr id="11" name="Straight Arrow Connector 10">
            <a:extLst>
              <a:ext uri="{FF2B5EF4-FFF2-40B4-BE49-F238E27FC236}">
                <a16:creationId xmlns:a16="http://schemas.microsoft.com/office/drawing/2014/main" id="{2FD838C5-5E17-2C4B-8BB8-9CD926C65DF0}"/>
              </a:ext>
            </a:extLst>
          </p:cNvPr>
          <p:cNvCxnSpPr>
            <a:cxnSpLocks/>
          </p:cNvCxnSpPr>
          <p:nvPr/>
        </p:nvCxnSpPr>
        <p:spPr>
          <a:xfrm flipV="1">
            <a:off x="2774013" y="3139398"/>
            <a:ext cx="7200000" cy="0"/>
          </a:xfrm>
          <a:prstGeom prst="straightConnector1">
            <a:avLst/>
          </a:prstGeom>
          <a:ln w="127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2BE6C9B-AF39-4248-BC69-7C10DD30845C}"/>
              </a:ext>
            </a:extLst>
          </p:cNvPr>
          <p:cNvCxnSpPr>
            <a:cxnSpLocks/>
          </p:cNvCxnSpPr>
          <p:nvPr/>
        </p:nvCxnSpPr>
        <p:spPr>
          <a:xfrm>
            <a:off x="2774013" y="4534597"/>
            <a:ext cx="7200000" cy="0"/>
          </a:xfrm>
          <a:prstGeom prst="straightConnector1">
            <a:avLst/>
          </a:prstGeom>
          <a:ln w="127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BA4BC315-D1B6-8A4C-9089-C64E3E6CE814}"/>
              </a:ext>
            </a:extLst>
          </p:cNvPr>
          <p:cNvSpPr/>
          <p:nvPr/>
        </p:nvSpPr>
        <p:spPr>
          <a:xfrm>
            <a:off x="3146546" y="2176911"/>
            <a:ext cx="180000" cy="964575"/>
          </a:xfrm>
          <a:prstGeom prst="roundRect">
            <a:avLst>
              <a:gd name="adj" fmla="val 24899"/>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4313E548-6CF1-6748-A7AD-E66BD7B6F7F5}"/>
              </a:ext>
            </a:extLst>
          </p:cNvPr>
          <p:cNvSpPr/>
          <p:nvPr/>
        </p:nvSpPr>
        <p:spPr>
          <a:xfrm>
            <a:off x="3964585" y="3570022"/>
            <a:ext cx="180000" cy="964575"/>
          </a:xfrm>
          <a:prstGeom prst="roundRect">
            <a:avLst>
              <a:gd name="adj" fmla="val 24899"/>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01889747-4544-9A4F-AEED-AD40AFBFCD9B}"/>
              </a:ext>
            </a:extLst>
          </p:cNvPr>
          <p:cNvCxnSpPr>
            <a:cxnSpLocks/>
          </p:cNvCxnSpPr>
          <p:nvPr/>
        </p:nvCxnSpPr>
        <p:spPr>
          <a:xfrm>
            <a:off x="4982301" y="1970789"/>
            <a:ext cx="0" cy="3198466"/>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A189413F-A41F-5F49-9392-BDCA1377F88F}"/>
              </a:ext>
            </a:extLst>
          </p:cNvPr>
          <p:cNvGrpSpPr/>
          <p:nvPr/>
        </p:nvGrpSpPr>
        <p:grpSpPr>
          <a:xfrm>
            <a:off x="4984015" y="1275803"/>
            <a:ext cx="2208288" cy="3893452"/>
            <a:chOff x="4984015" y="1123403"/>
            <a:chExt cx="2208288" cy="3893452"/>
          </a:xfrm>
        </p:grpSpPr>
        <p:sp>
          <p:nvSpPr>
            <p:cNvPr id="2" name="Rectangle 1">
              <a:extLst>
                <a:ext uri="{FF2B5EF4-FFF2-40B4-BE49-F238E27FC236}">
                  <a16:creationId xmlns:a16="http://schemas.microsoft.com/office/drawing/2014/main" id="{93223348-4AC1-5347-861C-D2FB57DBBE04}"/>
                </a:ext>
              </a:extLst>
            </p:cNvPr>
            <p:cNvSpPr/>
            <p:nvPr/>
          </p:nvSpPr>
          <p:spPr>
            <a:xfrm>
              <a:off x="5699408" y="1123403"/>
              <a:ext cx="593432" cy="461665"/>
            </a:xfrm>
            <a:prstGeom prst="rect">
              <a:avLst/>
            </a:prstGeom>
          </p:spPr>
          <p:txBody>
            <a:bodyPr wrap="none">
              <a:spAutoFit/>
            </a:bodyPr>
            <a:lstStyle/>
            <a:p>
              <a:r>
                <a:rPr lang="en-ZA" sz="2400" dirty="0"/>
                <a:t>②</a:t>
              </a:r>
              <a:endParaRPr lang="en-US" sz="2400" dirty="0"/>
            </a:p>
          </p:txBody>
        </p:sp>
        <p:grpSp>
          <p:nvGrpSpPr>
            <p:cNvPr id="28" name="Group 27">
              <a:extLst>
                <a:ext uri="{FF2B5EF4-FFF2-40B4-BE49-F238E27FC236}">
                  <a16:creationId xmlns:a16="http://schemas.microsoft.com/office/drawing/2014/main" id="{90C85B3D-4196-BB4B-918C-1DB42F3D9A7E}"/>
                </a:ext>
              </a:extLst>
            </p:cNvPr>
            <p:cNvGrpSpPr/>
            <p:nvPr/>
          </p:nvGrpSpPr>
          <p:grpSpPr>
            <a:xfrm>
              <a:off x="4984015" y="4505770"/>
              <a:ext cx="2208288" cy="385466"/>
              <a:chOff x="4315884" y="1560841"/>
              <a:chExt cx="2208288" cy="385466"/>
            </a:xfrm>
          </p:grpSpPr>
          <p:sp>
            <p:nvSpPr>
              <p:cNvPr id="29" name="Rectangle 28">
                <a:extLst>
                  <a:ext uri="{FF2B5EF4-FFF2-40B4-BE49-F238E27FC236}">
                    <a16:creationId xmlns:a16="http://schemas.microsoft.com/office/drawing/2014/main" id="{677142D6-3C85-EA4A-9C7C-2BAFFD6CA578}"/>
                  </a:ext>
                </a:extLst>
              </p:cNvPr>
              <p:cNvSpPr/>
              <p:nvPr/>
            </p:nvSpPr>
            <p:spPr>
              <a:xfrm>
                <a:off x="4315884" y="1560841"/>
                <a:ext cx="1649489" cy="3854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T1</a:t>
                </a:r>
              </a:p>
            </p:txBody>
          </p:sp>
          <p:sp>
            <p:nvSpPr>
              <p:cNvPr id="30" name="Rectangle 29">
                <a:extLst>
                  <a:ext uri="{FF2B5EF4-FFF2-40B4-BE49-F238E27FC236}">
                    <a16:creationId xmlns:a16="http://schemas.microsoft.com/office/drawing/2014/main" id="{5F86D385-4916-8B45-A7DC-CD99CE0CBBDB}"/>
                  </a:ext>
                </a:extLst>
              </p:cNvPr>
              <p:cNvSpPr/>
              <p:nvPr/>
            </p:nvSpPr>
            <p:spPr>
              <a:xfrm>
                <a:off x="5959789" y="1560841"/>
                <a:ext cx="564383" cy="38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T2</a:t>
                </a:r>
              </a:p>
            </p:txBody>
          </p:sp>
        </p:grpSp>
        <p:cxnSp>
          <p:nvCxnSpPr>
            <p:cNvPr id="33" name="Straight Connector 32">
              <a:extLst>
                <a:ext uri="{FF2B5EF4-FFF2-40B4-BE49-F238E27FC236}">
                  <a16:creationId xmlns:a16="http://schemas.microsoft.com/office/drawing/2014/main" id="{98D2F4FD-7A98-324D-926F-BFA383EF98E3}"/>
                </a:ext>
              </a:extLst>
            </p:cNvPr>
            <p:cNvCxnSpPr>
              <a:cxnSpLocks/>
            </p:cNvCxnSpPr>
            <p:nvPr/>
          </p:nvCxnSpPr>
          <p:spPr>
            <a:xfrm>
              <a:off x="7192303" y="1818389"/>
              <a:ext cx="0" cy="31984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250E9723-602B-D941-9B5C-D6ECC41B866D}"/>
                </a:ext>
              </a:extLst>
            </p:cNvPr>
            <p:cNvSpPr/>
            <p:nvPr/>
          </p:nvSpPr>
          <p:spPr>
            <a:xfrm>
              <a:off x="5527301" y="2030763"/>
              <a:ext cx="180000" cy="964575"/>
            </a:xfrm>
            <a:prstGeom prst="roundRect">
              <a:avLst>
                <a:gd name="adj" fmla="val 24899"/>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B3E09412-28A2-DF49-BD14-36CE1FE5F3C3}"/>
                </a:ext>
              </a:extLst>
            </p:cNvPr>
            <p:cNvCxnSpPr>
              <a:cxnSpLocks/>
            </p:cNvCxnSpPr>
            <p:nvPr/>
          </p:nvCxnSpPr>
          <p:spPr>
            <a:xfrm>
              <a:off x="6631917" y="1818389"/>
              <a:ext cx="0" cy="31984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A29DF9A3-76B7-3946-9105-8E1BF8C00B1C}"/>
                </a:ext>
              </a:extLst>
            </p:cNvPr>
            <p:cNvSpPr/>
            <p:nvPr/>
          </p:nvSpPr>
          <p:spPr>
            <a:xfrm>
              <a:off x="6835351" y="2022423"/>
              <a:ext cx="180000" cy="964575"/>
            </a:xfrm>
            <a:prstGeom prst="roundRect">
              <a:avLst>
                <a:gd name="adj" fmla="val 24899"/>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DFE1048E-0A85-764E-899F-3F0ED5709486}"/>
                </a:ext>
              </a:extLst>
            </p:cNvPr>
            <p:cNvSpPr/>
            <p:nvPr/>
          </p:nvSpPr>
          <p:spPr>
            <a:xfrm>
              <a:off x="6820111" y="3415576"/>
              <a:ext cx="180000" cy="964575"/>
            </a:xfrm>
            <a:prstGeom prst="roundRect">
              <a:avLst>
                <a:gd name="adj" fmla="val 24899"/>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5E52CD94-D52F-3A40-AC9D-EE4F21456DD1}"/>
              </a:ext>
            </a:extLst>
          </p:cNvPr>
          <p:cNvGrpSpPr/>
          <p:nvPr/>
        </p:nvGrpSpPr>
        <p:grpSpPr>
          <a:xfrm>
            <a:off x="7193947" y="1313153"/>
            <a:ext cx="2208288" cy="3856102"/>
            <a:chOff x="7193947" y="1160753"/>
            <a:chExt cx="2208288" cy="3856102"/>
          </a:xfrm>
        </p:grpSpPr>
        <p:sp>
          <p:nvSpPr>
            <p:cNvPr id="15" name="Rectangle 14">
              <a:extLst>
                <a:ext uri="{FF2B5EF4-FFF2-40B4-BE49-F238E27FC236}">
                  <a16:creationId xmlns:a16="http://schemas.microsoft.com/office/drawing/2014/main" id="{5B4E6023-526E-784F-8DFF-CAB6EE952276}"/>
                </a:ext>
              </a:extLst>
            </p:cNvPr>
            <p:cNvSpPr/>
            <p:nvPr/>
          </p:nvSpPr>
          <p:spPr>
            <a:xfrm>
              <a:off x="7975702" y="1160753"/>
              <a:ext cx="593432" cy="461665"/>
            </a:xfrm>
            <a:prstGeom prst="rect">
              <a:avLst/>
            </a:prstGeom>
          </p:spPr>
          <p:txBody>
            <a:bodyPr wrap="none">
              <a:spAutoFit/>
            </a:bodyPr>
            <a:lstStyle/>
            <a:p>
              <a:r>
                <a:rPr lang="en-ZA" sz="2400" dirty="0"/>
                <a:t>③</a:t>
              </a:r>
              <a:endParaRPr lang="en-US" sz="2400" dirty="0"/>
            </a:p>
          </p:txBody>
        </p:sp>
        <p:sp>
          <p:nvSpPr>
            <p:cNvPr id="3" name="TextBox 2">
              <a:extLst>
                <a:ext uri="{FF2B5EF4-FFF2-40B4-BE49-F238E27FC236}">
                  <a16:creationId xmlns:a16="http://schemas.microsoft.com/office/drawing/2014/main" id="{88CF7119-0DFD-9142-A4CA-F724FB5885A8}"/>
                </a:ext>
              </a:extLst>
            </p:cNvPr>
            <p:cNvSpPr txBox="1"/>
            <p:nvPr/>
          </p:nvSpPr>
          <p:spPr>
            <a:xfrm>
              <a:off x="8751481" y="2409977"/>
              <a:ext cx="184731" cy="369332"/>
            </a:xfrm>
            <a:prstGeom prst="rect">
              <a:avLst/>
            </a:prstGeom>
            <a:noFill/>
          </p:spPr>
          <p:txBody>
            <a:bodyPr wrap="none" rtlCol="0">
              <a:spAutoFit/>
            </a:bodyPr>
            <a:lstStyle/>
            <a:p>
              <a:endParaRPr lang="en-US" dirty="0"/>
            </a:p>
          </p:txBody>
        </p:sp>
        <p:grpSp>
          <p:nvGrpSpPr>
            <p:cNvPr id="34" name="Group 33">
              <a:extLst>
                <a:ext uri="{FF2B5EF4-FFF2-40B4-BE49-F238E27FC236}">
                  <a16:creationId xmlns:a16="http://schemas.microsoft.com/office/drawing/2014/main" id="{D4D51CFA-E15F-5647-BDED-A7117FB62489}"/>
                </a:ext>
              </a:extLst>
            </p:cNvPr>
            <p:cNvGrpSpPr/>
            <p:nvPr/>
          </p:nvGrpSpPr>
          <p:grpSpPr>
            <a:xfrm>
              <a:off x="7193947" y="4505770"/>
              <a:ext cx="2208288" cy="385466"/>
              <a:chOff x="4315884" y="1560841"/>
              <a:chExt cx="2208288" cy="385466"/>
            </a:xfrm>
          </p:grpSpPr>
          <p:sp>
            <p:nvSpPr>
              <p:cNvPr id="35" name="Rectangle 34">
                <a:extLst>
                  <a:ext uri="{FF2B5EF4-FFF2-40B4-BE49-F238E27FC236}">
                    <a16:creationId xmlns:a16="http://schemas.microsoft.com/office/drawing/2014/main" id="{2CD6AB6A-8C85-C04F-9FDF-8E0FA3728BFB}"/>
                  </a:ext>
                </a:extLst>
              </p:cNvPr>
              <p:cNvSpPr/>
              <p:nvPr/>
            </p:nvSpPr>
            <p:spPr>
              <a:xfrm>
                <a:off x="4315884" y="1560841"/>
                <a:ext cx="1649489" cy="3854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T1</a:t>
                </a:r>
              </a:p>
            </p:txBody>
          </p:sp>
          <p:sp>
            <p:nvSpPr>
              <p:cNvPr id="36" name="Rectangle 35">
                <a:extLst>
                  <a:ext uri="{FF2B5EF4-FFF2-40B4-BE49-F238E27FC236}">
                    <a16:creationId xmlns:a16="http://schemas.microsoft.com/office/drawing/2014/main" id="{F5EABA0C-1055-6E48-BCBE-83DEEE234AED}"/>
                  </a:ext>
                </a:extLst>
              </p:cNvPr>
              <p:cNvSpPr/>
              <p:nvPr/>
            </p:nvSpPr>
            <p:spPr>
              <a:xfrm>
                <a:off x="5959789" y="1560841"/>
                <a:ext cx="564383" cy="38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T2</a:t>
                </a:r>
              </a:p>
            </p:txBody>
          </p:sp>
        </p:grpSp>
        <p:cxnSp>
          <p:nvCxnSpPr>
            <p:cNvPr id="39" name="Straight Connector 38">
              <a:extLst>
                <a:ext uri="{FF2B5EF4-FFF2-40B4-BE49-F238E27FC236}">
                  <a16:creationId xmlns:a16="http://schemas.microsoft.com/office/drawing/2014/main" id="{31DA189B-E9EE-A147-B6A6-C903CADC1F7B}"/>
                </a:ext>
              </a:extLst>
            </p:cNvPr>
            <p:cNvCxnSpPr>
              <a:cxnSpLocks/>
            </p:cNvCxnSpPr>
            <p:nvPr/>
          </p:nvCxnSpPr>
          <p:spPr>
            <a:xfrm>
              <a:off x="9402235" y="1818389"/>
              <a:ext cx="0" cy="31984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4" name="Rounded Rectangle 43">
              <a:extLst>
                <a:ext uri="{FF2B5EF4-FFF2-40B4-BE49-F238E27FC236}">
                  <a16:creationId xmlns:a16="http://schemas.microsoft.com/office/drawing/2014/main" id="{649D09C7-DFBD-D04F-864B-C5CA39297470}"/>
                </a:ext>
              </a:extLst>
            </p:cNvPr>
            <p:cNvSpPr/>
            <p:nvPr/>
          </p:nvSpPr>
          <p:spPr>
            <a:xfrm>
              <a:off x="8144408" y="2030763"/>
              <a:ext cx="180000" cy="964575"/>
            </a:xfrm>
            <a:prstGeom prst="roundRect">
              <a:avLst>
                <a:gd name="adj" fmla="val 24899"/>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EC8CFB9F-7B6D-504F-92B7-297272AFBAC8}"/>
                </a:ext>
              </a:extLst>
            </p:cNvPr>
            <p:cNvSpPr/>
            <p:nvPr/>
          </p:nvSpPr>
          <p:spPr>
            <a:xfrm>
              <a:off x="7545933" y="3415576"/>
              <a:ext cx="180000" cy="964575"/>
            </a:xfrm>
            <a:prstGeom prst="roundRect">
              <a:avLst>
                <a:gd name="adj" fmla="val 24899"/>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860AC12C-300E-534B-B8A2-B9C26844C78B}"/>
                </a:ext>
              </a:extLst>
            </p:cNvPr>
            <p:cNvSpPr/>
            <p:nvPr/>
          </p:nvSpPr>
          <p:spPr>
            <a:xfrm>
              <a:off x="9020047" y="3415576"/>
              <a:ext cx="180000" cy="964575"/>
            </a:xfrm>
            <a:prstGeom prst="roundRect">
              <a:avLst>
                <a:gd name="adj" fmla="val 24899"/>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610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5E0F98-259D-A346-835D-689407425985}"/>
              </a:ext>
            </a:extLst>
          </p:cNvPr>
          <p:cNvSpPr>
            <a:spLocks noGrp="1"/>
          </p:cNvSpPr>
          <p:nvPr>
            <p:ph type="title"/>
          </p:nvPr>
        </p:nvSpPr>
        <p:spPr/>
        <p:txBody>
          <a:bodyPr/>
          <a:lstStyle/>
          <a:p>
            <a:r>
              <a:rPr lang="en-US" dirty="0"/>
              <a:t>Entanglement Purification</a:t>
            </a:r>
          </a:p>
        </p:txBody>
      </p:sp>
      <p:grpSp>
        <p:nvGrpSpPr>
          <p:cNvPr id="32" name="Group 31">
            <a:extLst>
              <a:ext uri="{FF2B5EF4-FFF2-40B4-BE49-F238E27FC236}">
                <a16:creationId xmlns:a16="http://schemas.microsoft.com/office/drawing/2014/main" id="{65A54D22-B0A8-D94E-B976-345768CA2332}"/>
              </a:ext>
            </a:extLst>
          </p:cNvPr>
          <p:cNvGrpSpPr/>
          <p:nvPr/>
        </p:nvGrpSpPr>
        <p:grpSpPr>
          <a:xfrm>
            <a:off x="741221" y="1849854"/>
            <a:ext cx="3859169" cy="3052761"/>
            <a:chOff x="840075" y="2592727"/>
            <a:chExt cx="3859169" cy="3052761"/>
          </a:xfrm>
        </p:grpSpPr>
        <p:cxnSp>
          <p:nvCxnSpPr>
            <p:cNvPr id="16" name="Straight Connector 15">
              <a:extLst>
                <a:ext uri="{FF2B5EF4-FFF2-40B4-BE49-F238E27FC236}">
                  <a16:creationId xmlns:a16="http://schemas.microsoft.com/office/drawing/2014/main" id="{D5CD8157-B3C7-2745-83FF-21479D9418A7}"/>
                </a:ext>
              </a:extLst>
            </p:cNvPr>
            <p:cNvCxnSpPr>
              <a:cxnSpLocks/>
            </p:cNvCxnSpPr>
            <p:nvPr/>
          </p:nvCxnSpPr>
          <p:spPr>
            <a:xfrm>
              <a:off x="1294264" y="2772727"/>
              <a:ext cx="133395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8D7FB2D5-24B5-B547-B13F-69B328146037}"/>
                </a:ext>
              </a:extLst>
            </p:cNvPr>
            <p:cNvGrpSpPr/>
            <p:nvPr/>
          </p:nvGrpSpPr>
          <p:grpSpPr>
            <a:xfrm>
              <a:off x="2274301" y="2592727"/>
              <a:ext cx="720000" cy="2334162"/>
              <a:chOff x="3902013" y="5099221"/>
              <a:chExt cx="720000" cy="2334162"/>
            </a:xfrm>
          </p:grpSpPr>
          <p:sp>
            <p:nvSpPr>
              <p:cNvPr id="6" name="Oval 5">
                <a:extLst>
                  <a:ext uri="{FF2B5EF4-FFF2-40B4-BE49-F238E27FC236}">
                    <a16:creationId xmlns:a16="http://schemas.microsoft.com/office/drawing/2014/main" id="{90EDBB97-3832-0D4E-94FB-D5B566E4D9CB}"/>
                  </a:ext>
                </a:extLst>
              </p:cNvPr>
              <p:cNvSpPr/>
              <p:nvPr/>
            </p:nvSpPr>
            <p:spPr>
              <a:xfrm>
                <a:off x="3902013" y="6713383"/>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 name="Oval 6">
                <a:extLst>
                  <a:ext uri="{FF2B5EF4-FFF2-40B4-BE49-F238E27FC236}">
                    <a16:creationId xmlns:a16="http://schemas.microsoft.com/office/drawing/2014/main" id="{8C17CCCD-BCCF-C448-90BA-66AF5A5CE4CA}"/>
                  </a:ext>
                </a:extLst>
              </p:cNvPr>
              <p:cNvSpPr>
                <a:spLocks noChangeAspect="1"/>
              </p:cNvSpPr>
              <p:nvPr/>
            </p:nvSpPr>
            <p:spPr>
              <a:xfrm>
                <a:off x="4075930" y="5099221"/>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8" name="Straight Connector 7">
                <a:extLst>
                  <a:ext uri="{FF2B5EF4-FFF2-40B4-BE49-F238E27FC236}">
                    <a16:creationId xmlns:a16="http://schemas.microsoft.com/office/drawing/2014/main" id="{209C814B-4AD1-A444-9A50-77A0A676F869}"/>
                  </a:ext>
                </a:extLst>
              </p:cNvPr>
              <p:cNvCxnSpPr>
                <a:cxnSpLocks/>
                <a:stCxn id="7" idx="4"/>
                <a:endCxn id="6" idx="0"/>
              </p:cNvCxnSpPr>
              <p:nvPr/>
            </p:nvCxnSpPr>
            <p:spPr>
              <a:xfrm>
                <a:off x="4255930" y="5459221"/>
                <a:ext cx="6083" cy="125416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0" name="Left Arrow 19">
              <a:extLst>
                <a:ext uri="{FF2B5EF4-FFF2-40B4-BE49-F238E27FC236}">
                  <a16:creationId xmlns:a16="http://schemas.microsoft.com/office/drawing/2014/main" id="{C5316775-C50F-FB42-B1C4-527F8CBD6AA7}"/>
                </a:ext>
              </a:extLst>
            </p:cNvPr>
            <p:cNvSpPr/>
            <p:nvPr/>
          </p:nvSpPr>
          <p:spPr>
            <a:xfrm>
              <a:off x="2808218" y="2688756"/>
              <a:ext cx="1531026" cy="18000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0B246F6-5AF4-0646-A92C-F4450531E898}"/>
                </a:ext>
              </a:extLst>
            </p:cNvPr>
            <p:cNvSpPr/>
            <p:nvPr/>
          </p:nvSpPr>
          <p:spPr>
            <a:xfrm>
              <a:off x="4339244" y="2592727"/>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Left Arrow 21">
              <a:extLst>
                <a:ext uri="{FF2B5EF4-FFF2-40B4-BE49-F238E27FC236}">
                  <a16:creationId xmlns:a16="http://schemas.microsoft.com/office/drawing/2014/main" id="{C2566766-61BF-AC46-8E9B-FC5221914BC3}"/>
                </a:ext>
              </a:extLst>
            </p:cNvPr>
            <p:cNvSpPr/>
            <p:nvPr/>
          </p:nvSpPr>
          <p:spPr>
            <a:xfrm>
              <a:off x="2994301" y="4492939"/>
              <a:ext cx="1531026" cy="18000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F8E181E-2B73-6D42-A42D-3AF8846A4642}"/>
                </a:ext>
              </a:extLst>
            </p:cNvPr>
            <p:cNvSpPr/>
            <p:nvPr/>
          </p:nvSpPr>
          <p:spPr>
            <a:xfrm>
              <a:off x="4339244" y="441000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80BFFF54-5425-0643-959F-BF8AC16387AD}"/>
                </a:ext>
              </a:extLst>
            </p:cNvPr>
            <p:cNvCxnSpPr>
              <a:cxnSpLocks/>
            </p:cNvCxnSpPr>
            <p:nvPr/>
          </p:nvCxnSpPr>
          <p:spPr>
            <a:xfrm>
              <a:off x="940347" y="4588861"/>
              <a:ext cx="133395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9172BEB5-18B9-BF4C-A1EB-C0ED507A3D99}"/>
                </a:ext>
              </a:extLst>
            </p:cNvPr>
            <p:cNvGrpSpPr/>
            <p:nvPr/>
          </p:nvGrpSpPr>
          <p:grpSpPr>
            <a:xfrm>
              <a:off x="840075" y="4244597"/>
              <a:ext cx="720000" cy="807700"/>
              <a:chOff x="6128687" y="2341797"/>
              <a:chExt cx="720000" cy="807700"/>
            </a:xfrm>
          </p:grpSpPr>
          <p:sp>
            <p:nvSpPr>
              <p:cNvPr id="26" name="Rectangle 25">
                <a:extLst>
                  <a:ext uri="{FF2B5EF4-FFF2-40B4-BE49-F238E27FC236}">
                    <a16:creationId xmlns:a16="http://schemas.microsoft.com/office/drawing/2014/main" id="{D9BADF63-C648-9B45-9860-78450DBA35AB}"/>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7" name="Arc 26">
                <a:extLst>
                  <a:ext uri="{FF2B5EF4-FFF2-40B4-BE49-F238E27FC236}">
                    <a16:creationId xmlns:a16="http://schemas.microsoft.com/office/drawing/2014/main" id="{06F96166-F2EB-C945-9792-7536DF88A8D3}"/>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F9093F8A-DC42-0140-B238-6EB137B1DFBA}"/>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B9460C4B-3664-8746-88AE-BCF095C5673E}"/>
                </a:ext>
              </a:extLst>
            </p:cNvPr>
            <p:cNvSpPr/>
            <p:nvPr/>
          </p:nvSpPr>
          <p:spPr>
            <a:xfrm>
              <a:off x="4429244" y="4505213"/>
              <a:ext cx="180000" cy="180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3223363-9B1B-D049-A2B1-54FE3A08B43E}"/>
                </a:ext>
              </a:extLst>
            </p:cNvPr>
            <p:cNvSpPr/>
            <p:nvPr/>
          </p:nvSpPr>
          <p:spPr>
            <a:xfrm>
              <a:off x="4429244" y="2679231"/>
              <a:ext cx="180000" cy="180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a:extLst>
                <a:ext uri="{FF2B5EF4-FFF2-40B4-BE49-F238E27FC236}">
                  <a16:creationId xmlns:a16="http://schemas.microsoft.com/office/drawing/2014/main" id="{EBFB0607-F079-2D4F-95F5-731CE01B9469}"/>
                </a:ext>
              </a:extLst>
            </p:cNvPr>
            <p:cNvSpPr/>
            <p:nvPr/>
          </p:nvSpPr>
          <p:spPr>
            <a:xfrm>
              <a:off x="1081789" y="4972234"/>
              <a:ext cx="254000" cy="673254"/>
            </a:xfrm>
            <a:prstGeom prst="downArrow">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a16:creationId xmlns:a16="http://schemas.microsoft.com/office/drawing/2014/main" id="{D2D57A0F-53AD-5245-8B3F-CBBD18DE5E51}"/>
              </a:ext>
            </a:extLst>
          </p:cNvPr>
          <p:cNvCxnSpPr>
            <a:cxnSpLocks/>
          </p:cNvCxnSpPr>
          <p:nvPr/>
        </p:nvCxnSpPr>
        <p:spPr>
          <a:xfrm flipH="1">
            <a:off x="9186870" y="2029854"/>
            <a:ext cx="133395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35053B14-60CA-3D4C-A087-901B0A1C966F}"/>
              </a:ext>
            </a:extLst>
          </p:cNvPr>
          <p:cNvGrpSpPr/>
          <p:nvPr/>
        </p:nvGrpSpPr>
        <p:grpSpPr>
          <a:xfrm flipH="1">
            <a:off x="8820787" y="1849854"/>
            <a:ext cx="720000" cy="2334162"/>
            <a:chOff x="3902013" y="5099221"/>
            <a:chExt cx="720000" cy="2334162"/>
          </a:xfrm>
        </p:grpSpPr>
        <p:sp>
          <p:nvSpPr>
            <p:cNvPr id="48" name="Oval 47">
              <a:extLst>
                <a:ext uri="{FF2B5EF4-FFF2-40B4-BE49-F238E27FC236}">
                  <a16:creationId xmlns:a16="http://schemas.microsoft.com/office/drawing/2014/main" id="{A851B91B-55D4-ED41-8160-6B40FC0E7BD7}"/>
                </a:ext>
              </a:extLst>
            </p:cNvPr>
            <p:cNvSpPr/>
            <p:nvPr/>
          </p:nvSpPr>
          <p:spPr>
            <a:xfrm>
              <a:off x="3902013" y="6713383"/>
              <a:ext cx="720000" cy="72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9" name="Oval 48">
              <a:extLst>
                <a:ext uri="{FF2B5EF4-FFF2-40B4-BE49-F238E27FC236}">
                  <a16:creationId xmlns:a16="http://schemas.microsoft.com/office/drawing/2014/main" id="{B76C0E95-6BFA-214B-B90D-04AE4326329F}"/>
                </a:ext>
              </a:extLst>
            </p:cNvPr>
            <p:cNvSpPr>
              <a:spLocks noChangeAspect="1"/>
            </p:cNvSpPr>
            <p:nvPr/>
          </p:nvSpPr>
          <p:spPr>
            <a:xfrm>
              <a:off x="4075930" y="5099221"/>
              <a:ext cx="360000" cy="3600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0" name="Straight Connector 49">
              <a:extLst>
                <a:ext uri="{FF2B5EF4-FFF2-40B4-BE49-F238E27FC236}">
                  <a16:creationId xmlns:a16="http://schemas.microsoft.com/office/drawing/2014/main" id="{B2CC6560-F3E7-3A40-A27D-E439AF12B4F7}"/>
                </a:ext>
              </a:extLst>
            </p:cNvPr>
            <p:cNvCxnSpPr>
              <a:cxnSpLocks/>
              <a:stCxn id="49" idx="4"/>
              <a:endCxn id="48" idx="0"/>
            </p:cNvCxnSpPr>
            <p:nvPr/>
          </p:nvCxnSpPr>
          <p:spPr>
            <a:xfrm>
              <a:off x="4255930" y="5459221"/>
              <a:ext cx="6083" cy="1254162"/>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6" name="Left Arrow 35">
            <a:extLst>
              <a:ext uri="{FF2B5EF4-FFF2-40B4-BE49-F238E27FC236}">
                <a16:creationId xmlns:a16="http://schemas.microsoft.com/office/drawing/2014/main" id="{6B428EA1-FCE4-3742-943D-12C217940F09}"/>
              </a:ext>
            </a:extLst>
          </p:cNvPr>
          <p:cNvSpPr/>
          <p:nvPr/>
        </p:nvSpPr>
        <p:spPr>
          <a:xfrm flipH="1">
            <a:off x="7475844" y="1945883"/>
            <a:ext cx="1531026" cy="18000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82401E5-FC7A-5349-8A0D-37E2F80091E1}"/>
              </a:ext>
            </a:extLst>
          </p:cNvPr>
          <p:cNvSpPr/>
          <p:nvPr/>
        </p:nvSpPr>
        <p:spPr>
          <a:xfrm flipH="1">
            <a:off x="7115844" y="1849854"/>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Left Arrow 37">
            <a:extLst>
              <a:ext uri="{FF2B5EF4-FFF2-40B4-BE49-F238E27FC236}">
                <a16:creationId xmlns:a16="http://schemas.microsoft.com/office/drawing/2014/main" id="{756F7B22-C7E3-9B42-8CE0-DCFE81E4AE2A}"/>
              </a:ext>
            </a:extLst>
          </p:cNvPr>
          <p:cNvSpPr/>
          <p:nvPr/>
        </p:nvSpPr>
        <p:spPr>
          <a:xfrm flipH="1">
            <a:off x="7289761" y="3750066"/>
            <a:ext cx="1531026" cy="18000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ACBFC82-7412-2441-8FC3-9F1FE7463B90}"/>
              </a:ext>
            </a:extLst>
          </p:cNvPr>
          <p:cNvSpPr/>
          <p:nvPr/>
        </p:nvSpPr>
        <p:spPr>
          <a:xfrm flipH="1">
            <a:off x="7115844" y="366712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1C342A8C-0EAE-914B-8913-BD6B5A59769E}"/>
              </a:ext>
            </a:extLst>
          </p:cNvPr>
          <p:cNvCxnSpPr>
            <a:cxnSpLocks/>
          </p:cNvCxnSpPr>
          <p:nvPr/>
        </p:nvCxnSpPr>
        <p:spPr>
          <a:xfrm flipH="1">
            <a:off x="9540787" y="3845988"/>
            <a:ext cx="133395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3302E72D-9C59-8C49-942A-8381F3E29A06}"/>
              </a:ext>
            </a:extLst>
          </p:cNvPr>
          <p:cNvGrpSpPr/>
          <p:nvPr/>
        </p:nvGrpSpPr>
        <p:grpSpPr>
          <a:xfrm>
            <a:off x="10255013" y="3501724"/>
            <a:ext cx="720000" cy="807700"/>
            <a:chOff x="6128687" y="2341797"/>
            <a:chExt cx="720000" cy="807700"/>
          </a:xfrm>
        </p:grpSpPr>
        <p:sp>
          <p:nvSpPr>
            <p:cNvPr id="45" name="Rectangle 44">
              <a:extLst>
                <a:ext uri="{FF2B5EF4-FFF2-40B4-BE49-F238E27FC236}">
                  <a16:creationId xmlns:a16="http://schemas.microsoft.com/office/drawing/2014/main" id="{E1305D95-60F7-8E4C-B1C6-CBFC4A08C2E5}"/>
                </a:ext>
              </a:extLst>
            </p:cNvPr>
            <p:cNvSpPr/>
            <p:nvPr/>
          </p:nvSpPr>
          <p:spPr>
            <a:xfrm>
              <a:off x="6128687" y="2341797"/>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6" name="Arc 45">
              <a:extLst>
                <a:ext uri="{FF2B5EF4-FFF2-40B4-BE49-F238E27FC236}">
                  <a16:creationId xmlns:a16="http://schemas.microsoft.com/office/drawing/2014/main" id="{232D125D-438F-CF44-99BF-EECE571EF806}"/>
                </a:ext>
              </a:extLst>
            </p:cNvPr>
            <p:cNvSpPr/>
            <p:nvPr/>
          </p:nvSpPr>
          <p:spPr>
            <a:xfrm>
              <a:off x="6234687" y="2625089"/>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DCC1AD19-CD33-5044-A38D-0BBE32E9B73D}"/>
                </a:ext>
              </a:extLst>
            </p:cNvPr>
            <p:cNvCxnSpPr>
              <a:cxnSpLocks/>
            </p:cNvCxnSpPr>
            <p:nvPr/>
          </p:nvCxnSpPr>
          <p:spPr>
            <a:xfrm flipV="1">
              <a:off x="6488687" y="2515741"/>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42" name="Oval 41">
            <a:extLst>
              <a:ext uri="{FF2B5EF4-FFF2-40B4-BE49-F238E27FC236}">
                <a16:creationId xmlns:a16="http://schemas.microsoft.com/office/drawing/2014/main" id="{5F69DB71-95EB-254D-8240-8E311D72E8ED}"/>
              </a:ext>
            </a:extLst>
          </p:cNvPr>
          <p:cNvSpPr/>
          <p:nvPr/>
        </p:nvSpPr>
        <p:spPr>
          <a:xfrm flipH="1">
            <a:off x="7205844" y="3762340"/>
            <a:ext cx="180000" cy="180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1D07D55-0E48-AE49-AA68-20268708C3BE}"/>
              </a:ext>
            </a:extLst>
          </p:cNvPr>
          <p:cNvSpPr/>
          <p:nvPr/>
        </p:nvSpPr>
        <p:spPr>
          <a:xfrm flipH="1">
            <a:off x="7205844" y="1936358"/>
            <a:ext cx="180000" cy="180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a:extLst>
              <a:ext uri="{FF2B5EF4-FFF2-40B4-BE49-F238E27FC236}">
                <a16:creationId xmlns:a16="http://schemas.microsoft.com/office/drawing/2014/main" id="{6CB18ADA-A6EC-0D47-9F1F-282B725E7F63}"/>
              </a:ext>
            </a:extLst>
          </p:cNvPr>
          <p:cNvSpPr/>
          <p:nvPr/>
        </p:nvSpPr>
        <p:spPr>
          <a:xfrm flipH="1">
            <a:off x="10479299" y="4229361"/>
            <a:ext cx="254000" cy="673254"/>
          </a:xfrm>
          <a:prstGeom prst="downArrow">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AF0BAB66-C7D8-2C4E-9041-24B9A66E430D}"/>
              </a:ext>
            </a:extLst>
          </p:cNvPr>
          <p:cNvPicPr>
            <a:picLocks noChangeAspect="1"/>
          </p:cNvPicPr>
          <p:nvPr/>
        </p:nvPicPr>
        <p:blipFill>
          <a:blip r:embed="rId3"/>
          <a:stretch>
            <a:fillRect/>
          </a:stretch>
        </p:blipFill>
        <p:spPr>
          <a:xfrm>
            <a:off x="2072364" y="5110607"/>
            <a:ext cx="823083" cy="823083"/>
          </a:xfrm>
          <a:prstGeom prst="rect">
            <a:avLst/>
          </a:prstGeom>
        </p:spPr>
      </p:pic>
      <p:pic>
        <p:nvPicPr>
          <p:cNvPr id="52" name="Picture 51">
            <a:extLst>
              <a:ext uri="{FF2B5EF4-FFF2-40B4-BE49-F238E27FC236}">
                <a16:creationId xmlns:a16="http://schemas.microsoft.com/office/drawing/2014/main" id="{F86BED5E-B1DD-DC48-805A-DD8523A7C21F}"/>
              </a:ext>
            </a:extLst>
          </p:cNvPr>
          <p:cNvPicPr>
            <a:picLocks noChangeAspect="1"/>
          </p:cNvPicPr>
          <p:nvPr/>
        </p:nvPicPr>
        <p:blipFill>
          <a:blip r:embed="rId3"/>
          <a:stretch>
            <a:fillRect/>
          </a:stretch>
        </p:blipFill>
        <p:spPr>
          <a:xfrm flipH="1">
            <a:off x="8654483" y="5123485"/>
            <a:ext cx="823083" cy="823083"/>
          </a:xfrm>
          <a:prstGeom prst="rect">
            <a:avLst/>
          </a:prstGeom>
        </p:spPr>
      </p:pic>
      <p:sp>
        <p:nvSpPr>
          <p:cNvPr id="53" name="Freeform 52">
            <a:extLst>
              <a:ext uri="{FF2B5EF4-FFF2-40B4-BE49-F238E27FC236}">
                <a16:creationId xmlns:a16="http://schemas.microsoft.com/office/drawing/2014/main" id="{2B921125-B37D-4545-9921-47BEFB711B35}"/>
              </a:ext>
            </a:extLst>
          </p:cNvPr>
          <p:cNvSpPr/>
          <p:nvPr/>
        </p:nvSpPr>
        <p:spPr>
          <a:xfrm>
            <a:off x="5650308" y="4842138"/>
            <a:ext cx="415618" cy="1326162"/>
          </a:xfrm>
          <a:custGeom>
            <a:avLst/>
            <a:gdLst>
              <a:gd name="connsiteX0" fmla="*/ 0 w 304800"/>
              <a:gd name="connsiteY0" fmla="*/ 636501 h 1326162"/>
              <a:gd name="connsiteX1" fmla="*/ 58615 w 304800"/>
              <a:gd name="connsiteY1" fmla="*/ 21039 h 1326162"/>
              <a:gd name="connsiteX2" fmla="*/ 228600 w 304800"/>
              <a:gd name="connsiteY2" fmla="*/ 1316439 h 1326162"/>
              <a:gd name="connsiteX3" fmla="*/ 304800 w 304800"/>
              <a:gd name="connsiteY3" fmla="*/ 648224 h 1326162"/>
              <a:gd name="connsiteX4" fmla="*/ 304800 w 304800"/>
              <a:gd name="connsiteY4" fmla="*/ 648224 h 1326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326162">
                <a:moveTo>
                  <a:pt x="0" y="636501"/>
                </a:moveTo>
                <a:cubicBezTo>
                  <a:pt x="10257" y="272108"/>
                  <a:pt x="20515" y="-92284"/>
                  <a:pt x="58615" y="21039"/>
                </a:cubicBezTo>
                <a:cubicBezTo>
                  <a:pt x="96715" y="134362"/>
                  <a:pt x="187569" y="1211908"/>
                  <a:pt x="228600" y="1316439"/>
                </a:cubicBezTo>
                <a:cubicBezTo>
                  <a:pt x="269631" y="1420970"/>
                  <a:pt x="304800" y="648224"/>
                  <a:pt x="304800" y="648224"/>
                </a:cubicBezTo>
                <a:lnTo>
                  <a:pt x="304800" y="648224"/>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EDD81AF2-1D7F-B54A-BC3A-33472ECA102D}"/>
              </a:ext>
            </a:extLst>
          </p:cNvPr>
          <p:cNvCxnSpPr>
            <a:cxnSpLocks/>
            <a:endCxn id="51" idx="3"/>
          </p:cNvCxnSpPr>
          <p:nvPr/>
        </p:nvCxnSpPr>
        <p:spPr>
          <a:xfrm flipH="1">
            <a:off x="2895447" y="5522147"/>
            <a:ext cx="2695718"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319278E-90B9-8E4E-A7B9-B50F269B1E2D}"/>
              </a:ext>
            </a:extLst>
          </p:cNvPr>
          <p:cNvCxnSpPr>
            <a:cxnSpLocks/>
            <a:stCxn id="52" idx="3"/>
          </p:cNvCxnSpPr>
          <p:nvPr/>
        </p:nvCxnSpPr>
        <p:spPr>
          <a:xfrm flipH="1">
            <a:off x="6127985" y="5535027"/>
            <a:ext cx="2526498" cy="19222"/>
          </a:xfrm>
          <a:prstGeom prst="line">
            <a:avLst/>
          </a:prstGeom>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229C25A1-615C-5443-BF17-B9A555C9DE3D}"/>
              </a:ext>
            </a:extLst>
          </p:cNvPr>
          <p:cNvSpPr txBox="1"/>
          <p:nvPr/>
        </p:nvSpPr>
        <p:spPr>
          <a:xfrm>
            <a:off x="1571335" y="4450052"/>
            <a:ext cx="639919" cy="523220"/>
          </a:xfrm>
          <a:prstGeom prst="rect">
            <a:avLst/>
          </a:prstGeom>
          <a:noFill/>
        </p:spPr>
        <p:txBody>
          <a:bodyPr wrap="none" rtlCol="0">
            <a:spAutoFit/>
          </a:bodyPr>
          <a:lstStyle/>
          <a:p>
            <a:r>
              <a:rPr lang="en-US" sz="2800" dirty="0"/>
              <a:t>0,1</a:t>
            </a:r>
          </a:p>
        </p:txBody>
      </p:sp>
      <p:sp>
        <p:nvSpPr>
          <p:cNvPr id="59" name="TextBox 58">
            <a:extLst>
              <a:ext uri="{FF2B5EF4-FFF2-40B4-BE49-F238E27FC236}">
                <a16:creationId xmlns:a16="http://schemas.microsoft.com/office/drawing/2014/main" id="{AFC5EEE7-71D9-DE4D-B5E7-5D617C228983}"/>
              </a:ext>
            </a:extLst>
          </p:cNvPr>
          <p:cNvSpPr txBox="1"/>
          <p:nvPr/>
        </p:nvSpPr>
        <p:spPr>
          <a:xfrm>
            <a:off x="9533887" y="4384514"/>
            <a:ext cx="639919" cy="523220"/>
          </a:xfrm>
          <a:prstGeom prst="rect">
            <a:avLst/>
          </a:prstGeom>
          <a:noFill/>
        </p:spPr>
        <p:txBody>
          <a:bodyPr wrap="none" rtlCol="0">
            <a:spAutoFit/>
          </a:bodyPr>
          <a:lstStyle/>
          <a:p>
            <a:r>
              <a:rPr lang="en-US" sz="2800" dirty="0"/>
              <a:t>0,1</a:t>
            </a:r>
          </a:p>
        </p:txBody>
      </p:sp>
      <p:grpSp>
        <p:nvGrpSpPr>
          <p:cNvPr id="69" name="Group 68">
            <a:extLst>
              <a:ext uri="{FF2B5EF4-FFF2-40B4-BE49-F238E27FC236}">
                <a16:creationId xmlns:a16="http://schemas.microsoft.com/office/drawing/2014/main" id="{7519E0E4-3777-244C-BFAB-D84753DE33FE}"/>
              </a:ext>
            </a:extLst>
          </p:cNvPr>
          <p:cNvGrpSpPr/>
          <p:nvPr/>
        </p:nvGrpSpPr>
        <p:grpSpPr>
          <a:xfrm>
            <a:off x="5106449" y="2477973"/>
            <a:ext cx="1503336" cy="867012"/>
            <a:chOff x="5019490" y="2403429"/>
            <a:chExt cx="1503336" cy="867012"/>
          </a:xfrm>
        </p:grpSpPr>
        <p:sp>
          <p:nvSpPr>
            <p:cNvPr id="60" name="Rectangle 59">
              <a:extLst>
                <a:ext uri="{FF2B5EF4-FFF2-40B4-BE49-F238E27FC236}">
                  <a16:creationId xmlns:a16="http://schemas.microsoft.com/office/drawing/2014/main" id="{316FDB6D-3828-3540-8FB1-621ADC26E103}"/>
                </a:ext>
              </a:extLst>
            </p:cNvPr>
            <p:cNvSpPr/>
            <p:nvPr/>
          </p:nvSpPr>
          <p:spPr>
            <a:xfrm>
              <a:off x="5019490" y="2403429"/>
              <a:ext cx="1503336" cy="867012"/>
            </a:xfrm>
            <a:prstGeom prst="rect">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0EB97E4-1305-5445-B9A0-26978F061BFF}"/>
                </a:ext>
              </a:extLst>
            </p:cNvPr>
            <p:cNvSpPr/>
            <p:nvPr/>
          </p:nvSpPr>
          <p:spPr>
            <a:xfrm>
              <a:off x="5330975" y="2566857"/>
              <a:ext cx="894036" cy="540156"/>
            </a:xfrm>
            <a:prstGeom prst="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AE3E4162-CE92-0F4B-BDD3-EF7200458503}"/>
                </a:ext>
              </a:extLst>
            </p:cNvPr>
            <p:cNvCxnSpPr>
              <a:cxnSpLocks/>
            </p:cNvCxnSpPr>
            <p:nvPr/>
          </p:nvCxnSpPr>
          <p:spPr>
            <a:xfrm>
              <a:off x="5324140" y="2695903"/>
              <a:ext cx="90087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C1F6912-F0D0-9E43-86DB-64C638087B8A}"/>
                </a:ext>
              </a:extLst>
            </p:cNvPr>
            <p:cNvCxnSpPr>
              <a:cxnSpLocks/>
            </p:cNvCxnSpPr>
            <p:nvPr/>
          </p:nvCxnSpPr>
          <p:spPr>
            <a:xfrm>
              <a:off x="5320722" y="2836935"/>
              <a:ext cx="90087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EDB61A-81B1-A44B-94E3-CDCF98A5CE38}"/>
                </a:ext>
              </a:extLst>
            </p:cNvPr>
            <p:cNvCxnSpPr>
              <a:cxnSpLocks/>
            </p:cNvCxnSpPr>
            <p:nvPr/>
          </p:nvCxnSpPr>
          <p:spPr>
            <a:xfrm>
              <a:off x="5317304" y="2977967"/>
              <a:ext cx="900871" cy="0"/>
            </a:xfrm>
            <a:prstGeom prst="line">
              <a:avLst/>
            </a:prstGeom>
            <a:ln w="25400"/>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6A2E6595-D5B8-CC47-9640-3AD260DE7245}"/>
              </a:ext>
            </a:extLst>
          </p:cNvPr>
          <p:cNvSpPr txBox="1"/>
          <p:nvPr/>
        </p:nvSpPr>
        <p:spPr>
          <a:xfrm>
            <a:off x="5179640" y="3316826"/>
            <a:ext cx="1298048" cy="461665"/>
          </a:xfrm>
          <a:prstGeom prst="rect">
            <a:avLst/>
          </a:prstGeom>
          <a:noFill/>
        </p:spPr>
        <p:txBody>
          <a:bodyPr wrap="none" rtlCol="0">
            <a:spAutoFit/>
          </a:bodyPr>
          <a:lstStyle/>
          <a:p>
            <a:r>
              <a:rPr lang="en-US" sz="2400" dirty="0" err="1"/>
              <a:t>repetitor</a:t>
            </a:r>
            <a:endParaRPr lang="en-US" sz="2400" dirty="0"/>
          </a:p>
        </p:txBody>
      </p:sp>
      <p:sp>
        <p:nvSpPr>
          <p:cNvPr id="73" name="TextBox 72">
            <a:extLst>
              <a:ext uri="{FF2B5EF4-FFF2-40B4-BE49-F238E27FC236}">
                <a16:creationId xmlns:a16="http://schemas.microsoft.com/office/drawing/2014/main" id="{726BC3FE-423C-8D4D-8A0F-9D3F98EAD49E}"/>
              </a:ext>
            </a:extLst>
          </p:cNvPr>
          <p:cNvSpPr txBox="1"/>
          <p:nvPr/>
        </p:nvSpPr>
        <p:spPr>
          <a:xfrm>
            <a:off x="5162689" y="1406953"/>
            <a:ext cx="1056700" cy="707886"/>
          </a:xfrm>
          <a:prstGeom prst="rect">
            <a:avLst/>
          </a:prstGeom>
          <a:noFill/>
        </p:spPr>
        <p:txBody>
          <a:bodyPr wrap="none" rtlCol="0">
            <a:spAutoFit/>
          </a:bodyPr>
          <a:lstStyle/>
          <a:p>
            <a:r>
              <a:rPr lang="en-US" sz="4000" dirty="0"/>
              <a:t>|B</a:t>
            </a:r>
            <a:r>
              <a:rPr lang="en-US" sz="4000" baseline="-25000" dirty="0"/>
              <a:t>1</a:t>
            </a:r>
            <a:r>
              <a:rPr lang="en-US" sz="4000" dirty="0"/>
              <a:t>⟩</a:t>
            </a:r>
          </a:p>
        </p:txBody>
      </p:sp>
      <p:sp>
        <p:nvSpPr>
          <p:cNvPr id="74" name="TextBox 73">
            <a:extLst>
              <a:ext uri="{FF2B5EF4-FFF2-40B4-BE49-F238E27FC236}">
                <a16:creationId xmlns:a16="http://schemas.microsoft.com/office/drawing/2014/main" id="{95F012B9-DCC0-B247-8208-EB374555F0D0}"/>
              </a:ext>
            </a:extLst>
          </p:cNvPr>
          <p:cNvSpPr txBox="1"/>
          <p:nvPr/>
        </p:nvSpPr>
        <p:spPr>
          <a:xfrm>
            <a:off x="5216732" y="3910890"/>
            <a:ext cx="1056700" cy="707886"/>
          </a:xfrm>
          <a:prstGeom prst="rect">
            <a:avLst/>
          </a:prstGeom>
          <a:noFill/>
        </p:spPr>
        <p:txBody>
          <a:bodyPr wrap="none" rtlCol="0">
            <a:spAutoFit/>
          </a:bodyPr>
          <a:lstStyle/>
          <a:p>
            <a:r>
              <a:rPr lang="en-US" sz="4000" dirty="0"/>
              <a:t>|B</a:t>
            </a:r>
            <a:r>
              <a:rPr lang="en-US" sz="4000" baseline="-25000" dirty="0"/>
              <a:t>2</a:t>
            </a:r>
            <a:r>
              <a:rPr lang="en-US" sz="4000" dirty="0"/>
              <a:t>⟩</a:t>
            </a:r>
          </a:p>
        </p:txBody>
      </p:sp>
      <p:sp>
        <p:nvSpPr>
          <p:cNvPr id="56" name="Slide Number Placeholder 2">
            <a:extLst>
              <a:ext uri="{FF2B5EF4-FFF2-40B4-BE49-F238E27FC236}">
                <a16:creationId xmlns:a16="http://schemas.microsoft.com/office/drawing/2014/main" id="{41451B7A-5518-E747-821D-23A371CC85B2}"/>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40</a:t>
            </a:fld>
            <a:endParaRPr lang="en-US" dirty="0"/>
          </a:p>
        </p:txBody>
      </p:sp>
      <p:pic>
        <p:nvPicPr>
          <p:cNvPr id="62" name="Picture 61">
            <a:extLst>
              <a:ext uri="{FF2B5EF4-FFF2-40B4-BE49-F238E27FC236}">
                <a16:creationId xmlns:a16="http://schemas.microsoft.com/office/drawing/2014/main" id="{13D506CF-B41B-AE49-818A-1B844FA3F4CB}"/>
              </a:ext>
            </a:extLst>
          </p:cNvPr>
          <p:cNvPicPr>
            <a:picLocks noChangeAspect="1"/>
          </p:cNvPicPr>
          <p:nvPr/>
        </p:nvPicPr>
        <p:blipFill>
          <a:blip r:embed="rId4"/>
          <a:stretch>
            <a:fillRect/>
          </a:stretch>
        </p:blipFill>
        <p:spPr>
          <a:xfrm>
            <a:off x="974058" y="5254379"/>
            <a:ext cx="762326" cy="1174276"/>
          </a:xfrm>
          <a:prstGeom prst="rect">
            <a:avLst/>
          </a:prstGeom>
        </p:spPr>
      </p:pic>
      <p:pic>
        <p:nvPicPr>
          <p:cNvPr id="64" name="Picture 63">
            <a:extLst>
              <a:ext uri="{FF2B5EF4-FFF2-40B4-BE49-F238E27FC236}">
                <a16:creationId xmlns:a16="http://schemas.microsoft.com/office/drawing/2014/main" id="{D49F821D-AAE4-0C43-B12B-8DCE1058A04D}"/>
              </a:ext>
            </a:extLst>
          </p:cNvPr>
          <p:cNvPicPr>
            <a:picLocks noChangeAspect="1"/>
          </p:cNvPicPr>
          <p:nvPr/>
        </p:nvPicPr>
        <p:blipFill>
          <a:blip r:embed="rId5"/>
          <a:stretch>
            <a:fillRect/>
          </a:stretch>
        </p:blipFill>
        <p:spPr>
          <a:xfrm>
            <a:off x="9748457" y="5068025"/>
            <a:ext cx="918613" cy="1360630"/>
          </a:xfrm>
          <a:prstGeom prst="rect">
            <a:avLst/>
          </a:prstGeom>
        </p:spPr>
      </p:pic>
    </p:spTree>
    <p:extLst>
      <p:ext uri="{BB962C8B-B14F-4D97-AF65-F5344CB8AC3E}">
        <p14:creationId xmlns:p14="http://schemas.microsoft.com/office/powerpoint/2010/main" val="1651261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2">
            <a:extLst>
              <a:ext uri="{FF2B5EF4-FFF2-40B4-BE49-F238E27FC236}">
                <a16:creationId xmlns:a16="http://schemas.microsoft.com/office/drawing/2014/main" id="{6A13054F-3DC7-024F-A22B-124BA73F673C}"/>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41</a:t>
            </a:fld>
            <a:endParaRPr lang="en-US" dirty="0"/>
          </a:p>
        </p:txBody>
      </p:sp>
      <p:sp>
        <p:nvSpPr>
          <p:cNvPr id="8" name="TextBox 7">
            <a:extLst>
              <a:ext uri="{FF2B5EF4-FFF2-40B4-BE49-F238E27FC236}">
                <a16:creationId xmlns:a16="http://schemas.microsoft.com/office/drawing/2014/main" id="{D769AEEC-3DA3-C545-A095-7377DA12679A}"/>
              </a:ext>
            </a:extLst>
          </p:cNvPr>
          <p:cNvSpPr txBox="1"/>
          <p:nvPr/>
        </p:nvSpPr>
        <p:spPr>
          <a:xfrm>
            <a:off x="482644" y="5218277"/>
            <a:ext cx="3607847" cy="400110"/>
          </a:xfrm>
          <a:prstGeom prst="rect">
            <a:avLst/>
          </a:prstGeom>
          <a:noFill/>
        </p:spPr>
        <p:txBody>
          <a:bodyPr wrap="none" rtlCol="0">
            <a:spAutoFit/>
          </a:bodyPr>
          <a:lstStyle/>
          <a:p>
            <a:r>
              <a:rPr lang="en-US" sz="2000" dirty="0">
                <a:solidFill>
                  <a:schemeClr val="bg1"/>
                </a:solidFill>
              </a:rPr>
              <a:t>Quantum Internet Alliance (QAI)</a:t>
            </a:r>
          </a:p>
        </p:txBody>
      </p:sp>
      <p:pic>
        <p:nvPicPr>
          <p:cNvPr id="3" name="Picture 2">
            <a:extLst>
              <a:ext uri="{FF2B5EF4-FFF2-40B4-BE49-F238E27FC236}">
                <a16:creationId xmlns:a16="http://schemas.microsoft.com/office/drawing/2014/main" id="{F00EF7C3-A265-3F46-8157-2475462AAE9D}"/>
              </a:ext>
            </a:extLst>
          </p:cNvPr>
          <p:cNvPicPr>
            <a:picLocks noChangeAspect="1"/>
          </p:cNvPicPr>
          <p:nvPr/>
        </p:nvPicPr>
        <p:blipFill>
          <a:blip r:embed="rId3"/>
          <a:stretch>
            <a:fillRect/>
          </a:stretch>
        </p:blipFill>
        <p:spPr>
          <a:xfrm>
            <a:off x="847164" y="0"/>
            <a:ext cx="10287000" cy="6858000"/>
          </a:xfrm>
          <a:prstGeom prst="rect">
            <a:avLst/>
          </a:prstGeom>
        </p:spPr>
      </p:pic>
    </p:spTree>
    <p:extLst>
      <p:ext uri="{BB962C8B-B14F-4D97-AF65-F5344CB8AC3E}">
        <p14:creationId xmlns:p14="http://schemas.microsoft.com/office/powerpoint/2010/main" val="5200960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a:xfrm>
            <a:off x="9448799" y="6378335"/>
            <a:ext cx="2743200" cy="365125"/>
          </a:xfrm>
        </p:spPr>
        <p:txBody>
          <a:bodyPr/>
          <a:lstStyle/>
          <a:p>
            <a:fld id="{591A223C-FA10-BC46-A853-03BA373D023C}" type="slidenum">
              <a:rPr lang="en-US" smtClean="0"/>
              <a:t>42</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6" name="Picture 5">
            <a:extLst>
              <a:ext uri="{FF2B5EF4-FFF2-40B4-BE49-F238E27FC236}">
                <a16:creationId xmlns:a16="http://schemas.microsoft.com/office/drawing/2014/main" id="{25CAF79D-906F-8845-86FA-72185BFDBBFD}"/>
              </a:ext>
            </a:extLst>
          </p:cNvPr>
          <p:cNvPicPr>
            <a:picLocks noChangeAspect="1"/>
          </p:cNvPicPr>
          <p:nvPr/>
        </p:nvPicPr>
        <p:blipFill>
          <a:blip r:embed="rId4"/>
          <a:stretch>
            <a:fillRect/>
          </a:stretch>
        </p:blipFill>
        <p:spPr>
          <a:xfrm>
            <a:off x="3391418" y="3157998"/>
            <a:ext cx="3314700" cy="3365500"/>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925822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52887</TotalTime>
  <Words>7769</Words>
  <Application>Microsoft Macintosh PowerPoint</Application>
  <PresentationFormat>Widescreen</PresentationFormat>
  <Paragraphs>845</Paragraphs>
  <Slides>42</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Calibri Light</vt:lpstr>
      <vt:lpstr>Cambria Math</vt:lpstr>
      <vt:lpstr>Comic Sans MS</vt:lpstr>
      <vt:lpstr>Courier New</vt:lpstr>
      <vt:lpstr>Times</vt:lpstr>
      <vt:lpstr>Office Theme</vt:lpstr>
      <vt:lpstr>PowerPoint Presentation</vt:lpstr>
      <vt:lpstr>Conjugate Coding (1968)</vt:lpstr>
      <vt:lpstr>Photon Polarization in Quantum Communication</vt:lpstr>
      <vt:lpstr>Qubit Encoding with Photons</vt:lpstr>
      <vt:lpstr>Wiesner’s Conjugate Coding</vt:lpstr>
      <vt:lpstr>The Role of Measurement Bases</vt:lpstr>
      <vt:lpstr>The Role of Measurement Bases</vt:lpstr>
      <vt:lpstr>PowerPoint Presentation</vt:lpstr>
      <vt:lpstr>Creating a Bell State</vt:lpstr>
      <vt:lpstr>What is special about the Bell state?</vt:lpstr>
      <vt:lpstr>Generating Bell States</vt:lpstr>
      <vt:lpstr>Transforming Bell States</vt:lpstr>
      <vt:lpstr>Properties of Quantum Entanglement</vt:lpstr>
      <vt:lpstr>Bell-State Measurement Correlations</vt:lpstr>
      <vt:lpstr>Decoding Bell States</vt:lpstr>
      <vt:lpstr>Entangling Multiple Qubits: GHZ States</vt:lpstr>
      <vt:lpstr>Nobel Prize 2022: Pioneers of Quantum Entanglement</vt:lpstr>
      <vt:lpstr>EPR Paradox</vt:lpstr>
      <vt:lpstr>The No-communication Theorem</vt:lpstr>
      <vt:lpstr>No-cloning Theorem</vt:lpstr>
      <vt:lpstr>No-deleting Theorem</vt:lpstr>
      <vt:lpstr>PowerPoint Presentation</vt:lpstr>
      <vt:lpstr>Evolution of Quantum Communication</vt:lpstr>
      <vt:lpstr>Quantum Communication Approaches </vt:lpstr>
      <vt:lpstr>Quantum Secure Direct Communication  (QSDC)</vt:lpstr>
      <vt:lpstr>QSDC with Channel Security Testing</vt:lpstr>
      <vt:lpstr>Superdense Coding</vt:lpstr>
      <vt:lpstr>Superdense Coding Implementation</vt:lpstr>
      <vt:lpstr>Quantum Teleportation</vt:lpstr>
      <vt:lpstr>Quantum Teleportation (1)</vt:lpstr>
      <vt:lpstr>Quantum Teleportation (2)</vt:lpstr>
      <vt:lpstr>Quantum Teleportation (3)</vt:lpstr>
      <vt:lpstr>Quantum Teleportation (4)</vt:lpstr>
      <vt:lpstr>Quantum Teleportation (5)</vt:lpstr>
      <vt:lpstr>Quantum Teleportation Circuit</vt:lpstr>
      <vt:lpstr>Entanglement swapping</vt:lpstr>
      <vt:lpstr>Entanglement Swapping Circuit</vt:lpstr>
      <vt:lpstr>Entanglement Swapping Analysis</vt:lpstr>
      <vt:lpstr>Quantum Memory for Entanglement Swapping</vt:lpstr>
      <vt:lpstr>Entanglement Purification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857</cp:revision>
  <cp:lastPrinted>2025-09-05T14:53:58Z</cp:lastPrinted>
  <dcterms:created xsi:type="dcterms:W3CDTF">2022-10-15T10:33:29Z</dcterms:created>
  <dcterms:modified xsi:type="dcterms:W3CDTF">2026-10-04T20:32:53Z</dcterms:modified>
</cp:coreProperties>
</file>