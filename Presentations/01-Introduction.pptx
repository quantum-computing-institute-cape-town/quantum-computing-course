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handoutMasterIdLst>
    <p:handoutMasterId r:id="rId56"/>
  </p:handoutMasterIdLst>
  <p:sldIdLst>
    <p:sldId id="740" r:id="rId2"/>
    <p:sldId id="735" r:id="rId3"/>
    <p:sldId id="442" r:id="rId4"/>
    <p:sldId id="628" r:id="rId5"/>
    <p:sldId id="529" r:id="rId6"/>
    <p:sldId id="737" r:id="rId7"/>
    <p:sldId id="627" r:id="rId8"/>
    <p:sldId id="712" r:id="rId9"/>
    <p:sldId id="531" r:id="rId10"/>
    <p:sldId id="604" r:id="rId11"/>
    <p:sldId id="739" r:id="rId12"/>
    <p:sldId id="727" r:id="rId13"/>
    <p:sldId id="694" r:id="rId14"/>
    <p:sldId id="703" r:id="rId15"/>
    <p:sldId id="437" r:id="rId16"/>
    <p:sldId id="664" r:id="rId17"/>
    <p:sldId id="677" r:id="rId18"/>
    <p:sldId id="667" r:id="rId19"/>
    <p:sldId id="675" r:id="rId20"/>
    <p:sldId id="720" r:id="rId21"/>
    <p:sldId id="702" r:id="rId22"/>
    <p:sldId id="678" r:id="rId23"/>
    <p:sldId id="708" r:id="rId24"/>
    <p:sldId id="718" r:id="rId25"/>
    <p:sldId id="454" r:id="rId26"/>
    <p:sldId id="455" r:id="rId27"/>
    <p:sldId id="547" r:id="rId28"/>
    <p:sldId id="723" r:id="rId29"/>
    <p:sldId id="705" r:id="rId30"/>
    <p:sldId id="532" r:id="rId31"/>
    <p:sldId id="724" r:id="rId32"/>
    <p:sldId id="725" r:id="rId33"/>
    <p:sldId id="741" r:id="rId34"/>
    <p:sldId id="559" r:id="rId35"/>
    <p:sldId id="630" r:id="rId36"/>
    <p:sldId id="721" r:id="rId37"/>
    <p:sldId id="463" r:id="rId38"/>
    <p:sldId id="475" r:id="rId39"/>
    <p:sldId id="706" r:id="rId40"/>
    <p:sldId id="562" r:id="rId41"/>
    <p:sldId id="692" r:id="rId42"/>
    <p:sldId id="693" r:id="rId43"/>
    <p:sldId id="707" r:id="rId44"/>
    <p:sldId id="539" r:id="rId45"/>
    <p:sldId id="544" r:id="rId46"/>
    <p:sldId id="560" r:id="rId47"/>
    <p:sldId id="709" r:id="rId48"/>
    <p:sldId id="682" r:id="rId49"/>
    <p:sldId id="469" r:id="rId50"/>
    <p:sldId id="464" r:id="rId51"/>
    <p:sldId id="742" r:id="rId52"/>
    <p:sldId id="738" r:id="rId53"/>
    <p:sldId id="687"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B765E"/>
    <a:srgbClr val="394C3D"/>
    <a:srgbClr val="A07B98"/>
    <a:srgbClr val="FF5A00"/>
    <a:srgbClr val="FCFFE0"/>
    <a:srgbClr val="252525"/>
    <a:srgbClr val="CA251F"/>
    <a:srgbClr val="5D5D5D"/>
    <a:srgbClr val="4949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79"/>
    <p:restoredTop sz="56486"/>
  </p:normalViewPr>
  <p:slideViewPr>
    <p:cSldViewPr snapToGrid="0" snapToObjects="1">
      <p:cViewPr varScale="1">
        <p:scale>
          <a:sx n="31" d="100"/>
          <a:sy n="31" d="100"/>
        </p:scale>
        <p:origin x="3144" y="176"/>
      </p:cViewPr>
      <p:guideLst/>
    </p:cSldViewPr>
  </p:slideViewPr>
  <p:outlineViewPr>
    <p:cViewPr>
      <p:scale>
        <a:sx n="33" d="100"/>
        <a:sy n="33" d="100"/>
      </p:scale>
      <p:origin x="0" y="0"/>
    </p:cViewPr>
  </p:outlineViewPr>
  <p:notesTextViewPr>
    <p:cViewPr>
      <p:scale>
        <a:sx n="195" d="100"/>
        <a:sy n="195"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FBD6411-6FA3-7845-886B-09F983AE3D66}" type="doc">
      <dgm:prSet loTypeId="urn:microsoft.com/office/officeart/2005/8/layout/lProcess3" loCatId="process" qsTypeId="urn:microsoft.com/office/officeart/2005/8/quickstyle/simple1" qsCatId="simple" csTypeId="urn:microsoft.com/office/officeart/2005/8/colors/colorful3" csCatId="colorful" phldr="1"/>
      <dgm:spPr/>
      <dgm:t>
        <a:bodyPr/>
        <a:lstStyle/>
        <a:p>
          <a:endParaRPr lang="en-US"/>
        </a:p>
      </dgm:t>
    </dgm:pt>
    <dgm:pt modelId="{F5A57D5B-D38F-3344-9AEB-B26746D85129}">
      <dgm:prSet custT="1"/>
      <dgm:spPr/>
      <dgm:t>
        <a:bodyPr/>
        <a:lstStyle/>
        <a:p>
          <a:r>
            <a:rPr lang="en-US" sz="2400" dirty="0"/>
            <a:t>mathematical model</a:t>
          </a:r>
        </a:p>
      </dgm:t>
    </dgm:pt>
    <dgm:pt modelId="{07368294-972C-4241-BB1A-981FD51E5C02}" type="parTrans" cxnId="{1F1936DF-471C-B34B-9111-49680F006100}">
      <dgm:prSet/>
      <dgm:spPr/>
      <dgm:t>
        <a:bodyPr/>
        <a:lstStyle/>
        <a:p>
          <a:endParaRPr lang="en-US"/>
        </a:p>
      </dgm:t>
    </dgm:pt>
    <dgm:pt modelId="{D16CFCC2-2E29-8A40-B322-749D3D4C2D7D}" type="sibTrans" cxnId="{1F1936DF-471C-B34B-9111-49680F006100}">
      <dgm:prSet/>
      <dgm:spPr/>
      <dgm:t>
        <a:bodyPr/>
        <a:lstStyle/>
        <a:p>
          <a:endParaRPr lang="en-US"/>
        </a:p>
      </dgm:t>
    </dgm:pt>
    <dgm:pt modelId="{8F012C2E-FBD7-7342-809E-61D66F0ADA8F}">
      <dgm:prSet/>
      <dgm:spPr/>
      <dgm:t>
        <a:bodyPr/>
        <a:lstStyle/>
        <a:p>
          <a:r>
            <a:rPr lang="en-US" dirty="0"/>
            <a:t>matrix-vector multiplication</a:t>
          </a:r>
        </a:p>
      </dgm:t>
    </dgm:pt>
    <dgm:pt modelId="{4529DC3B-0617-7B49-B605-5CC2241113F4}" type="parTrans" cxnId="{E8A570B6-2121-A344-BD73-C19385FA3F35}">
      <dgm:prSet/>
      <dgm:spPr/>
      <dgm:t>
        <a:bodyPr/>
        <a:lstStyle/>
        <a:p>
          <a:endParaRPr lang="en-US"/>
        </a:p>
      </dgm:t>
    </dgm:pt>
    <dgm:pt modelId="{1FBA673C-467B-6444-9645-5262536AAE78}" type="sibTrans" cxnId="{E8A570B6-2121-A344-BD73-C19385FA3F35}">
      <dgm:prSet/>
      <dgm:spPr/>
      <dgm:t>
        <a:bodyPr/>
        <a:lstStyle/>
        <a:p>
          <a:endParaRPr lang="en-US"/>
        </a:p>
      </dgm:t>
    </dgm:pt>
    <dgm:pt modelId="{160A1DCA-DDD1-3C40-BD61-4BAC6D770983}">
      <dgm:prSet custT="1"/>
      <dgm:spPr/>
      <dgm:t>
        <a:bodyPr/>
        <a:lstStyle/>
        <a:p>
          <a:r>
            <a:rPr lang="en-US" sz="2400" dirty="0"/>
            <a:t>unit of information</a:t>
          </a:r>
        </a:p>
      </dgm:t>
    </dgm:pt>
    <dgm:pt modelId="{A54A716F-39B9-F247-AC3B-35E09EDD05C8}" type="parTrans" cxnId="{3B4C0282-845C-7F42-B349-BBECBB3D4531}">
      <dgm:prSet/>
      <dgm:spPr/>
      <dgm:t>
        <a:bodyPr/>
        <a:lstStyle/>
        <a:p>
          <a:endParaRPr lang="en-US"/>
        </a:p>
      </dgm:t>
    </dgm:pt>
    <dgm:pt modelId="{F4D4CD18-37F6-0844-84B6-409FD528DCD2}" type="sibTrans" cxnId="{3B4C0282-845C-7F42-B349-BBECBB3D4531}">
      <dgm:prSet/>
      <dgm:spPr/>
      <dgm:t>
        <a:bodyPr/>
        <a:lstStyle/>
        <a:p>
          <a:endParaRPr lang="en-US"/>
        </a:p>
      </dgm:t>
    </dgm:pt>
    <dgm:pt modelId="{E7275480-C98A-4E4A-AB69-88AAFD0E0267}">
      <dgm:prSet/>
      <dgm:spPr/>
      <dgm:t>
        <a:bodyPr/>
        <a:lstStyle/>
        <a:p>
          <a:r>
            <a:rPr lang="en-US" dirty="0"/>
            <a:t>qubit/vector</a:t>
          </a:r>
        </a:p>
      </dgm:t>
    </dgm:pt>
    <dgm:pt modelId="{77D60A77-FF27-A24C-8601-02131AC42963}" type="parTrans" cxnId="{637C5D95-DE4C-154B-8595-B3D2D5C1599A}">
      <dgm:prSet/>
      <dgm:spPr/>
      <dgm:t>
        <a:bodyPr/>
        <a:lstStyle/>
        <a:p>
          <a:endParaRPr lang="en-US"/>
        </a:p>
      </dgm:t>
    </dgm:pt>
    <dgm:pt modelId="{32321B6E-009C-D04F-81E8-4E7E1208D595}" type="sibTrans" cxnId="{637C5D95-DE4C-154B-8595-B3D2D5C1599A}">
      <dgm:prSet/>
      <dgm:spPr/>
      <dgm:t>
        <a:bodyPr/>
        <a:lstStyle/>
        <a:p>
          <a:endParaRPr lang="en-US"/>
        </a:p>
      </dgm:t>
    </dgm:pt>
    <dgm:pt modelId="{75558DDB-B135-8F4A-8257-A165A0389A4C}">
      <dgm:prSet custT="1"/>
      <dgm:spPr/>
      <dgm:t>
        <a:bodyPr/>
        <a:lstStyle/>
        <a:p>
          <a:r>
            <a:rPr lang="en-US" sz="2400" dirty="0"/>
            <a:t>unit of processing</a:t>
          </a:r>
        </a:p>
      </dgm:t>
    </dgm:pt>
    <dgm:pt modelId="{E8B56C1E-FA75-5940-A8C4-30A551B1DA75}" type="parTrans" cxnId="{C6057E35-D143-2146-8F5F-D3A3BCA52EBE}">
      <dgm:prSet/>
      <dgm:spPr/>
      <dgm:t>
        <a:bodyPr/>
        <a:lstStyle/>
        <a:p>
          <a:endParaRPr lang="en-US"/>
        </a:p>
      </dgm:t>
    </dgm:pt>
    <dgm:pt modelId="{628207E4-5F9E-954B-BEDC-C47C2A82E45E}" type="sibTrans" cxnId="{C6057E35-D143-2146-8F5F-D3A3BCA52EBE}">
      <dgm:prSet/>
      <dgm:spPr/>
      <dgm:t>
        <a:bodyPr/>
        <a:lstStyle/>
        <a:p>
          <a:endParaRPr lang="en-US"/>
        </a:p>
      </dgm:t>
    </dgm:pt>
    <dgm:pt modelId="{CF3486DF-6C01-104F-AECF-A0D54829799B}">
      <dgm:prSet/>
      <dgm:spPr/>
      <dgm:t>
        <a:bodyPr/>
        <a:lstStyle/>
        <a:p>
          <a:r>
            <a:rPr lang="en-US" dirty="0"/>
            <a:t>quantum gate/matrix</a:t>
          </a:r>
        </a:p>
      </dgm:t>
    </dgm:pt>
    <dgm:pt modelId="{6F52E02A-2CB2-584C-B929-E1AEEBA4FB49}" type="parTrans" cxnId="{E070675B-445C-AD43-9C5D-BF74254A28A2}">
      <dgm:prSet/>
      <dgm:spPr/>
      <dgm:t>
        <a:bodyPr/>
        <a:lstStyle/>
        <a:p>
          <a:endParaRPr lang="en-US"/>
        </a:p>
      </dgm:t>
    </dgm:pt>
    <dgm:pt modelId="{8B4D8B82-B6CD-7F47-B70D-35D3914F6AD2}" type="sibTrans" cxnId="{E070675B-445C-AD43-9C5D-BF74254A28A2}">
      <dgm:prSet/>
      <dgm:spPr/>
      <dgm:t>
        <a:bodyPr/>
        <a:lstStyle/>
        <a:p>
          <a:endParaRPr lang="en-US"/>
        </a:p>
      </dgm:t>
    </dgm:pt>
    <dgm:pt modelId="{C476B5AD-DCC3-FC4A-A3DD-AC3C01611B18}">
      <dgm:prSet custT="1"/>
      <dgm:spPr/>
      <dgm:t>
        <a:bodyPr/>
        <a:lstStyle/>
        <a:p>
          <a:r>
            <a:rPr lang="en-US" sz="2400" dirty="0"/>
            <a:t>algorithm</a:t>
          </a:r>
        </a:p>
      </dgm:t>
    </dgm:pt>
    <dgm:pt modelId="{F12B458E-FA9D-834A-ADE7-97C5B25E7650}" type="parTrans" cxnId="{47A42DD2-C002-D84F-A5F5-E110B421C37E}">
      <dgm:prSet/>
      <dgm:spPr/>
      <dgm:t>
        <a:bodyPr/>
        <a:lstStyle/>
        <a:p>
          <a:endParaRPr lang="en-US"/>
        </a:p>
      </dgm:t>
    </dgm:pt>
    <dgm:pt modelId="{15AEF5A1-4B03-8142-8884-21C8BC4F33B5}" type="sibTrans" cxnId="{47A42DD2-C002-D84F-A5F5-E110B421C37E}">
      <dgm:prSet/>
      <dgm:spPr/>
      <dgm:t>
        <a:bodyPr/>
        <a:lstStyle/>
        <a:p>
          <a:endParaRPr lang="en-US"/>
        </a:p>
      </dgm:t>
    </dgm:pt>
    <dgm:pt modelId="{6398241F-4CD0-7443-8E0D-FBA0EAD87C82}">
      <dgm:prSet/>
      <dgm:spPr/>
      <dgm:t>
        <a:bodyPr/>
        <a:lstStyle/>
        <a:p>
          <a:r>
            <a:rPr lang="en-US" dirty="0"/>
            <a:t>quantum circuit</a:t>
          </a:r>
        </a:p>
      </dgm:t>
    </dgm:pt>
    <dgm:pt modelId="{FBA2582D-B6F9-2644-B0EA-709AC9511843}" type="parTrans" cxnId="{3BE0D627-C422-4140-8958-E1874639BF42}">
      <dgm:prSet/>
      <dgm:spPr/>
      <dgm:t>
        <a:bodyPr/>
        <a:lstStyle/>
        <a:p>
          <a:endParaRPr lang="en-US"/>
        </a:p>
      </dgm:t>
    </dgm:pt>
    <dgm:pt modelId="{985EC99E-67DA-AE47-BB5E-868DA3CC4D51}" type="sibTrans" cxnId="{3BE0D627-C422-4140-8958-E1874639BF42}">
      <dgm:prSet/>
      <dgm:spPr/>
      <dgm:t>
        <a:bodyPr/>
        <a:lstStyle/>
        <a:p>
          <a:endParaRPr lang="en-US"/>
        </a:p>
      </dgm:t>
    </dgm:pt>
    <dgm:pt modelId="{4BDA77BC-E14B-8245-A88A-13FAE10523F5}">
      <dgm:prSet custT="1"/>
      <dgm:spPr>
        <a:solidFill>
          <a:schemeClr val="accent6">
            <a:lumMod val="75000"/>
          </a:schemeClr>
        </a:solidFill>
      </dgm:spPr>
      <dgm:t>
        <a:bodyPr/>
        <a:lstStyle/>
        <a:p>
          <a:r>
            <a:rPr lang="en-US" sz="2400" dirty="0"/>
            <a:t>   program</a:t>
          </a:r>
        </a:p>
      </dgm:t>
    </dgm:pt>
    <dgm:pt modelId="{9669BA5D-3107-EE45-A40C-5CACCC3B2B0E}" type="parTrans" cxnId="{DDBF15B0-25AE-C543-8F4C-C5A261D9C88C}">
      <dgm:prSet/>
      <dgm:spPr/>
      <dgm:t>
        <a:bodyPr/>
        <a:lstStyle/>
        <a:p>
          <a:endParaRPr lang="en-US"/>
        </a:p>
      </dgm:t>
    </dgm:pt>
    <dgm:pt modelId="{24E25589-BCD9-6941-BB69-9752AA45F3C7}" type="sibTrans" cxnId="{DDBF15B0-25AE-C543-8F4C-C5A261D9C88C}">
      <dgm:prSet/>
      <dgm:spPr/>
      <dgm:t>
        <a:bodyPr/>
        <a:lstStyle/>
        <a:p>
          <a:endParaRPr lang="en-US"/>
        </a:p>
      </dgm:t>
    </dgm:pt>
    <dgm:pt modelId="{397B0026-6C06-A24C-AC71-DA2CB6F7829B}">
      <dgm:prSet/>
      <dgm:spPr>
        <a:solidFill>
          <a:schemeClr val="accent6">
            <a:lumMod val="40000"/>
            <a:lumOff val="60000"/>
            <a:alpha val="90000"/>
          </a:schemeClr>
        </a:solidFill>
      </dgm:spPr>
      <dgm:t>
        <a:bodyPr/>
        <a:lstStyle/>
        <a:p>
          <a:r>
            <a:rPr lang="en-US" dirty="0"/>
            <a:t>quantum circuit </a:t>
          </a:r>
          <a:r>
            <a:rPr lang="en-US" dirty="0" err="1"/>
            <a:t>desciption</a:t>
          </a:r>
          <a:endParaRPr lang="en-US" dirty="0"/>
        </a:p>
      </dgm:t>
    </dgm:pt>
    <dgm:pt modelId="{B17646FB-44FB-6D4F-A2FE-EDE762969FF8}" type="parTrans" cxnId="{20A1DB7A-245E-7B47-B0A8-D0F7FA5AE104}">
      <dgm:prSet/>
      <dgm:spPr/>
      <dgm:t>
        <a:bodyPr/>
        <a:lstStyle/>
        <a:p>
          <a:endParaRPr lang="en-US"/>
        </a:p>
      </dgm:t>
    </dgm:pt>
    <dgm:pt modelId="{45DD26EC-10C7-FA45-8984-599011A3BEC4}" type="sibTrans" cxnId="{20A1DB7A-245E-7B47-B0A8-D0F7FA5AE104}">
      <dgm:prSet/>
      <dgm:spPr/>
      <dgm:t>
        <a:bodyPr/>
        <a:lstStyle/>
        <a:p>
          <a:endParaRPr lang="en-US"/>
        </a:p>
      </dgm:t>
    </dgm:pt>
    <dgm:pt modelId="{6FEF738C-2EC1-E641-B51A-36787E6B815D}" type="pres">
      <dgm:prSet presAssocID="{4FBD6411-6FA3-7845-886B-09F983AE3D66}" presName="Name0" presStyleCnt="0">
        <dgm:presLayoutVars>
          <dgm:chPref val="3"/>
          <dgm:dir/>
          <dgm:animLvl val="lvl"/>
          <dgm:resizeHandles/>
        </dgm:presLayoutVars>
      </dgm:prSet>
      <dgm:spPr/>
    </dgm:pt>
    <dgm:pt modelId="{42F9EBDB-B792-7743-BBF3-3A57E3293F87}" type="pres">
      <dgm:prSet presAssocID="{160A1DCA-DDD1-3C40-BD61-4BAC6D770983}" presName="horFlow" presStyleCnt="0"/>
      <dgm:spPr/>
    </dgm:pt>
    <dgm:pt modelId="{BC1F68B1-384F-884E-85F2-687846E08432}" type="pres">
      <dgm:prSet presAssocID="{160A1DCA-DDD1-3C40-BD61-4BAC6D770983}" presName="bigChev" presStyleLbl="node1" presStyleIdx="0" presStyleCnt="5" custScaleX="143216"/>
      <dgm:spPr/>
    </dgm:pt>
    <dgm:pt modelId="{05ECDEE6-A71D-2845-B76F-6EFC48BA8DD6}" type="pres">
      <dgm:prSet presAssocID="{77D60A77-FF27-A24C-8601-02131AC42963}" presName="parTrans" presStyleCnt="0"/>
      <dgm:spPr/>
    </dgm:pt>
    <dgm:pt modelId="{589CEB27-68EC-8C44-AE2F-CCCE5077B7DD}" type="pres">
      <dgm:prSet presAssocID="{E7275480-C98A-4E4A-AB69-88AAFD0E0267}" presName="node" presStyleLbl="alignAccFollowNode1" presStyleIdx="0" presStyleCnt="5" custScaleX="115752">
        <dgm:presLayoutVars>
          <dgm:bulletEnabled val="1"/>
        </dgm:presLayoutVars>
      </dgm:prSet>
      <dgm:spPr/>
    </dgm:pt>
    <dgm:pt modelId="{D2C5389B-8744-0B47-B305-A6454ED4134C}" type="pres">
      <dgm:prSet presAssocID="{160A1DCA-DDD1-3C40-BD61-4BAC6D770983}" presName="vSp" presStyleCnt="0"/>
      <dgm:spPr/>
    </dgm:pt>
    <dgm:pt modelId="{74445CD6-E25E-C240-BE60-9A45B7B25C5C}" type="pres">
      <dgm:prSet presAssocID="{75558DDB-B135-8F4A-8257-A165A0389A4C}" presName="horFlow" presStyleCnt="0"/>
      <dgm:spPr/>
    </dgm:pt>
    <dgm:pt modelId="{AC12D99E-FB7E-0741-8161-C77DE0409CB8}" type="pres">
      <dgm:prSet presAssocID="{75558DDB-B135-8F4A-8257-A165A0389A4C}" presName="bigChev" presStyleLbl="node1" presStyleIdx="1" presStyleCnt="5" custScaleX="143216"/>
      <dgm:spPr/>
    </dgm:pt>
    <dgm:pt modelId="{3F7E8E6F-6509-404E-B3F2-D39A334B2DDA}" type="pres">
      <dgm:prSet presAssocID="{6F52E02A-2CB2-584C-B929-E1AEEBA4FB49}" presName="parTrans" presStyleCnt="0"/>
      <dgm:spPr/>
    </dgm:pt>
    <dgm:pt modelId="{8762CD98-6B6D-F945-9F8A-143998E383B8}" type="pres">
      <dgm:prSet presAssocID="{CF3486DF-6C01-104F-AECF-A0D54829799B}" presName="node" presStyleLbl="alignAccFollowNode1" presStyleIdx="1" presStyleCnt="5" custScaleX="115752">
        <dgm:presLayoutVars>
          <dgm:bulletEnabled val="1"/>
        </dgm:presLayoutVars>
      </dgm:prSet>
      <dgm:spPr/>
    </dgm:pt>
    <dgm:pt modelId="{038D8EA8-5999-1446-81FA-0BB39BA0BC61}" type="pres">
      <dgm:prSet presAssocID="{75558DDB-B135-8F4A-8257-A165A0389A4C}" presName="vSp" presStyleCnt="0"/>
      <dgm:spPr/>
    </dgm:pt>
    <dgm:pt modelId="{B6FA550A-E55B-F647-8837-269C5F2B45CA}" type="pres">
      <dgm:prSet presAssocID="{F5A57D5B-D38F-3344-9AEB-B26746D85129}" presName="horFlow" presStyleCnt="0"/>
      <dgm:spPr/>
    </dgm:pt>
    <dgm:pt modelId="{5640E65B-7044-844F-9EB5-48CE7C5F451B}" type="pres">
      <dgm:prSet presAssocID="{F5A57D5B-D38F-3344-9AEB-B26746D85129}" presName="bigChev" presStyleLbl="node1" presStyleIdx="2" presStyleCnt="5" custScaleX="143216"/>
      <dgm:spPr/>
    </dgm:pt>
    <dgm:pt modelId="{082B47EC-2459-F145-AB5A-00E5E8E0E6B6}" type="pres">
      <dgm:prSet presAssocID="{4529DC3B-0617-7B49-B605-5CC2241113F4}" presName="parTrans" presStyleCnt="0"/>
      <dgm:spPr/>
    </dgm:pt>
    <dgm:pt modelId="{E7AF8E55-35D4-EE43-84F0-EB1EE3C4089C}" type="pres">
      <dgm:prSet presAssocID="{8F012C2E-FBD7-7342-809E-61D66F0ADA8F}" presName="node" presStyleLbl="alignAccFollowNode1" presStyleIdx="2" presStyleCnt="5" custScaleX="115752">
        <dgm:presLayoutVars>
          <dgm:bulletEnabled val="1"/>
        </dgm:presLayoutVars>
      </dgm:prSet>
      <dgm:spPr/>
    </dgm:pt>
    <dgm:pt modelId="{5811418B-F0A5-9846-9D84-2FCF3A1E0C85}" type="pres">
      <dgm:prSet presAssocID="{F5A57D5B-D38F-3344-9AEB-B26746D85129}" presName="vSp" presStyleCnt="0"/>
      <dgm:spPr/>
    </dgm:pt>
    <dgm:pt modelId="{C6432E75-451D-C04E-B974-85A83CC24E61}" type="pres">
      <dgm:prSet presAssocID="{C476B5AD-DCC3-FC4A-A3DD-AC3C01611B18}" presName="horFlow" presStyleCnt="0"/>
      <dgm:spPr/>
    </dgm:pt>
    <dgm:pt modelId="{11900ED1-072B-FE45-8087-917F279E1854}" type="pres">
      <dgm:prSet presAssocID="{C476B5AD-DCC3-FC4A-A3DD-AC3C01611B18}" presName="bigChev" presStyleLbl="node1" presStyleIdx="3" presStyleCnt="5" custScaleX="143216"/>
      <dgm:spPr/>
    </dgm:pt>
    <dgm:pt modelId="{1CD7A641-D2C6-6D44-9821-969E062E8052}" type="pres">
      <dgm:prSet presAssocID="{FBA2582D-B6F9-2644-B0EA-709AC9511843}" presName="parTrans" presStyleCnt="0"/>
      <dgm:spPr/>
    </dgm:pt>
    <dgm:pt modelId="{8BCC3C3D-DEEA-0241-A450-84AB07AF83EE}" type="pres">
      <dgm:prSet presAssocID="{6398241F-4CD0-7443-8E0D-FBA0EAD87C82}" presName="node" presStyleLbl="alignAccFollowNode1" presStyleIdx="3" presStyleCnt="5" custScaleX="115752" custLinFactNeighborX="0">
        <dgm:presLayoutVars>
          <dgm:bulletEnabled val="1"/>
        </dgm:presLayoutVars>
      </dgm:prSet>
      <dgm:spPr/>
    </dgm:pt>
    <dgm:pt modelId="{1D0209CC-4DAD-BC49-8FFF-5B1A3AD7C8AC}" type="pres">
      <dgm:prSet presAssocID="{C476B5AD-DCC3-FC4A-A3DD-AC3C01611B18}" presName="vSp" presStyleCnt="0"/>
      <dgm:spPr/>
    </dgm:pt>
    <dgm:pt modelId="{E841F784-B451-0C4B-9417-AABFB4527209}" type="pres">
      <dgm:prSet presAssocID="{4BDA77BC-E14B-8245-A88A-13FAE10523F5}" presName="horFlow" presStyleCnt="0"/>
      <dgm:spPr/>
    </dgm:pt>
    <dgm:pt modelId="{96B99780-81A6-4C41-BF29-ECA058D08E7B}" type="pres">
      <dgm:prSet presAssocID="{4BDA77BC-E14B-8245-A88A-13FAE10523F5}" presName="bigChev" presStyleLbl="node1" presStyleIdx="4" presStyleCnt="5" custScaleX="139012" custLinFactNeighborX="11076"/>
      <dgm:spPr/>
    </dgm:pt>
    <dgm:pt modelId="{EB80123E-E06B-0344-8B98-C77BE803B9A0}" type="pres">
      <dgm:prSet presAssocID="{B17646FB-44FB-6D4F-A2FE-EDE762969FF8}" presName="parTrans" presStyleCnt="0"/>
      <dgm:spPr/>
    </dgm:pt>
    <dgm:pt modelId="{C442239F-A10C-D54C-B093-8FD13A00035F}" type="pres">
      <dgm:prSet presAssocID="{397B0026-6C06-A24C-AC71-DA2CB6F7829B}" presName="node" presStyleLbl="alignAccFollowNode1" presStyleIdx="4" presStyleCnt="5" custScaleX="123130">
        <dgm:presLayoutVars>
          <dgm:bulletEnabled val="1"/>
        </dgm:presLayoutVars>
      </dgm:prSet>
      <dgm:spPr/>
    </dgm:pt>
  </dgm:ptLst>
  <dgm:cxnLst>
    <dgm:cxn modelId="{6373D519-2788-B541-B311-6B6C3DE6DC52}" type="presOf" srcId="{4BDA77BC-E14B-8245-A88A-13FAE10523F5}" destId="{96B99780-81A6-4C41-BF29-ECA058D08E7B}" srcOrd="0" destOrd="0" presId="urn:microsoft.com/office/officeart/2005/8/layout/lProcess3"/>
    <dgm:cxn modelId="{3BE0D627-C422-4140-8958-E1874639BF42}" srcId="{C476B5AD-DCC3-FC4A-A3DD-AC3C01611B18}" destId="{6398241F-4CD0-7443-8E0D-FBA0EAD87C82}" srcOrd="0" destOrd="0" parTransId="{FBA2582D-B6F9-2644-B0EA-709AC9511843}" sibTransId="{985EC99E-67DA-AE47-BB5E-868DA3CC4D51}"/>
    <dgm:cxn modelId="{C6057E35-D143-2146-8F5F-D3A3BCA52EBE}" srcId="{4FBD6411-6FA3-7845-886B-09F983AE3D66}" destId="{75558DDB-B135-8F4A-8257-A165A0389A4C}" srcOrd="1" destOrd="0" parTransId="{E8B56C1E-FA75-5940-A8C4-30A551B1DA75}" sibTransId="{628207E4-5F9E-954B-BEDC-C47C2A82E45E}"/>
    <dgm:cxn modelId="{306C9C4B-78DD-C54F-AA0E-2DF3FD3890CE}" type="presOf" srcId="{8F012C2E-FBD7-7342-809E-61D66F0ADA8F}" destId="{E7AF8E55-35D4-EE43-84F0-EB1EE3C4089C}" srcOrd="0" destOrd="0" presId="urn:microsoft.com/office/officeart/2005/8/layout/lProcess3"/>
    <dgm:cxn modelId="{86E87358-B747-E645-B031-3AE9E79B9B20}" type="presOf" srcId="{4FBD6411-6FA3-7845-886B-09F983AE3D66}" destId="{6FEF738C-2EC1-E641-B51A-36787E6B815D}" srcOrd="0" destOrd="0" presId="urn:microsoft.com/office/officeart/2005/8/layout/lProcess3"/>
    <dgm:cxn modelId="{E070675B-445C-AD43-9C5D-BF74254A28A2}" srcId="{75558DDB-B135-8F4A-8257-A165A0389A4C}" destId="{CF3486DF-6C01-104F-AECF-A0D54829799B}" srcOrd="0" destOrd="0" parTransId="{6F52E02A-2CB2-584C-B929-E1AEEBA4FB49}" sibTransId="{8B4D8B82-B6CD-7F47-B70D-35D3914F6AD2}"/>
    <dgm:cxn modelId="{C817F579-3D7F-AE41-9C77-80D70786EC6F}" type="presOf" srcId="{F5A57D5B-D38F-3344-9AEB-B26746D85129}" destId="{5640E65B-7044-844F-9EB5-48CE7C5F451B}" srcOrd="0" destOrd="0" presId="urn:microsoft.com/office/officeart/2005/8/layout/lProcess3"/>
    <dgm:cxn modelId="{20A1DB7A-245E-7B47-B0A8-D0F7FA5AE104}" srcId="{4BDA77BC-E14B-8245-A88A-13FAE10523F5}" destId="{397B0026-6C06-A24C-AC71-DA2CB6F7829B}" srcOrd="0" destOrd="0" parTransId="{B17646FB-44FB-6D4F-A2FE-EDE762969FF8}" sibTransId="{45DD26EC-10C7-FA45-8984-599011A3BEC4}"/>
    <dgm:cxn modelId="{3B4C0282-845C-7F42-B349-BBECBB3D4531}" srcId="{4FBD6411-6FA3-7845-886B-09F983AE3D66}" destId="{160A1DCA-DDD1-3C40-BD61-4BAC6D770983}" srcOrd="0" destOrd="0" parTransId="{A54A716F-39B9-F247-AC3B-35E09EDD05C8}" sibTransId="{F4D4CD18-37F6-0844-84B6-409FD528DCD2}"/>
    <dgm:cxn modelId="{637C5D95-DE4C-154B-8595-B3D2D5C1599A}" srcId="{160A1DCA-DDD1-3C40-BD61-4BAC6D770983}" destId="{E7275480-C98A-4E4A-AB69-88AAFD0E0267}" srcOrd="0" destOrd="0" parTransId="{77D60A77-FF27-A24C-8601-02131AC42963}" sibTransId="{32321B6E-009C-D04F-81E8-4E7E1208D595}"/>
    <dgm:cxn modelId="{41EDF0A6-AA9A-4045-A58A-D3898DE91BD6}" type="presOf" srcId="{C476B5AD-DCC3-FC4A-A3DD-AC3C01611B18}" destId="{11900ED1-072B-FE45-8087-917F279E1854}" srcOrd="0" destOrd="0" presId="urn:microsoft.com/office/officeart/2005/8/layout/lProcess3"/>
    <dgm:cxn modelId="{7C9F59AB-6AEF-9A4A-8F5D-CC91706C4CAB}" type="presOf" srcId="{75558DDB-B135-8F4A-8257-A165A0389A4C}" destId="{AC12D99E-FB7E-0741-8161-C77DE0409CB8}" srcOrd="0" destOrd="0" presId="urn:microsoft.com/office/officeart/2005/8/layout/lProcess3"/>
    <dgm:cxn modelId="{DDBF15B0-25AE-C543-8F4C-C5A261D9C88C}" srcId="{4FBD6411-6FA3-7845-886B-09F983AE3D66}" destId="{4BDA77BC-E14B-8245-A88A-13FAE10523F5}" srcOrd="4" destOrd="0" parTransId="{9669BA5D-3107-EE45-A40C-5CACCC3B2B0E}" sibTransId="{24E25589-BCD9-6941-BB69-9752AA45F3C7}"/>
    <dgm:cxn modelId="{1364E0B2-AD7F-7748-A952-1E3575C09943}" type="presOf" srcId="{6398241F-4CD0-7443-8E0D-FBA0EAD87C82}" destId="{8BCC3C3D-DEEA-0241-A450-84AB07AF83EE}" srcOrd="0" destOrd="0" presId="urn:microsoft.com/office/officeart/2005/8/layout/lProcess3"/>
    <dgm:cxn modelId="{F1381DB4-ABE6-3A4C-904B-E1B35688F50E}" type="presOf" srcId="{E7275480-C98A-4E4A-AB69-88AAFD0E0267}" destId="{589CEB27-68EC-8C44-AE2F-CCCE5077B7DD}" srcOrd="0" destOrd="0" presId="urn:microsoft.com/office/officeart/2005/8/layout/lProcess3"/>
    <dgm:cxn modelId="{E8A570B6-2121-A344-BD73-C19385FA3F35}" srcId="{F5A57D5B-D38F-3344-9AEB-B26746D85129}" destId="{8F012C2E-FBD7-7342-809E-61D66F0ADA8F}" srcOrd="0" destOrd="0" parTransId="{4529DC3B-0617-7B49-B605-5CC2241113F4}" sibTransId="{1FBA673C-467B-6444-9645-5262536AAE78}"/>
    <dgm:cxn modelId="{3BD20EBB-DDF6-5447-AB63-01659E9DEE8D}" type="presOf" srcId="{160A1DCA-DDD1-3C40-BD61-4BAC6D770983}" destId="{BC1F68B1-384F-884E-85F2-687846E08432}" srcOrd="0" destOrd="0" presId="urn:microsoft.com/office/officeart/2005/8/layout/lProcess3"/>
    <dgm:cxn modelId="{47A42DD2-C002-D84F-A5F5-E110B421C37E}" srcId="{4FBD6411-6FA3-7845-886B-09F983AE3D66}" destId="{C476B5AD-DCC3-FC4A-A3DD-AC3C01611B18}" srcOrd="3" destOrd="0" parTransId="{F12B458E-FA9D-834A-ADE7-97C5B25E7650}" sibTransId="{15AEF5A1-4B03-8142-8884-21C8BC4F33B5}"/>
    <dgm:cxn modelId="{1F1936DF-471C-B34B-9111-49680F006100}" srcId="{4FBD6411-6FA3-7845-886B-09F983AE3D66}" destId="{F5A57D5B-D38F-3344-9AEB-B26746D85129}" srcOrd="2" destOrd="0" parTransId="{07368294-972C-4241-BB1A-981FD51E5C02}" sibTransId="{D16CFCC2-2E29-8A40-B322-749D3D4C2D7D}"/>
    <dgm:cxn modelId="{0703D0EE-B38F-0143-A7A6-1C4CB4DCF536}" type="presOf" srcId="{CF3486DF-6C01-104F-AECF-A0D54829799B}" destId="{8762CD98-6B6D-F945-9F8A-143998E383B8}" srcOrd="0" destOrd="0" presId="urn:microsoft.com/office/officeart/2005/8/layout/lProcess3"/>
    <dgm:cxn modelId="{2E6BCEFD-716E-C94B-A552-B3407B2B54AA}" type="presOf" srcId="{397B0026-6C06-A24C-AC71-DA2CB6F7829B}" destId="{C442239F-A10C-D54C-B093-8FD13A00035F}" srcOrd="0" destOrd="0" presId="urn:microsoft.com/office/officeart/2005/8/layout/lProcess3"/>
    <dgm:cxn modelId="{30375657-BD54-A641-9EBC-F44F91EF81CB}" type="presParOf" srcId="{6FEF738C-2EC1-E641-B51A-36787E6B815D}" destId="{42F9EBDB-B792-7743-BBF3-3A57E3293F87}" srcOrd="0" destOrd="0" presId="urn:microsoft.com/office/officeart/2005/8/layout/lProcess3"/>
    <dgm:cxn modelId="{3DE5F85C-EC6D-604B-AC33-D456E0E01822}" type="presParOf" srcId="{42F9EBDB-B792-7743-BBF3-3A57E3293F87}" destId="{BC1F68B1-384F-884E-85F2-687846E08432}" srcOrd="0" destOrd="0" presId="urn:microsoft.com/office/officeart/2005/8/layout/lProcess3"/>
    <dgm:cxn modelId="{2F93A8DF-8BDE-3440-906A-9D2550AA98A4}" type="presParOf" srcId="{42F9EBDB-B792-7743-BBF3-3A57E3293F87}" destId="{05ECDEE6-A71D-2845-B76F-6EFC48BA8DD6}" srcOrd="1" destOrd="0" presId="urn:microsoft.com/office/officeart/2005/8/layout/lProcess3"/>
    <dgm:cxn modelId="{6B6C5CED-71FD-1741-BAAD-26FF0A8DEF5A}" type="presParOf" srcId="{42F9EBDB-B792-7743-BBF3-3A57E3293F87}" destId="{589CEB27-68EC-8C44-AE2F-CCCE5077B7DD}" srcOrd="2" destOrd="0" presId="urn:microsoft.com/office/officeart/2005/8/layout/lProcess3"/>
    <dgm:cxn modelId="{147FF670-C82C-C445-858C-9273D8308622}" type="presParOf" srcId="{6FEF738C-2EC1-E641-B51A-36787E6B815D}" destId="{D2C5389B-8744-0B47-B305-A6454ED4134C}" srcOrd="1" destOrd="0" presId="urn:microsoft.com/office/officeart/2005/8/layout/lProcess3"/>
    <dgm:cxn modelId="{6A68D92C-2470-B84A-A55B-37D0DCE90244}" type="presParOf" srcId="{6FEF738C-2EC1-E641-B51A-36787E6B815D}" destId="{74445CD6-E25E-C240-BE60-9A45B7B25C5C}" srcOrd="2" destOrd="0" presId="urn:microsoft.com/office/officeart/2005/8/layout/lProcess3"/>
    <dgm:cxn modelId="{2E98D35D-7E03-2B4A-8823-2397AA1F179F}" type="presParOf" srcId="{74445CD6-E25E-C240-BE60-9A45B7B25C5C}" destId="{AC12D99E-FB7E-0741-8161-C77DE0409CB8}" srcOrd="0" destOrd="0" presId="urn:microsoft.com/office/officeart/2005/8/layout/lProcess3"/>
    <dgm:cxn modelId="{1CE88BCE-45A9-BE45-A988-27E5AC57CFF5}" type="presParOf" srcId="{74445CD6-E25E-C240-BE60-9A45B7B25C5C}" destId="{3F7E8E6F-6509-404E-B3F2-D39A334B2DDA}" srcOrd="1" destOrd="0" presId="urn:microsoft.com/office/officeart/2005/8/layout/lProcess3"/>
    <dgm:cxn modelId="{BCD2ED9E-6138-E745-AD0D-39F86A0062E8}" type="presParOf" srcId="{74445CD6-E25E-C240-BE60-9A45B7B25C5C}" destId="{8762CD98-6B6D-F945-9F8A-143998E383B8}" srcOrd="2" destOrd="0" presId="urn:microsoft.com/office/officeart/2005/8/layout/lProcess3"/>
    <dgm:cxn modelId="{9BE32A7F-BA15-0042-B0F7-8710335FB83B}" type="presParOf" srcId="{6FEF738C-2EC1-E641-B51A-36787E6B815D}" destId="{038D8EA8-5999-1446-81FA-0BB39BA0BC61}" srcOrd="3" destOrd="0" presId="urn:microsoft.com/office/officeart/2005/8/layout/lProcess3"/>
    <dgm:cxn modelId="{9F7B9657-5086-F446-AADA-9D822EE9DE4E}" type="presParOf" srcId="{6FEF738C-2EC1-E641-B51A-36787E6B815D}" destId="{B6FA550A-E55B-F647-8837-269C5F2B45CA}" srcOrd="4" destOrd="0" presId="urn:microsoft.com/office/officeart/2005/8/layout/lProcess3"/>
    <dgm:cxn modelId="{1170CBEF-9640-1C47-BF8B-9C911C77090C}" type="presParOf" srcId="{B6FA550A-E55B-F647-8837-269C5F2B45CA}" destId="{5640E65B-7044-844F-9EB5-48CE7C5F451B}" srcOrd="0" destOrd="0" presId="urn:microsoft.com/office/officeart/2005/8/layout/lProcess3"/>
    <dgm:cxn modelId="{7B2F8D94-151A-8445-9531-6018A4123B4E}" type="presParOf" srcId="{B6FA550A-E55B-F647-8837-269C5F2B45CA}" destId="{082B47EC-2459-F145-AB5A-00E5E8E0E6B6}" srcOrd="1" destOrd="0" presId="urn:microsoft.com/office/officeart/2005/8/layout/lProcess3"/>
    <dgm:cxn modelId="{218D6C5A-A347-5644-8591-845BCB81BA1E}" type="presParOf" srcId="{B6FA550A-E55B-F647-8837-269C5F2B45CA}" destId="{E7AF8E55-35D4-EE43-84F0-EB1EE3C4089C}" srcOrd="2" destOrd="0" presId="urn:microsoft.com/office/officeart/2005/8/layout/lProcess3"/>
    <dgm:cxn modelId="{23DFD0DC-703E-C742-9D0C-FBEEED8D1933}" type="presParOf" srcId="{6FEF738C-2EC1-E641-B51A-36787E6B815D}" destId="{5811418B-F0A5-9846-9D84-2FCF3A1E0C85}" srcOrd="5" destOrd="0" presId="urn:microsoft.com/office/officeart/2005/8/layout/lProcess3"/>
    <dgm:cxn modelId="{99059B04-79E0-6047-A9BB-5B25B3B0A5B9}" type="presParOf" srcId="{6FEF738C-2EC1-E641-B51A-36787E6B815D}" destId="{C6432E75-451D-C04E-B974-85A83CC24E61}" srcOrd="6" destOrd="0" presId="urn:microsoft.com/office/officeart/2005/8/layout/lProcess3"/>
    <dgm:cxn modelId="{DC23A82E-FAC5-2649-8C47-C9C4C2BACD0D}" type="presParOf" srcId="{C6432E75-451D-C04E-B974-85A83CC24E61}" destId="{11900ED1-072B-FE45-8087-917F279E1854}" srcOrd="0" destOrd="0" presId="urn:microsoft.com/office/officeart/2005/8/layout/lProcess3"/>
    <dgm:cxn modelId="{F55577DB-4E22-8F47-AD7C-6D58D79D6343}" type="presParOf" srcId="{C6432E75-451D-C04E-B974-85A83CC24E61}" destId="{1CD7A641-D2C6-6D44-9821-969E062E8052}" srcOrd="1" destOrd="0" presId="urn:microsoft.com/office/officeart/2005/8/layout/lProcess3"/>
    <dgm:cxn modelId="{0CEF3DE8-3FB4-1A47-A939-300F527B68A0}" type="presParOf" srcId="{C6432E75-451D-C04E-B974-85A83CC24E61}" destId="{8BCC3C3D-DEEA-0241-A450-84AB07AF83EE}" srcOrd="2" destOrd="0" presId="urn:microsoft.com/office/officeart/2005/8/layout/lProcess3"/>
    <dgm:cxn modelId="{C5155326-BA3E-5F43-9035-1CA3CD79C485}" type="presParOf" srcId="{6FEF738C-2EC1-E641-B51A-36787E6B815D}" destId="{1D0209CC-4DAD-BC49-8FFF-5B1A3AD7C8AC}" srcOrd="7" destOrd="0" presId="urn:microsoft.com/office/officeart/2005/8/layout/lProcess3"/>
    <dgm:cxn modelId="{0E854899-2904-874C-A4E9-8BFF30310A95}" type="presParOf" srcId="{6FEF738C-2EC1-E641-B51A-36787E6B815D}" destId="{E841F784-B451-0C4B-9417-AABFB4527209}" srcOrd="8" destOrd="0" presId="urn:microsoft.com/office/officeart/2005/8/layout/lProcess3"/>
    <dgm:cxn modelId="{91457D9A-F676-E84B-B6AA-DC7649C6D3ED}" type="presParOf" srcId="{E841F784-B451-0C4B-9417-AABFB4527209}" destId="{96B99780-81A6-4C41-BF29-ECA058D08E7B}" srcOrd="0" destOrd="0" presId="urn:microsoft.com/office/officeart/2005/8/layout/lProcess3"/>
    <dgm:cxn modelId="{A86BDCF0-CF40-A947-951D-CC7B1B178493}" type="presParOf" srcId="{E841F784-B451-0C4B-9417-AABFB4527209}" destId="{EB80123E-E06B-0344-8B98-C77BE803B9A0}" srcOrd="1" destOrd="0" presId="urn:microsoft.com/office/officeart/2005/8/layout/lProcess3"/>
    <dgm:cxn modelId="{725B842F-6840-E945-9298-66AF4CD0563C}" type="presParOf" srcId="{E841F784-B451-0C4B-9417-AABFB4527209}" destId="{C442239F-A10C-D54C-B093-8FD13A00035F}" srcOrd="2"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1F68B1-384F-884E-85F2-687846E08432}">
      <dsp:nvSpPr>
        <dsp:cNvPr id="0" name=""/>
        <dsp:cNvSpPr/>
      </dsp:nvSpPr>
      <dsp:spPr>
        <a:xfrm>
          <a:off x="397115" y="1956"/>
          <a:ext cx="3410877" cy="952652"/>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unit of information</a:t>
          </a:r>
        </a:p>
      </dsp:txBody>
      <dsp:txXfrm>
        <a:off x="873441" y="1956"/>
        <a:ext cx="2458225" cy="952652"/>
      </dsp:txXfrm>
    </dsp:sp>
    <dsp:sp modelId="{589CEB27-68EC-8C44-AE2F-CCCE5077B7DD}">
      <dsp:nvSpPr>
        <dsp:cNvPr id="0" name=""/>
        <dsp:cNvSpPr/>
      </dsp:nvSpPr>
      <dsp:spPr>
        <a:xfrm>
          <a:off x="3498380" y="82932"/>
          <a:ext cx="2288132" cy="790701"/>
        </a:xfrm>
        <a:prstGeom prst="chevron">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qubit/vector</a:t>
          </a:r>
        </a:p>
      </dsp:txBody>
      <dsp:txXfrm>
        <a:off x="3893731" y="82932"/>
        <a:ext cx="1497431" cy="790701"/>
      </dsp:txXfrm>
    </dsp:sp>
    <dsp:sp modelId="{AC12D99E-FB7E-0741-8161-C77DE0409CB8}">
      <dsp:nvSpPr>
        <dsp:cNvPr id="0" name=""/>
        <dsp:cNvSpPr/>
      </dsp:nvSpPr>
      <dsp:spPr>
        <a:xfrm>
          <a:off x="397115" y="1087980"/>
          <a:ext cx="3410877" cy="952652"/>
        </a:xfrm>
        <a:prstGeom prst="chevron">
          <a:avLst/>
        </a:prstGeom>
        <a:solidFill>
          <a:schemeClr val="accent3">
            <a:hueOff val="677650"/>
            <a:satOff val="25000"/>
            <a:lumOff val="-36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unit of processing</a:t>
          </a:r>
        </a:p>
      </dsp:txBody>
      <dsp:txXfrm>
        <a:off x="873441" y="1087980"/>
        <a:ext cx="2458225" cy="952652"/>
      </dsp:txXfrm>
    </dsp:sp>
    <dsp:sp modelId="{8762CD98-6B6D-F945-9F8A-143998E383B8}">
      <dsp:nvSpPr>
        <dsp:cNvPr id="0" name=""/>
        <dsp:cNvSpPr/>
      </dsp:nvSpPr>
      <dsp:spPr>
        <a:xfrm>
          <a:off x="3498380" y="1168956"/>
          <a:ext cx="2288132" cy="790701"/>
        </a:xfrm>
        <a:prstGeom prst="chevron">
          <a:avLst/>
        </a:prstGeom>
        <a:solidFill>
          <a:schemeClr val="accent3">
            <a:tint val="40000"/>
            <a:alpha val="90000"/>
            <a:hueOff val="507285"/>
            <a:satOff val="25000"/>
            <a:lumOff val="445"/>
            <a:alphaOff val="0"/>
          </a:schemeClr>
        </a:solidFill>
        <a:ln w="12700" cap="flat" cmpd="sng" algn="ctr">
          <a:solidFill>
            <a:schemeClr val="accent3">
              <a:tint val="40000"/>
              <a:alpha val="90000"/>
              <a:hueOff val="507285"/>
              <a:satOff val="25000"/>
              <a:lumOff val="44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quantum gate/matrix</a:t>
          </a:r>
        </a:p>
      </dsp:txBody>
      <dsp:txXfrm>
        <a:off x="3893731" y="1168956"/>
        <a:ext cx="1497431" cy="790701"/>
      </dsp:txXfrm>
    </dsp:sp>
    <dsp:sp modelId="{5640E65B-7044-844F-9EB5-48CE7C5F451B}">
      <dsp:nvSpPr>
        <dsp:cNvPr id="0" name=""/>
        <dsp:cNvSpPr/>
      </dsp:nvSpPr>
      <dsp:spPr>
        <a:xfrm>
          <a:off x="397115" y="2174004"/>
          <a:ext cx="3410877" cy="952652"/>
        </a:xfrm>
        <a:prstGeom prst="chevron">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mathematical model</a:t>
          </a:r>
        </a:p>
      </dsp:txBody>
      <dsp:txXfrm>
        <a:off x="873441" y="2174004"/>
        <a:ext cx="2458225" cy="952652"/>
      </dsp:txXfrm>
    </dsp:sp>
    <dsp:sp modelId="{E7AF8E55-35D4-EE43-84F0-EB1EE3C4089C}">
      <dsp:nvSpPr>
        <dsp:cNvPr id="0" name=""/>
        <dsp:cNvSpPr/>
      </dsp:nvSpPr>
      <dsp:spPr>
        <a:xfrm>
          <a:off x="3498380" y="2254980"/>
          <a:ext cx="2288132" cy="790701"/>
        </a:xfrm>
        <a:prstGeom prst="chevron">
          <a:avLst/>
        </a:prstGeom>
        <a:solidFill>
          <a:schemeClr val="accent3">
            <a:tint val="40000"/>
            <a:alpha val="90000"/>
            <a:hueOff val="1014570"/>
            <a:satOff val="50000"/>
            <a:lumOff val="890"/>
            <a:alphaOff val="0"/>
          </a:schemeClr>
        </a:solidFill>
        <a:ln w="12700" cap="flat" cmpd="sng" algn="ctr">
          <a:solidFill>
            <a:schemeClr val="accent3">
              <a:tint val="40000"/>
              <a:alpha val="90000"/>
              <a:hueOff val="1014570"/>
              <a:satOff val="50000"/>
              <a:lumOff val="89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matrix-vector multiplication</a:t>
          </a:r>
        </a:p>
      </dsp:txBody>
      <dsp:txXfrm>
        <a:off x="3893731" y="2254980"/>
        <a:ext cx="1497431" cy="790701"/>
      </dsp:txXfrm>
    </dsp:sp>
    <dsp:sp modelId="{11900ED1-072B-FE45-8087-917F279E1854}">
      <dsp:nvSpPr>
        <dsp:cNvPr id="0" name=""/>
        <dsp:cNvSpPr/>
      </dsp:nvSpPr>
      <dsp:spPr>
        <a:xfrm>
          <a:off x="397115" y="3260028"/>
          <a:ext cx="3410877" cy="952652"/>
        </a:xfrm>
        <a:prstGeom prst="chevron">
          <a:avLst/>
        </a:prstGeom>
        <a:solidFill>
          <a:schemeClr val="accent3">
            <a:hueOff val="2032949"/>
            <a:satOff val="75000"/>
            <a:lumOff val="-110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algorithm</a:t>
          </a:r>
        </a:p>
      </dsp:txBody>
      <dsp:txXfrm>
        <a:off x="873441" y="3260028"/>
        <a:ext cx="2458225" cy="952652"/>
      </dsp:txXfrm>
    </dsp:sp>
    <dsp:sp modelId="{8BCC3C3D-DEEA-0241-A450-84AB07AF83EE}">
      <dsp:nvSpPr>
        <dsp:cNvPr id="0" name=""/>
        <dsp:cNvSpPr/>
      </dsp:nvSpPr>
      <dsp:spPr>
        <a:xfrm>
          <a:off x="3498380" y="3341004"/>
          <a:ext cx="2288132" cy="790701"/>
        </a:xfrm>
        <a:prstGeom prst="chevron">
          <a:avLst/>
        </a:prstGeom>
        <a:solidFill>
          <a:schemeClr val="accent3">
            <a:tint val="40000"/>
            <a:alpha val="90000"/>
            <a:hueOff val="1521856"/>
            <a:satOff val="75000"/>
            <a:lumOff val="1334"/>
            <a:alphaOff val="0"/>
          </a:schemeClr>
        </a:solidFill>
        <a:ln w="12700" cap="flat" cmpd="sng" algn="ctr">
          <a:solidFill>
            <a:schemeClr val="accent3">
              <a:tint val="40000"/>
              <a:alpha val="90000"/>
              <a:hueOff val="1521856"/>
              <a:satOff val="75000"/>
              <a:lumOff val="133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quantum circuit</a:t>
          </a:r>
        </a:p>
      </dsp:txBody>
      <dsp:txXfrm>
        <a:off x="3893731" y="3341004"/>
        <a:ext cx="1497431" cy="790701"/>
      </dsp:txXfrm>
    </dsp:sp>
    <dsp:sp modelId="{96B99780-81A6-4C41-BF29-ECA058D08E7B}">
      <dsp:nvSpPr>
        <dsp:cNvPr id="0" name=""/>
        <dsp:cNvSpPr/>
      </dsp:nvSpPr>
      <dsp:spPr>
        <a:xfrm>
          <a:off x="431408" y="4346052"/>
          <a:ext cx="3310753" cy="952652"/>
        </a:xfrm>
        <a:prstGeom prst="chevron">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   program</a:t>
          </a:r>
        </a:p>
      </dsp:txBody>
      <dsp:txXfrm>
        <a:off x="907734" y="4346052"/>
        <a:ext cx="2358101" cy="952652"/>
      </dsp:txXfrm>
    </dsp:sp>
    <dsp:sp modelId="{C442239F-A10C-D54C-B093-8FD13A00035F}">
      <dsp:nvSpPr>
        <dsp:cNvPr id="0" name=""/>
        <dsp:cNvSpPr/>
      </dsp:nvSpPr>
      <dsp:spPr>
        <a:xfrm>
          <a:off x="3398257" y="4427028"/>
          <a:ext cx="2433977" cy="790701"/>
        </a:xfrm>
        <a:prstGeom prst="chevron">
          <a:avLst/>
        </a:prstGeom>
        <a:solidFill>
          <a:schemeClr val="accent6">
            <a:lumMod val="40000"/>
            <a:lumOff val="60000"/>
            <a:alpha val="90000"/>
          </a:schemeClr>
        </a:solidFill>
        <a:ln w="12700" cap="flat" cmpd="sng" algn="ctr">
          <a:solidFill>
            <a:schemeClr val="accent3">
              <a:tint val="40000"/>
              <a:alpha val="90000"/>
              <a:hueOff val="2029141"/>
              <a:satOff val="100000"/>
              <a:lumOff val="177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quantum circuit </a:t>
          </a:r>
          <a:r>
            <a:rPr lang="en-US" sz="1900" kern="1200" dirty="0" err="1"/>
            <a:t>desciption</a:t>
          </a:r>
          <a:endParaRPr lang="en-US" sz="1900" kern="1200" dirty="0"/>
        </a:p>
      </dsp:txBody>
      <dsp:txXfrm>
        <a:off x="3793608" y="4427028"/>
        <a:ext cx="1643276" cy="790701"/>
      </dsp:txXfrm>
    </dsp:sp>
  </dsp:spTree>
</dsp:drawing>
</file>

<file path=ppt/diagrams/layout1.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3ED0FF-B859-404B-9C1E-73103C1C71E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CB1959D-DE0F-4748-B1C7-CB0DB5D1F43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7F3FC6-2D65-1A43-9510-796BAE8602D7}" type="datetimeFigureOut">
              <a:rPr lang="en-US" smtClean="0"/>
              <a:t>9/29/26</a:t>
            </a:fld>
            <a:endParaRPr lang="en-US"/>
          </a:p>
        </p:txBody>
      </p:sp>
      <p:sp>
        <p:nvSpPr>
          <p:cNvPr id="4" name="Footer Placeholder 3">
            <a:extLst>
              <a:ext uri="{FF2B5EF4-FFF2-40B4-BE49-F238E27FC236}">
                <a16:creationId xmlns:a16="http://schemas.microsoft.com/office/drawing/2014/main" id="{7261648D-9785-BB47-8C7F-6EC878524DF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CE548F2-7D91-3B49-AF48-374222C721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C813F10-B146-004C-8FD9-0F9E4B976DF7}" type="slidenum">
              <a:rPr lang="en-US" smtClean="0"/>
              <a:t>‹#›</a:t>
            </a:fld>
            <a:endParaRPr lang="en-US"/>
          </a:p>
        </p:txBody>
      </p:sp>
    </p:spTree>
    <p:extLst>
      <p:ext uri="{BB962C8B-B14F-4D97-AF65-F5344CB8AC3E}">
        <p14:creationId xmlns:p14="http://schemas.microsoft.com/office/powerpoint/2010/main" val="33204150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9BEB82-778D-AD40-9C78-E0B63E5D4744}" type="datetimeFigureOut">
              <a:rPr lang="en-US" smtClean="0"/>
              <a:t>9/29/26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CE5E3-B8BD-D040-AC87-D640191DD8F1}" type="slidenum">
              <a:rPr lang="en-US" smtClean="0"/>
              <a:t>‹#›</a:t>
            </a:fld>
            <a:endParaRPr lang="en-US"/>
          </a:p>
        </p:txBody>
      </p:sp>
    </p:spTree>
    <p:extLst>
      <p:ext uri="{BB962C8B-B14F-4D97-AF65-F5344CB8AC3E}">
        <p14:creationId xmlns:p14="http://schemas.microsoft.com/office/powerpoint/2010/main" val="811909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0" dirty="0"/>
          </a:p>
        </p:txBody>
      </p:sp>
      <p:sp>
        <p:nvSpPr>
          <p:cNvPr id="4" name="Slide Number Placeholder 3"/>
          <p:cNvSpPr>
            <a:spLocks noGrp="1"/>
          </p:cNvSpPr>
          <p:nvPr>
            <p:ph type="sldNum" sz="quarter" idx="5"/>
          </p:nvPr>
        </p:nvSpPr>
        <p:spPr/>
        <p:txBody>
          <a:bodyPr/>
          <a:lstStyle/>
          <a:p>
            <a:fld id="{1B2CE5E3-B8BD-D040-AC87-D640191DD8F1}" type="slidenum">
              <a:rPr lang="en-US" smtClean="0"/>
              <a:t>2</a:t>
            </a:fld>
            <a:endParaRPr lang="en-US"/>
          </a:p>
        </p:txBody>
      </p:sp>
    </p:spTree>
    <p:extLst>
      <p:ext uri="{BB962C8B-B14F-4D97-AF65-F5344CB8AC3E}">
        <p14:creationId xmlns:p14="http://schemas.microsoft.com/office/powerpoint/2010/main" val="4045363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A quantum computer is a type of computer that uses the principles of quantum mechanics to perform computations.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200" b="0" dirty="0">
              <a:solidFill>
                <a:schemeClr val="bg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0" dirty="0"/>
              <a:t>Quantum computing is a multidisciplinary field that combines aspects of computer science, quantum mechanics, and mathematics.</a:t>
            </a:r>
          </a:p>
        </p:txBody>
      </p:sp>
      <p:sp>
        <p:nvSpPr>
          <p:cNvPr id="4" name="Slide Number Placeholder 3"/>
          <p:cNvSpPr>
            <a:spLocks noGrp="1"/>
          </p:cNvSpPr>
          <p:nvPr>
            <p:ph type="sldNum" sz="quarter" idx="5"/>
          </p:nvPr>
        </p:nvSpPr>
        <p:spPr/>
        <p:txBody>
          <a:bodyPr/>
          <a:lstStyle/>
          <a:p>
            <a:fld id="{1B2CE5E3-B8BD-D040-AC87-D640191DD8F1}" type="slidenum">
              <a:rPr lang="en-US" smtClean="0"/>
              <a:t>3</a:t>
            </a:fld>
            <a:endParaRPr lang="en-US"/>
          </a:p>
        </p:txBody>
      </p:sp>
    </p:spTree>
    <p:extLst>
      <p:ext uri="{BB962C8B-B14F-4D97-AF65-F5344CB8AC3E}">
        <p14:creationId xmlns:p14="http://schemas.microsoft.com/office/powerpoint/2010/main" val="17247533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just">
              <a:buFont typeface="Arial" panose="020B0604020202020204" pitchFamily="34" charset="0"/>
              <a:buChar char="•"/>
            </a:pPr>
            <a:r>
              <a:rPr lang="en-ZA" b="0" i="0" dirty="0"/>
              <a:t>Let’s start with a general definition of quantum mechanics. </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b="0" i="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i="0" dirty="0"/>
              <a:t>The word 'quantum' comes from the Latin word meaning 'amount.' It refers to the smallest discrete units of energy, charge, matter, or other physical quantities.</a:t>
            </a:r>
          </a:p>
          <a:p>
            <a:pPr marL="171450" indent="-171450" algn="just">
              <a:buFont typeface="Arial" panose="020B0604020202020204" pitchFamily="34" charset="0"/>
              <a:buChar char="•"/>
            </a:pPr>
            <a:endParaRPr lang="en-ZA" b="0" i="0" dirty="0"/>
          </a:p>
          <a:p>
            <a:pPr marL="171450" indent="-171450" algn="just">
              <a:buFont typeface="Arial" panose="020B0604020202020204" pitchFamily="34" charset="0"/>
              <a:buChar char="•"/>
            </a:pPr>
            <a:r>
              <a:rPr lang="en-ZA" i="0" dirty="0"/>
              <a:t>Quantum mechanics is a branch of physics that deals with the properties and </a:t>
            </a:r>
            <a:r>
              <a:rPr lang="en-ZA" i="0" dirty="0" err="1"/>
              <a:t>behavior</a:t>
            </a:r>
            <a:r>
              <a:rPr lang="en-ZA" i="0" dirty="0"/>
              <a:t> of matter and energy at the atomic and subatomic levels, typically on the scale of </a:t>
            </a:r>
            <a:r>
              <a:rPr lang="en-ZA" i="0" dirty="0" err="1"/>
              <a:t>nanometers</a:t>
            </a:r>
            <a:r>
              <a:rPr lang="en-ZA" i="0" dirty="0"/>
              <a:t> and smaller.</a:t>
            </a:r>
          </a:p>
          <a:p>
            <a:pPr algn="just"/>
            <a:endParaRPr lang="en-ZA" b="0" i="0" dirty="0"/>
          </a:p>
        </p:txBody>
      </p:sp>
      <p:sp>
        <p:nvSpPr>
          <p:cNvPr id="4" name="Slide Number Placeholder 3"/>
          <p:cNvSpPr>
            <a:spLocks noGrp="1"/>
          </p:cNvSpPr>
          <p:nvPr>
            <p:ph type="sldNum" sz="quarter" idx="5"/>
          </p:nvPr>
        </p:nvSpPr>
        <p:spPr/>
        <p:txBody>
          <a:bodyPr/>
          <a:lstStyle/>
          <a:p>
            <a:fld id="{1B2CE5E3-B8BD-D040-AC87-D640191DD8F1}" type="slidenum">
              <a:rPr lang="en-US" smtClean="0"/>
              <a:t>4</a:t>
            </a:fld>
            <a:endParaRPr lang="en-US"/>
          </a:p>
        </p:txBody>
      </p:sp>
    </p:spTree>
    <p:extLst>
      <p:ext uri="{BB962C8B-B14F-4D97-AF65-F5344CB8AC3E}">
        <p14:creationId xmlns:p14="http://schemas.microsoft.com/office/powerpoint/2010/main" val="3994625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The history of quantum computing dates back to the 1980s. Russian scientist Yuri </a:t>
            </a:r>
            <a:r>
              <a:rPr lang="en-ZA" dirty="0" err="1"/>
              <a:t>Manin</a:t>
            </a:r>
            <a:r>
              <a:rPr lang="en-ZA" dirty="0"/>
              <a:t>, in his book </a:t>
            </a:r>
            <a:r>
              <a:rPr lang="en-ZA" i="1" dirty="0"/>
              <a:t>Computable and </a:t>
            </a:r>
            <a:r>
              <a:rPr lang="en-ZA" i="1" dirty="0" err="1"/>
              <a:t>Noncomputable</a:t>
            </a:r>
            <a:r>
              <a:rPr lang="en-ZA" dirty="0"/>
              <a:t>, introduced the idea of using the principles of quantum mechanics for computation.</a:t>
            </a:r>
          </a:p>
          <a:p>
            <a:pPr algn="just"/>
            <a:endParaRPr lang="en-ZA" dirty="0"/>
          </a:p>
          <a:p>
            <a:pPr algn="just"/>
            <a:r>
              <a:rPr lang="en-ZA" dirty="0"/>
              <a:t>That same year, Paul Benioff proposed the concept of a quantum Turing machine and theoretically demonstrated that such a machine would not violate the laws of physics.</a:t>
            </a:r>
          </a:p>
          <a:p>
            <a:pPr algn="just"/>
            <a:endParaRPr lang="en-ZA" dirty="0"/>
          </a:p>
          <a:p>
            <a:pPr algn="just"/>
            <a:r>
              <a:rPr lang="en-ZA" dirty="0"/>
              <a:t>In 1982, Nobel laureate Richard Feynman suggested the idea of a quantum computer. Unlike classical computers that process information as binary 0s and 1s, Feynman proposed a machine that could allow data to exist as both 0 and 1 at the same time.</a:t>
            </a:r>
          </a:p>
          <a:p>
            <a:pPr algn="just"/>
            <a:endParaRPr lang="en-ZA" dirty="0"/>
          </a:p>
          <a:p>
            <a:pPr algn="just"/>
            <a:r>
              <a:rPr lang="en-ZA" dirty="0"/>
              <a:t>David Deutsch made a key contribution to quantum computing in 1985 by formulating the first quantum algorithm and proving that quantum computers can outperform classical ones in certain tasks.</a:t>
            </a:r>
          </a:p>
          <a:p>
            <a:pPr algn="just"/>
            <a:endParaRPr lang="en-ZA" dirty="0"/>
          </a:p>
          <a:p>
            <a:pPr algn="just"/>
            <a:r>
              <a:rPr lang="en-ZA" dirty="0"/>
              <a:t>More quantum algorithms were developed in the 1990s. Mathematician Peter Shor created an algorithm for factoring large numbers, while </a:t>
            </a:r>
            <a:r>
              <a:rPr lang="en-ZA" dirty="0" err="1"/>
              <a:t>Lov</a:t>
            </a:r>
            <a:r>
              <a:rPr lang="en-ZA" dirty="0"/>
              <a:t> Grover developed a quantum algorithm for database search.</a:t>
            </a:r>
          </a:p>
          <a:p>
            <a:pPr algn="just"/>
            <a:endParaRPr lang="en-ZA" dirty="0"/>
          </a:p>
          <a:p>
            <a:pPr algn="just"/>
            <a:r>
              <a:rPr lang="en-ZA" dirty="0"/>
              <a:t>In 2011, the Canadian company D-Wave released the the first quantum machine called D-Wave One.</a:t>
            </a:r>
          </a:p>
          <a:p>
            <a:pPr algn="just"/>
            <a:endParaRPr lang="en-ZA" dirty="0"/>
          </a:p>
          <a:p>
            <a:pPr algn="just"/>
            <a:r>
              <a:rPr lang="en-ZA" dirty="0"/>
              <a:t>The next landmark moment in the history of quantum computing occurred in 2019, when Google demonstrated so called "quantum advantage." Google’s quantum computer solved a problem in 200 seconds that would take a classical supercomputer about 10,000 years.</a:t>
            </a:r>
          </a:p>
          <a:p>
            <a:pPr algn="just"/>
            <a:endParaRPr lang="en-ZA" dirty="0"/>
          </a:p>
        </p:txBody>
      </p:sp>
      <p:sp>
        <p:nvSpPr>
          <p:cNvPr id="4" name="Slide Number Placeholder 3"/>
          <p:cNvSpPr>
            <a:spLocks noGrp="1"/>
          </p:cNvSpPr>
          <p:nvPr>
            <p:ph type="sldNum" sz="quarter" idx="5"/>
          </p:nvPr>
        </p:nvSpPr>
        <p:spPr/>
        <p:txBody>
          <a:bodyPr/>
          <a:lstStyle/>
          <a:p>
            <a:fld id="{1B2CE5E3-B8BD-D040-AC87-D640191DD8F1}" type="slidenum">
              <a:rPr lang="en-US" smtClean="0"/>
              <a:t>5</a:t>
            </a:fld>
            <a:endParaRPr lang="en-US"/>
          </a:p>
        </p:txBody>
      </p:sp>
    </p:spTree>
    <p:extLst>
      <p:ext uri="{BB962C8B-B14F-4D97-AF65-F5344CB8AC3E}">
        <p14:creationId xmlns:p14="http://schemas.microsoft.com/office/powerpoint/2010/main" val="1973444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A </a:t>
            </a:r>
            <a:r>
              <a:rPr lang="en-ZA" b="1" dirty="0"/>
              <a:t>quantum advantage</a:t>
            </a:r>
            <a:r>
              <a:rPr lang="en-ZA" dirty="0"/>
              <a:t> is the point where a quantum computer can solve a problem faster or more efficiently than the best known classical algorithms.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Quantum advantage can be demonstrated in a search problem. Imagine the problem faced by a national security agency that records all phone calls.</a:t>
            </a:r>
          </a:p>
          <a:p>
            <a:pPr algn="just"/>
            <a:endParaRPr lang="en-ZA" dirty="0"/>
          </a:p>
          <a:p>
            <a:pPr algn="just"/>
            <a:r>
              <a:rPr lang="en-ZA" dirty="0"/>
              <a:t>Suppose such an agency has a trillion records and needs to find one or more connected to an event of interest. The records are unstructured, since neither the call time nor the names of the parties are known.</a:t>
            </a:r>
          </a:p>
          <a:p>
            <a:pPr algn="just"/>
            <a:endParaRPr lang="en-ZA" dirty="0"/>
          </a:p>
          <a:p>
            <a:pPr algn="just"/>
            <a:r>
              <a:rPr lang="en-ZA" dirty="0"/>
              <a:t>If a classical computer scanned the records at the speed of one microsecond per record, it would take about a week to locate the call.</a:t>
            </a:r>
          </a:p>
          <a:p>
            <a:pPr algn="just"/>
            <a:endParaRPr lang="en-ZA" dirty="0"/>
          </a:p>
          <a:p>
            <a:pPr algn="just"/>
            <a:r>
              <a:rPr lang="en-ZA" dirty="0"/>
              <a:t>A quantum computer running at the same speed could find it in just one second. This alone explains why the armies and agencies of major countries are so interested in quantum computers.</a:t>
            </a:r>
          </a:p>
          <a:p>
            <a:pPr algn="just"/>
            <a:endParaRPr lang="en-ZA" dirty="0"/>
          </a:p>
          <a:p>
            <a:pPr algn="just"/>
            <a:r>
              <a:rPr lang="en-ZA" dirty="0"/>
              <a:t>In this quantum computing course, we will go into detail on Grover’s algorithm, which enables quantum search through unstructured data.</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B2CE5E3-B8BD-D040-AC87-D640191DD8F1}" type="slidenum">
              <a:rPr lang="en-US" smtClean="0"/>
              <a:t>6</a:t>
            </a:fld>
            <a:endParaRPr lang="en-US"/>
          </a:p>
        </p:txBody>
      </p:sp>
    </p:spTree>
    <p:extLst>
      <p:ext uri="{BB962C8B-B14F-4D97-AF65-F5344CB8AC3E}">
        <p14:creationId xmlns:p14="http://schemas.microsoft.com/office/powerpoint/2010/main" val="2927288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i="0" dirty="0"/>
              <a:t>A quantum computer is not just a faster version of a classical computer, just as an airplane is not a faster car.</a:t>
            </a:r>
          </a:p>
          <a:p>
            <a:pPr algn="just"/>
            <a:endParaRPr lang="en-ZA" dirty="0"/>
          </a:p>
          <a:p>
            <a:pPr algn="just"/>
            <a:r>
              <a:rPr lang="en-ZA" dirty="0"/>
              <a:t> A car moves in two dimensions, while an airplane adds a third dimension of movement. Similarly, a classical computer operates in the two-dimensional space of zeros and ones, while a quantum computer processes information in a multidimensional space.</a:t>
            </a:r>
          </a:p>
        </p:txBody>
      </p:sp>
      <p:sp>
        <p:nvSpPr>
          <p:cNvPr id="4" name="Slide Number Placeholder 3"/>
          <p:cNvSpPr>
            <a:spLocks noGrp="1"/>
          </p:cNvSpPr>
          <p:nvPr>
            <p:ph type="sldNum" sz="quarter" idx="5"/>
          </p:nvPr>
        </p:nvSpPr>
        <p:spPr/>
        <p:txBody>
          <a:bodyPr/>
          <a:lstStyle/>
          <a:p>
            <a:fld id="{1B2CE5E3-B8BD-D040-AC87-D640191DD8F1}" type="slidenum">
              <a:rPr lang="en-US" smtClean="0"/>
              <a:t>7</a:t>
            </a:fld>
            <a:endParaRPr lang="en-US"/>
          </a:p>
        </p:txBody>
      </p:sp>
    </p:spTree>
    <p:extLst>
      <p:ext uri="{BB962C8B-B14F-4D97-AF65-F5344CB8AC3E}">
        <p14:creationId xmlns:p14="http://schemas.microsoft.com/office/powerpoint/2010/main" val="29326422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8</a:t>
            </a:fld>
            <a:endParaRPr lang="en-US"/>
          </a:p>
        </p:txBody>
      </p:sp>
    </p:spTree>
    <p:extLst>
      <p:ext uri="{BB962C8B-B14F-4D97-AF65-F5344CB8AC3E}">
        <p14:creationId xmlns:p14="http://schemas.microsoft.com/office/powerpoint/2010/main" val="27233192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dirty="0">
                <a:latin typeface="+mn-lt"/>
              </a:rPr>
              <a:t>Quantum computers operate on three main principles of quantum mechanics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sz="1200" dirty="0">
              <a:latin typeface="+mn-l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200" dirty="0">
                <a:latin typeface="+mn-lt"/>
              </a:rPr>
              <a:t>The principle of quantum superposition allows a quantum object to exist in multiple states at the same time. </a:t>
            </a:r>
            <a:r>
              <a:rPr lang="en-ZA" dirty="0"/>
              <a:t>This property allows parallel processing on a large scale.</a:t>
            </a:r>
            <a:endParaRPr lang="en-ZA" sz="120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ZA" sz="1200" dirty="0">
              <a:latin typeface="+mn-l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The principle of quantum interference, similar to water waves that amplify or cancel each other out, allows for the amplification of desired results while suppressing unwanted outcomes.</a:t>
            </a:r>
            <a:endParaRPr lang="en-ZA" sz="120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ZA" sz="1200" dirty="0">
              <a:latin typeface="+mn-l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The principle of quantum entanglement allows entangled quantum objects to behave in perfect sync, like twins sharing the same thought at the same moment.</a:t>
            </a:r>
            <a:endParaRPr lang="en-US" dirty="0">
              <a:latin typeface="+mn-lt"/>
            </a:endParaRPr>
          </a:p>
        </p:txBody>
      </p:sp>
      <p:sp>
        <p:nvSpPr>
          <p:cNvPr id="4" name="Slide Number Placeholder 3"/>
          <p:cNvSpPr>
            <a:spLocks noGrp="1"/>
          </p:cNvSpPr>
          <p:nvPr>
            <p:ph type="sldNum" sz="quarter" idx="5"/>
          </p:nvPr>
        </p:nvSpPr>
        <p:spPr/>
        <p:txBody>
          <a:bodyPr/>
          <a:lstStyle/>
          <a:p>
            <a:fld id="{1B2CE5E3-B8BD-D040-AC87-D640191DD8F1}" type="slidenum">
              <a:rPr lang="en-US" smtClean="0"/>
              <a:t>9</a:t>
            </a:fld>
            <a:endParaRPr lang="en-US"/>
          </a:p>
        </p:txBody>
      </p:sp>
    </p:spTree>
    <p:extLst>
      <p:ext uri="{BB962C8B-B14F-4D97-AF65-F5344CB8AC3E}">
        <p14:creationId xmlns:p14="http://schemas.microsoft.com/office/powerpoint/2010/main" val="32128141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Superposition is a phenomenon in which a quantum object, completely isolated from its environment, exists in multiple states simultaneously. The condition of such an object, governed by the laws of quantum mechanics, is called a </a:t>
            </a:r>
            <a:r>
              <a:rPr lang="en-ZA" b="1" dirty="0"/>
              <a:t>quantum state</a:t>
            </a:r>
            <a:r>
              <a:rPr lang="en-ZA" dirty="0"/>
              <a:t>.</a:t>
            </a:r>
          </a:p>
          <a:p>
            <a:pPr algn="just"/>
            <a:endParaRPr lang="en-ZA" dirty="0"/>
          </a:p>
          <a:p>
            <a:pPr algn="just"/>
            <a:r>
              <a:rPr lang="en-ZA" dirty="0"/>
              <a:t>In our example, a cat enclosed in a quantum box is in two states at the same time: sitting and lying down.</a:t>
            </a:r>
          </a:p>
          <a:p>
            <a:pPr algn="just"/>
            <a:endParaRPr lang="en-ZA" dirty="0"/>
          </a:p>
          <a:p>
            <a:pPr algn="just"/>
            <a:r>
              <a:rPr lang="en-ZA" dirty="0"/>
              <a:t>When the box is opened and the cat is observed, its quantum state collapses into one of the two possibilities, and we observe it either sitting or lying down.</a:t>
            </a:r>
          </a:p>
          <a:p>
            <a:pPr algn="just"/>
            <a:endParaRPr lang="en-ZA" dirty="0"/>
          </a:p>
          <a:p>
            <a:pPr algn="just"/>
            <a:r>
              <a:rPr lang="en-ZA" dirty="0"/>
              <a:t>This interaction between our macroscopic world and the quantum micro-world causes the quantum system to </a:t>
            </a:r>
            <a:r>
              <a:rPr lang="en-ZA" i="1" dirty="0"/>
              <a:t>collapse</a:t>
            </a:r>
            <a:r>
              <a:rPr lang="en-ZA" dirty="0"/>
              <a:t> into a single state. The collapse occurs randomly, and it is impossible to predict the outcome with absolute certainty.</a:t>
            </a:r>
          </a:p>
          <a:p>
            <a:pPr algn="just"/>
            <a:endParaRPr lang="en-ZA" dirty="0"/>
          </a:p>
        </p:txBody>
      </p:sp>
      <p:sp>
        <p:nvSpPr>
          <p:cNvPr id="4" name="Slide Number Placeholder 3"/>
          <p:cNvSpPr>
            <a:spLocks noGrp="1"/>
          </p:cNvSpPr>
          <p:nvPr>
            <p:ph type="sldNum" sz="quarter" idx="5"/>
          </p:nvPr>
        </p:nvSpPr>
        <p:spPr/>
        <p:txBody>
          <a:bodyPr/>
          <a:lstStyle/>
          <a:p>
            <a:fld id="{1B2CE5E3-B8BD-D040-AC87-D640191DD8F1}" type="slidenum">
              <a:rPr lang="en-US" smtClean="0"/>
              <a:t>10</a:t>
            </a:fld>
            <a:endParaRPr lang="en-US"/>
          </a:p>
        </p:txBody>
      </p:sp>
    </p:spTree>
    <p:extLst>
      <p:ext uri="{BB962C8B-B14F-4D97-AF65-F5344CB8AC3E}">
        <p14:creationId xmlns:p14="http://schemas.microsoft.com/office/powerpoint/2010/main" val="18470096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The physical interpretation of quantum superposition and quantum collapse remains an open question in physics. The first comprehensive interpretation of quantum mechanics, developed during the 1920s by Niels Bohr, Werner Heisenberg, and Max Born, became known as the Copenhagen interpretation because many of its central ideas were developed at Bohr's institute in Copenhagen.</a:t>
            </a:r>
            <a:endParaRPr lang="en-ZA" sz="1200" dirty="0"/>
          </a:p>
          <a:p>
            <a:pPr algn="just"/>
            <a:endParaRPr lang="en-ZA" sz="1200" dirty="0"/>
          </a:p>
          <a:p>
            <a:pPr algn="just"/>
            <a:r>
              <a:rPr lang="en-ZA" dirty="0"/>
              <a:t>According to the Copenhagen interpretation, a quantum system may exist in a superposition of several possible states before measurement. When the system interacts with a measuring device, the superposition collapses to a single outcome.</a:t>
            </a:r>
            <a:endParaRPr lang="en-ZA" sz="1200" dirty="0"/>
          </a:p>
        </p:txBody>
      </p:sp>
      <p:sp>
        <p:nvSpPr>
          <p:cNvPr id="4" name="Slide Number Placeholder 3"/>
          <p:cNvSpPr>
            <a:spLocks noGrp="1"/>
          </p:cNvSpPr>
          <p:nvPr>
            <p:ph type="sldNum" sz="quarter" idx="5"/>
          </p:nvPr>
        </p:nvSpPr>
        <p:spPr/>
        <p:txBody>
          <a:bodyPr/>
          <a:lstStyle/>
          <a:p>
            <a:fld id="{1B2CE5E3-B8BD-D040-AC87-D640191DD8F1}" type="slidenum">
              <a:rPr lang="en-US" smtClean="0"/>
              <a:t>11</a:t>
            </a:fld>
            <a:endParaRPr lang="en-US"/>
          </a:p>
        </p:txBody>
      </p:sp>
    </p:spTree>
    <p:extLst>
      <p:ext uri="{BB962C8B-B14F-4D97-AF65-F5344CB8AC3E}">
        <p14:creationId xmlns:p14="http://schemas.microsoft.com/office/powerpoint/2010/main" val="32301602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Quantum State</a:t>
            </a:r>
            <a:r>
              <a:rPr lang="en-US" sz="1200" dirty="0"/>
              <a:t>:</a:t>
            </a:r>
          </a:p>
          <a:p>
            <a:r>
              <a:rPr lang="en-ZA" sz="1200" dirty="0"/>
              <a:t>The state of a physical system,  described by quantum mechanics.</a:t>
            </a:r>
          </a:p>
          <a:p>
            <a:endParaRPr lang="en-ZA" sz="1200" dirty="0"/>
          </a:p>
          <a:p>
            <a:r>
              <a:rPr lang="en-US" sz="1200" b="1" dirty="0"/>
              <a:t>Quantum Superposition</a:t>
            </a:r>
            <a:r>
              <a:rPr lang="en-US" sz="1200" dirty="0"/>
              <a:t>: </a:t>
            </a:r>
          </a:p>
          <a:p>
            <a:r>
              <a:rPr lang="en-ZA" sz="1200" dirty="0"/>
              <a:t>A quantum system can exist in two states at the same time</a:t>
            </a:r>
            <a:r>
              <a:rPr lang="en-US" sz="1200" dirty="0"/>
              <a:t>.</a:t>
            </a:r>
          </a:p>
          <a:p>
            <a:endParaRPr lang="en-US" sz="1200" dirty="0"/>
          </a:p>
          <a:p>
            <a:r>
              <a:rPr lang="en-US" sz="1200" b="1" dirty="0"/>
              <a:t>Quantum Collapse:</a:t>
            </a:r>
          </a:p>
          <a:p>
            <a:r>
              <a:rPr lang="en-US" sz="1200" dirty="0"/>
              <a:t>When observed/measured, a quantum object randomly collapses  into one possible state.</a:t>
            </a:r>
          </a:p>
          <a:p>
            <a:endParaRPr lang="en-US" sz="1200" dirty="0"/>
          </a:p>
          <a:p>
            <a:r>
              <a:rPr lang="en-ZA" sz="1200" b="1" dirty="0"/>
              <a:t>Classical State</a:t>
            </a:r>
            <a:r>
              <a:rPr lang="en-ZA" sz="1200" dirty="0"/>
              <a:t>:</a:t>
            </a:r>
          </a:p>
          <a:p>
            <a:r>
              <a:rPr lang="en-ZA" sz="1200" dirty="0"/>
              <a:t>The state of a physical system, described by classical mechanics.</a:t>
            </a:r>
            <a:endParaRPr lang="en-US" sz="1200" dirty="0"/>
          </a:p>
          <a:p>
            <a:endParaRPr lang="en-US" sz="1200" dirty="0"/>
          </a:p>
          <a:p>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12</a:t>
            </a:fld>
            <a:endParaRPr lang="en-US"/>
          </a:p>
        </p:txBody>
      </p:sp>
    </p:spTree>
    <p:extLst>
      <p:ext uri="{BB962C8B-B14F-4D97-AF65-F5344CB8AC3E}">
        <p14:creationId xmlns:p14="http://schemas.microsoft.com/office/powerpoint/2010/main" val="19703674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Another theory, known as the Many-Worlds Interpretation, was proposed by Hugh Everett III in 1957. It suggests that every state in a superposition occurs in a different parallel world. According to this idea, each decision or event causes the universe to split, creating multiple branches where each branch represents a different outcome of the quantum process.</a:t>
            </a:r>
          </a:p>
          <a:p>
            <a:pPr algn="just"/>
            <a:endParaRPr lang="en-ZA" b="0" dirty="0"/>
          </a:p>
          <a:p>
            <a:pPr algn="just"/>
            <a:r>
              <a:rPr lang="en-ZA" b="0" dirty="0"/>
              <a:t>For example, imagine our cat, which was running, decides to stop. This decision branches the universe: in one world, the cat sits down, while in another, it lies down.</a:t>
            </a:r>
          </a:p>
        </p:txBody>
      </p:sp>
      <p:sp>
        <p:nvSpPr>
          <p:cNvPr id="4" name="Slide Number Placeholder 3"/>
          <p:cNvSpPr>
            <a:spLocks noGrp="1"/>
          </p:cNvSpPr>
          <p:nvPr>
            <p:ph type="sldNum" sz="quarter" idx="5"/>
          </p:nvPr>
        </p:nvSpPr>
        <p:spPr/>
        <p:txBody>
          <a:bodyPr/>
          <a:lstStyle/>
          <a:p>
            <a:fld id="{1B2CE5E3-B8BD-D040-AC87-D640191DD8F1}" type="slidenum">
              <a:rPr lang="en-US" smtClean="0"/>
              <a:t>13</a:t>
            </a:fld>
            <a:endParaRPr lang="en-US"/>
          </a:p>
        </p:txBody>
      </p:sp>
    </p:spTree>
    <p:extLst>
      <p:ext uri="{BB962C8B-B14F-4D97-AF65-F5344CB8AC3E}">
        <p14:creationId xmlns:p14="http://schemas.microsoft.com/office/powerpoint/2010/main" val="33337866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David Deutsch, a proponent of the many-worlds theory, argues that a quantum computer in a state of superposition performs calculations across parallel worlds. The result of the computation emerges from the interference of different outcomes obtained from each of these worlds.</a:t>
            </a:r>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14</a:t>
            </a:fld>
            <a:endParaRPr lang="en-US"/>
          </a:p>
        </p:txBody>
      </p:sp>
    </p:spTree>
    <p:extLst>
      <p:ext uri="{BB962C8B-B14F-4D97-AF65-F5344CB8AC3E}">
        <p14:creationId xmlns:p14="http://schemas.microsoft.com/office/powerpoint/2010/main" val="3649243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0" dirty="0"/>
              <a:t>Another important phenomenon of quantum mechanics is quantum entanglement.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200" b="0" dirty="0"/>
          </a:p>
          <a:p>
            <a:pPr marL="228600" indent="-228600" algn="just">
              <a:buFont typeface="+mj-lt"/>
              <a:buAutoNum type="arabicPeriod"/>
            </a:pPr>
            <a:r>
              <a:rPr lang="en-US" sz="1200" b="0" dirty="0"/>
              <a:t>In this thought experiment, </a:t>
            </a:r>
            <a:r>
              <a:rPr lang="en-ZA" b="0" dirty="0"/>
              <a:t>Charlie places a yellow cat and its twin, the white cat, into two quantum boxes. Both cats are in superposition and are entangled, meaning whatever happens to one instantly happens to the other, without any direct contact.</a:t>
            </a:r>
          </a:p>
          <a:p>
            <a:pPr marL="228600" indent="-228600" algn="just">
              <a:buFont typeface="+mj-lt"/>
              <a:buAutoNum type="arabicPeriod"/>
            </a:pPr>
            <a:endParaRPr lang="en-ZA" b="0" dirty="0"/>
          </a:p>
          <a:p>
            <a:pPr marL="228600" indent="-228600" algn="just">
              <a:buFont typeface="+mj-lt"/>
              <a:buAutoNum type="arabicPeriod"/>
            </a:pPr>
            <a:r>
              <a:rPr lang="en-ZA" b="0" dirty="0"/>
              <a:t>Charlie sends one box to Alice and the other to Bob. When Alice opens her box, she finds the yellow cat sitting.</a:t>
            </a:r>
          </a:p>
          <a:p>
            <a:pPr marL="228600" indent="-228600" algn="just">
              <a:buFont typeface="+mj-lt"/>
              <a:buAutoNum type="arabicPeriod"/>
            </a:pPr>
            <a:endParaRPr lang="en-ZA" b="0" dirty="0"/>
          </a:p>
          <a:p>
            <a:pPr marL="228600" indent="-228600" algn="just">
              <a:buFont typeface="+mj-lt"/>
              <a:buAutoNum type="arabicPeriod"/>
            </a:pPr>
            <a:r>
              <a:rPr lang="en-ZA" b="0" dirty="0"/>
              <a:t>Later, Bob opens his box and also finds the white cat sitting. If Alice had found the yellow cat lying down, Bob would have found the white cat lying down too.</a:t>
            </a:r>
          </a:p>
          <a:p>
            <a:pPr marL="228600" indent="-228600" algn="just">
              <a:buFont typeface="+mj-lt"/>
              <a:buAutoNum type="arabicPeriod"/>
            </a:pPr>
            <a:endParaRPr lang="en-ZA" b="0" dirty="0"/>
          </a:p>
          <a:p>
            <a:pPr algn="just"/>
            <a:r>
              <a:rPr lang="en-ZA" b="0" dirty="0"/>
              <a:t>Entanglement means that two quantum objects can share a state and stay perfectly in sync. Any change in one immediately shows up in the other, even across distance. But once either object interacts with the outside world, the entanglement breaks, and both collapse into the same definite state.</a:t>
            </a:r>
          </a:p>
          <a:p>
            <a:pPr algn="just"/>
            <a:endParaRPr lang="en-ZA" b="0" dirty="0"/>
          </a:p>
          <a:p>
            <a:pPr algn="just"/>
            <a:r>
              <a:rPr lang="en-ZA" b="0" dirty="0"/>
              <a:t>Einstein famously called this “spooky action at a distance.</a:t>
            </a:r>
          </a:p>
        </p:txBody>
      </p:sp>
      <p:sp>
        <p:nvSpPr>
          <p:cNvPr id="4" name="Slide Number Placeholder 3"/>
          <p:cNvSpPr>
            <a:spLocks noGrp="1"/>
          </p:cNvSpPr>
          <p:nvPr>
            <p:ph type="sldNum" sz="quarter" idx="5"/>
          </p:nvPr>
        </p:nvSpPr>
        <p:spPr/>
        <p:txBody>
          <a:bodyPr/>
          <a:lstStyle/>
          <a:p>
            <a:fld id="{1B2CE5E3-B8BD-D040-AC87-D640191DD8F1}" type="slidenum">
              <a:rPr lang="en-US" smtClean="0"/>
              <a:t>15</a:t>
            </a:fld>
            <a:endParaRPr lang="en-US"/>
          </a:p>
        </p:txBody>
      </p:sp>
    </p:spTree>
    <p:extLst>
      <p:ext uri="{BB962C8B-B14F-4D97-AF65-F5344CB8AC3E}">
        <p14:creationId xmlns:p14="http://schemas.microsoft.com/office/powerpoint/2010/main" val="7591480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As an illustration of quantum superposition, let us describe a game in which Simon, a quantum computer, challenges Bob to a quantum coin flipping game.</a:t>
            </a:r>
            <a:endParaRPr lang="en-US" b="0" dirty="0">
              <a:latin typeface="+mn-lt"/>
            </a:endParaRPr>
          </a:p>
        </p:txBody>
      </p:sp>
      <p:sp>
        <p:nvSpPr>
          <p:cNvPr id="4" name="Slide Number Placeholder 3"/>
          <p:cNvSpPr>
            <a:spLocks noGrp="1"/>
          </p:cNvSpPr>
          <p:nvPr>
            <p:ph type="sldNum" sz="quarter" idx="5"/>
          </p:nvPr>
        </p:nvSpPr>
        <p:spPr/>
        <p:txBody>
          <a:bodyPr/>
          <a:lstStyle/>
          <a:p>
            <a:fld id="{1B2CE5E3-B8BD-D040-AC87-D640191DD8F1}" type="slidenum">
              <a:rPr lang="en-US" smtClean="0"/>
              <a:t>16</a:t>
            </a:fld>
            <a:endParaRPr lang="en-US"/>
          </a:p>
        </p:txBody>
      </p:sp>
    </p:spTree>
    <p:extLst>
      <p:ext uri="{BB962C8B-B14F-4D97-AF65-F5344CB8AC3E}">
        <p14:creationId xmlns:p14="http://schemas.microsoft.com/office/powerpoint/2010/main" val="41207443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gn="just">
              <a:buFont typeface="+mj-lt"/>
              <a:buAutoNum type="arabicPeriod"/>
            </a:pPr>
            <a:r>
              <a:rPr lang="en-ZA" dirty="0">
                <a:latin typeface="+mn-lt"/>
              </a:rPr>
              <a:t>The game starts with Bob, who flips a coin, observes the side it lands on, and places it inside a quantum box so no one can see it.</a:t>
            </a:r>
          </a:p>
          <a:p>
            <a:pPr marL="228600" indent="-228600" algn="just">
              <a:buFont typeface="+mj-lt"/>
              <a:buAutoNum type="arabicPeriod"/>
            </a:pPr>
            <a:r>
              <a:rPr lang="en-US" sz="1200" dirty="0">
                <a:solidFill>
                  <a:schemeClr val="tx1"/>
                </a:solidFill>
                <a:latin typeface="+mn-lt"/>
              </a:rPr>
              <a:t>It’s Simon’s turn, and he flips the coin without taking it out of the box.</a:t>
            </a: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US" sz="1200" dirty="0">
                <a:solidFill>
                  <a:schemeClr val="tx1"/>
                </a:solidFill>
                <a:latin typeface="+mn-lt"/>
              </a:rPr>
              <a:t>It's Bob's turn to flip the coin as many time he wishes!</a:t>
            </a: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sr-Latn-RS" sz="1200" dirty="0">
                <a:solidFill>
                  <a:schemeClr val="tx1"/>
                </a:solidFill>
                <a:latin typeface="+mn-lt"/>
              </a:rPr>
              <a:t>Simon </a:t>
            </a:r>
            <a:r>
              <a:rPr lang="sr-Latn-RS" sz="1200" dirty="0" err="1">
                <a:solidFill>
                  <a:schemeClr val="tx1"/>
                </a:solidFill>
                <a:latin typeface="+mn-lt"/>
              </a:rPr>
              <a:t>claims</a:t>
            </a:r>
            <a:r>
              <a:rPr lang="sr-Latn-RS" sz="1200" dirty="0">
                <a:solidFill>
                  <a:schemeClr val="tx1"/>
                </a:solidFill>
                <a:latin typeface="+mn-lt"/>
              </a:rPr>
              <a:t> </a:t>
            </a:r>
            <a:r>
              <a:rPr lang="sr-Latn-RS" sz="1200" dirty="0" err="1">
                <a:solidFill>
                  <a:schemeClr val="tx1"/>
                </a:solidFill>
                <a:latin typeface="+mn-lt"/>
              </a:rPr>
              <a:t>that</a:t>
            </a:r>
            <a:r>
              <a:rPr lang="sr-Latn-RS" sz="1200" dirty="0">
                <a:solidFill>
                  <a:schemeClr val="tx1"/>
                </a:solidFill>
                <a:latin typeface="+mn-lt"/>
              </a:rPr>
              <a:t>, </a:t>
            </a:r>
            <a:r>
              <a:rPr lang="sr-Latn-RS" sz="1200" dirty="0" err="1">
                <a:solidFill>
                  <a:schemeClr val="tx1"/>
                </a:solidFill>
                <a:latin typeface="+mn-lt"/>
              </a:rPr>
              <a:t>regardless</a:t>
            </a:r>
            <a:r>
              <a:rPr lang="sr-Latn-RS" sz="1200" dirty="0">
                <a:solidFill>
                  <a:schemeClr val="tx1"/>
                </a:solidFill>
                <a:latin typeface="+mn-lt"/>
              </a:rPr>
              <a:t> </a:t>
            </a:r>
            <a:r>
              <a:rPr lang="sr-Latn-RS" sz="1200" dirty="0" err="1">
                <a:solidFill>
                  <a:schemeClr val="tx1"/>
                </a:solidFill>
                <a:latin typeface="+mn-lt"/>
              </a:rPr>
              <a:t>of</a:t>
            </a:r>
            <a:r>
              <a:rPr lang="sr-Latn-RS" sz="1200" dirty="0">
                <a:solidFill>
                  <a:schemeClr val="tx1"/>
                </a:solidFill>
                <a:latin typeface="+mn-lt"/>
              </a:rPr>
              <a:t> </a:t>
            </a:r>
            <a:r>
              <a:rPr lang="sr-Latn-RS" sz="1200" dirty="0" err="1">
                <a:solidFill>
                  <a:schemeClr val="tx1"/>
                </a:solidFill>
                <a:latin typeface="+mn-lt"/>
              </a:rPr>
              <a:t>Bob's</a:t>
            </a:r>
            <a:r>
              <a:rPr lang="sr-Latn-RS" sz="1200" dirty="0">
                <a:solidFill>
                  <a:schemeClr val="tx1"/>
                </a:solidFill>
                <a:latin typeface="+mn-lt"/>
              </a:rPr>
              <a:t> </a:t>
            </a:r>
            <a:r>
              <a:rPr lang="sr-Latn-RS" sz="1200" dirty="0" err="1">
                <a:solidFill>
                  <a:schemeClr val="tx1"/>
                </a:solidFill>
                <a:latin typeface="+mn-lt"/>
              </a:rPr>
              <a:t>move</a:t>
            </a:r>
            <a:r>
              <a:rPr lang="sr-Latn-RS" sz="1200" dirty="0">
                <a:solidFill>
                  <a:schemeClr val="tx1"/>
                </a:solidFill>
                <a:latin typeface="+mn-lt"/>
              </a:rPr>
              <a:t>, he </a:t>
            </a:r>
            <a:r>
              <a:rPr lang="sr-Latn-RS" sz="1200" dirty="0" err="1">
                <a:solidFill>
                  <a:schemeClr val="tx1"/>
                </a:solidFill>
                <a:latin typeface="+mn-lt"/>
              </a:rPr>
              <a:t>will</a:t>
            </a:r>
            <a:r>
              <a:rPr lang="sr-Latn-RS" sz="1200" dirty="0">
                <a:solidFill>
                  <a:schemeClr val="tx1"/>
                </a:solidFill>
                <a:latin typeface="+mn-lt"/>
              </a:rPr>
              <a:t> </a:t>
            </a:r>
            <a:r>
              <a:rPr lang="sr-Latn-RS" sz="1200" dirty="0" err="1">
                <a:solidFill>
                  <a:schemeClr val="tx1"/>
                </a:solidFill>
                <a:latin typeface="+mn-lt"/>
              </a:rPr>
              <a:t>turn</a:t>
            </a:r>
            <a:r>
              <a:rPr lang="sr-Latn-RS" sz="1200" dirty="0">
                <a:solidFill>
                  <a:schemeClr val="tx1"/>
                </a:solidFill>
                <a:latin typeface="+mn-lt"/>
              </a:rPr>
              <a:t> </a:t>
            </a:r>
            <a:r>
              <a:rPr lang="sr-Latn-RS" sz="1200" dirty="0" err="1">
                <a:solidFill>
                  <a:schemeClr val="tx1"/>
                </a:solidFill>
                <a:latin typeface="+mn-lt"/>
              </a:rPr>
              <a:t>the</a:t>
            </a:r>
            <a:r>
              <a:rPr lang="sr-Latn-RS" sz="1200" dirty="0">
                <a:solidFill>
                  <a:schemeClr val="tx1"/>
                </a:solidFill>
                <a:latin typeface="+mn-lt"/>
              </a:rPr>
              <a:t> </a:t>
            </a:r>
            <a:r>
              <a:rPr lang="sr-Latn-RS" sz="1200" dirty="0" err="1">
                <a:solidFill>
                  <a:schemeClr val="tx1"/>
                </a:solidFill>
                <a:latin typeface="+mn-lt"/>
              </a:rPr>
              <a:t>coin</a:t>
            </a:r>
            <a:r>
              <a:rPr lang="sr-Latn-RS" sz="1200" dirty="0">
                <a:solidFill>
                  <a:schemeClr val="tx1"/>
                </a:solidFill>
                <a:latin typeface="+mn-lt"/>
              </a:rPr>
              <a:t> </a:t>
            </a:r>
            <a:r>
              <a:rPr lang="sr-Latn-RS" sz="1200" dirty="0" err="1">
                <a:solidFill>
                  <a:schemeClr val="tx1"/>
                </a:solidFill>
                <a:latin typeface="+mn-lt"/>
              </a:rPr>
              <a:t>back</a:t>
            </a:r>
            <a:r>
              <a:rPr lang="sr-Latn-RS" sz="1200" dirty="0">
                <a:solidFill>
                  <a:schemeClr val="tx1"/>
                </a:solidFill>
                <a:latin typeface="+mn-lt"/>
              </a:rPr>
              <a:t> to </a:t>
            </a:r>
            <a:r>
              <a:rPr lang="sr-Latn-RS" sz="1200" dirty="0" err="1">
                <a:solidFill>
                  <a:schemeClr val="tx1"/>
                </a:solidFill>
                <a:latin typeface="+mn-lt"/>
              </a:rPr>
              <a:t>its</a:t>
            </a:r>
            <a:r>
              <a:rPr lang="sr-Latn-RS" sz="1200" dirty="0">
                <a:solidFill>
                  <a:schemeClr val="tx1"/>
                </a:solidFill>
                <a:latin typeface="+mn-lt"/>
              </a:rPr>
              <a:t> original </a:t>
            </a:r>
            <a:r>
              <a:rPr lang="sr-Latn-RS" sz="1200" dirty="0" err="1">
                <a:solidFill>
                  <a:schemeClr val="tx1"/>
                </a:solidFill>
                <a:latin typeface="+mn-lt"/>
              </a:rPr>
              <a:t>position</a:t>
            </a:r>
            <a:r>
              <a:rPr lang="sr-Latn-RS" sz="1200" dirty="0">
                <a:solidFill>
                  <a:schemeClr val="tx1"/>
                </a:solidFill>
                <a:latin typeface="+mn-lt"/>
              </a:rPr>
              <a:t>.</a:t>
            </a: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dirty="0">
                <a:latin typeface="+mn-lt"/>
              </a:rPr>
              <a:t>The box is opened, the coin is indeed in the same position as at the beginning, and Simon wins.</a:t>
            </a:r>
            <a:endParaRPr lang="en-US" sz="1200" dirty="0">
              <a:solidFill>
                <a:schemeClr val="tx1"/>
              </a:solidFill>
              <a:latin typeface="+mn-lt"/>
            </a:endParaRPr>
          </a:p>
        </p:txBody>
      </p:sp>
      <p:sp>
        <p:nvSpPr>
          <p:cNvPr id="4" name="Slide Number Placeholder 3"/>
          <p:cNvSpPr>
            <a:spLocks noGrp="1"/>
          </p:cNvSpPr>
          <p:nvPr>
            <p:ph type="sldNum" sz="quarter" idx="5"/>
          </p:nvPr>
        </p:nvSpPr>
        <p:spPr/>
        <p:txBody>
          <a:bodyPr/>
          <a:lstStyle/>
          <a:p>
            <a:fld id="{1B2CE5E3-B8BD-D040-AC87-D640191DD8F1}" type="slidenum">
              <a:rPr lang="en-US" smtClean="0"/>
              <a:t>17</a:t>
            </a:fld>
            <a:endParaRPr lang="en-US"/>
          </a:p>
        </p:txBody>
      </p:sp>
    </p:spTree>
    <p:extLst>
      <p:ext uri="{BB962C8B-B14F-4D97-AF65-F5344CB8AC3E}">
        <p14:creationId xmlns:p14="http://schemas.microsoft.com/office/powerpoint/2010/main" val="15834010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Bob knows that Simon’s chances of winning should only be 50%, so he asks for a rematch. This time, the coin lands on side 0. Once again, Simon, Bob, and then Simon take their turns, but in the end, Simon wins again. How is that possible?</a:t>
            </a:r>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18</a:t>
            </a:fld>
            <a:endParaRPr lang="en-US"/>
          </a:p>
        </p:txBody>
      </p:sp>
    </p:spTree>
    <p:extLst>
      <p:ext uri="{BB962C8B-B14F-4D97-AF65-F5344CB8AC3E}">
        <p14:creationId xmlns:p14="http://schemas.microsoft.com/office/powerpoint/2010/main" val="3888974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Simon reveals to Bob that the secret lies in quantum superposition. For example, the game starts with side 0 facing up.</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On his turn, Simon places the coin into a superposition, where the coin exists in both states—side 0 and side 1—at the same time.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No matter how many times Bob flips the coin, the superposition remains intact.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In the final move, Simon removes the superposition, and according to the laws of quantum mechanics, the coin returns to its original state before the superposition—the state in which Bob placed it in the box.</a:t>
            </a:r>
          </a:p>
        </p:txBody>
      </p:sp>
      <p:sp>
        <p:nvSpPr>
          <p:cNvPr id="4" name="Slide Number Placeholder 3"/>
          <p:cNvSpPr>
            <a:spLocks noGrp="1"/>
          </p:cNvSpPr>
          <p:nvPr>
            <p:ph type="sldNum" sz="quarter" idx="5"/>
          </p:nvPr>
        </p:nvSpPr>
        <p:spPr/>
        <p:txBody>
          <a:bodyPr/>
          <a:lstStyle/>
          <a:p>
            <a:fld id="{1B2CE5E3-B8BD-D040-AC87-D640191DD8F1}" type="slidenum">
              <a:rPr lang="en-US" smtClean="0"/>
              <a:t>19</a:t>
            </a:fld>
            <a:endParaRPr lang="en-US"/>
          </a:p>
        </p:txBody>
      </p:sp>
    </p:spTree>
    <p:extLst>
      <p:ext uri="{BB962C8B-B14F-4D97-AF65-F5344CB8AC3E}">
        <p14:creationId xmlns:p14="http://schemas.microsoft.com/office/powerpoint/2010/main" val="17915403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Highlighting the mysteries of quantum mechanics, Nobel Prize-winning physicist Richard Feynman once said</a:t>
            </a:r>
            <a:r>
              <a:rPr lang="en-ZA" b="0" dirty="0"/>
              <a:t>: 'If you think you understand quantum mechanics, you don't understand quantum mechanics.’ </a:t>
            </a:r>
          </a:p>
          <a:p>
            <a:pPr algn="just"/>
            <a:endParaRPr lang="en-ZA" b="0" dirty="0"/>
          </a:p>
          <a:p>
            <a:pPr algn="just"/>
            <a:r>
              <a:rPr lang="en-ZA" b="0" dirty="0"/>
              <a:t>Another physicist, David </a:t>
            </a:r>
            <a:r>
              <a:rPr lang="en-ZA" b="0" dirty="0" err="1"/>
              <a:t>Mermin</a:t>
            </a:r>
            <a:r>
              <a:rPr lang="en-ZA" b="0" dirty="0"/>
              <a:t>, emphasizing the practical use of quantum mechanics, said: 'Shut up and calculate!’</a:t>
            </a:r>
          </a:p>
          <a:p>
            <a:pPr algn="just"/>
            <a:endParaRPr lang="en-ZA" b="0" dirty="0"/>
          </a:p>
          <a:p>
            <a:pPr algn="just"/>
            <a:r>
              <a:rPr lang="en-ZA" dirty="0"/>
              <a:t>Together, they capture the paradox of quantum mechanics: its true nature remains the mystery, but it works perfectly in practice.</a:t>
            </a:r>
          </a:p>
        </p:txBody>
      </p:sp>
      <p:sp>
        <p:nvSpPr>
          <p:cNvPr id="4" name="Slide Number Placeholder 3"/>
          <p:cNvSpPr>
            <a:spLocks noGrp="1"/>
          </p:cNvSpPr>
          <p:nvPr>
            <p:ph type="sldNum" sz="quarter" idx="5"/>
          </p:nvPr>
        </p:nvSpPr>
        <p:spPr/>
        <p:txBody>
          <a:bodyPr/>
          <a:lstStyle/>
          <a:p>
            <a:fld id="{1B2CE5E3-B8BD-D040-AC87-D640191DD8F1}" type="slidenum">
              <a:rPr lang="en-US" smtClean="0"/>
              <a:t>20</a:t>
            </a:fld>
            <a:endParaRPr lang="en-US"/>
          </a:p>
        </p:txBody>
      </p:sp>
    </p:spTree>
    <p:extLst>
      <p:ext uri="{BB962C8B-B14F-4D97-AF65-F5344CB8AC3E}">
        <p14:creationId xmlns:p14="http://schemas.microsoft.com/office/powerpoint/2010/main" val="34673525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As a consequence of different physical laws they follow, classical and quantum computers work with different types of data.</a:t>
            </a:r>
          </a:p>
          <a:p>
            <a:pPr algn="just"/>
            <a:endParaRPr lang="en-ZA" dirty="0"/>
          </a:p>
          <a:p>
            <a:pPr marL="171450" indent="-171450" algn="just">
              <a:buFont typeface="Arial" panose="020B0604020202020204" pitchFamily="34" charset="0"/>
              <a:buChar char="•"/>
            </a:pPr>
            <a:r>
              <a:rPr lang="en-ZA" dirty="0"/>
              <a:t>Classical computers process data represented as sequences of zeros and ones. The fundamental unit of classical data is the bit, which, like our example coin, can be either 0 or 1.</a:t>
            </a:r>
          </a:p>
          <a:p>
            <a:pPr marL="171450" indent="-171450" algn="just">
              <a:buFont typeface="Arial" panose="020B0604020202020204" pitchFamily="34" charset="0"/>
              <a:buChar char="•"/>
            </a:pPr>
            <a:endParaRPr lang="en-ZA" dirty="0"/>
          </a:p>
          <a:p>
            <a:pPr marL="171450" indent="-171450" algn="just">
              <a:buFont typeface="Arial" panose="020B0604020202020204" pitchFamily="34" charset="0"/>
              <a:buChar char="•"/>
            </a:pPr>
            <a:r>
              <a:rPr lang="en-ZA" dirty="0"/>
              <a:t>On the other hand, the fundamental unit of quantum data is the quantum bit, or qubit. Thanks to the principle of superposition, a qubit can exist as both 0 and 1 at the same time.</a:t>
            </a:r>
          </a:p>
        </p:txBody>
      </p:sp>
      <p:sp>
        <p:nvSpPr>
          <p:cNvPr id="4" name="Slide Number Placeholder 3"/>
          <p:cNvSpPr>
            <a:spLocks noGrp="1"/>
          </p:cNvSpPr>
          <p:nvPr>
            <p:ph type="sldNum" sz="quarter" idx="5"/>
          </p:nvPr>
        </p:nvSpPr>
        <p:spPr/>
        <p:txBody>
          <a:bodyPr/>
          <a:lstStyle/>
          <a:p>
            <a:fld id="{1B2CE5E3-B8BD-D040-AC87-D640191DD8F1}" type="slidenum">
              <a:rPr lang="en-US" smtClean="0"/>
              <a:t>21</a:t>
            </a:fld>
            <a:endParaRPr lang="en-US"/>
          </a:p>
        </p:txBody>
      </p:sp>
    </p:spTree>
    <p:extLst>
      <p:ext uri="{BB962C8B-B14F-4D97-AF65-F5344CB8AC3E}">
        <p14:creationId xmlns:p14="http://schemas.microsoft.com/office/powerpoint/2010/main" val="23241183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sz="1200" dirty="0">
                <a:solidFill>
                  <a:schemeClr val="tx1"/>
                </a:solidFill>
              </a:rPr>
              <a:t>To replace our cat and coin models with a mathematical description, we use </a:t>
            </a:r>
            <a:r>
              <a:rPr lang="en-ZA" sz="1200" dirty="0" err="1">
                <a:solidFill>
                  <a:schemeClr val="tx1"/>
                </a:solidFill>
              </a:rPr>
              <a:t>braket</a:t>
            </a:r>
            <a:r>
              <a:rPr lang="en-ZA" sz="1200" dirty="0">
                <a:solidFill>
                  <a:schemeClr val="tx1"/>
                </a:solidFill>
              </a:rPr>
              <a:t> notation (</a:t>
            </a:r>
            <a:r>
              <a:rPr lang="en-US" sz="1200" dirty="0">
                <a:solidFill>
                  <a:schemeClr val="tx1"/>
                </a:solidFill>
              </a:rPr>
              <a:t>from bra</a:t>
            </a:r>
            <a:r>
              <a:rPr lang="en-US" sz="1200" strike="sngStrike" dirty="0">
                <a:solidFill>
                  <a:schemeClr val="tx1"/>
                </a:solidFill>
              </a:rPr>
              <a:t>c</a:t>
            </a:r>
            <a:r>
              <a:rPr lang="en-US" sz="1200" dirty="0">
                <a:solidFill>
                  <a:schemeClr val="tx1"/>
                </a:solidFill>
              </a:rPr>
              <a:t>ket</a:t>
            </a:r>
            <a:r>
              <a:rPr lang="en-ZA" sz="1200" dirty="0">
                <a:solidFill>
                  <a:schemeClr val="tx1"/>
                </a:solidFill>
              </a:rPr>
              <a:t>). The qubit states are called ket-0 and ket-1, and their superposition is described as a weighted sum.</a:t>
            </a:r>
          </a:p>
        </p:txBody>
      </p:sp>
      <p:sp>
        <p:nvSpPr>
          <p:cNvPr id="4" name="Slide Number Placeholder 3"/>
          <p:cNvSpPr>
            <a:spLocks noGrp="1"/>
          </p:cNvSpPr>
          <p:nvPr>
            <p:ph type="sldNum" sz="quarter" idx="5"/>
          </p:nvPr>
        </p:nvSpPr>
        <p:spPr/>
        <p:txBody>
          <a:bodyPr/>
          <a:lstStyle/>
          <a:p>
            <a:fld id="{1B2CE5E3-B8BD-D040-AC87-D640191DD8F1}" type="slidenum">
              <a:rPr lang="en-US" smtClean="0"/>
              <a:t>22</a:t>
            </a:fld>
            <a:endParaRPr lang="en-US"/>
          </a:p>
        </p:txBody>
      </p:sp>
    </p:spTree>
    <p:extLst>
      <p:ext uri="{BB962C8B-B14F-4D97-AF65-F5344CB8AC3E}">
        <p14:creationId xmlns:p14="http://schemas.microsoft.com/office/powerpoint/2010/main" val="22084915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23</a:t>
            </a:fld>
            <a:endParaRPr lang="en-US"/>
          </a:p>
        </p:txBody>
      </p:sp>
    </p:spTree>
    <p:extLst>
      <p:ext uri="{BB962C8B-B14F-4D97-AF65-F5344CB8AC3E}">
        <p14:creationId xmlns:p14="http://schemas.microsoft.com/office/powerpoint/2010/main" val="18322687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There are a few ways to make a physical qubit.</a:t>
            </a:r>
          </a:p>
          <a:p>
            <a:pPr algn="just"/>
            <a:endParaRPr lang="en-ZA" dirty="0"/>
          </a:p>
          <a:p>
            <a:pPr algn="just"/>
            <a:r>
              <a:rPr lang="en-ZA" b="1" dirty="0"/>
              <a:t>Atomic and Ionic Qubits</a:t>
            </a:r>
            <a:r>
              <a:rPr lang="en-ZA" dirty="0"/>
              <a:t> use the energy levels of electrons. An electron, shown as a red dot, at a lower energy level represents qubit ∣0⟩. An electron at a higher energy level represents qubit ∣1⟩, while an electron simultaneously occupying both energy levels represents a qubit in superposition of the two.</a:t>
            </a:r>
          </a:p>
          <a:p>
            <a:pPr algn="just"/>
            <a:endParaRPr lang="en-ZA" dirty="0"/>
          </a:p>
          <a:p>
            <a:pPr algn="just"/>
            <a:r>
              <a:rPr lang="en-ZA" b="1" dirty="0"/>
              <a:t>Photonic Qubits </a:t>
            </a:r>
            <a:r>
              <a:rPr lang="en-ZA" dirty="0"/>
              <a:t>are defined by the polarization of photons of light. Photons can be polarized using a polarization filter so that the electric field oscillates in a single plane. Horizontally polarized light represents qubit ∣0⟩, vertically polarized light represents qubit ∣1⟩, and diagonally polarized light represents a qubit in superposition. </a:t>
            </a:r>
          </a:p>
          <a:p>
            <a:pPr algn="just"/>
            <a:endParaRPr lang="en-ZA" dirty="0"/>
          </a:p>
          <a:p>
            <a:pPr algn="just"/>
            <a:r>
              <a:rPr lang="en-ZA" b="1" dirty="0"/>
              <a:t>Superconducting Qubits </a:t>
            </a:r>
            <a:r>
              <a:rPr lang="en-ZA" dirty="0"/>
              <a:t>are defined by the direction of electrical current in a superconductor. Qubit ∣0⟩ is represented by current flowing clockwise, producing a downward magnetic field. Qubit ∣1⟩ is represented by current flowing </a:t>
            </a:r>
            <a:r>
              <a:rPr lang="en-ZA" dirty="0" err="1"/>
              <a:t>counterclockwise</a:t>
            </a:r>
            <a:r>
              <a:rPr lang="en-ZA" dirty="0"/>
              <a:t>, producing an upward magnetic field. A qubit in superposition has current flowing in both directions simultaneously, generating both magnetic fields. There are also other technologies that utilize different physical properties of superconducting circuits..</a:t>
            </a:r>
          </a:p>
        </p:txBody>
      </p:sp>
      <p:sp>
        <p:nvSpPr>
          <p:cNvPr id="4" name="Slide Number Placeholder 3"/>
          <p:cNvSpPr>
            <a:spLocks noGrp="1"/>
          </p:cNvSpPr>
          <p:nvPr>
            <p:ph type="sldNum" sz="quarter" idx="5"/>
          </p:nvPr>
        </p:nvSpPr>
        <p:spPr/>
        <p:txBody>
          <a:bodyPr/>
          <a:lstStyle/>
          <a:p>
            <a:fld id="{1B2CE5E3-B8BD-D040-AC87-D640191DD8F1}" type="slidenum">
              <a:rPr lang="en-US" smtClean="0"/>
              <a:t>24</a:t>
            </a:fld>
            <a:endParaRPr lang="en-US"/>
          </a:p>
        </p:txBody>
      </p:sp>
    </p:spTree>
    <p:extLst>
      <p:ext uri="{BB962C8B-B14F-4D97-AF65-F5344CB8AC3E}">
        <p14:creationId xmlns:p14="http://schemas.microsoft.com/office/powerpoint/2010/main" val="24286062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The slide shows the conceptual design of a superconducting quantum processor, or quantum processing unit, with four qubits </a:t>
            </a:r>
            <a:r>
              <a:rPr lang="en-ZA" b="0" dirty="0" err="1"/>
              <a:t>labeled</a:t>
            </a:r>
            <a:r>
              <a:rPr lang="en-ZA" b="0" dirty="0"/>
              <a:t> q0 to q3. In this case, the energy level of the superconducting electrical circuit determines the state of a qubit.</a:t>
            </a:r>
          </a:p>
          <a:p>
            <a:pPr algn="just"/>
            <a:endParaRPr lang="en-ZA" b="0" dirty="0"/>
          </a:p>
          <a:p>
            <a:pPr algn="just"/>
            <a:r>
              <a:rPr lang="en-ZA" b="0" dirty="0"/>
              <a:t>In addition to the qubits, there are several snake-like microwave antennas. The green antennas transmit microwave pulses to control the states of the qubits, while the blue antennas read the qubit states.</a:t>
            </a:r>
          </a:p>
        </p:txBody>
      </p:sp>
      <p:sp>
        <p:nvSpPr>
          <p:cNvPr id="4" name="Slide Number Placeholder 3"/>
          <p:cNvSpPr>
            <a:spLocks noGrp="1"/>
          </p:cNvSpPr>
          <p:nvPr>
            <p:ph type="sldNum" sz="quarter" idx="5"/>
          </p:nvPr>
        </p:nvSpPr>
        <p:spPr/>
        <p:txBody>
          <a:bodyPr/>
          <a:lstStyle/>
          <a:p>
            <a:fld id="{1B2CE5E3-B8BD-D040-AC87-D640191DD8F1}" type="slidenum">
              <a:rPr lang="en-US" smtClean="0"/>
              <a:t>25</a:t>
            </a:fld>
            <a:endParaRPr lang="en-US"/>
          </a:p>
        </p:txBody>
      </p:sp>
    </p:spTree>
    <p:extLst>
      <p:ext uri="{BB962C8B-B14F-4D97-AF65-F5344CB8AC3E}">
        <p14:creationId xmlns:p14="http://schemas.microsoft.com/office/powerpoint/2010/main" val="17528762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As a real-world example, this slide shows IBM’s Eagle processor, which has 127 qubits. The principle is similar to that described on the previous slide, but the processor has a three-dimensional, multilayer structure. It consists of a qubit plane, a microwave resonator plane, a wiring plane, and interplane connections.</a:t>
            </a:r>
          </a:p>
          <a:p>
            <a:pPr algn="just"/>
            <a:endParaRPr lang="en-ZA" dirty="0"/>
          </a:p>
          <a:p>
            <a:pPr algn="just"/>
            <a:r>
              <a:rPr lang="en-ZA" dirty="0"/>
              <a:t>Newer processors follow a similar principle, but with a higher component density. Technologies are also being developed to interconnect multiple quantum processors, allowing the capacity of a quantum computer to be increased by combining multiple QPUs.</a:t>
            </a:r>
          </a:p>
        </p:txBody>
      </p:sp>
      <p:sp>
        <p:nvSpPr>
          <p:cNvPr id="4" name="Slide Number Placeholder 3"/>
          <p:cNvSpPr>
            <a:spLocks noGrp="1"/>
          </p:cNvSpPr>
          <p:nvPr>
            <p:ph type="sldNum" sz="quarter" idx="5"/>
          </p:nvPr>
        </p:nvSpPr>
        <p:spPr/>
        <p:txBody>
          <a:bodyPr/>
          <a:lstStyle/>
          <a:p>
            <a:fld id="{1B2CE5E3-B8BD-D040-AC87-D640191DD8F1}" type="slidenum">
              <a:rPr lang="en-US" smtClean="0"/>
              <a:t>26</a:t>
            </a:fld>
            <a:endParaRPr lang="en-US"/>
          </a:p>
        </p:txBody>
      </p:sp>
    </p:spTree>
    <p:extLst>
      <p:ext uri="{BB962C8B-B14F-4D97-AF65-F5344CB8AC3E}">
        <p14:creationId xmlns:p14="http://schemas.microsoft.com/office/powerpoint/2010/main" val="3029450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Quantum computers at their current level of development are binary machines in the sense that their input and output consist of binary numbers, typically ranging from 4 to 1000 bits in length. Additionally, quantum computers do not operate with complex data types or have working memory.</a:t>
            </a:r>
          </a:p>
          <a:p>
            <a:pPr algn="just"/>
            <a:endParaRPr lang="en-ZA" dirty="0"/>
          </a:p>
          <a:p>
            <a:pPr algn="just"/>
            <a:r>
              <a:rPr lang="en-ZA" i="0" dirty="0"/>
              <a:t>In practice, quantum computers integrate with classical systems and are programmable via libraries of existing programming languages such as Python.</a:t>
            </a:r>
          </a:p>
        </p:txBody>
      </p:sp>
      <p:sp>
        <p:nvSpPr>
          <p:cNvPr id="4" name="Slide Number Placeholder 3"/>
          <p:cNvSpPr>
            <a:spLocks noGrp="1"/>
          </p:cNvSpPr>
          <p:nvPr>
            <p:ph type="sldNum" sz="quarter" idx="5"/>
          </p:nvPr>
        </p:nvSpPr>
        <p:spPr/>
        <p:txBody>
          <a:bodyPr/>
          <a:lstStyle/>
          <a:p>
            <a:fld id="{1B2CE5E3-B8BD-D040-AC87-D640191DD8F1}" type="slidenum">
              <a:rPr lang="en-US" smtClean="0"/>
              <a:t>27</a:t>
            </a:fld>
            <a:endParaRPr lang="en-US"/>
          </a:p>
        </p:txBody>
      </p:sp>
    </p:spTree>
    <p:extLst>
      <p:ext uri="{BB962C8B-B14F-4D97-AF65-F5344CB8AC3E}">
        <p14:creationId xmlns:p14="http://schemas.microsoft.com/office/powerpoint/2010/main" val="9064421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Font typeface="+mj-lt"/>
              <a:buNone/>
            </a:pPr>
            <a:r>
              <a:rPr lang="en-ZA" dirty="0"/>
              <a:t>Quantum computing can be described through five interconnected layers, ranging from the qubit as the basic unit of quantum information to the quantum program.</a:t>
            </a:r>
          </a:p>
          <a:p>
            <a:pPr marL="0" indent="0" algn="just">
              <a:buFont typeface="+mj-lt"/>
              <a:buNone/>
            </a:pPr>
            <a:endParaRPr lang="en-US" sz="1200" dirty="0">
              <a:latin typeface="+mn-lt"/>
            </a:endParaRPr>
          </a:p>
          <a:p>
            <a:pPr marL="228600" indent="-228600" algn="just">
              <a:buFont typeface="+mj-lt"/>
              <a:buAutoNum type="arabicPeriod"/>
            </a:pPr>
            <a:r>
              <a:rPr lang="en-ZA" dirty="0"/>
              <a:t>The basic unit of information in quantum computing is the quantum bit, or qubit. Mathematically, a qubit is represented by a vector defined by two coordinates, which represent two basis states in superposition. The vector can be visualized as rotating on the surface of a unit sphere.</a:t>
            </a:r>
          </a:p>
          <a:p>
            <a:pPr marL="228600" indent="-228600" algn="just">
              <a:buFont typeface="+mj-lt"/>
              <a:buAutoNum type="arabicPeriod"/>
            </a:pPr>
            <a:endParaRPr lang="en-US" sz="1200" dirty="0">
              <a:latin typeface="+mn-lt"/>
            </a:endParaRPr>
          </a:p>
          <a:p>
            <a:pPr marL="228600" indent="-228600" algn="just">
              <a:buFont typeface="+mj-lt"/>
              <a:buAutoNum type="arabicPeriod"/>
            </a:pPr>
            <a:r>
              <a:rPr lang="en-US" sz="1200" dirty="0">
                <a:latin typeface="+mn-lt"/>
              </a:rPr>
              <a:t>The basic unit of quantum processing is a quantum gate. Mathematically, a quantum gate is represented by a matrix. </a:t>
            </a:r>
            <a:r>
              <a:rPr lang="en-ZA" dirty="0"/>
              <a:t>Physically, the quantum gate is nothing more than a microwave pulse, transmitted from a microwave antenna within the QPU, that controls the state of the qubit.</a:t>
            </a:r>
          </a:p>
          <a:p>
            <a:pPr marL="228600" indent="-228600" algn="just">
              <a:buFont typeface="+mj-lt"/>
              <a:buAutoNum type="arabicPeriod"/>
            </a:pPr>
            <a:endParaRPr lang="en-US" sz="1200" dirty="0">
              <a:latin typeface="+mn-lt"/>
            </a:endParaRPr>
          </a:p>
          <a:p>
            <a:pPr marL="228600" indent="-228600" algn="just">
              <a:buFont typeface="+mj-lt"/>
              <a:buAutoNum type="arabicPeriod"/>
            </a:pPr>
            <a:r>
              <a:rPr lang="en-ZA" dirty="0"/>
              <a:t>Quantum processing can be visualized as rotations of a qubit vector around a sphere. Mathematically, each rotation is represented by multiplying the qubit vector by a matrix corresponding to a quantum operation. The result is a new position of the vector on the surface of the sphere.</a:t>
            </a:r>
            <a:endParaRPr lang="en-US" sz="1200" dirty="0">
              <a:latin typeface="+mn-lt"/>
            </a:endParaRPr>
          </a:p>
          <a:p>
            <a:pPr marL="228600" indent="-228600" algn="just">
              <a:buFont typeface="+mj-lt"/>
              <a:buAutoNum type="arabicPeriod"/>
            </a:pPr>
            <a:endParaRPr lang="en-US" sz="1200" dirty="0">
              <a:latin typeface="+mn-lt"/>
            </a:endParaRPr>
          </a:p>
          <a:p>
            <a:pPr marL="228600" indent="-228600" algn="just">
              <a:buFont typeface="+mj-lt"/>
              <a:buAutoNum type="arabicPeriod"/>
            </a:pPr>
            <a:r>
              <a:rPr lang="en-US" sz="1200" dirty="0">
                <a:latin typeface="+mn-lt"/>
              </a:rPr>
              <a:t>A quantum algorithm is visualized as a diagram called a quantum circuit. Although the term "quantum circuit" might suggest a hardware diagram, it is actually a flowchart-like representation of a program that shows the sequence of quantum gates that a qubit undergoes during program execution.</a:t>
            </a:r>
          </a:p>
          <a:p>
            <a:pPr marL="228600" indent="-228600" algn="just">
              <a:buFont typeface="+mj-lt"/>
              <a:buAutoNum type="arabicPeriod"/>
            </a:pPr>
            <a:endParaRPr lang="en-US" sz="1200" dirty="0">
              <a:latin typeface="+mn-lt"/>
            </a:endParaRPr>
          </a:p>
          <a:p>
            <a:pPr marL="228600" indent="-228600" algn="just">
              <a:buFont typeface="+mj-lt"/>
              <a:buAutoNum type="arabicPeriod"/>
            </a:pPr>
            <a:r>
              <a:rPr lang="en-ZA" dirty="0"/>
              <a:t>A quantum program is a description of a quantum circuit in a programming language</a:t>
            </a:r>
            <a:r>
              <a:rPr lang="en-US" sz="1200" dirty="0">
                <a:latin typeface="+mn-lt"/>
              </a:rPr>
              <a:t>, typically in quantum assembly language or Python.</a:t>
            </a:r>
          </a:p>
        </p:txBody>
      </p:sp>
      <p:sp>
        <p:nvSpPr>
          <p:cNvPr id="4" name="Slide Number Placeholder 3"/>
          <p:cNvSpPr>
            <a:spLocks noGrp="1"/>
          </p:cNvSpPr>
          <p:nvPr>
            <p:ph type="sldNum" sz="quarter" idx="5"/>
          </p:nvPr>
        </p:nvSpPr>
        <p:spPr/>
        <p:txBody>
          <a:bodyPr/>
          <a:lstStyle/>
          <a:p>
            <a:fld id="{1B2CE5E3-B8BD-D040-AC87-D640191DD8F1}" type="slidenum">
              <a:rPr lang="en-US" smtClean="0"/>
              <a:t>28</a:t>
            </a:fld>
            <a:endParaRPr lang="en-US"/>
          </a:p>
        </p:txBody>
      </p:sp>
    </p:spTree>
    <p:extLst>
      <p:ext uri="{BB962C8B-B14F-4D97-AF65-F5344CB8AC3E}">
        <p14:creationId xmlns:p14="http://schemas.microsoft.com/office/powerpoint/2010/main" val="2302357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29</a:t>
            </a:fld>
            <a:endParaRPr lang="en-US"/>
          </a:p>
        </p:txBody>
      </p:sp>
    </p:spTree>
    <p:extLst>
      <p:ext uri="{BB962C8B-B14F-4D97-AF65-F5344CB8AC3E}">
        <p14:creationId xmlns:p14="http://schemas.microsoft.com/office/powerpoint/2010/main" val="9284822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Imagine we have a knob that adjusts the energy level of an atomic qubit.</a:t>
                </a:r>
              </a:p>
              <a:p>
                <a:pPr algn="just"/>
                <a:endParaRPr lang="en-ZA" dirty="0"/>
              </a:p>
              <a:p>
                <a:pPr marL="0" indent="0" algn="just">
                  <a:buFont typeface="+mj-lt"/>
                  <a:buNone/>
                </a:pPr>
                <a:r>
                  <a:rPr lang="en-ZA" dirty="0"/>
                  <a:t>An atom at a lower energy level is represented by a horizontal vector, ∣0⟩.</a:t>
                </a:r>
              </a:p>
            </p:txBody>
          </p:sp>
        </mc:Choice>
        <mc:Fallback xmlns="">
          <p:sp>
            <p:nvSpPr>
              <p:cNvPr id="3" name="Notes Placeholder 2"/>
              <p:cNvSpPr>
                <a:spLocks noGrp="1"/>
              </p:cNvSpPr>
              <p:nvPr>
                <p:ph type="body" idx="1"/>
              </p:nvPr>
            </p:nvSpPr>
            <p:spPr/>
            <p:txBody>
              <a:bodyPr/>
              <a:lstStyle/>
              <a:p>
                <a:pPr marL="0" indent="0">
                  <a:buFont typeface="+mj-lt"/>
                  <a:buNone/>
                </a:pPr>
                <a:r>
                  <a:rPr lang="en-US" sz="2000" i="0" dirty="0"/>
                  <a:t>Again, a basic unit of data In quantum computing is a qubit. </a:t>
                </a:r>
                <a:r>
                  <a:rPr lang="en-US" sz="2000" dirty="0"/>
                  <a:t>A qubit can be made of a photon, atom, superconducting circuit or some other quantum object. Here is an example of a hypothetical qubit made of an atom.</a:t>
                </a:r>
              </a:p>
              <a:p>
                <a:pPr marL="457200" indent="-457200">
                  <a:buFont typeface="+mj-lt"/>
                  <a:buAutoNum type="arabicPeriod"/>
                </a:pPr>
                <a:r>
                  <a:rPr lang="en-US" sz="2000" dirty="0"/>
                  <a:t>An atom on a lower energy level represent a qubit in state </a:t>
                </a:r>
                <a:r>
                  <a:rPr lang="en-US" sz="2000" b="0" i="0">
                    <a:solidFill>
                      <a:srgbClr val="C00000"/>
                    </a:solidFill>
                    <a:latin typeface="Cambria Math" panose="02040503050406030204" pitchFamily="18" charset="0"/>
                    <a:ea typeface="Cambria Math" panose="02040503050406030204" pitchFamily="18" charset="0"/>
                  </a:rPr>
                  <a:t>|"</a:t>
                </a:r>
                <a:r>
                  <a:rPr lang="en-US" sz="2000" i="0">
                    <a:solidFill>
                      <a:srgbClr val="C00000"/>
                    </a:solidFill>
                    <a:latin typeface="Cambria Math" panose="02040503050406030204" pitchFamily="18" charset="0"/>
                    <a:ea typeface="Cambria Math" panose="02040503050406030204" pitchFamily="18" charset="0"/>
                  </a:rPr>
                  <a:t>0" ⟩</a:t>
                </a:r>
                <a:r>
                  <a:rPr lang="en-US" sz="2000" dirty="0"/>
                  <a:t>.</a:t>
                </a:r>
              </a:p>
              <a:p>
                <a:pPr marL="457200" indent="-457200">
                  <a:buFont typeface="+mj-lt"/>
                  <a:buAutoNum type="arabicPeriod"/>
                </a:pPr>
                <a:r>
                  <a:rPr lang="en-US" sz="2000" dirty="0"/>
                  <a:t>An atom on a higher energy level represent a qubit in state </a:t>
                </a:r>
                <a:r>
                  <a:rPr lang="en-US" sz="2000" b="0" i="0">
                    <a:solidFill>
                      <a:srgbClr val="C00000"/>
                    </a:solidFill>
                    <a:latin typeface="Cambria Math" panose="02040503050406030204" pitchFamily="18" charset="0"/>
                    <a:ea typeface="Cambria Math" panose="02040503050406030204" pitchFamily="18" charset="0"/>
                  </a:rPr>
                  <a:t>|"1" ⟩</a:t>
                </a:r>
                <a:r>
                  <a:rPr lang="en-US" sz="2000" dirty="0"/>
                  <a: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t>An atom on a lower and higher energy level at the same time represent a qubit in a superposition state. Mathematically, this state is represented as a sum of basis vectors </a:t>
                </a:r>
                <a:r>
                  <a:rPr lang="en-US" sz="2000" b="0" i="0">
                    <a:solidFill>
                      <a:srgbClr val="C00000"/>
                    </a:solidFill>
                    <a:latin typeface="Cambria Math" panose="02040503050406030204" pitchFamily="18" charset="0"/>
                    <a:ea typeface="Cambria Math" panose="02040503050406030204" pitchFamily="18" charset="0"/>
                  </a:rPr>
                  <a:t>|"</a:t>
                </a:r>
                <a:r>
                  <a:rPr lang="en-US" sz="2000" i="0">
                    <a:solidFill>
                      <a:srgbClr val="C00000"/>
                    </a:solidFill>
                    <a:latin typeface="Cambria Math" panose="02040503050406030204" pitchFamily="18" charset="0"/>
                    <a:ea typeface="Cambria Math" panose="02040503050406030204" pitchFamily="18" charset="0"/>
                  </a:rPr>
                  <a:t>0" ⟩</a:t>
                </a:r>
                <a:r>
                  <a:rPr lang="en-US" sz="2000" dirty="0"/>
                  <a:t> and</a:t>
                </a:r>
                <a:r>
                  <a:rPr lang="en-US" sz="2000" baseline="0" dirty="0"/>
                  <a:t> </a:t>
                </a:r>
                <a:r>
                  <a:rPr lang="en-US" sz="2000" b="0" i="0">
                    <a:solidFill>
                      <a:srgbClr val="C00000"/>
                    </a:solidFill>
                    <a:latin typeface="Cambria Math" panose="02040503050406030204" pitchFamily="18" charset="0"/>
                    <a:ea typeface="Cambria Math" panose="02040503050406030204" pitchFamily="18" charset="0"/>
                  </a:rPr>
                  <a:t>|"1" ⟩.</a:t>
                </a:r>
                <a:endParaRPr lang="en-US" sz="2000" dirty="0"/>
              </a:p>
              <a:p>
                <a:pPr marL="0" indent="0">
                  <a:buFont typeface="+mj-lt"/>
                  <a:buNone/>
                </a:pPr>
                <a:endParaRPr lang="en-US" sz="2000" dirty="0"/>
              </a:p>
              <a:p>
                <a:pPr marL="0" indent="0">
                  <a:buFont typeface="+mj-lt"/>
                  <a:buNone/>
                </a:pPr>
                <a:r>
                  <a:rPr lang="en-US" sz="2000" dirty="0"/>
                  <a:t>In general, </a:t>
                </a:r>
                <a:r>
                  <a:rPr lang="en-US" sz="2000" i="0" dirty="0"/>
                  <a:t> w</a:t>
                </a:r>
                <a:r>
                  <a:rPr lang="en-US" sz="2000" dirty="0"/>
                  <a:t>e can say that a physical </a:t>
                </a:r>
                <a:r>
                  <a:rPr lang="en-US" sz="2000" i="1" dirty="0"/>
                  <a:t>qubit</a:t>
                </a:r>
                <a:r>
                  <a:rPr lang="en-US" sz="2000" dirty="0"/>
                  <a:t> is a two-level </a:t>
                </a:r>
                <a:r>
                  <a:rPr lang="en-US" sz="2000" i="1" dirty="0"/>
                  <a:t>quantum</a:t>
                </a:r>
                <a:r>
                  <a:rPr lang="en-US" sz="2000" dirty="0"/>
                  <a:t> object that is in a </a:t>
                </a:r>
                <a:r>
                  <a:rPr lang="en-US" sz="2000" i="1" dirty="0"/>
                  <a:t>superposition</a:t>
                </a:r>
                <a:r>
                  <a:rPr lang="en-US" sz="2000" dirty="0"/>
                  <a:t> of the </a:t>
                </a:r>
                <a:r>
                  <a:rPr lang="en-US" sz="2000" i="1" dirty="0"/>
                  <a:t>quantum</a:t>
                </a:r>
                <a:r>
                  <a:rPr lang="en-US" sz="2000" dirty="0"/>
                  <a:t> states |</a:t>
                </a:r>
                <a:r>
                  <a:rPr lang="en-US" sz="2000" i="1" dirty="0"/>
                  <a:t>0</a:t>
                </a:r>
                <a:r>
                  <a:rPr lang="en-US" sz="2000" dirty="0"/>
                  <a:t>⟩ and |</a:t>
                </a:r>
                <a:r>
                  <a:rPr lang="en-US" sz="2000" i="1" dirty="0"/>
                  <a:t>1</a:t>
                </a:r>
                <a:r>
                  <a:rPr lang="en-US" sz="2000" dirty="0"/>
                  <a:t>⟩ .</a:t>
                </a:r>
                <a:endParaRPr lang="en-US" sz="2000" i="0" dirty="0"/>
              </a:p>
              <a:p>
                <a:pPr marL="0" indent="0">
                  <a:buFont typeface="+mj-lt"/>
                  <a:buNone/>
                </a:pPr>
                <a:endParaRPr lang="en-US" sz="2000" dirty="0"/>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30</a:t>
            </a:fld>
            <a:endParaRPr lang="en-US"/>
          </a:p>
        </p:txBody>
      </p:sp>
    </p:spTree>
    <p:extLst>
      <p:ext uri="{BB962C8B-B14F-4D97-AF65-F5344CB8AC3E}">
        <p14:creationId xmlns:p14="http://schemas.microsoft.com/office/powerpoint/2010/main" val="17459267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lgn="just">
                  <a:buFont typeface="+mj-lt"/>
                  <a:buNone/>
                </a:pPr>
                <a:r>
                  <a:rPr lang="en-ZA" dirty="0"/>
                  <a:t>An atom at a higher energy level is represented by a vertical vector, ∣1⟩.</a:t>
                </a:r>
              </a:p>
            </p:txBody>
          </p:sp>
        </mc:Choice>
        <mc:Fallback xmlns="">
          <p:sp>
            <p:nvSpPr>
              <p:cNvPr id="3" name="Notes Placeholder 2"/>
              <p:cNvSpPr>
                <a:spLocks noGrp="1"/>
              </p:cNvSpPr>
              <p:nvPr>
                <p:ph type="body" idx="1"/>
              </p:nvPr>
            </p:nvSpPr>
            <p:spPr/>
            <p:txBody>
              <a:bodyPr/>
              <a:lstStyle/>
              <a:p>
                <a:pPr marL="0" indent="0">
                  <a:buFont typeface="+mj-lt"/>
                  <a:buNone/>
                </a:pPr>
                <a:r>
                  <a:rPr lang="en-US" sz="2000" i="0" dirty="0"/>
                  <a:t>Again, a basic unit of data In quantum computing is a qubit. </a:t>
                </a:r>
                <a:r>
                  <a:rPr lang="en-US" sz="2000" dirty="0"/>
                  <a:t>A qubit can be made of a photon, atom, superconducting circuit or some other quantum object. Here is an example of a hypothetical qubit made of an atom.</a:t>
                </a:r>
              </a:p>
              <a:p>
                <a:pPr marL="457200" indent="-457200">
                  <a:buFont typeface="+mj-lt"/>
                  <a:buAutoNum type="arabicPeriod"/>
                </a:pPr>
                <a:r>
                  <a:rPr lang="en-US" sz="2000" dirty="0"/>
                  <a:t>An atom on a lower energy level represent a qubit in state </a:t>
                </a:r>
                <a:r>
                  <a:rPr lang="en-US" sz="2000" b="0" i="0">
                    <a:solidFill>
                      <a:srgbClr val="C00000"/>
                    </a:solidFill>
                    <a:latin typeface="Cambria Math" panose="02040503050406030204" pitchFamily="18" charset="0"/>
                    <a:ea typeface="Cambria Math" panose="02040503050406030204" pitchFamily="18" charset="0"/>
                  </a:rPr>
                  <a:t>|"</a:t>
                </a:r>
                <a:r>
                  <a:rPr lang="en-US" sz="2000" i="0">
                    <a:solidFill>
                      <a:srgbClr val="C00000"/>
                    </a:solidFill>
                    <a:latin typeface="Cambria Math" panose="02040503050406030204" pitchFamily="18" charset="0"/>
                    <a:ea typeface="Cambria Math" panose="02040503050406030204" pitchFamily="18" charset="0"/>
                  </a:rPr>
                  <a:t>0" ⟩</a:t>
                </a:r>
                <a:r>
                  <a:rPr lang="en-US" sz="2000" dirty="0"/>
                  <a:t>.</a:t>
                </a:r>
              </a:p>
              <a:p>
                <a:pPr marL="457200" indent="-457200">
                  <a:buFont typeface="+mj-lt"/>
                  <a:buAutoNum type="arabicPeriod"/>
                </a:pPr>
                <a:r>
                  <a:rPr lang="en-US" sz="2000" dirty="0"/>
                  <a:t>An atom on a higher energy level represent a qubit in state </a:t>
                </a:r>
                <a:r>
                  <a:rPr lang="en-US" sz="2000" b="0" i="0">
                    <a:solidFill>
                      <a:srgbClr val="C00000"/>
                    </a:solidFill>
                    <a:latin typeface="Cambria Math" panose="02040503050406030204" pitchFamily="18" charset="0"/>
                    <a:ea typeface="Cambria Math" panose="02040503050406030204" pitchFamily="18" charset="0"/>
                  </a:rPr>
                  <a:t>|"1" ⟩</a:t>
                </a:r>
                <a:r>
                  <a:rPr lang="en-US" sz="2000" dirty="0"/>
                  <a: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t>An atom on a lower and higher energy level at the same time represent a qubit in a superposition state. Mathematically, this state is represented as a sum of basis vectors </a:t>
                </a:r>
                <a:r>
                  <a:rPr lang="en-US" sz="2000" b="0" i="0">
                    <a:solidFill>
                      <a:srgbClr val="C00000"/>
                    </a:solidFill>
                    <a:latin typeface="Cambria Math" panose="02040503050406030204" pitchFamily="18" charset="0"/>
                    <a:ea typeface="Cambria Math" panose="02040503050406030204" pitchFamily="18" charset="0"/>
                  </a:rPr>
                  <a:t>|"</a:t>
                </a:r>
                <a:r>
                  <a:rPr lang="en-US" sz="2000" i="0">
                    <a:solidFill>
                      <a:srgbClr val="C00000"/>
                    </a:solidFill>
                    <a:latin typeface="Cambria Math" panose="02040503050406030204" pitchFamily="18" charset="0"/>
                    <a:ea typeface="Cambria Math" panose="02040503050406030204" pitchFamily="18" charset="0"/>
                  </a:rPr>
                  <a:t>0" ⟩</a:t>
                </a:r>
                <a:r>
                  <a:rPr lang="en-US" sz="2000" dirty="0"/>
                  <a:t> and</a:t>
                </a:r>
                <a:r>
                  <a:rPr lang="en-US" sz="2000" baseline="0" dirty="0"/>
                  <a:t> </a:t>
                </a:r>
                <a:r>
                  <a:rPr lang="en-US" sz="2000" b="0" i="0">
                    <a:solidFill>
                      <a:srgbClr val="C00000"/>
                    </a:solidFill>
                    <a:latin typeface="Cambria Math" panose="02040503050406030204" pitchFamily="18" charset="0"/>
                    <a:ea typeface="Cambria Math" panose="02040503050406030204" pitchFamily="18" charset="0"/>
                  </a:rPr>
                  <a:t>|"1" ⟩.</a:t>
                </a:r>
                <a:endParaRPr lang="en-US" sz="2000" dirty="0"/>
              </a:p>
              <a:p>
                <a:pPr marL="0" indent="0">
                  <a:buFont typeface="+mj-lt"/>
                  <a:buNone/>
                </a:pPr>
                <a:endParaRPr lang="en-US" sz="2000" dirty="0"/>
              </a:p>
              <a:p>
                <a:pPr marL="0" indent="0">
                  <a:buFont typeface="+mj-lt"/>
                  <a:buNone/>
                </a:pPr>
                <a:r>
                  <a:rPr lang="en-US" sz="2000" dirty="0"/>
                  <a:t>In general, </a:t>
                </a:r>
                <a:r>
                  <a:rPr lang="en-US" sz="2000" i="0" dirty="0"/>
                  <a:t> w</a:t>
                </a:r>
                <a:r>
                  <a:rPr lang="en-US" sz="2000" dirty="0"/>
                  <a:t>e can say that a physical </a:t>
                </a:r>
                <a:r>
                  <a:rPr lang="en-US" sz="2000" i="1" dirty="0"/>
                  <a:t>qubit</a:t>
                </a:r>
                <a:r>
                  <a:rPr lang="en-US" sz="2000" dirty="0"/>
                  <a:t> is a two-level </a:t>
                </a:r>
                <a:r>
                  <a:rPr lang="en-US" sz="2000" i="1" dirty="0"/>
                  <a:t>quantum</a:t>
                </a:r>
                <a:r>
                  <a:rPr lang="en-US" sz="2000" dirty="0"/>
                  <a:t> object that is in a </a:t>
                </a:r>
                <a:r>
                  <a:rPr lang="en-US" sz="2000" i="1" dirty="0"/>
                  <a:t>superposition</a:t>
                </a:r>
                <a:r>
                  <a:rPr lang="en-US" sz="2000" dirty="0"/>
                  <a:t> of the </a:t>
                </a:r>
                <a:r>
                  <a:rPr lang="en-US" sz="2000" i="1" dirty="0"/>
                  <a:t>quantum</a:t>
                </a:r>
                <a:r>
                  <a:rPr lang="en-US" sz="2000" dirty="0"/>
                  <a:t> states |</a:t>
                </a:r>
                <a:r>
                  <a:rPr lang="en-US" sz="2000" i="1" dirty="0"/>
                  <a:t>0</a:t>
                </a:r>
                <a:r>
                  <a:rPr lang="en-US" sz="2000" dirty="0"/>
                  <a:t>⟩ and |</a:t>
                </a:r>
                <a:r>
                  <a:rPr lang="en-US" sz="2000" i="1" dirty="0"/>
                  <a:t>1</a:t>
                </a:r>
                <a:r>
                  <a:rPr lang="en-US" sz="2000" dirty="0"/>
                  <a:t>⟩ .</a:t>
                </a:r>
                <a:endParaRPr lang="en-US" sz="2000" i="0" dirty="0"/>
              </a:p>
              <a:p>
                <a:pPr marL="0" indent="0">
                  <a:buFont typeface="+mj-lt"/>
                  <a:buNone/>
                </a:pPr>
                <a:endParaRPr lang="en-US" sz="2000" dirty="0"/>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31</a:t>
            </a:fld>
            <a:endParaRPr lang="en-US"/>
          </a:p>
        </p:txBody>
      </p:sp>
    </p:spTree>
    <p:extLst>
      <p:ext uri="{BB962C8B-B14F-4D97-AF65-F5344CB8AC3E}">
        <p14:creationId xmlns:p14="http://schemas.microsoft.com/office/powerpoint/2010/main" val="21006081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lgn="just">
                  <a:buFont typeface="+mj-lt"/>
                  <a:buNone/>
                </a:pPr>
                <a:r>
                  <a:rPr lang="en-ZA" dirty="0"/>
                  <a:t>An atom that exists in both energy levels represents a qubit in a superposition of ∣0⟩ and ∣1⟩. From a geometric perspective, superposition is simply the sum of two vectors, ∣0⟩ and ∣1⟩, each scaled by a certain factor. These factors, a and b, determine the extent to which the vectors ∣0⟩ and ∣1⟩ contribute to the superposition.</a:t>
                </a:r>
              </a:p>
            </p:txBody>
          </p:sp>
        </mc:Choice>
        <mc:Fallback xmlns="">
          <p:sp>
            <p:nvSpPr>
              <p:cNvPr id="3" name="Notes Placeholder 2"/>
              <p:cNvSpPr>
                <a:spLocks noGrp="1"/>
              </p:cNvSpPr>
              <p:nvPr>
                <p:ph type="body" idx="1"/>
              </p:nvPr>
            </p:nvSpPr>
            <p:spPr/>
            <p:txBody>
              <a:bodyPr/>
              <a:lstStyle/>
              <a:p>
                <a:pPr marL="0" indent="0">
                  <a:buFont typeface="+mj-lt"/>
                  <a:buNone/>
                </a:pPr>
                <a:r>
                  <a:rPr lang="en-US" sz="2000" i="0" dirty="0"/>
                  <a:t>Again, a basic unit of data In quantum computing is a qubit. </a:t>
                </a:r>
                <a:r>
                  <a:rPr lang="en-US" sz="2000" dirty="0"/>
                  <a:t>A qubit can be made of a photon, atom, superconducting circuit or some other quantum object. Here is an example of a hypothetical qubit made of an atom.</a:t>
                </a:r>
              </a:p>
              <a:p>
                <a:pPr marL="457200" indent="-457200">
                  <a:buFont typeface="+mj-lt"/>
                  <a:buAutoNum type="arabicPeriod"/>
                </a:pPr>
                <a:r>
                  <a:rPr lang="en-US" sz="2000" dirty="0"/>
                  <a:t>An atom on a lower energy level represent a qubit in state </a:t>
                </a:r>
                <a:r>
                  <a:rPr lang="en-US" sz="2000" b="0" i="0">
                    <a:solidFill>
                      <a:srgbClr val="C00000"/>
                    </a:solidFill>
                    <a:latin typeface="Cambria Math" panose="02040503050406030204" pitchFamily="18" charset="0"/>
                    <a:ea typeface="Cambria Math" panose="02040503050406030204" pitchFamily="18" charset="0"/>
                  </a:rPr>
                  <a:t>|"</a:t>
                </a:r>
                <a:r>
                  <a:rPr lang="en-US" sz="2000" i="0">
                    <a:solidFill>
                      <a:srgbClr val="C00000"/>
                    </a:solidFill>
                    <a:latin typeface="Cambria Math" panose="02040503050406030204" pitchFamily="18" charset="0"/>
                    <a:ea typeface="Cambria Math" panose="02040503050406030204" pitchFamily="18" charset="0"/>
                  </a:rPr>
                  <a:t>0" ⟩</a:t>
                </a:r>
                <a:r>
                  <a:rPr lang="en-US" sz="2000" dirty="0"/>
                  <a:t>.</a:t>
                </a:r>
              </a:p>
              <a:p>
                <a:pPr marL="457200" indent="-457200">
                  <a:buFont typeface="+mj-lt"/>
                  <a:buAutoNum type="arabicPeriod"/>
                </a:pPr>
                <a:r>
                  <a:rPr lang="en-US" sz="2000" dirty="0"/>
                  <a:t>An atom on a higher energy level represent a qubit in state </a:t>
                </a:r>
                <a:r>
                  <a:rPr lang="en-US" sz="2000" b="0" i="0">
                    <a:solidFill>
                      <a:srgbClr val="C00000"/>
                    </a:solidFill>
                    <a:latin typeface="Cambria Math" panose="02040503050406030204" pitchFamily="18" charset="0"/>
                    <a:ea typeface="Cambria Math" panose="02040503050406030204" pitchFamily="18" charset="0"/>
                  </a:rPr>
                  <a:t>|"1" ⟩</a:t>
                </a:r>
                <a:r>
                  <a:rPr lang="en-US" sz="2000" dirty="0"/>
                  <a: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t>An atom on a lower and higher energy level at the same time represent a qubit in a superposition state. Mathematically, this state is represented as a sum of basis vectors </a:t>
                </a:r>
                <a:r>
                  <a:rPr lang="en-US" sz="2000" b="0" i="0">
                    <a:solidFill>
                      <a:srgbClr val="C00000"/>
                    </a:solidFill>
                    <a:latin typeface="Cambria Math" panose="02040503050406030204" pitchFamily="18" charset="0"/>
                    <a:ea typeface="Cambria Math" panose="02040503050406030204" pitchFamily="18" charset="0"/>
                  </a:rPr>
                  <a:t>|"</a:t>
                </a:r>
                <a:r>
                  <a:rPr lang="en-US" sz="2000" i="0">
                    <a:solidFill>
                      <a:srgbClr val="C00000"/>
                    </a:solidFill>
                    <a:latin typeface="Cambria Math" panose="02040503050406030204" pitchFamily="18" charset="0"/>
                    <a:ea typeface="Cambria Math" panose="02040503050406030204" pitchFamily="18" charset="0"/>
                  </a:rPr>
                  <a:t>0" ⟩</a:t>
                </a:r>
                <a:r>
                  <a:rPr lang="en-US" sz="2000" dirty="0"/>
                  <a:t> and</a:t>
                </a:r>
                <a:r>
                  <a:rPr lang="en-US" sz="2000" baseline="0" dirty="0"/>
                  <a:t> </a:t>
                </a:r>
                <a:r>
                  <a:rPr lang="en-US" sz="2000" b="0" i="0">
                    <a:solidFill>
                      <a:srgbClr val="C00000"/>
                    </a:solidFill>
                    <a:latin typeface="Cambria Math" panose="02040503050406030204" pitchFamily="18" charset="0"/>
                    <a:ea typeface="Cambria Math" panose="02040503050406030204" pitchFamily="18" charset="0"/>
                  </a:rPr>
                  <a:t>|"1" ⟩.</a:t>
                </a:r>
                <a:endParaRPr lang="en-US" sz="2000" dirty="0"/>
              </a:p>
              <a:p>
                <a:pPr marL="0" indent="0">
                  <a:buFont typeface="+mj-lt"/>
                  <a:buNone/>
                </a:pPr>
                <a:endParaRPr lang="en-US" sz="2000" dirty="0"/>
              </a:p>
              <a:p>
                <a:pPr marL="0" indent="0">
                  <a:buFont typeface="+mj-lt"/>
                  <a:buNone/>
                </a:pPr>
                <a:r>
                  <a:rPr lang="en-US" sz="2000" dirty="0"/>
                  <a:t>In general, </a:t>
                </a:r>
                <a:r>
                  <a:rPr lang="en-US" sz="2000" i="0" dirty="0"/>
                  <a:t> w</a:t>
                </a:r>
                <a:r>
                  <a:rPr lang="en-US" sz="2000" dirty="0"/>
                  <a:t>e can say that a physical </a:t>
                </a:r>
                <a:r>
                  <a:rPr lang="en-US" sz="2000" i="1" dirty="0"/>
                  <a:t>qubit</a:t>
                </a:r>
                <a:r>
                  <a:rPr lang="en-US" sz="2000" dirty="0"/>
                  <a:t> is a two-level </a:t>
                </a:r>
                <a:r>
                  <a:rPr lang="en-US" sz="2000" i="1" dirty="0"/>
                  <a:t>quantum</a:t>
                </a:r>
                <a:r>
                  <a:rPr lang="en-US" sz="2000" dirty="0"/>
                  <a:t> object that is in a </a:t>
                </a:r>
                <a:r>
                  <a:rPr lang="en-US" sz="2000" i="1" dirty="0"/>
                  <a:t>superposition</a:t>
                </a:r>
                <a:r>
                  <a:rPr lang="en-US" sz="2000" dirty="0"/>
                  <a:t> of the </a:t>
                </a:r>
                <a:r>
                  <a:rPr lang="en-US" sz="2000" i="1" dirty="0"/>
                  <a:t>quantum</a:t>
                </a:r>
                <a:r>
                  <a:rPr lang="en-US" sz="2000" dirty="0"/>
                  <a:t> states |</a:t>
                </a:r>
                <a:r>
                  <a:rPr lang="en-US" sz="2000" i="1" dirty="0"/>
                  <a:t>0</a:t>
                </a:r>
                <a:r>
                  <a:rPr lang="en-US" sz="2000" dirty="0"/>
                  <a:t>⟩ and |</a:t>
                </a:r>
                <a:r>
                  <a:rPr lang="en-US" sz="2000" i="1" dirty="0"/>
                  <a:t>1</a:t>
                </a:r>
                <a:r>
                  <a:rPr lang="en-US" sz="2000" dirty="0"/>
                  <a:t>⟩ .</a:t>
                </a:r>
                <a:endParaRPr lang="en-US" sz="2000" i="0" dirty="0"/>
              </a:p>
              <a:p>
                <a:pPr marL="0" indent="0">
                  <a:buFont typeface="+mj-lt"/>
                  <a:buNone/>
                </a:pPr>
                <a:endParaRPr lang="en-US" sz="2000" dirty="0"/>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32</a:t>
            </a:fld>
            <a:endParaRPr lang="en-US"/>
          </a:p>
        </p:txBody>
      </p:sp>
    </p:spTree>
    <p:extLst>
      <p:ext uri="{BB962C8B-B14F-4D97-AF65-F5344CB8AC3E}">
        <p14:creationId xmlns:p14="http://schemas.microsoft.com/office/powerpoint/2010/main" val="4934372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b="0" dirty="0"/>
              <a:t>To illustrate the significance of superposition, imagine that each point represents one possible state of a classical bit or a qubit.</a:t>
            </a:r>
          </a:p>
          <a:p>
            <a:endParaRPr lang="en-ZA" dirty="0"/>
          </a:p>
          <a:p>
            <a:pPr marL="171450" indent="-171450">
              <a:buFont typeface="Arial" panose="020B0604020202020204" pitchFamily="34" charset="0"/>
              <a:buChar char="•"/>
            </a:pPr>
            <a:r>
              <a:rPr lang="en-ZA" dirty="0"/>
              <a:t>At any given moment, a classical bit can have the value 0 or 1, meaning that it can be in only one of two possible states. A qubit, on the other hand, can be in a superposition of both states.</a:t>
            </a:r>
          </a:p>
          <a:p>
            <a:pPr marL="171450" indent="-171450">
              <a:buFont typeface="Arial" panose="020B0604020202020204" pitchFamily="34" charset="0"/>
              <a:buChar char="•"/>
            </a:pPr>
            <a:r>
              <a:rPr lang="en-ZA" dirty="0"/>
              <a:t>Two classical bits can encode the numbers from 0 to 3, but at any given moment they can be in only one of four possible states. Two qubits, however, can be in a superposition of all four states.</a:t>
            </a:r>
          </a:p>
          <a:p>
            <a:pPr marL="171450" indent="-171450">
              <a:buFont typeface="Arial" panose="020B0604020202020204" pitchFamily="34" charset="0"/>
              <a:buChar char="•"/>
            </a:pPr>
            <a:r>
              <a:rPr lang="en-ZA" dirty="0"/>
              <a:t>The same applies to three bits: they can be in one of eight possible states, while three qubits can be in a superposition of all eight states.</a:t>
            </a:r>
          </a:p>
          <a:p>
            <a:pPr marL="171450" indent="-171450">
              <a:buFont typeface="Arial" panose="020B0604020202020204" pitchFamily="34" charset="0"/>
              <a:buChar char="•"/>
            </a:pPr>
            <a:r>
              <a:rPr lang="en-ZA" dirty="0"/>
              <a:t>This number grows exponentially as 2n, where n is the number of bits or qubits.</a:t>
            </a:r>
          </a:p>
          <a:p>
            <a:pPr marL="171450" indent="-171450">
              <a:buFont typeface="Arial" panose="020B0604020202020204" pitchFamily="34" charset="0"/>
              <a:buChar char="•"/>
            </a:pPr>
            <a:r>
              <a:rPr lang="en-ZA" b="0" dirty="0"/>
              <a:t>Now imagine 167 bits. They have approximately 10</a:t>
            </a:r>
            <a:r>
              <a:rPr lang="en-ZA" b="0" baseline="30000" dirty="0"/>
              <a:t>50</a:t>
            </a:r>
            <a:r>
              <a:rPr lang="en-ZA" b="0" dirty="0"/>
              <a:t> possible states, roughly the number of atoms in the Earth. At any given moment, however, the 167 bits can occupy only one of these states. With 167 qubits, the number of possible states is the same, but the qubits can be in a superposition of up to 10</a:t>
            </a:r>
            <a:r>
              <a:rPr lang="en-ZA" b="0" baseline="30000" dirty="0"/>
              <a:t>50</a:t>
            </a:r>
            <a:r>
              <a:rPr lang="en-ZA" b="0" dirty="0"/>
              <a:t> states. With 300 qubits, this number increases to 10</a:t>
            </a:r>
            <a:r>
              <a:rPr lang="en-ZA" b="0" baseline="30000" dirty="0"/>
              <a:t>90</a:t>
            </a:r>
            <a:r>
              <a:rPr lang="en-ZA" b="0" dirty="0"/>
              <a:t> states - far more than the estimated 10</a:t>
            </a:r>
            <a:r>
              <a:rPr lang="en-ZA" b="0" baseline="30000" dirty="0"/>
              <a:t>80</a:t>
            </a:r>
            <a:r>
              <a:rPr lang="en-ZA" b="0" dirty="0"/>
              <a:t> atoms in the observable universe.</a:t>
            </a:r>
          </a:p>
        </p:txBody>
      </p:sp>
      <p:sp>
        <p:nvSpPr>
          <p:cNvPr id="4" name="Slide Number Placeholder 3"/>
          <p:cNvSpPr>
            <a:spLocks noGrp="1"/>
          </p:cNvSpPr>
          <p:nvPr>
            <p:ph type="sldNum" sz="quarter" idx="5"/>
          </p:nvPr>
        </p:nvSpPr>
        <p:spPr/>
        <p:txBody>
          <a:bodyPr/>
          <a:lstStyle/>
          <a:p>
            <a:fld id="{1B2CE5E3-B8BD-D040-AC87-D640191DD8F1}" type="slidenum">
              <a:rPr lang="en-US" smtClean="0"/>
              <a:t>33</a:t>
            </a:fld>
            <a:endParaRPr lang="en-US"/>
          </a:p>
        </p:txBody>
      </p:sp>
    </p:spTree>
    <p:extLst>
      <p:ext uri="{BB962C8B-B14F-4D97-AF65-F5344CB8AC3E}">
        <p14:creationId xmlns:p14="http://schemas.microsoft.com/office/powerpoint/2010/main" val="12232997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US" sz="1200" i="0" dirty="0">
                    <a:latin typeface="+mn-lt"/>
                  </a:rPr>
                  <a:t>We can imagine our qubit traveling around the globe, with its position defined by coordinates similar to coordinates on a Google map. By convention, a qubit at the North Pole has coordinates [1,0], written as a column vector. A qubit at the South Pole has coordinates [0,1].</a:t>
                </a:r>
              </a:p>
              <a:p>
                <a:pPr algn="just"/>
                <a:endParaRPr lang="en-US" sz="1200" i="0" dirty="0">
                  <a:latin typeface="+mn-lt"/>
                </a:endParaRPr>
              </a:p>
              <a:p>
                <a:pPr algn="just"/>
                <a:r>
                  <a:rPr lang="en-ZA" dirty="0"/>
                  <a:t>As the qubit moves across the sphere, its coordinates change. These coordinates are just numbers that describe the qubit’s position on the sphere. In this example, the qubit is described by the numbers 0.951 and –0.309. A qubit can take infinitely many positions on the sphere.</a:t>
                </a:r>
                <a:endParaRPr lang="en-US" sz="1200" i="0" dirty="0">
                  <a:latin typeface="+mn-lt"/>
                </a:endParaRPr>
              </a:p>
            </p:txBody>
          </p:sp>
        </mc:Choice>
        <mc:Fallback xmlns="">
          <p:sp>
            <p:nvSpPr>
              <p:cNvPr id="3" name="Notes Placeholder 2"/>
              <p:cNvSpPr>
                <a:spLocks noGrp="1"/>
              </p:cNvSpPr>
              <p:nvPr>
                <p:ph type="body" idx="1"/>
              </p:nvPr>
            </p:nvSpPr>
            <p:spPr/>
            <p:txBody>
              <a:bodyPr/>
              <a:lstStyle/>
              <a:p>
                <a:r>
                  <a:rPr lang="en-US" sz="2000" dirty="0"/>
                  <a:t>Let’s explore each of these elements starting from a qubit. A qubit is defined as a unit state vector, living in a sphere </a:t>
                </a:r>
                <a:r>
                  <a:rPr lang="en-US" sz="2000" baseline="0" dirty="0"/>
                  <a:t>called a Bloch sphere. A state vector is</a:t>
                </a:r>
                <a:r>
                  <a:rPr lang="en-US" sz="2000" dirty="0"/>
                  <a:t> defined by two coordinates, similar to GPS coordinates</a:t>
                </a:r>
                <a:r>
                  <a:rPr lang="en-US" sz="2000" baseline="0" dirty="0"/>
                  <a:t> on our cellphone map. </a:t>
                </a:r>
                <a:endParaRPr lang="en-US" sz="2000" dirty="0"/>
              </a:p>
              <a:p>
                <a:pPr marL="457200" indent="-457200">
                  <a:buFont typeface="+mj-lt"/>
                  <a:buAutoNum type="arabicPeriod"/>
                </a:pPr>
                <a:r>
                  <a:rPr lang="en-US" sz="2000" dirty="0"/>
                  <a:t>Blue arrow pointing</a:t>
                </a:r>
                <a:r>
                  <a:rPr lang="en-US" sz="2000" baseline="0" dirty="0"/>
                  <a:t> to the North pole </a:t>
                </a:r>
                <a:r>
                  <a:rPr lang="en-US" sz="2000" dirty="0"/>
                  <a:t>with coordinates (1,0)</a:t>
                </a:r>
                <a:r>
                  <a:rPr lang="en-US" sz="2000" baseline="0" dirty="0"/>
                  <a:t>  represents qubit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As you can see, the coordinates are written in a form of a two-dimensional algebraic column vector.</a:t>
                </a:r>
              </a:p>
              <a:p>
                <a:pPr marL="457200" indent="-457200">
                  <a:buFont typeface="+mj-lt"/>
                  <a:buAutoNum type="arabicPeriod"/>
                </a:pPr>
                <a:r>
                  <a:rPr lang="en-US" sz="2000" dirty="0"/>
                  <a:t>Green arrow pointing</a:t>
                </a:r>
                <a:r>
                  <a:rPr lang="en-US" sz="2000" baseline="0" dirty="0"/>
                  <a:t> to the South pole </a:t>
                </a:r>
                <a:r>
                  <a:rPr lang="en-US" sz="2000" dirty="0"/>
                  <a:t>with coordinates (0,1)</a:t>
                </a:r>
                <a:r>
                  <a:rPr lang="en-US" sz="2000" baseline="0" dirty="0"/>
                  <a:t>  represents qubit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 </a:t>
                </a:r>
              </a:p>
              <a:p>
                <a:pPr marL="457200" indent="-457200">
                  <a:buFont typeface="+mj-lt"/>
                  <a:buAutoNum type="arabicPeriod"/>
                </a:pPr>
                <a:r>
                  <a:rPr lang="en-US" sz="2000" dirty="0"/>
                  <a:t>Any other vector represent a qubit in superposition of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and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 The red vector shows some arbitrary state with coordinates (0.951, -0.309). </a:t>
                </a:r>
              </a:p>
              <a:p>
                <a:pPr marL="457200" indent="-457200">
                  <a:buFont typeface="+mj-lt"/>
                  <a:buAutoNum type="arabicPeriod"/>
                </a:pPr>
                <a:r>
                  <a:rPr lang="en-US" sz="2000" dirty="0"/>
                  <a:t>I won’t go into details, just in case you are wondering how did we get these numbers, here is the formula. Qubit’s spherical coordinates are function of polar angle </a:t>
                </a:r>
                <a:r>
                  <a:rPr lang="en-US" sz="2000" i="0">
                    <a:latin typeface="Cambria Math" panose="02040503050406030204" pitchFamily="18" charset="0"/>
                    <a:ea typeface="Cambria Math" panose="02040503050406030204" pitchFamily="18" charset="0"/>
                  </a:rPr>
                  <a:t>𝜃</a:t>
                </a:r>
                <a:r>
                  <a:rPr lang="en-US" sz="2000" b="0" i="0">
                    <a:latin typeface="Cambria Math" panose="02040503050406030204" pitchFamily="18" charset="0"/>
                    <a:ea typeface="Cambria Math" panose="02040503050406030204" pitchFamily="18" charset="0"/>
                  </a:rPr>
                  <a:t> </a:t>
                </a:r>
                <a:r>
                  <a:rPr lang="en-US" sz="2000" dirty="0"/>
                  <a:t> and azimuthal angle </a:t>
                </a:r>
                <a:r>
                  <a:rPr lang="en-US" sz="2000" i="0">
                    <a:latin typeface="Cambria Math" panose="02040503050406030204" pitchFamily="18" charset="0"/>
                    <a:ea typeface="Cambria Math" panose="02040503050406030204" pitchFamily="18" charset="0"/>
                  </a:rPr>
                  <a:t>𝜑</a:t>
                </a:r>
                <a:r>
                  <a:rPr lang="en-US" sz="2000" dirty="0"/>
                  <a:t>. Coordinates can be complex numbers as indicated by the red letter </a:t>
                </a:r>
                <a:r>
                  <a:rPr lang="en-US" sz="2000" b="1" i="0">
                    <a:solidFill>
                      <a:srgbClr val="FF0000"/>
                    </a:solidFill>
                    <a:latin typeface="Cambria Math" panose="02040503050406030204" pitchFamily="18" charset="0"/>
                    <a:ea typeface="Cambria Math" panose="02040503050406030204" pitchFamily="18" charset="0"/>
                  </a:rPr>
                  <a:t>𝒊</a:t>
                </a:r>
                <a:r>
                  <a:rPr lang="en-US" sz="2000" dirty="0"/>
                  <a:t> in the formula. </a:t>
                </a:r>
              </a:p>
              <a:p>
                <a:pPr marL="457200" indent="-457200">
                  <a:buFont typeface="+mj-lt"/>
                  <a:buAutoNum type="arabicPeriod"/>
                </a:pPr>
                <a:r>
                  <a:rPr lang="en-US" sz="2000" dirty="0"/>
                  <a:t>In another commonly used qubit representation, coordinates are displayed as vertical bars placed above basis states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and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a:t>
                </a:r>
                <a:r>
                  <a:rPr lang="en-US" sz="2000" baseline="0" dirty="0"/>
                  <a:t> In this case, the </a:t>
                </a:r>
                <a:r>
                  <a:rPr lang="en-US" sz="2000" dirty="0"/>
                  <a:t>state of superposition is expressed as weighted sum of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and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 The weights are our</a:t>
                </a:r>
                <a:r>
                  <a:rPr lang="en-US" sz="2000" baseline="0" dirty="0"/>
                  <a:t> </a:t>
                </a:r>
                <a:r>
                  <a:rPr lang="en-US" sz="2000" dirty="0"/>
                  <a:t>coordinates to which we now refer to as</a:t>
                </a:r>
                <a:r>
                  <a:rPr lang="en-US" sz="2000" baseline="0" dirty="0"/>
                  <a:t> </a:t>
                </a:r>
                <a:r>
                  <a:rPr lang="en-US" sz="2000" dirty="0"/>
                  <a:t>probability amplitudes, for the reason we’ll explain next. </a:t>
                </a:r>
              </a:p>
              <a:p>
                <a:endParaRPr lang="en-US" sz="2000" dirty="0"/>
              </a:p>
              <a:p>
                <a:r>
                  <a:rPr lang="en-US" sz="2000" dirty="0"/>
                  <a:t> </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34</a:t>
            </a:fld>
            <a:endParaRPr lang="en-US"/>
          </a:p>
        </p:txBody>
      </p:sp>
    </p:spTree>
    <p:extLst>
      <p:ext uri="{BB962C8B-B14F-4D97-AF65-F5344CB8AC3E}">
        <p14:creationId xmlns:p14="http://schemas.microsoft.com/office/powerpoint/2010/main" val="569767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The coordinates of a qubit can also be expressed in spherical coordinates using a radial distance of 1 and two angles.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p>
          <a:p>
            <a:pPr marL="171450" indent="-171450" algn="just">
              <a:buFont typeface="Arial" panose="020B0604020202020204" pitchFamily="34" charset="0"/>
              <a:buChar char="•"/>
            </a:pPr>
            <a:r>
              <a:rPr lang="en-US" dirty="0"/>
              <a:t>The polar angle </a:t>
            </a:r>
            <a:r>
              <a:rPr lang="el-GR" dirty="0"/>
              <a:t>θ </a:t>
            </a:r>
            <a:r>
              <a:rPr lang="en-US" dirty="0"/>
              <a:t>determines the angular distance from the poles, which is  the angle between the qubit vector and the z-axis.</a:t>
            </a:r>
          </a:p>
          <a:p>
            <a:pPr marL="171450" indent="-171450" algn="just">
              <a:buFont typeface="Arial" panose="020B0604020202020204" pitchFamily="34" charset="0"/>
              <a:buChar char="•"/>
            </a:pPr>
            <a:endParaRPr lang="en-US" dirty="0"/>
          </a:p>
          <a:p>
            <a:pPr marL="171450" indent="-171450" algn="just">
              <a:buFont typeface="Arial" panose="020B0604020202020204" pitchFamily="34" charset="0"/>
              <a:buChar char="•"/>
            </a:pPr>
            <a:r>
              <a:rPr lang="en-US" dirty="0"/>
              <a:t>The azimuthal angle </a:t>
            </a:r>
            <a:r>
              <a:rPr lang="el-GR" dirty="0" err="1"/>
              <a:t>ϕ</a:t>
            </a:r>
            <a:r>
              <a:rPr lang="el-GR" dirty="0"/>
              <a:t> </a:t>
            </a:r>
            <a:r>
              <a:rPr lang="en-US" dirty="0"/>
              <a:t>represents the angular distance from the x-axis.</a:t>
            </a:r>
          </a:p>
          <a:p>
            <a:pPr algn="just"/>
            <a:endParaRPr lang="en-US" dirty="0"/>
          </a:p>
          <a:p>
            <a:pPr algn="just"/>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35</a:t>
            </a:fld>
            <a:endParaRPr lang="en-US"/>
          </a:p>
        </p:txBody>
      </p:sp>
    </p:spTree>
    <p:extLst>
      <p:ext uri="{BB962C8B-B14F-4D97-AF65-F5344CB8AC3E}">
        <p14:creationId xmlns:p14="http://schemas.microsoft.com/office/powerpoint/2010/main" val="22193142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i="0" dirty="0"/>
              <a:t>A qubit’s state evolves during computation. To read the final result, we measure it at the end. </a:t>
            </a:r>
            <a:r>
              <a:rPr lang="en-ZA" dirty="0"/>
              <a:t>Imagine the measurement as placing two magnets at the poles of a sphere. When the magnets are activated and a measurement is made, the qubit collapses to one of the two poles of the Bloch sphere, ∣0⟩ or ∣1⟩, and the instrument records the result as 0 or 1.This means we lose all the rich qubit information and end up with just one bit: 0 or 1.  In other words, measurement reduces the qubit to a single bit: 0 or 1.</a:t>
            </a:r>
          </a:p>
          <a:p>
            <a:pPr algn="just"/>
            <a:endParaRPr lang="en-ZA" dirty="0"/>
          </a:p>
          <a:p>
            <a:pPr algn="just"/>
            <a:r>
              <a:rPr lang="en-ZA" dirty="0"/>
              <a:t>To learn more about a qubit, we can repeatedly prepare it in the same superposition and measure it many times. By recording the outcomes, we can build a histogram showing how many times we obtain ∣0⟩ and how many times we obtain ∣1⟩. Since the state vector is closer to the north pole, representing ∣0⟩, the histogram shows that outcome 0 occurs more frequently than outcome 1.</a:t>
            </a:r>
          </a:p>
        </p:txBody>
      </p:sp>
      <p:sp>
        <p:nvSpPr>
          <p:cNvPr id="4" name="Slide Number Placeholder 3"/>
          <p:cNvSpPr>
            <a:spLocks noGrp="1"/>
          </p:cNvSpPr>
          <p:nvPr>
            <p:ph type="sldNum" sz="quarter" idx="5"/>
          </p:nvPr>
        </p:nvSpPr>
        <p:spPr/>
        <p:txBody>
          <a:bodyPr/>
          <a:lstStyle/>
          <a:p>
            <a:fld id="{1B2CE5E3-B8BD-D040-AC87-D640191DD8F1}" type="slidenum">
              <a:rPr lang="en-US" smtClean="0"/>
              <a:t>36</a:t>
            </a:fld>
            <a:endParaRPr lang="en-US"/>
          </a:p>
        </p:txBody>
      </p:sp>
    </p:spTree>
    <p:extLst>
      <p:ext uri="{BB962C8B-B14F-4D97-AF65-F5344CB8AC3E}">
        <p14:creationId xmlns:p14="http://schemas.microsoft.com/office/powerpoint/2010/main" val="28198850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This raises another question: if the result of a computation is random, how do we know is it correct?</a:t>
            </a:r>
          </a:p>
          <a:p>
            <a:pPr algn="just"/>
            <a:endParaRPr lang="en-ZA" dirty="0"/>
          </a:p>
          <a:p>
            <a:pPr algn="just"/>
            <a:r>
              <a:rPr lang="en-ZA" dirty="0"/>
              <a:t>For example, if we ask a quantum computer what 1 + 1 equals, we might get a different result each time we ask the question. It is not that a quantum computer cannot add two numbers, but because quantum mechanics adds randomness to the measurement process we might sometimes get wrong results.</a:t>
            </a:r>
          </a:p>
          <a:p>
            <a:pPr algn="just"/>
            <a:endParaRPr lang="en-ZA" dirty="0"/>
          </a:p>
          <a:p>
            <a:pPr algn="just"/>
            <a:r>
              <a:rPr lang="en-ZA" dirty="0"/>
              <a:t>To assess the result, we repeat the computation many times and represent the counts of outcomes as a histogram. Results with low frequency are discarded due to quantum uncertainty, and the result with the highest frequency is taken as the correct one. </a:t>
            </a:r>
          </a:p>
          <a:p>
            <a:pPr algn="just"/>
            <a:endParaRPr lang="en-ZA" dirty="0"/>
          </a:p>
          <a:p>
            <a:pPr algn="just"/>
            <a:r>
              <a:rPr lang="en-ZA" dirty="0"/>
              <a:t>In some applications, the probability distribution itself is the desired result. Some examples are weather forecast or generative machine learning. We want AI to produce text, drawings, or music that is similar, but not identical to the pattern provided.</a:t>
            </a:r>
          </a:p>
          <a:p>
            <a:pPr algn="just"/>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For these reasons, quantum computing is often called probabilistic computing.</a:t>
            </a:r>
          </a:p>
          <a:p>
            <a:pPr algn="just"/>
            <a:endParaRPr lang="en-ZA" dirty="0"/>
          </a:p>
        </p:txBody>
      </p:sp>
      <p:sp>
        <p:nvSpPr>
          <p:cNvPr id="4" name="Slide Number Placeholder 3"/>
          <p:cNvSpPr>
            <a:spLocks noGrp="1"/>
          </p:cNvSpPr>
          <p:nvPr>
            <p:ph type="sldNum" sz="quarter" idx="5"/>
          </p:nvPr>
        </p:nvSpPr>
        <p:spPr/>
        <p:txBody>
          <a:bodyPr/>
          <a:lstStyle/>
          <a:p>
            <a:fld id="{1B2CE5E3-B8BD-D040-AC87-D640191DD8F1}" type="slidenum">
              <a:rPr lang="en-US" smtClean="0"/>
              <a:t>37</a:t>
            </a:fld>
            <a:endParaRPr lang="en-US"/>
          </a:p>
        </p:txBody>
      </p:sp>
    </p:spTree>
    <p:extLst>
      <p:ext uri="{BB962C8B-B14F-4D97-AF65-F5344CB8AC3E}">
        <p14:creationId xmlns:p14="http://schemas.microsoft.com/office/powerpoint/2010/main" val="865941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To perform a useful computation, we need more than one qubit, which unlocks the enormous power of superposition.</a:t>
            </a:r>
          </a:p>
          <a:p>
            <a:pPr algn="just"/>
            <a:endParaRPr lang="en-ZA" dirty="0"/>
          </a:p>
          <a:p>
            <a:pPr algn="just"/>
            <a:r>
              <a:rPr lang="en-ZA" dirty="0"/>
              <a:t>To illustrate this, imagine a sphere where each point on its surface represents a unique piece of information. More points mean more information.</a:t>
            </a:r>
          </a:p>
          <a:p>
            <a:pPr algn="just"/>
            <a:endParaRPr lang="en-ZA" dirty="0"/>
          </a:p>
          <a:p>
            <a:pPr algn="just"/>
            <a:r>
              <a:rPr lang="en-ZA" dirty="0"/>
              <a:t>A classical bit is represented by a single point on a sphere, being either 0 or 1. However, a qubit is a combination of both 0 and 1, occupying two points.</a:t>
            </a:r>
          </a:p>
          <a:p>
            <a:pPr algn="just"/>
            <a:endParaRPr lang="en-ZA" dirty="0"/>
          </a:p>
          <a:p>
            <a:pPr algn="just"/>
            <a:r>
              <a:rPr lang="en-ZA" dirty="0"/>
              <a:t>Two classical bits, can occupy one of four possible points on the sphere at a time, while two qubits take all four points.</a:t>
            </a:r>
          </a:p>
          <a:p>
            <a:pPr algn="just"/>
            <a:endParaRPr lang="en-ZA" dirty="0"/>
          </a:p>
          <a:p>
            <a:pPr algn="just"/>
            <a:r>
              <a:rPr lang="en-ZA" dirty="0"/>
              <a:t>Three classical bits can occupy one of eight possible points, while three qubits can occupy all eight points.</a:t>
            </a:r>
          </a:p>
          <a:p>
            <a:pPr algn="just"/>
            <a:endParaRPr lang="en-ZA" dirty="0"/>
          </a:p>
          <a:p>
            <a:pPr algn="just"/>
            <a:r>
              <a:rPr lang="en-ZA" dirty="0"/>
              <a:t>With each additional bit or qubit, the number of possible states increases exponentially as 2</a:t>
            </a:r>
            <a:r>
              <a:rPr lang="en-ZA" baseline="30000" dirty="0"/>
              <a:t>n</a:t>
            </a:r>
            <a:r>
              <a:rPr lang="en-ZA" dirty="0"/>
              <a:t>, where n is the number of bits or qubits.</a:t>
            </a:r>
          </a:p>
          <a:p>
            <a:pPr algn="just"/>
            <a:endParaRPr lang="en-ZA" dirty="0"/>
          </a:p>
          <a:p>
            <a:pPr algn="just"/>
            <a:r>
              <a:rPr lang="en-ZA" dirty="0"/>
              <a:t>The total number of bits in the memory of the largest supercomputers today is approximately 10</a:t>
            </a:r>
            <a:r>
              <a:rPr lang="en-ZA" baseline="30000" dirty="0"/>
              <a:t>18</a:t>
            </a:r>
            <a:r>
              <a:rPr lang="en-ZA" baseline="0" dirty="0"/>
              <a:t> which can store about</a:t>
            </a:r>
            <a:r>
              <a:rPr lang="en-ZA" dirty="0"/>
              <a:t> 10</a:t>
            </a:r>
            <a:r>
              <a:rPr lang="en-ZA" baseline="30000" dirty="0"/>
              <a:t>16</a:t>
            </a:r>
            <a:r>
              <a:rPr lang="en-ZA" baseline="0" dirty="0"/>
              <a:t> floating-</a:t>
            </a:r>
            <a:r>
              <a:rPr lang="en-ZA" baseline="0" dirty="0" err="1"/>
              <a:t>pont</a:t>
            </a:r>
            <a:r>
              <a:rPr lang="en-ZA" baseline="0" dirty="0"/>
              <a:t> numbers. </a:t>
            </a:r>
            <a:r>
              <a:rPr lang="en-ZA" dirty="0"/>
              <a:t>In comparison, with just 300 qubits, it is possible to represent about 10</a:t>
            </a:r>
            <a:r>
              <a:rPr lang="en-ZA" baseline="30000" dirty="0"/>
              <a:t>90</a:t>
            </a:r>
            <a:r>
              <a:rPr lang="en-ZA" dirty="0"/>
              <a:t> values — far exceeding the estimated 10</a:t>
            </a:r>
            <a:r>
              <a:rPr lang="en-ZA" baseline="30000" dirty="0"/>
              <a:t>80</a:t>
            </a:r>
            <a:r>
              <a:rPr lang="en-ZA" dirty="0"/>
              <a:t> atoms in the universe.</a:t>
            </a:r>
          </a:p>
          <a:p>
            <a:pPr algn="just"/>
            <a:endParaRPr lang="en-ZA" dirty="0"/>
          </a:p>
          <a:p>
            <a:pPr algn="just"/>
            <a:r>
              <a:rPr lang="en-ZA" dirty="0"/>
              <a:t>Even if the entire Earth were converted into a computer with each atom as a bit, it would only provide around 10</a:t>
            </a:r>
            <a:r>
              <a:rPr lang="en-ZA" baseline="30000" dirty="0"/>
              <a:t>50</a:t>
            </a:r>
            <a:r>
              <a:rPr lang="en-ZA" dirty="0"/>
              <a:t> bits. This is equivalent to the capacity of a quantum computer with just 166 qubits. For comparison, modern quantum computers already have more than 1,000 qubits.</a:t>
            </a:r>
          </a:p>
        </p:txBody>
      </p:sp>
      <p:sp>
        <p:nvSpPr>
          <p:cNvPr id="4" name="Slide Number Placeholder 3"/>
          <p:cNvSpPr>
            <a:spLocks noGrp="1"/>
          </p:cNvSpPr>
          <p:nvPr>
            <p:ph type="sldNum" sz="quarter" idx="5"/>
          </p:nvPr>
        </p:nvSpPr>
        <p:spPr/>
        <p:txBody>
          <a:bodyPr/>
          <a:lstStyle/>
          <a:p>
            <a:fld id="{1B2CE5E3-B8BD-D040-AC87-D640191DD8F1}" type="slidenum">
              <a:rPr lang="en-US" smtClean="0"/>
              <a:t>38</a:t>
            </a:fld>
            <a:endParaRPr lang="en-US"/>
          </a:p>
        </p:txBody>
      </p:sp>
    </p:spTree>
    <p:extLst>
      <p:ext uri="{BB962C8B-B14F-4D97-AF65-F5344CB8AC3E}">
        <p14:creationId xmlns:p14="http://schemas.microsoft.com/office/powerpoint/2010/main" val="14739289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39</a:t>
            </a:fld>
            <a:endParaRPr lang="en-US"/>
          </a:p>
        </p:txBody>
      </p:sp>
    </p:spTree>
    <p:extLst>
      <p:ext uri="{BB962C8B-B14F-4D97-AF65-F5344CB8AC3E}">
        <p14:creationId xmlns:p14="http://schemas.microsoft.com/office/powerpoint/2010/main" val="37800754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basic unit of data processing in quantum computing is the rotation of a qubit’s vector. This rotation updates qubit’s coordinates, which represent our data.</a:t>
                </a:r>
              </a:p>
              <a:p>
                <a:pPr algn="just"/>
                <a:endParaRPr lang="en-ZA" dirty="0"/>
              </a:p>
              <a:p>
                <a:pPr algn="just"/>
                <a:r>
                  <a:rPr lang="en-ZA" dirty="0"/>
                  <a:t>Rotations are performed by quantum gates, similar to a car moving a qubit from one point to another on a globe. In this example, the qubit’s vector rotates from (1,0) to (0.7,0.7).</a:t>
                </a:r>
                <a:endParaRPr lang="en-US" sz="1200" i="0" baseline="0" dirty="0"/>
              </a:p>
            </p:txBody>
          </p:sp>
        </mc:Choice>
        <mc:Fallback xmlns="">
          <p:sp>
            <p:nvSpPr>
              <p:cNvPr id="3" name="Notes Placeholder 2"/>
              <p:cNvSpPr>
                <a:spLocks noGrp="1"/>
              </p:cNvSpPr>
              <p:nvPr>
                <p:ph type="body" idx="1"/>
              </p:nvPr>
            </p:nvSpPr>
            <p:spPr/>
            <p:txBody>
              <a:bodyPr/>
              <a:lstStyle/>
              <a:p>
                <a:r>
                  <a:rPr lang="en-US" sz="2000" dirty="0"/>
                  <a:t>Let’s explore each of these elements starting from a qubit. A qubit is defined as a unit state vector, living in a sphere </a:t>
                </a:r>
                <a:r>
                  <a:rPr lang="en-US" sz="2000" baseline="0" dirty="0"/>
                  <a:t>called a Bloch sphere. A state vector is</a:t>
                </a:r>
                <a:r>
                  <a:rPr lang="en-US" sz="2000" dirty="0"/>
                  <a:t> defined by two coordinates, similar to GPS coordinates</a:t>
                </a:r>
                <a:r>
                  <a:rPr lang="en-US" sz="2000" baseline="0" dirty="0"/>
                  <a:t> on our cellphone map. </a:t>
                </a:r>
                <a:endParaRPr lang="en-US" sz="2000" dirty="0"/>
              </a:p>
              <a:p>
                <a:pPr marL="457200" indent="-457200">
                  <a:buFont typeface="+mj-lt"/>
                  <a:buAutoNum type="arabicPeriod"/>
                </a:pPr>
                <a:r>
                  <a:rPr lang="en-US" sz="2000" dirty="0"/>
                  <a:t>Blue arrow pointing</a:t>
                </a:r>
                <a:r>
                  <a:rPr lang="en-US" sz="2000" baseline="0" dirty="0"/>
                  <a:t> to the North pole </a:t>
                </a:r>
                <a:r>
                  <a:rPr lang="en-US" sz="2000" dirty="0"/>
                  <a:t>with coordinates (1,0)</a:t>
                </a:r>
                <a:r>
                  <a:rPr lang="en-US" sz="2000" baseline="0" dirty="0"/>
                  <a:t>  represents qubit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As you can see, the coordinates are written in a form of a two-dimensional algebraic column vector.</a:t>
                </a:r>
              </a:p>
              <a:p>
                <a:pPr marL="457200" indent="-457200">
                  <a:buFont typeface="+mj-lt"/>
                  <a:buAutoNum type="arabicPeriod"/>
                </a:pPr>
                <a:r>
                  <a:rPr lang="en-US" sz="2000" dirty="0"/>
                  <a:t>Green arrow pointing</a:t>
                </a:r>
                <a:r>
                  <a:rPr lang="en-US" sz="2000" baseline="0" dirty="0"/>
                  <a:t> to the South pole </a:t>
                </a:r>
                <a:r>
                  <a:rPr lang="en-US" sz="2000" dirty="0"/>
                  <a:t>with coordinates (0,1)</a:t>
                </a:r>
                <a:r>
                  <a:rPr lang="en-US" sz="2000" baseline="0" dirty="0"/>
                  <a:t>  represents qubit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 </a:t>
                </a:r>
              </a:p>
              <a:p>
                <a:pPr marL="457200" indent="-457200">
                  <a:buFont typeface="+mj-lt"/>
                  <a:buAutoNum type="arabicPeriod"/>
                </a:pPr>
                <a:r>
                  <a:rPr lang="en-US" sz="2000" dirty="0"/>
                  <a:t>Any other vector represent a qubit in superposition of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and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 The red vector shows some arbitrary state with coordinates (0.951, -0.309). </a:t>
                </a:r>
              </a:p>
              <a:p>
                <a:pPr marL="457200" indent="-457200">
                  <a:buFont typeface="+mj-lt"/>
                  <a:buAutoNum type="arabicPeriod"/>
                </a:pPr>
                <a:r>
                  <a:rPr lang="en-US" sz="2000" dirty="0"/>
                  <a:t>I won’t go into details, just in case you are wondering how did we get these numbers, here is the formula. Qubit’s spherical coordinates are function of polar angle </a:t>
                </a:r>
                <a:r>
                  <a:rPr lang="en-US" sz="2000" i="0">
                    <a:latin typeface="Cambria Math" panose="02040503050406030204" pitchFamily="18" charset="0"/>
                    <a:ea typeface="Cambria Math" panose="02040503050406030204" pitchFamily="18" charset="0"/>
                  </a:rPr>
                  <a:t>𝜃</a:t>
                </a:r>
                <a:r>
                  <a:rPr lang="en-US" sz="2000" b="0" i="0">
                    <a:latin typeface="Cambria Math" panose="02040503050406030204" pitchFamily="18" charset="0"/>
                    <a:ea typeface="Cambria Math" panose="02040503050406030204" pitchFamily="18" charset="0"/>
                  </a:rPr>
                  <a:t> </a:t>
                </a:r>
                <a:r>
                  <a:rPr lang="en-US" sz="2000" dirty="0"/>
                  <a:t> and azimuthal angle </a:t>
                </a:r>
                <a:r>
                  <a:rPr lang="en-US" sz="2000" i="0">
                    <a:latin typeface="Cambria Math" panose="02040503050406030204" pitchFamily="18" charset="0"/>
                    <a:ea typeface="Cambria Math" panose="02040503050406030204" pitchFamily="18" charset="0"/>
                  </a:rPr>
                  <a:t>𝜑</a:t>
                </a:r>
                <a:r>
                  <a:rPr lang="en-US" sz="2000" dirty="0"/>
                  <a:t>. Coordinates can be complex numbers as indicated by the red letter </a:t>
                </a:r>
                <a:r>
                  <a:rPr lang="en-US" sz="2000" b="1" i="0">
                    <a:solidFill>
                      <a:srgbClr val="FF0000"/>
                    </a:solidFill>
                    <a:latin typeface="Cambria Math" panose="02040503050406030204" pitchFamily="18" charset="0"/>
                    <a:ea typeface="Cambria Math" panose="02040503050406030204" pitchFamily="18" charset="0"/>
                  </a:rPr>
                  <a:t>𝒊</a:t>
                </a:r>
                <a:r>
                  <a:rPr lang="en-US" sz="2000" dirty="0"/>
                  <a:t> in the formula. </a:t>
                </a:r>
              </a:p>
              <a:p>
                <a:pPr marL="457200" indent="-457200">
                  <a:buFont typeface="+mj-lt"/>
                  <a:buAutoNum type="arabicPeriod"/>
                </a:pPr>
                <a:r>
                  <a:rPr lang="en-US" sz="2000" dirty="0"/>
                  <a:t>In another commonly used qubit representation, coordinates are displayed as vertical bars placed above basis states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and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a:t>
                </a:r>
                <a:r>
                  <a:rPr lang="en-US" sz="2000" baseline="0" dirty="0"/>
                  <a:t> In this case, the </a:t>
                </a:r>
                <a:r>
                  <a:rPr lang="en-US" sz="2000" dirty="0"/>
                  <a:t>state of superposition is expressed as weighted sum of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and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 The weights are our</a:t>
                </a:r>
                <a:r>
                  <a:rPr lang="en-US" sz="2000" baseline="0" dirty="0"/>
                  <a:t> </a:t>
                </a:r>
                <a:r>
                  <a:rPr lang="en-US" sz="2000" dirty="0"/>
                  <a:t>coordinates to which we now refer to as</a:t>
                </a:r>
                <a:r>
                  <a:rPr lang="en-US" sz="2000" baseline="0" dirty="0"/>
                  <a:t> </a:t>
                </a:r>
                <a:r>
                  <a:rPr lang="en-US" sz="2000" dirty="0"/>
                  <a:t>probability amplitudes, for the reason we’ll explain next. </a:t>
                </a:r>
              </a:p>
              <a:p>
                <a:endParaRPr lang="en-US" sz="2000" dirty="0"/>
              </a:p>
              <a:p>
                <a:r>
                  <a:rPr lang="en-US" sz="2000" dirty="0"/>
                  <a:t> </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40</a:t>
            </a:fld>
            <a:endParaRPr lang="en-US"/>
          </a:p>
        </p:txBody>
      </p:sp>
    </p:spTree>
    <p:extLst>
      <p:ext uri="{BB962C8B-B14F-4D97-AF65-F5344CB8AC3E}">
        <p14:creationId xmlns:p14="http://schemas.microsoft.com/office/powerpoint/2010/main" val="6677241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Rotation is mathematically described by a rotation matrix. Multiplying this matrix by the initial qubit’s coordinates produces new coordinates. This example shows a matrix that rotates a qubit vector about the y-axis by an angle </a:t>
                </a:r>
                <a:r>
                  <a:rPr lang="el-GR" dirty="0"/>
                  <a:t>θ.</a:t>
                </a:r>
              </a:p>
              <a:p>
                <a:pPr algn="just"/>
                <a:endParaRPr lang="el-GR" dirty="0"/>
              </a:p>
            </p:txBody>
          </p:sp>
        </mc:Choice>
        <mc:Fallback xmlns="">
          <p:sp>
            <p:nvSpPr>
              <p:cNvPr id="3" name="Notes Placeholder 2"/>
              <p:cNvSpPr>
                <a:spLocks noGrp="1"/>
              </p:cNvSpPr>
              <p:nvPr>
                <p:ph type="body" idx="1"/>
              </p:nvPr>
            </p:nvSpPr>
            <p:spPr/>
            <p:txBody>
              <a:bodyPr/>
              <a:lstStyle/>
              <a:p>
                <a:r>
                  <a:rPr lang="en-US" sz="2000" dirty="0"/>
                  <a:t>Let’s explore each of these elements starting from a qubit. A qubit is defined as a unit state vector, living in a sphere </a:t>
                </a:r>
                <a:r>
                  <a:rPr lang="en-US" sz="2000" baseline="0" dirty="0"/>
                  <a:t>called a Bloch sphere. A state vector is</a:t>
                </a:r>
                <a:r>
                  <a:rPr lang="en-US" sz="2000" dirty="0"/>
                  <a:t> defined by two coordinates, similar to GPS coordinates</a:t>
                </a:r>
                <a:r>
                  <a:rPr lang="en-US" sz="2000" baseline="0" dirty="0"/>
                  <a:t> on our cellphone map. </a:t>
                </a:r>
                <a:endParaRPr lang="en-US" sz="2000" dirty="0"/>
              </a:p>
              <a:p>
                <a:pPr marL="457200" indent="-457200">
                  <a:buFont typeface="+mj-lt"/>
                  <a:buAutoNum type="arabicPeriod"/>
                </a:pPr>
                <a:r>
                  <a:rPr lang="en-US" sz="2000" dirty="0"/>
                  <a:t>Blue arrow pointing</a:t>
                </a:r>
                <a:r>
                  <a:rPr lang="en-US" sz="2000" baseline="0" dirty="0"/>
                  <a:t> to the North pole </a:t>
                </a:r>
                <a:r>
                  <a:rPr lang="en-US" sz="2000" dirty="0"/>
                  <a:t>with coordinates (1,0)</a:t>
                </a:r>
                <a:r>
                  <a:rPr lang="en-US" sz="2000" baseline="0" dirty="0"/>
                  <a:t>  represents qubit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As you can see, the coordinates are written in a form of a two-dimensional algebraic column vector.</a:t>
                </a:r>
              </a:p>
              <a:p>
                <a:pPr marL="457200" indent="-457200">
                  <a:buFont typeface="+mj-lt"/>
                  <a:buAutoNum type="arabicPeriod"/>
                </a:pPr>
                <a:r>
                  <a:rPr lang="en-US" sz="2000" dirty="0"/>
                  <a:t>Green arrow pointing</a:t>
                </a:r>
                <a:r>
                  <a:rPr lang="en-US" sz="2000" baseline="0" dirty="0"/>
                  <a:t> to the South pole </a:t>
                </a:r>
                <a:r>
                  <a:rPr lang="en-US" sz="2000" dirty="0"/>
                  <a:t>with coordinates (0,1)</a:t>
                </a:r>
                <a:r>
                  <a:rPr lang="en-US" sz="2000" baseline="0" dirty="0"/>
                  <a:t>  represents qubit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 </a:t>
                </a:r>
              </a:p>
              <a:p>
                <a:pPr marL="457200" indent="-457200">
                  <a:buFont typeface="+mj-lt"/>
                  <a:buAutoNum type="arabicPeriod"/>
                </a:pPr>
                <a:r>
                  <a:rPr lang="en-US" sz="2000" dirty="0"/>
                  <a:t>Any other vector represent a qubit in superposition of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and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 The red vector shows some arbitrary state with coordinates (0.951, -0.309). </a:t>
                </a:r>
              </a:p>
              <a:p>
                <a:pPr marL="457200" indent="-457200">
                  <a:buFont typeface="+mj-lt"/>
                  <a:buAutoNum type="arabicPeriod"/>
                </a:pPr>
                <a:r>
                  <a:rPr lang="en-US" sz="2000" dirty="0"/>
                  <a:t>I won’t go into details, just in case you are wondering how did we get these numbers, here is the formula. Qubit’s spherical coordinates are function of polar angle </a:t>
                </a:r>
                <a:r>
                  <a:rPr lang="en-US" sz="2000" i="0">
                    <a:latin typeface="Cambria Math" panose="02040503050406030204" pitchFamily="18" charset="0"/>
                    <a:ea typeface="Cambria Math" panose="02040503050406030204" pitchFamily="18" charset="0"/>
                  </a:rPr>
                  <a:t>𝜃</a:t>
                </a:r>
                <a:r>
                  <a:rPr lang="en-US" sz="2000" b="0" i="0">
                    <a:latin typeface="Cambria Math" panose="02040503050406030204" pitchFamily="18" charset="0"/>
                    <a:ea typeface="Cambria Math" panose="02040503050406030204" pitchFamily="18" charset="0"/>
                  </a:rPr>
                  <a:t> </a:t>
                </a:r>
                <a:r>
                  <a:rPr lang="en-US" sz="2000" dirty="0"/>
                  <a:t> and azimuthal angle </a:t>
                </a:r>
                <a:r>
                  <a:rPr lang="en-US" sz="2000" i="0">
                    <a:latin typeface="Cambria Math" panose="02040503050406030204" pitchFamily="18" charset="0"/>
                    <a:ea typeface="Cambria Math" panose="02040503050406030204" pitchFamily="18" charset="0"/>
                  </a:rPr>
                  <a:t>𝜑</a:t>
                </a:r>
                <a:r>
                  <a:rPr lang="en-US" sz="2000" dirty="0"/>
                  <a:t>. Coordinates can be complex numbers as indicated by the red letter </a:t>
                </a:r>
                <a:r>
                  <a:rPr lang="en-US" sz="2000" b="1" i="0">
                    <a:solidFill>
                      <a:srgbClr val="FF0000"/>
                    </a:solidFill>
                    <a:latin typeface="Cambria Math" panose="02040503050406030204" pitchFamily="18" charset="0"/>
                    <a:ea typeface="Cambria Math" panose="02040503050406030204" pitchFamily="18" charset="0"/>
                  </a:rPr>
                  <a:t>𝒊</a:t>
                </a:r>
                <a:r>
                  <a:rPr lang="en-US" sz="2000" dirty="0"/>
                  <a:t> in the formula. </a:t>
                </a:r>
              </a:p>
              <a:p>
                <a:pPr marL="457200" indent="-457200">
                  <a:buFont typeface="+mj-lt"/>
                  <a:buAutoNum type="arabicPeriod"/>
                </a:pPr>
                <a:r>
                  <a:rPr lang="en-US" sz="2000" dirty="0"/>
                  <a:t>In another commonly used qubit representation, coordinates are displayed as vertical bars placed above basis states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and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a:t>
                </a:r>
                <a:r>
                  <a:rPr lang="en-US" sz="2000" baseline="0" dirty="0"/>
                  <a:t> In this case, the </a:t>
                </a:r>
                <a:r>
                  <a:rPr lang="en-US" sz="2000" dirty="0"/>
                  <a:t>state of superposition is expressed as weighted sum of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and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 The weights are our</a:t>
                </a:r>
                <a:r>
                  <a:rPr lang="en-US" sz="2000" baseline="0" dirty="0"/>
                  <a:t> </a:t>
                </a:r>
                <a:r>
                  <a:rPr lang="en-US" sz="2000" dirty="0"/>
                  <a:t>coordinates to which we now refer to as</a:t>
                </a:r>
                <a:r>
                  <a:rPr lang="en-US" sz="2000" baseline="0" dirty="0"/>
                  <a:t> </a:t>
                </a:r>
                <a:r>
                  <a:rPr lang="en-US" sz="2000" dirty="0"/>
                  <a:t>probability amplitudes, for the reason we’ll explain next. </a:t>
                </a:r>
              </a:p>
              <a:p>
                <a:endParaRPr lang="en-US" sz="2000" dirty="0"/>
              </a:p>
              <a:p>
                <a:r>
                  <a:rPr lang="en-US" sz="2000" dirty="0"/>
                  <a:t> </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41</a:t>
            </a:fld>
            <a:endParaRPr lang="en-US"/>
          </a:p>
        </p:txBody>
      </p:sp>
    </p:spTree>
    <p:extLst>
      <p:ext uri="{BB962C8B-B14F-4D97-AF65-F5344CB8AC3E}">
        <p14:creationId xmlns:p14="http://schemas.microsoft.com/office/powerpoint/2010/main" val="24111478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Similarly, a qubit can be </a:t>
                </a:r>
                <a:r>
                  <a:rPr lang="en-ZA"/>
                  <a:t>rotated about </a:t>
                </a:r>
                <a:r>
                  <a:rPr lang="en-ZA" dirty="0"/>
                  <a:t>the z-axis or the x-axis. In this example, the matrix rotates the qubit by an angle </a:t>
                </a:r>
                <a:r>
                  <a:rPr lang="el-GR" dirty="0" err="1"/>
                  <a:t>ϕ</a:t>
                </a:r>
                <a:r>
                  <a:rPr lang="el-GR" dirty="0"/>
                  <a:t> </a:t>
                </a:r>
                <a:r>
                  <a:rPr lang="en-ZA" dirty="0"/>
                  <a:t>about the z-axis.</a:t>
                </a:r>
                <a:endParaRPr lang="en-US" sz="1200" i="0" baseline="0" dirty="0"/>
              </a:p>
            </p:txBody>
          </p:sp>
        </mc:Choice>
        <mc:Fallback xmlns="">
          <p:sp>
            <p:nvSpPr>
              <p:cNvPr id="3" name="Notes Placeholder 2"/>
              <p:cNvSpPr>
                <a:spLocks noGrp="1"/>
              </p:cNvSpPr>
              <p:nvPr>
                <p:ph type="body" idx="1"/>
              </p:nvPr>
            </p:nvSpPr>
            <p:spPr/>
            <p:txBody>
              <a:bodyPr/>
              <a:lstStyle/>
              <a:p>
                <a:r>
                  <a:rPr lang="en-US" sz="2000" dirty="0"/>
                  <a:t>Let’s explore each of these elements starting from a qubit. A qubit is defined as a unit state vector, living in a sphere </a:t>
                </a:r>
                <a:r>
                  <a:rPr lang="en-US" sz="2000" baseline="0" dirty="0"/>
                  <a:t>called a Bloch sphere. A state vector is</a:t>
                </a:r>
                <a:r>
                  <a:rPr lang="en-US" sz="2000" dirty="0"/>
                  <a:t> defined by two coordinates, similar to GPS coordinates</a:t>
                </a:r>
                <a:r>
                  <a:rPr lang="en-US" sz="2000" baseline="0" dirty="0"/>
                  <a:t> on our cellphone map. </a:t>
                </a:r>
                <a:endParaRPr lang="en-US" sz="2000" dirty="0"/>
              </a:p>
              <a:p>
                <a:pPr marL="457200" indent="-457200">
                  <a:buFont typeface="+mj-lt"/>
                  <a:buAutoNum type="arabicPeriod"/>
                </a:pPr>
                <a:r>
                  <a:rPr lang="en-US" sz="2000" dirty="0"/>
                  <a:t>Blue arrow pointing</a:t>
                </a:r>
                <a:r>
                  <a:rPr lang="en-US" sz="2000" baseline="0" dirty="0"/>
                  <a:t> to the North pole </a:t>
                </a:r>
                <a:r>
                  <a:rPr lang="en-US" sz="2000" dirty="0"/>
                  <a:t>with coordinates (1,0)</a:t>
                </a:r>
                <a:r>
                  <a:rPr lang="en-US" sz="2000" baseline="0" dirty="0"/>
                  <a:t>  represents qubit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As you can see, the coordinates are written in a form of a two-dimensional algebraic column vector.</a:t>
                </a:r>
              </a:p>
              <a:p>
                <a:pPr marL="457200" indent="-457200">
                  <a:buFont typeface="+mj-lt"/>
                  <a:buAutoNum type="arabicPeriod"/>
                </a:pPr>
                <a:r>
                  <a:rPr lang="en-US" sz="2000" dirty="0"/>
                  <a:t>Green arrow pointing</a:t>
                </a:r>
                <a:r>
                  <a:rPr lang="en-US" sz="2000" baseline="0" dirty="0"/>
                  <a:t> to the South pole </a:t>
                </a:r>
                <a:r>
                  <a:rPr lang="en-US" sz="2000" dirty="0"/>
                  <a:t>with coordinates (0,1)</a:t>
                </a:r>
                <a:r>
                  <a:rPr lang="en-US" sz="2000" baseline="0" dirty="0"/>
                  <a:t>  represents qubit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 </a:t>
                </a:r>
              </a:p>
              <a:p>
                <a:pPr marL="457200" indent="-457200">
                  <a:buFont typeface="+mj-lt"/>
                  <a:buAutoNum type="arabicPeriod"/>
                </a:pPr>
                <a:r>
                  <a:rPr lang="en-US" sz="2000" dirty="0"/>
                  <a:t>Any other vector represent a qubit in superposition of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and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 The red vector shows some arbitrary state with coordinates (0.951, -0.309). </a:t>
                </a:r>
              </a:p>
              <a:p>
                <a:pPr marL="457200" indent="-457200">
                  <a:buFont typeface="+mj-lt"/>
                  <a:buAutoNum type="arabicPeriod"/>
                </a:pPr>
                <a:r>
                  <a:rPr lang="en-US" sz="2000" dirty="0"/>
                  <a:t>I won’t go into details, just in case you are wondering how did we get these numbers, here is the formula. Qubit’s spherical coordinates are function of polar angle </a:t>
                </a:r>
                <a:r>
                  <a:rPr lang="en-US" sz="2000" i="0">
                    <a:latin typeface="Cambria Math" panose="02040503050406030204" pitchFamily="18" charset="0"/>
                    <a:ea typeface="Cambria Math" panose="02040503050406030204" pitchFamily="18" charset="0"/>
                  </a:rPr>
                  <a:t>𝜃</a:t>
                </a:r>
                <a:r>
                  <a:rPr lang="en-US" sz="2000" b="0" i="0">
                    <a:latin typeface="Cambria Math" panose="02040503050406030204" pitchFamily="18" charset="0"/>
                    <a:ea typeface="Cambria Math" panose="02040503050406030204" pitchFamily="18" charset="0"/>
                  </a:rPr>
                  <a:t> </a:t>
                </a:r>
                <a:r>
                  <a:rPr lang="en-US" sz="2000" dirty="0"/>
                  <a:t> and azimuthal angle </a:t>
                </a:r>
                <a:r>
                  <a:rPr lang="en-US" sz="2000" i="0">
                    <a:latin typeface="Cambria Math" panose="02040503050406030204" pitchFamily="18" charset="0"/>
                    <a:ea typeface="Cambria Math" panose="02040503050406030204" pitchFamily="18" charset="0"/>
                  </a:rPr>
                  <a:t>𝜑</a:t>
                </a:r>
                <a:r>
                  <a:rPr lang="en-US" sz="2000" dirty="0"/>
                  <a:t>. Coordinates can be complex numbers as indicated by the red letter </a:t>
                </a:r>
                <a:r>
                  <a:rPr lang="en-US" sz="2000" b="1" i="0">
                    <a:solidFill>
                      <a:srgbClr val="FF0000"/>
                    </a:solidFill>
                    <a:latin typeface="Cambria Math" panose="02040503050406030204" pitchFamily="18" charset="0"/>
                    <a:ea typeface="Cambria Math" panose="02040503050406030204" pitchFamily="18" charset="0"/>
                  </a:rPr>
                  <a:t>𝒊</a:t>
                </a:r>
                <a:r>
                  <a:rPr lang="en-US" sz="2000" dirty="0"/>
                  <a:t> in the formula. </a:t>
                </a:r>
              </a:p>
              <a:p>
                <a:pPr marL="457200" indent="-457200">
                  <a:buFont typeface="+mj-lt"/>
                  <a:buAutoNum type="arabicPeriod"/>
                </a:pPr>
                <a:r>
                  <a:rPr lang="en-US" sz="2000" dirty="0"/>
                  <a:t>In another commonly used qubit representation, coordinates are displayed as vertical bars placed above basis states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and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a:t>
                </a:r>
                <a:r>
                  <a:rPr lang="en-US" sz="2000" baseline="0" dirty="0"/>
                  <a:t> In this case, the </a:t>
                </a:r>
                <a:r>
                  <a:rPr lang="en-US" sz="2000" dirty="0"/>
                  <a:t>state of superposition is expressed as weighted sum of </a:t>
                </a:r>
                <a:r>
                  <a:rPr lang="en-US" sz="2000" i="0">
                    <a:latin typeface="Cambria Math" panose="02040503050406030204" pitchFamily="18" charset="0"/>
                  </a:rPr>
                  <a:t>|</a:t>
                </a:r>
                <a:r>
                  <a:rPr lang="en-US" sz="2000" b="0" i="0">
                    <a:latin typeface="Cambria Math" panose="02040503050406030204" pitchFamily="18" charset="0"/>
                  </a:rPr>
                  <a:t>0⟩</a:t>
                </a:r>
                <a:r>
                  <a:rPr lang="en-US" sz="2000" dirty="0"/>
                  <a:t> and </a:t>
                </a:r>
                <a:r>
                  <a:rPr lang="en-US" sz="2000" i="0">
                    <a:latin typeface="Cambria Math" panose="02040503050406030204" pitchFamily="18" charset="0"/>
                  </a:rPr>
                  <a:t>|</a:t>
                </a:r>
                <a:r>
                  <a:rPr lang="en-US" sz="2000" b="0" i="0">
                    <a:latin typeface="Cambria Math" panose="02040503050406030204" pitchFamily="18" charset="0"/>
                  </a:rPr>
                  <a:t>1⟩</a:t>
                </a:r>
                <a:r>
                  <a:rPr lang="en-US" sz="2000" dirty="0"/>
                  <a:t>. The weights are our</a:t>
                </a:r>
                <a:r>
                  <a:rPr lang="en-US" sz="2000" baseline="0" dirty="0"/>
                  <a:t> </a:t>
                </a:r>
                <a:r>
                  <a:rPr lang="en-US" sz="2000" dirty="0"/>
                  <a:t>coordinates to which we now refer to as</a:t>
                </a:r>
                <a:r>
                  <a:rPr lang="en-US" sz="2000" baseline="0" dirty="0"/>
                  <a:t> </a:t>
                </a:r>
                <a:r>
                  <a:rPr lang="en-US" sz="2000" dirty="0"/>
                  <a:t>probability amplitudes, for the reason we’ll explain next. </a:t>
                </a:r>
              </a:p>
              <a:p>
                <a:endParaRPr lang="en-US" sz="2000" dirty="0"/>
              </a:p>
              <a:p>
                <a:r>
                  <a:rPr lang="en-US" sz="2000" dirty="0"/>
                  <a:t> </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42</a:t>
            </a:fld>
            <a:endParaRPr lang="en-US"/>
          </a:p>
        </p:txBody>
      </p:sp>
    </p:spTree>
    <p:extLst>
      <p:ext uri="{BB962C8B-B14F-4D97-AF65-F5344CB8AC3E}">
        <p14:creationId xmlns:p14="http://schemas.microsoft.com/office/powerpoint/2010/main" val="28764608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However, it is difficult to think about quantum operations in terms of rotation matrices. That’s why quantum operations are usually represented using quantum circuits.</a:t>
            </a:r>
            <a:endParaRPr lang="en-US" i="0" dirty="0"/>
          </a:p>
        </p:txBody>
      </p:sp>
      <p:sp>
        <p:nvSpPr>
          <p:cNvPr id="4" name="Slide Number Placeholder 3"/>
          <p:cNvSpPr>
            <a:spLocks noGrp="1"/>
          </p:cNvSpPr>
          <p:nvPr>
            <p:ph type="sldNum" sz="quarter" idx="5"/>
          </p:nvPr>
        </p:nvSpPr>
        <p:spPr/>
        <p:txBody>
          <a:bodyPr/>
          <a:lstStyle/>
          <a:p>
            <a:fld id="{1B2CE5E3-B8BD-D040-AC87-D640191DD8F1}" type="slidenum">
              <a:rPr lang="en-US" smtClean="0"/>
              <a:t>43</a:t>
            </a:fld>
            <a:endParaRPr lang="en-US"/>
          </a:p>
        </p:txBody>
      </p:sp>
    </p:spTree>
    <p:extLst>
      <p:ext uri="{BB962C8B-B14F-4D97-AF65-F5344CB8AC3E}">
        <p14:creationId xmlns:p14="http://schemas.microsoft.com/office/powerpoint/2010/main" val="31496289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A quantum circuit is similar to a flowchart in classical computing. It consists of a line along which a qubit travels through time. In this example, we have one qubit, named ‘q’, which is initialized to ∣0⟩.</a:t>
            </a:r>
          </a:p>
          <a:p>
            <a:pPr algn="just"/>
            <a:endParaRPr lang="en-ZA" b="0" dirty="0"/>
          </a:p>
          <a:p>
            <a:pPr algn="just"/>
            <a:r>
              <a:rPr lang="en-ZA" b="0" dirty="0"/>
              <a:t>As it moves through the circuit, the qubit encounters various quantum gates, each performing a specific operation. Gates are represented as named squares or circles.</a:t>
            </a:r>
          </a:p>
          <a:p>
            <a:pPr algn="just"/>
            <a:endParaRPr lang="en-ZA" b="0" dirty="0"/>
          </a:p>
          <a:p>
            <a:pPr algn="just"/>
            <a:r>
              <a:rPr lang="en-ZA" b="0" dirty="0"/>
              <a:t>At the end of the circuit, a special gate called the measurement gate reads the state of the qubit and produces the result as a single classical bit: 0 or 1.</a:t>
            </a:r>
          </a:p>
          <a:p>
            <a:pPr algn="just"/>
            <a:endParaRPr lang="en-ZA" b="0" dirty="0"/>
          </a:p>
          <a:p>
            <a:pPr algn="just"/>
            <a:r>
              <a:rPr lang="en-ZA" b="0" dirty="0"/>
              <a:t>A quantum program i</a:t>
            </a:r>
            <a:r>
              <a:rPr lang="en-ZA" dirty="0"/>
              <a:t>n quantum assembly language </a:t>
            </a:r>
            <a:r>
              <a:rPr lang="en-ZA" b="0" dirty="0"/>
              <a:t>is a textual description of a circuit. It contains a list of gates acting on a qubit. In this example, we have an H gate acting on qubit ‘q’, which is then read (measured), and the result is stored in bit ‘c’.</a:t>
            </a:r>
            <a:r>
              <a:rPr lang="en-ZA" dirty="0"/>
              <a:t>, instructions are terminated with a semicolon (;)</a:t>
            </a:r>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44</a:t>
            </a:fld>
            <a:endParaRPr lang="en-US"/>
          </a:p>
        </p:txBody>
      </p:sp>
    </p:spTree>
    <p:extLst>
      <p:ext uri="{BB962C8B-B14F-4D97-AF65-F5344CB8AC3E}">
        <p14:creationId xmlns:p14="http://schemas.microsoft.com/office/powerpoint/2010/main" val="41062154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There are about 20 quantum gates, each represented by a graphical symbol and a name. In this case, it is an ‘H’ gate.</a:t>
                </a:r>
              </a:p>
              <a:p>
                <a:pPr algn="just"/>
                <a:endParaRPr lang="en-ZA" b="0" dirty="0"/>
              </a:p>
              <a:p>
                <a:pPr algn="just"/>
                <a:r>
                  <a:rPr lang="en-ZA" b="0" dirty="0"/>
                  <a:t>Operation of a gate is described by a matrix operator that performs a specific action. In this example, the H gate rotates the qubit vector about a diagonal of the sphere.</a:t>
                </a:r>
              </a:p>
              <a:p>
                <a:pPr algn="just"/>
                <a:endParaRPr lang="en-ZA" b="0" dirty="0"/>
              </a:p>
              <a:p>
                <a:pPr algn="just"/>
                <a:r>
                  <a:rPr lang="en-ZA" b="0" dirty="0"/>
                  <a:t>Each quantum gate is associated with a quantum assembly language instruction, which typically consists of the gate name followed by the name of the qubit the gate acts upon. All instructions are terminated with a semicolon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The next element of quantum computation is a quantum gate. The function of a gate is to change quantum data</a:t>
                </a:r>
                <a:r>
                  <a:rPr lang="en-US" sz="2000" b="1" dirty="0">
                    <a:ln w="9525">
                      <a:solidFill>
                        <a:schemeClr val="bg1"/>
                      </a:solidFill>
                      <a:prstDash val="solid"/>
                    </a:ln>
                    <a:effectLst>
                      <a:outerShdw blurRad="12700" dist="38100" dir="2700000" algn="tl" rotWithShape="0">
                        <a:schemeClr val="bg1">
                          <a:lumMod val="50000"/>
                        </a:schemeClr>
                      </a:outerShdw>
                    </a:effectLst>
                  </a:rPr>
                  <a:t>. </a:t>
                </a:r>
                <a:r>
                  <a:rPr lang="en-US" sz="2000" b="0" dirty="0">
                    <a:ln w="9525">
                      <a:solidFill>
                        <a:schemeClr val="bg1"/>
                      </a:solidFill>
                      <a:prstDash val="solid"/>
                    </a:ln>
                    <a:effectLst>
                      <a:outerShdw blurRad="12700" dist="38100" dir="2700000" algn="tl" rotWithShape="0">
                        <a:schemeClr val="bg1">
                          <a:lumMod val="50000"/>
                        </a:schemeClr>
                      </a:outerShdw>
                    </a:effectLst>
                  </a:rPr>
                  <a:t>Each gate is assigned a name, </a:t>
                </a:r>
                <a:r>
                  <a:rPr lang="en-US" sz="2000" b="0" baseline="0" dirty="0">
                    <a:ln w="9525">
                      <a:solidFill>
                        <a:schemeClr val="bg1"/>
                      </a:solidFill>
                      <a:prstDash val="solid"/>
                    </a:ln>
                    <a:effectLst>
                      <a:outerShdw blurRad="12700" dist="38100" dir="2700000" algn="tl" rotWithShape="0">
                        <a:schemeClr val="bg1">
                          <a:lumMod val="50000"/>
                        </a:schemeClr>
                      </a:outerShdw>
                    </a:effectLst>
                  </a:rPr>
                  <a:t>symbol, and assembly language instruction.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baseline="0" dirty="0">
                    <a:ln w="9525">
                      <a:solidFill>
                        <a:schemeClr val="bg1"/>
                      </a:solidFill>
                      <a:prstDash val="solid"/>
                    </a:ln>
                    <a:effectLst>
                      <a:outerShdw blurRad="12700" dist="38100" dir="2700000" algn="tl" rotWithShape="0">
                        <a:schemeClr val="bg1">
                          <a:lumMod val="50000"/>
                        </a:schemeClr>
                      </a:outerShdw>
                    </a:effectLst>
                  </a:rPr>
                  <a:t>In this example, we have the X gate</a:t>
                </a:r>
                <a:r>
                  <a:rPr lang="en-US" sz="2000" dirty="0"/>
                  <a:t>, which changes a qubit q state from </a:t>
                </a:r>
                <a:r>
                  <a:rPr lang="en-US" sz="2000" b="0" i="0">
                    <a:solidFill>
                      <a:srgbClr val="0000FF"/>
                    </a:solidFill>
                    <a:latin typeface="Cambria Math" panose="02040503050406030204" pitchFamily="18" charset="0"/>
                    <a:ea typeface="Cambria Math" panose="02040503050406030204" pitchFamily="18" charset="0"/>
                  </a:rPr>
                  <a:t>|0⟩</a:t>
                </a:r>
                <a:r>
                  <a:rPr lang="en-US" sz="2000" b="0" dirty="0">
                    <a:ln w="9525">
                      <a:solidFill>
                        <a:schemeClr val="bg1"/>
                      </a:solidFill>
                      <a:prstDash val="solid"/>
                    </a:ln>
                    <a:effectLst>
                      <a:outerShdw blurRad="12700" dist="38100" dir="2700000" algn="tl" rotWithShape="0">
                        <a:schemeClr val="bg1">
                          <a:lumMod val="50000"/>
                        </a:schemeClr>
                      </a:outerShdw>
                    </a:effectLst>
                  </a:rPr>
                  <a:t> to </a:t>
                </a:r>
                <a:r>
                  <a:rPr lang="en-US" sz="2000" i="0">
                    <a:solidFill>
                      <a:srgbClr val="0000FF"/>
                    </a:solidFill>
                    <a:latin typeface="Cambria Math" panose="02040503050406030204" pitchFamily="18" charset="0"/>
                    <a:ea typeface="Cambria Math" panose="02040503050406030204" pitchFamily="18" charset="0"/>
                  </a:rPr>
                  <a:t>|</a:t>
                </a:r>
                <a:r>
                  <a:rPr lang="en-US" sz="2000" b="0" i="0">
                    <a:solidFill>
                      <a:srgbClr val="0000FF"/>
                    </a:solidFill>
                    <a:latin typeface="Cambria Math" panose="02040503050406030204" pitchFamily="18" charset="0"/>
                    <a:ea typeface="Cambria Math" panose="02040503050406030204" pitchFamily="18" charset="0"/>
                  </a:rPr>
                  <a:t>1⟩</a:t>
                </a:r>
                <a:r>
                  <a:rPr lang="en-US" sz="2000" b="0" dirty="0">
                    <a:ln w="9525">
                      <a:solidFill>
                        <a:schemeClr val="bg1"/>
                      </a:solidFill>
                      <a:prstDash val="solid"/>
                    </a:ln>
                    <a:effectLst>
                      <a:outerShdw blurRad="12700" dist="38100" dir="2700000" algn="tl" rotWithShape="0">
                        <a:schemeClr val="bg1">
                          <a:lumMod val="50000"/>
                        </a:schemeClr>
                      </a:outerShdw>
                    </a:effectLst>
                  </a:rPr>
                  <a:t>. The assembly language instruction is the gate name,</a:t>
                </a:r>
                <a:r>
                  <a:rPr lang="en-US" sz="2000" b="0" baseline="0" dirty="0">
                    <a:ln w="9525">
                      <a:solidFill>
                        <a:schemeClr val="bg1"/>
                      </a:solidFill>
                      <a:prstDash val="solid"/>
                    </a:ln>
                    <a:effectLst>
                      <a:outerShdw blurRad="12700" dist="38100" dir="2700000" algn="tl" rotWithShape="0">
                        <a:schemeClr val="bg1">
                          <a:lumMod val="50000"/>
                        </a:schemeClr>
                      </a:outerShdw>
                    </a:effectLst>
                  </a:rPr>
                  <a:t> followed by a qubit name the gate is acting on. The semicolon marks the end of the statement. The same instruction is embedded into Python, which we’ll explore later.</a:t>
                </a:r>
                <a:endParaRPr lang="en-US" sz="2000" b="1" dirty="0">
                  <a:ln w="9525">
                    <a:solidFill>
                      <a:schemeClr val="bg1"/>
                    </a:solidFill>
                    <a:prstDash val="solid"/>
                  </a:ln>
                  <a:effectLst>
                    <a:outerShdw blurRad="12700" dist="38100" dir="2700000" algn="tl" rotWithShape="0">
                      <a:schemeClr val="bg1">
                        <a:lumMod val="50000"/>
                      </a:schemeClr>
                    </a:outerShdw>
                  </a:effectLst>
                </a:endParaRPr>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45</a:t>
            </a:fld>
            <a:endParaRPr lang="en-US"/>
          </a:p>
        </p:txBody>
      </p:sp>
    </p:spTree>
    <p:extLst>
      <p:ext uri="{BB962C8B-B14F-4D97-AF65-F5344CB8AC3E}">
        <p14:creationId xmlns:p14="http://schemas.microsoft.com/office/powerpoint/2010/main" val="4021970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To perform useful computations, quantum circuits usually involve multiple qubits.</a:t>
            </a:r>
          </a:p>
          <a:p>
            <a:pPr algn="just"/>
            <a:endParaRPr lang="en-ZA" b="0" dirty="0"/>
          </a:p>
          <a:p>
            <a:pPr algn="just"/>
            <a:r>
              <a:rPr lang="en-ZA" b="0" dirty="0"/>
              <a:t>In this example, there are three qubits, grouped in a register called q. Each qubit has its own horizontal line, and the gates placed along the line show the operations applied to it.</a:t>
            </a:r>
          </a:p>
          <a:p>
            <a:pPr algn="just"/>
            <a:endParaRPr lang="en-ZA" b="0" dirty="0"/>
          </a:p>
          <a:p>
            <a:pPr algn="just"/>
            <a:r>
              <a:rPr lang="en-ZA" b="0" dirty="0"/>
              <a:t>Operations on different qubits can often be performed at the same time. This allows the circuit to be organized into layers, with the operations in each layer executed together. Here, the circuit has three layers.</a:t>
            </a:r>
          </a:p>
          <a:p>
            <a:pPr algn="just"/>
            <a:r>
              <a:rPr lang="en-ZA" b="0" dirty="0"/>
              <a:t>The circuit can then be written as a quantum assembly language program by listing the gates from left to right, and from top to bottom within each layer.</a:t>
            </a:r>
          </a:p>
          <a:p>
            <a:pPr algn="just"/>
            <a:endParaRPr lang="en-ZA" b="0" dirty="0"/>
          </a:p>
          <a:p>
            <a:pPr algn="just"/>
            <a:r>
              <a:rPr lang="en-ZA" b="0" dirty="0"/>
              <a:t>In this example:</a:t>
            </a:r>
          </a:p>
          <a:p>
            <a:pPr marL="171450" indent="-171450" algn="just">
              <a:buFont typeface="Arial" panose="020B0604020202020204" pitchFamily="34" charset="0"/>
              <a:buChar char="•"/>
            </a:pPr>
            <a:r>
              <a:rPr lang="en-ZA" b="0" dirty="0"/>
              <a:t>On the first vertical layer, we have: h q[0]; x q[2];</a:t>
            </a:r>
          </a:p>
          <a:p>
            <a:pPr marL="171450" indent="-171450" algn="just">
              <a:buFont typeface="Arial" panose="020B0604020202020204" pitchFamily="34" charset="0"/>
              <a:buChar char="•"/>
            </a:pPr>
            <a:r>
              <a:rPr lang="en-ZA" b="0" dirty="0"/>
              <a:t>On the second layer, there is a cx gate acting on the first and second qubits, and a p gate acting on the third qubit.</a:t>
            </a:r>
          </a:p>
          <a:p>
            <a:pPr marL="171450" indent="-171450" algn="just">
              <a:buFont typeface="Arial" panose="020B0604020202020204" pitchFamily="34" charset="0"/>
              <a:buChar char="•"/>
            </a:pPr>
            <a:r>
              <a:rPr lang="en-ZA" b="0" dirty="0"/>
              <a:t>On the third layer, there are three measurement gates that measure all three qubits, producing a three-bit result</a:t>
            </a:r>
          </a:p>
        </p:txBody>
      </p:sp>
      <p:sp>
        <p:nvSpPr>
          <p:cNvPr id="4" name="Slide Number Placeholder 3"/>
          <p:cNvSpPr>
            <a:spLocks noGrp="1"/>
          </p:cNvSpPr>
          <p:nvPr>
            <p:ph type="sldNum" sz="quarter" idx="5"/>
          </p:nvPr>
        </p:nvSpPr>
        <p:spPr/>
        <p:txBody>
          <a:bodyPr/>
          <a:lstStyle/>
          <a:p>
            <a:fld id="{1B2CE5E3-B8BD-D040-AC87-D640191DD8F1}" type="slidenum">
              <a:rPr lang="en-US" smtClean="0"/>
              <a:t>46</a:t>
            </a:fld>
            <a:endParaRPr lang="en-US"/>
          </a:p>
        </p:txBody>
      </p:sp>
    </p:spTree>
    <p:extLst>
      <p:ext uri="{BB962C8B-B14F-4D97-AF65-F5344CB8AC3E}">
        <p14:creationId xmlns:p14="http://schemas.microsoft.com/office/powerpoint/2010/main" val="200347860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47</a:t>
            </a:fld>
            <a:endParaRPr lang="en-US"/>
          </a:p>
        </p:txBody>
      </p:sp>
    </p:spTree>
    <p:extLst>
      <p:ext uri="{BB962C8B-B14F-4D97-AF65-F5344CB8AC3E}">
        <p14:creationId xmlns:p14="http://schemas.microsoft.com/office/powerpoint/2010/main" val="11727118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The image illustrates the general programming model of a quantum computer. </a:t>
            </a:r>
          </a:p>
          <a:p>
            <a:pPr algn="just"/>
            <a:endParaRPr lang="en-ZA" dirty="0"/>
          </a:p>
          <a:p>
            <a:pPr algn="just"/>
            <a:r>
              <a:rPr lang="en-ZA" dirty="0"/>
              <a:t>The mathematical foundation of quantum computing is linear algebra. The mathematical model of an algorithm is visualized as a quantum circuit.</a:t>
            </a:r>
          </a:p>
          <a:p>
            <a:pPr algn="just"/>
            <a:endParaRPr lang="en-ZA" dirty="0"/>
          </a:p>
          <a:p>
            <a:pPr algn="just"/>
            <a:r>
              <a:rPr lang="en-ZA" dirty="0"/>
              <a:t>The textual description of the quantum circuit constitutes the program's source code. This source code is then translated into machine instructions that are executed on the quantum processor. A quantum code can also be written in quantum Python, which allows hybrid classical-quantum programming, where the quantum code is executed on a QPU and its results are used in a classical program running on a CPU.</a:t>
            </a:r>
          </a:p>
          <a:p>
            <a:pPr algn="just"/>
            <a:endParaRPr lang="en-ZA" dirty="0"/>
          </a:p>
          <a:p>
            <a:pPr algn="just"/>
            <a:r>
              <a:rPr lang="en-ZA" dirty="0"/>
              <a:t>Visualization plays an important role in quantum computing, from representing qubits states to showing the results.</a:t>
            </a:r>
          </a:p>
        </p:txBody>
      </p:sp>
      <p:sp>
        <p:nvSpPr>
          <p:cNvPr id="4" name="Slide Number Placeholder 3"/>
          <p:cNvSpPr>
            <a:spLocks noGrp="1"/>
          </p:cNvSpPr>
          <p:nvPr>
            <p:ph type="sldNum" sz="quarter" idx="5"/>
          </p:nvPr>
        </p:nvSpPr>
        <p:spPr/>
        <p:txBody>
          <a:bodyPr/>
          <a:lstStyle/>
          <a:p>
            <a:fld id="{1B2CE5E3-B8BD-D040-AC87-D640191DD8F1}" type="slidenum">
              <a:rPr lang="en-US" smtClean="0"/>
              <a:t>48</a:t>
            </a:fld>
            <a:endParaRPr lang="en-US"/>
          </a:p>
        </p:txBody>
      </p:sp>
    </p:spTree>
    <p:extLst>
      <p:ext uri="{BB962C8B-B14F-4D97-AF65-F5344CB8AC3E}">
        <p14:creationId xmlns:p14="http://schemas.microsoft.com/office/powerpoint/2010/main" val="11972993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All the tools needed to experiment with quantum computers are available online, and real quantum processors can be accessed through quantum cloud services.</a:t>
            </a:r>
          </a:p>
          <a:p>
            <a:pPr algn="just"/>
            <a:endParaRPr lang="en-ZA" dirty="0"/>
          </a:p>
          <a:p>
            <a:pPr algn="just"/>
            <a:r>
              <a:rPr lang="en-ZA" dirty="0"/>
              <a:t>This is an example of IBM’s online tool, </a:t>
            </a:r>
            <a:r>
              <a:rPr lang="en-ZA" b="1" dirty="0"/>
              <a:t>Quantum Composer</a:t>
            </a:r>
            <a:r>
              <a:rPr lang="en-ZA" dirty="0"/>
              <a:t>, which can be accessed through a web browser. Quantum circuits are created by simply dragging and dropping quantum gates from the left panel onto the circuit diagram in the </a:t>
            </a:r>
            <a:r>
              <a:rPr lang="en-ZA" dirty="0" err="1"/>
              <a:t>center</a:t>
            </a:r>
            <a:r>
              <a:rPr lang="en-ZA" dirty="0"/>
              <a:t>. At the same time, the corresponding program code is automatically generated in the selected programming language and displayed on the right.</a:t>
            </a:r>
          </a:p>
          <a:p>
            <a:pPr algn="just"/>
            <a:endParaRPr lang="en-ZA" dirty="0"/>
          </a:p>
          <a:p>
            <a:pPr algn="just"/>
            <a:r>
              <a:rPr lang="en-ZA" dirty="0"/>
              <a:t>The state of the quantum system is visualized in the lower part of the workspace. In the top-right corner, there is a button for running the program. The program is sent to IBM’s cloud platform, where it can be executed on a quantum processor.</a:t>
            </a:r>
          </a:p>
        </p:txBody>
      </p:sp>
      <p:sp>
        <p:nvSpPr>
          <p:cNvPr id="4" name="Slide Number Placeholder 3"/>
          <p:cNvSpPr>
            <a:spLocks noGrp="1"/>
          </p:cNvSpPr>
          <p:nvPr>
            <p:ph type="sldNum" sz="quarter" idx="5"/>
          </p:nvPr>
        </p:nvSpPr>
        <p:spPr/>
        <p:txBody>
          <a:bodyPr/>
          <a:lstStyle/>
          <a:p>
            <a:fld id="{1B2CE5E3-B8BD-D040-AC87-D640191DD8F1}" type="slidenum">
              <a:rPr lang="en-US" smtClean="0"/>
              <a:t>49</a:t>
            </a:fld>
            <a:endParaRPr lang="en-US"/>
          </a:p>
        </p:txBody>
      </p:sp>
    </p:spTree>
    <p:extLst>
      <p:ext uri="{BB962C8B-B14F-4D97-AF65-F5344CB8AC3E}">
        <p14:creationId xmlns:p14="http://schemas.microsoft.com/office/powerpoint/2010/main" val="375097060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In addition to IBM’s quantum cloud platform, there are other platforms, such as Amazon </a:t>
            </a:r>
            <a:r>
              <a:rPr lang="en-ZA" b="0" dirty="0" err="1"/>
              <a:t>Braket</a:t>
            </a:r>
            <a:r>
              <a:rPr lang="en-ZA" b="0" dirty="0"/>
              <a:t> and Microsoft Azure Quantum. These platforms provide access to quantum processors from different manufacturers, including companies such as </a:t>
            </a:r>
            <a:r>
              <a:rPr lang="en-ZA" b="0" dirty="0" err="1"/>
              <a:t>IonQ</a:t>
            </a:r>
            <a:r>
              <a:rPr lang="en-ZA" b="0" dirty="0"/>
              <a:t>, </a:t>
            </a:r>
            <a:r>
              <a:rPr lang="en-ZA" b="0" dirty="0" err="1"/>
              <a:t>Rigetti</a:t>
            </a:r>
            <a:r>
              <a:rPr lang="en-ZA" b="0" dirty="0"/>
              <a:t>, IQM, AQT, and </a:t>
            </a:r>
            <a:r>
              <a:rPr lang="en-ZA" b="0" dirty="0" err="1"/>
              <a:t>QuEra</a:t>
            </a:r>
            <a:r>
              <a:rPr lang="en-ZA" b="0" dirty="0"/>
              <a:t>.</a:t>
            </a:r>
          </a:p>
          <a:p>
            <a:pPr algn="just"/>
            <a:endParaRPr lang="en-ZA" b="0" dirty="0"/>
          </a:p>
          <a:p>
            <a:pPr algn="just"/>
            <a:r>
              <a:rPr lang="en-ZA" b="0" dirty="0"/>
              <a:t>The execution time depends on the selected processor, its availability, and the queue. Small quantum programs may execute very quickly, but the waiting time for access to a processor is not guaranteed and can be considerably longer.</a:t>
            </a:r>
          </a:p>
          <a:p>
            <a:pPr algn="just"/>
            <a:endParaRPr lang="en-ZA" b="0" dirty="0"/>
          </a:p>
          <a:p>
            <a:pPr algn="just"/>
            <a:r>
              <a:rPr lang="en-ZA" b="0" dirty="0"/>
              <a:t>The cost also depends on the platform, processor, and number of executions, or </a:t>
            </a:r>
            <a:r>
              <a:rPr lang="en-ZA" b="0" i="1" dirty="0"/>
              <a:t>shots</a:t>
            </a:r>
            <a:r>
              <a:rPr lang="en-ZA" b="0" dirty="0"/>
              <a:t>. On Amazon </a:t>
            </a:r>
            <a:r>
              <a:rPr lang="en-ZA" b="0" dirty="0" err="1"/>
              <a:t>Braket</a:t>
            </a:r>
            <a:r>
              <a:rPr lang="en-ZA" b="0" dirty="0"/>
              <a:t>, for example, the cost typically consists of a fixed charge per task plus an additional charge for each shot. In our practical exercises, we will use free resources and quantum simulators.</a:t>
            </a:r>
          </a:p>
          <a:p>
            <a:pPr algn="just"/>
            <a:endParaRPr lang="en-ZA" b="0" dirty="0"/>
          </a:p>
          <a:p>
            <a:pPr algn="just"/>
            <a:r>
              <a:rPr lang="en-ZA" b="0" dirty="0"/>
              <a:t>Regarding programming languages and tools, one of the best-known languages for describing quantum programs is </a:t>
            </a:r>
            <a:r>
              <a:rPr lang="en-ZA" b="0" dirty="0" err="1"/>
              <a:t>OpenQASM</a:t>
            </a:r>
            <a:r>
              <a:rPr lang="en-ZA" b="0" dirty="0"/>
              <a:t> (Open Quantum Assembly Language). </a:t>
            </a:r>
            <a:r>
              <a:rPr lang="en-ZA" b="0" dirty="0" err="1"/>
              <a:t>Qiskit</a:t>
            </a:r>
            <a:r>
              <a:rPr lang="en-ZA" b="0" dirty="0"/>
              <a:t> is IBM’s software development kit (SDK) for programming quantum computers in Python.</a:t>
            </a:r>
          </a:p>
        </p:txBody>
      </p:sp>
      <p:sp>
        <p:nvSpPr>
          <p:cNvPr id="4" name="Slide Number Placeholder 3"/>
          <p:cNvSpPr>
            <a:spLocks noGrp="1"/>
          </p:cNvSpPr>
          <p:nvPr>
            <p:ph type="sldNum" sz="quarter" idx="5"/>
          </p:nvPr>
        </p:nvSpPr>
        <p:spPr/>
        <p:txBody>
          <a:bodyPr/>
          <a:lstStyle/>
          <a:p>
            <a:fld id="{1B2CE5E3-B8BD-D040-AC87-D640191DD8F1}" type="slidenum">
              <a:rPr lang="en-US" smtClean="0"/>
              <a:t>50</a:t>
            </a:fld>
            <a:endParaRPr lang="en-US"/>
          </a:p>
        </p:txBody>
      </p:sp>
    </p:spTree>
    <p:extLst>
      <p:ext uri="{BB962C8B-B14F-4D97-AF65-F5344CB8AC3E}">
        <p14:creationId xmlns:p14="http://schemas.microsoft.com/office/powerpoint/2010/main" val="44624823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In classical computing, increasing processing power has historically been closely associated with increasing the number of transistors in a microprocessor. Moore’s Law states that the number of transistors on an integrated circuit doubles approximately every two years.</a:t>
            </a:r>
          </a:p>
          <a:p>
            <a:pPr algn="just"/>
            <a:endParaRPr lang="en-ZA" b="0" dirty="0"/>
          </a:p>
          <a:p>
            <a:pPr algn="just"/>
            <a:r>
              <a:rPr lang="en-ZA" b="0" dirty="0"/>
              <a:t>Quantum computing scales differently. Adding just one qubit doubles the number of states that can be represented in superposition, from 2</a:t>
            </a:r>
            <a:r>
              <a:rPr lang="en-ZA" b="0" baseline="30000" dirty="0"/>
              <a:t>n</a:t>
            </a:r>
            <a:r>
              <a:rPr lang="en-ZA" b="0" dirty="0"/>
              <a:t> to 2</a:t>
            </a:r>
            <a:r>
              <a:rPr lang="en-ZA" b="0" baseline="30000" dirty="0"/>
              <a:t>{n+1}</a:t>
            </a:r>
            <a:r>
              <a:rPr lang="en-ZA" b="0" dirty="0"/>
              <a:t>. A commonly cited quantum counterpart to Moore’s Law is Rose’s Law, which suggests that the number of qubits in quantum processors doubles approximately every 18 months.</a:t>
            </a:r>
          </a:p>
          <a:p>
            <a:pPr algn="just"/>
            <a:endParaRPr lang="en-ZA" b="0" dirty="0"/>
          </a:p>
          <a:p>
            <a:pPr algn="just"/>
            <a:r>
              <a:rPr lang="en-ZA" b="0" dirty="0"/>
              <a:t>The graph illustrates the growth in the number of qubits in quantum processors developed by leading manufacturers. Quantum processors have already crossed the 1,000-qubit threshold, demonstrating the rapid growth in the scale of quantum hardware.</a:t>
            </a:r>
          </a:p>
        </p:txBody>
      </p:sp>
      <p:sp>
        <p:nvSpPr>
          <p:cNvPr id="4" name="Slide Number Placeholder 3"/>
          <p:cNvSpPr>
            <a:spLocks noGrp="1"/>
          </p:cNvSpPr>
          <p:nvPr>
            <p:ph type="sldNum" sz="quarter" idx="5"/>
          </p:nvPr>
        </p:nvSpPr>
        <p:spPr/>
        <p:txBody>
          <a:bodyPr/>
          <a:lstStyle/>
          <a:p>
            <a:fld id="{1B2CE5E3-B8BD-D040-AC87-D640191DD8F1}" type="slidenum">
              <a:rPr lang="en-US" smtClean="0"/>
              <a:t>51</a:t>
            </a:fld>
            <a:endParaRPr lang="en-US"/>
          </a:p>
        </p:txBody>
      </p:sp>
    </p:spTree>
    <p:extLst>
      <p:ext uri="{BB962C8B-B14F-4D97-AF65-F5344CB8AC3E}">
        <p14:creationId xmlns:p14="http://schemas.microsoft.com/office/powerpoint/2010/main" val="30583960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Quantum computing is finding applications in machine learning, simulation, optimization, cryptography, finance, signal processing, and the discovery of new materials and molecules. While classical computers will remain essential, the field is advancing rapidly.</a:t>
            </a:r>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52</a:t>
            </a:fld>
            <a:endParaRPr lang="en-US"/>
          </a:p>
        </p:txBody>
      </p:sp>
    </p:spTree>
    <p:extLst>
      <p:ext uri="{BB962C8B-B14F-4D97-AF65-F5344CB8AC3E}">
        <p14:creationId xmlns:p14="http://schemas.microsoft.com/office/powerpoint/2010/main" val="27479765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0" dirty="0"/>
          </a:p>
        </p:txBody>
      </p:sp>
      <p:sp>
        <p:nvSpPr>
          <p:cNvPr id="4" name="Slide Number Placeholder 3"/>
          <p:cNvSpPr>
            <a:spLocks noGrp="1"/>
          </p:cNvSpPr>
          <p:nvPr>
            <p:ph type="sldNum" sz="quarter" idx="5"/>
          </p:nvPr>
        </p:nvSpPr>
        <p:spPr/>
        <p:txBody>
          <a:bodyPr/>
          <a:lstStyle/>
          <a:p>
            <a:fld id="{1B2CE5E3-B8BD-D040-AC87-D640191DD8F1}" type="slidenum">
              <a:rPr lang="en-US" smtClean="0"/>
              <a:t>53</a:t>
            </a:fld>
            <a:endParaRPr lang="en-US"/>
          </a:p>
        </p:txBody>
      </p:sp>
    </p:spTree>
    <p:extLst>
      <p:ext uri="{BB962C8B-B14F-4D97-AF65-F5344CB8AC3E}">
        <p14:creationId xmlns:p14="http://schemas.microsoft.com/office/powerpoint/2010/main" val="20587404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11120-9110-E347-8B54-7933DF290C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38A87D-FAB6-A743-817E-0C56F6336C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A45607F-58DF-3447-9656-78BB1B0938F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2A11268-6971-7845-B2B0-61769F249FEE}"/>
              </a:ext>
            </a:extLst>
          </p:cNvPr>
          <p:cNvSpPr>
            <a:spLocks noGrp="1"/>
          </p:cNvSpPr>
          <p:nvPr>
            <p:ph type="ftr" sz="quarter" idx="11"/>
          </p:nvPr>
        </p:nvSpPr>
        <p:spPr/>
        <p:txBody>
          <a:bodyPr/>
          <a:lstStyle/>
          <a:p>
            <a:r>
              <a:rPr lang="en-US"/>
              <a:t>Quantum Computing by Aleksandar Radovanovic</a:t>
            </a:r>
          </a:p>
        </p:txBody>
      </p:sp>
      <p:sp>
        <p:nvSpPr>
          <p:cNvPr id="6" name="Slide Number Placeholder 5">
            <a:extLst>
              <a:ext uri="{FF2B5EF4-FFF2-40B4-BE49-F238E27FC236}">
                <a16:creationId xmlns:a16="http://schemas.microsoft.com/office/drawing/2014/main" id="{B7F5C93A-6955-DE48-9E72-AE2BF1040520}"/>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1001636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49746-6A3A-2B40-897A-7771C9BE0A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0F0087-4B92-3E48-919C-B0DEFF5CA0F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605ED7-6A7E-B041-83E1-E1139884EF7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34862D4-B653-154B-9F00-B29F8A9904F9}"/>
              </a:ext>
            </a:extLst>
          </p:cNvPr>
          <p:cNvSpPr>
            <a:spLocks noGrp="1"/>
          </p:cNvSpPr>
          <p:nvPr>
            <p:ph type="ftr" sz="quarter" idx="11"/>
          </p:nvPr>
        </p:nvSpPr>
        <p:spPr/>
        <p:txBody>
          <a:bodyPr/>
          <a:lstStyle/>
          <a:p>
            <a:r>
              <a:rPr lang="en-US"/>
              <a:t>Quantum Computing by Aleksandar Radovanovic</a:t>
            </a:r>
          </a:p>
        </p:txBody>
      </p:sp>
      <p:sp>
        <p:nvSpPr>
          <p:cNvPr id="6" name="Slide Number Placeholder 5">
            <a:extLst>
              <a:ext uri="{FF2B5EF4-FFF2-40B4-BE49-F238E27FC236}">
                <a16:creationId xmlns:a16="http://schemas.microsoft.com/office/drawing/2014/main" id="{587E1DDB-ECC2-6440-8F64-6FF7043B62E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1758381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37889-5E26-9F4B-ABC5-46737412E6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3A11A0-B651-1246-A031-2EB34FAAA2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9A7FBDE-56A4-544F-9E46-A8B3D22162D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C68709F-B42E-EC48-8FBC-6974B5FDACF5}"/>
              </a:ext>
            </a:extLst>
          </p:cNvPr>
          <p:cNvSpPr>
            <a:spLocks noGrp="1"/>
          </p:cNvSpPr>
          <p:nvPr>
            <p:ph type="ftr" sz="quarter" idx="11"/>
          </p:nvPr>
        </p:nvSpPr>
        <p:spPr/>
        <p:txBody>
          <a:bodyPr/>
          <a:lstStyle/>
          <a:p>
            <a:r>
              <a:rPr lang="en-US"/>
              <a:t>Quantum Computing by Aleksandar Radovanovic</a:t>
            </a:r>
          </a:p>
        </p:txBody>
      </p:sp>
      <p:sp>
        <p:nvSpPr>
          <p:cNvPr id="6" name="Slide Number Placeholder 5">
            <a:extLst>
              <a:ext uri="{FF2B5EF4-FFF2-40B4-BE49-F238E27FC236}">
                <a16:creationId xmlns:a16="http://schemas.microsoft.com/office/drawing/2014/main" id="{EE719095-1014-2C44-87B5-A279D4057E21}"/>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668994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EE1EC-CE7B-C74E-BB21-04FB5F3ADE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AAE6E3-FAA8-2941-97DF-C2CE1A284D4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D50239-C5D9-A146-B025-534BB867B58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14A720-AF7F-EC4C-B90A-F4581F52626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B28DF675-B48C-E044-8D49-6F0458C8019D}"/>
              </a:ext>
            </a:extLst>
          </p:cNvPr>
          <p:cNvSpPr>
            <a:spLocks noGrp="1"/>
          </p:cNvSpPr>
          <p:nvPr>
            <p:ph type="ftr" sz="quarter" idx="11"/>
          </p:nvPr>
        </p:nvSpPr>
        <p:spPr/>
        <p:txBody>
          <a:bodyPr/>
          <a:lstStyle/>
          <a:p>
            <a:r>
              <a:rPr lang="en-US"/>
              <a:t>Quantum Computing by Aleksandar Radovanovic</a:t>
            </a:r>
          </a:p>
        </p:txBody>
      </p:sp>
      <p:sp>
        <p:nvSpPr>
          <p:cNvPr id="7" name="Slide Number Placeholder 6">
            <a:extLst>
              <a:ext uri="{FF2B5EF4-FFF2-40B4-BE49-F238E27FC236}">
                <a16:creationId xmlns:a16="http://schemas.microsoft.com/office/drawing/2014/main" id="{0C9C3209-5E9C-C54A-ABFE-731C23683AB9}"/>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156011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392F6-6148-FE46-8B76-9B81927A05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B4AF60-1528-9842-ADC9-963520FD63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AAE9EEE-9501-B048-A51B-B54F83A8075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E756781-36D8-E34C-82CC-C088F79BE9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8D179DE-69E1-4745-A19E-ECA22982DB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0C8571-69A9-E54B-9D56-71E69986D26C}"/>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F2999DD5-63CC-1D40-B3C1-B72C788C35EB}"/>
              </a:ext>
            </a:extLst>
          </p:cNvPr>
          <p:cNvSpPr>
            <a:spLocks noGrp="1"/>
          </p:cNvSpPr>
          <p:nvPr>
            <p:ph type="ftr" sz="quarter" idx="11"/>
          </p:nvPr>
        </p:nvSpPr>
        <p:spPr/>
        <p:txBody>
          <a:bodyPr/>
          <a:lstStyle/>
          <a:p>
            <a:r>
              <a:rPr lang="en-US"/>
              <a:t>Quantum Computing by Aleksandar Radovanovic</a:t>
            </a:r>
          </a:p>
        </p:txBody>
      </p:sp>
      <p:sp>
        <p:nvSpPr>
          <p:cNvPr id="9" name="Slide Number Placeholder 8">
            <a:extLst>
              <a:ext uri="{FF2B5EF4-FFF2-40B4-BE49-F238E27FC236}">
                <a16:creationId xmlns:a16="http://schemas.microsoft.com/office/drawing/2014/main" id="{38B02FEF-EE56-D249-961E-050212908867}"/>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52263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3B9CD3C-8F1C-B448-8738-273C9F829186}"/>
              </a:ext>
            </a:extLst>
          </p:cNvPr>
          <p:cNvPicPr>
            <a:picLocks noChangeAspect="1"/>
          </p:cNvPicPr>
          <p:nvPr userDrawn="1"/>
        </p:nvPicPr>
        <p:blipFill>
          <a:blip r:embed="rId2"/>
          <a:stretch>
            <a:fillRect/>
          </a:stretch>
        </p:blipFill>
        <p:spPr>
          <a:xfrm>
            <a:off x="121919" y="675316"/>
            <a:ext cx="5083823" cy="182718"/>
          </a:xfrm>
          <a:prstGeom prst="rect">
            <a:avLst/>
          </a:prstGeom>
        </p:spPr>
      </p:pic>
      <p:sp>
        <p:nvSpPr>
          <p:cNvPr id="5" name="Slide Number Placeholder 4">
            <a:extLst>
              <a:ext uri="{FF2B5EF4-FFF2-40B4-BE49-F238E27FC236}">
                <a16:creationId xmlns:a16="http://schemas.microsoft.com/office/drawing/2014/main" id="{91093C0F-96B2-6F4C-8B66-4B0CDB2D2C9A}"/>
              </a:ext>
            </a:extLst>
          </p:cNvPr>
          <p:cNvSpPr>
            <a:spLocks noGrp="1"/>
          </p:cNvSpPr>
          <p:nvPr>
            <p:ph type="sldNum" sz="quarter" idx="12"/>
          </p:nvPr>
        </p:nvSpPr>
        <p:spPr>
          <a:xfrm>
            <a:off x="14410" y="6463863"/>
            <a:ext cx="899990" cy="394138"/>
          </a:xfrm>
        </p:spPr>
        <p:txBody>
          <a:bodyPr/>
          <a:lstStyle>
            <a:lvl1pPr algn="l">
              <a:defRPr/>
            </a:lvl1pPr>
          </a:lstStyle>
          <a:p>
            <a:fld id="{591A223C-FA10-BC46-A853-03BA373D023C}" type="slidenum">
              <a:rPr lang="en-US" smtClean="0"/>
              <a:pPr/>
              <a:t>‹#›</a:t>
            </a:fld>
            <a:endParaRPr lang="en-US" dirty="0"/>
          </a:p>
        </p:txBody>
      </p:sp>
      <p:sp>
        <p:nvSpPr>
          <p:cNvPr id="4" name="Title 1">
            <a:extLst>
              <a:ext uri="{FF2B5EF4-FFF2-40B4-BE49-F238E27FC236}">
                <a16:creationId xmlns:a16="http://schemas.microsoft.com/office/drawing/2014/main" id="{D47FFBF9-2950-A84B-A3B1-EA8CBD862047}"/>
              </a:ext>
            </a:extLst>
          </p:cNvPr>
          <p:cNvSpPr>
            <a:spLocks noGrp="1"/>
          </p:cNvSpPr>
          <p:nvPr>
            <p:ph type="title"/>
          </p:nvPr>
        </p:nvSpPr>
        <p:spPr>
          <a:xfrm>
            <a:off x="0" y="0"/>
            <a:ext cx="12192000" cy="928688"/>
          </a:xfrm>
          <a:noFill/>
          <a:ln>
            <a:noFill/>
          </a:ln>
        </p:spPr>
        <p:txBody>
          <a:bodyPr>
            <a:normAutofit/>
          </a:bodyPr>
          <a:lstStyle>
            <a:lvl1pPr>
              <a:defRPr sz="3200" baseline="0">
                <a:latin typeface="+mj-lt"/>
                <a:cs typeface="Arial" panose="020B0604020202020204" pitchFamily="34" charset="0"/>
              </a:defRPr>
            </a:lvl1pPr>
          </a:lstStyle>
          <a:p>
            <a:r>
              <a:rPr lang="en-US" dirty="0"/>
              <a:t>Click to edit Master title style</a:t>
            </a:r>
          </a:p>
        </p:txBody>
      </p:sp>
      <p:pic>
        <p:nvPicPr>
          <p:cNvPr id="6" name="Picture 5">
            <a:extLst>
              <a:ext uri="{FF2B5EF4-FFF2-40B4-BE49-F238E27FC236}">
                <a16:creationId xmlns:a16="http://schemas.microsoft.com/office/drawing/2014/main" id="{5A7DFC0E-670E-784E-A332-DA9BB70CFD67}"/>
              </a:ext>
            </a:extLst>
          </p:cNvPr>
          <p:cNvPicPr>
            <a:picLocks noChangeAspect="1"/>
          </p:cNvPicPr>
          <p:nvPr userDrawn="1"/>
        </p:nvPicPr>
        <p:blipFill>
          <a:blip r:embed="rId3"/>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184259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06385AA-D4AD-3B45-A0D4-F52318D1AAF9}"/>
              </a:ext>
            </a:extLst>
          </p:cNvPr>
          <p:cNvPicPr>
            <a:picLocks noChangeAspect="1"/>
          </p:cNvPicPr>
          <p:nvPr userDrawn="1"/>
        </p:nvPicPr>
        <p:blipFill>
          <a:blip r:embed="rId2"/>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3743636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440A5-589B-1341-A678-0A459F7E8C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CB40E1-21E4-9045-A9A4-3429D73162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D75D2E-7C69-5C4D-9A6E-CC4654B472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84A6CC8-26C5-7448-ADC5-2749D941F84E}"/>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5AADDA07-5AA1-B34C-B309-62DD4C1D4350}"/>
              </a:ext>
            </a:extLst>
          </p:cNvPr>
          <p:cNvSpPr>
            <a:spLocks noGrp="1"/>
          </p:cNvSpPr>
          <p:nvPr>
            <p:ph type="ftr" sz="quarter" idx="11"/>
          </p:nvPr>
        </p:nvSpPr>
        <p:spPr/>
        <p:txBody>
          <a:bodyPr/>
          <a:lstStyle/>
          <a:p>
            <a:r>
              <a:rPr lang="en-US"/>
              <a:t>Quantum Computing by Aleksandar Radovanovic</a:t>
            </a:r>
          </a:p>
        </p:txBody>
      </p:sp>
      <p:sp>
        <p:nvSpPr>
          <p:cNvPr id="7" name="Slide Number Placeholder 6">
            <a:extLst>
              <a:ext uri="{FF2B5EF4-FFF2-40B4-BE49-F238E27FC236}">
                <a16:creationId xmlns:a16="http://schemas.microsoft.com/office/drawing/2014/main" id="{43378A32-B7C4-F842-87A7-D1CD1758A2A1}"/>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644538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F7726-1F76-544A-8680-3C1AB544BA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8CB2FB-2F4A-A74A-A759-A58010D3DD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0D38E96-E545-AC4A-8D98-95FD19B67A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669DA82-266B-CC41-B1D2-F7AA15C5075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4C5952A7-DE1B-CD46-B203-BA6A17F7F3AD}"/>
              </a:ext>
            </a:extLst>
          </p:cNvPr>
          <p:cNvSpPr>
            <a:spLocks noGrp="1"/>
          </p:cNvSpPr>
          <p:nvPr>
            <p:ph type="ftr" sz="quarter" idx="11"/>
          </p:nvPr>
        </p:nvSpPr>
        <p:spPr/>
        <p:txBody>
          <a:bodyPr/>
          <a:lstStyle/>
          <a:p>
            <a:r>
              <a:rPr lang="en-US"/>
              <a:t>Quantum Computing by Aleksandar Radovanovic</a:t>
            </a:r>
          </a:p>
        </p:txBody>
      </p:sp>
      <p:sp>
        <p:nvSpPr>
          <p:cNvPr id="7" name="Slide Number Placeholder 6">
            <a:extLst>
              <a:ext uri="{FF2B5EF4-FFF2-40B4-BE49-F238E27FC236}">
                <a16:creationId xmlns:a16="http://schemas.microsoft.com/office/drawing/2014/main" id="{246A02E3-794B-DA46-8CF3-5708E566E7B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12962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65BAA-57A4-C143-ABF5-35ABB2AF44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E9F01E-C4CF-6A43-99EC-53F5681F6DA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413C5E-E003-A247-9E6F-436CAA7B14F4}"/>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7380A45-DDA9-4C4B-830C-9D0D289275FC}"/>
              </a:ext>
            </a:extLst>
          </p:cNvPr>
          <p:cNvSpPr>
            <a:spLocks noGrp="1"/>
          </p:cNvSpPr>
          <p:nvPr>
            <p:ph type="ftr" sz="quarter" idx="11"/>
          </p:nvPr>
        </p:nvSpPr>
        <p:spPr/>
        <p:txBody>
          <a:bodyPr/>
          <a:lstStyle/>
          <a:p>
            <a:r>
              <a:rPr lang="en-US"/>
              <a:t>Quantum Computing by Aleksandar Radovanovic</a:t>
            </a:r>
          </a:p>
        </p:txBody>
      </p:sp>
      <p:sp>
        <p:nvSpPr>
          <p:cNvPr id="6" name="Slide Number Placeholder 5">
            <a:extLst>
              <a:ext uri="{FF2B5EF4-FFF2-40B4-BE49-F238E27FC236}">
                <a16:creationId xmlns:a16="http://schemas.microsoft.com/office/drawing/2014/main" id="{11F086D7-D0B1-6F43-A1F7-4D436CC2BE0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272065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AA87F1-769D-CC47-ABF4-393B691AD5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46D245-448B-7B4E-9643-1A0962794CC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8926CF-5171-4D44-9CE6-7B7960534FE4}"/>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9ED5D8F-44E4-964B-BE01-CF913802E63E}"/>
              </a:ext>
            </a:extLst>
          </p:cNvPr>
          <p:cNvSpPr>
            <a:spLocks noGrp="1"/>
          </p:cNvSpPr>
          <p:nvPr>
            <p:ph type="ftr" sz="quarter" idx="11"/>
          </p:nvPr>
        </p:nvSpPr>
        <p:spPr/>
        <p:txBody>
          <a:bodyPr/>
          <a:lstStyle/>
          <a:p>
            <a:r>
              <a:rPr lang="en-US"/>
              <a:t>Quantum Computing by Aleksandar Radovanovic</a:t>
            </a:r>
          </a:p>
        </p:txBody>
      </p:sp>
      <p:sp>
        <p:nvSpPr>
          <p:cNvPr id="6" name="Slide Number Placeholder 5">
            <a:extLst>
              <a:ext uri="{FF2B5EF4-FFF2-40B4-BE49-F238E27FC236}">
                <a16:creationId xmlns:a16="http://schemas.microsoft.com/office/drawing/2014/main" id="{E27266BE-E226-064D-8963-7A1D7859CC52}"/>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2723492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A19BAD7-D4B1-4646-B2F1-0F1275438C06}"/>
              </a:ext>
            </a:extLst>
          </p:cNvPr>
          <p:cNvSpPr>
            <a:spLocks noGrp="1"/>
          </p:cNvSpPr>
          <p:nvPr>
            <p:ph type="sldNum" sz="quarter" idx="12"/>
          </p:nvPr>
        </p:nvSpPr>
        <p:spPr>
          <a:xfrm>
            <a:off x="9448800" y="6492875"/>
            <a:ext cx="2743200" cy="365125"/>
          </a:xfrm>
        </p:spPr>
        <p:txBody>
          <a:bodyPr/>
          <a:lstStyle/>
          <a:p>
            <a:fld id="{F9755F1A-B9A0-4847-95B6-A26175A266D6}" type="slidenum">
              <a:rPr lang="en-US" smtClean="0"/>
              <a:t>‹#›</a:t>
            </a:fld>
            <a:endParaRPr lang="en-US"/>
          </a:p>
        </p:txBody>
      </p:sp>
      <p:sp>
        <p:nvSpPr>
          <p:cNvPr id="5" name="Title 1">
            <a:extLst>
              <a:ext uri="{FF2B5EF4-FFF2-40B4-BE49-F238E27FC236}">
                <a16:creationId xmlns:a16="http://schemas.microsoft.com/office/drawing/2014/main" id="{9597F359-8EEF-B34E-908B-EA6295880535}"/>
              </a:ext>
            </a:extLst>
          </p:cNvPr>
          <p:cNvSpPr>
            <a:spLocks noGrp="1"/>
          </p:cNvSpPr>
          <p:nvPr>
            <p:ph type="title"/>
          </p:nvPr>
        </p:nvSpPr>
        <p:spPr>
          <a:xfrm>
            <a:off x="0" y="0"/>
            <a:ext cx="12192000" cy="928688"/>
          </a:xfrm>
          <a:noFill/>
          <a:ln>
            <a:noFill/>
          </a:ln>
        </p:spPr>
        <p:txBody>
          <a:bodyPr>
            <a:normAutofit/>
          </a:bodyPr>
          <a:lstStyle>
            <a:lvl1pPr>
              <a:defRPr sz="3400" baseline="0">
                <a:latin typeface="+mj-lt"/>
                <a:cs typeface="Arial" panose="020B0604020202020204" pitchFamily="34" charset="0"/>
              </a:defRPr>
            </a:lvl1pPr>
          </a:lstStyle>
          <a:p>
            <a:r>
              <a:rPr lang="en-US" dirty="0"/>
              <a:t>Click to edit Master title style</a:t>
            </a:r>
          </a:p>
        </p:txBody>
      </p:sp>
      <p:pic>
        <p:nvPicPr>
          <p:cNvPr id="7" name="Picture 6">
            <a:extLst>
              <a:ext uri="{FF2B5EF4-FFF2-40B4-BE49-F238E27FC236}">
                <a16:creationId xmlns:a16="http://schemas.microsoft.com/office/drawing/2014/main" id="{2B24AF3E-4D16-6C4B-9396-7536498F66EC}"/>
              </a:ext>
            </a:extLst>
          </p:cNvPr>
          <p:cNvPicPr>
            <a:picLocks noChangeAspect="1"/>
          </p:cNvPicPr>
          <p:nvPr userDrawn="1"/>
        </p:nvPicPr>
        <p:blipFill>
          <a:blip r:embed="rId2"/>
          <a:stretch>
            <a:fillRect/>
          </a:stretch>
        </p:blipFill>
        <p:spPr>
          <a:xfrm>
            <a:off x="121919" y="675316"/>
            <a:ext cx="5083823" cy="182718"/>
          </a:xfrm>
          <a:prstGeom prst="rect">
            <a:avLst/>
          </a:prstGeom>
        </p:spPr>
      </p:pic>
      <p:pic>
        <p:nvPicPr>
          <p:cNvPr id="6" name="Picture 5">
            <a:extLst>
              <a:ext uri="{FF2B5EF4-FFF2-40B4-BE49-F238E27FC236}">
                <a16:creationId xmlns:a16="http://schemas.microsoft.com/office/drawing/2014/main" id="{7BD25CF8-D15A-E14F-964D-96AC3E119EC5}"/>
              </a:ext>
            </a:extLst>
          </p:cNvPr>
          <p:cNvPicPr>
            <a:picLocks noChangeAspect="1"/>
          </p:cNvPicPr>
          <p:nvPr userDrawn="1"/>
        </p:nvPicPr>
        <p:blipFill>
          <a:blip r:embed="rId3"/>
          <a:stretch>
            <a:fillRect/>
          </a:stretch>
        </p:blipFill>
        <p:spPr>
          <a:xfrm>
            <a:off x="10625709" y="6555246"/>
            <a:ext cx="1264619" cy="240382"/>
          </a:xfrm>
          <a:prstGeom prst="rect">
            <a:avLst/>
          </a:prstGeom>
        </p:spPr>
      </p:pic>
    </p:spTree>
    <p:extLst>
      <p:ext uri="{BB962C8B-B14F-4D97-AF65-F5344CB8AC3E}">
        <p14:creationId xmlns:p14="http://schemas.microsoft.com/office/powerpoint/2010/main" val="3165961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A8E703-F9A8-0441-A9C1-970176EA14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D3E870-AE9A-814D-8F1C-424E01F68B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CDA625-67E6-FC41-AE05-BDF6D62186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C2CC2541-8D10-844A-AACF-A9080B4FC7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Quantum Computing by Aleksandar Radovanovic</a:t>
            </a:r>
          </a:p>
        </p:txBody>
      </p:sp>
      <p:sp>
        <p:nvSpPr>
          <p:cNvPr id="6" name="Slide Number Placeholder 5">
            <a:extLst>
              <a:ext uri="{FF2B5EF4-FFF2-40B4-BE49-F238E27FC236}">
                <a16:creationId xmlns:a16="http://schemas.microsoft.com/office/drawing/2014/main" id="{27ED89E2-F822-BE4F-A114-8B2AC36CD9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1A223C-FA10-BC46-A853-03BA373D023C}" type="slidenum">
              <a:rPr lang="en-US" smtClean="0"/>
              <a:t>‹#›</a:t>
            </a:fld>
            <a:endParaRPr lang="en-US"/>
          </a:p>
        </p:txBody>
      </p:sp>
    </p:spTree>
    <p:extLst>
      <p:ext uri="{BB962C8B-B14F-4D97-AF65-F5344CB8AC3E}">
        <p14:creationId xmlns:p14="http://schemas.microsoft.com/office/powerpoint/2010/main" val="4111587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86.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70.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5.tiff"/><Relationship Id="rId3" Type="http://schemas.openxmlformats.org/officeDocument/2006/relationships/image" Target="../media/image10.tiff"/><Relationship Id="rId7" Type="http://schemas.openxmlformats.org/officeDocument/2006/relationships/image" Target="../media/image14.tiff"/><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3.tiff"/><Relationship Id="rId5" Type="http://schemas.openxmlformats.org/officeDocument/2006/relationships/image" Target="../media/image12.tiff"/><Relationship Id="rId10" Type="http://schemas.openxmlformats.org/officeDocument/2006/relationships/image" Target="../media/image17.tiff"/><Relationship Id="rId4" Type="http://schemas.openxmlformats.org/officeDocument/2006/relationships/image" Target="../media/image11.tiff"/><Relationship Id="rId9" Type="http://schemas.openxmlformats.org/officeDocument/2006/relationships/image" Target="../media/image16.tiff"/></Relationships>
</file>

<file path=ppt/slides/_rels/slide6.xml.rels><?xml version="1.0" encoding="UTF-8" standalone="yes"?>
<Relationships xmlns="http://schemas.openxmlformats.org/package/2006/relationships"><Relationship Id="rId3" Type="http://schemas.openxmlformats.org/officeDocument/2006/relationships/image" Target="../media/image18.tiff"/><Relationship Id="rId7"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21.tiff"/><Relationship Id="rId5" Type="http://schemas.openxmlformats.org/officeDocument/2006/relationships/image" Target="../media/image20.tiff"/><Relationship Id="rId4" Type="http://schemas.openxmlformats.org/officeDocument/2006/relationships/image" Target="../media/image19.tiff"/></Relationships>
</file>

<file path=ppt/slides/_rels/slide7.xml.rels><?xml version="1.0" encoding="UTF-8" standalone="yes"?>
<Relationships xmlns="http://schemas.openxmlformats.org/package/2006/relationships"><Relationship Id="rId3" Type="http://schemas.openxmlformats.org/officeDocument/2006/relationships/image" Target="../media/image22.tiff"/><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25.tiff"/><Relationship Id="rId5" Type="http://schemas.openxmlformats.org/officeDocument/2006/relationships/image" Target="../media/image24.png"/><Relationship Id="rId4" Type="http://schemas.openxmlformats.org/officeDocument/2006/relationships/image" Target="../media/image23.tiff"/></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image" Target="../media/image29.tiff"/><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35.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36.tiff"/><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39.png"/><Relationship Id="rId5" Type="http://schemas.openxmlformats.org/officeDocument/2006/relationships/image" Target="../media/image38.tiff"/><Relationship Id="rId4" Type="http://schemas.openxmlformats.org/officeDocument/2006/relationships/image" Target="../media/image37.tiff"/></Relationships>
</file>

<file path=ppt/slides/_rels/slide12.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42.emf"/><Relationship Id="rId4" Type="http://schemas.openxmlformats.org/officeDocument/2006/relationships/image" Target="../media/image41.emf"/></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46.tiff"/><Relationship Id="rId5" Type="http://schemas.openxmlformats.org/officeDocument/2006/relationships/image" Target="../media/image45.png"/><Relationship Id="rId4" Type="http://schemas.openxmlformats.org/officeDocument/2006/relationships/image" Target="../media/image44.png"/></Relationships>
</file>

<file path=ppt/slides/_rels/slide14.xml.rels><?xml version="1.0" encoding="UTF-8" standalone="yes"?>
<Relationships xmlns="http://schemas.openxmlformats.org/package/2006/relationships"><Relationship Id="rId3" Type="http://schemas.openxmlformats.org/officeDocument/2006/relationships/image" Target="../media/image47.tiff"/><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48.png"/></Relationships>
</file>

<file path=ppt/slides/_rels/slide15.xml.rels><?xml version="1.0" encoding="UTF-8" standalone="yes"?>
<Relationships xmlns="http://schemas.openxmlformats.org/package/2006/relationships"><Relationship Id="rId8" Type="http://schemas.openxmlformats.org/officeDocument/2006/relationships/image" Target="../media/image53.tiff"/><Relationship Id="rId3" Type="http://schemas.openxmlformats.org/officeDocument/2006/relationships/image" Target="../media/image49.png"/><Relationship Id="rId7" Type="http://schemas.openxmlformats.org/officeDocument/2006/relationships/image" Target="../media/image52.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51.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32.png"/><Relationship Id="rId9" Type="http://schemas.openxmlformats.org/officeDocument/2006/relationships/image" Target="../media/image54.png"/></Relationships>
</file>

<file path=ppt/slides/_rels/slide16.xml.rels><?xml version="1.0" encoding="UTF-8" standalone="yes"?>
<Relationships xmlns="http://schemas.openxmlformats.org/package/2006/relationships"><Relationship Id="rId8" Type="http://schemas.openxmlformats.org/officeDocument/2006/relationships/image" Target="../media/image60.emf"/><Relationship Id="rId3" Type="http://schemas.openxmlformats.org/officeDocument/2006/relationships/image" Target="../media/image40.emf"/><Relationship Id="rId7" Type="http://schemas.openxmlformats.org/officeDocument/2006/relationships/image" Target="../media/image59.tiff"/><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58.emf"/><Relationship Id="rId5" Type="http://schemas.openxmlformats.org/officeDocument/2006/relationships/image" Target="../media/image57.tiff"/><Relationship Id="rId4" Type="http://schemas.openxmlformats.org/officeDocument/2006/relationships/image" Target="../media/image56.tiff"/></Relationships>
</file>

<file path=ppt/slides/_rels/slide17.xml.rels><?xml version="1.0" encoding="UTF-8" standalone="yes"?>
<Relationships xmlns="http://schemas.openxmlformats.org/package/2006/relationships"><Relationship Id="rId8" Type="http://schemas.openxmlformats.org/officeDocument/2006/relationships/image" Target="../media/image63.emf"/><Relationship Id="rId3" Type="http://schemas.openxmlformats.org/officeDocument/2006/relationships/image" Target="../media/image55.png"/><Relationship Id="rId7" Type="http://schemas.openxmlformats.org/officeDocument/2006/relationships/image" Target="../media/image62.tiff"/><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59.tiff"/><Relationship Id="rId5" Type="http://schemas.openxmlformats.org/officeDocument/2006/relationships/image" Target="../media/image61.emf"/><Relationship Id="rId4" Type="http://schemas.openxmlformats.org/officeDocument/2006/relationships/image" Target="../media/image60.emf"/></Relationships>
</file>

<file path=ppt/slides/_rels/slide18.xml.rels><?xml version="1.0" encoding="UTF-8" standalone="yes"?>
<Relationships xmlns="http://schemas.openxmlformats.org/package/2006/relationships"><Relationship Id="rId8" Type="http://schemas.openxmlformats.org/officeDocument/2006/relationships/image" Target="../media/image62.tiff"/><Relationship Id="rId3" Type="http://schemas.openxmlformats.org/officeDocument/2006/relationships/image" Target="../media/image55.png"/><Relationship Id="rId7" Type="http://schemas.openxmlformats.org/officeDocument/2006/relationships/image" Target="../media/image59.tiff"/><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66.emf"/><Relationship Id="rId5" Type="http://schemas.openxmlformats.org/officeDocument/2006/relationships/image" Target="../media/image65.emf"/><Relationship Id="rId4" Type="http://schemas.openxmlformats.org/officeDocument/2006/relationships/image" Target="../media/image64.png"/><Relationship Id="rId9" Type="http://schemas.openxmlformats.org/officeDocument/2006/relationships/image" Target="../media/image40.emf"/></Relationships>
</file>

<file path=ppt/slides/_rels/slide19.xml.rels><?xml version="1.0" encoding="UTF-8" standalone="yes"?>
<Relationships xmlns="http://schemas.openxmlformats.org/package/2006/relationships"><Relationship Id="rId8" Type="http://schemas.openxmlformats.org/officeDocument/2006/relationships/image" Target="../media/image69.emf"/><Relationship Id="rId3" Type="http://schemas.openxmlformats.org/officeDocument/2006/relationships/image" Target="../media/image64.png"/><Relationship Id="rId7" Type="http://schemas.openxmlformats.org/officeDocument/2006/relationships/image" Target="../media/image59.tiff"/><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62.tiff"/><Relationship Id="rId5" Type="http://schemas.openxmlformats.org/officeDocument/2006/relationships/image" Target="../media/image68.emf"/><Relationship Id="rId4" Type="http://schemas.openxmlformats.org/officeDocument/2006/relationships/image" Target="../media/image67.emf"/><Relationship Id="rId9" Type="http://schemas.openxmlformats.org/officeDocument/2006/relationships/image" Target="../media/image42.emf"/></Relationships>
</file>

<file path=ppt/slides/_rels/slide2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72.tiff"/></Relationships>
</file>

<file path=ppt/slides/_rels/slide21.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73.png"/><Relationship Id="rId5" Type="http://schemas.openxmlformats.org/officeDocument/2006/relationships/image" Target="../media/image42.emf"/><Relationship Id="rId4" Type="http://schemas.openxmlformats.org/officeDocument/2006/relationships/image" Target="../media/image41.emf"/></Relationships>
</file>

<file path=ppt/slides/_rels/slide22.xml.rels><?xml version="1.0" encoding="UTF-8" standalone="yes"?>
<Relationships xmlns="http://schemas.openxmlformats.org/package/2006/relationships"><Relationship Id="rId3" Type="http://schemas.openxmlformats.org/officeDocument/2006/relationships/image" Target="../media/image40.emf"/><Relationship Id="rId7"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29.tiff"/><Relationship Id="rId5" Type="http://schemas.openxmlformats.org/officeDocument/2006/relationships/image" Target="../media/image42.emf"/><Relationship Id="rId4" Type="http://schemas.openxmlformats.org/officeDocument/2006/relationships/image" Target="../media/image41.emf"/></Relationships>
</file>

<file path=ppt/slides/_rels/slide23.xml.rels><?xml version="1.0" encoding="UTF-8" standalone="yes"?>
<Relationships xmlns="http://schemas.openxmlformats.org/package/2006/relationships"><Relationship Id="rId3" Type="http://schemas.openxmlformats.org/officeDocument/2006/relationships/image" Target="../media/image74.tiff"/><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75.tiff"/></Relationships>
</file>

<file path=ppt/slides/_rels/slide24.xml.rels><?xml version="1.0" encoding="UTF-8" standalone="yes"?>
<Relationships xmlns="http://schemas.openxmlformats.org/package/2006/relationships"><Relationship Id="rId3" Type="http://schemas.openxmlformats.org/officeDocument/2006/relationships/image" Target="../media/image76.tiff"/><Relationship Id="rId2" Type="http://schemas.openxmlformats.org/officeDocument/2006/relationships/notesSlide" Target="../notesSlides/notesSlide23.xml"/><Relationship Id="rId1" Type="http://schemas.openxmlformats.org/officeDocument/2006/relationships/slideLayout" Target="../slideLayouts/slideLayout6.xml"/><Relationship Id="rId5" Type="http://schemas.openxmlformats.org/officeDocument/2006/relationships/image" Target="../media/image78.tiff"/><Relationship Id="rId4" Type="http://schemas.openxmlformats.org/officeDocument/2006/relationships/image" Target="../media/image77.tiff"/></Relationships>
</file>

<file path=ppt/slides/_rels/slide25.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image" Target="../media/image81.png"/><Relationship Id="rId4" Type="http://schemas.openxmlformats.org/officeDocument/2006/relationships/image" Target="../media/image80.png"/></Relationships>
</file>

<file path=ppt/slides/_rels/slide2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83.png"/></Relationships>
</file>

<file path=ppt/slides/_rels/slide2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image" Target="../media/image75.tiff"/><Relationship Id="rId5" Type="http://schemas.openxmlformats.org/officeDocument/2006/relationships/image" Target="../media/image87.png"/><Relationship Id="rId4" Type="http://schemas.openxmlformats.org/officeDocument/2006/relationships/image" Target="../media/image85.png"/></Relationships>
</file>

<file path=ppt/slides/_rels/slide28.xml.rels><?xml version="1.0" encoding="UTF-8" standalone="yes"?>
<Relationships xmlns="http://schemas.openxmlformats.org/package/2006/relationships"><Relationship Id="rId13" Type="http://schemas.openxmlformats.org/officeDocument/2006/relationships/image" Target="../media/image88.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81.png"/><Relationship Id="rId2" Type="http://schemas.openxmlformats.org/officeDocument/2006/relationships/notesSlide" Target="../notesSlides/notesSlide27.xml"/><Relationship Id="rId1" Type="http://schemas.openxmlformats.org/officeDocument/2006/relationships/slideLayout" Target="../slideLayouts/slideLayout6.xml"/><Relationship Id="rId6" Type="http://schemas.openxmlformats.org/officeDocument/2006/relationships/diagramColors" Target="../diagrams/colors1.xml"/><Relationship Id="rId11" Type="http://schemas.openxmlformats.org/officeDocument/2006/relationships/image" Target="../media/image480.png"/><Relationship Id="rId5" Type="http://schemas.openxmlformats.org/officeDocument/2006/relationships/diagramQuickStyle" Target="../diagrams/quickStyle1.xml"/><Relationship Id="rId10" Type="http://schemas.openxmlformats.org/officeDocument/2006/relationships/image" Target="../media/image470.png"/><Relationship Id="rId4" Type="http://schemas.openxmlformats.org/officeDocument/2006/relationships/diagramLayout" Target="../diagrams/layout1.xml"/><Relationship Id="rId9" Type="http://schemas.openxmlformats.org/officeDocument/2006/relationships/image" Target="../media/image460.png"/></Relationships>
</file>

<file path=ppt/slides/_rels/slide29.xml.rels><?xml version="1.0" encoding="UTF-8" standalone="yes"?>
<Relationships xmlns="http://schemas.openxmlformats.org/package/2006/relationships"><Relationship Id="rId3" Type="http://schemas.openxmlformats.org/officeDocument/2006/relationships/image" Target="../media/image89.tiff"/><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90.tiff"/><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29.tiff"/><Relationship Id="rId5" Type="http://schemas.openxmlformats.org/officeDocument/2006/relationships/image" Target="../media/image430.png"/></Relationships>
</file>

<file path=ppt/slides/_rels/slide31.xml.rels><?xml version="1.0" encoding="UTF-8" standalone="yes"?>
<Relationships xmlns="http://schemas.openxmlformats.org/package/2006/relationships"><Relationship Id="rId8" Type="http://schemas.openxmlformats.org/officeDocument/2006/relationships/image" Target="../media/image450.png"/><Relationship Id="rId3" Type="http://schemas.openxmlformats.org/officeDocument/2006/relationships/image" Target="../media/image91.tiff"/><Relationship Id="rId2" Type="http://schemas.openxmlformats.org/officeDocument/2006/relationships/notesSlide" Target="../notesSlides/notesSlide30.xml"/><Relationship Id="rId1" Type="http://schemas.openxmlformats.org/officeDocument/2006/relationships/slideLayout" Target="../slideLayouts/slideLayout6.xml"/><Relationship Id="rId9" Type="http://schemas.openxmlformats.org/officeDocument/2006/relationships/image" Target="../media/image30.png"/></Relationships>
</file>

<file path=ppt/slides/_rels/slide32.xml.rels><?xml version="1.0" encoding="UTF-8" standalone="yes"?>
<Relationships xmlns="http://schemas.openxmlformats.org/package/2006/relationships"><Relationship Id="rId8" Type="http://schemas.openxmlformats.org/officeDocument/2006/relationships/image" Target="../media/image921.png"/><Relationship Id="rId3" Type="http://schemas.openxmlformats.org/officeDocument/2006/relationships/image" Target="../media/image29.tiff"/><Relationship Id="rId7" Type="http://schemas.openxmlformats.org/officeDocument/2006/relationships/image" Target="../media/image910.png"/><Relationship Id="rId2" Type="http://schemas.openxmlformats.org/officeDocument/2006/relationships/notesSlide" Target="../notesSlides/notesSlide31.xml"/><Relationship Id="rId1" Type="http://schemas.openxmlformats.org/officeDocument/2006/relationships/slideLayout" Target="../slideLayouts/slideLayout6.xml"/><Relationship Id="rId6" Type="http://schemas.openxmlformats.org/officeDocument/2006/relationships/image" Target="../media/image900.png"/><Relationship Id="rId5" Type="http://schemas.openxmlformats.org/officeDocument/2006/relationships/image" Target="../media/image90.tiff"/><Relationship Id="rId4" Type="http://schemas.openxmlformats.org/officeDocument/2006/relationships/image" Target="../media/image91.tiff"/><Relationship Id="rId9" Type="http://schemas.openxmlformats.org/officeDocument/2006/relationships/image" Target="../media/image30.png"/></Relationships>
</file>

<file path=ppt/slides/_rels/slide33.xml.rels><?xml version="1.0" encoding="UTF-8" standalone="yes"?>
<Relationships xmlns="http://schemas.openxmlformats.org/package/2006/relationships"><Relationship Id="rId8" Type="http://schemas.openxmlformats.org/officeDocument/2006/relationships/image" Target="../media/image97.tiff"/><Relationship Id="rId3" Type="http://schemas.openxmlformats.org/officeDocument/2006/relationships/image" Target="../media/image92.png"/><Relationship Id="rId7" Type="http://schemas.openxmlformats.org/officeDocument/2006/relationships/image" Target="../media/image96.tiff"/><Relationship Id="rId2" Type="http://schemas.openxmlformats.org/officeDocument/2006/relationships/notesSlide" Target="../notesSlides/notesSlide32.xml"/><Relationship Id="rId1" Type="http://schemas.openxmlformats.org/officeDocument/2006/relationships/slideLayout" Target="../slideLayouts/slideLayout6.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 Id="rId9" Type="http://schemas.openxmlformats.org/officeDocument/2006/relationships/image" Target="../media/image98.tiff"/></Relationships>
</file>

<file path=ppt/slides/_rels/slide34.xml.rels><?xml version="1.0" encoding="UTF-8" standalone="yes"?>
<Relationships xmlns="http://schemas.openxmlformats.org/package/2006/relationships"><Relationship Id="rId8" Type="http://schemas.openxmlformats.org/officeDocument/2006/relationships/image" Target="../media/image880.png"/><Relationship Id="rId3" Type="http://schemas.openxmlformats.org/officeDocument/2006/relationships/image" Target="../media/image98.tiff"/><Relationship Id="rId7" Type="http://schemas.openxmlformats.org/officeDocument/2006/relationships/image" Target="../media/image99.tiff"/><Relationship Id="rId2" Type="http://schemas.openxmlformats.org/officeDocument/2006/relationships/notesSlide" Target="../notesSlides/notesSlide33.xml"/><Relationship Id="rId1" Type="http://schemas.openxmlformats.org/officeDocument/2006/relationships/slideLayout" Target="../slideLayouts/slideLayout6.xml"/><Relationship Id="rId6" Type="http://schemas.openxmlformats.org/officeDocument/2006/relationships/image" Target="../media/image890.png"/><Relationship Id="rId4" Type="http://schemas.openxmlformats.org/officeDocument/2006/relationships/image" Target="../media/image99.png"/><Relationship Id="rId9" Type="http://schemas.openxmlformats.org/officeDocument/2006/relationships/image" Target="../media/image100.png"/></Relationships>
</file>

<file path=ppt/slides/_rels/slide35.xml.rels><?xml version="1.0" encoding="UTF-8" standalone="yes"?>
<Relationships xmlns="http://schemas.openxmlformats.org/package/2006/relationships"><Relationship Id="rId3" Type="http://schemas.openxmlformats.org/officeDocument/2006/relationships/image" Target="../media/image98.tiff"/><Relationship Id="rId2" Type="http://schemas.openxmlformats.org/officeDocument/2006/relationships/notesSlide" Target="../notesSlides/notesSlide34.xml"/><Relationship Id="rId1" Type="http://schemas.openxmlformats.org/officeDocument/2006/relationships/slideLayout" Target="../slideLayouts/slideLayout6.xml"/><Relationship Id="rId5" Type="http://schemas.openxmlformats.org/officeDocument/2006/relationships/image" Target="../media/image100.png"/><Relationship Id="rId4" Type="http://schemas.openxmlformats.org/officeDocument/2006/relationships/image" Target="../media/image101.tiff"/></Relationships>
</file>

<file path=ppt/slides/_rels/slide36.xml.rels><?xml version="1.0" encoding="UTF-8" standalone="yes"?>
<Relationships xmlns="http://schemas.openxmlformats.org/package/2006/relationships"><Relationship Id="rId3" Type="http://schemas.openxmlformats.org/officeDocument/2006/relationships/image" Target="../media/image920.png"/><Relationship Id="rId7" Type="http://schemas.openxmlformats.org/officeDocument/2006/relationships/image" Target="../media/image971.png"/><Relationship Id="rId2" Type="http://schemas.openxmlformats.org/officeDocument/2006/relationships/notesSlide" Target="../notesSlides/notesSlide35.xml"/><Relationship Id="rId1" Type="http://schemas.openxmlformats.org/officeDocument/2006/relationships/slideLayout" Target="../slideLayouts/slideLayout6.xml"/><Relationship Id="rId6" Type="http://schemas.openxmlformats.org/officeDocument/2006/relationships/image" Target="../media/image951.png"/><Relationship Id="rId4" Type="http://schemas.openxmlformats.org/officeDocument/2006/relationships/image" Target="../media/image102.png"/></Relationships>
</file>

<file path=ppt/slides/_rels/slide3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92.png"/><Relationship Id="rId7" Type="http://schemas.openxmlformats.org/officeDocument/2006/relationships/image" Target="../media/image104.png"/><Relationship Id="rId2" Type="http://schemas.openxmlformats.org/officeDocument/2006/relationships/notesSlide" Target="../notesSlides/notesSlide37.xml"/><Relationship Id="rId1" Type="http://schemas.openxmlformats.org/officeDocument/2006/relationships/slideLayout" Target="../slideLayouts/slideLayout6.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39.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07.png"/><Relationship Id="rId7" Type="http://schemas.openxmlformats.org/officeDocument/2006/relationships/image" Target="../media/image108.png"/><Relationship Id="rId2" Type="http://schemas.openxmlformats.org/officeDocument/2006/relationships/notesSlide" Target="../notesSlides/notesSlide39.xml"/><Relationship Id="rId1" Type="http://schemas.openxmlformats.org/officeDocument/2006/relationships/slideLayout" Target="../slideLayouts/slideLayout6.xml"/><Relationship Id="rId6" Type="http://schemas.openxmlformats.org/officeDocument/2006/relationships/image" Target="../media/image210.png"/><Relationship Id="rId5" Type="http://schemas.openxmlformats.org/officeDocument/2006/relationships/image" Target="../media/image99.tiff"/><Relationship Id="rId4" Type="http://schemas.openxmlformats.org/officeDocument/2006/relationships/image" Target="../media/image200.png"/></Relationships>
</file>

<file path=ppt/slides/_rels/slide41.xml.rels><?xml version="1.0" encoding="UTF-8" standalone="yes"?>
<Relationships xmlns="http://schemas.openxmlformats.org/package/2006/relationships"><Relationship Id="rId3" Type="http://schemas.openxmlformats.org/officeDocument/2006/relationships/image" Target="../media/image107.png"/><Relationship Id="rId7" Type="http://schemas.openxmlformats.org/officeDocument/2006/relationships/image" Target="../media/image108.png"/><Relationship Id="rId2" Type="http://schemas.openxmlformats.org/officeDocument/2006/relationships/notesSlide" Target="../notesSlides/notesSlide40.xml"/><Relationship Id="rId1" Type="http://schemas.openxmlformats.org/officeDocument/2006/relationships/slideLayout" Target="../slideLayouts/slideLayout6.xml"/><Relationship Id="rId6" Type="http://schemas.openxmlformats.org/officeDocument/2006/relationships/image" Target="../media/image1050.png"/><Relationship Id="rId5" Type="http://schemas.openxmlformats.org/officeDocument/2006/relationships/image" Target="../media/image109.tiff"/><Relationship Id="rId4" Type="http://schemas.openxmlformats.org/officeDocument/2006/relationships/image" Target="../media/image99.tiff"/></Relationships>
</file>

<file path=ppt/slides/_rels/slide42.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07.png"/><Relationship Id="rId7" Type="http://schemas.openxmlformats.org/officeDocument/2006/relationships/image" Target="../media/image110.tiff"/><Relationship Id="rId2" Type="http://schemas.openxmlformats.org/officeDocument/2006/relationships/notesSlide" Target="../notesSlides/notesSlide41.xml"/><Relationship Id="rId1" Type="http://schemas.openxmlformats.org/officeDocument/2006/relationships/slideLayout" Target="../slideLayouts/slideLayout6.xml"/><Relationship Id="rId6" Type="http://schemas.openxmlformats.org/officeDocument/2006/relationships/image" Target="../media/image1080.png"/><Relationship Id="rId5" Type="http://schemas.openxmlformats.org/officeDocument/2006/relationships/image" Target="../media/image1070.png"/><Relationship Id="rId4" Type="http://schemas.openxmlformats.org/officeDocument/2006/relationships/image" Target="../media/image112.png"/></Relationships>
</file>

<file path=ppt/slides/_rels/slide43.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113.tiff"/><Relationship Id="rId7" Type="http://schemas.openxmlformats.org/officeDocument/2006/relationships/image" Target="../media/image117.tiff"/><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image" Target="../media/image116.tiff"/><Relationship Id="rId5" Type="http://schemas.openxmlformats.org/officeDocument/2006/relationships/image" Target="../media/image115.tiff"/><Relationship Id="rId4" Type="http://schemas.openxmlformats.org/officeDocument/2006/relationships/image" Target="../media/image114.tiff"/></Relationships>
</file>

<file path=ppt/slides/_rels/slide44.xml.rels><?xml version="1.0" encoding="UTF-8" standalone="yes"?>
<Relationships xmlns="http://schemas.openxmlformats.org/package/2006/relationships"><Relationship Id="rId3" Type="http://schemas.openxmlformats.org/officeDocument/2006/relationships/image" Target="../media/image113.tiff"/><Relationship Id="rId2" Type="http://schemas.openxmlformats.org/officeDocument/2006/relationships/notesSlide" Target="../notesSlides/notesSlide43.xml"/><Relationship Id="rId1" Type="http://schemas.openxmlformats.org/officeDocument/2006/relationships/slideLayout" Target="../slideLayouts/slideLayout6.xml"/><Relationship Id="rId5" Type="http://schemas.openxmlformats.org/officeDocument/2006/relationships/image" Target="../media/image114.tiff"/><Relationship Id="rId4" Type="http://schemas.openxmlformats.org/officeDocument/2006/relationships/image" Target="../media/image117.tiff"/></Relationships>
</file>

<file path=ppt/slides/_rels/slide45.xml.rels><?xml version="1.0" encoding="UTF-8" standalone="yes"?>
<Relationships xmlns="http://schemas.openxmlformats.org/package/2006/relationships"><Relationship Id="rId3" Type="http://schemas.openxmlformats.org/officeDocument/2006/relationships/image" Target="../media/image113.tiff"/><Relationship Id="rId7" Type="http://schemas.openxmlformats.org/officeDocument/2006/relationships/image" Target="../media/image116.png"/><Relationship Id="rId2" Type="http://schemas.openxmlformats.org/officeDocument/2006/relationships/notesSlide" Target="../notesSlides/notesSlide44.xml"/><Relationship Id="rId1" Type="http://schemas.openxmlformats.org/officeDocument/2006/relationships/slideLayout" Target="../slideLayouts/slideLayout6.xml"/><Relationship Id="rId6" Type="http://schemas.openxmlformats.org/officeDocument/2006/relationships/image" Target="../media/image1150.png"/><Relationship Id="rId5" Type="http://schemas.openxmlformats.org/officeDocument/2006/relationships/image" Target="../media/image1140.png"/><Relationship Id="rId4" Type="http://schemas.openxmlformats.org/officeDocument/2006/relationships/image" Target="../media/image114.tiff"/></Relationships>
</file>

<file path=ppt/slides/_rels/slide46.xml.rels><?xml version="1.0" encoding="UTF-8" standalone="yes"?>
<Relationships xmlns="http://schemas.openxmlformats.org/package/2006/relationships"><Relationship Id="rId3" Type="http://schemas.openxmlformats.org/officeDocument/2006/relationships/image" Target="../media/image113.tiff"/><Relationship Id="rId7" Type="http://schemas.openxmlformats.org/officeDocument/2006/relationships/image" Target="../media/image117.tiff"/><Relationship Id="rId2" Type="http://schemas.openxmlformats.org/officeDocument/2006/relationships/notesSlide" Target="../notesSlides/notesSlide45.xml"/><Relationship Id="rId1" Type="http://schemas.openxmlformats.org/officeDocument/2006/relationships/slideLayout" Target="../slideLayouts/slideLayout6.xml"/><Relationship Id="rId6" Type="http://schemas.openxmlformats.org/officeDocument/2006/relationships/image" Target="../media/image116.tiff"/><Relationship Id="rId5" Type="http://schemas.openxmlformats.org/officeDocument/2006/relationships/image" Target="../media/image115.tiff"/><Relationship Id="rId4" Type="http://schemas.openxmlformats.org/officeDocument/2006/relationships/image" Target="../media/image114.tiff"/></Relationships>
</file>

<file path=ppt/slides/_rels/slide47.xml.rels><?xml version="1.0" encoding="UTF-8" standalone="yes"?>
<Relationships xmlns="http://schemas.openxmlformats.org/package/2006/relationships"><Relationship Id="rId3" Type="http://schemas.openxmlformats.org/officeDocument/2006/relationships/image" Target="../media/image119.tiff"/><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20.emf"/><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tiff"/><Relationship Id="rId3" Type="http://schemas.openxmlformats.org/officeDocument/2006/relationships/image" Target="../media/image122.png"/><Relationship Id="rId7" Type="http://schemas.openxmlformats.org/officeDocument/2006/relationships/image" Target="../media/image126.tiff"/><Relationship Id="rId12" Type="http://schemas.openxmlformats.org/officeDocument/2006/relationships/image" Target="../media/image131.tiff"/><Relationship Id="rId2" Type="http://schemas.openxmlformats.org/officeDocument/2006/relationships/notesSlide" Target="../notesSlides/notesSlide49.xml"/><Relationship Id="rId1" Type="http://schemas.openxmlformats.org/officeDocument/2006/relationships/slideLayout" Target="../slideLayouts/slideLayout6.xml"/><Relationship Id="rId6" Type="http://schemas.openxmlformats.org/officeDocument/2006/relationships/image" Target="../media/image125.tiff"/><Relationship Id="rId11" Type="http://schemas.openxmlformats.org/officeDocument/2006/relationships/image" Target="../media/image130.tiff"/><Relationship Id="rId5" Type="http://schemas.openxmlformats.org/officeDocument/2006/relationships/image" Target="../media/image124.png"/><Relationship Id="rId10" Type="http://schemas.openxmlformats.org/officeDocument/2006/relationships/image" Target="../media/image129.tiff"/><Relationship Id="rId4" Type="http://schemas.openxmlformats.org/officeDocument/2006/relationships/image" Target="../media/image123.png"/><Relationship Id="rId9" Type="http://schemas.openxmlformats.org/officeDocument/2006/relationships/image" Target="../media/image128.tiff"/><Relationship Id="rId14" Type="http://schemas.openxmlformats.org/officeDocument/2006/relationships/image" Target="../media/image133.png"/></Relationships>
</file>

<file path=ppt/slides/_rels/slide51.xml.rels><?xml version="1.0" encoding="UTF-8" standalone="yes"?>
<Relationships xmlns="http://schemas.openxmlformats.org/package/2006/relationships"><Relationship Id="rId3" Type="http://schemas.openxmlformats.org/officeDocument/2006/relationships/image" Target="../media/image134.tiff"/><Relationship Id="rId2" Type="http://schemas.openxmlformats.org/officeDocument/2006/relationships/notesSlide" Target="../notesSlides/notesSlide50.xml"/><Relationship Id="rId1" Type="http://schemas.openxmlformats.org/officeDocument/2006/relationships/slideLayout" Target="../slideLayouts/slideLayout6.xml"/><Relationship Id="rId5" Type="http://schemas.openxmlformats.org/officeDocument/2006/relationships/image" Target="../media/image136.tiff"/><Relationship Id="rId4" Type="http://schemas.openxmlformats.org/officeDocument/2006/relationships/image" Target="../media/image135.tiff"/></Relationships>
</file>

<file path=ppt/slides/_rels/slide5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2.xml"/><Relationship Id="rId1" Type="http://schemas.openxmlformats.org/officeDocument/2006/relationships/slideLayout" Target="../slideLayouts/slideLayout7.xml"/><Relationship Id="rId5" Type="http://schemas.openxmlformats.org/officeDocument/2006/relationships/image" Target="../media/image139.tiff"/><Relationship Id="rId4" Type="http://schemas.openxmlformats.org/officeDocument/2006/relationships/image" Target="../media/image1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052B48-7C01-A84F-8720-29C851A29C73}"/>
              </a:ext>
            </a:extLst>
          </p:cNvPr>
          <p:cNvPicPr>
            <a:picLocks noChangeAspect="1"/>
          </p:cNvPicPr>
          <p:nvPr/>
        </p:nvPicPr>
        <p:blipFill>
          <a:blip r:embed="rId2"/>
          <a:stretch>
            <a:fillRect/>
          </a:stretch>
        </p:blipFill>
        <p:spPr>
          <a:xfrm>
            <a:off x="8925339" y="3458023"/>
            <a:ext cx="2197240" cy="2197240"/>
          </a:xfrm>
          <a:prstGeom prst="rect">
            <a:avLst/>
          </a:prstGeom>
        </p:spPr>
      </p:pic>
      <p:sp>
        <p:nvSpPr>
          <p:cNvPr id="4" name="TextBox 3">
            <a:extLst>
              <a:ext uri="{FF2B5EF4-FFF2-40B4-BE49-F238E27FC236}">
                <a16:creationId xmlns:a16="http://schemas.microsoft.com/office/drawing/2014/main" id="{EE3527D4-F865-D944-A44C-3F35F1DCE5D1}"/>
              </a:ext>
            </a:extLst>
          </p:cNvPr>
          <p:cNvSpPr txBox="1"/>
          <p:nvPr/>
        </p:nvSpPr>
        <p:spPr>
          <a:xfrm>
            <a:off x="8617723" y="5805751"/>
            <a:ext cx="3255250" cy="400110"/>
          </a:xfrm>
          <a:prstGeom prst="rect">
            <a:avLst/>
          </a:prstGeom>
          <a:noFill/>
        </p:spPr>
        <p:txBody>
          <a:bodyPr wrap="none" rtlCol="0">
            <a:spAutoFit/>
          </a:bodyPr>
          <a:lstStyle/>
          <a:p>
            <a:r>
              <a:rPr lang="en-US" sz="2000" dirty="0"/>
              <a:t>Prof. Aleksandar </a:t>
            </a:r>
            <a:r>
              <a:rPr lang="en-US" sz="2000" dirty="0" err="1"/>
              <a:t>Radovanović</a:t>
            </a:r>
            <a:endParaRPr lang="en-US" sz="2000" dirty="0"/>
          </a:p>
        </p:txBody>
      </p:sp>
      <p:sp>
        <p:nvSpPr>
          <p:cNvPr id="9" name="Rectangle 8">
            <a:extLst>
              <a:ext uri="{FF2B5EF4-FFF2-40B4-BE49-F238E27FC236}">
                <a16:creationId xmlns:a16="http://schemas.microsoft.com/office/drawing/2014/main" id="{AEAE3AD6-D72E-3745-8FC0-BD4FD8F5E0C9}"/>
              </a:ext>
            </a:extLst>
          </p:cNvPr>
          <p:cNvSpPr/>
          <p:nvPr/>
        </p:nvSpPr>
        <p:spPr>
          <a:xfrm>
            <a:off x="245432" y="2759655"/>
            <a:ext cx="8870851" cy="2185214"/>
          </a:xfrm>
          <a:prstGeom prst="rect">
            <a:avLst/>
          </a:prstGeom>
        </p:spPr>
        <p:txBody>
          <a:bodyPr wrap="square">
            <a:spAutoFit/>
          </a:bodyPr>
          <a:lstStyle/>
          <a:p>
            <a:pPr algn="ctr"/>
            <a:r>
              <a:rPr lang="en-ZA" sz="2800" dirty="0"/>
              <a:t>Welcome to the QCICT Quantum Computing Course.</a:t>
            </a:r>
          </a:p>
          <a:p>
            <a:pPr algn="just"/>
            <a:br>
              <a:rPr lang="en-ZA" sz="2800" dirty="0"/>
            </a:br>
            <a:r>
              <a:rPr lang="en-ZA" sz="2000" dirty="0"/>
              <a:t>The course builds on quantum computing courses taught by </a:t>
            </a:r>
            <a:r>
              <a:rPr lang="en-ZA" sz="2000" dirty="0" err="1"/>
              <a:t>Prof.</a:t>
            </a:r>
            <a:r>
              <a:rPr lang="en-ZA" sz="2000" dirty="0"/>
              <a:t> Aleksandar Radovanovic at the University of the Western Cape in Cape Town and the School of Computing, Union University in Belgrade. It continues to evolve through teaching experience and advances in quantum computing.</a:t>
            </a:r>
            <a:endParaRPr lang="en-US" sz="2000" dirty="0"/>
          </a:p>
        </p:txBody>
      </p:sp>
      <p:pic>
        <p:nvPicPr>
          <p:cNvPr id="13" name="Picture 12">
            <a:extLst>
              <a:ext uri="{FF2B5EF4-FFF2-40B4-BE49-F238E27FC236}">
                <a16:creationId xmlns:a16="http://schemas.microsoft.com/office/drawing/2014/main" id="{971CD7F1-E3D8-474A-BB02-77563336C82D}"/>
              </a:ext>
            </a:extLst>
          </p:cNvPr>
          <p:cNvPicPr>
            <a:picLocks noChangeAspect="1"/>
          </p:cNvPicPr>
          <p:nvPr/>
        </p:nvPicPr>
        <p:blipFill>
          <a:blip r:embed="rId3"/>
          <a:stretch>
            <a:fillRect/>
          </a:stretch>
        </p:blipFill>
        <p:spPr>
          <a:xfrm>
            <a:off x="441470" y="729401"/>
            <a:ext cx="3365717" cy="639764"/>
          </a:xfrm>
          <a:prstGeom prst="rect">
            <a:avLst/>
          </a:prstGeom>
        </p:spPr>
      </p:pic>
      <p:sp>
        <p:nvSpPr>
          <p:cNvPr id="14" name="TextBox 13">
            <a:extLst>
              <a:ext uri="{FF2B5EF4-FFF2-40B4-BE49-F238E27FC236}">
                <a16:creationId xmlns:a16="http://schemas.microsoft.com/office/drawing/2014/main" id="{7FA50E4B-81A1-DD4F-A816-9AFACA4D1E4B}"/>
              </a:ext>
            </a:extLst>
          </p:cNvPr>
          <p:cNvSpPr txBox="1"/>
          <p:nvPr/>
        </p:nvSpPr>
        <p:spPr>
          <a:xfrm>
            <a:off x="488650" y="1348174"/>
            <a:ext cx="3318537" cy="523220"/>
          </a:xfrm>
          <a:prstGeom prst="rect">
            <a:avLst/>
          </a:prstGeom>
          <a:noFill/>
        </p:spPr>
        <p:txBody>
          <a:bodyPr wrap="none" rtlCol="0">
            <a:spAutoFit/>
          </a:bodyPr>
          <a:lstStyle/>
          <a:p>
            <a:pPr algn="ctr"/>
            <a:r>
              <a:rPr lang="en-US" sz="1400" dirty="0">
                <a:latin typeface="+mj-lt"/>
              </a:rPr>
              <a:t>Q u a n t u m  C o m p u t I n g  I n s t I t u t e</a:t>
            </a:r>
          </a:p>
          <a:p>
            <a:pPr algn="ctr"/>
            <a:r>
              <a:rPr lang="en-US" sz="1400" dirty="0">
                <a:latin typeface="+mj-lt"/>
              </a:rPr>
              <a:t>Cape Town, South Africa</a:t>
            </a:r>
          </a:p>
        </p:txBody>
      </p:sp>
    </p:spTree>
    <p:extLst>
      <p:ext uri="{BB962C8B-B14F-4D97-AF65-F5344CB8AC3E}">
        <p14:creationId xmlns:p14="http://schemas.microsoft.com/office/powerpoint/2010/main" val="2559224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0"/>
            <a:ext cx="12191999" cy="6835381"/>
          </a:xfrm>
          <a:prstGeom prst="rect">
            <a:avLst/>
          </a:prstGeom>
        </p:spPr>
      </p:pic>
      <p:sp>
        <p:nvSpPr>
          <p:cNvPr id="3" name="Slide Number Placeholder 2">
            <a:extLst>
              <a:ext uri="{FF2B5EF4-FFF2-40B4-BE49-F238E27FC236}">
                <a16:creationId xmlns:a16="http://schemas.microsoft.com/office/drawing/2014/main" id="{60C4B02F-0FE1-7640-89D9-897868D9C7FC}"/>
              </a:ext>
            </a:extLst>
          </p:cNvPr>
          <p:cNvSpPr>
            <a:spLocks noGrp="1"/>
          </p:cNvSpPr>
          <p:nvPr>
            <p:ph type="sldNum" sz="quarter" idx="4294967295"/>
          </p:nvPr>
        </p:nvSpPr>
        <p:spPr>
          <a:xfrm>
            <a:off x="8610600" y="6356350"/>
            <a:ext cx="2743200" cy="365125"/>
          </a:xfrm>
        </p:spPr>
        <p:txBody>
          <a:bodyPr/>
          <a:lstStyle/>
          <a:p>
            <a:fld id="{591A223C-FA10-BC46-A853-03BA373D023C}" type="slidenum">
              <a:rPr lang="en-US" smtClean="0"/>
              <a:t>2</a:t>
            </a:fld>
            <a:endParaRPr lang="en-US"/>
          </a:p>
        </p:txBody>
      </p:sp>
      <p:sp>
        <p:nvSpPr>
          <p:cNvPr id="4" name="TextBox 3">
            <a:extLst>
              <a:ext uri="{FF2B5EF4-FFF2-40B4-BE49-F238E27FC236}">
                <a16:creationId xmlns:a16="http://schemas.microsoft.com/office/drawing/2014/main" id="{472519DD-9FFE-0047-9453-5A2889BD2B59}"/>
              </a:ext>
            </a:extLst>
          </p:cNvPr>
          <p:cNvSpPr txBox="1"/>
          <p:nvPr/>
        </p:nvSpPr>
        <p:spPr>
          <a:xfrm>
            <a:off x="0" y="678897"/>
            <a:ext cx="12191999" cy="1323439"/>
          </a:xfrm>
          <a:prstGeom prst="rect">
            <a:avLst/>
          </a:prstGeom>
          <a:noFill/>
        </p:spPr>
        <p:txBody>
          <a:bodyPr wrap="square" rtlCol="0">
            <a:spAutoFit/>
          </a:bodyPr>
          <a:lstStyle/>
          <a:p>
            <a:pPr algn="ctr"/>
            <a:r>
              <a:rPr lang="en-US" sz="8000" b="1" dirty="0">
                <a:solidFill>
                  <a:schemeClr val="bg1"/>
                </a:solidFill>
              </a:rPr>
              <a:t>Quantum Computing</a:t>
            </a:r>
          </a:p>
        </p:txBody>
      </p:sp>
      <p:sp>
        <p:nvSpPr>
          <p:cNvPr id="5" name="TextBox 4">
            <a:extLst>
              <a:ext uri="{FF2B5EF4-FFF2-40B4-BE49-F238E27FC236}">
                <a16:creationId xmlns:a16="http://schemas.microsoft.com/office/drawing/2014/main" id="{9FC21883-4A1A-B443-8C22-62F9F4DD9B27}"/>
              </a:ext>
            </a:extLst>
          </p:cNvPr>
          <p:cNvSpPr txBox="1"/>
          <p:nvPr/>
        </p:nvSpPr>
        <p:spPr>
          <a:xfrm>
            <a:off x="7780217" y="5528379"/>
            <a:ext cx="3863365" cy="830997"/>
          </a:xfrm>
          <a:prstGeom prst="rect">
            <a:avLst/>
          </a:prstGeom>
          <a:noFill/>
        </p:spPr>
        <p:txBody>
          <a:bodyPr wrap="none" rtlCol="0">
            <a:spAutoFit/>
          </a:bodyPr>
          <a:lstStyle/>
          <a:p>
            <a:r>
              <a:rPr lang="en-US" sz="2400" dirty="0">
                <a:solidFill>
                  <a:schemeClr val="bg1"/>
                </a:solidFill>
              </a:rPr>
              <a:t>Prof. Aleksandar Radovanovic</a:t>
            </a:r>
          </a:p>
          <a:p>
            <a:pPr algn="ctr"/>
            <a:r>
              <a:rPr lang="en-US" sz="2400" dirty="0" err="1">
                <a:solidFill>
                  <a:schemeClr val="bg1"/>
                </a:solidFill>
              </a:rPr>
              <a:t>alex@qcict.org</a:t>
            </a:r>
            <a:endParaRPr lang="en-US" sz="2400" dirty="0">
              <a:solidFill>
                <a:schemeClr val="bg1"/>
              </a:solidFill>
            </a:endParaRPr>
          </a:p>
        </p:txBody>
      </p:sp>
      <p:sp>
        <p:nvSpPr>
          <p:cNvPr id="7" name="TextBox 6">
            <a:extLst>
              <a:ext uri="{FF2B5EF4-FFF2-40B4-BE49-F238E27FC236}">
                <a16:creationId xmlns:a16="http://schemas.microsoft.com/office/drawing/2014/main" id="{A0F6B325-DEAC-4545-AAF3-69D416F3EC54}"/>
              </a:ext>
            </a:extLst>
          </p:cNvPr>
          <p:cNvSpPr txBox="1"/>
          <p:nvPr/>
        </p:nvSpPr>
        <p:spPr>
          <a:xfrm>
            <a:off x="0" y="2749694"/>
            <a:ext cx="12192000" cy="1015663"/>
          </a:xfrm>
          <a:prstGeom prst="rect">
            <a:avLst/>
          </a:prstGeom>
          <a:noFill/>
        </p:spPr>
        <p:txBody>
          <a:bodyPr wrap="square" rtlCol="0">
            <a:spAutoFit/>
          </a:bodyPr>
          <a:lstStyle/>
          <a:p>
            <a:pPr algn="ctr"/>
            <a:r>
              <a:rPr lang="en-US" sz="6000" dirty="0">
                <a:solidFill>
                  <a:schemeClr val="bg1"/>
                </a:solidFill>
              </a:rPr>
              <a:t>1 - Introduction</a:t>
            </a:r>
            <a:endParaRPr lang="en-US" sz="6000" b="1" dirty="0">
              <a:solidFill>
                <a:schemeClr val="bg1"/>
              </a:solidFill>
            </a:endParaRPr>
          </a:p>
        </p:txBody>
      </p:sp>
    </p:spTree>
    <p:extLst>
      <p:ext uri="{BB962C8B-B14F-4D97-AF65-F5344CB8AC3E}">
        <p14:creationId xmlns:p14="http://schemas.microsoft.com/office/powerpoint/2010/main" val="3883348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0AB967E-D64C-B34A-B47A-511483F2FC0A}"/>
              </a:ext>
            </a:extLst>
          </p:cNvPr>
          <p:cNvPicPr>
            <a:picLocks noChangeAspect="1"/>
          </p:cNvPicPr>
          <p:nvPr/>
        </p:nvPicPr>
        <p:blipFill>
          <a:blip r:embed="rId3"/>
          <a:stretch>
            <a:fillRect/>
          </a:stretch>
        </p:blipFill>
        <p:spPr>
          <a:xfrm>
            <a:off x="7594600" y="0"/>
            <a:ext cx="4597400" cy="6819900"/>
          </a:xfrm>
          <a:prstGeom prst="rect">
            <a:avLst/>
          </a:prstGeom>
        </p:spPr>
      </p:pic>
      <p:sp>
        <p:nvSpPr>
          <p:cNvPr id="12" name="TextBox 11">
            <a:extLst>
              <a:ext uri="{FF2B5EF4-FFF2-40B4-BE49-F238E27FC236}">
                <a16:creationId xmlns:a16="http://schemas.microsoft.com/office/drawing/2014/main" id="{6C77561A-1965-AA4C-A3D2-FC9FA22C5D37}"/>
              </a:ext>
            </a:extLst>
          </p:cNvPr>
          <p:cNvSpPr txBox="1"/>
          <p:nvPr/>
        </p:nvSpPr>
        <p:spPr>
          <a:xfrm>
            <a:off x="3792510" y="318560"/>
            <a:ext cx="5168659" cy="584775"/>
          </a:xfrm>
          <a:prstGeom prst="rect">
            <a:avLst/>
          </a:prstGeom>
          <a:noFill/>
        </p:spPr>
        <p:txBody>
          <a:bodyPr wrap="none" rtlCol="0">
            <a:spAutoFit/>
          </a:bodyPr>
          <a:lstStyle/>
          <a:p>
            <a:r>
              <a:rPr lang="en-US" sz="3200" b="1" dirty="0">
                <a:solidFill>
                  <a:schemeClr val="accent4">
                    <a:lumMod val="20000"/>
                    <a:lumOff val="80000"/>
                  </a:schemeClr>
                </a:solidFill>
              </a:rPr>
              <a:t>What is Quantum Computer?</a:t>
            </a:r>
          </a:p>
        </p:txBody>
      </p:sp>
      <p:sp>
        <p:nvSpPr>
          <p:cNvPr id="2" name="TextBox 1">
            <a:extLst>
              <a:ext uri="{FF2B5EF4-FFF2-40B4-BE49-F238E27FC236}">
                <a16:creationId xmlns:a16="http://schemas.microsoft.com/office/drawing/2014/main" id="{2062D390-29AE-3D4C-AC79-70CAB20A7986}"/>
              </a:ext>
            </a:extLst>
          </p:cNvPr>
          <p:cNvSpPr txBox="1"/>
          <p:nvPr/>
        </p:nvSpPr>
        <p:spPr>
          <a:xfrm>
            <a:off x="629586" y="1840426"/>
            <a:ext cx="6325849" cy="1200329"/>
          </a:xfrm>
          <a:prstGeom prst="rect">
            <a:avLst/>
          </a:prstGeom>
          <a:noFill/>
        </p:spPr>
        <p:txBody>
          <a:bodyPr wrap="square" rtlCol="0">
            <a:spAutoFit/>
          </a:bodyPr>
          <a:lstStyle/>
          <a:p>
            <a:pPr algn="just"/>
            <a:r>
              <a:rPr lang="en-US" sz="2400" dirty="0">
                <a:solidFill>
                  <a:schemeClr val="bg1"/>
                </a:solidFill>
              </a:rPr>
              <a:t>A quantum computer is a type of computer that uses the principles of quantum mechanics to perform computations.</a:t>
            </a:r>
          </a:p>
        </p:txBody>
      </p:sp>
      <p:sp>
        <p:nvSpPr>
          <p:cNvPr id="3" name="TextBox 2">
            <a:extLst>
              <a:ext uri="{FF2B5EF4-FFF2-40B4-BE49-F238E27FC236}">
                <a16:creationId xmlns:a16="http://schemas.microsoft.com/office/drawing/2014/main" id="{9C6C4ED3-84B3-414B-8F91-47BE143B78AE}"/>
              </a:ext>
            </a:extLst>
          </p:cNvPr>
          <p:cNvSpPr txBox="1"/>
          <p:nvPr/>
        </p:nvSpPr>
        <p:spPr>
          <a:xfrm>
            <a:off x="629586" y="4330163"/>
            <a:ext cx="6325849" cy="1200329"/>
          </a:xfrm>
          <a:prstGeom prst="rect">
            <a:avLst/>
          </a:prstGeom>
          <a:noFill/>
        </p:spPr>
        <p:txBody>
          <a:bodyPr wrap="square" rtlCol="0">
            <a:spAutoFit/>
          </a:bodyPr>
          <a:lstStyle/>
          <a:p>
            <a:pPr algn="just"/>
            <a:r>
              <a:rPr lang="en-US" sz="2400" dirty="0">
                <a:solidFill>
                  <a:schemeClr val="bg1"/>
                </a:solidFill>
              </a:rPr>
              <a:t>Quantum computing is a multidisciplinary field that combines aspects of computer science, quantum mechanics, and mathematics.</a:t>
            </a:r>
          </a:p>
        </p:txBody>
      </p:sp>
      <p:sp>
        <p:nvSpPr>
          <p:cNvPr id="5" name="Slide Number Placeholder 4">
            <a:extLst>
              <a:ext uri="{FF2B5EF4-FFF2-40B4-BE49-F238E27FC236}">
                <a16:creationId xmlns:a16="http://schemas.microsoft.com/office/drawing/2014/main" id="{2B921792-693E-274B-B5B4-A733690042A8}"/>
              </a:ext>
            </a:extLst>
          </p:cNvPr>
          <p:cNvSpPr>
            <a:spLocks noGrp="1"/>
          </p:cNvSpPr>
          <p:nvPr>
            <p:ph type="sldNum" sz="quarter" idx="4294967295"/>
          </p:nvPr>
        </p:nvSpPr>
        <p:spPr>
          <a:xfrm>
            <a:off x="8610600" y="6356350"/>
            <a:ext cx="2743200" cy="365125"/>
          </a:xfrm>
        </p:spPr>
        <p:txBody>
          <a:bodyPr/>
          <a:lstStyle/>
          <a:p>
            <a:fld id="{591A223C-FA10-BC46-A853-03BA373D023C}" type="slidenum">
              <a:rPr lang="en-US" smtClean="0"/>
              <a:t>3</a:t>
            </a:fld>
            <a:endParaRPr lang="en-US"/>
          </a:p>
        </p:txBody>
      </p:sp>
    </p:spTree>
    <p:extLst>
      <p:ext uri="{BB962C8B-B14F-4D97-AF65-F5344CB8AC3E}">
        <p14:creationId xmlns:p14="http://schemas.microsoft.com/office/powerpoint/2010/main" val="3707775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E3200C6-DD54-0C4B-9D8B-4175D9E46E14}"/>
              </a:ext>
            </a:extLst>
          </p:cNvPr>
          <p:cNvSpPr>
            <a:spLocks noGrp="1"/>
          </p:cNvSpPr>
          <p:nvPr>
            <p:ph type="sldNum" sz="quarter" idx="12"/>
          </p:nvPr>
        </p:nvSpPr>
        <p:spPr/>
        <p:txBody>
          <a:bodyPr/>
          <a:lstStyle/>
          <a:p>
            <a:fld id="{591A223C-FA10-BC46-A853-03BA373D023C}" type="slidenum">
              <a:rPr lang="en-US" smtClean="0"/>
              <a:t>4</a:t>
            </a:fld>
            <a:endParaRPr lang="en-US"/>
          </a:p>
        </p:txBody>
      </p:sp>
      <p:sp>
        <p:nvSpPr>
          <p:cNvPr id="4" name="Title 3">
            <a:extLst>
              <a:ext uri="{FF2B5EF4-FFF2-40B4-BE49-F238E27FC236}">
                <a16:creationId xmlns:a16="http://schemas.microsoft.com/office/drawing/2014/main" id="{B1638B6F-6FD3-8345-B8A3-35FED1BB03A6}"/>
              </a:ext>
            </a:extLst>
          </p:cNvPr>
          <p:cNvSpPr>
            <a:spLocks noGrp="1"/>
          </p:cNvSpPr>
          <p:nvPr>
            <p:ph type="title"/>
          </p:nvPr>
        </p:nvSpPr>
        <p:spPr/>
        <p:txBody>
          <a:bodyPr/>
          <a:lstStyle/>
          <a:p>
            <a:r>
              <a:rPr lang="en-US" dirty="0"/>
              <a:t>Quantum mechanics</a:t>
            </a:r>
          </a:p>
        </p:txBody>
      </p:sp>
      <p:sp>
        <p:nvSpPr>
          <p:cNvPr id="2" name="TextBox 1">
            <a:extLst>
              <a:ext uri="{FF2B5EF4-FFF2-40B4-BE49-F238E27FC236}">
                <a16:creationId xmlns:a16="http://schemas.microsoft.com/office/drawing/2014/main" id="{0A622AC5-FB28-1A4D-9955-20B728B18E1C}"/>
              </a:ext>
            </a:extLst>
          </p:cNvPr>
          <p:cNvSpPr txBox="1"/>
          <p:nvPr/>
        </p:nvSpPr>
        <p:spPr>
          <a:xfrm>
            <a:off x="362539" y="6208988"/>
            <a:ext cx="11353814" cy="400110"/>
          </a:xfrm>
          <a:prstGeom prst="rect">
            <a:avLst/>
          </a:prstGeom>
          <a:noFill/>
        </p:spPr>
        <p:txBody>
          <a:bodyPr wrap="none" rtlCol="0">
            <a:spAutoFit/>
          </a:bodyPr>
          <a:lstStyle/>
          <a:p>
            <a:r>
              <a:rPr lang="en-ZA" sz="2000" dirty="0"/>
              <a:t>A branch of physics that deals with the properties of matter and energy at the atomic and subatomic levels.</a:t>
            </a:r>
            <a:endParaRPr lang="en-US" sz="2000" dirty="0"/>
          </a:p>
        </p:txBody>
      </p:sp>
      <p:sp>
        <p:nvSpPr>
          <p:cNvPr id="6" name="TextBox 5">
            <a:extLst>
              <a:ext uri="{FF2B5EF4-FFF2-40B4-BE49-F238E27FC236}">
                <a16:creationId xmlns:a16="http://schemas.microsoft.com/office/drawing/2014/main" id="{81EDCAFC-2124-D44D-AB27-351A3E7265B1}"/>
              </a:ext>
            </a:extLst>
          </p:cNvPr>
          <p:cNvSpPr txBox="1"/>
          <p:nvPr/>
        </p:nvSpPr>
        <p:spPr>
          <a:xfrm>
            <a:off x="464850" y="5711165"/>
            <a:ext cx="2079480" cy="400110"/>
          </a:xfrm>
          <a:prstGeom prst="rect">
            <a:avLst/>
          </a:prstGeom>
          <a:noFill/>
        </p:spPr>
        <p:txBody>
          <a:bodyPr wrap="none" rtlCol="0">
            <a:spAutoFit/>
          </a:bodyPr>
          <a:lstStyle/>
          <a:p>
            <a:r>
              <a:rPr lang="en-ZA" sz="2000" dirty="0"/>
              <a:t>quantum: amount</a:t>
            </a:r>
            <a:endParaRPr lang="en-US" sz="2000" dirty="0"/>
          </a:p>
        </p:txBody>
      </p:sp>
      <p:grpSp>
        <p:nvGrpSpPr>
          <p:cNvPr id="9" name="Group 8">
            <a:extLst>
              <a:ext uri="{FF2B5EF4-FFF2-40B4-BE49-F238E27FC236}">
                <a16:creationId xmlns:a16="http://schemas.microsoft.com/office/drawing/2014/main" id="{4EAD3E89-A5A8-474F-A81F-52855738EF7E}"/>
              </a:ext>
            </a:extLst>
          </p:cNvPr>
          <p:cNvGrpSpPr>
            <a:grpSpLocks noChangeAspect="1"/>
          </p:cNvGrpSpPr>
          <p:nvPr/>
        </p:nvGrpSpPr>
        <p:grpSpPr>
          <a:xfrm>
            <a:off x="1268872" y="928688"/>
            <a:ext cx="8896465" cy="4556594"/>
            <a:chOff x="602293" y="6808667"/>
            <a:chExt cx="4900536" cy="2509958"/>
          </a:xfrm>
        </p:grpSpPr>
        <p:sp>
          <p:nvSpPr>
            <p:cNvPr id="10" name="Rounded Rectangle 9">
              <a:extLst>
                <a:ext uri="{FF2B5EF4-FFF2-40B4-BE49-F238E27FC236}">
                  <a16:creationId xmlns:a16="http://schemas.microsoft.com/office/drawing/2014/main" id="{A7574FBB-7363-B74A-A6E8-31ADE12CAAC8}"/>
                </a:ext>
              </a:extLst>
            </p:cNvPr>
            <p:cNvSpPr/>
            <p:nvPr/>
          </p:nvSpPr>
          <p:spPr>
            <a:xfrm>
              <a:off x="1224578" y="7192114"/>
              <a:ext cx="1998921" cy="999460"/>
            </a:xfrm>
            <a:prstGeom prst="roundRect">
              <a:avLst/>
            </a:prstGeom>
            <a:solidFill>
              <a:schemeClr val="accent6">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11" name="Rounded Rectangle 10">
              <a:extLst>
                <a:ext uri="{FF2B5EF4-FFF2-40B4-BE49-F238E27FC236}">
                  <a16:creationId xmlns:a16="http://schemas.microsoft.com/office/drawing/2014/main" id="{D1295CC1-1FC8-DF4C-81B4-579EE18DBC8A}"/>
                </a:ext>
              </a:extLst>
            </p:cNvPr>
            <p:cNvSpPr/>
            <p:nvPr/>
          </p:nvSpPr>
          <p:spPr>
            <a:xfrm>
              <a:off x="3497286" y="7192114"/>
              <a:ext cx="1998921" cy="999460"/>
            </a:xfrm>
            <a:prstGeom prst="roundRect">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 name="Rounded Rectangle 11">
              <a:extLst>
                <a:ext uri="{FF2B5EF4-FFF2-40B4-BE49-F238E27FC236}">
                  <a16:creationId xmlns:a16="http://schemas.microsoft.com/office/drawing/2014/main" id="{1FE37566-B247-7F47-85D7-F1B9A6BF2097}"/>
                </a:ext>
              </a:extLst>
            </p:cNvPr>
            <p:cNvSpPr/>
            <p:nvPr/>
          </p:nvSpPr>
          <p:spPr>
            <a:xfrm>
              <a:off x="1224578" y="8319165"/>
              <a:ext cx="1998921" cy="999460"/>
            </a:xfrm>
            <a:prstGeom prst="roundRect">
              <a:avLst/>
            </a:prstGeom>
            <a:solidFill>
              <a:schemeClr val="accent4">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3" name="Rounded Rectangle 12">
              <a:extLst>
                <a:ext uri="{FF2B5EF4-FFF2-40B4-BE49-F238E27FC236}">
                  <a16:creationId xmlns:a16="http://schemas.microsoft.com/office/drawing/2014/main" id="{171311A9-355C-EA49-9963-681333CC8F65}"/>
                </a:ext>
              </a:extLst>
            </p:cNvPr>
            <p:cNvSpPr/>
            <p:nvPr/>
          </p:nvSpPr>
          <p:spPr>
            <a:xfrm>
              <a:off x="3497286" y="8319165"/>
              <a:ext cx="1998921" cy="999460"/>
            </a:xfrm>
            <a:prstGeom prst="round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 name="TextBox 13">
              <a:extLst>
                <a:ext uri="{FF2B5EF4-FFF2-40B4-BE49-F238E27FC236}">
                  <a16:creationId xmlns:a16="http://schemas.microsoft.com/office/drawing/2014/main" id="{5A1F5B6F-9E70-CB4A-9F1F-0FF23DB1F830}"/>
                </a:ext>
              </a:extLst>
            </p:cNvPr>
            <p:cNvSpPr txBox="1"/>
            <p:nvPr/>
          </p:nvSpPr>
          <p:spPr>
            <a:xfrm>
              <a:off x="1224577" y="7190691"/>
              <a:ext cx="1998921" cy="220397"/>
            </a:xfrm>
            <a:prstGeom prst="rect">
              <a:avLst/>
            </a:prstGeom>
            <a:noFill/>
          </p:spPr>
          <p:txBody>
            <a:bodyPr wrap="square" rtlCol="0">
              <a:spAutoFit/>
            </a:bodyPr>
            <a:lstStyle/>
            <a:p>
              <a:pPr algn="ctr"/>
              <a:r>
                <a:rPr lang="en-US" sz="2000" dirty="0"/>
                <a:t>Classical Mechanics</a:t>
              </a:r>
            </a:p>
          </p:txBody>
        </p:sp>
        <p:sp>
          <p:nvSpPr>
            <p:cNvPr id="15" name="TextBox 14">
              <a:extLst>
                <a:ext uri="{FF2B5EF4-FFF2-40B4-BE49-F238E27FC236}">
                  <a16:creationId xmlns:a16="http://schemas.microsoft.com/office/drawing/2014/main" id="{79448633-886F-0B4B-B252-20049B76A2F5}"/>
                </a:ext>
              </a:extLst>
            </p:cNvPr>
            <p:cNvSpPr txBox="1"/>
            <p:nvPr/>
          </p:nvSpPr>
          <p:spPr>
            <a:xfrm>
              <a:off x="3497285" y="7192807"/>
              <a:ext cx="1998921" cy="220397"/>
            </a:xfrm>
            <a:prstGeom prst="rect">
              <a:avLst/>
            </a:prstGeom>
            <a:noFill/>
          </p:spPr>
          <p:txBody>
            <a:bodyPr wrap="square" rtlCol="0">
              <a:spAutoFit/>
            </a:bodyPr>
            <a:lstStyle/>
            <a:p>
              <a:pPr algn="ctr"/>
              <a:r>
                <a:rPr lang="en-US" sz="2000" dirty="0"/>
                <a:t>Relativistic Mechanics</a:t>
              </a:r>
            </a:p>
          </p:txBody>
        </p:sp>
        <p:sp>
          <p:nvSpPr>
            <p:cNvPr id="16" name="TextBox 15">
              <a:extLst>
                <a:ext uri="{FF2B5EF4-FFF2-40B4-BE49-F238E27FC236}">
                  <a16:creationId xmlns:a16="http://schemas.microsoft.com/office/drawing/2014/main" id="{CF41FF2A-1C17-804B-A2D7-230A78FCCCEB}"/>
                </a:ext>
              </a:extLst>
            </p:cNvPr>
            <p:cNvSpPr txBox="1"/>
            <p:nvPr/>
          </p:nvSpPr>
          <p:spPr>
            <a:xfrm>
              <a:off x="1224577" y="8317386"/>
              <a:ext cx="1998921" cy="220397"/>
            </a:xfrm>
            <a:prstGeom prst="rect">
              <a:avLst/>
            </a:prstGeom>
            <a:noFill/>
          </p:spPr>
          <p:txBody>
            <a:bodyPr wrap="square" rtlCol="0">
              <a:spAutoFit/>
            </a:bodyPr>
            <a:lstStyle/>
            <a:p>
              <a:pPr algn="ctr"/>
              <a:r>
                <a:rPr lang="en-US" sz="2000" dirty="0"/>
                <a:t>Quantum Mechanics</a:t>
              </a:r>
            </a:p>
          </p:txBody>
        </p:sp>
        <p:sp>
          <p:nvSpPr>
            <p:cNvPr id="17" name="TextBox 16">
              <a:extLst>
                <a:ext uri="{FF2B5EF4-FFF2-40B4-BE49-F238E27FC236}">
                  <a16:creationId xmlns:a16="http://schemas.microsoft.com/office/drawing/2014/main" id="{DEE2542F-BEC7-744E-9D0D-4E4793C8FFB5}"/>
                </a:ext>
              </a:extLst>
            </p:cNvPr>
            <p:cNvSpPr txBox="1"/>
            <p:nvPr/>
          </p:nvSpPr>
          <p:spPr>
            <a:xfrm>
              <a:off x="3497286" y="8317386"/>
              <a:ext cx="1998920" cy="220397"/>
            </a:xfrm>
            <a:prstGeom prst="rect">
              <a:avLst/>
            </a:prstGeom>
            <a:noFill/>
          </p:spPr>
          <p:txBody>
            <a:bodyPr wrap="square" rtlCol="0">
              <a:spAutoFit/>
            </a:bodyPr>
            <a:lstStyle/>
            <a:p>
              <a:pPr algn="ctr"/>
              <a:r>
                <a:rPr lang="en-US" sz="2000" dirty="0"/>
                <a:t>Quantum Field Theory</a:t>
              </a:r>
            </a:p>
          </p:txBody>
        </p:sp>
        <p:pic>
          <p:nvPicPr>
            <p:cNvPr id="18" name="Picture 17">
              <a:extLst>
                <a:ext uri="{FF2B5EF4-FFF2-40B4-BE49-F238E27FC236}">
                  <a16:creationId xmlns:a16="http://schemas.microsoft.com/office/drawing/2014/main" id="{12C742F2-F7DF-8845-A6A7-2908C36BFA01}"/>
                </a:ext>
              </a:extLst>
            </p:cNvPr>
            <p:cNvPicPr>
              <a:picLocks noChangeAspect="1"/>
            </p:cNvPicPr>
            <p:nvPr/>
          </p:nvPicPr>
          <p:blipFill>
            <a:blip r:embed="rId3"/>
            <a:stretch>
              <a:fillRect/>
            </a:stretch>
          </p:blipFill>
          <p:spPr>
            <a:xfrm>
              <a:off x="1852176" y="7605347"/>
              <a:ext cx="715943" cy="637075"/>
            </a:xfrm>
            <a:prstGeom prst="rect">
              <a:avLst/>
            </a:prstGeom>
          </p:spPr>
        </p:pic>
        <p:pic>
          <p:nvPicPr>
            <p:cNvPr id="19" name="Picture 18">
              <a:extLst>
                <a:ext uri="{FF2B5EF4-FFF2-40B4-BE49-F238E27FC236}">
                  <a16:creationId xmlns:a16="http://schemas.microsoft.com/office/drawing/2014/main" id="{6E8C58CC-152D-3B43-84FA-B8786E509A8C}"/>
                </a:ext>
              </a:extLst>
            </p:cNvPr>
            <p:cNvPicPr>
              <a:picLocks noChangeAspect="1"/>
            </p:cNvPicPr>
            <p:nvPr/>
          </p:nvPicPr>
          <p:blipFill>
            <a:blip r:embed="rId4"/>
            <a:stretch>
              <a:fillRect/>
            </a:stretch>
          </p:blipFill>
          <p:spPr>
            <a:xfrm rot="1347876">
              <a:off x="4130086" y="7518355"/>
              <a:ext cx="672726" cy="672726"/>
            </a:xfrm>
            <a:prstGeom prst="rect">
              <a:avLst/>
            </a:prstGeom>
          </p:spPr>
        </p:pic>
        <p:pic>
          <p:nvPicPr>
            <p:cNvPr id="20" name="Picture 19">
              <a:extLst>
                <a:ext uri="{FF2B5EF4-FFF2-40B4-BE49-F238E27FC236}">
                  <a16:creationId xmlns:a16="http://schemas.microsoft.com/office/drawing/2014/main" id="{7DDD79AC-2B34-AC48-A26B-0815EA1CEB8D}"/>
                </a:ext>
              </a:extLst>
            </p:cNvPr>
            <p:cNvPicPr>
              <a:picLocks noChangeAspect="1"/>
            </p:cNvPicPr>
            <p:nvPr/>
          </p:nvPicPr>
          <p:blipFill>
            <a:blip r:embed="rId5"/>
            <a:stretch>
              <a:fillRect/>
            </a:stretch>
          </p:blipFill>
          <p:spPr>
            <a:xfrm>
              <a:off x="3912062" y="8699092"/>
              <a:ext cx="1178020" cy="596233"/>
            </a:xfrm>
            <a:prstGeom prst="rect">
              <a:avLst/>
            </a:prstGeom>
          </p:spPr>
        </p:pic>
        <p:grpSp>
          <p:nvGrpSpPr>
            <p:cNvPr id="21" name="Group 20">
              <a:extLst>
                <a:ext uri="{FF2B5EF4-FFF2-40B4-BE49-F238E27FC236}">
                  <a16:creationId xmlns:a16="http://schemas.microsoft.com/office/drawing/2014/main" id="{787BE91E-2380-F34A-9982-7A9E3EA02F51}"/>
                </a:ext>
              </a:extLst>
            </p:cNvPr>
            <p:cNvGrpSpPr/>
            <p:nvPr/>
          </p:nvGrpSpPr>
          <p:grpSpPr>
            <a:xfrm>
              <a:off x="1908736" y="8728075"/>
              <a:ext cx="617807" cy="567250"/>
              <a:chOff x="1347217" y="6523307"/>
              <a:chExt cx="630239" cy="612950"/>
            </a:xfrm>
          </p:grpSpPr>
          <p:sp>
            <p:nvSpPr>
              <p:cNvPr id="32" name="Oval 31">
                <a:extLst>
                  <a:ext uri="{FF2B5EF4-FFF2-40B4-BE49-F238E27FC236}">
                    <a16:creationId xmlns:a16="http://schemas.microsoft.com/office/drawing/2014/main" id="{F93CABB9-B846-8D41-BA40-4C5FC05C6C4F}"/>
                  </a:ext>
                </a:extLst>
              </p:cNvPr>
              <p:cNvSpPr/>
              <p:nvPr/>
            </p:nvSpPr>
            <p:spPr>
              <a:xfrm rot="8770778">
                <a:off x="1347217" y="6726786"/>
                <a:ext cx="612950" cy="205991"/>
              </a:xfrm>
              <a:prstGeom prst="ellipse">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3" name="Oval 32">
                <a:extLst>
                  <a:ext uri="{FF2B5EF4-FFF2-40B4-BE49-F238E27FC236}">
                    <a16:creationId xmlns:a16="http://schemas.microsoft.com/office/drawing/2014/main" id="{31ADDC44-1147-FB4E-8073-EA5615D23FEF}"/>
                  </a:ext>
                </a:extLst>
              </p:cNvPr>
              <p:cNvSpPr/>
              <p:nvPr/>
            </p:nvSpPr>
            <p:spPr>
              <a:xfrm>
                <a:off x="1606891" y="6780178"/>
                <a:ext cx="93600" cy="9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4" name="Oval 33">
                <a:extLst>
                  <a:ext uri="{FF2B5EF4-FFF2-40B4-BE49-F238E27FC236}">
                    <a16:creationId xmlns:a16="http://schemas.microsoft.com/office/drawing/2014/main" id="{FB990307-D6CE-8143-93C5-E310F915EC3B}"/>
                  </a:ext>
                </a:extLst>
              </p:cNvPr>
              <p:cNvSpPr/>
              <p:nvPr/>
            </p:nvSpPr>
            <p:spPr>
              <a:xfrm>
                <a:off x="1439583" y="6990807"/>
                <a:ext cx="54000" cy="54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5" name="Oval 34">
                <a:extLst>
                  <a:ext uri="{FF2B5EF4-FFF2-40B4-BE49-F238E27FC236}">
                    <a16:creationId xmlns:a16="http://schemas.microsoft.com/office/drawing/2014/main" id="{A2928AD0-7020-C847-9C92-9A5F62B369AF}"/>
                  </a:ext>
                </a:extLst>
              </p:cNvPr>
              <p:cNvSpPr/>
              <p:nvPr/>
            </p:nvSpPr>
            <p:spPr>
              <a:xfrm rot="5400000">
                <a:off x="1347216" y="6726786"/>
                <a:ext cx="612950" cy="205991"/>
              </a:xfrm>
              <a:prstGeom prst="ellipse">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6" name="Oval 35">
                <a:extLst>
                  <a:ext uri="{FF2B5EF4-FFF2-40B4-BE49-F238E27FC236}">
                    <a16:creationId xmlns:a16="http://schemas.microsoft.com/office/drawing/2014/main" id="{B707803B-7241-5146-B951-22D335DE8119}"/>
                  </a:ext>
                </a:extLst>
              </p:cNvPr>
              <p:cNvSpPr/>
              <p:nvPr/>
            </p:nvSpPr>
            <p:spPr>
              <a:xfrm rot="12829222" flipH="1">
                <a:off x="1364506" y="6726786"/>
                <a:ext cx="612950" cy="205991"/>
              </a:xfrm>
              <a:prstGeom prst="ellipse">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7" name="Oval 36">
                <a:extLst>
                  <a:ext uri="{FF2B5EF4-FFF2-40B4-BE49-F238E27FC236}">
                    <a16:creationId xmlns:a16="http://schemas.microsoft.com/office/drawing/2014/main" id="{0C6E490D-4863-5544-942A-93E7CF0C2FF6}"/>
                  </a:ext>
                </a:extLst>
              </p:cNvPr>
              <p:cNvSpPr/>
              <p:nvPr/>
            </p:nvSpPr>
            <p:spPr>
              <a:xfrm>
                <a:off x="1392223" y="6696225"/>
                <a:ext cx="54000" cy="54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8" name="Oval 37">
                <a:extLst>
                  <a:ext uri="{FF2B5EF4-FFF2-40B4-BE49-F238E27FC236}">
                    <a16:creationId xmlns:a16="http://schemas.microsoft.com/office/drawing/2014/main" id="{7655FFFD-96A2-CB47-9940-ADBABA2A80C6}"/>
                  </a:ext>
                </a:extLst>
              </p:cNvPr>
              <p:cNvSpPr/>
              <p:nvPr/>
            </p:nvSpPr>
            <p:spPr>
              <a:xfrm>
                <a:off x="1684332" y="6546632"/>
                <a:ext cx="54000" cy="54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p:cxnSp>
          <p:nvCxnSpPr>
            <p:cNvPr id="22" name="Straight Arrow Connector 21">
              <a:extLst>
                <a:ext uri="{FF2B5EF4-FFF2-40B4-BE49-F238E27FC236}">
                  <a16:creationId xmlns:a16="http://schemas.microsoft.com/office/drawing/2014/main" id="{11F649CB-EB78-5A4E-AC9E-BE7BE127020E}"/>
                </a:ext>
              </a:extLst>
            </p:cNvPr>
            <p:cNvCxnSpPr>
              <a:cxnSpLocks/>
            </p:cNvCxnSpPr>
            <p:nvPr/>
          </p:nvCxnSpPr>
          <p:spPr>
            <a:xfrm>
              <a:off x="1884093" y="6955866"/>
              <a:ext cx="26920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6E42D9A-1B22-604B-8394-5544AC00CABE}"/>
                </a:ext>
              </a:extLst>
            </p:cNvPr>
            <p:cNvCxnSpPr>
              <a:cxnSpLocks/>
            </p:cNvCxnSpPr>
            <p:nvPr/>
          </p:nvCxnSpPr>
          <p:spPr>
            <a:xfrm flipH="1">
              <a:off x="937994" y="7498346"/>
              <a:ext cx="1" cy="12669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53686BC-FBB0-D841-8E5F-87904A347799}"/>
                </a:ext>
              </a:extLst>
            </p:cNvPr>
            <p:cNvSpPr txBox="1"/>
            <p:nvPr/>
          </p:nvSpPr>
          <p:spPr>
            <a:xfrm>
              <a:off x="1245612" y="6817366"/>
              <a:ext cx="435495" cy="220397"/>
            </a:xfrm>
            <a:prstGeom prst="rect">
              <a:avLst/>
            </a:prstGeom>
            <a:noFill/>
          </p:spPr>
          <p:txBody>
            <a:bodyPr wrap="none" rtlCol="0">
              <a:spAutoFit/>
            </a:bodyPr>
            <a:lstStyle/>
            <a:p>
              <a:r>
                <a:rPr lang="en-US" sz="2000" i="1" dirty="0"/>
                <a:t>speed</a:t>
              </a:r>
            </a:p>
          </p:txBody>
        </p:sp>
        <p:sp>
          <p:nvSpPr>
            <p:cNvPr id="25" name="TextBox 24">
              <a:extLst>
                <a:ext uri="{FF2B5EF4-FFF2-40B4-BE49-F238E27FC236}">
                  <a16:creationId xmlns:a16="http://schemas.microsoft.com/office/drawing/2014/main" id="{9C8676F8-6CED-C547-AD28-6CBC9EBA420D}"/>
                </a:ext>
              </a:extLst>
            </p:cNvPr>
            <p:cNvSpPr txBox="1"/>
            <p:nvPr/>
          </p:nvSpPr>
          <p:spPr>
            <a:xfrm>
              <a:off x="732136" y="7095750"/>
              <a:ext cx="309862" cy="220397"/>
            </a:xfrm>
            <a:prstGeom prst="rect">
              <a:avLst/>
            </a:prstGeom>
            <a:noFill/>
          </p:spPr>
          <p:txBody>
            <a:bodyPr wrap="none" rtlCol="0">
              <a:spAutoFit/>
            </a:bodyPr>
            <a:lstStyle/>
            <a:p>
              <a:r>
                <a:rPr lang="en-US" sz="2000" i="1" dirty="0"/>
                <a:t>size</a:t>
              </a:r>
            </a:p>
          </p:txBody>
        </p:sp>
        <p:sp>
          <p:nvSpPr>
            <p:cNvPr id="26" name="TextBox 25">
              <a:extLst>
                <a:ext uri="{FF2B5EF4-FFF2-40B4-BE49-F238E27FC236}">
                  <a16:creationId xmlns:a16="http://schemas.microsoft.com/office/drawing/2014/main" id="{5A94F15E-7C18-7E41-95AB-3C41F1F2322D}"/>
                </a:ext>
              </a:extLst>
            </p:cNvPr>
            <p:cNvSpPr txBox="1"/>
            <p:nvPr/>
          </p:nvSpPr>
          <p:spPr>
            <a:xfrm>
              <a:off x="1224576" y="7361364"/>
              <a:ext cx="1998922" cy="220397"/>
            </a:xfrm>
            <a:prstGeom prst="rect">
              <a:avLst/>
            </a:prstGeom>
            <a:noFill/>
          </p:spPr>
          <p:txBody>
            <a:bodyPr wrap="square" rtlCol="0">
              <a:spAutoFit/>
            </a:bodyPr>
            <a:lstStyle/>
            <a:p>
              <a:pPr algn="ctr"/>
              <a:r>
                <a:rPr lang="en-ZA" sz="2000" dirty="0"/>
                <a:t>(everyday motion)</a:t>
              </a:r>
              <a:endParaRPr lang="en-US" sz="2000" dirty="0"/>
            </a:p>
          </p:txBody>
        </p:sp>
        <p:sp>
          <p:nvSpPr>
            <p:cNvPr id="27" name="TextBox 26">
              <a:extLst>
                <a:ext uri="{FF2B5EF4-FFF2-40B4-BE49-F238E27FC236}">
                  <a16:creationId xmlns:a16="http://schemas.microsoft.com/office/drawing/2014/main" id="{0C2CF5E6-54D3-1543-BFDA-AD22BD386DB3}"/>
                </a:ext>
              </a:extLst>
            </p:cNvPr>
            <p:cNvSpPr txBox="1"/>
            <p:nvPr/>
          </p:nvSpPr>
          <p:spPr>
            <a:xfrm>
              <a:off x="3468922" y="7362893"/>
              <a:ext cx="1998922" cy="220397"/>
            </a:xfrm>
            <a:prstGeom prst="rect">
              <a:avLst/>
            </a:prstGeom>
            <a:noFill/>
          </p:spPr>
          <p:txBody>
            <a:bodyPr wrap="square" rtlCol="0">
              <a:spAutoFit/>
            </a:bodyPr>
            <a:lstStyle/>
            <a:p>
              <a:pPr algn="ctr"/>
              <a:r>
                <a:rPr lang="en-ZA" sz="2000" dirty="0"/>
                <a:t>(high-speed motion)</a:t>
              </a:r>
              <a:endParaRPr lang="en-US" sz="2000" dirty="0"/>
            </a:p>
          </p:txBody>
        </p:sp>
        <p:sp>
          <p:nvSpPr>
            <p:cNvPr id="28" name="TextBox 27">
              <a:extLst>
                <a:ext uri="{FF2B5EF4-FFF2-40B4-BE49-F238E27FC236}">
                  <a16:creationId xmlns:a16="http://schemas.microsoft.com/office/drawing/2014/main" id="{3D743E50-5B23-C94A-9828-A8AFFB41CCA3}"/>
                </a:ext>
              </a:extLst>
            </p:cNvPr>
            <p:cNvSpPr txBox="1"/>
            <p:nvPr/>
          </p:nvSpPr>
          <p:spPr>
            <a:xfrm>
              <a:off x="1231198" y="8489252"/>
              <a:ext cx="1998922" cy="220397"/>
            </a:xfrm>
            <a:prstGeom prst="rect">
              <a:avLst/>
            </a:prstGeom>
            <a:noFill/>
          </p:spPr>
          <p:txBody>
            <a:bodyPr wrap="square" rtlCol="0">
              <a:spAutoFit/>
            </a:bodyPr>
            <a:lstStyle/>
            <a:p>
              <a:pPr algn="ctr"/>
              <a:r>
                <a:rPr lang="en-ZA" sz="2000" dirty="0"/>
                <a:t>(microscopic systems)</a:t>
              </a:r>
              <a:endParaRPr lang="en-US" sz="2000" dirty="0"/>
            </a:p>
          </p:txBody>
        </p:sp>
        <p:sp>
          <p:nvSpPr>
            <p:cNvPr id="29" name="TextBox 28">
              <a:extLst>
                <a:ext uri="{FF2B5EF4-FFF2-40B4-BE49-F238E27FC236}">
                  <a16:creationId xmlns:a16="http://schemas.microsoft.com/office/drawing/2014/main" id="{CEE8872E-247D-F140-A183-B79DE7681751}"/>
                </a:ext>
              </a:extLst>
            </p:cNvPr>
            <p:cNvSpPr txBox="1"/>
            <p:nvPr/>
          </p:nvSpPr>
          <p:spPr>
            <a:xfrm>
              <a:off x="3503907" y="8490925"/>
              <a:ext cx="1998922" cy="220397"/>
            </a:xfrm>
            <a:prstGeom prst="rect">
              <a:avLst/>
            </a:prstGeom>
            <a:noFill/>
          </p:spPr>
          <p:txBody>
            <a:bodyPr wrap="square" rtlCol="0">
              <a:spAutoFit/>
            </a:bodyPr>
            <a:lstStyle/>
            <a:p>
              <a:pPr algn="ctr"/>
              <a:r>
                <a:rPr lang="en-ZA" sz="2000" dirty="0"/>
                <a:t>(quantum fields)</a:t>
              </a:r>
              <a:endParaRPr lang="en-US" sz="2000" dirty="0"/>
            </a:p>
          </p:txBody>
        </p: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A766D7AE-6771-1C4C-9E4D-7ED16EA767F8}"/>
                    </a:ext>
                  </a:extLst>
                </p:cNvPr>
                <p:cNvSpPr/>
                <p:nvPr/>
              </p:nvSpPr>
              <p:spPr>
                <a:xfrm>
                  <a:off x="4621364" y="6808667"/>
                  <a:ext cx="793676" cy="2203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3</m:t>
                        </m:r>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ea typeface="Cambria Math" panose="02040503050406030204" pitchFamily="18" charset="0"/>
                              </a:rPr>
                              <m:t>8</m:t>
                            </m:r>
                          </m:sup>
                        </m:sSup>
                        <m:r>
                          <a:rPr lang="en-US" sz="2000" b="0" i="1" smtClean="0">
                            <a:latin typeface="Cambria Math" panose="02040503050406030204" pitchFamily="18" charset="0"/>
                            <a:ea typeface="Cambria Math" panose="02040503050406030204" pitchFamily="18" charset="0"/>
                          </a:rPr>
                          <m:t>𝑚</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𝑠</m:t>
                        </m:r>
                      </m:oMath>
                    </m:oMathPara>
                  </a14:m>
                  <a:endParaRPr lang="en-US" sz="2000" dirty="0"/>
                </a:p>
              </p:txBody>
            </p:sp>
          </mc:Choice>
          <mc:Fallback xmlns="">
            <p:sp>
              <p:nvSpPr>
                <p:cNvPr id="30" name="Rectangle 29">
                  <a:extLst>
                    <a:ext uri="{FF2B5EF4-FFF2-40B4-BE49-F238E27FC236}">
                      <a16:creationId xmlns:a16="http://schemas.microsoft.com/office/drawing/2014/main" id="{A766D7AE-6771-1C4C-9E4D-7ED16EA767F8}"/>
                    </a:ext>
                  </a:extLst>
                </p:cNvPr>
                <p:cNvSpPr>
                  <a:spLocks noRot="1" noChangeAspect="1" noMove="1" noResize="1" noEditPoints="1" noAdjustHandles="1" noChangeArrowheads="1" noChangeShapeType="1" noTextEdit="1"/>
                </p:cNvSpPr>
                <p:nvPr/>
              </p:nvSpPr>
              <p:spPr>
                <a:xfrm>
                  <a:off x="4621364" y="6808667"/>
                  <a:ext cx="793676" cy="220397"/>
                </a:xfrm>
                <a:prstGeom prst="rect">
                  <a:avLst/>
                </a:prstGeom>
                <a:blipFill>
                  <a:blip r:embed="rId6"/>
                  <a:stretch>
                    <a:fillRect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0679AC5A-5067-D149-8454-431A17649529}"/>
                    </a:ext>
                  </a:extLst>
                </p:cNvPr>
                <p:cNvSpPr/>
                <p:nvPr/>
              </p:nvSpPr>
              <p:spPr>
                <a:xfrm>
                  <a:off x="602293" y="8957725"/>
                  <a:ext cx="548837" cy="2203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ea typeface="Cambria Math" panose="02040503050406030204" pitchFamily="18" charset="0"/>
                              </a:rPr>
                              <m:t>−9</m:t>
                            </m:r>
                          </m:sup>
                        </m:sSup>
                        <m:r>
                          <a:rPr lang="en-US" sz="2000" b="0" i="1" smtClean="0">
                            <a:latin typeface="Cambria Math" panose="02040503050406030204" pitchFamily="18" charset="0"/>
                            <a:ea typeface="Cambria Math" panose="02040503050406030204" pitchFamily="18" charset="0"/>
                          </a:rPr>
                          <m:t>𝑚</m:t>
                        </m:r>
                      </m:oMath>
                    </m:oMathPara>
                  </a14:m>
                  <a:endParaRPr lang="en-US" sz="2000" dirty="0"/>
                </a:p>
              </p:txBody>
            </p:sp>
          </mc:Choice>
          <mc:Fallback xmlns="">
            <p:sp>
              <p:nvSpPr>
                <p:cNvPr id="31" name="Rectangle 30">
                  <a:extLst>
                    <a:ext uri="{FF2B5EF4-FFF2-40B4-BE49-F238E27FC236}">
                      <a16:creationId xmlns:a16="http://schemas.microsoft.com/office/drawing/2014/main" id="{0679AC5A-5067-D149-8454-431A17649529}"/>
                    </a:ext>
                  </a:extLst>
                </p:cNvPr>
                <p:cNvSpPr>
                  <a:spLocks noRot="1" noChangeAspect="1" noMove="1" noResize="1" noEditPoints="1" noAdjustHandles="1" noChangeArrowheads="1" noChangeShapeType="1" noTextEdit="1"/>
                </p:cNvSpPr>
                <p:nvPr/>
              </p:nvSpPr>
              <p:spPr>
                <a:xfrm>
                  <a:off x="602293" y="8957725"/>
                  <a:ext cx="548837" cy="220397"/>
                </a:xfrm>
                <a:prstGeom prst="rect">
                  <a:avLst/>
                </a:prstGeom>
                <a:blipFill>
                  <a:blip r:embed="rId7"/>
                  <a:stretch>
                    <a:fillRect/>
                  </a:stretch>
                </a:blipFill>
              </p:spPr>
              <p:txBody>
                <a:bodyPr/>
                <a:lstStyle/>
                <a:p>
                  <a:r>
                    <a:rPr lang="en-US">
                      <a:noFill/>
                    </a:rPr>
                    <a:t> </a:t>
                  </a:r>
                </a:p>
              </p:txBody>
            </p:sp>
          </mc:Fallback>
        </mc:AlternateContent>
      </p:grpSp>
      <p:pic>
        <p:nvPicPr>
          <p:cNvPr id="5" name="Picture 4">
            <a:extLst>
              <a:ext uri="{FF2B5EF4-FFF2-40B4-BE49-F238E27FC236}">
                <a16:creationId xmlns:a16="http://schemas.microsoft.com/office/drawing/2014/main" id="{D3065EF1-BFC0-0A47-9F93-677B01781683}"/>
              </a:ext>
            </a:extLst>
          </p:cNvPr>
          <p:cNvPicPr>
            <a:picLocks noChangeAspect="1"/>
          </p:cNvPicPr>
          <p:nvPr/>
        </p:nvPicPr>
        <p:blipFill>
          <a:blip r:embed="rId8"/>
          <a:stretch>
            <a:fillRect/>
          </a:stretch>
        </p:blipFill>
        <p:spPr>
          <a:xfrm>
            <a:off x="5260524" y="4608143"/>
            <a:ext cx="1026160" cy="974852"/>
          </a:xfrm>
          <a:prstGeom prst="rect">
            <a:avLst/>
          </a:prstGeom>
        </p:spPr>
      </p:pic>
    </p:spTree>
    <p:extLst>
      <p:ext uri="{BB962C8B-B14F-4D97-AF65-F5344CB8AC3E}">
        <p14:creationId xmlns:p14="http://schemas.microsoft.com/office/powerpoint/2010/main" val="361966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785EBC2E-81F0-564F-8FD1-8B3C6AE15BCB}"/>
              </a:ext>
            </a:extLst>
          </p:cNvPr>
          <p:cNvSpPr/>
          <p:nvPr/>
        </p:nvSpPr>
        <p:spPr>
          <a:xfrm rot="18477390">
            <a:off x="3716463" y="1568034"/>
            <a:ext cx="7015185" cy="6761096"/>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gradFill flip="none" rotWithShape="1">
            <a:gsLst>
              <a:gs pos="0">
                <a:schemeClr val="accent1">
                  <a:lumMod val="0"/>
                  <a:lumOff val="100000"/>
                </a:schemeClr>
              </a:gs>
              <a:gs pos="100000">
                <a:schemeClr val="accent1">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lide Number Placeholder 2">
            <a:extLst>
              <a:ext uri="{FF2B5EF4-FFF2-40B4-BE49-F238E27FC236}">
                <a16:creationId xmlns:a16="http://schemas.microsoft.com/office/drawing/2014/main" id="{4A0CE0E5-D8AD-1A4C-AD2B-A1A2CAF70D6F}"/>
              </a:ext>
            </a:extLst>
          </p:cNvPr>
          <p:cNvSpPr>
            <a:spLocks noGrp="1"/>
          </p:cNvSpPr>
          <p:nvPr>
            <p:ph type="sldNum" sz="quarter" idx="12"/>
          </p:nvPr>
        </p:nvSpPr>
        <p:spPr/>
        <p:txBody>
          <a:bodyPr/>
          <a:lstStyle/>
          <a:p>
            <a:fld id="{591A223C-FA10-BC46-A853-03BA373D023C}" type="slidenum">
              <a:rPr lang="en-US" smtClean="0"/>
              <a:t>5</a:t>
            </a:fld>
            <a:endParaRPr lang="en-US"/>
          </a:p>
        </p:txBody>
      </p:sp>
      <p:sp>
        <p:nvSpPr>
          <p:cNvPr id="2" name="Title 1">
            <a:extLst>
              <a:ext uri="{FF2B5EF4-FFF2-40B4-BE49-F238E27FC236}">
                <a16:creationId xmlns:a16="http://schemas.microsoft.com/office/drawing/2014/main" id="{177E66F1-93FB-BB41-8223-2844732E4300}"/>
              </a:ext>
            </a:extLst>
          </p:cNvPr>
          <p:cNvSpPr>
            <a:spLocks noGrp="1"/>
          </p:cNvSpPr>
          <p:nvPr>
            <p:ph type="title"/>
          </p:nvPr>
        </p:nvSpPr>
        <p:spPr/>
        <p:txBody>
          <a:bodyPr/>
          <a:lstStyle/>
          <a:p>
            <a:r>
              <a:rPr lang="en-ZA" dirty="0"/>
              <a:t>A brief history of quantum computing</a:t>
            </a:r>
            <a:endParaRPr lang="en-US" dirty="0"/>
          </a:p>
        </p:txBody>
      </p:sp>
      <p:sp>
        <p:nvSpPr>
          <p:cNvPr id="21" name="TextBox 20">
            <a:extLst>
              <a:ext uri="{FF2B5EF4-FFF2-40B4-BE49-F238E27FC236}">
                <a16:creationId xmlns:a16="http://schemas.microsoft.com/office/drawing/2014/main" id="{9E67A937-BA6F-9A4F-B77F-6869330D93EE}"/>
              </a:ext>
            </a:extLst>
          </p:cNvPr>
          <p:cNvSpPr txBox="1"/>
          <p:nvPr/>
        </p:nvSpPr>
        <p:spPr>
          <a:xfrm>
            <a:off x="843614" y="3500444"/>
            <a:ext cx="1410964" cy="430887"/>
          </a:xfrm>
          <a:prstGeom prst="rect">
            <a:avLst/>
          </a:prstGeom>
          <a:noFill/>
        </p:spPr>
        <p:txBody>
          <a:bodyPr wrap="none" rtlCol="0">
            <a:spAutoFit/>
          </a:bodyPr>
          <a:lstStyle/>
          <a:p>
            <a:r>
              <a:rPr lang="en-US" sz="2200" i="1" dirty="0"/>
              <a:t>early ideas</a:t>
            </a:r>
          </a:p>
        </p:txBody>
      </p:sp>
      <p:sp>
        <p:nvSpPr>
          <p:cNvPr id="28" name="Rectangle 27">
            <a:extLst>
              <a:ext uri="{FF2B5EF4-FFF2-40B4-BE49-F238E27FC236}">
                <a16:creationId xmlns:a16="http://schemas.microsoft.com/office/drawing/2014/main" id="{98B58812-3D44-0042-9A47-547B5FFFB332}"/>
              </a:ext>
            </a:extLst>
          </p:cNvPr>
          <p:cNvSpPr/>
          <p:nvPr/>
        </p:nvSpPr>
        <p:spPr>
          <a:xfrm>
            <a:off x="1364565" y="6222699"/>
            <a:ext cx="1390124" cy="677108"/>
          </a:xfrm>
          <a:prstGeom prst="rect">
            <a:avLst/>
          </a:prstGeom>
        </p:spPr>
        <p:txBody>
          <a:bodyPr wrap="none">
            <a:spAutoFit/>
          </a:bodyPr>
          <a:lstStyle/>
          <a:p>
            <a:pPr algn="ctr"/>
            <a:r>
              <a:rPr lang="en-US" sz="1900" dirty="0">
                <a:latin typeface="Comic Sans MS" panose="030F0902030302020204" pitchFamily="66" charset="0"/>
              </a:rPr>
              <a:t>Yuri </a:t>
            </a:r>
            <a:r>
              <a:rPr lang="en-US" sz="1900" dirty="0" err="1">
                <a:latin typeface="Comic Sans MS" panose="030F0902030302020204" pitchFamily="66" charset="0"/>
              </a:rPr>
              <a:t>Manin</a:t>
            </a:r>
            <a:endParaRPr lang="en-US" sz="1900" dirty="0">
              <a:latin typeface="Comic Sans MS" panose="030F0902030302020204" pitchFamily="66" charset="0"/>
            </a:endParaRPr>
          </a:p>
          <a:p>
            <a:pPr algn="ctr"/>
            <a:r>
              <a:rPr lang="en-US" sz="1900" dirty="0">
                <a:latin typeface="Comic Sans MS" panose="030F0902030302020204" pitchFamily="66" charset="0"/>
              </a:rPr>
              <a:t>(1980)</a:t>
            </a:r>
          </a:p>
        </p:txBody>
      </p:sp>
      <p:pic>
        <p:nvPicPr>
          <p:cNvPr id="6" name="Picture 5">
            <a:extLst>
              <a:ext uri="{FF2B5EF4-FFF2-40B4-BE49-F238E27FC236}">
                <a16:creationId xmlns:a16="http://schemas.microsoft.com/office/drawing/2014/main" id="{870377AA-0BC8-D543-8877-071C5DFF3639}"/>
              </a:ext>
            </a:extLst>
          </p:cNvPr>
          <p:cNvPicPr>
            <a:picLocks noChangeAspect="1"/>
          </p:cNvPicPr>
          <p:nvPr/>
        </p:nvPicPr>
        <p:blipFill>
          <a:blip r:embed="rId3"/>
          <a:stretch>
            <a:fillRect/>
          </a:stretch>
        </p:blipFill>
        <p:spPr>
          <a:xfrm>
            <a:off x="-77412" y="5293082"/>
            <a:ext cx="1648671" cy="1525546"/>
          </a:xfrm>
          <a:prstGeom prst="rect">
            <a:avLst/>
          </a:prstGeom>
        </p:spPr>
      </p:pic>
      <p:grpSp>
        <p:nvGrpSpPr>
          <p:cNvPr id="4" name="Group 3">
            <a:extLst>
              <a:ext uri="{FF2B5EF4-FFF2-40B4-BE49-F238E27FC236}">
                <a16:creationId xmlns:a16="http://schemas.microsoft.com/office/drawing/2014/main" id="{014F6D4A-4298-644D-80B5-0B824ACFC43D}"/>
              </a:ext>
            </a:extLst>
          </p:cNvPr>
          <p:cNvGrpSpPr/>
          <p:nvPr/>
        </p:nvGrpSpPr>
        <p:grpSpPr>
          <a:xfrm>
            <a:off x="1477201" y="4535952"/>
            <a:ext cx="2598402" cy="1931849"/>
            <a:chOff x="1477201" y="4535952"/>
            <a:chExt cx="2598402" cy="1931849"/>
          </a:xfrm>
        </p:grpSpPr>
        <p:sp>
          <p:nvSpPr>
            <p:cNvPr id="27" name="TextBox 26">
              <a:extLst>
                <a:ext uri="{FF2B5EF4-FFF2-40B4-BE49-F238E27FC236}">
                  <a16:creationId xmlns:a16="http://schemas.microsoft.com/office/drawing/2014/main" id="{7739E37F-FC20-0A41-BE14-C03D5D4A0285}"/>
                </a:ext>
              </a:extLst>
            </p:cNvPr>
            <p:cNvSpPr txBox="1"/>
            <p:nvPr/>
          </p:nvSpPr>
          <p:spPr>
            <a:xfrm>
              <a:off x="2513958" y="5790693"/>
              <a:ext cx="1561645" cy="677108"/>
            </a:xfrm>
            <a:prstGeom prst="rect">
              <a:avLst/>
            </a:prstGeom>
            <a:noFill/>
          </p:spPr>
          <p:txBody>
            <a:bodyPr wrap="none" rtlCol="0">
              <a:spAutoFit/>
            </a:bodyPr>
            <a:lstStyle/>
            <a:p>
              <a:pPr algn="ctr"/>
              <a:r>
                <a:rPr lang="en-US" sz="1900" dirty="0">
                  <a:latin typeface="Comic Sans MS" panose="030F0902030302020204" pitchFamily="66" charset="0"/>
                </a:rPr>
                <a:t>Paul Benioff</a:t>
              </a:r>
            </a:p>
            <a:p>
              <a:pPr algn="ctr"/>
              <a:r>
                <a:rPr lang="en-US" sz="1900" dirty="0">
                  <a:latin typeface="Comic Sans MS" panose="030F0902030302020204" pitchFamily="66" charset="0"/>
                </a:rPr>
                <a:t>(1980)</a:t>
              </a:r>
            </a:p>
          </p:txBody>
        </p:sp>
        <p:pic>
          <p:nvPicPr>
            <p:cNvPr id="12" name="Picture 11">
              <a:extLst>
                <a:ext uri="{FF2B5EF4-FFF2-40B4-BE49-F238E27FC236}">
                  <a16:creationId xmlns:a16="http://schemas.microsoft.com/office/drawing/2014/main" id="{D53DF617-EEF0-324D-832E-FBD93BCD586E}"/>
                </a:ext>
              </a:extLst>
            </p:cNvPr>
            <p:cNvPicPr>
              <a:picLocks noChangeAspect="1"/>
            </p:cNvPicPr>
            <p:nvPr/>
          </p:nvPicPr>
          <p:blipFill>
            <a:blip r:embed="rId4"/>
            <a:stretch>
              <a:fillRect/>
            </a:stretch>
          </p:blipFill>
          <p:spPr>
            <a:xfrm>
              <a:off x="1477201" y="4535952"/>
              <a:ext cx="1318481" cy="1530545"/>
            </a:xfrm>
            <a:prstGeom prst="rect">
              <a:avLst/>
            </a:prstGeom>
          </p:spPr>
        </p:pic>
      </p:grpSp>
      <p:grpSp>
        <p:nvGrpSpPr>
          <p:cNvPr id="5" name="Group 4">
            <a:extLst>
              <a:ext uri="{FF2B5EF4-FFF2-40B4-BE49-F238E27FC236}">
                <a16:creationId xmlns:a16="http://schemas.microsoft.com/office/drawing/2014/main" id="{1A25F22D-5B16-9E4B-AAE9-FE9266E13D33}"/>
              </a:ext>
            </a:extLst>
          </p:cNvPr>
          <p:cNvGrpSpPr/>
          <p:nvPr/>
        </p:nvGrpSpPr>
        <p:grpSpPr>
          <a:xfrm>
            <a:off x="2701624" y="3785327"/>
            <a:ext cx="3164478" cy="2250468"/>
            <a:chOff x="2701624" y="3785327"/>
            <a:chExt cx="3164478" cy="2250468"/>
          </a:xfrm>
        </p:grpSpPr>
        <p:sp>
          <p:nvSpPr>
            <p:cNvPr id="29" name="Rectangle 28">
              <a:extLst>
                <a:ext uri="{FF2B5EF4-FFF2-40B4-BE49-F238E27FC236}">
                  <a16:creationId xmlns:a16="http://schemas.microsoft.com/office/drawing/2014/main" id="{1917C64D-48EF-EF4A-A1C5-7AF06DA85AD8}"/>
                </a:ext>
              </a:extLst>
            </p:cNvPr>
            <p:cNvSpPr/>
            <p:nvPr/>
          </p:nvSpPr>
          <p:spPr>
            <a:xfrm>
              <a:off x="3757833" y="5358687"/>
              <a:ext cx="2108269" cy="677108"/>
            </a:xfrm>
            <a:prstGeom prst="rect">
              <a:avLst/>
            </a:prstGeom>
          </p:spPr>
          <p:txBody>
            <a:bodyPr wrap="none">
              <a:spAutoFit/>
            </a:bodyPr>
            <a:lstStyle/>
            <a:p>
              <a:pPr algn="ctr"/>
              <a:r>
                <a:rPr lang="en-US" sz="1900" dirty="0">
                  <a:latin typeface="Comic Sans MS" panose="030F0902030302020204" pitchFamily="66" charset="0"/>
                </a:rPr>
                <a:t>Richard Feynman</a:t>
              </a:r>
            </a:p>
            <a:p>
              <a:pPr algn="ctr"/>
              <a:r>
                <a:rPr lang="en-US" sz="1900" dirty="0">
                  <a:latin typeface="Comic Sans MS" panose="030F0902030302020204" pitchFamily="66" charset="0"/>
                </a:rPr>
                <a:t>(1982)</a:t>
              </a:r>
            </a:p>
          </p:txBody>
        </p:sp>
        <p:pic>
          <p:nvPicPr>
            <p:cNvPr id="43" name="Picture 42">
              <a:extLst>
                <a:ext uri="{FF2B5EF4-FFF2-40B4-BE49-F238E27FC236}">
                  <a16:creationId xmlns:a16="http://schemas.microsoft.com/office/drawing/2014/main" id="{A87F46CA-2FB0-1B4B-84AF-E5081EE68B82}"/>
                </a:ext>
              </a:extLst>
            </p:cNvPr>
            <p:cNvPicPr>
              <a:picLocks noChangeAspect="1"/>
            </p:cNvPicPr>
            <p:nvPr/>
          </p:nvPicPr>
          <p:blipFill>
            <a:blip r:embed="rId5"/>
            <a:stretch>
              <a:fillRect/>
            </a:stretch>
          </p:blipFill>
          <p:spPr>
            <a:xfrm>
              <a:off x="2701624" y="3785327"/>
              <a:ext cx="1373054" cy="1700496"/>
            </a:xfrm>
            <a:prstGeom prst="rect">
              <a:avLst/>
            </a:prstGeom>
          </p:spPr>
        </p:pic>
      </p:grpSp>
      <p:grpSp>
        <p:nvGrpSpPr>
          <p:cNvPr id="8" name="Group 7">
            <a:extLst>
              <a:ext uri="{FF2B5EF4-FFF2-40B4-BE49-F238E27FC236}">
                <a16:creationId xmlns:a16="http://schemas.microsoft.com/office/drawing/2014/main" id="{B14445F9-24E6-E74E-8120-C7DA8A1804DF}"/>
              </a:ext>
            </a:extLst>
          </p:cNvPr>
          <p:cNvGrpSpPr/>
          <p:nvPr/>
        </p:nvGrpSpPr>
        <p:grpSpPr>
          <a:xfrm>
            <a:off x="5142600" y="2577947"/>
            <a:ext cx="2592127" cy="2248828"/>
            <a:chOff x="5142600" y="2577947"/>
            <a:chExt cx="2592127" cy="2248828"/>
          </a:xfrm>
        </p:grpSpPr>
        <p:sp>
          <p:nvSpPr>
            <p:cNvPr id="31" name="Rectangle 30">
              <a:extLst>
                <a:ext uri="{FF2B5EF4-FFF2-40B4-BE49-F238E27FC236}">
                  <a16:creationId xmlns:a16="http://schemas.microsoft.com/office/drawing/2014/main" id="{39FDA1AF-6C70-DE48-8F40-B3878CFD2C69}"/>
                </a:ext>
              </a:extLst>
            </p:cNvPr>
            <p:cNvSpPr/>
            <p:nvPr/>
          </p:nvSpPr>
          <p:spPr>
            <a:xfrm>
              <a:off x="6298116" y="4149667"/>
              <a:ext cx="1436611" cy="677108"/>
            </a:xfrm>
            <a:prstGeom prst="rect">
              <a:avLst/>
            </a:prstGeom>
          </p:spPr>
          <p:txBody>
            <a:bodyPr wrap="none">
              <a:spAutoFit/>
            </a:bodyPr>
            <a:lstStyle/>
            <a:p>
              <a:pPr algn="ctr"/>
              <a:r>
                <a:rPr lang="en-US" sz="1900" dirty="0">
                  <a:latin typeface="Comic Sans MS" panose="030F0902030302020204" pitchFamily="66" charset="0"/>
                </a:rPr>
                <a:t>Peter Shor</a:t>
              </a:r>
            </a:p>
            <a:p>
              <a:pPr algn="ctr"/>
              <a:r>
                <a:rPr lang="en-US" sz="1900" dirty="0">
                  <a:latin typeface="Comic Sans MS" panose="030F0902030302020204" pitchFamily="66" charset="0"/>
                </a:rPr>
                <a:t>(1994)</a:t>
              </a:r>
            </a:p>
          </p:txBody>
        </p:sp>
        <p:pic>
          <p:nvPicPr>
            <p:cNvPr id="48" name="Picture 47">
              <a:extLst>
                <a:ext uri="{FF2B5EF4-FFF2-40B4-BE49-F238E27FC236}">
                  <a16:creationId xmlns:a16="http://schemas.microsoft.com/office/drawing/2014/main" id="{EBD4EE09-3595-E847-B447-C2D1AAC9D3F2}"/>
                </a:ext>
              </a:extLst>
            </p:cNvPr>
            <p:cNvPicPr>
              <a:picLocks noChangeAspect="1"/>
            </p:cNvPicPr>
            <p:nvPr/>
          </p:nvPicPr>
          <p:blipFill>
            <a:blip r:embed="rId6"/>
            <a:stretch>
              <a:fillRect/>
            </a:stretch>
          </p:blipFill>
          <p:spPr>
            <a:xfrm>
              <a:off x="5142600" y="2577947"/>
              <a:ext cx="1463738" cy="1787235"/>
            </a:xfrm>
            <a:prstGeom prst="rect">
              <a:avLst/>
            </a:prstGeom>
          </p:spPr>
        </p:pic>
      </p:grpSp>
      <p:grpSp>
        <p:nvGrpSpPr>
          <p:cNvPr id="9" name="Group 8">
            <a:extLst>
              <a:ext uri="{FF2B5EF4-FFF2-40B4-BE49-F238E27FC236}">
                <a16:creationId xmlns:a16="http://schemas.microsoft.com/office/drawing/2014/main" id="{53A9C3AA-5285-7743-B142-A61A3D276CFB}"/>
              </a:ext>
            </a:extLst>
          </p:cNvPr>
          <p:cNvGrpSpPr/>
          <p:nvPr/>
        </p:nvGrpSpPr>
        <p:grpSpPr>
          <a:xfrm>
            <a:off x="6512281" y="2007941"/>
            <a:ext cx="2244827" cy="2344203"/>
            <a:chOff x="6512281" y="2007941"/>
            <a:chExt cx="2244827" cy="2344203"/>
          </a:xfrm>
        </p:grpSpPr>
        <p:sp>
          <p:nvSpPr>
            <p:cNvPr id="32" name="Rectangle 31">
              <a:extLst>
                <a:ext uri="{FF2B5EF4-FFF2-40B4-BE49-F238E27FC236}">
                  <a16:creationId xmlns:a16="http://schemas.microsoft.com/office/drawing/2014/main" id="{369BE53E-C8CA-D64E-AF2C-C5CF06BFD25A}"/>
                </a:ext>
              </a:extLst>
            </p:cNvPr>
            <p:cNvSpPr/>
            <p:nvPr/>
          </p:nvSpPr>
          <p:spPr>
            <a:xfrm>
              <a:off x="7339733" y="3675036"/>
              <a:ext cx="1417375" cy="677108"/>
            </a:xfrm>
            <a:prstGeom prst="rect">
              <a:avLst/>
            </a:prstGeom>
          </p:spPr>
          <p:txBody>
            <a:bodyPr wrap="none">
              <a:spAutoFit/>
            </a:bodyPr>
            <a:lstStyle/>
            <a:p>
              <a:pPr algn="ctr"/>
              <a:r>
                <a:rPr lang="en-US" sz="1900" dirty="0" err="1">
                  <a:latin typeface="Comic Sans MS" panose="030F0902030302020204" pitchFamily="66" charset="0"/>
                </a:rPr>
                <a:t>Lov</a:t>
              </a:r>
              <a:r>
                <a:rPr lang="en-US" sz="1900" dirty="0">
                  <a:latin typeface="Comic Sans MS" panose="030F0902030302020204" pitchFamily="66" charset="0"/>
                </a:rPr>
                <a:t> Grover</a:t>
              </a:r>
            </a:p>
            <a:p>
              <a:pPr algn="ctr"/>
              <a:r>
                <a:rPr lang="en-US" sz="1900" dirty="0">
                  <a:latin typeface="Comic Sans MS" panose="030F0902030302020204" pitchFamily="66" charset="0"/>
                </a:rPr>
                <a:t>(1996)</a:t>
              </a:r>
            </a:p>
          </p:txBody>
        </p:sp>
        <p:pic>
          <p:nvPicPr>
            <p:cNvPr id="49" name="Picture 48">
              <a:extLst>
                <a:ext uri="{FF2B5EF4-FFF2-40B4-BE49-F238E27FC236}">
                  <a16:creationId xmlns:a16="http://schemas.microsoft.com/office/drawing/2014/main" id="{7E869586-E7B9-C749-A1BE-3F97575AEF34}"/>
                </a:ext>
              </a:extLst>
            </p:cNvPr>
            <p:cNvPicPr>
              <a:picLocks noChangeAspect="1"/>
            </p:cNvPicPr>
            <p:nvPr/>
          </p:nvPicPr>
          <p:blipFill>
            <a:blip r:embed="rId7"/>
            <a:stretch>
              <a:fillRect/>
            </a:stretch>
          </p:blipFill>
          <p:spPr>
            <a:xfrm>
              <a:off x="6512281" y="2007941"/>
              <a:ext cx="1333015" cy="1684931"/>
            </a:xfrm>
            <a:prstGeom prst="rect">
              <a:avLst/>
            </a:prstGeom>
          </p:spPr>
        </p:pic>
      </p:grpSp>
      <p:grpSp>
        <p:nvGrpSpPr>
          <p:cNvPr id="7" name="Group 6">
            <a:extLst>
              <a:ext uri="{FF2B5EF4-FFF2-40B4-BE49-F238E27FC236}">
                <a16:creationId xmlns:a16="http://schemas.microsoft.com/office/drawing/2014/main" id="{6291E7DA-726B-B848-9E5D-B23C2E22D425}"/>
              </a:ext>
            </a:extLst>
          </p:cNvPr>
          <p:cNvGrpSpPr/>
          <p:nvPr/>
        </p:nvGrpSpPr>
        <p:grpSpPr>
          <a:xfrm>
            <a:off x="3963429" y="1225610"/>
            <a:ext cx="2861280" cy="4223623"/>
            <a:chOff x="3963429" y="1225610"/>
            <a:chExt cx="2861280" cy="4223623"/>
          </a:xfrm>
        </p:grpSpPr>
        <p:sp>
          <p:nvSpPr>
            <p:cNvPr id="22" name="TextBox 21">
              <a:extLst>
                <a:ext uri="{FF2B5EF4-FFF2-40B4-BE49-F238E27FC236}">
                  <a16:creationId xmlns:a16="http://schemas.microsoft.com/office/drawing/2014/main" id="{E189AE4F-E04D-7A46-9EB8-DC450748E05A}"/>
                </a:ext>
              </a:extLst>
            </p:cNvPr>
            <p:cNvSpPr txBox="1"/>
            <p:nvPr/>
          </p:nvSpPr>
          <p:spPr>
            <a:xfrm>
              <a:off x="4753927" y="1432858"/>
              <a:ext cx="2062744" cy="430887"/>
            </a:xfrm>
            <a:prstGeom prst="rect">
              <a:avLst/>
            </a:prstGeom>
            <a:noFill/>
          </p:spPr>
          <p:txBody>
            <a:bodyPr wrap="none" rtlCol="0">
              <a:spAutoFit/>
            </a:bodyPr>
            <a:lstStyle/>
            <a:p>
              <a:r>
                <a:rPr lang="en-US" sz="2200" i="1" dirty="0"/>
                <a:t>theoretical</a:t>
              </a:r>
              <a:r>
                <a:rPr lang="en-US" sz="2200" dirty="0"/>
                <a:t> work</a:t>
              </a:r>
            </a:p>
          </p:txBody>
        </p:sp>
        <p:cxnSp>
          <p:nvCxnSpPr>
            <p:cNvPr id="24" name="Straight Connector 23">
              <a:extLst>
                <a:ext uri="{FF2B5EF4-FFF2-40B4-BE49-F238E27FC236}">
                  <a16:creationId xmlns:a16="http://schemas.microsoft.com/office/drawing/2014/main" id="{32847478-08D0-234D-9BCD-9CC97A9C520E}"/>
                </a:ext>
              </a:extLst>
            </p:cNvPr>
            <p:cNvCxnSpPr>
              <a:cxnSpLocks/>
            </p:cNvCxnSpPr>
            <p:nvPr/>
          </p:nvCxnSpPr>
          <p:spPr>
            <a:xfrm flipV="1">
              <a:off x="3963429" y="1225610"/>
              <a:ext cx="0" cy="2704674"/>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pic>
          <p:nvPicPr>
            <p:cNvPr id="42" name="Picture 41">
              <a:extLst>
                <a:ext uri="{FF2B5EF4-FFF2-40B4-BE49-F238E27FC236}">
                  <a16:creationId xmlns:a16="http://schemas.microsoft.com/office/drawing/2014/main" id="{57970470-C1F3-6C42-A2D7-20E172AEFB8E}"/>
                </a:ext>
              </a:extLst>
            </p:cNvPr>
            <p:cNvPicPr>
              <a:picLocks noChangeAspect="1"/>
            </p:cNvPicPr>
            <p:nvPr/>
          </p:nvPicPr>
          <p:blipFill>
            <a:blip r:embed="rId8"/>
            <a:stretch>
              <a:fillRect/>
            </a:stretch>
          </p:blipFill>
          <p:spPr>
            <a:xfrm>
              <a:off x="3980620" y="3506731"/>
              <a:ext cx="1256038" cy="1763477"/>
            </a:xfrm>
            <a:prstGeom prst="rect">
              <a:avLst/>
            </a:prstGeom>
          </p:spPr>
        </p:pic>
        <p:sp>
          <p:nvSpPr>
            <p:cNvPr id="50" name="Rectangle 49">
              <a:extLst>
                <a:ext uri="{FF2B5EF4-FFF2-40B4-BE49-F238E27FC236}">
                  <a16:creationId xmlns:a16="http://schemas.microsoft.com/office/drawing/2014/main" id="{E9760640-32C4-E243-A54D-A4DEC5DDA7BB}"/>
                </a:ext>
              </a:extLst>
            </p:cNvPr>
            <p:cNvSpPr/>
            <p:nvPr/>
          </p:nvSpPr>
          <p:spPr>
            <a:xfrm>
              <a:off x="5000172" y="4772125"/>
              <a:ext cx="1824537" cy="677108"/>
            </a:xfrm>
            <a:prstGeom prst="rect">
              <a:avLst/>
            </a:prstGeom>
          </p:spPr>
          <p:txBody>
            <a:bodyPr wrap="none">
              <a:spAutoFit/>
            </a:bodyPr>
            <a:lstStyle/>
            <a:p>
              <a:pPr algn="ctr"/>
              <a:r>
                <a:rPr lang="en-US" sz="1900" dirty="0">
                  <a:latin typeface="Comic Sans MS" panose="030F0902030302020204" pitchFamily="66" charset="0"/>
                </a:rPr>
                <a:t>David Deutsch</a:t>
              </a:r>
            </a:p>
            <a:p>
              <a:pPr algn="ctr"/>
              <a:r>
                <a:rPr lang="en-US" sz="1900" dirty="0">
                  <a:latin typeface="Comic Sans MS" panose="030F0902030302020204" pitchFamily="66" charset="0"/>
                </a:rPr>
                <a:t>(1985)</a:t>
              </a:r>
            </a:p>
          </p:txBody>
        </p:sp>
      </p:grpSp>
      <p:grpSp>
        <p:nvGrpSpPr>
          <p:cNvPr id="10" name="Group 9">
            <a:extLst>
              <a:ext uri="{FF2B5EF4-FFF2-40B4-BE49-F238E27FC236}">
                <a16:creationId xmlns:a16="http://schemas.microsoft.com/office/drawing/2014/main" id="{53DB2D26-84C7-1F4A-8646-91B951AE3E64}"/>
              </a:ext>
            </a:extLst>
          </p:cNvPr>
          <p:cNvGrpSpPr/>
          <p:nvPr/>
        </p:nvGrpSpPr>
        <p:grpSpPr>
          <a:xfrm>
            <a:off x="8039251" y="566869"/>
            <a:ext cx="2307177" cy="3351549"/>
            <a:chOff x="8039251" y="566869"/>
            <a:chExt cx="2307177" cy="3351549"/>
          </a:xfrm>
        </p:grpSpPr>
        <p:cxnSp>
          <p:nvCxnSpPr>
            <p:cNvPr id="26" name="Straight Connector 25">
              <a:extLst>
                <a:ext uri="{FF2B5EF4-FFF2-40B4-BE49-F238E27FC236}">
                  <a16:creationId xmlns:a16="http://schemas.microsoft.com/office/drawing/2014/main" id="{9A457021-1A27-B645-B747-8BE41199AA21}"/>
                </a:ext>
              </a:extLst>
            </p:cNvPr>
            <p:cNvCxnSpPr>
              <a:cxnSpLocks/>
            </p:cNvCxnSpPr>
            <p:nvPr/>
          </p:nvCxnSpPr>
          <p:spPr>
            <a:xfrm flipV="1">
              <a:off x="8039251" y="875190"/>
              <a:ext cx="0" cy="2704674"/>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089E0804-9826-9D4C-99A2-CB1102EE69CD}"/>
                </a:ext>
              </a:extLst>
            </p:cNvPr>
            <p:cNvSpPr txBox="1"/>
            <p:nvPr/>
          </p:nvSpPr>
          <p:spPr>
            <a:xfrm>
              <a:off x="8368510" y="566869"/>
              <a:ext cx="1786643" cy="430887"/>
            </a:xfrm>
            <a:prstGeom prst="rect">
              <a:avLst/>
            </a:prstGeom>
            <a:noFill/>
          </p:spPr>
          <p:txBody>
            <a:bodyPr wrap="none" rtlCol="0">
              <a:spAutoFit/>
            </a:bodyPr>
            <a:lstStyle/>
            <a:p>
              <a:r>
                <a:rPr lang="en-US" sz="2200" dirty="0"/>
                <a:t>first hardware</a:t>
              </a:r>
            </a:p>
          </p:txBody>
        </p:sp>
        <p:sp>
          <p:nvSpPr>
            <p:cNvPr id="33" name="Rectangle 32">
              <a:extLst>
                <a:ext uri="{FF2B5EF4-FFF2-40B4-BE49-F238E27FC236}">
                  <a16:creationId xmlns:a16="http://schemas.microsoft.com/office/drawing/2014/main" id="{4EFF4F85-AFBF-D44D-BD55-22AA87F8D461}"/>
                </a:ext>
              </a:extLst>
            </p:cNvPr>
            <p:cNvSpPr/>
            <p:nvPr/>
          </p:nvSpPr>
          <p:spPr>
            <a:xfrm>
              <a:off x="8727075" y="3241310"/>
              <a:ext cx="1619353" cy="677108"/>
            </a:xfrm>
            <a:prstGeom prst="rect">
              <a:avLst/>
            </a:prstGeom>
          </p:spPr>
          <p:txBody>
            <a:bodyPr wrap="none">
              <a:spAutoFit/>
            </a:bodyPr>
            <a:lstStyle/>
            <a:p>
              <a:pPr algn="ctr"/>
              <a:r>
                <a:rPr lang="en-US" sz="1900" dirty="0">
                  <a:latin typeface="Comic Sans MS" panose="030F0902030302020204" pitchFamily="66" charset="0"/>
                </a:rPr>
                <a:t>D-Wave One</a:t>
              </a:r>
            </a:p>
            <a:p>
              <a:pPr algn="ctr"/>
              <a:r>
                <a:rPr lang="en-US" sz="1900" dirty="0">
                  <a:latin typeface="Comic Sans MS" panose="030F0902030302020204" pitchFamily="66" charset="0"/>
                </a:rPr>
                <a:t>(2011)</a:t>
              </a:r>
            </a:p>
          </p:txBody>
        </p:sp>
        <p:pic>
          <p:nvPicPr>
            <p:cNvPr id="53" name="Picture 52">
              <a:extLst>
                <a:ext uri="{FF2B5EF4-FFF2-40B4-BE49-F238E27FC236}">
                  <a16:creationId xmlns:a16="http://schemas.microsoft.com/office/drawing/2014/main" id="{93BFA332-4E15-B046-A102-40CD4F7689ED}"/>
                </a:ext>
              </a:extLst>
            </p:cNvPr>
            <p:cNvPicPr>
              <a:picLocks noChangeAspect="1"/>
            </p:cNvPicPr>
            <p:nvPr/>
          </p:nvPicPr>
          <p:blipFill>
            <a:blip r:embed="rId9"/>
            <a:stretch>
              <a:fillRect/>
            </a:stretch>
          </p:blipFill>
          <p:spPr>
            <a:xfrm>
              <a:off x="8351994" y="1276691"/>
              <a:ext cx="1943782" cy="1943782"/>
            </a:xfrm>
            <a:prstGeom prst="rect">
              <a:avLst/>
            </a:prstGeom>
          </p:spPr>
        </p:pic>
      </p:grpSp>
      <p:grpSp>
        <p:nvGrpSpPr>
          <p:cNvPr id="11" name="Group 10">
            <a:extLst>
              <a:ext uri="{FF2B5EF4-FFF2-40B4-BE49-F238E27FC236}">
                <a16:creationId xmlns:a16="http://schemas.microsoft.com/office/drawing/2014/main" id="{19C81854-0929-5242-A27B-A479B7103AAE}"/>
              </a:ext>
            </a:extLst>
          </p:cNvPr>
          <p:cNvGrpSpPr/>
          <p:nvPr/>
        </p:nvGrpSpPr>
        <p:grpSpPr>
          <a:xfrm>
            <a:off x="10629086" y="496366"/>
            <a:ext cx="1309778" cy="2900345"/>
            <a:chOff x="10629086" y="496366"/>
            <a:chExt cx="1309778" cy="2900345"/>
          </a:xfrm>
        </p:grpSpPr>
        <p:sp>
          <p:nvSpPr>
            <p:cNvPr id="34" name="Rectangle 33">
              <a:extLst>
                <a:ext uri="{FF2B5EF4-FFF2-40B4-BE49-F238E27FC236}">
                  <a16:creationId xmlns:a16="http://schemas.microsoft.com/office/drawing/2014/main" id="{1A022EEA-B164-5A42-94DB-F38AA0E2D0E8}"/>
                </a:ext>
              </a:extLst>
            </p:cNvPr>
            <p:cNvSpPr/>
            <p:nvPr/>
          </p:nvSpPr>
          <p:spPr>
            <a:xfrm>
              <a:off x="10927274" y="2719603"/>
              <a:ext cx="936474" cy="677108"/>
            </a:xfrm>
            <a:prstGeom prst="rect">
              <a:avLst/>
            </a:prstGeom>
          </p:spPr>
          <p:txBody>
            <a:bodyPr wrap="none">
              <a:spAutoFit/>
            </a:bodyPr>
            <a:lstStyle/>
            <a:p>
              <a:pPr algn="ctr"/>
              <a:r>
                <a:rPr lang="en-US" sz="1900" dirty="0">
                  <a:latin typeface="Comic Sans MS" panose="030F0902030302020204" pitchFamily="66" charset="0"/>
                </a:rPr>
                <a:t>Google</a:t>
              </a:r>
            </a:p>
            <a:p>
              <a:pPr algn="ctr"/>
              <a:r>
                <a:rPr lang="en-US" sz="1900" dirty="0">
                  <a:latin typeface="Comic Sans MS" panose="030F0902030302020204" pitchFamily="66" charset="0"/>
                </a:rPr>
                <a:t>(2019)</a:t>
              </a:r>
            </a:p>
          </p:txBody>
        </p:sp>
        <p:pic>
          <p:nvPicPr>
            <p:cNvPr id="54" name="Picture 53">
              <a:extLst>
                <a:ext uri="{FF2B5EF4-FFF2-40B4-BE49-F238E27FC236}">
                  <a16:creationId xmlns:a16="http://schemas.microsoft.com/office/drawing/2014/main" id="{66BD18CE-6470-5944-99B7-30AE125548E8}"/>
                </a:ext>
              </a:extLst>
            </p:cNvPr>
            <p:cNvPicPr>
              <a:picLocks noChangeAspect="1"/>
            </p:cNvPicPr>
            <p:nvPr/>
          </p:nvPicPr>
          <p:blipFill>
            <a:blip r:embed="rId10"/>
            <a:stretch>
              <a:fillRect/>
            </a:stretch>
          </p:blipFill>
          <p:spPr>
            <a:xfrm>
              <a:off x="10629086" y="496366"/>
              <a:ext cx="1309778" cy="2235953"/>
            </a:xfrm>
            <a:prstGeom prst="rect">
              <a:avLst/>
            </a:prstGeom>
          </p:spPr>
        </p:pic>
      </p:grpSp>
    </p:spTree>
    <p:extLst>
      <p:ext uri="{BB962C8B-B14F-4D97-AF65-F5344CB8AC3E}">
        <p14:creationId xmlns:p14="http://schemas.microsoft.com/office/powerpoint/2010/main" val="2046973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dissolv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dissolv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dissolve">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C187359-4E55-0D4B-AAA1-572350EE95A3}"/>
              </a:ext>
            </a:extLst>
          </p:cNvPr>
          <p:cNvPicPr>
            <a:picLocks noChangeAspect="1"/>
          </p:cNvPicPr>
          <p:nvPr/>
        </p:nvPicPr>
        <p:blipFill>
          <a:blip r:embed="rId3"/>
          <a:stretch>
            <a:fillRect/>
          </a:stretch>
        </p:blipFill>
        <p:spPr>
          <a:xfrm>
            <a:off x="481967" y="3315129"/>
            <a:ext cx="2213477" cy="2503996"/>
          </a:xfrm>
          <a:prstGeom prst="rect">
            <a:avLst/>
          </a:prstGeom>
        </p:spPr>
      </p:pic>
      <p:pic>
        <p:nvPicPr>
          <p:cNvPr id="18" name="Picture 17">
            <a:extLst>
              <a:ext uri="{FF2B5EF4-FFF2-40B4-BE49-F238E27FC236}">
                <a16:creationId xmlns:a16="http://schemas.microsoft.com/office/drawing/2014/main" id="{CDACDC06-C0AF-1F47-8B79-1EF6D20E310F}"/>
              </a:ext>
            </a:extLst>
          </p:cNvPr>
          <p:cNvPicPr>
            <a:picLocks noChangeAspect="1"/>
          </p:cNvPicPr>
          <p:nvPr/>
        </p:nvPicPr>
        <p:blipFill>
          <a:blip r:embed="rId4"/>
          <a:stretch>
            <a:fillRect/>
          </a:stretch>
        </p:blipFill>
        <p:spPr>
          <a:xfrm>
            <a:off x="1430275" y="1069931"/>
            <a:ext cx="2945067" cy="2945067"/>
          </a:xfrm>
          <a:prstGeom prst="rect">
            <a:avLst/>
          </a:prstGeom>
        </p:spPr>
      </p:pic>
      <p:sp>
        <p:nvSpPr>
          <p:cNvPr id="2" name="Title 1">
            <a:extLst>
              <a:ext uri="{FF2B5EF4-FFF2-40B4-BE49-F238E27FC236}">
                <a16:creationId xmlns:a16="http://schemas.microsoft.com/office/drawing/2014/main" id="{9CB22B49-2B65-3542-AA12-E5534864FAD2}"/>
              </a:ext>
            </a:extLst>
          </p:cNvPr>
          <p:cNvSpPr>
            <a:spLocks noGrp="1"/>
          </p:cNvSpPr>
          <p:nvPr>
            <p:ph type="title"/>
          </p:nvPr>
        </p:nvSpPr>
        <p:spPr/>
        <p:txBody>
          <a:bodyPr>
            <a:normAutofit/>
          </a:bodyPr>
          <a:lstStyle/>
          <a:p>
            <a:r>
              <a:rPr lang="en-ZA" sz="2400" dirty="0"/>
              <a:t>A quantum advantage  </a:t>
            </a:r>
            <a:r>
              <a:rPr lang="en-US" sz="2400" dirty="0"/>
              <a:t>example: classical vs quantum search</a:t>
            </a:r>
          </a:p>
        </p:txBody>
      </p:sp>
      <p:sp>
        <p:nvSpPr>
          <p:cNvPr id="3" name="Slide Number Placeholder 2">
            <a:extLst>
              <a:ext uri="{FF2B5EF4-FFF2-40B4-BE49-F238E27FC236}">
                <a16:creationId xmlns:a16="http://schemas.microsoft.com/office/drawing/2014/main" id="{A633E9A0-A144-0B49-838D-955BD4628C5B}"/>
              </a:ext>
            </a:extLst>
          </p:cNvPr>
          <p:cNvSpPr>
            <a:spLocks noGrp="1"/>
          </p:cNvSpPr>
          <p:nvPr>
            <p:ph type="sldNum" sz="quarter" idx="4294967295"/>
          </p:nvPr>
        </p:nvSpPr>
        <p:spPr/>
        <p:txBody>
          <a:bodyPr/>
          <a:lstStyle/>
          <a:p>
            <a:fld id="{591A223C-FA10-BC46-A853-03BA373D023C}" type="slidenum">
              <a:rPr lang="en-US" smtClean="0"/>
              <a:t>6</a:t>
            </a:fld>
            <a:endParaRPr lang="en-US"/>
          </a:p>
        </p:txBody>
      </p:sp>
      <p:grpSp>
        <p:nvGrpSpPr>
          <p:cNvPr id="4" name="Group 3">
            <a:extLst>
              <a:ext uri="{FF2B5EF4-FFF2-40B4-BE49-F238E27FC236}">
                <a16:creationId xmlns:a16="http://schemas.microsoft.com/office/drawing/2014/main" id="{713010FC-E95A-4E44-BC27-CF862CE119E7}"/>
              </a:ext>
            </a:extLst>
          </p:cNvPr>
          <p:cNvGrpSpPr/>
          <p:nvPr/>
        </p:nvGrpSpPr>
        <p:grpSpPr>
          <a:xfrm>
            <a:off x="4588310" y="3244824"/>
            <a:ext cx="2328684" cy="3055527"/>
            <a:chOff x="4588310" y="3244824"/>
            <a:chExt cx="2328684" cy="3055527"/>
          </a:xfrm>
        </p:grpSpPr>
        <p:pic>
          <p:nvPicPr>
            <p:cNvPr id="7" name="Picture 6">
              <a:extLst>
                <a:ext uri="{FF2B5EF4-FFF2-40B4-BE49-F238E27FC236}">
                  <a16:creationId xmlns:a16="http://schemas.microsoft.com/office/drawing/2014/main" id="{953B220B-2CB7-D64F-AB8C-2A8C4A9FC918}"/>
                </a:ext>
              </a:extLst>
            </p:cNvPr>
            <p:cNvPicPr>
              <a:picLocks noChangeAspect="1"/>
            </p:cNvPicPr>
            <p:nvPr/>
          </p:nvPicPr>
          <p:blipFill>
            <a:blip r:embed="rId5"/>
            <a:stretch>
              <a:fillRect/>
            </a:stretch>
          </p:blipFill>
          <p:spPr>
            <a:xfrm>
              <a:off x="4588310" y="3244824"/>
              <a:ext cx="2328684" cy="1877971"/>
            </a:xfrm>
            <a:prstGeom prst="rect">
              <a:avLst/>
            </a:prstGeom>
          </p:spPr>
        </p:pic>
        <p:sp>
          <p:nvSpPr>
            <p:cNvPr id="27" name="TextBox 26">
              <a:extLst>
                <a:ext uri="{FF2B5EF4-FFF2-40B4-BE49-F238E27FC236}">
                  <a16:creationId xmlns:a16="http://schemas.microsoft.com/office/drawing/2014/main" id="{784C7C6D-E951-9E46-A627-944175CE8F9B}"/>
                </a:ext>
              </a:extLst>
            </p:cNvPr>
            <p:cNvSpPr txBox="1"/>
            <p:nvPr/>
          </p:nvSpPr>
          <p:spPr>
            <a:xfrm>
              <a:off x="4588310" y="5838686"/>
              <a:ext cx="2171344" cy="461665"/>
            </a:xfrm>
            <a:prstGeom prst="rect">
              <a:avLst/>
            </a:prstGeom>
            <a:solidFill>
              <a:schemeClr val="accent5">
                <a:lumMod val="20000"/>
                <a:lumOff val="80000"/>
              </a:schemeClr>
            </a:solidFill>
          </p:spPr>
          <p:txBody>
            <a:bodyPr wrap="square" rtlCol="0">
              <a:spAutoFit/>
            </a:bodyPr>
            <a:lstStyle/>
            <a:p>
              <a:pPr algn="ctr"/>
              <a:r>
                <a:rPr lang="en-US" sz="2400" dirty="0">
                  <a:latin typeface="+mj-lt"/>
                </a:rPr>
                <a:t>7 days</a:t>
              </a:r>
            </a:p>
          </p:txBody>
        </p:sp>
      </p:grpSp>
      <p:grpSp>
        <p:nvGrpSpPr>
          <p:cNvPr id="9" name="Group 8">
            <a:extLst>
              <a:ext uri="{FF2B5EF4-FFF2-40B4-BE49-F238E27FC236}">
                <a16:creationId xmlns:a16="http://schemas.microsoft.com/office/drawing/2014/main" id="{865F3B8A-0587-9547-B423-1CE479513E55}"/>
              </a:ext>
            </a:extLst>
          </p:cNvPr>
          <p:cNvGrpSpPr/>
          <p:nvPr/>
        </p:nvGrpSpPr>
        <p:grpSpPr>
          <a:xfrm>
            <a:off x="9644281" y="2511177"/>
            <a:ext cx="2171344" cy="3789174"/>
            <a:chOff x="9644281" y="2511177"/>
            <a:chExt cx="2171344" cy="3789174"/>
          </a:xfrm>
        </p:grpSpPr>
        <p:sp>
          <p:nvSpPr>
            <p:cNvPr id="28" name="TextBox 27">
              <a:extLst>
                <a:ext uri="{FF2B5EF4-FFF2-40B4-BE49-F238E27FC236}">
                  <a16:creationId xmlns:a16="http://schemas.microsoft.com/office/drawing/2014/main" id="{1263F960-2815-744C-9DDE-1BC0DB5897BF}"/>
                </a:ext>
              </a:extLst>
            </p:cNvPr>
            <p:cNvSpPr txBox="1"/>
            <p:nvPr/>
          </p:nvSpPr>
          <p:spPr>
            <a:xfrm>
              <a:off x="9644281" y="5838686"/>
              <a:ext cx="2171344" cy="461665"/>
            </a:xfrm>
            <a:prstGeom prst="rect">
              <a:avLst/>
            </a:prstGeom>
            <a:solidFill>
              <a:schemeClr val="accent4">
                <a:lumMod val="20000"/>
                <a:lumOff val="80000"/>
              </a:schemeClr>
            </a:solidFill>
          </p:spPr>
          <p:txBody>
            <a:bodyPr wrap="square" rtlCol="0">
              <a:spAutoFit/>
            </a:bodyPr>
            <a:lstStyle/>
            <a:p>
              <a:pPr algn="ctr"/>
              <a:r>
                <a:rPr lang="en-US" sz="2400" dirty="0">
                  <a:latin typeface="+mj-lt"/>
                </a:rPr>
                <a:t>1 sec</a:t>
              </a:r>
            </a:p>
          </p:txBody>
        </p:sp>
        <p:pic>
          <p:nvPicPr>
            <p:cNvPr id="5" name="Picture 4">
              <a:extLst>
                <a:ext uri="{FF2B5EF4-FFF2-40B4-BE49-F238E27FC236}">
                  <a16:creationId xmlns:a16="http://schemas.microsoft.com/office/drawing/2014/main" id="{0BE14E8E-766B-B741-8A84-DCA651E86C4A}"/>
                </a:ext>
              </a:extLst>
            </p:cNvPr>
            <p:cNvPicPr>
              <a:picLocks noChangeAspect="1"/>
            </p:cNvPicPr>
            <p:nvPr/>
          </p:nvPicPr>
          <p:blipFill>
            <a:blip r:embed="rId6"/>
            <a:stretch>
              <a:fillRect/>
            </a:stretch>
          </p:blipFill>
          <p:spPr>
            <a:xfrm>
              <a:off x="9644281" y="2511177"/>
              <a:ext cx="1991248" cy="2752132"/>
            </a:xfrm>
            <a:prstGeom prst="rect">
              <a:avLst/>
            </a:prstGeom>
          </p:spPr>
        </p:pic>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69055E6-173F-DF4D-A713-2820F46AD0F2}"/>
                  </a:ext>
                </a:extLst>
              </p:cNvPr>
              <p:cNvSpPr txBox="1"/>
              <p:nvPr/>
            </p:nvSpPr>
            <p:spPr>
              <a:xfrm>
                <a:off x="3999611" y="867224"/>
                <a:ext cx="8298873" cy="461665"/>
              </a:xfrm>
              <a:prstGeom prst="rect">
                <a:avLst/>
              </a:prstGeom>
              <a:noFill/>
            </p:spPr>
            <p:txBody>
              <a:bodyPr wrap="square" rtlCol="0">
                <a:spAutoFit/>
              </a:bodyPr>
              <a:lstStyle/>
              <a:p>
                <a:r>
                  <a:rPr lang="en-US" sz="2400" dirty="0">
                    <a:latin typeface="+mj-lt"/>
                  </a:rPr>
                  <a:t>N  = 1 trillion (</a:t>
                </a:r>
                <a14:m>
                  <m:oMath xmlns:m="http://schemas.openxmlformats.org/officeDocument/2006/math">
                    <m:sSup>
                      <m:sSupPr>
                        <m:ctrlPr>
                          <a:rPr lang="en-US" sz="2400" i="1" smtClean="0">
                            <a:latin typeface="Cambria Math" panose="02040503050406030204" pitchFamily="18" charset="0"/>
                          </a:rPr>
                        </m:ctrlPr>
                      </m:sSupPr>
                      <m:e>
                        <m:r>
                          <a:rPr lang="sr-Latn-RS" sz="2400" b="0" i="1" smtClean="0">
                            <a:latin typeface="Cambria Math" panose="02040503050406030204" pitchFamily="18" charset="0"/>
                          </a:rPr>
                          <m:t>10</m:t>
                        </m:r>
                      </m:e>
                      <m:sup>
                        <m:r>
                          <a:rPr lang="sr-Latn-RS" sz="2400" b="0" i="1" smtClean="0">
                            <a:latin typeface="Cambria Math" panose="02040503050406030204" pitchFamily="18" charset="0"/>
                          </a:rPr>
                          <m:t>12</m:t>
                        </m:r>
                      </m:sup>
                    </m:sSup>
                  </m:oMath>
                </a14:m>
                <a:r>
                  <a:rPr lang="en-US" sz="2400" dirty="0">
                    <a:latin typeface="+mj-lt"/>
                  </a:rPr>
                  <a:t>)  records  /  1 µs = to check a record</a:t>
                </a:r>
              </a:p>
            </p:txBody>
          </p:sp>
        </mc:Choice>
        <mc:Fallback xmlns="">
          <p:sp>
            <p:nvSpPr>
              <p:cNvPr id="15" name="TextBox 14">
                <a:extLst>
                  <a:ext uri="{FF2B5EF4-FFF2-40B4-BE49-F238E27FC236}">
                    <a16:creationId xmlns:a16="http://schemas.microsoft.com/office/drawing/2014/main" id="{969055E6-173F-DF4D-A713-2820F46AD0F2}"/>
                  </a:ext>
                </a:extLst>
              </p:cNvPr>
              <p:cNvSpPr txBox="1">
                <a:spLocks noRot="1" noChangeAspect="1" noMove="1" noResize="1" noEditPoints="1" noAdjustHandles="1" noChangeArrowheads="1" noChangeShapeType="1" noTextEdit="1"/>
              </p:cNvSpPr>
              <p:nvPr/>
            </p:nvSpPr>
            <p:spPr>
              <a:xfrm>
                <a:off x="3999611" y="867224"/>
                <a:ext cx="8298873" cy="461665"/>
              </a:xfrm>
              <a:prstGeom prst="rect">
                <a:avLst/>
              </a:prstGeom>
              <a:blipFill>
                <a:blip r:embed="rId7"/>
                <a:stretch>
                  <a:fillRect l="-1070" t="-5263" b="-26316"/>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2719D435-DCAE-7240-A204-FBF0138F2E2D}"/>
              </a:ext>
            </a:extLst>
          </p:cNvPr>
          <p:cNvSpPr txBox="1"/>
          <p:nvPr/>
        </p:nvSpPr>
        <p:spPr>
          <a:xfrm>
            <a:off x="1194718" y="6015692"/>
            <a:ext cx="787973" cy="523220"/>
          </a:xfrm>
          <a:prstGeom prst="rect">
            <a:avLst/>
          </a:prstGeom>
          <a:noFill/>
        </p:spPr>
        <p:txBody>
          <a:bodyPr wrap="none" rtlCol="0">
            <a:spAutoFit/>
          </a:bodyPr>
          <a:lstStyle/>
          <a:p>
            <a:r>
              <a:rPr lang="en-US" sz="2800" dirty="0"/>
              <a:t>NSA</a:t>
            </a:r>
          </a:p>
        </p:txBody>
      </p:sp>
    </p:spTree>
    <p:extLst>
      <p:ext uri="{BB962C8B-B14F-4D97-AF65-F5344CB8AC3E}">
        <p14:creationId xmlns:p14="http://schemas.microsoft.com/office/powerpoint/2010/main" val="2157299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92A5A0-2463-E643-8110-C722F0D4D1B0}"/>
              </a:ext>
            </a:extLst>
          </p:cNvPr>
          <p:cNvPicPr>
            <a:picLocks noChangeAspect="1"/>
          </p:cNvPicPr>
          <p:nvPr/>
        </p:nvPicPr>
        <p:blipFill>
          <a:blip r:embed="rId3"/>
          <a:stretch>
            <a:fillRect/>
          </a:stretch>
        </p:blipFill>
        <p:spPr>
          <a:xfrm rot="335815">
            <a:off x="5157890" y="250485"/>
            <a:ext cx="6553478" cy="3429653"/>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2" name="Slide Number Placeholder 1">
            <a:extLst>
              <a:ext uri="{FF2B5EF4-FFF2-40B4-BE49-F238E27FC236}">
                <a16:creationId xmlns:a16="http://schemas.microsoft.com/office/drawing/2014/main" id="{CE0DDF19-8BD9-9644-AB42-C390823348FD}"/>
              </a:ext>
            </a:extLst>
          </p:cNvPr>
          <p:cNvSpPr>
            <a:spLocks noGrp="1"/>
          </p:cNvSpPr>
          <p:nvPr>
            <p:ph type="sldNum" sz="quarter" idx="12"/>
          </p:nvPr>
        </p:nvSpPr>
        <p:spPr/>
        <p:txBody>
          <a:bodyPr/>
          <a:lstStyle/>
          <a:p>
            <a:fld id="{591A223C-FA10-BC46-A853-03BA373D023C}" type="slidenum">
              <a:rPr lang="en-US" smtClean="0"/>
              <a:t>7</a:t>
            </a:fld>
            <a:endParaRPr lang="en-US"/>
          </a:p>
        </p:txBody>
      </p:sp>
      <p:pic>
        <p:nvPicPr>
          <p:cNvPr id="6" name="Picture 5">
            <a:extLst>
              <a:ext uri="{FF2B5EF4-FFF2-40B4-BE49-F238E27FC236}">
                <a16:creationId xmlns:a16="http://schemas.microsoft.com/office/drawing/2014/main" id="{93AE728E-5A31-7D4A-A428-7C1021CEB34D}"/>
              </a:ext>
            </a:extLst>
          </p:cNvPr>
          <p:cNvPicPr>
            <a:picLocks noChangeAspect="1"/>
          </p:cNvPicPr>
          <p:nvPr/>
        </p:nvPicPr>
        <p:blipFill>
          <a:blip r:embed="rId4"/>
          <a:stretch>
            <a:fillRect/>
          </a:stretch>
        </p:blipFill>
        <p:spPr>
          <a:xfrm flipH="1">
            <a:off x="533028" y="1056694"/>
            <a:ext cx="3907678" cy="2654087"/>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7" name="Picture 6">
            <a:extLst>
              <a:ext uri="{FF2B5EF4-FFF2-40B4-BE49-F238E27FC236}">
                <a16:creationId xmlns:a16="http://schemas.microsoft.com/office/drawing/2014/main" id="{F9894D38-AE8C-344B-99BF-EF9B69C86493}"/>
              </a:ext>
            </a:extLst>
          </p:cNvPr>
          <p:cNvPicPr>
            <a:picLocks noChangeAspect="1"/>
          </p:cNvPicPr>
          <p:nvPr/>
        </p:nvPicPr>
        <p:blipFill>
          <a:blip r:embed="rId5">
            <a:alphaModFix amt="84000"/>
            <a:extLst>
              <a:ext uri="{BEBA8EAE-BF5A-486C-A8C5-ECC9F3942E4B}">
                <a14:imgProps xmlns:a14="http://schemas.microsoft.com/office/drawing/2010/main">
                  <a14:imgLayer>
                    <a14:imgEffect>
                      <a14:saturation sat="0"/>
                    </a14:imgEffect>
                  </a14:imgLayer>
                </a14:imgProps>
              </a:ext>
            </a:extLst>
          </a:blip>
          <a:stretch>
            <a:fillRect/>
          </a:stretch>
        </p:blipFill>
        <p:spPr>
          <a:xfrm>
            <a:off x="1077837" y="3782142"/>
            <a:ext cx="3928428" cy="294794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9" name="Picture 8">
            <a:extLst>
              <a:ext uri="{FF2B5EF4-FFF2-40B4-BE49-F238E27FC236}">
                <a16:creationId xmlns:a16="http://schemas.microsoft.com/office/drawing/2014/main" id="{DBC76507-1016-E64A-924D-E8606E4E7F42}"/>
              </a:ext>
            </a:extLst>
          </p:cNvPr>
          <p:cNvPicPr>
            <a:picLocks noChangeAspect="1"/>
          </p:cNvPicPr>
          <p:nvPr/>
        </p:nvPicPr>
        <p:blipFill>
          <a:blip r:embed="rId6"/>
          <a:stretch>
            <a:fillRect/>
          </a:stretch>
        </p:blipFill>
        <p:spPr>
          <a:xfrm>
            <a:off x="5841823" y="3035800"/>
            <a:ext cx="5185612" cy="3457075"/>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3" name="Title 12">
            <a:extLst>
              <a:ext uri="{FF2B5EF4-FFF2-40B4-BE49-F238E27FC236}">
                <a16:creationId xmlns:a16="http://schemas.microsoft.com/office/drawing/2014/main" id="{89FE96B2-BBD2-654D-B36A-3C7113B97E78}"/>
              </a:ext>
            </a:extLst>
          </p:cNvPr>
          <p:cNvSpPr>
            <a:spLocks noGrp="1"/>
          </p:cNvSpPr>
          <p:nvPr>
            <p:ph type="title"/>
          </p:nvPr>
        </p:nvSpPr>
        <p:spPr>
          <a:xfrm>
            <a:off x="0" y="0"/>
            <a:ext cx="12192000" cy="928688"/>
          </a:xfrm>
        </p:spPr>
        <p:txBody>
          <a:bodyPr/>
          <a:lstStyle/>
          <a:p>
            <a:r>
              <a:rPr lang="en-US" dirty="0"/>
              <a:t>Multidimensionality</a:t>
            </a:r>
          </a:p>
        </p:txBody>
      </p:sp>
    </p:spTree>
    <p:extLst>
      <p:ext uri="{BB962C8B-B14F-4D97-AF65-F5344CB8AC3E}">
        <p14:creationId xmlns:p14="http://schemas.microsoft.com/office/powerpoint/2010/main" val="83740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25A78D-D156-6848-8706-7E12C6397583}"/>
              </a:ext>
            </a:extLst>
          </p:cNvPr>
          <p:cNvSpPr txBox="1"/>
          <p:nvPr/>
        </p:nvSpPr>
        <p:spPr>
          <a:xfrm>
            <a:off x="5914425" y="1919982"/>
            <a:ext cx="5934637" cy="1569660"/>
          </a:xfrm>
          <a:prstGeom prst="rect">
            <a:avLst/>
          </a:prstGeom>
          <a:noFill/>
        </p:spPr>
        <p:txBody>
          <a:bodyPr wrap="none" rtlCol="0">
            <a:spAutoFit/>
          </a:bodyPr>
          <a:lstStyle/>
          <a:p>
            <a:pPr algn="ctr"/>
            <a:r>
              <a:rPr lang="en-US" sz="4800" dirty="0">
                <a:latin typeface="Comic Sans MS" panose="030F0902030302020204" pitchFamily="66" charset="0"/>
              </a:rPr>
              <a:t>The Wonders of </a:t>
            </a:r>
          </a:p>
          <a:p>
            <a:pPr algn="ctr"/>
            <a:r>
              <a:rPr lang="en-US" sz="4800" dirty="0">
                <a:latin typeface="Comic Sans MS" panose="030F0902030302020204" pitchFamily="66" charset="0"/>
              </a:rPr>
              <a:t>Quantum Mechanics</a:t>
            </a:r>
          </a:p>
        </p:txBody>
      </p:sp>
      <p:pic>
        <p:nvPicPr>
          <p:cNvPr id="6" name="Picture 5">
            <a:extLst>
              <a:ext uri="{FF2B5EF4-FFF2-40B4-BE49-F238E27FC236}">
                <a16:creationId xmlns:a16="http://schemas.microsoft.com/office/drawing/2014/main" id="{16B71516-3961-2E4C-B8BA-7C942BB95417}"/>
              </a:ext>
            </a:extLst>
          </p:cNvPr>
          <p:cNvPicPr>
            <a:picLocks noChangeAspect="1"/>
          </p:cNvPicPr>
          <p:nvPr/>
        </p:nvPicPr>
        <p:blipFill>
          <a:blip r:embed="rId3"/>
          <a:stretch>
            <a:fillRect/>
          </a:stretch>
        </p:blipFill>
        <p:spPr>
          <a:xfrm>
            <a:off x="109130" y="60642"/>
            <a:ext cx="5159986" cy="6858000"/>
          </a:xfrm>
          <a:prstGeom prst="rect">
            <a:avLst/>
          </a:prstGeom>
        </p:spPr>
      </p:pic>
      <p:sp>
        <p:nvSpPr>
          <p:cNvPr id="3" name="TextBox 2">
            <a:extLst>
              <a:ext uri="{FF2B5EF4-FFF2-40B4-BE49-F238E27FC236}">
                <a16:creationId xmlns:a16="http://schemas.microsoft.com/office/drawing/2014/main" id="{A65C7084-1625-5A40-B1BE-F5A33DF99AED}"/>
              </a:ext>
            </a:extLst>
          </p:cNvPr>
          <p:cNvSpPr txBox="1"/>
          <p:nvPr/>
        </p:nvSpPr>
        <p:spPr>
          <a:xfrm>
            <a:off x="6106458" y="3744763"/>
            <a:ext cx="5550569" cy="830997"/>
          </a:xfrm>
          <a:prstGeom prst="rect">
            <a:avLst/>
          </a:prstGeom>
          <a:noFill/>
        </p:spPr>
        <p:txBody>
          <a:bodyPr wrap="square" rtlCol="0">
            <a:spAutoFit/>
          </a:bodyPr>
          <a:lstStyle/>
          <a:p>
            <a:pPr algn="ctr"/>
            <a:r>
              <a:rPr lang="en-ZA" sz="2400" dirty="0">
                <a:latin typeface="Comic Sans MS" panose="030F0902030302020204" pitchFamily="66" charset="0"/>
              </a:rPr>
              <a:t>Key Quantum Principles Behind the Power of Quantum Computers</a:t>
            </a:r>
            <a:endParaRPr lang="en-US" sz="2400" dirty="0">
              <a:latin typeface="Comic Sans MS" panose="030F0902030302020204" pitchFamily="66" charset="0"/>
            </a:endParaRPr>
          </a:p>
        </p:txBody>
      </p:sp>
      <p:sp>
        <p:nvSpPr>
          <p:cNvPr id="7" name="Slide Number Placeholder 18">
            <a:extLst>
              <a:ext uri="{FF2B5EF4-FFF2-40B4-BE49-F238E27FC236}">
                <a16:creationId xmlns:a16="http://schemas.microsoft.com/office/drawing/2014/main" id="{29C74822-A845-EA48-BA41-5B372A62B4C0}"/>
              </a:ext>
            </a:extLst>
          </p:cNvPr>
          <p:cNvSpPr txBox="1">
            <a:spLocks/>
          </p:cNvSpPr>
          <p:nvPr/>
        </p:nvSpPr>
        <p:spPr>
          <a:xfrm>
            <a:off x="14410" y="6463863"/>
            <a:ext cx="899990" cy="39413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A7A90D-170E-2F4F-8861-97D6C3C25EEF}" type="slidenum">
              <a:rPr lang="en-US" smtClean="0"/>
              <a:pPr/>
              <a:t>8</a:t>
            </a:fld>
            <a:endParaRPr lang="en-US" dirty="0"/>
          </a:p>
        </p:txBody>
      </p:sp>
    </p:spTree>
    <p:extLst>
      <p:ext uri="{BB962C8B-B14F-4D97-AF65-F5344CB8AC3E}">
        <p14:creationId xmlns:p14="http://schemas.microsoft.com/office/powerpoint/2010/main" val="4041351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a:extLst>
              <a:ext uri="{FF2B5EF4-FFF2-40B4-BE49-F238E27FC236}">
                <a16:creationId xmlns:a16="http://schemas.microsoft.com/office/drawing/2014/main" id="{7847C865-BA96-F843-983E-8E97AADEF6FF}"/>
              </a:ext>
            </a:extLst>
          </p:cNvPr>
          <p:cNvSpPr/>
          <p:nvPr/>
        </p:nvSpPr>
        <p:spPr>
          <a:xfrm>
            <a:off x="8265520" y="1673115"/>
            <a:ext cx="3600000" cy="533596"/>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3. ENTANGLEMENT</a:t>
            </a:r>
          </a:p>
        </p:txBody>
      </p:sp>
      <p:pic>
        <p:nvPicPr>
          <p:cNvPr id="18" name="Picture 17">
            <a:extLst>
              <a:ext uri="{FF2B5EF4-FFF2-40B4-BE49-F238E27FC236}">
                <a16:creationId xmlns:a16="http://schemas.microsoft.com/office/drawing/2014/main" id="{D9E44710-418D-A245-842F-2526F024F3F7}"/>
              </a:ext>
            </a:extLst>
          </p:cNvPr>
          <p:cNvPicPr>
            <a:picLocks noChangeAspect="1"/>
          </p:cNvPicPr>
          <p:nvPr/>
        </p:nvPicPr>
        <p:blipFill>
          <a:blip r:embed="rId3"/>
          <a:stretch>
            <a:fillRect/>
          </a:stretch>
        </p:blipFill>
        <p:spPr>
          <a:xfrm>
            <a:off x="8381103" y="2241039"/>
            <a:ext cx="3636740" cy="2491129"/>
          </a:xfrm>
          <a:prstGeom prst="rect">
            <a:avLst/>
          </a:prstGeom>
        </p:spPr>
      </p:pic>
      <p:sp>
        <p:nvSpPr>
          <p:cNvPr id="35" name="Cloud Callout 34">
            <a:extLst>
              <a:ext uri="{FF2B5EF4-FFF2-40B4-BE49-F238E27FC236}">
                <a16:creationId xmlns:a16="http://schemas.microsoft.com/office/drawing/2014/main" id="{711583AD-573D-2D48-80F1-6C69782281D5}"/>
              </a:ext>
            </a:extLst>
          </p:cNvPr>
          <p:cNvSpPr/>
          <p:nvPr/>
        </p:nvSpPr>
        <p:spPr>
          <a:xfrm flipH="1">
            <a:off x="10977108" y="1839509"/>
            <a:ext cx="1143354" cy="785604"/>
          </a:xfrm>
          <a:prstGeom prst="cloudCallout">
            <a:avLst>
              <a:gd name="adj1" fmla="val 9077"/>
              <a:gd name="adj2" fmla="val 79534"/>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loud Callout 18">
            <a:extLst>
              <a:ext uri="{FF2B5EF4-FFF2-40B4-BE49-F238E27FC236}">
                <a16:creationId xmlns:a16="http://schemas.microsoft.com/office/drawing/2014/main" id="{2EC69473-9176-DB45-9EE3-54AAB66908AA}"/>
              </a:ext>
            </a:extLst>
          </p:cNvPr>
          <p:cNvSpPr/>
          <p:nvPr/>
        </p:nvSpPr>
        <p:spPr>
          <a:xfrm>
            <a:off x="7927456" y="1859665"/>
            <a:ext cx="1143354" cy="785604"/>
          </a:xfrm>
          <a:prstGeom prst="cloudCallout">
            <a:avLst>
              <a:gd name="adj1" fmla="val 39636"/>
              <a:gd name="adj2" fmla="val 69124"/>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885F30-C956-3C41-8576-4CFFB1B47326}"/>
              </a:ext>
            </a:extLst>
          </p:cNvPr>
          <p:cNvSpPr>
            <a:spLocks noGrp="1"/>
          </p:cNvSpPr>
          <p:nvPr>
            <p:ph type="title"/>
          </p:nvPr>
        </p:nvSpPr>
        <p:spPr/>
        <p:txBody>
          <a:bodyPr/>
          <a:lstStyle/>
          <a:p>
            <a:r>
              <a:rPr lang="en-US" dirty="0"/>
              <a:t>Three </a:t>
            </a:r>
            <a:r>
              <a:rPr lang="en-ZA" dirty="0"/>
              <a:t>principles of quantum computing</a:t>
            </a:r>
            <a:endParaRPr lang="en-US" dirty="0"/>
          </a:p>
        </p:txBody>
      </p:sp>
      <p:sp>
        <p:nvSpPr>
          <p:cNvPr id="3" name="Slide Number Placeholder 2">
            <a:extLst>
              <a:ext uri="{FF2B5EF4-FFF2-40B4-BE49-F238E27FC236}">
                <a16:creationId xmlns:a16="http://schemas.microsoft.com/office/drawing/2014/main" id="{02C3C38F-11AE-394E-86F1-B4ACC91D4392}"/>
              </a:ext>
            </a:extLst>
          </p:cNvPr>
          <p:cNvSpPr>
            <a:spLocks noGrp="1"/>
          </p:cNvSpPr>
          <p:nvPr>
            <p:ph type="sldNum" sz="quarter" idx="4294967295"/>
          </p:nvPr>
        </p:nvSpPr>
        <p:spPr>
          <a:xfrm>
            <a:off x="9448800" y="6492875"/>
            <a:ext cx="2743200" cy="365125"/>
          </a:xfrm>
        </p:spPr>
        <p:txBody>
          <a:bodyPr/>
          <a:lstStyle/>
          <a:p>
            <a:fld id="{D0A7A90D-170E-2F4F-8861-97D6C3C25EEF}" type="slidenum">
              <a:rPr lang="en-US" smtClean="0"/>
              <a:t>9</a:t>
            </a:fld>
            <a:endParaRPr lang="en-US"/>
          </a:p>
        </p:txBody>
      </p:sp>
      <p:sp>
        <p:nvSpPr>
          <p:cNvPr id="13" name="Rounded Rectangle 12">
            <a:extLst>
              <a:ext uri="{FF2B5EF4-FFF2-40B4-BE49-F238E27FC236}">
                <a16:creationId xmlns:a16="http://schemas.microsoft.com/office/drawing/2014/main" id="{7B24C7D2-6D85-5B4B-9B2A-EE6C69227769}"/>
              </a:ext>
            </a:extLst>
          </p:cNvPr>
          <p:cNvSpPr/>
          <p:nvPr/>
        </p:nvSpPr>
        <p:spPr>
          <a:xfrm>
            <a:off x="128616" y="1673115"/>
            <a:ext cx="3600000" cy="5335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1. SUPERPOSITION</a:t>
            </a:r>
          </a:p>
        </p:txBody>
      </p:sp>
      <p:sp>
        <p:nvSpPr>
          <p:cNvPr id="5" name="TextBox 4">
            <a:extLst>
              <a:ext uri="{FF2B5EF4-FFF2-40B4-BE49-F238E27FC236}">
                <a16:creationId xmlns:a16="http://schemas.microsoft.com/office/drawing/2014/main" id="{6266E915-11E5-8448-9227-9676F26D5DF9}"/>
              </a:ext>
            </a:extLst>
          </p:cNvPr>
          <p:cNvSpPr txBox="1"/>
          <p:nvPr/>
        </p:nvSpPr>
        <p:spPr>
          <a:xfrm>
            <a:off x="314392" y="4732168"/>
            <a:ext cx="3569425" cy="1477328"/>
          </a:xfrm>
          <a:prstGeom prst="rect">
            <a:avLst/>
          </a:prstGeom>
          <a:noFill/>
        </p:spPr>
        <p:txBody>
          <a:bodyPr wrap="square" rtlCol="0">
            <a:spAutoFit/>
          </a:bodyPr>
          <a:lstStyle/>
          <a:p>
            <a:pPr algn="ctr"/>
            <a:r>
              <a:rPr lang="en-ZA" dirty="0"/>
              <a:t>The principle of quantum superposition allows a quantum object to exist in multiple states at the same time, enabling large-scale parallel processing.</a:t>
            </a:r>
            <a:endParaRPr lang="en-US" dirty="0">
              <a:latin typeface="Comic Sans MS" panose="030F0902030302020204" pitchFamily="66" charset="0"/>
            </a:endParaRPr>
          </a:p>
        </p:txBody>
      </p:sp>
      <p:sp>
        <p:nvSpPr>
          <p:cNvPr id="15" name="Rounded Rectangle 14">
            <a:extLst>
              <a:ext uri="{FF2B5EF4-FFF2-40B4-BE49-F238E27FC236}">
                <a16:creationId xmlns:a16="http://schemas.microsoft.com/office/drawing/2014/main" id="{72FC632A-4A95-BF48-9CB8-C2923A77C2FB}"/>
              </a:ext>
            </a:extLst>
          </p:cNvPr>
          <p:cNvSpPr/>
          <p:nvPr/>
        </p:nvSpPr>
        <p:spPr>
          <a:xfrm>
            <a:off x="4197068" y="1673115"/>
            <a:ext cx="3600000" cy="533596"/>
          </a:xfrm>
          <a:prstGeom prst="roundRect">
            <a:avLst/>
          </a:prstGeom>
          <a:solidFill>
            <a:srgbClr val="FF5A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2. INTERFERENCE</a:t>
            </a:r>
          </a:p>
        </p:txBody>
      </p:sp>
      <p:sp>
        <p:nvSpPr>
          <p:cNvPr id="34" name="TextBox 33">
            <a:extLst>
              <a:ext uri="{FF2B5EF4-FFF2-40B4-BE49-F238E27FC236}">
                <a16:creationId xmlns:a16="http://schemas.microsoft.com/office/drawing/2014/main" id="{7B205D74-ECC1-9643-9DE4-17E474175E5D}"/>
              </a:ext>
            </a:extLst>
          </p:cNvPr>
          <p:cNvSpPr txBox="1"/>
          <p:nvPr/>
        </p:nvSpPr>
        <p:spPr>
          <a:xfrm>
            <a:off x="4326803" y="4736696"/>
            <a:ext cx="3476400" cy="2031325"/>
          </a:xfrm>
          <a:prstGeom prst="rect">
            <a:avLst/>
          </a:prstGeom>
          <a:noFill/>
        </p:spPr>
        <p:txBody>
          <a:bodyPr wrap="square" rtlCol="0">
            <a:spAutoFit/>
          </a:bodyPr>
          <a:lstStyle/>
          <a:p>
            <a:pPr algn="ctr"/>
            <a:r>
              <a:rPr lang="en-ZA" dirty="0"/>
              <a:t>The principle of quantum interference, similar to water waves that amplify or cancel each other out, allows for the amplification of desired results while suppressing unwanted outcomes.</a:t>
            </a:r>
            <a:endParaRPr lang="en-US" dirty="0">
              <a:latin typeface="Comic Sans MS" panose="030F0902030302020204" pitchFamily="66" charset="0"/>
            </a:endParaRPr>
          </a:p>
        </p:txBody>
      </p:sp>
      <p:sp>
        <p:nvSpPr>
          <p:cNvPr id="7" name="TextBox 6">
            <a:extLst>
              <a:ext uri="{FF2B5EF4-FFF2-40B4-BE49-F238E27FC236}">
                <a16:creationId xmlns:a16="http://schemas.microsoft.com/office/drawing/2014/main" id="{BC081770-1F0E-9247-BE5E-FD51ACD5D9B0}"/>
              </a:ext>
            </a:extLst>
          </p:cNvPr>
          <p:cNvSpPr txBox="1"/>
          <p:nvPr/>
        </p:nvSpPr>
        <p:spPr>
          <a:xfrm>
            <a:off x="8389120" y="4721093"/>
            <a:ext cx="3476400" cy="1754326"/>
          </a:xfrm>
          <a:prstGeom prst="rect">
            <a:avLst/>
          </a:prstGeom>
          <a:noFill/>
        </p:spPr>
        <p:txBody>
          <a:bodyPr wrap="square" rtlCol="0">
            <a:spAutoFit/>
          </a:bodyPr>
          <a:lstStyle/>
          <a:p>
            <a:pPr lvl="0" algn="ctr">
              <a:defRPr/>
            </a:pPr>
            <a:r>
              <a:rPr lang="en-ZA" dirty="0"/>
              <a:t>The principle of quantum entanglement allows entangled quantum objects to behave in perfect sync, like twins sharing the same thought at the same moment.</a:t>
            </a:r>
            <a:endParaRPr lang="en-US" dirty="0">
              <a:latin typeface="Comic Sans MS" panose="030F0902030302020204" pitchFamily="66" charset="0"/>
            </a:endParaRPr>
          </a:p>
        </p:txBody>
      </p:sp>
      <p:pic>
        <p:nvPicPr>
          <p:cNvPr id="22" name="Picture 21">
            <a:extLst>
              <a:ext uri="{FF2B5EF4-FFF2-40B4-BE49-F238E27FC236}">
                <a16:creationId xmlns:a16="http://schemas.microsoft.com/office/drawing/2014/main" id="{B06568F1-811D-1E40-BC33-115795F794C8}"/>
              </a:ext>
            </a:extLst>
          </p:cNvPr>
          <p:cNvPicPr>
            <a:picLocks noChangeAspect="1"/>
          </p:cNvPicPr>
          <p:nvPr/>
        </p:nvPicPr>
        <p:blipFill>
          <a:blip r:embed="rId4"/>
          <a:stretch>
            <a:fillRect/>
          </a:stretch>
        </p:blipFill>
        <p:spPr>
          <a:xfrm>
            <a:off x="11126898" y="1967614"/>
            <a:ext cx="850933" cy="423815"/>
          </a:xfrm>
          <a:prstGeom prst="rect">
            <a:avLst/>
          </a:prstGeom>
        </p:spPr>
      </p:pic>
      <p:pic>
        <p:nvPicPr>
          <p:cNvPr id="24" name="Picture 23">
            <a:extLst>
              <a:ext uri="{FF2B5EF4-FFF2-40B4-BE49-F238E27FC236}">
                <a16:creationId xmlns:a16="http://schemas.microsoft.com/office/drawing/2014/main" id="{6192D148-6FA7-F245-A535-30FBB9ECA34A}"/>
              </a:ext>
            </a:extLst>
          </p:cNvPr>
          <p:cNvPicPr>
            <a:picLocks noChangeAspect="1"/>
          </p:cNvPicPr>
          <p:nvPr/>
        </p:nvPicPr>
        <p:blipFill>
          <a:blip r:embed="rId4"/>
          <a:stretch>
            <a:fillRect/>
          </a:stretch>
        </p:blipFill>
        <p:spPr>
          <a:xfrm>
            <a:off x="8044929" y="1991226"/>
            <a:ext cx="850933" cy="423815"/>
          </a:xfrm>
          <a:prstGeom prst="rect">
            <a:avLst/>
          </a:prstGeom>
        </p:spPr>
      </p:pic>
      <p:grpSp>
        <p:nvGrpSpPr>
          <p:cNvPr id="25" name="Group 24">
            <a:extLst>
              <a:ext uri="{FF2B5EF4-FFF2-40B4-BE49-F238E27FC236}">
                <a16:creationId xmlns:a16="http://schemas.microsoft.com/office/drawing/2014/main" id="{EDCCD66A-D70E-1B48-A33D-4B952C174CAB}"/>
              </a:ext>
            </a:extLst>
          </p:cNvPr>
          <p:cNvGrpSpPr/>
          <p:nvPr/>
        </p:nvGrpSpPr>
        <p:grpSpPr>
          <a:xfrm rot="704968">
            <a:off x="9873275" y="2164793"/>
            <a:ext cx="440764" cy="2242952"/>
            <a:chOff x="5918522" y="2858947"/>
            <a:chExt cx="440764" cy="2242952"/>
          </a:xfrm>
        </p:grpSpPr>
        <p:cxnSp>
          <p:nvCxnSpPr>
            <p:cNvPr id="26" name="Straight Connector 25">
              <a:extLst>
                <a:ext uri="{FF2B5EF4-FFF2-40B4-BE49-F238E27FC236}">
                  <a16:creationId xmlns:a16="http://schemas.microsoft.com/office/drawing/2014/main" id="{665C9A21-04B8-DF40-91A6-4A8D004E4CBE}"/>
                </a:ext>
              </a:extLst>
            </p:cNvPr>
            <p:cNvCxnSpPr>
              <a:cxnSpLocks/>
            </p:cNvCxnSpPr>
            <p:nvPr/>
          </p:nvCxnSpPr>
          <p:spPr>
            <a:xfrm>
              <a:off x="5918522" y="2858947"/>
              <a:ext cx="120199" cy="1127266"/>
            </a:xfrm>
            <a:prstGeom prst="line">
              <a:avLst/>
            </a:prstGeom>
            <a:ln w="127000" cap="rnd">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5BEC328-C9DE-6146-9A7A-8A7BD4211A94}"/>
                </a:ext>
              </a:extLst>
            </p:cNvPr>
            <p:cNvCxnSpPr>
              <a:cxnSpLocks/>
            </p:cNvCxnSpPr>
            <p:nvPr/>
          </p:nvCxnSpPr>
          <p:spPr>
            <a:xfrm flipV="1">
              <a:off x="6052744" y="3602429"/>
              <a:ext cx="246332" cy="404823"/>
            </a:xfrm>
            <a:prstGeom prst="line">
              <a:avLst/>
            </a:prstGeom>
            <a:ln w="127000" cap="rnd">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47DB2B7-A4E2-1541-A746-2251C096E22D}"/>
                </a:ext>
              </a:extLst>
            </p:cNvPr>
            <p:cNvCxnSpPr>
              <a:cxnSpLocks/>
            </p:cNvCxnSpPr>
            <p:nvPr/>
          </p:nvCxnSpPr>
          <p:spPr>
            <a:xfrm>
              <a:off x="6292770" y="3619018"/>
              <a:ext cx="66516" cy="1482881"/>
            </a:xfrm>
            <a:prstGeom prst="line">
              <a:avLst/>
            </a:prstGeom>
            <a:ln w="127000" cap="rnd">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pic>
        <p:nvPicPr>
          <p:cNvPr id="4" name="Picture 3">
            <a:extLst>
              <a:ext uri="{FF2B5EF4-FFF2-40B4-BE49-F238E27FC236}">
                <a16:creationId xmlns:a16="http://schemas.microsoft.com/office/drawing/2014/main" id="{98EF047A-DFAB-4D45-8BFB-56E1CA2EFE3D}"/>
              </a:ext>
            </a:extLst>
          </p:cNvPr>
          <p:cNvPicPr>
            <a:picLocks noChangeAspect="1"/>
          </p:cNvPicPr>
          <p:nvPr/>
        </p:nvPicPr>
        <p:blipFill>
          <a:blip r:embed="rId5"/>
          <a:stretch>
            <a:fillRect/>
          </a:stretch>
        </p:blipFill>
        <p:spPr>
          <a:xfrm>
            <a:off x="1306897" y="3345153"/>
            <a:ext cx="2089422" cy="1277196"/>
          </a:xfrm>
          <a:prstGeom prst="rect">
            <a:avLst/>
          </a:prstGeom>
        </p:spPr>
      </p:pic>
      <p:pic>
        <p:nvPicPr>
          <p:cNvPr id="9" name="Picture 8">
            <a:extLst>
              <a:ext uri="{FF2B5EF4-FFF2-40B4-BE49-F238E27FC236}">
                <a16:creationId xmlns:a16="http://schemas.microsoft.com/office/drawing/2014/main" id="{8E1274AA-2C0C-9B44-BC59-0F2E2A63BBE8}"/>
              </a:ext>
            </a:extLst>
          </p:cNvPr>
          <p:cNvPicPr>
            <a:picLocks noChangeAspect="1"/>
          </p:cNvPicPr>
          <p:nvPr/>
        </p:nvPicPr>
        <p:blipFill>
          <a:blip r:embed="rId6"/>
          <a:stretch>
            <a:fillRect/>
          </a:stretch>
        </p:blipFill>
        <p:spPr>
          <a:xfrm flipH="1">
            <a:off x="553298" y="2453808"/>
            <a:ext cx="1757957" cy="2187226"/>
          </a:xfrm>
          <a:prstGeom prst="rect">
            <a:avLst/>
          </a:prstGeom>
        </p:spPr>
      </p:pic>
      <p:pic>
        <p:nvPicPr>
          <p:cNvPr id="14" name="Picture 13">
            <a:extLst>
              <a:ext uri="{FF2B5EF4-FFF2-40B4-BE49-F238E27FC236}">
                <a16:creationId xmlns:a16="http://schemas.microsoft.com/office/drawing/2014/main" id="{7D88BE32-E19E-8546-AE54-A00BCC4FEC24}"/>
              </a:ext>
            </a:extLst>
          </p:cNvPr>
          <p:cNvPicPr>
            <a:picLocks noChangeAspect="1"/>
          </p:cNvPicPr>
          <p:nvPr/>
        </p:nvPicPr>
        <p:blipFill>
          <a:blip r:embed="rId7">
            <a:alphaModFix amt="70000"/>
          </a:blip>
          <a:stretch>
            <a:fillRect/>
          </a:stretch>
        </p:blipFill>
        <p:spPr>
          <a:xfrm>
            <a:off x="5312740" y="2356386"/>
            <a:ext cx="2409692" cy="2390214"/>
          </a:xfrm>
          <a:prstGeom prst="rect">
            <a:avLst/>
          </a:prstGeom>
        </p:spPr>
      </p:pic>
      <p:pic>
        <p:nvPicPr>
          <p:cNvPr id="31" name="Picture 30">
            <a:extLst>
              <a:ext uri="{FF2B5EF4-FFF2-40B4-BE49-F238E27FC236}">
                <a16:creationId xmlns:a16="http://schemas.microsoft.com/office/drawing/2014/main" id="{1CB5A6CC-0471-4B42-A986-1A58E52EE5A3}"/>
              </a:ext>
            </a:extLst>
          </p:cNvPr>
          <p:cNvPicPr>
            <a:picLocks noChangeAspect="1"/>
          </p:cNvPicPr>
          <p:nvPr/>
        </p:nvPicPr>
        <p:blipFill>
          <a:blip r:embed="rId7">
            <a:grayscl/>
            <a:alphaModFix amt="70000"/>
          </a:blip>
          <a:stretch>
            <a:fillRect/>
          </a:stretch>
        </p:blipFill>
        <p:spPr>
          <a:xfrm flipH="1">
            <a:off x="4401160" y="2364752"/>
            <a:ext cx="2409692" cy="2390214"/>
          </a:xfrm>
          <a:prstGeom prst="rect">
            <a:avLst/>
          </a:prstGeom>
        </p:spPr>
      </p:pic>
    </p:spTree>
    <p:extLst>
      <p:ext uri="{BB962C8B-B14F-4D97-AF65-F5344CB8AC3E}">
        <p14:creationId xmlns:p14="http://schemas.microsoft.com/office/powerpoint/2010/main" val="3983338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3370C-3B7D-CF46-93E9-C35F3D646D86}"/>
              </a:ext>
            </a:extLst>
          </p:cNvPr>
          <p:cNvSpPr>
            <a:spLocks noGrp="1"/>
          </p:cNvSpPr>
          <p:nvPr>
            <p:ph type="title"/>
          </p:nvPr>
        </p:nvSpPr>
        <p:spPr/>
        <p:txBody>
          <a:bodyPr/>
          <a:lstStyle/>
          <a:p>
            <a:r>
              <a:rPr lang="en-US" dirty="0"/>
              <a:t>Quantum superposition</a:t>
            </a:r>
          </a:p>
        </p:txBody>
      </p:sp>
      <p:sp>
        <p:nvSpPr>
          <p:cNvPr id="3" name="Slide Number Placeholder 2">
            <a:extLst>
              <a:ext uri="{FF2B5EF4-FFF2-40B4-BE49-F238E27FC236}">
                <a16:creationId xmlns:a16="http://schemas.microsoft.com/office/drawing/2014/main" id="{F189CCEF-8386-C144-8F2D-F41C240039A3}"/>
              </a:ext>
            </a:extLst>
          </p:cNvPr>
          <p:cNvSpPr>
            <a:spLocks noGrp="1"/>
          </p:cNvSpPr>
          <p:nvPr>
            <p:ph type="sldNum" sz="quarter" idx="12"/>
          </p:nvPr>
        </p:nvSpPr>
        <p:spPr/>
        <p:txBody>
          <a:bodyPr/>
          <a:lstStyle/>
          <a:p>
            <a:fld id="{591A223C-FA10-BC46-A853-03BA373D023C}" type="slidenum">
              <a:rPr lang="en-US" smtClean="0"/>
              <a:t>10</a:t>
            </a:fld>
            <a:endParaRPr lang="en-US"/>
          </a:p>
        </p:txBody>
      </p:sp>
      <p:grpSp>
        <p:nvGrpSpPr>
          <p:cNvPr id="8" name="Group 7">
            <a:extLst>
              <a:ext uri="{FF2B5EF4-FFF2-40B4-BE49-F238E27FC236}">
                <a16:creationId xmlns:a16="http://schemas.microsoft.com/office/drawing/2014/main" id="{169DC57B-7346-3C4C-9AEF-62AF84C79DB3}"/>
              </a:ext>
            </a:extLst>
          </p:cNvPr>
          <p:cNvGrpSpPr>
            <a:grpSpLocks noChangeAspect="1"/>
          </p:cNvGrpSpPr>
          <p:nvPr/>
        </p:nvGrpSpPr>
        <p:grpSpPr>
          <a:xfrm>
            <a:off x="136371" y="1257255"/>
            <a:ext cx="4861494" cy="3855402"/>
            <a:chOff x="1235754" y="1556578"/>
            <a:chExt cx="7292552" cy="5783350"/>
          </a:xfrm>
        </p:grpSpPr>
        <p:grpSp>
          <p:nvGrpSpPr>
            <p:cNvPr id="6" name="Group 5">
              <a:extLst>
                <a:ext uri="{FF2B5EF4-FFF2-40B4-BE49-F238E27FC236}">
                  <a16:creationId xmlns:a16="http://schemas.microsoft.com/office/drawing/2014/main" id="{8A20DF20-8E34-7046-974F-32CDE1FC45C1}"/>
                </a:ext>
              </a:extLst>
            </p:cNvPr>
            <p:cNvGrpSpPr/>
            <p:nvPr/>
          </p:nvGrpSpPr>
          <p:grpSpPr>
            <a:xfrm>
              <a:off x="3224472" y="1556578"/>
              <a:ext cx="5303834" cy="4349589"/>
              <a:chOff x="436357" y="1510018"/>
              <a:chExt cx="5303834" cy="4349589"/>
            </a:xfrm>
          </p:grpSpPr>
          <p:pic>
            <p:nvPicPr>
              <p:cNvPr id="9" name="Picture 8">
                <a:extLst>
                  <a:ext uri="{FF2B5EF4-FFF2-40B4-BE49-F238E27FC236}">
                    <a16:creationId xmlns:a16="http://schemas.microsoft.com/office/drawing/2014/main" id="{351D3123-1D7D-734E-BD8F-814E9CB80563}"/>
                  </a:ext>
                </a:extLst>
              </p:cNvPr>
              <p:cNvPicPr>
                <a:picLocks noChangeAspect="1"/>
              </p:cNvPicPr>
              <p:nvPr/>
            </p:nvPicPr>
            <p:blipFill>
              <a:blip r:embed="rId3"/>
              <a:stretch>
                <a:fillRect/>
              </a:stretch>
            </p:blipFill>
            <p:spPr>
              <a:xfrm>
                <a:off x="436357" y="2532202"/>
                <a:ext cx="5303834" cy="3327405"/>
              </a:xfrm>
              <a:prstGeom prst="rect">
                <a:avLst/>
              </a:prstGeom>
            </p:spPr>
          </p:pic>
          <p:sp>
            <p:nvSpPr>
              <p:cNvPr id="35" name="Rectangle 34">
                <a:extLst>
                  <a:ext uri="{FF2B5EF4-FFF2-40B4-BE49-F238E27FC236}">
                    <a16:creationId xmlns:a16="http://schemas.microsoft.com/office/drawing/2014/main" id="{13C69722-60D3-6A4E-BBA0-D4F68F88104C}"/>
                  </a:ext>
                </a:extLst>
              </p:cNvPr>
              <p:cNvSpPr/>
              <p:nvPr/>
            </p:nvSpPr>
            <p:spPr>
              <a:xfrm>
                <a:off x="2025772" y="1510018"/>
                <a:ext cx="2426730" cy="600191"/>
              </a:xfrm>
              <a:prstGeom prst="rect">
                <a:avLst/>
              </a:prstGeom>
            </p:spPr>
            <p:txBody>
              <a:bodyPr wrap="none">
                <a:spAutoFit/>
              </a:bodyPr>
              <a:lstStyle/>
              <a:p>
                <a:r>
                  <a:rPr lang="en-US" sz="2000" dirty="0"/>
                  <a:t>superposition</a:t>
                </a:r>
              </a:p>
            </p:txBody>
          </p:sp>
        </p:grpSp>
        <p:sp>
          <p:nvSpPr>
            <p:cNvPr id="11" name="Freeform 10">
              <a:extLst>
                <a:ext uri="{FF2B5EF4-FFF2-40B4-BE49-F238E27FC236}">
                  <a16:creationId xmlns:a16="http://schemas.microsoft.com/office/drawing/2014/main" id="{461AF584-B0AD-F54C-B710-F0665E0165A3}"/>
                </a:ext>
              </a:extLst>
            </p:cNvPr>
            <p:cNvSpPr/>
            <p:nvPr/>
          </p:nvSpPr>
          <p:spPr>
            <a:xfrm rot="18477390">
              <a:off x="2195246" y="4915668"/>
              <a:ext cx="2053712" cy="2109206"/>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gradFill flip="none" rotWithShape="1">
              <a:gsLst>
                <a:gs pos="0">
                  <a:schemeClr val="accent1">
                    <a:lumMod val="0"/>
                    <a:lumOff val="100000"/>
                  </a:schemeClr>
                </a:gs>
                <a:gs pos="100000">
                  <a:schemeClr val="accent1">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TextBox 3">
              <a:extLst>
                <a:ext uri="{FF2B5EF4-FFF2-40B4-BE49-F238E27FC236}">
                  <a16:creationId xmlns:a16="http://schemas.microsoft.com/office/drawing/2014/main" id="{2DEEFC7B-AC92-F64E-ABBA-26F1A06C2F76}"/>
                </a:ext>
              </a:extLst>
            </p:cNvPr>
            <p:cNvSpPr txBox="1"/>
            <p:nvPr/>
          </p:nvSpPr>
          <p:spPr>
            <a:xfrm>
              <a:off x="1235754" y="6739737"/>
              <a:ext cx="2562733" cy="600191"/>
            </a:xfrm>
            <a:prstGeom prst="rect">
              <a:avLst/>
            </a:prstGeom>
            <a:noFill/>
          </p:spPr>
          <p:txBody>
            <a:bodyPr wrap="none" rtlCol="0">
              <a:spAutoFit/>
            </a:bodyPr>
            <a:lstStyle/>
            <a:p>
              <a:r>
                <a:rPr lang="en-US" sz="2000" dirty="0"/>
                <a:t>quantum state</a:t>
              </a:r>
            </a:p>
          </p:txBody>
        </p:sp>
      </p:grpSp>
      <p:grpSp>
        <p:nvGrpSpPr>
          <p:cNvPr id="12" name="Group 11">
            <a:extLst>
              <a:ext uri="{FF2B5EF4-FFF2-40B4-BE49-F238E27FC236}">
                <a16:creationId xmlns:a16="http://schemas.microsoft.com/office/drawing/2014/main" id="{0FF6FBEA-091B-BC40-888B-9D6A3AD1680E}"/>
              </a:ext>
            </a:extLst>
          </p:cNvPr>
          <p:cNvGrpSpPr>
            <a:grpSpLocks noChangeAspect="1"/>
          </p:cNvGrpSpPr>
          <p:nvPr/>
        </p:nvGrpSpPr>
        <p:grpSpPr>
          <a:xfrm>
            <a:off x="5443197" y="1065263"/>
            <a:ext cx="6012908" cy="4047394"/>
            <a:chOff x="1044009" y="1805727"/>
            <a:chExt cx="8193246" cy="5515018"/>
          </a:xfrm>
        </p:grpSpPr>
        <p:grpSp>
          <p:nvGrpSpPr>
            <p:cNvPr id="5" name="Group 4">
              <a:extLst>
                <a:ext uri="{FF2B5EF4-FFF2-40B4-BE49-F238E27FC236}">
                  <a16:creationId xmlns:a16="http://schemas.microsoft.com/office/drawing/2014/main" id="{1435E2A9-84AC-DD46-BB27-B570FD2DA6BC}"/>
                </a:ext>
              </a:extLst>
            </p:cNvPr>
            <p:cNvGrpSpPr/>
            <p:nvPr/>
          </p:nvGrpSpPr>
          <p:grpSpPr>
            <a:xfrm>
              <a:off x="2076832" y="1805727"/>
              <a:ext cx="7160423" cy="4100440"/>
              <a:chOff x="4325462" y="1750620"/>
              <a:chExt cx="7160423" cy="4100440"/>
            </a:xfrm>
          </p:grpSpPr>
          <p:pic>
            <p:nvPicPr>
              <p:cNvPr id="17" name="Picture 16">
                <a:extLst>
                  <a:ext uri="{FF2B5EF4-FFF2-40B4-BE49-F238E27FC236}">
                    <a16:creationId xmlns:a16="http://schemas.microsoft.com/office/drawing/2014/main" id="{A95101A6-BAAD-0C42-8003-E839EA440B58}"/>
                  </a:ext>
                </a:extLst>
              </p:cNvPr>
              <p:cNvPicPr>
                <a:picLocks noChangeAspect="1"/>
              </p:cNvPicPr>
              <p:nvPr/>
            </p:nvPicPr>
            <p:blipFill>
              <a:blip r:embed="rId4"/>
              <a:stretch>
                <a:fillRect/>
              </a:stretch>
            </p:blipFill>
            <p:spPr>
              <a:xfrm>
                <a:off x="4325462" y="2395986"/>
                <a:ext cx="6406548" cy="3455074"/>
              </a:xfrm>
              <a:prstGeom prst="rect">
                <a:avLst/>
              </a:prstGeom>
            </p:spPr>
          </p:pic>
          <p:pic>
            <p:nvPicPr>
              <p:cNvPr id="34" name="Picture 33">
                <a:extLst>
                  <a:ext uri="{FF2B5EF4-FFF2-40B4-BE49-F238E27FC236}">
                    <a16:creationId xmlns:a16="http://schemas.microsoft.com/office/drawing/2014/main" id="{D86F3CF6-DFE4-DF49-BA1E-14488DE18F68}"/>
                  </a:ext>
                </a:extLst>
              </p:cNvPr>
              <p:cNvPicPr>
                <a:picLocks noChangeAspect="1"/>
              </p:cNvPicPr>
              <p:nvPr/>
            </p:nvPicPr>
            <p:blipFill>
              <a:blip r:embed="rId5"/>
              <a:stretch>
                <a:fillRect/>
              </a:stretch>
            </p:blipFill>
            <p:spPr>
              <a:xfrm rot="20341305">
                <a:off x="10874561" y="2071343"/>
                <a:ext cx="611324" cy="909525"/>
              </a:xfrm>
              <a:prstGeom prst="rect">
                <a:avLst/>
              </a:prstGeom>
            </p:spPr>
          </p:pic>
          <p:sp>
            <p:nvSpPr>
              <p:cNvPr id="36" name="Rectangle 35">
                <a:extLst>
                  <a:ext uri="{FF2B5EF4-FFF2-40B4-BE49-F238E27FC236}">
                    <a16:creationId xmlns:a16="http://schemas.microsoft.com/office/drawing/2014/main" id="{4B5CF05B-7714-1749-81AF-FC8CEEE2D90C}"/>
                  </a:ext>
                </a:extLst>
              </p:cNvPr>
              <p:cNvSpPr/>
              <p:nvPr/>
            </p:nvSpPr>
            <p:spPr>
              <a:xfrm>
                <a:off x="6148353" y="1750620"/>
                <a:ext cx="4190386" cy="545194"/>
              </a:xfrm>
              <a:prstGeom prst="rect">
                <a:avLst/>
              </a:prstGeom>
            </p:spPr>
            <p:txBody>
              <a:bodyPr wrap="none">
                <a:spAutoFit/>
              </a:bodyPr>
              <a:lstStyle/>
              <a:p>
                <a:r>
                  <a:rPr lang="en-ZA" sz="2000" dirty="0"/>
                  <a:t>observation - measurement</a:t>
                </a:r>
                <a:endParaRPr lang="en-US" sz="2000" dirty="0"/>
              </a:p>
            </p:txBody>
          </p:sp>
        </p:grpSp>
        <p:sp>
          <p:nvSpPr>
            <p:cNvPr id="10" name="TextBox 9">
              <a:extLst>
                <a:ext uri="{FF2B5EF4-FFF2-40B4-BE49-F238E27FC236}">
                  <a16:creationId xmlns:a16="http://schemas.microsoft.com/office/drawing/2014/main" id="{1D21F55E-5250-314B-A4DA-04C5F105CAF7}"/>
                </a:ext>
              </a:extLst>
            </p:cNvPr>
            <p:cNvSpPr txBox="1"/>
            <p:nvPr/>
          </p:nvSpPr>
          <p:spPr>
            <a:xfrm>
              <a:off x="1044009" y="6775551"/>
              <a:ext cx="2179724" cy="545194"/>
            </a:xfrm>
            <a:prstGeom prst="rect">
              <a:avLst/>
            </a:prstGeom>
            <a:noFill/>
          </p:spPr>
          <p:txBody>
            <a:bodyPr wrap="none" rtlCol="0">
              <a:spAutoFit/>
            </a:bodyPr>
            <a:lstStyle/>
            <a:p>
              <a:r>
                <a:rPr lang="en-US" sz="2000" dirty="0"/>
                <a:t>classical state</a:t>
              </a:r>
            </a:p>
          </p:txBody>
        </p:sp>
        <p:sp>
          <p:nvSpPr>
            <p:cNvPr id="16" name="Freeform 15">
              <a:extLst>
                <a:ext uri="{FF2B5EF4-FFF2-40B4-BE49-F238E27FC236}">
                  <a16:creationId xmlns:a16="http://schemas.microsoft.com/office/drawing/2014/main" id="{DA4C929D-6F73-2041-BF3E-C24DEEF1E4BB}"/>
                </a:ext>
              </a:extLst>
            </p:cNvPr>
            <p:cNvSpPr/>
            <p:nvPr/>
          </p:nvSpPr>
          <p:spPr>
            <a:xfrm rot="18477390">
              <a:off x="2389754" y="4930450"/>
              <a:ext cx="1667958" cy="2292027"/>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gradFill flip="none" rotWithShape="1">
              <a:gsLst>
                <a:gs pos="0">
                  <a:schemeClr val="accent1">
                    <a:lumMod val="0"/>
                    <a:lumOff val="100000"/>
                  </a:schemeClr>
                </a:gs>
                <a:gs pos="100000">
                  <a:schemeClr val="accent1">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 name="Rectangle 6">
            <a:extLst>
              <a:ext uri="{FF2B5EF4-FFF2-40B4-BE49-F238E27FC236}">
                <a16:creationId xmlns:a16="http://schemas.microsoft.com/office/drawing/2014/main" id="{268B992B-FCA6-6A4F-8E54-2C6353F4AD6E}"/>
              </a:ext>
            </a:extLst>
          </p:cNvPr>
          <p:cNvSpPr/>
          <p:nvPr/>
        </p:nvSpPr>
        <p:spPr>
          <a:xfrm>
            <a:off x="282566" y="5559633"/>
            <a:ext cx="11572550" cy="830997"/>
          </a:xfrm>
          <a:prstGeom prst="rect">
            <a:avLst/>
          </a:prstGeom>
          <a:solidFill>
            <a:schemeClr val="accent4">
              <a:lumMod val="20000"/>
              <a:lumOff val="80000"/>
            </a:schemeClr>
          </a:solidFill>
        </p:spPr>
        <p:txBody>
          <a:bodyPr wrap="square">
            <a:spAutoFit/>
          </a:bodyPr>
          <a:lstStyle/>
          <a:p>
            <a:pPr algn="ctr"/>
            <a:r>
              <a:rPr lang="en-ZA" sz="2400" dirty="0"/>
              <a:t>Superposition is a phenomenon in which a quantum object, completely isolated from its environment, exists in multiple states simultaneously.</a:t>
            </a:r>
            <a:endParaRPr lang="en-US" sz="2400" dirty="0"/>
          </a:p>
        </p:txBody>
      </p:sp>
    </p:spTree>
    <p:extLst>
      <p:ext uri="{BB962C8B-B14F-4D97-AF65-F5344CB8AC3E}">
        <p14:creationId xmlns:p14="http://schemas.microsoft.com/office/powerpoint/2010/main" val="2561717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2C1CFC-051A-C744-8E62-930431D2DCB3}"/>
              </a:ext>
            </a:extLst>
          </p:cNvPr>
          <p:cNvSpPr>
            <a:spLocks noGrp="1"/>
          </p:cNvSpPr>
          <p:nvPr>
            <p:ph type="sldNum" sz="quarter" idx="12"/>
          </p:nvPr>
        </p:nvSpPr>
        <p:spPr/>
        <p:txBody>
          <a:bodyPr/>
          <a:lstStyle/>
          <a:p>
            <a:fld id="{591A223C-FA10-BC46-A853-03BA373D023C}" type="slidenum">
              <a:rPr lang="en-US" smtClean="0"/>
              <a:t>11</a:t>
            </a:fld>
            <a:endParaRPr lang="en-US"/>
          </a:p>
        </p:txBody>
      </p:sp>
      <p:sp>
        <p:nvSpPr>
          <p:cNvPr id="3" name="Title 2">
            <a:extLst>
              <a:ext uri="{FF2B5EF4-FFF2-40B4-BE49-F238E27FC236}">
                <a16:creationId xmlns:a16="http://schemas.microsoft.com/office/drawing/2014/main" id="{97A042C8-A4A0-3342-9BBA-FB6C8778328C}"/>
              </a:ext>
            </a:extLst>
          </p:cNvPr>
          <p:cNvSpPr>
            <a:spLocks noGrp="1"/>
          </p:cNvSpPr>
          <p:nvPr>
            <p:ph type="title"/>
          </p:nvPr>
        </p:nvSpPr>
        <p:spPr/>
        <p:txBody>
          <a:bodyPr/>
          <a:lstStyle/>
          <a:p>
            <a:r>
              <a:rPr lang="en-ZA" dirty="0"/>
              <a:t>Copenhagen interpretation</a:t>
            </a:r>
            <a:endParaRPr lang="en-US" dirty="0"/>
          </a:p>
        </p:txBody>
      </p:sp>
      <p:pic>
        <p:nvPicPr>
          <p:cNvPr id="4" name="Picture 3">
            <a:extLst>
              <a:ext uri="{FF2B5EF4-FFF2-40B4-BE49-F238E27FC236}">
                <a16:creationId xmlns:a16="http://schemas.microsoft.com/office/drawing/2014/main" id="{63454DB4-6CE4-FD46-89A9-E459B479585A}"/>
              </a:ext>
            </a:extLst>
          </p:cNvPr>
          <p:cNvPicPr>
            <a:picLocks noChangeAspect="1"/>
          </p:cNvPicPr>
          <p:nvPr/>
        </p:nvPicPr>
        <p:blipFill>
          <a:blip r:embed="rId3"/>
          <a:stretch>
            <a:fillRect/>
          </a:stretch>
        </p:blipFill>
        <p:spPr>
          <a:xfrm>
            <a:off x="245880" y="1412278"/>
            <a:ext cx="6684346" cy="4053600"/>
          </a:xfrm>
          <a:prstGeom prst="rect">
            <a:avLst/>
          </a:prstGeom>
        </p:spPr>
      </p:pic>
      <p:pic>
        <p:nvPicPr>
          <p:cNvPr id="5" name="Picture 4">
            <a:extLst>
              <a:ext uri="{FF2B5EF4-FFF2-40B4-BE49-F238E27FC236}">
                <a16:creationId xmlns:a16="http://schemas.microsoft.com/office/drawing/2014/main" id="{678545FA-43E0-FB4D-8ACE-BB6A41EF0717}"/>
              </a:ext>
            </a:extLst>
          </p:cNvPr>
          <p:cNvPicPr>
            <a:picLocks noChangeAspect="1"/>
          </p:cNvPicPr>
          <p:nvPr/>
        </p:nvPicPr>
        <p:blipFill>
          <a:blip r:embed="rId4"/>
          <a:stretch>
            <a:fillRect/>
          </a:stretch>
        </p:blipFill>
        <p:spPr>
          <a:xfrm>
            <a:off x="7101034" y="1726102"/>
            <a:ext cx="2347766" cy="2443107"/>
          </a:xfrm>
          <a:prstGeom prst="rect">
            <a:avLst/>
          </a:prstGeom>
        </p:spPr>
      </p:pic>
      <p:sp>
        <p:nvSpPr>
          <p:cNvPr id="6" name="TextBox 5">
            <a:extLst>
              <a:ext uri="{FF2B5EF4-FFF2-40B4-BE49-F238E27FC236}">
                <a16:creationId xmlns:a16="http://schemas.microsoft.com/office/drawing/2014/main" id="{F8E94423-46C4-C640-867C-97722728E9D5}"/>
              </a:ext>
            </a:extLst>
          </p:cNvPr>
          <p:cNvSpPr txBox="1"/>
          <p:nvPr/>
        </p:nvSpPr>
        <p:spPr>
          <a:xfrm>
            <a:off x="9435781" y="3205809"/>
            <a:ext cx="2212401" cy="707886"/>
          </a:xfrm>
          <a:prstGeom prst="rect">
            <a:avLst/>
          </a:prstGeom>
          <a:noFill/>
        </p:spPr>
        <p:txBody>
          <a:bodyPr wrap="none" rtlCol="0">
            <a:spAutoFit/>
          </a:bodyPr>
          <a:lstStyle/>
          <a:p>
            <a:pPr algn="ctr"/>
            <a:r>
              <a:rPr lang="en-US" sz="2000" dirty="0"/>
              <a:t>Werner Heisenberg</a:t>
            </a:r>
          </a:p>
          <a:p>
            <a:pPr algn="ctr"/>
            <a:r>
              <a:rPr lang="en-US" sz="2000" dirty="0"/>
              <a:t>(1901 - 1976)</a:t>
            </a:r>
          </a:p>
        </p:txBody>
      </p:sp>
      <p:pic>
        <p:nvPicPr>
          <p:cNvPr id="7" name="Picture 6">
            <a:extLst>
              <a:ext uri="{FF2B5EF4-FFF2-40B4-BE49-F238E27FC236}">
                <a16:creationId xmlns:a16="http://schemas.microsoft.com/office/drawing/2014/main" id="{9BD9A869-50E6-0D48-97A5-905BAB95B8BA}"/>
              </a:ext>
            </a:extLst>
          </p:cNvPr>
          <p:cNvPicPr>
            <a:picLocks noChangeAspect="1"/>
          </p:cNvPicPr>
          <p:nvPr/>
        </p:nvPicPr>
        <p:blipFill>
          <a:blip r:embed="rId5"/>
          <a:stretch>
            <a:fillRect/>
          </a:stretch>
        </p:blipFill>
        <p:spPr>
          <a:xfrm>
            <a:off x="10008829" y="3913695"/>
            <a:ext cx="2004477" cy="2370405"/>
          </a:xfrm>
          <a:prstGeom prst="rect">
            <a:avLst/>
          </a:prstGeom>
        </p:spPr>
      </p:pic>
      <p:sp>
        <p:nvSpPr>
          <p:cNvPr id="8" name="TextBox 7">
            <a:extLst>
              <a:ext uri="{FF2B5EF4-FFF2-40B4-BE49-F238E27FC236}">
                <a16:creationId xmlns:a16="http://schemas.microsoft.com/office/drawing/2014/main" id="{A2825B8B-0882-FB4D-98CA-B712E355FA50}"/>
              </a:ext>
            </a:extLst>
          </p:cNvPr>
          <p:cNvSpPr txBox="1"/>
          <p:nvPr/>
        </p:nvSpPr>
        <p:spPr>
          <a:xfrm>
            <a:off x="8274917" y="5576214"/>
            <a:ext cx="1574470" cy="707886"/>
          </a:xfrm>
          <a:prstGeom prst="rect">
            <a:avLst/>
          </a:prstGeom>
          <a:noFill/>
        </p:spPr>
        <p:txBody>
          <a:bodyPr wrap="none" rtlCol="0">
            <a:spAutoFit/>
          </a:bodyPr>
          <a:lstStyle/>
          <a:p>
            <a:pPr algn="ctr"/>
            <a:r>
              <a:rPr lang="en-ZA" sz="2000" dirty="0"/>
              <a:t>Max Born</a:t>
            </a:r>
            <a:br>
              <a:rPr lang="en-ZA" sz="2000" dirty="0"/>
            </a:br>
            <a:r>
              <a:rPr lang="en-US" sz="2000" dirty="0"/>
              <a:t>(1882 - 1970)</a:t>
            </a:r>
          </a:p>
        </p:txBody>
      </p:sp>
      <p:pic>
        <p:nvPicPr>
          <p:cNvPr id="10" name="Picture 9">
            <a:extLst>
              <a:ext uri="{FF2B5EF4-FFF2-40B4-BE49-F238E27FC236}">
                <a16:creationId xmlns:a16="http://schemas.microsoft.com/office/drawing/2014/main" id="{64514BAF-5A64-9146-908D-908CA9DCAC79}"/>
              </a:ext>
            </a:extLst>
          </p:cNvPr>
          <p:cNvPicPr>
            <a:picLocks noChangeAspect="1"/>
          </p:cNvPicPr>
          <p:nvPr/>
        </p:nvPicPr>
        <p:blipFill>
          <a:blip r:embed="rId6"/>
          <a:stretch>
            <a:fillRect/>
          </a:stretch>
        </p:blipFill>
        <p:spPr>
          <a:xfrm>
            <a:off x="9794658" y="199145"/>
            <a:ext cx="2279765" cy="2451636"/>
          </a:xfrm>
          <a:prstGeom prst="rect">
            <a:avLst/>
          </a:prstGeom>
        </p:spPr>
      </p:pic>
      <p:sp>
        <p:nvSpPr>
          <p:cNvPr id="11" name="TextBox 10">
            <a:extLst>
              <a:ext uri="{FF2B5EF4-FFF2-40B4-BE49-F238E27FC236}">
                <a16:creationId xmlns:a16="http://schemas.microsoft.com/office/drawing/2014/main" id="{6C093809-AAAE-A641-96DB-732460C22525}"/>
              </a:ext>
            </a:extLst>
          </p:cNvPr>
          <p:cNvSpPr txBox="1"/>
          <p:nvPr/>
        </p:nvSpPr>
        <p:spPr>
          <a:xfrm>
            <a:off x="8275446" y="802243"/>
            <a:ext cx="1624163" cy="707886"/>
          </a:xfrm>
          <a:prstGeom prst="rect">
            <a:avLst/>
          </a:prstGeom>
          <a:noFill/>
        </p:spPr>
        <p:txBody>
          <a:bodyPr wrap="none" rtlCol="0">
            <a:spAutoFit/>
          </a:bodyPr>
          <a:lstStyle/>
          <a:p>
            <a:pPr algn="ctr"/>
            <a:r>
              <a:rPr lang="en-US" sz="2000" dirty="0"/>
              <a:t>Niels Bohr</a:t>
            </a:r>
          </a:p>
          <a:p>
            <a:pPr algn="ctr"/>
            <a:r>
              <a:rPr lang="en-US" sz="2000" dirty="0"/>
              <a:t>(1885 – 1962)</a:t>
            </a:r>
          </a:p>
        </p:txBody>
      </p:sp>
    </p:spTree>
    <p:extLst>
      <p:ext uri="{BB962C8B-B14F-4D97-AF65-F5344CB8AC3E}">
        <p14:creationId xmlns:p14="http://schemas.microsoft.com/office/powerpoint/2010/main" val="2394374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4E719D-B3BB-A844-99A1-2DA0FE4E19CE}"/>
              </a:ext>
            </a:extLst>
          </p:cNvPr>
          <p:cNvSpPr>
            <a:spLocks noGrp="1"/>
          </p:cNvSpPr>
          <p:nvPr>
            <p:ph type="sldNum" sz="quarter" idx="12"/>
          </p:nvPr>
        </p:nvSpPr>
        <p:spPr/>
        <p:txBody>
          <a:bodyPr/>
          <a:lstStyle/>
          <a:p>
            <a:fld id="{591A223C-FA10-BC46-A853-03BA373D023C}" type="slidenum">
              <a:rPr lang="en-US" smtClean="0"/>
              <a:t>12</a:t>
            </a:fld>
            <a:endParaRPr lang="en-US"/>
          </a:p>
        </p:txBody>
      </p:sp>
      <p:sp>
        <p:nvSpPr>
          <p:cNvPr id="3" name="Title 2">
            <a:extLst>
              <a:ext uri="{FF2B5EF4-FFF2-40B4-BE49-F238E27FC236}">
                <a16:creationId xmlns:a16="http://schemas.microsoft.com/office/drawing/2014/main" id="{315B3CA1-80A7-E44A-B56B-00EBFA5159E7}"/>
              </a:ext>
            </a:extLst>
          </p:cNvPr>
          <p:cNvSpPr>
            <a:spLocks noGrp="1"/>
          </p:cNvSpPr>
          <p:nvPr>
            <p:ph type="title"/>
          </p:nvPr>
        </p:nvSpPr>
        <p:spPr/>
        <p:txBody>
          <a:bodyPr/>
          <a:lstStyle/>
          <a:p>
            <a:r>
              <a:rPr lang="en-ZA" dirty="0"/>
              <a:t>Basic concepts</a:t>
            </a:r>
            <a:endParaRPr lang="en-US" dirty="0"/>
          </a:p>
        </p:txBody>
      </p:sp>
      <p:sp>
        <p:nvSpPr>
          <p:cNvPr id="4" name="TextBox 3">
            <a:extLst>
              <a:ext uri="{FF2B5EF4-FFF2-40B4-BE49-F238E27FC236}">
                <a16:creationId xmlns:a16="http://schemas.microsoft.com/office/drawing/2014/main" id="{274D909B-F406-0A47-BCAE-F5A32EF839B9}"/>
              </a:ext>
            </a:extLst>
          </p:cNvPr>
          <p:cNvSpPr txBox="1"/>
          <p:nvPr/>
        </p:nvSpPr>
        <p:spPr>
          <a:xfrm>
            <a:off x="280218" y="1138909"/>
            <a:ext cx="4450706" cy="1169551"/>
          </a:xfrm>
          <a:prstGeom prst="rect">
            <a:avLst/>
          </a:prstGeom>
          <a:noFill/>
        </p:spPr>
        <p:txBody>
          <a:bodyPr wrap="none" rtlCol="0">
            <a:spAutoFit/>
          </a:bodyPr>
          <a:lstStyle/>
          <a:p>
            <a:r>
              <a:rPr lang="en-US" sz="2200" b="1" dirty="0"/>
              <a:t>Quantum State</a:t>
            </a:r>
            <a:r>
              <a:rPr lang="en-US" sz="2200" dirty="0"/>
              <a:t>:</a:t>
            </a:r>
          </a:p>
          <a:p>
            <a:r>
              <a:rPr lang="en-ZA" sz="2400" dirty="0"/>
              <a:t>The state of a physical system, </a:t>
            </a:r>
          </a:p>
          <a:p>
            <a:r>
              <a:rPr lang="en-ZA" sz="2400" dirty="0"/>
              <a:t>described by quantum mechanics.</a:t>
            </a:r>
            <a:endParaRPr lang="en-US" sz="2200" dirty="0"/>
          </a:p>
        </p:txBody>
      </p:sp>
      <p:pic>
        <p:nvPicPr>
          <p:cNvPr id="5" name="Picture 4">
            <a:extLst>
              <a:ext uri="{FF2B5EF4-FFF2-40B4-BE49-F238E27FC236}">
                <a16:creationId xmlns:a16="http://schemas.microsoft.com/office/drawing/2014/main" id="{32E5EEB4-B383-9C48-8B4C-511C054AA8C4}"/>
              </a:ext>
            </a:extLst>
          </p:cNvPr>
          <p:cNvPicPr>
            <a:picLocks noChangeAspect="1"/>
          </p:cNvPicPr>
          <p:nvPr/>
        </p:nvPicPr>
        <p:blipFill>
          <a:blip r:embed="rId3"/>
          <a:stretch>
            <a:fillRect/>
          </a:stretch>
        </p:blipFill>
        <p:spPr>
          <a:xfrm>
            <a:off x="2153792" y="3989931"/>
            <a:ext cx="1697269" cy="1113342"/>
          </a:xfrm>
          <a:prstGeom prst="rect">
            <a:avLst/>
          </a:prstGeom>
        </p:spPr>
      </p:pic>
      <p:pic>
        <p:nvPicPr>
          <p:cNvPr id="6" name="Picture 5">
            <a:extLst>
              <a:ext uri="{FF2B5EF4-FFF2-40B4-BE49-F238E27FC236}">
                <a16:creationId xmlns:a16="http://schemas.microsoft.com/office/drawing/2014/main" id="{3B79338B-CE5B-3E40-826A-178B89433B82}"/>
              </a:ext>
            </a:extLst>
          </p:cNvPr>
          <p:cNvPicPr>
            <a:picLocks noChangeAspect="1"/>
          </p:cNvPicPr>
          <p:nvPr/>
        </p:nvPicPr>
        <p:blipFill>
          <a:blip r:embed="rId4"/>
          <a:stretch>
            <a:fillRect/>
          </a:stretch>
        </p:blipFill>
        <p:spPr>
          <a:xfrm>
            <a:off x="7004742" y="3989931"/>
            <a:ext cx="1697269" cy="1113342"/>
          </a:xfrm>
          <a:prstGeom prst="rect">
            <a:avLst/>
          </a:prstGeom>
        </p:spPr>
      </p:pic>
      <p:pic>
        <p:nvPicPr>
          <p:cNvPr id="7" name="Picture 6">
            <a:extLst>
              <a:ext uri="{FF2B5EF4-FFF2-40B4-BE49-F238E27FC236}">
                <a16:creationId xmlns:a16="http://schemas.microsoft.com/office/drawing/2014/main" id="{7219BB6B-74CD-E147-9799-DDF50AB9328C}"/>
              </a:ext>
            </a:extLst>
          </p:cNvPr>
          <p:cNvPicPr>
            <a:picLocks noChangeAspect="1"/>
          </p:cNvPicPr>
          <p:nvPr/>
        </p:nvPicPr>
        <p:blipFill>
          <a:blip r:embed="rId5">
            <a:alphaModFix amt="86000"/>
          </a:blip>
          <a:stretch>
            <a:fillRect/>
          </a:stretch>
        </p:blipFill>
        <p:spPr>
          <a:xfrm rot="16200000">
            <a:off x="4356881" y="1817197"/>
            <a:ext cx="1923286" cy="1036729"/>
          </a:xfrm>
          <a:prstGeom prst="rect">
            <a:avLst/>
          </a:prstGeom>
        </p:spPr>
      </p:pic>
      <p:sp>
        <p:nvSpPr>
          <p:cNvPr id="9" name="TextBox 8">
            <a:extLst>
              <a:ext uri="{FF2B5EF4-FFF2-40B4-BE49-F238E27FC236}">
                <a16:creationId xmlns:a16="http://schemas.microsoft.com/office/drawing/2014/main" id="{0F75DB38-72E9-1540-97A3-7D71E4C90175}"/>
              </a:ext>
            </a:extLst>
          </p:cNvPr>
          <p:cNvSpPr txBox="1"/>
          <p:nvPr/>
        </p:nvSpPr>
        <p:spPr>
          <a:xfrm>
            <a:off x="8194303" y="2209072"/>
            <a:ext cx="3997697" cy="1446550"/>
          </a:xfrm>
          <a:prstGeom prst="rect">
            <a:avLst/>
          </a:prstGeom>
          <a:noFill/>
        </p:spPr>
        <p:txBody>
          <a:bodyPr wrap="none" rtlCol="0">
            <a:spAutoFit/>
          </a:bodyPr>
          <a:lstStyle/>
          <a:p>
            <a:r>
              <a:rPr lang="en-US" sz="2200" b="1" dirty="0"/>
              <a:t>Quantum Collapse:</a:t>
            </a:r>
          </a:p>
          <a:p>
            <a:r>
              <a:rPr lang="en-US" sz="2200" dirty="0"/>
              <a:t>When observed/measured, </a:t>
            </a:r>
          </a:p>
          <a:p>
            <a:r>
              <a:rPr lang="en-US" sz="2200" dirty="0"/>
              <a:t>a quantum object randomly</a:t>
            </a:r>
          </a:p>
          <a:p>
            <a:r>
              <a:rPr lang="en-US" sz="2200" dirty="0"/>
              <a:t>collapses  into one possible state.</a:t>
            </a:r>
          </a:p>
        </p:txBody>
      </p:sp>
      <p:sp>
        <p:nvSpPr>
          <p:cNvPr id="10" name="TextBox 9">
            <a:extLst>
              <a:ext uri="{FF2B5EF4-FFF2-40B4-BE49-F238E27FC236}">
                <a16:creationId xmlns:a16="http://schemas.microsoft.com/office/drawing/2014/main" id="{0D7548AB-684A-DD47-80D2-38057B895F1B}"/>
              </a:ext>
            </a:extLst>
          </p:cNvPr>
          <p:cNvSpPr txBox="1"/>
          <p:nvPr/>
        </p:nvSpPr>
        <p:spPr>
          <a:xfrm>
            <a:off x="6404902" y="819920"/>
            <a:ext cx="4020652" cy="1169551"/>
          </a:xfrm>
          <a:prstGeom prst="rect">
            <a:avLst/>
          </a:prstGeom>
          <a:noFill/>
        </p:spPr>
        <p:txBody>
          <a:bodyPr wrap="none" rtlCol="0">
            <a:spAutoFit/>
          </a:bodyPr>
          <a:lstStyle/>
          <a:p>
            <a:r>
              <a:rPr lang="en-US" sz="2200" b="1" dirty="0"/>
              <a:t>Quantum Superposition</a:t>
            </a:r>
            <a:r>
              <a:rPr lang="en-US" sz="2200" dirty="0"/>
              <a:t>: </a:t>
            </a:r>
          </a:p>
          <a:p>
            <a:r>
              <a:rPr lang="en-ZA" sz="2400" dirty="0"/>
              <a:t>A quantum system can exist </a:t>
            </a:r>
          </a:p>
          <a:p>
            <a:r>
              <a:rPr lang="en-ZA" sz="2400" dirty="0"/>
              <a:t>in two states at the same time</a:t>
            </a:r>
            <a:r>
              <a:rPr lang="en-US" sz="2200" dirty="0"/>
              <a:t>.</a:t>
            </a:r>
          </a:p>
        </p:txBody>
      </p:sp>
      <p:sp>
        <p:nvSpPr>
          <p:cNvPr id="12" name="TextBox 11">
            <a:extLst>
              <a:ext uri="{FF2B5EF4-FFF2-40B4-BE49-F238E27FC236}">
                <a16:creationId xmlns:a16="http://schemas.microsoft.com/office/drawing/2014/main" id="{11E63204-96DB-094A-AE22-CD17E21683A3}"/>
              </a:ext>
            </a:extLst>
          </p:cNvPr>
          <p:cNvSpPr txBox="1"/>
          <p:nvPr/>
        </p:nvSpPr>
        <p:spPr>
          <a:xfrm>
            <a:off x="280218" y="5103273"/>
            <a:ext cx="4314771" cy="1169551"/>
          </a:xfrm>
          <a:prstGeom prst="rect">
            <a:avLst/>
          </a:prstGeom>
          <a:noFill/>
        </p:spPr>
        <p:txBody>
          <a:bodyPr wrap="none" rtlCol="0">
            <a:spAutoFit/>
          </a:bodyPr>
          <a:lstStyle/>
          <a:p>
            <a:r>
              <a:rPr lang="en-ZA" sz="2200" b="1" dirty="0"/>
              <a:t>Classical State</a:t>
            </a:r>
            <a:r>
              <a:rPr lang="en-ZA" sz="2200" dirty="0"/>
              <a:t>:</a:t>
            </a:r>
          </a:p>
          <a:p>
            <a:r>
              <a:rPr lang="en-ZA" sz="2400" dirty="0"/>
              <a:t>The state of a physical system, </a:t>
            </a:r>
          </a:p>
          <a:p>
            <a:r>
              <a:rPr lang="en-ZA" sz="2400" dirty="0"/>
              <a:t>described by classical mechanics.</a:t>
            </a:r>
            <a:endParaRPr lang="en-US" sz="2200" dirty="0"/>
          </a:p>
        </p:txBody>
      </p:sp>
      <p:cxnSp>
        <p:nvCxnSpPr>
          <p:cNvPr id="14" name="Straight Connector 13">
            <a:extLst>
              <a:ext uri="{FF2B5EF4-FFF2-40B4-BE49-F238E27FC236}">
                <a16:creationId xmlns:a16="http://schemas.microsoft.com/office/drawing/2014/main" id="{D3CFD923-B539-944D-B16D-010A5EADA73A}"/>
              </a:ext>
            </a:extLst>
          </p:cNvPr>
          <p:cNvCxnSpPr>
            <a:cxnSpLocks/>
          </p:cNvCxnSpPr>
          <p:nvPr/>
        </p:nvCxnSpPr>
        <p:spPr>
          <a:xfrm flipV="1">
            <a:off x="383458" y="3834580"/>
            <a:ext cx="11162779" cy="1"/>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17" name="Freeform 16">
            <a:extLst>
              <a:ext uri="{FF2B5EF4-FFF2-40B4-BE49-F238E27FC236}">
                <a16:creationId xmlns:a16="http://schemas.microsoft.com/office/drawing/2014/main" id="{A9367B01-F201-9D4A-96D1-86CAE96B4F3B}"/>
              </a:ext>
            </a:extLst>
          </p:cNvPr>
          <p:cNvSpPr/>
          <p:nvPr/>
        </p:nvSpPr>
        <p:spPr>
          <a:xfrm rot="6003379">
            <a:off x="2877701" y="2268153"/>
            <a:ext cx="1421500" cy="1475540"/>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solidFill>
            <a:schemeClr val="accent6">
              <a:lumMod val="20000"/>
              <a:lumOff val="80000"/>
            </a:schemeClr>
          </a:solidFill>
          <a:ln w="254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70" dirty="0"/>
              <a:t>≈	</a:t>
            </a:r>
          </a:p>
        </p:txBody>
      </p:sp>
      <p:sp>
        <p:nvSpPr>
          <p:cNvPr id="18" name="Freeform 17">
            <a:extLst>
              <a:ext uri="{FF2B5EF4-FFF2-40B4-BE49-F238E27FC236}">
                <a16:creationId xmlns:a16="http://schemas.microsoft.com/office/drawing/2014/main" id="{AB0B20DC-DAAD-6742-B1C0-4D3C030DD941}"/>
              </a:ext>
            </a:extLst>
          </p:cNvPr>
          <p:cNvSpPr/>
          <p:nvPr/>
        </p:nvSpPr>
        <p:spPr>
          <a:xfrm rot="15596621" flipH="1">
            <a:off x="6384280" y="2264279"/>
            <a:ext cx="1421500" cy="1475540"/>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solidFill>
            <a:schemeClr val="accent6">
              <a:lumMod val="20000"/>
              <a:lumOff val="80000"/>
            </a:schemeClr>
          </a:solidFill>
          <a:ln w="254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70" dirty="0"/>
              <a:t>≈	</a:t>
            </a:r>
          </a:p>
        </p:txBody>
      </p:sp>
      <p:sp>
        <p:nvSpPr>
          <p:cNvPr id="19" name="TextBox 18">
            <a:extLst>
              <a:ext uri="{FF2B5EF4-FFF2-40B4-BE49-F238E27FC236}">
                <a16:creationId xmlns:a16="http://schemas.microsoft.com/office/drawing/2014/main" id="{D7C8F95F-90E1-7B4C-A2AB-184875190C20}"/>
              </a:ext>
            </a:extLst>
          </p:cNvPr>
          <p:cNvSpPr txBox="1"/>
          <p:nvPr/>
        </p:nvSpPr>
        <p:spPr>
          <a:xfrm>
            <a:off x="5024212" y="4194231"/>
            <a:ext cx="588623" cy="646331"/>
          </a:xfrm>
          <a:prstGeom prst="rect">
            <a:avLst/>
          </a:prstGeom>
          <a:noFill/>
        </p:spPr>
        <p:txBody>
          <a:bodyPr wrap="none" rtlCol="0">
            <a:spAutoFit/>
          </a:bodyPr>
          <a:lstStyle/>
          <a:p>
            <a:r>
              <a:rPr lang="en-US" sz="3600" dirty="0"/>
              <a:t>or</a:t>
            </a:r>
          </a:p>
        </p:txBody>
      </p:sp>
    </p:spTree>
    <p:extLst>
      <p:ext uri="{BB962C8B-B14F-4D97-AF65-F5344CB8AC3E}">
        <p14:creationId xmlns:p14="http://schemas.microsoft.com/office/powerpoint/2010/main" val="3672356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32CCD1CB-B55E-154A-ADC4-EDA885F9C93F}"/>
              </a:ext>
            </a:extLst>
          </p:cNvPr>
          <p:cNvSpPr/>
          <p:nvPr/>
        </p:nvSpPr>
        <p:spPr>
          <a:xfrm>
            <a:off x="3579201" y="540507"/>
            <a:ext cx="3013242" cy="4250267"/>
          </a:xfrm>
          <a:custGeom>
            <a:avLst/>
            <a:gdLst>
              <a:gd name="connsiteX0" fmla="*/ 0 w 4030133"/>
              <a:gd name="connsiteY0" fmla="*/ 1710267 h 4250267"/>
              <a:gd name="connsiteX1" fmla="*/ 1219200 w 4030133"/>
              <a:gd name="connsiteY1" fmla="*/ 1456267 h 4250267"/>
              <a:gd name="connsiteX2" fmla="*/ 2201333 w 4030133"/>
              <a:gd name="connsiteY2" fmla="*/ 1202267 h 4250267"/>
              <a:gd name="connsiteX3" fmla="*/ 3081867 w 4030133"/>
              <a:gd name="connsiteY3" fmla="*/ 762000 h 4250267"/>
              <a:gd name="connsiteX4" fmla="*/ 3826933 w 4030133"/>
              <a:gd name="connsiteY4" fmla="*/ 186267 h 4250267"/>
              <a:gd name="connsiteX5" fmla="*/ 3996267 w 4030133"/>
              <a:gd name="connsiteY5" fmla="*/ 0 h 4250267"/>
              <a:gd name="connsiteX6" fmla="*/ 4030133 w 4030133"/>
              <a:gd name="connsiteY6" fmla="*/ 1574800 h 4250267"/>
              <a:gd name="connsiteX7" fmla="*/ 3979333 w 4030133"/>
              <a:gd name="connsiteY7" fmla="*/ 2590800 h 4250267"/>
              <a:gd name="connsiteX8" fmla="*/ 3318933 w 4030133"/>
              <a:gd name="connsiteY8" fmla="*/ 3132667 h 4250267"/>
              <a:gd name="connsiteX9" fmla="*/ 2133600 w 4030133"/>
              <a:gd name="connsiteY9" fmla="*/ 3657600 h 4250267"/>
              <a:gd name="connsiteX10" fmla="*/ 1236133 w 4030133"/>
              <a:gd name="connsiteY10" fmla="*/ 3962400 h 4250267"/>
              <a:gd name="connsiteX11" fmla="*/ 524933 w 4030133"/>
              <a:gd name="connsiteY11" fmla="*/ 4148667 h 4250267"/>
              <a:gd name="connsiteX12" fmla="*/ 33867 w 4030133"/>
              <a:gd name="connsiteY12" fmla="*/ 4250267 h 4250267"/>
              <a:gd name="connsiteX0" fmla="*/ 0 w 4030133"/>
              <a:gd name="connsiteY0" fmla="*/ 1710267 h 4250267"/>
              <a:gd name="connsiteX1" fmla="*/ 1219200 w 4030133"/>
              <a:gd name="connsiteY1" fmla="*/ 1456267 h 4250267"/>
              <a:gd name="connsiteX2" fmla="*/ 2201333 w 4030133"/>
              <a:gd name="connsiteY2" fmla="*/ 1202267 h 4250267"/>
              <a:gd name="connsiteX3" fmla="*/ 3081867 w 4030133"/>
              <a:gd name="connsiteY3" fmla="*/ 762000 h 4250267"/>
              <a:gd name="connsiteX4" fmla="*/ 3826933 w 4030133"/>
              <a:gd name="connsiteY4" fmla="*/ 186267 h 4250267"/>
              <a:gd name="connsiteX5" fmla="*/ 3996267 w 4030133"/>
              <a:gd name="connsiteY5" fmla="*/ 0 h 4250267"/>
              <a:gd name="connsiteX6" fmla="*/ 4030133 w 4030133"/>
              <a:gd name="connsiteY6" fmla="*/ 1574800 h 4250267"/>
              <a:gd name="connsiteX7" fmla="*/ 3979333 w 4030133"/>
              <a:gd name="connsiteY7" fmla="*/ 2590800 h 4250267"/>
              <a:gd name="connsiteX8" fmla="*/ 3318933 w 4030133"/>
              <a:gd name="connsiteY8" fmla="*/ 3132667 h 4250267"/>
              <a:gd name="connsiteX9" fmla="*/ 2133600 w 4030133"/>
              <a:gd name="connsiteY9" fmla="*/ 3657600 h 4250267"/>
              <a:gd name="connsiteX10" fmla="*/ 1236133 w 4030133"/>
              <a:gd name="connsiteY10" fmla="*/ 3962400 h 4250267"/>
              <a:gd name="connsiteX11" fmla="*/ 524933 w 4030133"/>
              <a:gd name="connsiteY11" fmla="*/ 4148667 h 4250267"/>
              <a:gd name="connsiteX12" fmla="*/ 33867 w 4030133"/>
              <a:gd name="connsiteY12" fmla="*/ 4250267 h 4250267"/>
              <a:gd name="connsiteX13" fmla="*/ 0 w 4030133"/>
              <a:gd name="connsiteY13" fmla="*/ 1710267 h 4250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30133" h="4250267">
                <a:moveTo>
                  <a:pt x="0" y="1710267"/>
                </a:moveTo>
                <a:lnTo>
                  <a:pt x="1219200" y="1456267"/>
                </a:lnTo>
                <a:lnTo>
                  <a:pt x="2201333" y="1202267"/>
                </a:lnTo>
                <a:lnTo>
                  <a:pt x="3081867" y="762000"/>
                </a:lnTo>
                <a:lnTo>
                  <a:pt x="3826933" y="186267"/>
                </a:lnTo>
                <a:lnTo>
                  <a:pt x="3996267" y="0"/>
                </a:lnTo>
                <a:lnTo>
                  <a:pt x="4030133" y="1574800"/>
                </a:lnTo>
                <a:lnTo>
                  <a:pt x="3979333" y="2590800"/>
                </a:lnTo>
                <a:lnTo>
                  <a:pt x="3318933" y="3132667"/>
                </a:lnTo>
                <a:lnTo>
                  <a:pt x="2133600" y="3657600"/>
                </a:lnTo>
                <a:lnTo>
                  <a:pt x="1236133" y="3962400"/>
                </a:lnTo>
                <a:lnTo>
                  <a:pt x="524933" y="4148667"/>
                </a:lnTo>
                <a:lnTo>
                  <a:pt x="33867" y="4250267"/>
                </a:lnTo>
                <a:lnTo>
                  <a:pt x="0" y="1710267"/>
                </a:lnTo>
                <a:close/>
              </a:path>
            </a:pathLst>
          </a:custGeom>
          <a:solidFill>
            <a:schemeClr val="bg1">
              <a:lumMod val="85000"/>
            </a:schemeClr>
          </a:solidFill>
          <a:ln w="254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9A534DB-F2A8-FC47-A466-0626A4CC42D4}"/>
              </a:ext>
            </a:extLst>
          </p:cNvPr>
          <p:cNvPicPr>
            <a:picLocks noChangeAspect="1"/>
          </p:cNvPicPr>
          <p:nvPr/>
        </p:nvPicPr>
        <p:blipFill>
          <a:blip r:embed="rId3"/>
          <a:stretch>
            <a:fillRect/>
          </a:stretch>
        </p:blipFill>
        <p:spPr>
          <a:xfrm>
            <a:off x="4617485" y="2037302"/>
            <a:ext cx="1568496" cy="1843521"/>
          </a:xfrm>
          <a:prstGeom prst="rect">
            <a:avLst/>
          </a:prstGeom>
          <a:effectLst>
            <a:glow>
              <a:schemeClr val="accent1">
                <a:alpha val="40000"/>
              </a:schemeClr>
            </a:glow>
            <a:softEdge rad="0"/>
          </a:effectLst>
        </p:spPr>
      </p:pic>
      <p:sp>
        <p:nvSpPr>
          <p:cNvPr id="2" name="Slide Number Placeholder 1">
            <a:extLst>
              <a:ext uri="{FF2B5EF4-FFF2-40B4-BE49-F238E27FC236}">
                <a16:creationId xmlns:a16="http://schemas.microsoft.com/office/drawing/2014/main" id="{C97BAAE9-A952-0044-A131-6AC34D925924}"/>
              </a:ext>
            </a:extLst>
          </p:cNvPr>
          <p:cNvSpPr>
            <a:spLocks noGrp="1"/>
          </p:cNvSpPr>
          <p:nvPr>
            <p:ph type="sldNum" sz="quarter" idx="12"/>
          </p:nvPr>
        </p:nvSpPr>
        <p:spPr/>
        <p:txBody>
          <a:bodyPr/>
          <a:lstStyle/>
          <a:p>
            <a:fld id="{591A223C-FA10-BC46-A853-03BA373D023C}" type="slidenum">
              <a:rPr lang="en-US" smtClean="0"/>
              <a:t>13</a:t>
            </a:fld>
            <a:endParaRPr lang="en-US"/>
          </a:p>
        </p:txBody>
      </p:sp>
      <p:sp>
        <p:nvSpPr>
          <p:cNvPr id="3" name="Title 2">
            <a:extLst>
              <a:ext uri="{FF2B5EF4-FFF2-40B4-BE49-F238E27FC236}">
                <a16:creationId xmlns:a16="http://schemas.microsoft.com/office/drawing/2014/main" id="{08D2F3C5-FDFD-7E4D-953C-4A210A071FE7}"/>
              </a:ext>
            </a:extLst>
          </p:cNvPr>
          <p:cNvSpPr>
            <a:spLocks noGrp="1"/>
          </p:cNvSpPr>
          <p:nvPr>
            <p:ph type="title"/>
          </p:nvPr>
        </p:nvSpPr>
        <p:spPr/>
        <p:txBody>
          <a:bodyPr/>
          <a:lstStyle/>
          <a:p>
            <a:r>
              <a:rPr lang="en-ZA" dirty="0"/>
              <a:t>Many-Worlds Interpretation</a:t>
            </a:r>
            <a:endParaRPr lang="en-US" dirty="0"/>
          </a:p>
        </p:txBody>
      </p:sp>
      <p:sp>
        <p:nvSpPr>
          <p:cNvPr id="5" name="Freeform 4">
            <a:extLst>
              <a:ext uri="{FF2B5EF4-FFF2-40B4-BE49-F238E27FC236}">
                <a16:creationId xmlns:a16="http://schemas.microsoft.com/office/drawing/2014/main" id="{A6165858-D7EE-5741-B08E-A0526BD1804C}"/>
              </a:ext>
            </a:extLst>
          </p:cNvPr>
          <p:cNvSpPr/>
          <p:nvPr/>
        </p:nvSpPr>
        <p:spPr>
          <a:xfrm>
            <a:off x="914400" y="2172792"/>
            <a:ext cx="2709333" cy="2641600"/>
          </a:xfrm>
          <a:custGeom>
            <a:avLst/>
            <a:gdLst>
              <a:gd name="connsiteX0" fmla="*/ 0 w 2709333"/>
              <a:gd name="connsiteY0" fmla="*/ 0 h 2607733"/>
              <a:gd name="connsiteX1" fmla="*/ 33866 w 2709333"/>
              <a:gd name="connsiteY1" fmla="*/ 1439333 h 2607733"/>
              <a:gd name="connsiteX2" fmla="*/ 50800 w 2709333"/>
              <a:gd name="connsiteY2" fmla="*/ 2607733 h 2607733"/>
              <a:gd name="connsiteX3" fmla="*/ 2319866 w 2709333"/>
              <a:gd name="connsiteY3" fmla="*/ 2573866 h 2607733"/>
              <a:gd name="connsiteX4" fmla="*/ 2709333 w 2709333"/>
              <a:gd name="connsiteY4" fmla="*/ 2573866 h 2607733"/>
              <a:gd name="connsiteX5" fmla="*/ 2675466 w 2709333"/>
              <a:gd name="connsiteY5" fmla="*/ 50800 h 2607733"/>
              <a:gd name="connsiteX6" fmla="*/ 0 w 2709333"/>
              <a:gd name="connsiteY6" fmla="*/ 0 h 2607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09333" h="2607733">
                <a:moveTo>
                  <a:pt x="0" y="0"/>
                </a:moveTo>
                <a:lnTo>
                  <a:pt x="33866" y="1439333"/>
                </a:lnTo>
                <a:lnTo>
                  <a:pt x="50800" y="2607733"/>
                </a:lnTo>
                <a:lnTo>
                  <a:pt x="2319866" y="2573866"/>
                </a:lnTo>
                <a:lnTo>
                  <a:pt x="2709333" y="2573866"/>
                </a:lnTo>
                <a:lnTo>
                  <a:pt x="2675466" y="50800"/>
                </a:lnTo>
                <a:lnTo>
                  <a:pt x="0" y="0"/>
                </a:lnTo>
                <a:close/>
              </a:path>
            </a:pathLst>
          </a:custGeom>
          <a:solidFill>
            <a:schemeClr val="bg1">
              <a:lumMod val="95000"/>
            </a:schemeClr>
          </a:solidFill>
          <a:ln w="254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a:extLst>
              <a:ext uri="{FF2B5EF4-FFF2-40B4-BE49-F238E27FC236}">
                <a16:creationId xmlns:a16="http://schemas.microsoft.com/office/drawing/2014/main" id="{574D53F7-E349-264C-B9FF-06D916C13546}"/>
              </a:ext>
            </a:extLst>
          </p:cNvPr>
          <p:cNvSpPr/>
          <p:nvPr/>
        </p:nvSpPr>
        <p:spPr>
          <a:xfrm>
            <a:off x="3579201" y="2222681"/>
            <a:ext cx="3057773" cy="4467439"/>
          </a:xfrm>
          <a:custGeom>
            <a:avLst/>
            <a:gdLst>
              <a:gd name="connsiteX0" fmla="*/ 101600 w 4572000"/>
              <a:gd name="connsiteY0" fmla="*/ 0 h 4893733"/>
              <a:gd name="connsiteX1" fmla="*/ 1134533 w 4572000"/>
              <a:gd name="connsiteY1" fmla="*/ 287867 h 4893733"/>
              <a:gd name="connsiteX2" fmla="*/ 2133600 w 4572000"/>
              <a:gd name="connsiteY2" fmla="*/ 609600 h 4893733"/>
              <a:gd name="connsiteX3" fmla="*/ 2794000 w 4572000"/>
              <a:gd name="connsiteY3" fmla="*/ 931333 h 4893733"/>
              <a:gd name="connsiteX4" fmla="*/ 3539066 w 4572000"/>
              <a:gd name="connsiteY4" fmla="*/ 1253067 h 4893733"/>
              <a:gd name="connsiteX5" fmla="*/ 4064000 w 4572000"/>
              <a:gd name="connsiteY5" fmla="*/ 1642533 h 4893733"/>
              <a:gd name="connsiteX6" fmla="*/ 4436533 w 4572000"/>
              <a:gd name="connsiteY6" fmla="*/ 2015067 h 4893733"/>
              <a:gd name="connsiteX7" fmla="*/ 4538133 w 4572000"/>
              <a:gd name="connsiteY7" fmla="*/ 2184400 h 4893733"/>
              <a:gd name="connsiteX8" fmla="*/ 4572000 w 4572000"/>
              <a:gd name="connsiteY8" fmla="*/ 3302000 h 4893733"/>
              <a:gd name="connsiteX9" fmla="*/ 4572000 w 4572000"/>
              <a:gd name="connsiteY9" fmla="*/ 4707467 h 4893733"/>
              <a:gd name="connsiteX10" fmla="*/ 4521200 w 4572000"/>
              <a:gd name="connsiteY10" fmla="*/ 4893733 h 4893733"/>
              <a:gd name="connsiteX11" fmla="*/ 4097866 w 4572000"/>
              <a:gd name="connsiteY11" fmla="*/ 4487333 h 4893733"/>
              <a:gd name="connsiteX12" fmla="*/ 3369733 w 4572000"/>
              <a:gd name="connsiteY12" fmla="*/ 3928533 h 4893733"/>
              <a:gd name="connsiteX13" fmla="*/ 2472266 w 4572000"/>
              <a:gd name="connsiteY13" fmla="*/ 3386667 h 4893733"/>
              <a:gd name="connsiteX14" fmla="*/ 1473200 w 4572000"/>
              <a:gd name="connsiteY14" fmla="*/ 2929467 h 4893733"/>
              <a:gd name="connsiteX15" fmla="*/ 491066 w 4572000"/>
              <a:gd name="connsiteY15" fmla="*/ 2624667 h 4893733"/>
              <a:gd name="connsiteX16" fmla="*/ 84666 w 4572000"/>
              <a:gd name="connsiteY16" fmla="*/ 2573867 h 4893733"/>
              <a:gd name="connsiteX17" fmla="*/ 67733 w 4572000"/>
              <a:gd name="connsiteY17" fmla="*/ 1490133 h 4893733"/>
              <a:gd name="connsiteX18" fmla="*/ 67733 w 4572000"/>
              <a:gd name="connsiteY18" fmla="*/ 609600 h 4893733"/>
              <a:gd name="connsiteX19" fmla="*/ 0 w 4572000"/>
              <a:gd name="connsiteY19" fmla="*/ 84667 h 4893733"/>
              <a:gd name="connsiteX0" fmla="*/ 44589 w 4572000"/>
              <a:gd name="connsiteY0" fmla="*/ 0 h 4886176"/>
              <a:gd name="connsiteX1" fmla="*/ 1134533 w 4572000"/>
              <a:gd name="connsiteY1" fmla="*/ 280310 h 4886176"/>
              <a:gd name="connsiteX2" fmla="*/ 2133600 w 4572000"/>
              <a:gd name="connsiteY2" fmla="*/ 602043 h 4886176"/>
              <a:gd name="connsiteX3" fmla="*/ 2794000 w 4572000"/>
              <a:gd name="connsiteY3" fmla="*/ 923776 h 4886176"/>
              <a:gd name="connsiteX4" fmla="*/ 3539066 w 4572000"/>
              <a:gd name="connsiteY4" fmla="*/ 1245510 h 4886176"/>
              <a:gd name="connsiteX5" fmla="*/ 4064000 w 4572000"/>
              <a:gd name="connsiteY5" fmla="*/ 1634976 h 4886176"/>
              <a:gd name="connsiteX6" fmla="*/ 4436533 w 4572000"/>
              <a:gd name="connsiteY6" fmla="*/ 2007510 h 4886176"/>
              <a:gd name="connsiteX7" fmla="*/ 4538133 w 4572000"/>
              <a:gd name="connsiteY7" fmla="*/ 2176843 h 4886176"/>
              <a:gd name="connsiteX8" fmla="*/ 4572000 w 4572000"/>
              <a:gd name="connsiteY8" fmla="*/ 3294443 h 4886176"/>
              <a:gd name="connsiteX9" fmla="*/ 4572000 w 4572000"/>
              <a:gd name="connsiteY9" fmla="*/ 4699910 h 4886176"/>
              <a:gd name="connsiteX10" fmla="*/ 4521200 w 4572000"/>
              <a:gd name="connsiteY10" fmla="*/ 4886176 h 4886176"/>
              <a:gd name="connsiteX11" fmla="*/ 4097866 w 4572000"/>
              <a:gd name="connsiteY11" fmla="*/ 4479776 h 4886176"/>
              <a:gd name="connsiteX12" fmla="*/ 3369733 w 4572000"/>
              <a:gd name="connsiteY12" fmla="*/ 3920976 h 4886176"/>
              <a:gd name="connsiteX13" fmla="*/ 2472266 w 4572000"/>
              <a:gd name="connsiteY13" fmla="*/ 3379110 h 4886176"/>
              <a:gd name="connsiteX14" fmla="*/ 1473200 w 4572000"/>
              <a:gd name="connsiteY14" fmla="*/ 2921910 h 4886176"/>
              <a:gd name="connsiteX15" fmla="*/ 491066 w 4572000"/>
              <a:gd name="connsiteY15" fmla="*/ 2617110 h 4886176"/>
              <a:gd name="connsiteX16" fmla="*/ 84666 w 4572000"/>
              <a:gd name="connsiteY16" fmla="*/ 2566310 h 4886176"/>
              <a:gd name="connsiteX17" fmla="*/ 67733 w 4572000"/>
              <a:gd name="connsiteY17" fmla="*/ 1482576 h 4886176"/>
              <a:gd name="connsiteX18" fmla="*/ 67733 w 4572000"/>
              <a:gd name="connsiteY18" fmla="*/ 602043 h 4886176"/>
              <a:gd name="connsiteX19" fmla="*/ 0 w 4572000"/>
              <a:gd name="connsiteY19" fmla="*/ 77110 h 4886176"/>
              <a:gd name="connsiteX0" fmla="*/ 44589 w 4572000"/>
              <a:gd name="connsiteY0" fmla="*/ 0 h 4886176"/>
              <a:gd name="connsiteX1" fmla="*/ 1134533 w 4572000"/>
              <a:gd name="connsiteY1" fmla="*/ 280310 h 4886176"/>
              <a:gd name="connsiteX2" fmla="*/ 2133600 w 4572000"/>
              <a:gd name="connsiteY2" fmla="*/ 602043 h 4886176"/>
              <a:gd name="connsiteX3" fmla="*/ 2794000 w 4572000"/>
              <a:gd name="connsiteY3" fmla="*/ 923776 h 4886176"/>
              <a:gd name="connsiteX4" fmla="*/ 3539066 w 4572000"/>
              <a:gd name="connsiteY4" fmla="*/ 1245510 h 4886176"/>
              <a:gd name="connsiteX5" fmla="*/ 4064000 w 4572000"/>
              <a:gd name="connsiteY5" fmla="*/ 1634976 h 4886176"/>
              <a:gd name="connsiteX6" fmla="*/ 4436533 w 4572000"/>
              <a:gd name="connsiteY6" fmla="*/ 2007510 h 4886176"/>
              <a:gd name="connsiteX7" fmla="*/ 4538133 w 4572000"/>
              <a:gd name="connsiteY7" fmla="*/ 2176843 h 4886176"/>
              <a:gd name="connsiteX8" fmla="*/ 4572000 w 4572000"/>
              <a:gd name="connsiteY8" fmla="*/ 3294443 h 4886176"/>
              <a:gd name="connsiteX9" fmla="*/ 4572000 w 4572000"/>
              <a:gd name="connsiteY9" fmla="*/ 4699910 h 4886176"/>
              <a:gd name="connsiteX10" fmla="*/ 4521200 w 4572000"/>
              <a:gd name="connsiteY10" fmla="*/ 4886176 h 4886176"/>
              <a:gd name="connsiteX11" fmla="*/ 4097866 w 4572000"/>
              <a:gd name="connsiteY11" fmla="*/ 4479776 h 4886176"/>
              <a:gd name="connsiteX12" fmla="*/ 3369733 w 4572000"/>
              <a:gd name="connsiteY12" fmla="*/ 3920976 h 4886176"/>
              <a:gd name="connsiteX13" fmla="*/ 2472266 w 4572000"/>
              <a:gd name="connsiteY13" fmla="*/ 3379110 h 4886176"/>
              <a:gd name="connsiteX14" fmla="*/ 1473200 w 4572000"/>
              <a:gd name="connsiteY14" fmla="*/ 2921910 h 4886176"/>
              <a:gd name="connsiteX15" fmla="*/ 491066 w 4572000"/>
              <a:gd name="connsiteY15" fmla="*/ 2617110 h 4886176"/>
              <a:gd name="connsiteX16" fmla="*/ 84666 w 4572000"/>
              <a:gd name="connsiteY16" fmla="*/ 2566310 h 4886176"/>
              <a:gd name="connsiteX17" fmla="*/ 67733 w 4572000"/>
              <a:gd name="connsiteY17" fmla="*/ 1482576 h 4886176"/>
              <a:gd name="connsiteX18" fmla="*/ 67733 w 4572000"/>
              <a:gd name="connsiteY18" fmla="*/ 602043 h 4886176"/>
              <a:gd name="connsiteX19" fmla="*/ 0 w 4572000"/>
              <a:gd name="connsiteY19" fmla="*/ 9096 h 4886176"/>
              <a:gd name="connsiteX0" fmla="*/ 101600 w 4629011"/>
              <a:gd name="connsiteY0" fmla="*/ 0 h 4886176"/>
              <a:gd name="connsiteX1" fmla="*/ 1191544 w 4629011"/>
              <a:gd name="connsiteY1" fmla="*/ 280310 h 4886176"/>
              <a:gd name="connsiteX2" fmla="*/ 2190611 w 4629011"/>
              <a:gd name="connsiteY2" fmla="*/ 602043 h 4886176"/>
              <a:gd name="connsiteX3" fmla="*/ 2851011 w 4629011"/>
              <a:gd name="connsiteY3" fmla="*/ 923776 h 4886176"/>
              <a:gd name="connsiteX4" fmla="*/ 3596077 w 4629011"/>
              <a:gd name="connsiteY4" fmla="*/ 1245510 h 4886176"/>
              <a:gd name="connsiteX5" fmla="*/ 4121011 w 4629011"/>
              <a:gd name="connsiteY5" fmla="*/ 1634976 h 4886176"/>
              <a:gd name="connsiteX6" fmla="*/ 4493544 w 4629011"/>
              <a:gd name="connsiteY6" fmla="*/ 2007510 h 4886176"/>
              <a:gd name="connsiteX7" fmla="*/ 4595144 w 4629011"/>
              <a:gd name="connsiteY7" fmla="*/ 2176843 h 4886176"/>
              <a:gd name="connsiteX8" fmla="*/ 4629011 w 4629011"/>
              <a:gd name="connsiteY8" fmla="*/ 3294443 h 4886176"/>
              <a:gd name="connsiteX9" fmla="*/ 4629011 w 4629011"/>
              <a:gd name="connsiteY9" fmla="*/ 4699910 h 4886176"/>
              <a:gd name="connsiteX10" fmla="*/ 4578211 w 4629011"/>
              <a:gd name="connsiteY10" fmla="*/ 4886176 h 4886176"/>
              <a:gd name="connsiteX11" fmla="*/ 4154877 w 4629011"/>
              <a:gd name="connsiteY11" fmla="*/ 4479776 h 4886176"/>
              <a:gd name="connsiteX12" fmla="*/ 3426744 w 4629011"/>
              <a:gd name="connsiteY12" fmla="*/ 3920976 h 4886176"/>
              <a:gd name="connsiteX13" fmla="*/ 2529277 w 4629011"/>
              <a:gd name="connsiteY13" fmla="*/ 3379110 h 4886176"/>
              <a:gd name="connsiteX14" fmla="*/ 1530211 w 4629011"/>
              <a:gd name="connsiteY14" fmla="*/ 2921910 h 4886176"/>
              <a:gd name="connsiteX15" fmla="*/ 548077 w 4629011"/>
              <a:gd name="connsiteY15" fmla="*/ 2617110 h 4886176"/>
              <a:gd name="connsiteX16" fmla="*/ 141677 w 4629011"/>
              <a:gd name="connsiteY16" fmla="*/ 2566310 h 4886176"/>
              <a:gd name="connsiteX17" fmla="*/ 124744 w 4629011"/>
              <a:gd name="connsiteY17" fmla="*/ 1482576 h 4886176"/>
              <a:gd name="connsiteX18" fmla="*/ 124744 w 4629011"/>
              <a:gd name="connsiteY18" fmla="*/ 602043 h 4886176"/>
              <a:gd name="connsiteX19" fmla="*/ 0 w 4629011"/>
              <a:gd name="connsiteY19" fmla="*/ 9096 h 4886176"/>
              <a:gd name="connsiteX0" fmla="*/ 101600 w 4629011"/>
              <a:gd name="connsiteY0" fmla="*/ 0 h 4886176"/>
              <a:gd name="connsiteX1" fmla="*/ 1191544 w 4629011"/>
              <a:gd name="connsiteY1" fmla="*/ 280310 h 4886176"/>
              <a:gd name="connsiteX2" fmla="*/ 2190611 w 4629011"/>
              <a:gd name="connsiteY2" fmla="*/ 602043 h 4886176"/>
              <a:gd name="connsiteX3" fmla="*/ 2851011 w 4629011"/>
              <a:gd name="connsiteY3" fmla="*/ 923776 h 4886176"/>
              <a:gd name="connsiteX4" fmla="*/ 3596077 w 4629011"/>
              <a:gd name="connsiteY4" fmla="*/ 1245510 h 4886176"/>
              <a:gd name="connsiteX5" fmla="*/ 4121011 w 4629011"/>
              <a:gd name="connsiteY5" fmla="*/ 1634976 h 4886176"/>
              <a:gd name="connsiteX6" fmla="*/ 4493544 w 4629011"/>
              <a:gd name="connsiteY6" fmla="*/ 2007510 h 4886176"/>
              <a:gd name="connsiteX7" fmla="*/ 4595144 w 4629011"/>
              <a:gd name="connsiteY7" fmla="*/ 2176843 h 4886176"/>
              <a:gd name="connsiteX8" fmla="*/ 4629011 w 4629011"/>
              <a:gd name="connsiteY8" fmla="*/ 3294443 h 4886176"/>
              <a:gd name="connsiteX9" fmla="*/ 4629011 w 4629011"/>
              <a:gd name="connsiteY9" fmla="*/ 4699910 h 4886176"/>
              <a:gd name="connsiteX10" fmla="*/ 4578211 w 4629011"/>
              <a:gd name="connsiteY10" fmla="*/ 4886176 h 4886176"/>
              <a:gd name="connsiteX11" fmla="*/ 4154877 w 4629011"/>
              <a:gd name="connsiteY11" fmla="*/ 4479776 h 4886176"/>
              <a:gd name="connsiteX12" fmla="*/ 3426744 w 4629011"/>
              <a:gd name="connsiteY12" fmla="*/ 3920976 h 4886176"/>
              <a:gd name="connsiteX13" fmla="*/ 2529277 w 4629011"/>
              <a:gd name="connsiteY13" fmla="*/ 3379110 h 4886176"/>
              <a:gd name="connsiteX14" fmla="*/ 1530211 w 4629011"/>
              <a:gd name="connsiteY14" fmla="*/ 2921910 h 4886176"/>
              <a:gd name="connsiteX15" fmla="*/ 548077 w 4629011"/>
              <a:gd name="connsiteY15" fmla="*/ 2617110 h 4886176"/>
              <a:gd name="connsiteX16" fmla="*/ 141677 w 4629011"/>
              <a:gd name="connsiteY16" fmla="*/ 2566310 h 4886176"/>
              <a:gd name="connsiteX17" fmla="*/ 124744 w 4629011"/>
              <a:gd name="connsiteY17" fmla="*/ 1482576 h 4886176"/>
              <a:gd name="connsiteX18" fmla="*/ 67733 w 4629011"/>
              <a:gd name="connsiteY18" fmla="*/ 617157 h 4886176"/>
              <a:gd name="connsiteX19" fmla="*/ 0 w 4629011"/>
              <a:gd name="connsiteY19" fmla="*/ 9096 h 4886176"/>
              <a:gd name="connsiteX0" fmla="*/ 101600 w 4629011"/>
              <a:gd name="connsiteY0" fmla="*/ 0 h 4886176"/>
              <a:gd name="connsiteX1" fmla="*/ 1191544 w 4629011"/>
              <a:gd name="connsiteY1" fmla="*/ 280310 h 4886176"/>
              <a:gd name="connsiteX2" fmla="*/ 2190611 w 4629011"/>
              <a:gd name="connsiteY2" fmla="*/ 602043 h 4886176"/>
              <a:gd name="connsiteX3" fmla="*/ 2851011 w 4629011"/>
              <a:gd name="connsiteY3" fmla="*/ 923776 h 4886176"/>
              <a:gd name="connsiteX4" fmla="*/ 3596077 w 4629011"/>
              <a:gd name="connsiteY4" fmla="*/ 1245510 h 4886176"/>
              <a:gd name="connsiteX5" fmla="*/ 4121011 w 4629011"/>
              <a:gd name="connsiteY5" fmla="*/ 1634976 h 4886176"/>
              <a:gd name="connsiteX6" fmla="*/ 4493544 w 4629011"/>
              <a:gd name="connsiteY6" fmla="*/ 2007510 h 4886176"/>
              <a:gd name="connsiteX7" fmla="*/ 4595144 w 4629011"/>
              <a:gd name="connsiteY7" fmla="*/ 2176843 h 4886176"/>
              <a:gd name="connsiteX8" fmla="*/ 4629011 w 4629011"/>
              <a:gd name="connsiteY8" fmla="*/ 3294443 h 4886176"/>
              <a:gd name="connsiteX9" fmla="*/ 4629011 w 4629011"/>
              <a:gd name="connsiteY9" fmla="*/ 4699910 h 4886176"/>
              <a:gd name="connsiteX10" fmla="*/ 4578211 w 4629011"/>
              <a:gd name="connsiteY10" fmla="*/ 4886176 h 4886176"/>
              <a:gd name="connsiteX11" fmla="*/ 4154877 w 4629011"/>
              <a:gd name="connsiteY11" fmla="*/ 4479776 h 4886176"/>
              <a:gd name="connsiteX12" fmla="*/ 3426744 w 4629011"/>
              <a:gd name="connsiteY12" fmla="*/ 3920976 h 4886176"/>
              <a:gd name="connsiteX13" fmla="*/ 2529277 w 4629011"/>
              <a:gd name="connsiteY13" fmla="*/ 3379110 h 4886176"/>
              <a:gd name="connsiteX14" fmla="*/ 1530211 w 4629011"/>
              <a:gd name="connsiteY14" fmla="*/ 2921910 h 4886176"/>
              <a:gd name="connsiteX15" fmla="*/ 548077 w 4629011"/>
              <a:gd name="connsiteY15" fmla="*/ 2617110 h 4886176"/>
              <a:gd name="connsiteX16" fmla="*/ 141677 w 4629011"/>
              <a:gd name="connsiteY16" fmla="*/ 2566310 h 4886176"/>
              <a:gd name="connsiteX17" fmla="*/ 56330 w 4629011"/>
              <a:gd name="connsiteY17" fmla="*/ 1490133 h 4886176"/>
              <a:gd name="connsiteX18" fmla="*/ 67733 w 4629011"/>
              <a:gd name="connsiteY18" fmla="*/ 617157 h 4886176"/>
              <a:gd name="connsiteX19" fmla="*/ 0 w 4629011"/>
              <a:gd name="connsiteY19" fmla="*/ 9096 h 4886176"/>
              <a:gd name="connsiteX0" fmla="*/ 101600 w 4629011"/>
              <a:gd name="connsiteY0" fmla="*/ 0 h 4886176"/>
              <a:gd name="connsiteX1" fmla="*/ 1191544 w 4629011"/>
              <a:gd name="connsiteY1" fmla="*/ 280310 h 4886176"/>
              <a:gd name="connsiteX2" fmla="*/ 2190611 w 4629011"/>
              <a:gd name="connsiteY2" fmla="*/ 602043 h 4886176"/>
              <a:gd name="connsiteX3" fmla="*/ 2851011 w 4629011"/>
              <a:gd name="connsiteY3" fmla="*/ 923776 h 4886176"/>
              <a:gd name="connsiteX4" fmla="*/ 3596077 w 4629011"/>
              <a:gd name="connsiteY4" fmla="*/ 1245510 h 4886176"/>
              <a:gd name="connsiteX5" fmla="*/ 4121011 w 4629011"/>
              <a:gd name="connsiteY5" fmla="*/ 1634976 h 4886176"/>
              <a:gd name="connsiteX6" fmla="*/ 4493544 w 4629011"/>
              <a:gd name="connsiteY6" fmla="*/ 2007510 h 4886176"/>
              <a:gd name="connsiteX7" fmla="*/ 4595144 w 4629011"/>
              <a:gd name="connsiteY7" fmla="*/ 2176843 h 4886176"/>
              <a:gd name="connsiteX8" fmla="*/ 4629011 w 4629011"/>
              <a:gd name="connsiteY8" fmla="*/ 3294443 h 4886176"/>
              <a:gd name="connsiteX9" fmla="*/ 4629011 w 4629011"/>
              <a:gd name="connsiteY9" fmla="*/ 4699910 h 4886176"/>
              <a:gd name="connsiteX10" fmla="*/ 4578211 w 4629011"/>
              <a:gd name="connsiteY10" fmla="*/ 4886176 h 4886176"/>
              <a:gd name="connsiteX11" fmla="*/ 4154877 w 4629011"/>
              <a:gd name="connsiteY11" fmla="*/ 4479776 h 4886176"/>
              <a:gd name="connsiteX12" fmla="*/ 3426744 w 4629011"/>
              <a:gd name="connsiteY12" fmla="*/ 3920976 h 4886176"/>
              <a:gd name="connsiteX13" fmla="*/ 2529277 w 4629011"/>
              <a:gd name="connsiteY13" fmla="*/ 3379110 h 4886176"/>
              <a:gd name="connsiteX14" fmla="*/ 1530211 w 4629011"/>
              <a:gd name="connsiteY14" fmla="*/ 2921910 h 4886176"/>
              <a:gd name="connsiteX15" fmla="*/ 548077 w 4629011"/>
              <a:gd name="connsiteY15" fmla="*/ 2617110 h 4886176"/>
              <a:gd name="connsiteX16" fmla="*/ 73264 w 4629011"/>
              <a:gd name="connsiteY16" fmla="*/ 2536082 h 4886176"/>
              <a:gd name="connsiteX17" fmla="*/ 56330 w 4629011"/>
              <a:gd name="connsiteY17" fmla="*/ 1490133 h 4886176"/>
              <a:gd name="connsiteX18" fmla="*/ 67733 w 4629011"/>
              <a:gd name="connsiteY18" fmla="*/ 617157 h 4886176"/>
              <a:gd name="connsiteX19" fmla="*/ 0 w 4629011"/>
              <a:gd name="connsiteY19" fmla="*/ 9096 h 4886176"/>
              <a:gd name="connsiteX0" fmla="*/ 82438 w 4609849"/>
              <a:gd name="connsiteY0" fmla="*/ 19479 h 4905655"/>
              <a:gd name="connsiteX1" fmla="*/ 1172382 w 4609849"/>
              <a:gd name="connsiteY1" fmla="*/ 299789 h 4905655"/>
              <a:gd name="connsiteX2" fmla="*/ 2171449 w 4609849"/>
              <a:gd name="connsiteY2" fmla="*/ 621522 h 4905655"/>
              <a:gd name="connsiteX3" fmla="*/ 2831849 w 4609849"/>
              <a:gd name="connsiteY3" fmla="*/ 943255 h 4905655"/>
              <a:gd name="connsiteX4" fmla="*/ 3576915 w 4609849"/>
              <a:gd name="connsiteY4" fmla="*/ 1264989 h 4905655"/>
              <a:gd name="connsiteX5" fmla="*/ 4101849 w 4609849"/>
              <a:gd name="connsiteY5" fmla="*/ 1654455 h 4905655"/>
              <a:gd name="connsiteX6" fmla="*/ 4474382 w 4609849"/>
              <a:gd name="connsiteY6" fmla="*/ 2026989 h 4905655"/>
              <a:gd name="connsiteX7" fmla="*/ 4575982 w 4609849"/>
              <a:gd name="connsiteY7" fmla="*/ 2196322 h 4905655"/>
              <a:gd name="connsiteX8" fmla="*/ 4609849 w 4609849"/>
              <a:gd name="connsiteY8" fmla="*/ 3313922 h 4905655"/>
              <a:gd name="connsiteX9" fmla="*/ 4609849 w 4609849"/>
              <a:gd name="connsiteY9" fmla="*/ 4719389 h 4905655"/>
              <a:gd name="connsiteX10" fmla="*/ 4559049 w 4609849"/>
              <a:gd name="connsiteY10" fmla="*/ 4905655 h 4905655"/>
              <a:gd name="connsiteX11" fmla="*/ 4135715 w 4609849"/>
              <a:gd name="connsiteY11" fmla="*/ 4499255 h 4905655"/>
              <a:gd name="connsiteX12" fmla="*/ 3407582 w 4609849"/>
              <a:gd name="connsiteY12" fmla="*/ 3940455 h 4905655"/>
              <a:gd name="connsiteX13" fmla="*/ 2510115 w 4609849"/>
              <a:gd name="connsiteY13" fmla="*/ 3398589 h 4905655"/>
              <a:gd name="connsiteX14" fmla="*/ 1511049 w 4609849"/>
              <a:gd name="connsiteY14" fmla="*/ 2941389 h 4905655"/>
              <a:gd name="connsiteX15" fmla="*/ 528915 w 4609849"/>
              <a:gd name="connsiteY15" fmla="*/ 2636589 h 4905655"/>
              <a:gd name="connsiteX16" fmla="*/ 54102 w 4609849"/>
              <a:gd name="connsiteY16" fmla="*/ 2555561 h 4905655"/>
              <a:gd name="connsiteX17" fmla="*/ 37168 w 4609849"/>
              <a:gd name="connsiteY17" fmla="*/ 1509612 h 4905655"/>
              <a:gd name="connsiteX18" fmla="*/ 48571 w 4609849"/>
              <a:gd name="connsiteY18" fmla="*/ 636636 h 4905655"/>
              <a:gd name="connsiteX19" fmla="*/ 0 w 4609849"/>
              <a:gd name="connsiteY19" fmla="*/ 0 h 4905655"/>
              <a:gd name="connsiteX0" fmla="*/ 0 w 4613641"/>
              <a:gd name="connsiteY0" fmla="*/ 0 h 4911576"/>
              <a:gd name="connsiteX1" fmla="*/ 1176174 w 4613641"/>
              <a:gd name="connsiteY1" fmla="*/ 305710 h 4911576"/>
              <a:gd name="connsiteX2" fmla="*/ 2175241 w 4613641"/>
              <a:gd name="connsiteY2" fmla="*/ 627443 h 4911576"/>
              <a:gd name="connsiteX3" fmla="*/ 2835641 w 4613641"/>
              <a:gd name="connsiteY3" fmla="*/ 949176 h 4911576"/>
              <a:gd name="connsiteX4" fmla="*/ 3580707 w 4613641"/>
              <a:gd name="connsiteY4" fmla="*/ 1270910 h 4911576"/>
              <a:gd name="connsiteX5" fmla="*/ 4105641 w 4613641"/>
              <a:gd name="connsiteY5" fmla="*/ 1660376 h 4911576"/>
              <a:gd name="connsiteX6" fmla="*/ 4478174 w 4613641"/>
              <a:gd name="connsiteY6" fmla="*/ 2032910 h 4911576"/>
              <a:gd name="connsiteX7" fmla="*/ 4579774 w 4613641"/>
              <a:gd name="connsiteY7" fmla="*/ 2202243 h 4911576"/>
              <a:gd name="connsiteX8" fmla="*/ 4613641 w 4613641"/>
              <a:gd name="connsiteY8" fmla="*/ 3319843 h 4911576"/>
              <a:gd name="connsiteX9" fmla="*/ 4613641 w 4613641"/>
              <a:gd name="connsiteY9" fmla="*/ 4725310 h 4911576"/>
              <a:gd name="connsiteX10" fmla="*/ 4562841 w 4613641"/>
              <a:gd name="connsiteY10" fmla="*/ 4911576 h 4911576"/>
              <a:gd name="connsiteX11" fmla="*/ 4139507 w 4613641"/>
              <a:gd name="connsiteY11" fmla="*/ 4505176 h 4911576"/>
              <a:gd name="connsiteX12" fmla="*/ 3411374 w 4613641"/>
              <a:gd name="connsiteY12" fmla="*/ 3946376 h 4911576"/>
              <a:gd name="connsiteX13" fmla="*/ 2513907 w 4613641"/>
              <a:gd name="connsiteY13" fmla="*/ 3404510 h 4911576"/>
              <a:gd name="connsiteX14" fmla="*/ 1514841 w 4613641"/>
              <a:gd name="connsiteY14" fmla="*/ 2947310 h 4911576"/>
              <a:gd name="connsiteX15" fmla="*/ 532707 w 4613641"/>
              <a:gd name="connsiteY15" fmla="*/ 2642510 h 4911576"/>
              <a:gd name="connsiteX16" fmla="*/ 57894 w 4613641"/>
              <a:gd name="connsiteY16" fmla="*/ 2561482 h 4911576"/>
              <a:gd name="connsiteX17" fmla="*/ 40960 w 4613641"/>
              <a:gd name="connsiteY17" fmla="*/ 1515533 h 4911576"/>
              <a:gd name="connsiteX18" fmla="*/ 52363 w 4613641"/>
              <a:gd name="connsiteY18" fmla="*/ 642557 h 4911576"/>
              <a:gd name="connsiteX19" fmla="*/ 3792 w 4613641"/>
              <a:gd name="connsiteY19" fmla="*/ 5921 h 4911576"/>
              <a:gd name="connsiteX0" fmla="*/ 0 w 4613641"/>
              <a:gd name="connsiteY0" fmla="*/ 0 h 4911576"/>
              <a:gd name="connsiteX1" fmla="*/ 1176174 w 4613641"/>
              <a:gd name="connsiteY1" fmla="*/ 305710 h 4911576"/>
              <a:gd name="connsiteX2" fmla="*/ 2175241 w 4613641"/>
              <a:gd name="connsiteY2" fmla="*/ 627443 h 4911576"/>
              <a:gd name="connsiteX3" fmla="*/ 2835641 w 4613641"/>
              <a:gd name="connsiteY3" fmla="*/ 949176 h 4911576"/>
              <a:gd name="connsiteX4" fmla="*/ 3580707 w 4613641"/>
              <a:gd name="connsiteY4" fmla="*/ 1270910 h 4911576"/>
              <a:gd name="connsiteX5" fmla="*/ 4105641 w 4613641"/>
              <a:gd name="connsiteY5" fmla="*/ 1660376 h 4911576"/>
              <a:gd name="connsiteX6" fmla="*/ 4478174 w 4613641"/>
              <a:gd name="connsiteY6" fmla="*/ 2032910 h 4911576"/>
              <a:gd name="connsiteX7" fmla="*/ 4579774 w 4613641"/>
              <a:gd name="connsiteY7" fmla="*/ 2202243 h 4911576"/>
              <a:gd name="connsiteX8" fmla="*/ 4613641 w 4613641"/>
              <a:gd name="connsiteY8" fmla="*/ 3319843 h 4911576"/>
              <a:gd name="connsiteX9" fmla="*/ 4613641 w 4613641"/>
              <a:gd name="connsiteY9" fmla="*/ 4725310 h 4911576"/>
              <a:gd name="connsiteX10" fmla="*/ 4562841 w 4613641"/>
              <a:gd name="connsiteY10" fmla="*/ 4911576 h 4911576"/>
              <a:gd name="connsiteX11" fmla="*/ 4139507 w 4613641"/>
              <a:gd name="connsiteY11" fmla="*/ 4505176 h 4911576"/>
              <a:gd name="connsiteX12" fmla="*/ 3411374 w 4613641"/>
              <a:gd name="connsiteY12" fmla="*/ 3946376 h 4911576"/>
              <a:gd name="connsiteX13" fmla="*/ 2513907 w 4613641"/>
              <a:gd name="connsiteY13" fmla="*/ 3404510 h 4911576"/>
              <a:gd name="connsiteX14" fmla="*/ 1514841 w 4613641"/>
              <a:gd name="connsiteY14" fmla="*/ 2947310 h 4911576"/>
              <a:gd name="connsiteX15" fmla="*/ 532707 w 4613641"/>
              <a:gd name="connsiteY15" fmla="*/ 2642510 h 4911576"/>
              <a:gd name="connsiteX16" fmla="*/ 57894 w 4613641"/>
              <a:gd name="connsiteY16" fmla="*/ 2561482 h 4911576"/>
              <a:gd name="connsiteX17" fmla="*/ 40960 w 4613641"/>
              <a:gd name="connsiteY17" fmla="*/ 1515533 h 4911576"/>
              <a:gd name="connsiteX18" fmla="*/ 52363 w 4613641"/>
              <a:gd name="connsiteY18" fmla="*/ 642557 h 4911576"/>
              <a:gd name="connsiteX19" fmla="*/ 3792 w 4613641"/>
              <a:gd name="connsiteY19" fmla="*/ 5921 h 4911576"/>
              <a:gd name="connsiteX20" fmla="*/ 0 w 4613641"/>
              <a:gd name="connsiteY20" fmla="*/ 0 h 4911576"/>
              <a:gd name="connsiteX0" fmla="*/ 0 w 4613641"/>
              <a:gd name="connsiteY0" fmla="*/ 0 h 4911576"/>
              <a:gd name="connsiteX1" fmla="*/ 1176174 w 4613641"/>
              <a:gd name="connsiteY1" fmla="*/ 305710 h 4911576"/>
              <a:gd name="connsiteX2" fmla="*/ 2175241 w 4613641"/>
              <a:gd name="connsiteY2" fmla="*/ 627443 h 4911576"/>
              <a:gd name="connsiteX3" fmla="*/ 2835641 w 4613641"/>
              <a:gd name="connsiteY3" fmla="*/ 949176 h 4911576"/>
              <a:gd name="connsiteX4" fmla="*/ 3580707 w 4613641"/>
              <a:gd name="connsiteY4" fmla="*/ 1270910 h 4911576"/>
              <a:gd name="connsiteX5" fmla="*/ 4105641 w 4613641"/>
              <a:gd name="connsiteY5" fmla="*/ 1660376 h 4911576"/>
              <a:gd name="connsiteX6" fmla="*/ 4478174 w 4613641"/>
              <a:gd name="connsiteY6" fmla="*/ 2032910 h 4911576"/>
              <a:gd name="connsiteX7" fmla="*/ 4579774 w 4613641"/>
              <a:gd name="connsiteY7" fmla="*/ 2202243 h 4911576"/>
              <a:gd name="connsiteX8" fmla="*/ 4613641 w 4613641"/>
              <a:gd name="connsiteY8" fmla="*/ 3319843 h 4911576"/>
              <a:gd name="connsiteX9" fmla="*/ 4562841 w 4613641"/>
              <a:gd name="connsiteY9" fmla="*/ 4911576 h 4911576"/>
              <a:gd name="connsiteX10" fmla="*/ 4139507 w 4613641"/>
              <a:gd name="connsiteY10" fmla="*/ 4505176 h 4911576"/>
              <a:gd name="connsiteX11" fmla="*/ 3411374 w 4613641"/>
              <a:gd name="connsiteY11" fmla="*/ 3946376 h 4911576"/>
              <a:gd name="connsiteX12" fmla="*/ 2513907 w 4613641"/>
              <a:gd name="connsiteY12" fmla="*/ 3404510 h 4911576"/>
              <a:gd name="connsiteX13" fmla="*/ 1514841 w 4613641"/>
              <a:gd name="connsiteY13" fmla="*/ 2947310 h 4911576"/>
              <a:gd name="connsiteX14" fmla="*/ 532707 w 4613641"/>
              <a:gd name="connsiteY14" fmla="*/ 2642510 h 4911576"/>
              <a:gd name="connsiteX15" fmla="*/ 57894 w 4613641"/>
              <a:gd name="connsiteY15" fmla="*/ 2561482 h 4911576"/>
              <a:gd name="connsiteX16" fmla="*/ 40960 w 4613641"/>
              <a:gd name="connsiteY16" fmla="*/ 1515533 h 4911576"/>
              <a:gd name="connsiteX17" fmla="*/ 52363 w 4613641"/>
              <a:gd name="connsiteY17" fmla="*/ 642557 h 4911576"/>
              <a:gd name="connsiteX18" fmla="*/ 3792 w 4613641"/>
              <a:gd name="connsiteY18" fmla="*/ 5921 h 4911576"/>
              <a:gd name="connsiteX19" fmla="*/ 0 w 4613641"/>
              <a:gd name="connsiteY19" fmla="*/ 0 h 4911576"/>
              <a:gd name="connsiteX0" fmla="*/ 0 w 4613641"/>
              <a:gd name="connsiteY0" fmla="*/ 0 h 4715633"/>
              <a:gd name="connsiteX1" fmla="*/ 1176174 w 4613641"/>
              <a:gd name="connsiteY1" fmla="*/ 305710 h 4715633"/>
              <a:gd name="connsiteX2" fmla="*/ 2175241 w 4613641"/>
              <a:gd name="connsiteY2" fmla="*/ 627443 h 4715633"/>
              <a:gd name="connsiteX3" fmla="*/ 2835641 w 4613641"/>
              <a:gd name="connsiteY3" fmla="*/ 949176 h 4715633"/>
              <a:gd name="connsiteX4" fmla="*/ 3580707 w 4613641"/>
              <a:gd name="connsiteY4" fmla="*/ 1270910 h 4715633"/>
              <a:gd name="connsiteX5" fmla="*/ 4105641 w 4613641"/>
              <a:gd name="connsiteY5" fmla="*/ 1660376 h 4715633"/>
              <a:gd name="connsiteX6" fmla="*/ 4478174 w 4613641"/>
              <a:gd name="connsiteY6" fmla="*/ 2032910 h 4715633"/>
              <a:gd name="connsiteX7" fmla="*/ 4579774 w 4613641"/>
              <a:gd name="connsiteY7" fmla="*/ 2202243 h 4715633"/>
              <a:gd name="connsiteX8" fmla="*/ 4613641 w 4613641"/>
              <a:gd name="connsiteY8" fmla="*/ 3319843 h 4715633"/>
              <a:gd name="connsiteX9" fmla="*/ 4562842 w 4613641"/>
              <a:gd name="connsiteY9" fmla="*/ 4715633 h 4715633"/>
              <a:gd name="connsiteX10" fmla="*/ 4139507 w 4613641"/>
              <a:gd name="connsiteY10" fmla="*/ 4505176 h 4715633"/>
              <a:gd name="connsiteX11" fmla="*/ 3411374 w 4613641"/>
              <a:gd name="connsiteY11" fmla="*/ 3946376 h 4715633"/>
              <a:gd name="connsiteX12" fmla="*/ 2513907 w 4613641"/>
              <a:gd name="connsiteY12" fmla="*/ 3404510 h 4715633"/>
              <a:gd name="connsiteX13" fmla="*/ 1514841 w 4613641"/>
              <a:gd name="connsiteY13" fmla="*/ 2947310 h 4715633"/>
              <a:gd name="connsiteX14" fmla="*/ 532707 w 4613641"/>
              <a:gd name="connsiteY14" fmla="*/ 2642510 h 4715633"/>
              <a:gd name="connsiteX15" fmla="*/ 57894 w 4613641"/>
              <a:gd name="connsiteY15" fmla="*/ 2561482 h 4715633"/>
              <a:gd name="connsiteX16" fmla="*/ 40960 w 4613641"/>
              <a:gd name="connsiteY16" fmla="*/ 1515533 h 4715633"/>
              <a:gd name="connsiteX17" fmla="*/ 52363 w 4613641"/>
              <a:gd name="connsiteY17" fmla="*/ 642557 h 4715633"/>
              <a:gd name="connsiteX18" fmla="*/ 3792 w 4613641"/>
              <a:gd name="connsiteY18" fmla="*/ 5921 h 4715633"/>
              <a:gd name="connsiteX19" fmla="*/ 0 w 4613641"/>
              <a:gd name="connsiteY19" fmla="*/ 0 h 4715633"/>
              <a:gd name="connsiteX0" fmla="*/ 0 w 4613641"/>
              <a:gd name="connsiteY0" fmla="*/ 0 h 4715633"/>
              <a:gd name="connsiteX1" fmla="*/ 1176174 w 4613641"/>
              <a:gd name="connsiteY1" fmla="*/ 305710 h 4715633"/>
              <a:gd name="connsiteX2" fmla="*/ 2175241 w 4613641"/>
              <a:gd name="connsiteY2" fmla="*/ 627443 h 4715633"/>
              <a:gd name="connsiteX3" fmla="*/ 2835641 w 4613641"/>
              <a:gd name="connsiteY3" fmla="*/ 949176 h 4715633"/>
              <a:gd name="connsiteX4" fmla="*/ 3580707 w 4613641"/>
              <a:gd name="connsiteY4" fmla="*/ 1270910 h 4715633"/>
              <a:gd name="connsiteX5" fmla="*/ 4105641 w 4613641"/>
              <a:gd name="connsiteY5" fmla="*/ 1660376 h 4715633"/>
              <a:gd name="connsiteX6" fmla="*/ 4478174 w 4613641"/>
              <a:gd name="connsiteY6" fmla="*/ 2032910 h 4715633"/>
              <a:gd name="connsiteX7" fmla="*/ 4579774 w 4613641"/>
              <a:gd name="connsiteY7" fmla="*/ 2202243 h 4715633"/>
              <a:gd name="connsiteX8" fmla="*/ 4613641 w 4613641"/>
              <a:gd name="connsiteY8" fmla="*/ 3319843 h 4715633"/>
              <a:gd name="connsiteX9" fmla="*/ 4562842 w 4613641"/>
              <a:gd name="connsiteY9" fmla="*/ 4715633 h 4715633"/>
              <a:gd name="connsiteX10" fmla="*/ 3411374 w 4613641"/>
              <a:gd name="connsiteY10" fmla="*/ 3946376 h 4715633"/>
              <a:gd name="connsiteX11" fmla="*/ 2513907 w 4613641"/>
              <a:gd name="connsiteY11" fmla="*/ 3404510 h 4715633"/>
              <a:gd name="connsiteX12" fmla="*/ 1514841 w 4613641"/>
              <a:gd name="connsiteY12" fmla="*/ 2947310 h 4715633"/>
              <a:gd name="connsiteX13" fmla="*/ 532707 w 4613641"/>
              <a:gd name="connsiteY13" fmla="*/ 2642510 h 4715633"/>
              <a:gd name="connsiteX14" fmla="*/ 57894 w 4613641"/>
              <a:gd name="connsiteY14" fmla="*/ 2561482 h 4715633"/>
              <a:gd name="connsiteX15" fmla="*/ 40960 w 4613641"/>
              <a:gd name="connsiteY15" fmla="*/ 1515533 h 4715633"/>
              <a:gd name="connsiteX16" fmla="*/ 52363 w 4613641"/>
              <a:gd name="connsiteY16" fmla="*/ 642557 h 4715633"/>
              <a:gd name="connsiteX17" fmla="*/ 3792 w 4613641"/>
              <a:gd name="connsiteY17" fmla="*/ 5921 h 4715633"/>
              <a:gd name="connsiteX18" fmla="*/ 0 w 4613641"/>
              <a:gd name="connsiteY18" fmla="*/ 0 h 4715633"/>
              <a:gd name="connsiteX0" fmla="*/ 0 w 4613641"/>
              <a:gd name="connsiteY0" fmla="*/ 0 h 4441313"/>
              <a:gd name="connsiteX1" fmla="*/ 1176174 w 4613641"/>
              <a:gd name="connsiteY1" fmla="*/ 305710 h 4441313"/>
              <a:gd name="connsiteX2" fmla="*/ 2175241 w 4613641"/>
              <a:gd name="connsiteY2" fmla="*/ 627443 h 4441313"/>
              <a:gd name="connsiteX3" fmla="*/ 2835641 w 4613641"/>
              <a:gd name="connsiteY3" fmla="*/ 949176 h 4441313"/>
              <a:gd name="connsiteX4" fmla="*/ 3580707 w 4613641"/>
              <a:gd name="connsiteY4" fmla="*/ 1270910 h 4441313"/>
              <a:gd name="connsiteX5" fmla="*/ 4105641 w 4613641"/>
              <a:gd name="connsiteY5" fmla="*/ 1660376 h 4441313"/>
              <a:gd name="connsiteX6" fmla="*/ 4478174 w 4613641"/>
              <a:gd name="connsiteY6" fmla="*/ 2032910 h 4441313"/>
              <a:gd name="connsiteX7" fmla="*/ 4579774 w 4613641"/>
              <a:gd name="connsiteY7" fmla="*/ 2202243 h 4441313"/>
              <a:gd name="connsiteX8" fmla="*/ 4613641 w 4613641"/>
              <a:gd name="connsiteY8" fmla="*/ 3319843 h 4441313"/>
              <a:gd name="connsiteX9" fmla="*/ 4543134 w 4613641"/>
              <a:gd name="connsiteY9" fmla="*/ 4441313 h 4441313"/>
              <a:gd name="connsiteX10" fmla="*/ 3411374 w 4613641"/>
              <a:gd name="connsiteY10" fmla="*/ 3946376 h 4441313"/>
              <a:gd name="connsiteX11" fmla="*/ 2513907 w 4613641"/>
              <a:gd name="connsiteY11" fmla="*/ 3404510 h 4441313"/>
              <a:gd name="connsiteX12" fmla="*/ 1514841 w 4613641"/>
              <a:gd name="connsiteY12" fmla="*/ 2947310 h 4441313"/>
              <a:gd name="connsiteX13" fmla="*/ 532707 w 4613641"/>
              <a:gd name="connsiteY13" fmla="*/ 2642510 h 4441313"/>
              <a:gd name="connsiteX14" fmla="*/ 57894 w 4613641"/>
              <a:gd name="connsiteY14" fmla="*/ 2561482 h 4441313"/>
              <a:gd name="connsiteX15" fmla="*/ 40960 w 4613641"/>
              <a:gd name="connsiteY15" fmla="*/ 1515533 h 4441313"/>
              <a:gd name="connsiteX16" fmla="*/ 52363 w 4613641"/>
              <a:gd name="connsiteY16" fmla="*/ 642557 h 4441313"/>
              <a:gd name="connsiteX17" fmla="*/ 3792 w 4613641"/>
              <a:gd name="connsiteY17" fmla="*/ 5921 h 4441313"/>
              <a:gd name="connsiteX18" fmla="*/ 0 w 4613641"/>
              <a:gd name="connsiteY18" fmla="*/ 0 h 4441313"/>
              <a:gd name="connsiteX0" fmla="*/ 0 w 4613641"/>
              <a:gd name="connsiteY0" fmla="*/ 0 h 4441313"/>
              <a:gd name="connsiteX1" fmla="*/ 1176174 w 4613641"/>
              <a:gd name="connsiteY1" fmla="*/ 305710 h 4441313"/>
              <a:gd name="connsiteX2" fmla="*/ 2175241 w 4613641"/>
              <a:gd name="connsiteY2" fmla="*/ 627443 h 4441313"/>
              <a:gd name="connsiteX3" fmla="*/ 2835641 w 4613641"/>
              <a:gd name="connsiteY3" fmla="*/ 949176 h 4441313"/>
              <a:gd name="connsiteX4" fmla="*/ 3580707 w 4613641"/>
              <a:gd name="connsiteY4" fmla="*/ 1270910 h 4441313"/>
              <a:gd name="connsiteX5" fmla="*/ 4105641 w 4613641"/>
              <a:gd name="connsiteY5" fmla="*/ 1660376 h 4441313"/>
              <a:gd name="connsiteX6" fmla="*/ 4478174 w 4613641"/>
              <a:gd name="connsiteY6" fmla="*/ 2032910 h 4441313"/>
              <a:gd name="connsiteX7" fmla="*/ 4579774 w 4613641"/>
              <a:gd name="connsiteY7" fmla="*/ 2202243 h 4441313"/>
              <a:gd name="connsiteX8" fmla="*/ 4613641 w 4613641"/>
              <a:gd name="connsiteY8" fmla="*/ 3319843 h 4441313"/>
              <a:gd name="connsiteX9" fmla="*/ 4543134 w 4613641"/>
              <a:gd name="connsiteY9" fmla="*/ 4441313 h 4441313"/>
              <a:gd name="connsiteX10" fmla="*/ 3470502 w 4613641"/>
              <a:gd name="connsiteY10" fmla="*/ 3789621 h 4441313"/>
              <a:gd name="connsiteX11" fmla="*/ 2513907 w 4613641"/>
              <a:gd name="connsiteY11" fmla="*/ 3404510 h 4441313"/>
              <a:gd name="connsiteX12" fmla="*/ 1514841 w 4613641"/>
              <a:gd name="connsiteY12" fmla="*/ 2947310 h 4441313"/>
              <a:gd name="connsiteX13" fmla="*/ 532707 w 4613641"/>
              <a:gd name="connsiteY13" fmla="*/ 2642510 h 4441313"/>
              <a:gd name="connsiteX14" fmla="*/ 57894 w 4613641"/>
              <a:gd name="connsiteY14" fmla="*/ 2561482 h 4441313"/>
              <a:gd name="connsiteX15" fmla="*/ 40960 w 4613641"/>
              <a:gd name="connsiteY15" fmla="*/ 1515533 h 4441313"/>
              <a:gd name="connsiteX16" fmla="*/ 52363 w 4613641"/>
              <a:gd name="connsiteY16" fmla="*/ 642557 h 4441313"/>
              <a:gd name="connsiteX17" fmla="*/ 3792 w 4613641"/>
              <a:gd name="connsiteY17" fmla="*/ 5921 h 4441313"/>
              <a:gd name="connsiteX18" fmla="*/ 0 w 4613641"/>
              <a:gd name="connsiteY18" fmla="*/ 0 h 4441313"/>
              <a:gd name="connsiteX0" fmla="*/ 0 w 4613641"/>
              <a:gd name="connsiteY0" fmla="*/ 0 h 4441313"/>
              <a:gd name="connsiteX1" fmla="*/ 1176174 w 4613641"/>
              <a:gd name="connsiteY1" fmla="*/ 305710 h 4441313"/>
              <a:gd name="connsiteX2" fmla="*/ 2175241 w 4613641"/>
              <a:gd name="connsiteY2" fmla="*/ 627443 h 4441313"/>
              <a:gd name="connsiteX3" fmla="*/ 2835641 w 4613641"/>
              <a:gd name="connsiteY3" fmla="*/ 949176 h 4441313"/>
              <a:gd name="connsiteX4" fmla="*/ 3580707 w 4613641"/>
              <a:gd name="connsiteY4" fmla="*/ 1270910 h 4441313"/>
              <a:gd name="connsiteX5" fmla="*/ 4105641 w 4613641"/>
              <a:gd name="connsiteY5" fmla="*/ 1660376 h 4441313"/>
              <a:gd name="connsiteX6" fmla="*/ 4478174 w 4613641"/>
              <a:gd name="connsiteY6" fmla="*/ 2032910 h 4441313"/>
              <a:gd name="connsiteX7" fmla="*/ 4579774 w 4613641"/>
              <a:gd name="connsiteY7" fmla="*/ 2202243 h 4441313"/>
              <a:gd name="connsiteX8" fmla="*/ 4613641 w 4613641"/>
              <a:gd name="connsiteY8" fmla="*/ 3319843 h 4441313"/>
              <a:gd name="connsiteX9" fmla="*/ 4543134 w 4613641"/>
              <a:gd name="connsiteY9" fmla="*/ 4441313 h 4441313"/>
              <a:gd name="connsiteX10" fmla="*/ 3470502 w 4613641"/>
              <a:gd name="connsiteY10" fmla="*/ 3789621 h 4441313"/>
              <a:gd name="connsiteX11" fmla="*/ 2513907 w 4613641"/>
              <a:gd name="connsiteY11" fmla="*/ 3326133 h 4441313"/>
              <a:gd name="connsiteX12" fmla="*/ 1514841 w 4613641"/>
              <a:gd name="connsiteY12" fmla="*/ 2947310 h 4441313"/>
              <a:gd name="connsiteX13" fmla="*/ 532707 w 4613641"/>
              <a:gd name="connsiteY13" fmla="*/ 2642510 h 4441313"/>
              <a:gd name="connsiteX14" fmla="*/ 57894 w 4613641"/>
              <a:gd name="connsiteY14" fmla="*/ 2561482 h 4441313"/>
              <a:gd name="connsiteX15" fmla="*/ 40960 w 4613641"/>
              <a:gd name="connsiteY15" fmla="*/ 1515533 h 4441313"/>
              <a:gd name="connsiteX16" fmla="*/ 52363 w 4613641"/>
              <a:gd name="connsiteY16" fmla="*/ 642557 h 4441313"/>
              <a:gd name="connsiteX17" fmla="*/ 3792 w 4613641"/>
              <a:gd name="connsiteY17" fmla="*/ 5921 h 4441313"/>
              <a:gd name="connsiteX18" fmla="*/ 0 w 4613641"/>
              <a:gd name="connsiteY18" fmla="*/ 0 h 4441313"/>
              <a:gd name="connsiteX0" fmla="*/ 0 w 4613641"/>
              <a:gd name="connsiteY0" fmla="*/ 0 h 4467439"/>
              <a:gd name="connsiteX1" fmla="*/ 1176174 w 4613641"/>
              <a:gd name="connsiteY1" fmla="*/ 305710 h 4467439"/>
              <a:gd name="connsiteX2" fmla="*/ 2175241 w 4613641"/>
              <a:gd name="connsiteY2" fmla="*/ 627443 h 4467439"/>
              <a:gd name="connsiteX3" fmla="*/ 2835641 w 4613641"/>
              <a:gd name="connsiteY3" fmla="*/ 949176 h 4467439"/>
              <a:gd name="connsiteX4" fmla="*/ 3580707 w 4613641"/>
              <a:gd name="connsiteY4" fmla="*/ 1270910 h 4467439"/>
              <a:gd name="connsiteX5" fmla="*/ 4105641 w 4613641"/>
              <a:gd name="connsiteY5" fmla="*/ 1660376 h 4467439"/>
              <a:gd name="connsiteX6" fmla="*/ 4478174 w 4613641"/>
              <a:gd name="connsiteY6" fmla="*/ 2032910 h 4467439"/>
              <a:gd name="connsiteX7" fmla="*/ 4579774 w 4613641"/>
              <a:gd name="connsiteY7" fmla="*/ 2202243 h 4467439"/>
              <a:gd name="connsiteX8" fmla="*/ 4613641 w 4613641"/>
              <a:gd name="connsiteY8" fmla="*/ 3319843 h 4467439"/>
              <a:gd name="connsiteX9" fmla="*/ 4602263 w 4613641"/>
              <a:gd name="connsiteY9" fmla="*/ 4467439 h 4467439"/>
              <a:gd name="connsiteX10" fmla="*/ 3470502 w 4613641"/>
              <a:gd name="connsiteY10" fmla="*/ 3789621 h 4467439"/>
              <a:gd name="connsiteX11" fmla="*/ 2513907 w 4613641"/>
              <a:gd name="connsiteY11" fmla="*/ 3326133 h 4467439"/>
              <a:gd name="connsiteX12" fmla="*/ 1514841 w 4613641"/>
              <a:gd name="connsiteY12" fmla="*/ 2947310 h 4467439"/>
              <a:gd name="connsiteX13" fmla="*/ 532707 w 4613641"/>
              <a:gd name="connsiteY13" fmla="*/ 2642510 h 4467439"/>
              <a:gd name="connsiteX14" fmla="*/ 57894 w 4613641"/>
              <a:gd name="connsiteY14" fmla="*/ 2561482 h 4467439"/>
              <a:gd name="connsiteX15" fmla="*/ 40960 w 4613641"/>
              <a:gd name="connsiteY15" fmla="*/ 1515533 h 4467439"/>
              <a:gd name="connsiteX16" fmla="*/ 52363 w 4613641"/>
              <a:gd name="connsiteY16" fmla="*/ 642557 h 4467439"/>
              <a:gd name="connsiteX17" fmla="*/ 3792 w 4613641"/>
              <a:gd name="connsiteY17" fmla="*/ 5921 h 4467439"/>
              <a:gd name="connsiteX18" fmla="*/ 0 w 4613641"/>
              <a:gd name="connsiteY18" fmla="*/ 0 h 4467439"/>
              <a:gd name="connsiteX0" fmla="*/ 0 w 4635849"/>
              <a:gd name="connsiteY0" fmla="*/ 0 h 4467439"/>
              <a:gd name="connsiteX1" fmla="*/ 1176174 w 4635849"/>
              <a:gd name="connsiteY1" fmla="*/ 305710 h 4467439"/>
              <a:gd name="connsiteX2" fmla="*/ 2175241 w 4635849"/>
              <a:gd name="connsiteY2" fmla="*/ 627443 h 4467439"/>
              <a:gd name="connsiteX3" fmla="*/ 2835641 w 4635849"/>
              <a:gd name="connsiteY3" fmla="*/ 949176 h 4467439"/>
              <a:gd name="connsiteX4" fmla="*/ 3580707 w 4635849"/>
              <a:gd name="connsiteY4" fmla="*/ 1270910 h 4467439"/>
              <a:gd name="connsiteX5" fmla="*/ 4105641 w 4635849"/>
              <a:gd name="connsiteY5" fmla="*/ 1660376 h 4467439"/>
              <a:gd name="connsiteX6" fmla="*/ 4635849 w 4635849"/>
              <a:gd name="connsiteY6" fmla="*/ 1876155 h 4467439"/>
              <a:gd name="connsiteX7" fmla="*/ 4579774 w 4635849"/>
              <a:gd name="connsiteY7" fmla="*/ 2202243 h 4467439"/>
              <a:gd name="connsiteX8" fmla="*/ 4613641 w 4635849"/>
              <a:gd name="connsiteY8" fmla="*/ 3319843 h 4467439"/>
              <a:gd name="connsiteX9" fmla="*/ 4602263 w 4635849"/>
              <a:gd name="connsiteY9" fmla="*/ 4467439 h 4467439"/>
              <a:gd name="connsiteX10" fmla="*/ 3470502 w 4635849"/>
              <a:gd name="connsiteY10" fmla="*/ 3789621 h 4467439"/>
              <a:gd name="connsiteX11" fmla="*/ 2513907 w 4635849"/>
              <a:gd name="connsiteY11" fmla="*/ 3326133 h 4467439"/>
              <a:gd name="connsiteX12" fmla="*/ 1514841 w 4635849"/>
              <a:gd name="connsiteY12" fmla="*/ 2947310 h 4467439"/>
              <a:gd name="connsiteX13" fmla="*/ 532707 w 4635849"/>
              <a:gd name="connsiteY13" fmla="*/ 2642510 h 4467439"/>
              <a:gd name="connsiteX14" fmla="*/ 57894 w 4635849"/>
              <a:gd name="connsiteY14" fmla="*/ 2561482 h 4467439"/>
              <a:gd name="connsiteX15" fmla="*/ 40960 w 4635849"/>
              <a:gd name="connsiteY15" fmla="*/ 1515533 h 4467439"/>
              <a:gd name="connsiteX16" fmla="*/ 52363 w 4635849"/>
              <a:gd name="connsiteY16" fmla="*/ 642557 h 4467439"/>
              <a:gd name="connsiteX17" fmla="*/ 3792 w 4635849"/>
              <a:gd name="connsiteY17" fmla="*/ 5921 h 4467439"/>
              <a:gd name="connsiteX18" fmla="*/ 0 w 4635849"/>
              <a:gd name="connsiteY18" fmla="*/ 0 h 4467439"/>
              <a:gd name="connsiteX0" fmla="*/ 0 w 4635849"/>
              <a:gd name="connsiteY0" fmla="*/ 0 h 4467439"/>
              <a:gd name="connsiteX1" fmla="*/ 1176174 w 4635849"/>
              <a:gd name="connsiteY1" fmla="*/ 305710 h 4467439"/>
              <a:gd name="connsiteX2" fmla="*/ 2175241 w 4635849"/>
              <a:gd name="connsiteY2" fmla="*/ 627443 h 4467439"/>
              <a:gd name="connsiteX3" fmla="*/ 2835641 w 4635849"/>
              <a:gd name="connsiteY3" fmla="*/ 949176 h 4467439"/>
              <a:gd name="connsiteX4" fmla="*/ 3580707 w 4635849"/>
              <a:gd name="connsiteY4" fmla="*/ 1270910 h 4467439"/>
              <a:gd name="connsiteX5" fmla="*/ 4635849 w 4635849"/>
              <a:gd name="connsiteY5" fmla="*/ 1876155 h 4467439"/>
              <a:gd name="connsiteX6" fmla="*/ 4579774 w 4635849"/>
              <a:gd name="connsiteY6" fmla="*/ 2202243 h 4467439"/>
              <a:gd name="connsiteX7" fmla="*/ 4613641 w 4635849"/>
              <a:gd name="connsiteY7" fmla="*/ 3319843 h 4467439"/>
              <a:gd name="connsiteX8" fmla="*/ 4602263 w 4635849"/>
              <a:gd name="connsiteY8" fmla="*/ 4467439 h 4467439"/>
              <a:gd name="connsiteX9" fmla="*/ 3470502 w 4635849"/>
              <a:gd name="connsiteY9" fmla="*/ 3789621 h 4467439"/>
              <a:gd name="connsiteX10" fmla="*/ 2513907 w 4635849"/>
              <a:gd name="connsiteY10" fmla="*/ 3326133 h 4467439"/>
              <a:gd name="connsiteX11" fmla="*/ 1514841 w 4635849"/>
              <a:gd name="connsiteY11" fmla="*/ 2947310 h 4467439"/>
              <a:gd name="connsiteX12" fmla="*/ 532707 w 4635849"/>
              <a:gd name="connsiteY12" fmla="*/ 2642510 h 4467439"/>
              <a:gd name="connsiteX13" fmla="*/ 57894 w 4635849"/>
              <a:gd name="connsiteY13" fmla="*/ 2561482 h 4467439"/>
              <a:gd name="connsiteX14" fmla="*/ 40960 w 4635849"/>
              <a:gd name="connsiteY14" fmla="*/ 1515533 h 4467439"/>
              <a:gd name="connsiteX15" fmla="*/ 52363 w 4635849"/>
              <a:gd name="connsiteY15" fmla="*/ 642557 h 4467439"/>
              <a:gd name="connsiteX16" fmla="*/ 3792 w 4635849"/>
              <a:gd name="connsiteY16" fmla="*/ 5921 h 4467439"/>
              <a:gd name="connsiteX17" fmla="*/ 0 w 4635849"/>
              <a:gd name="connsiteY17" fmla="*/ 0 h 4467439"/>
              <a:gd name="connsiteX0" fmla="*/ 0 w 4613641"/>
              <a:gd name="connsiteY0" fmla="*/ 0 h 4467439"/>
              <a:gd name="connsiteX1" fmla="*/ 1176174 w 4613641"/>
              <a:gd name="connsiteY1" fmla="*/ 305710 h 4467439"/>
              <a:gd name="connsiteX2" fmla="*/ 2175241 w 4613641"/>
              <a:gd name="connsiteY2" fmla="*/ 627443 h 4467439"/>
              <a:gd name="connsiteX3" fmla="*/ 2835641 w 4613641"/>
              <a:gd name="connsiteY3" fmla="*/ 949176 h 4467439"/>
              <a:gd name="connsiteX4" fmla="*/ 3580707 w 4613641"/>
              <a:gd name="connsiteY4" fmla="*/ 1270910 h 4467439"/>
              <a:gd name="connsiteX5" fmla="*/ 4517592 w 4613641"/>
              <a:gd name="connsiteY5" fmla="*/ 1863092 h 4467439"/>
              <a:gd name="connsiteX6" fmla="*/ 4579774 w 4613641"/>
              <a:gd name="connsiteY6" fmla="*/ 2202243 h 4467439"/>
              <a:gd name="connsiteX7" fmla="*/ 4613641 w 4613641"/>
              <a:gd name="connsiteY7" fmla="*/ 3319843 h 4467439"/>
              <a:gd name="connsiteX8" fmla="*/ 4602263 w 4613641"/>
              <a:gd name="connsiteY8" fmla="*/ 4467439 h 4467439"/>
              <a:gd name="connsiteX9" fmla="*/ 3470502 w 4613641"/>
              <a:gd name="connsiteY9" fmla="*/ 3789621 h 4467439"/>
              <a:gd name="connsiteX10" fmla="*/ 2513907 w 4613641"/>
              <a:gd name="connsiteY10" fmla="*/ 3326133 h 4467439"/>
              <a:gd name="connsiteX11" fmla="*/ 1514841 w 4613641"/>
              <a:gd name="connsiteY11" fmla="*/ 2947310 h 4467439"/>
              <a:gd name="connsiteX12" fmla="*/ 532707 w 4613641"/>
              <a:gd name="connsiteY12" fmla="*/ 2642510 h 4467439"/>
              <a:gd name="connsiteX13" fmla="*/ 57894 w 4613641"/>
              <a:gd name="connsiteY13" fmla="*/ 2561482 h 4467439"/>
              <a:gd name="connsiteX14" fmla="*/ 40960 w 4613641"/>
              <a:gd name="connsiteY14" fmla="*/ 1515533 h 4467439"/>
              <a:gd name="connsiteX15" fmla="*/ 52363 w 4613641"/>
              <a:gd name="connsiteY15" fmla="*/ 642557 h 4467439"/>
              <a:gd name="connsiteX16" fmla="*/ 3792 w 4613641"/>
              <a:gd name="connsiteY16" fmla="*/ 5921 h 4467439"/>
              <a:gd name="connsiteX17" fmla="*/ 0 w 4613641"/>
              <a:gd name="connsiteY17" fmla="*/ 0 h 4467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3641" h="4467439">
                <a:moveTo>
                  <a:pt x="0" y="0"/>
                </a:moveTo>
                <a:lnTo>
                  <a:pt x="1176174" y="305710"/>
                </a:lnTo>
                <a:lnTo>
                  <a:pt x="2175241" y="627443"/>
                </a:lnTo>
                <a:lnTo>
                  <a:pt x="2835641" y="949176"/>
                </a:lnTo>
                <a:lnTo>
                  <a:pt x="3580707" y="1270910"/>
                </a:lnTo>
                <a:lnTo>
                  <a:pt x="4517592" y="1863092"/>
                </a:lnTo>
                <a:lnTo>
                  <a:pt x="4579774" y="2202243"/>
                </a:lnTo>
                <a:lnTo>
                  <a:pt x="4613641" y="3319843"/>
                </a:lnTo>
                <a:lnTo>
                  <a:pt x="4602263" y="4467439"/>
                </a:lnTo>
                <a:lnTo>
                  <a:pt x="3470502" y="3789621"/>
                </a:lnTo>
                <a:lnTo>
                  <a:pt x="2513907" y="3326133"/>
                </a:lnTo>
                <a:lnTo>
                  <a:pt x="1514841" y="2947310"/>
                </a:lnTo>
                <a:lnTo>
                  <a:pt x="532707" y="2642510"/>
                </a:lnTo>
                <a:lnTo>
                  <a:pt x="57894" y="2561482"/>
                </a:lnTo>
                <a:lnTo>
                  <a:pt x="40960" y="1515533"/>
                </a:lnTo>
                <a:lnTo>
                  <a:pt x="52363" y="642557"/>
                </a:lnTo>
                <a:lnTo>
                  <a:pt x="3792" y="5921"/>
                </a:lnTo>
                <a:lnTo>
                  <a:pt x="0" y="0"/>
                </a:lnTo>
                <a:close/>
              </a:path>
            </a:pathLst>
          </a:custGeom>
          <a:solidFill>
            <a:schemeClr val="bg1">
              <a:lumMod val="95000"/>
              <a:alpha val="62000"/>
            </a:schemeClr>
          </a:solidFill>
          <a:ln w="254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737402EB-391A-FA41-B01C-3C2DF392FC94}"/>
              </a:ext>
            </a:extLst>
          </p:cNvPr>
          <p:cNvPicPr>
            <a:picLocks noChangeAspect="1"/>
          </p:cNvPicPr>
          <p:nvPr/>
        </p:nvPicPr>
        <p:blipFill>
          <a:blip r:embed="rId4"/>
          <a:stretch>
            <a:fillRect/>
          </a:stretch>
        </p:blipFill>
        <p:spPr>
          <a:xfrm>
            <a:off x="4367522" y="3930712"/>
            <a:ext cx="2068421" cy="1240049"/>
          </a:xfrm>
          <a:prstGeom prst="rect">
            <a:avLst/>
          </a:prstGeom>
        </p:spPr>
      </p:pic>
      <p:pic>
        <p:nvPicPr>
          <p:cNvPr id="11" name="Picture 10">
            <a:extLst>
              <a:ext uri="{FF2B5EF4-FFF2-40B4-BE49-F238E27FC236}">
                <a16:creationId xmlns:a16="http://schemas.microsoft.com/office/drawing/2014/main" id="{DC6D57A1-F0C3-2441-8BDB-20AE6EBBD012}"/>
              </a:ext>
            </a:extLst>
          </p:cNvPr>
          <p:cNvPicPr>
            <a:picLocks noChangeAspect="1"/>
          </p:cNvPicPr>
          <p:nvPr/>
        </p:nvPicPr>
        <p:blipFill>
          <a:blip r:embed="rId5"/>
          <a:stretch>
            <a:fillRect/>
          </a:stretch>
        </p:blipFill>
        <p:spPr>
          <a:xfrm>
            <a:off x="1191464" y="2665641"/>
            <a:ext cx="2013625" cy="1797161"/>
          </a:xfrm>
          <a:prstGeom prst="rect">
            <a:avLst/>
          </a:prstGeom>
        </p:spPr>
      </p:pic>
      <p:pic>
        <p:nvPicPr>
          <p:cNvPr id="4" name="Picture 3">
            <a:extLst>
              <a:ext uri="{FF2B5EF4-FFF2-40B4-BE49-F238E27FC236}">
                <a16:creationId xmlns:a16="http://schemas.microsoft.com/office/drawing/2014/main" id="{DDD8290C-1434-8146-83F0-955374732E0A}"/>
              </a:ext>
            </a:extLst>
          </p:cNvPr>
          <p:cNvPicPr>
            <a:picLocks noChangeAspect="1"/>
          </p:cNvPicPr>
          <p:nvPr/>
        </p:nvPicPr>
        <p:blipFill>
          <a:blip r:embed="rId6"/>
          <a:stretch>
            <a:fillRect/>
          </a:stretch>
        </p:blipFill>
        <p:spPr>
          <a:xfrm>
            <a:off x="9666226" y="464344"/>
            <a:ext cx="2052496" cy="2808274"/>
          </a:xfrm>
          <a:prstGeom prst="rect">
            <a:avLst/>
          </a:prstGeom>
        </p:spPr>
      </p:pic>
      <p:sp>
        <p:nvSpPr>
          <p:cNvPr id="13" name="TextBox 12">
            <a:extLst>
              <a:ext uri="{FF2B5EF4-FFF2-40B4-BE49-F238E27FC236}">
                <a16:creationId xmlns:a16="http://schemas.microsoft.com/office/drawing/2014/main" id="{2D406225-1206-444E-A18A-0818C52BC3AA}"/>
              </a:ext>
            </a:extLst>
          </p:cNvPr>
          <p:cNvSpPr txBox="1"/>
          <p:nvPr/>
        </p:nvSpPr>
        <p:spPr>
          <a:xfrm>
            <a:off x="9640487" y="3493592"/>
            <a:ext cx="2103974" cy="830997"/>
          </a:xfrm>
          <a:prstGeom prst="rect">
            <a:avLst/>
          </a:prstGeom>
          <a:noFill/>
        </p:spPr>
        <p:txBody>
          <a:bodyPr wrap="none" rtlCol="0">
            <a:spAutoFit/>
          </a:bodyPr>
          <a:lstStyle/>
          <a:p>
            <a:pPr algn="ctr"/>
            <a:r>
              <a:rPr lang="en-US" sz="2400" dirty="0"/>
              <a:t>Hugh Everett III</a:t>
            </a:r>
          </a:p>
          <a:p>
            <a:pPr algn="ctr"/>
            <a:r>
              <a:rPr lang="en-US" sz="2400" dirty="0"/>
              <a:t>(1930-1982)</a:t>
            </a:r>
          </a:p>
        </p:txBody>
      </p:sp>
    </p:spTree>
    <p:extLst>
      <p:ext uri="{BB962C8B-B14F-4D97-AF65-F5344CB8AC3E}">
        <p14:creationId xmlns:p14="http://schemas.microsoft.com/office/powerpoint/2010/main" val="1691350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42BFAB-125C-0940-903E-013E61565C3C}"/>
              </a:ext>
            </a:extLst>
          </p:cNvPr>
          <p:cNvSpPr>
            <a:spLocks noGrp="1"/>
          </p:cNvSpPr>
          <p:nvPr>
            <p:ph type="sldNum" sz="quarter" idx="12"/>
          </p:nvPr>
        </p:nvSpPr>
        <p:spPr/>
        <p:txBody>
          <a:bodyPr/>
          <a:lstStyle/>
          <a:p>
            <a:fld id="{591A223C-FA10-BC46-A853-03BA373D023C}" type="slidenum">
              <a:rPr lang="en-US" smtClean="0"/>
              <a:t>14</a:t>
            </a:fld>
            <a:endParaRPr lang="en-US"/>
          </a:p>
        </p:txBody>
      </p:sp>
      <p:pic>
        <p:nvPicPr>
          <p:cNvPr id="13" name="Picture 12">
            <a:extLst>
              <a:ext uri="{FF2B5EF4-FFF2-40B4-BE49-F238E27FC236}">
                <a16:creationId xmlns:a16="http://schemas.microsoft.com/office/drawing/2014/main" id="{29DFBE35-CD37-2243-8CC0-F3E2D7D5D17B}"/>
              </a:ext>
            </a:extLst>
          </p:cNvPr>
          <p:cNvPicPr>
            <a:picLocks noChangeAspect="1"/>
          </p:cNvPicPr>
          <p:nvPr/>
        </p:nvPicPr>
        <p:blipFill>
          <a:blip r:embed="rId3"/>
          <a:stretch>
            <a:fillRect/>
          </a:stretch>
        </p:blipFill>
        <p:spPr>
          <a:xfrm>
            <a:off x="6922471" y="3724648"/>
            <a:ext cx="3685357" cy="3149600"/>
          </a:xfrm>
          <a:prstGeom prst="rect">
            <a:avLst/>
          </a:prstGeom>
        </p:spPr>
      </p:pic>
      <p:pic>
        <p:nvPicPr>
          <p:cNvPr id="14" name="Picture 13">
            <a:extLst>
              <a:ext uri="{FF2B5EF4-FFF2-40B4-BE49-F238E27FC236}">
                <a16:creationId xmlns:a16="http://schemas.microsoft.com/office/drawing/2014/main" id="{334F5D4E-D481-7E44-8A02-24F2E31B7CE5}"/>
              </a:ext>
            </a:extLst>
          </p:cNvPr>
          <p:cNvPicPr>
            <a:picLocks noChangeAspect="1"/>
          </p:cNvPicPr>
          <p:nvPr/>
        </p:nvPicPr>
        <p:blipFill>
          <a:blip r:embed="rId3"/>
          <a:stretch>
            <a:fillRect/>
          </a:stretch>
        </p:blipFill>
        <p:spPr>
          <a:xfrm>
            <a:off x="5216191" y="260658"/>
            <a:ext cx="3685357" cy="3149600"/>
          </a:xfrm>
          <a:prstGeom prst="rect">
            <a:avLst/>
          </a:prstGeom>
        </p:spPr>
      </p:pic>
      <p:pic>
        <p:nvPicPr>
          <p:cNvPr id="15" name="Picture 14">
            <a:extLst>
              <a:ext uri="{FF2B5EF4-FFF2-40B4-BE49-F238E27FC236}">
                <a16:creationId xmlns:a16="http://schemas.microsoft.com/office/drawing/2014/main" id="{C14F60C9-AF39-7C4A-99E3-E51015846773}"/>
              </a:ext>
            </a:extLst>
          </p:cNvPr>
          <p:cNvPicPr>
            <a:picLocks noChangeAspect="1"/>
          </p:cNvPicPr>
          <p:nvPr/>
        </p:nvPicPr>
        <p:blipFill>
          <a:blip r:embed="rId3"/>
          <a:stretch>
            <a:fillRect/>
          </a:stretch>
        </p:blipFill>
        <p:spPr>
          <a:xfrm>
            <a:off x="8487360" y="1076416"/>
            <a:ext cx="3685357" cy="3149600"/>
          </a:xfrm>
          <a:prstGeom prst="rect">
            <a:avLst/>
          </a:prstGeom>
        </p:spPr>
      </p:pic>
      <p:pic>
        <p:nvPicPr>
          <p:cNvPr id="17" name="Picture 16">
            <a:extLst>
              <a:ext uri="{FF2B5EF4-FFF2-40B4-BE49-F238E27FC236}">
                <a16:creationId xmlns:a16="http://schemas.microsoft.com/office/drawing/2014/main" id="{EFAD12BE-9267-694E-8EA3-4BF3E630E52A}"/>
              </a:ext>
            </a:extLst>
          </p:cNvPr>
          <p:cNvPicPr>
            <a:picLocks noChangeAspect="1"/>
          </p:cNvPicPr>
          <p:nvPr/>
        </p:nvPicPr>
        <p:blipFill>
          <a:blip r:embed="rId3"/>
          <a:stretch>
            <a:fillRect/>
          </a:stretch>
        </p:blipFill>
        <p:spPr>
          <a:xfrm>
            <a:off x="3539841" y="3155487"/>
            <a:ext cx="3685357" cy="3149600"/>
          </a:xfrm>
          <a:prstGeom prst="rect">
            <a:avLst/>
          </a:prstGeom>
        </p:spPr>
      </p:pic>
      <p:pic>
        <p:nvPicPr>
          <p:cNvPr id="20" name="Picture 19">
            <a:extLst>
              <a:ext uri="{FF2B5EF4-FFF2-40B4-BE49-F238E27FC236}">
                <a16:creationId xmlns:a16="http://schemas.microsoft.com/office/drawing/2014/main" id="{D8FC843D-F3A0-B64B-8BE5-5E1013C193DD}"/>
              </a:ext>
            </a:extLst>
          </p:cNvPr>
          <p:cNvPicPr>
            <a:picLocks noChangeAspect="1"/>
          </p:cNvPicPr>
          <p:nvPr/>
        </p:nvPicPr>
        <p:blipFill>
          <a:blip r:embed="rId3"/>
          <a:stretch>
            <a:fillRect/>
          </a:stretch>
        </p:blipFill>
        <p:spPr>
          <a:xfrm>
            <a:off x="1672225" y="927271"/>
            <a:ext cx="3685357" cy="3149600"/>
          </a:xfrm>
          <a:prstGeom prst="rect">
            <a:avLst/>
          </a:prstGeom>
        </p:spPr>
      </p:pic>
      <p:sp>
        <p:nvSpPr>
          <p:cNvPr id="22" name="Cloud 21">
            <a:extLst>
              <a:ext uri="{FF2B5EF4-FFF2-40B4-BE49-F238E27FC236}">
                <a16:creationId xmlns:a16="http://schemas.microsoft.com/office/drawing/2014/main" id="{067C91E7-9027-7F42-A96D-DC7C3DA1724D}"/>
              </a:ext>
            </a:extLst>
          </p:cNvPr>
          <p:cNvSpPr/>
          <p:nvPr/>
        </p:nvSpPr>
        <p:spPr>
          <a:xfrm>
            <a:off x="5357582" y="1427356"/>
            <a:ext cx="3543966" cy="2649515"/>
          </a:xfrm>
          <a:prstGeom prst="cloud">
            <a:avLst/>
          </a:prstGeom>
          <a:solidFill>
            <a:schemeClr val="bg1">
              <a:lumMod val="95000"/>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tx1"/>
                </a:solidFill>
                <a:latin typeface="Comic Sans MS" panose="030F0902030302020204" pitchFamily="66" charset="0"/>
              </a:rPr>
              <a:t>1+1=2</a:t>
            </a:r>
          </a:p>
        </p:txBody>
      </p:sp>
      <p:sp>
        <p:nvSpPr>
          <p:cNvPr id="3" name="Title 2">
            <a:extLst>
              <a:ext uri="{FF2B5EF4-FFF2-40B4-BE49-F238E27FC236}">
                <a16:creationId xmlns:a16="http://schemas.microsoft.com/office/drawing/2014/main" id="{04594D3E-8440-274D-A7BD-7E1A45B60643}"/>
              </a:ext>
            </a:extLst>
          </p:cNvPr>
          <p:cNvSpPr>
            <a:spLocks noGrp="1"/>
          </p:cNvSpPr>
          <p:nvPr>
            <p:ph type="title"/>
          </p:nvPr>
        </p:nvSpPr>
        <p:spPr/>
        <p:txBody>
          <a:bodyPr/>
          <a:lstStyle/>
          <a:p>
            <a:r>
              <a:rPr lang="en-ZA" dirty="0"/>
              <a:t>David Deutsch quantum computation theory</a:t>
            </a:r>
            <a:endParaRPr lang="en-US" dirty="0"/>
          </a:p>
        </p:txBody>
      </p:sp>
      <p:pic>
        <p:nvPicPr>
          <p:cNvPr id="5" name="Picture 4">
            <a:extLst>
              <a:ext uri="{FF2B5EF4-FFF2-40B4-BE49-F238E27FC236}">
                <a16:creationId xmlns:a16="http://schemas.microsoft.com/office/drawing/2014/main" id="{A49FC321-3670-6744-A581-345CD8D98594}"/>
              </a:ext>
            </a:extLst>
          </p:cNvPr>
          <p:cNvPicPr>
            <a:picLocks noChangeAspect="1"/>
          </p:cNvPicPr>
          <p:nvPr/>
        </p:nvPicPr>
        <p:blipFill>
          <a:blip r:embed="rId4"/>
          <a:stretch>
            <a:fillRect/>
          </a:stretch>
        </p:blipFill>
        <p:spPr>
          <a:xfrm>
            <a:off x="329437" y="3155487"/>
            <a:ext cx="2301533" cy="3187084"/>
          </a:xfrm>
          <a:prstGeom prst="rect">
            <a:avLst/>
          </a:prstGeom>
        </p:spPr>
      </p:pic>
    </p:spTree>
    <p:extLst>
      <p:ext uri="{BB962C8B-B14F-4D97-AF65-F5344CB8AC3E}">
        <p14:creationId xmlns:p14="http://schemas.microsoft.com/office/powerpoint/2010/main" val="1066322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0F1C36AC-8A7C-AD43-8909-A51E9947168C}"/>
              </a:ext>
            </a:extLst>
          </p:cNvPr>
          <p:cNvPicPr>
            <a:picLocks noChangeAspect="1"/>
          </p:cNvPicPr>
          <p:nvPr/>
        </p:nvPicPr>
        <p:blipFill>
          <a:blip r:embed="rId3"/>
          <a:stretch>
            <a:fillRect/>
          </a:stretch>
        </p:blipFill>
        <p:spPr>
          <a:xfrm>
            <a:off x="5969271" y="2942736"/>
            <a:ext cx="1171219" cy="1634826"/>
          </a:xfrm>
          <a:prstGeom prst="rect">
            <a:avLst/>
          </a:prstGeom>
        </p:spPr>
      </p:pic>
      <p:sp>
        <p:nvSpPr>
          <p:cNvPr id="2" name="Title 1">
            <a:extLst>
              <a:ext uri="{FF2B5EF4-FFF2-40B4-BE49-F238E27FC236}">
                <a16:creationId xmlns:a16="http://schemas.microsoft.com/office/drawing/2014/main" id="{C2DCE787-CCBE-5C4E-9F13-08C76CCB1243}"/>
              </a:ext>
            </a:extLst>
          </p:cNvPr>
          <p:cNvSpPr>
            <a:spLocks noGrp="1"/>
          </p:cNvSpPr>
          <p:nvPr>
            <p:ph type="title"/>
          </p:nvPr>
        </p:nvSpPr>
        <p:spPr>
          <a:xfrm>
            <a:off x="0" y="0"/>
            <a:ext cx="12192000" cy="928688"/>
          </a:xfrm>
        </p:spPr>
        <p:txBody>
          <a:bodyPr/>
          <a:lstStyle/>
          <a:p>
            <a:r>
              <a:rPr lang="en-US" dirty="0"/>
              <a:t>Quantum entanglement</a:t>
            </a:r>
          </a:p>
        </p:txBody>
      </p:sp>
      <p:sp>
        <p:nvSpPr>
          <p:cNvPr id="3" name="Slide Number Placeholder 2">
            <a:extLst>
              <a:ext uri="{FF2B5EF4-FFF2-40B4-BE49-F238E27FC236}">
                <a16:creationId xmlns:a16="http://schemas.microsoft.com/office/drawing/2014/main" id="{9E5F1370-BDB3-DD44-95F7-31EA85FCEA15}"/>
              </a:ext>
            </a:extLst>
          </p:cNvPr>
          <p:cNvSpPr>
            <a:spLocks noGrp="1"/>
          </p:cNvSpPr>
          <p:nvPr>
            <p:ph type="sldNum" sz="quarter" idx="12"/>
          </p:nvPr>
        </p:nvSpPr>
        <p:spPr/>
        <p:txBody>
          <a:bodyPr/>
          <a:lstStyle/>
          <a:p>
            <a:fld id="{591A223C-FA10-BC46-A853-03BA373D023C}" type="slidenum">
              <a:rPr lang="en-US" smtClean="0"/>
              <a:t>15</a:t>
            </a:fld>
            <a:endParaRPr lang="en-US"/>
          </a:p>
        </p:txBody>
      </p:sp>
      <p:pic>
        <p:nvPicPr>
          <p:cNvPr id="12" name="Picture 11">
            <a:extLst>
              <a:ext uri="{FF2B5EF4-FFF2-40B4-BE49-F238E27FC236}">
                <a16:creationId xmlns:a16="http://schemas.microsoft.com/office/drawing/2014/main" id="{EE139F38-9E5D-2049-81F1-F10A25407C7E}"/>
              </a:ext>
            </a:extLst>
          </p:cNvPr>
          <p:cNvPicPr>
            <a:picLocks noChangeAspect="1"/>
          </p:cNvPicPr>
          <p:nvPr/>
        </p:nvPicPr>
        <p:blipFill>
          <a:blip r:embed="rId4"/>
          <a:stretch>
            <a:fillRect/>
          </a:stretch>
        </p:blipFill>
        <p:spPr>
          <a:xfrm>
            <a:off x="4322349" y="4956539"/>
            <a:ext cx="2295338" cy="1439999"/>
          </a:xfrm>
          <a:prstGeom prst="rect">
            <a:avLst/>
          </a:prstGeom>
        </p:spPr>
      </p:pic>
      <p:pic>
        <p:nvPicPr>
          <p:cNvPr id="13" name="Picture 12">
            <a:extLst>
              <a:ext uri="{FF2B5EF4-FFF2-40B4-BE49-F238E27FC236}">
                <a16:creationId xmlns:a16="http://schemas.microsoft.com/office/drawing/2014/main" id="{4A4D2B6F-56DB-F048-AE3E-C084A827F63C}"/>
              </a:ext>
            </a:extLst>
          </p:cNvPr>
          <p:cNvPicPr>
            <a:picLocks noChangeAspect="1"/>
          </p:cNvPicPr>
          <p:nvPr/>
        </p:nvPicPr>
        <p:blipFill>
          <a:blip r:embed="rId5"/>
          <a:stretch>
            <a:fillRect/>
          </a:stretch>
        </p:blipFill>
        <p:spPr>
          <a:xfrm>
            <a:off x="6884400" y="4958232"/>
            <a:ext cx="2294250" cy="1436612"/>
          </a:xfrm>
          <a:prstGeom prst="rect">
            <a:avLst/>
          </a:prstGeom>
        </p:spPr>
      </p:pic>
      <p:grpSp>
        <p:nvGrpSpPr>
          <p:cNvPr id="6" name="Group 5">
            <a:extLst>
              <a:ext uri="{FF2B5EF4-FFF2-40B4-BE49-F238E27FC236}">
                <a16:creationId xmlns:a16="http://schemas.microsoft.com/office/drawing/2014/main" id="{C0A5B403-9CC3-694A-98A5-D7EA581C7AE9}"/>
              </a:ext>
            </a:extLst>
          </p:cNvPr>
          <p:cNvGrpSpPr/>
          <p:nvPr/>
        </p:nvGrpSpPr>
        <p:grpSpPr>
          <a:xfrm>
            <a:off x="144810" y="1314016"/>
            <a:ext cx="2724742" cy="2267413"/>
            <a:chOff x="18686" y="1284720"/>
            <a:chExt cx="2724742" cy="2267413"/>
          </a:xfrm>
        </p:grpSpPr>
        <p:sp>
          <p:nvSpPr>
            <p:cNvPr id="4" name="Rectangle 3">
              <a:extLst>
                <a:ext uri="{FF2B5EF4-FFF2-40B4-BE49-F238E27FC236}">
                  <a16:creationId xmlns:a16="http://schemas.microsoft.com/office/drawing/2014/main" id="{E409D1EB-8ACD-C84F-A510-8D23EB0029D7}"/>
                </a:ext>
              </a:extLst>
            </p:cNvPr>
            <p:cNvSpPr/>
            <p:nvPr/>
          </p:nvSpPr>
          <p:spPr>
            <a:xfrm>
              <a:off x="283779" y="1284720"/>
              <a:ext cx="2459649" cy="22674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A12DD54-486C-B44F-8C5F-CEBAC1BE8FB3}"/>
                </a:ext>
              </a:extLst>
            </p:cNvPr>
            <p:cNvPicPr>
              <a:picLocks noChangeAspect="1"/>
            </p:cNvPicPr>
            <p:nvPr/>
          </p:nvPicPr>
          <p:blipFill>
            <a:blip r:embed="rId6"/>
            <a:stretch>
              <a:fillRect/>
            </a:stretch>
          </p:blipFill>
          <p:spPr>
            <a:xfrm>
              <a:off x="18686" y="1743305"/>
              <a:ext cx="2530491" cy="1364703"/>
            </a:xfrm>
            <a:prstGeom prst="rect">
              <a:avLst/>
            </a:prstGeom>
          </p:spPr>
        </p:pic>
      </p:grpSp>
      <p:grpSp>
        <p:nvGrpSpPr>
          <p:cNvPr id="17" name="Group 16">
            <a:extLst>
              <a:ext uri="{FF2B5EF4-FFF2-40B4-BE49-F238E27FC236}">
                <a16:creationId xmlns:a16="http://schemas.microsoft.com/office/drawing/2014/main" id="{C16E2447-3E2B-2442-88FF-8265763A639F}"/>
              </a:ext>
            </a:extLst>
          </p:cNvPr>
          <p:cNvGrpSpPr/>
          <p:nvPr/>
        </p:nvGrpSpPr>
        <p:grpSpPr>
          <a:xfrm>
            <a:off x="9245940" y="2447723"/>
            <a:ext cx="2848149" cy="2267413"/>
            <a:chOff x="9245940" y="2447723"/>
            <a:chExt cx="2848149" cy="2267413"/>
          </a:xfrm>
        </p:grpSpPr>
        <p:sp>
          <p:nvSpPr>
            <p:cNvPr id="16" name="Rectangle 15">
              <a:extLst>
                <a:ext uri="{FF2B5EF4-FFF2-40B4-BE49-F238E27FC236}">
                  <a16:creationId xmlns:a16="http://schemas.microsoft.com/office/drawing/2014/main" id="{5E4DED1D-85D5-0F41-B533-F69C2B378418}"/>
                </a:ext>
              </a:extLst>
            </p:cNvPr>
            <p:cNvSpPr/>
            <p:nvPr/>
          </p:nvSpPr>
          <p:spPr>
            <a:xfrm>
              <a:off x="9496149" y="2447723"/>
              <a:ext cx="2597940" cy="22674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247C039F-4538-BF42-B154-EDD8BA29B34F}"/>
                </a:ext>
              </a:extLst>
            </p:cNvPr>
            <p:cNvGrpSpPr/>
            <p:nvPr/>
          </p:nvGrpSpPr>
          <p:grpSpPr>
            <a:xfrm>
              <a:off x="9245940" y="2577225"/>
              <a:ext cx="2530491" cy="1905150"/>
              <a:chOff x="9245940" y="2577225"/>
              <a:chExt cx="2530491" cy="1905150"/>
            </a:xfrm>
          </p:grpSpPr>
          <p:sp>
            <p:nvSpPr>
              <p:cNvPr id="15" name="Rectangle 14">
                <a:extLst>
                  <a:ext uri="{FF2B5EF4-FFF2-40B4-BE49-F238E27FC236}">
                    <a16:creationId xmlns:a16="http://schemas.microsoft.com/office/drawing/2014/main" id="{2C63BA16-4CA8-754C-B870-4CE2A3B101A3}"/>
                  </a:ext>
                </a:extLst>
              </p:cNvPr>
              <p:cNvSpPr/>
              <p:nvPr/>
            </p:nvSpPr>
            <p:spPr>
              <a:xfrm>
                <a:off x="9634439" y="2577225"/>
                <a:ext cx="2118691" cy="1905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D79D6F35-5336-BF46-8212-EBAEA3E57334}"/>
                  </a:ext>
                </a:extLst>
              </p:cNvPr>
              <p:cNvPicPr>
                <a:picLocks noChangeAspect="1"/>
              </p:cNvPicPr>
              <p:nvPr/>
            </p:nvPicPr>
            <p:blipFill>
              <a:blip r:embed="rId7"/>
              <a:stretch>
                <a:fillRect/>
              </a:stretch>
            </p:blipFill>
            <p:spPr>
              <a:xfrm>
                <a:off x="9245940" y="2884873"/>
                <a:ext cx="2530491" cy="1364702"/>
              </a:xfrm>
              <a:prstGeom prst="rect">
                <a:avLst/>
              </a:prstGeom>
            </p:spPr>
          </p:pic>
        </p:grpSp>
      </p:grpSp>
      <p:sp>
        <p:nvSpPr>
          <p:cNvPr id="20" name="TextBox 19">
            <a:extLst>
              <a:ext uri="{FF2B5EF4-FFF2-40B4-BE49-F238E27FC236}">
                <a16:creationId xmlns:a16="http://schemas.microsoft.com/office/drawing/2014/main" id="{2556402A-15D1-4D42-B73E-EAD97EF2CFF2}"/>
              </a:ext>
            </a:extLst>
          </p:cNvPr>
          <p:cNvSpPr txBox="1"/>
          <p:nvPr/>
        </p:nvSpPr>
        <p:spPr>
          <a:xfrm>
            <a:off x="7167685" y="3677057"/>
            <a:ext cx="1361270" cy="523220"/>
          </a:xfrm>
          <a:prstGeom prst="rect">
            <a:avLst/>
          </a:prstGeom>
          <a:noFill/>
        </p:spPr>
        <p:txBody>
          <a:bodyPr wrap="none" rtlCol="0">
            <a:spAutoFit/>
          </a:bodyPr>
          <a:lstStyle/>
          <a:p>
            <a:r>
              <a:rPr lang="en-US" sz="2800" dirty="0">
                <a:latin typeface="Comic Sans MS" panose="030F0902030302020204" pitchFamily="66" charset="0"/>
              </a:rPr>
              <a:t>Charlie</a:t>
            </a:r>
          </a:p>
        </p:txBody>
      </p:sp>
      <p:grpSp>
        <p:nvGrpSpPr>
          <p:cNvPr id="32" name="Group 31">
            <a:extLst>
              <a:ext uri="{FF2B5EF4-FFF2-40B4-BE49-F238E27FC236}">
                <a16:creationId xmlns:a16="http://schemas.microsoft.com/office/drawing/2014/main" id="{F2B7882B-9083-D14F-BB68-654327E75BEB}"/>
              </a:ext>
            </a:extLst>
          </p:cNvPr>
          <p:cNvGrpSpPr/>
          <p:nvPr/>
        </p:nvGrpSpPr>
        <p:grpSpPr>
          <a:xfrm>
            <a:off x="74745" y="2956794"/>
            <a:ext cx="5512982" cy="3761779"/>
            <a:chOff x="74745" y="2956794"/>
            <a:chExt cx="5512982" cy="3761779"/>
          </a:xfrm>
        </p:grpSpPr>
        <p:pic>
          <p:nvPicPr>
            <p:cNvPr id="31" name="Picture 30">
              <a:extLst>
                <a:ext uri="{FF2B5EF4-FFF2-40B4-BE49-F238E27FC236}">
                  <a16:creationId xmlns:a16="http://schemas.microsoft.com/office/drawing/2014/main" id="{FCFBC961-27A1-EF4F-AA85-0DF1C9A6CFC2}"/>
                </a:ext>
              </a:extLst>
            </p:cNvPr>
            <p:cNvPicPr>
              <a:picLocks noChangeAspect="1"/>
            </p:cNvPicPr>
            <p:nvPr/>
          </p:nvPicPr>
          <p:blipFill>
            <a:blip r:embed="rId8">
              <a:alphaModFix amt="82000"/>
            </a:blip>
            <a:stretch>
              <a:fillRect/>
            </a:stretch>
          </p:blipFill>
          <p:spPr>
            <a:xfrm>
              <a:off x="74745" y="3815005"/>
              <a:ext cx="3024271" cy="2903568"/>
            </a:xfrm>
            <a:prstGeom prst="rect">
              <a:avLst/>
            </a:prstGeom>
          </p:spPr>
        </p:pic>
        <p:sp>
          <p:nvSpPr>
            <p:cNvPr id="8" name="Oval Callout 7">
              <a:extLst>
                <a:ext uri="{FF2B5EF4-FFF2-40B4-BE49-F238E27FC236}">
                  <a16:creationId xmlns:a16="http://schemas.microsoft.com/office/drawing/2014/main" id="{04ECCF3B-1CA7-4D4D-ADE7-706262A8E926}"/>
                </a:ext>
              </a:extLst>
            </p:cNvPr>
            <p:cNvSpPr/>
            <p:nvPr/>
          </p:nvSpPr>
          <p:spPr>
            <a:xfrm>
              <a:off x="1645341" y="2956794"/>
              <a:ext cx="3942386" cy="1788161"/>
            </a:xfrm>
            <a:prstGeom prst="wedgeEllipseCallout">
              <a:avLst>
                <a:gd name="adj1" fmla="val -34087"/>
                <a:gd name="adj2" fmla="val 54282"/>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Comic Sans MS" panose="030F0902030302020204" pitchFamily="66" charset="0"/>
                </a:rPr>
                <a:t>Spooky action at a distance.</a:t>
              </a:r>
            </a:p>
          </p:txBody>
        </p:sp>
      </p:grpSp>
      <p:grpSp>
        <p:nvGrpSpPr>
          <p:cNvPr id="9" name="Group 8">
            <a:extLst>
              <a:ext uri="{FF2B5EF4-FFF2-40B4-BE49-F238E27FC236}">
                <a16:creationId xmlns:a16="http://schemas.microsoft.com/office/drawing/2014/main" id="{B6E6ACED-F07E-C64B-891D-9481F5ECF93A}"/>
              </a:ext>
            </a:extLst>
          </p:cNvPr>
          <p:cNvGrpSpPr/>
          <p:nvPr/>
        </p:nvGrpSpPr>
        <p:grpSpPr>
          <a:xfrm>
            <a:off x="2959138" y="730287"/>
            <a:ext cx="7384229" cy="2002839"/>
            <a:chOff x="2959138" y="730287"/>
            <a:chExt cx="7384229" cy="2002839"/>
          </a:xfrm>
        </p:grpSpPr>
        <p:sp>
          <p:nvSpPr>
            <p:cNvPr id="7" name="TextBox 6">
              <a:extLst>
                <a:ext uri="{FF2B5EF4-FFF2-40B4-BE49-F238E27FC236}">
                  <a16:creationId xmlns:a16="http://schemas.microsoft.com/office/drawing/2014/main" id="{1ACD8B1C-F0C4-3345-8AF5-0B3DDA2DF950}"/>
                </a:ext>
              </a:extLst>
            </p:cNvPr>
            <p:cNvSpPr txBox="1"/>
            <p:nvPr/>
          </p:nvSpPr>
          <p:spPr>
            <a:xfrm>
              <a:off x="4328160" y="1965960"/>
              <a:ext cx="1027845" cy="523220"/>
            </a:xfrm>
            <a:prstGeom prst="rect">
              <a:avLst/>
            </a:prstGeom>
            <a:noFill/>
          </p:spPr>
          <p:txBody>
            <a:bodyPr wrap="none" rtlCol="0">
              <a:spAutoFit/>
            </a:bodyPr>
            <a:lstStyle/>
            <a:p>
              <a:r>
                <a:rPr lang="en-US" sz="2800" dirty="0">
                  <a:latin typeface="Comic Sans MS" panose="030F0902030302020204" pitchFamily="66" charset="0"/>
                </a:rPr>
                <a:t>Alice</a:t>
              </a:r>
            </a:p>
          </p:txBody>
        </p:sp>
        <p:sp>
          <p:nvSpPr>
            <p:cNvPr id="18" name="TextBox 17">
              <a:extLst>
                <a:ext uri="{FF2B5EF4-FFF2-40B4-BE49-F238E27FC236}">
                  <a16:creationId xmlns:a16="http://schemas.microsoft.com/office/drawing/2014/main" id="{A01D5200-7FC5-B244-94E9-282B3325F5F9}"/>
                </a:ext>
              </a:extLst>
            </p:cNvPr>
            <p:cNvSpPr txBox="1"/>
            <p:nvPr/>
          </p:nvSpPr>
          <p:spPr>
            <a:xfrm>
              <a:off x="9530324" y="1965960"/>
              <a:ext cx="813043" cy="523220"/>
            </a:xfrm>
            <a:prstGeom prst="rect">
              <a:avLst/>
            </a:prstGeom>
            <a:noFill/>
          </p:spPr>
          <p:txBody>
            <a:bodyPr wrap="none" rtlCol="0">
              <a:spAutoFit/>
            </a:bodyPr>
            <a:lstStyle/>
            <a:p>
              <a:r>
                <a:rPr lang="en-US" sz="2800" dirty="0">
                  <a:latin typeface="Comic Sans MS" panose="030F0902030302020204" pitchFamily="66" charset="0"/>
                </a:rPr>
                <a:t>Bob</a:t>
              </a:r>
            </a:p>
          </p:txBody>
        </p:sp>
        <p:pic>
          <p:nvPicPr>
            <p:cNvPr id="19" name="Picture 18">
              <a:extLst>
                <a:ext uri="{FF2B5EF4-FFF2-40B4-BE49-F238E27FC236}">
                  <a16:creationId xmlns:a16="http://schemas.microsoft.com/office/drawing/2014/main" id="{1EAC297B-90DB-CC46-8D72-45900A26F5B0}"/>
                </a:ext>
              </a:extLst>
            </p:cNvPr>
            <p:cNvPicPr>
              <a:picLocks noChangeAspect="1"/>
            </p:cNvPicPr>
            <p:nvPr/>
          </p:nvPicPr>
          <p:blipFill>
            <a:blip r:embed="rId9"/>
            <a:stretch>
              <a:fillRect/>
            </a:stretch>
          </p:blipFill>
          <p:spPr>
            <a:xfrm>
              <a:off x="2959138" y="1183778"/>
              <a:ext cx="1005819" cy="1549348"/>
            </a:xfrm>
            <a:prstGeom prst="rect">
              <a:avLst/>
            </a:prstGeom>
          </p:spPr>
        </p:pic>
        <p:pic>
          <p:nvPicPr>
            <p:cNvPr id="22" name="Picture 21">
              <a:extLst>
                <a:ext uri="{FF2B5EF4-FFF2-40B4-BE49-F238E27FC236}">
                  <a16:creationId xmlns:a16="http://schemas.microsoft.com/office/drawing/2014/main" id="{586668F4-D7E2-1D40-AD29-1C9FB6C8D75C}"/>
                </a:ext>
              </a:extLst>
            </p:cNvPr>
            <p:cNvPicPr>
              <a:picLocks noChangeAspect="1"/>
            </p:cNvPicPr>
            <p:nvPr/>
          </p:nvPicPr>
          <p:blipFill>
            <a:blip r:embed="rId10"/>
            <a:stretch>
              <a:fillRect/>
            </a:stretch>
          </p:blipFill>
          <p:spPr>
            <a:xfrm>
              <a:off x="8094346" y="730287"/>
              <a:ext cx="1084304" cy="1846938"/>
            </a:xfrm>
            <a:prstGeom prst="rect">
              <a:avLst/>
            </a:prstGeom>
          </p:spPr>
        </p:pic>
      </p:grpSp>
    </p:spTree>
    <p:extLst>
      <p:ext uri="{BB962C8B-B14F-4D97-AF65-F5344CB8AC3E}">
        <p14:creationId xmlns:p14="http://schemas.microsoft.com/office/powerpoint/2010/main" val="3313908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7" presetClass="path" presetSubtype="0" accel="50000" decel="50000" fill="hold" nodeType="clickEffect">
                                  <p:stCondLst>
                                    <p:cond delay="0"/>
                                  </p:stCondLst>
                                  <p:childTnLst>
                                    <p:animMotion origin="layout" path="M 0.00091 3.7037E-6 L -0.0349 -0.23149 C -0.04115 -0.28218 -0.06211 -0.3338 -0.08972 -0.37107 C -0.1211 -0.4169 -0.15235 -0.43681 -0.18151 -0.43611 L -0.3155 -0.43936 " pathEditMode="relative" rAng="2280000" ptsTypes="AAAAA">
                                      <p:cBhvr>
                                        <p:cTn id="12" dur="2000" fill="hold"/>
                                        <p:tgtEl>
                                          <p:spTgt spid="12"/>
                                        </p:tgtEl>
                                        <p:attrNameLst>
                                          <p:attrName>ppt_x</p:attrName>
                                          <p:attrName>ppt_y</p:attrName>
                                        </p:attrNameLst>
                                      </p:cBhvr>
                                      <p:rCtr x="-12474" y="-29606"/>
                                    </p:animMotion>
                                  </p:childTnLst>
                                </p:cTn>
                              </p:par>
                              <p:par>
                                <p:cTn id="13" presetID="37" presetClass="path" presetSubtype="0" accel="50000" decel="50000" fill="hold" nodeType="withEffect">
                                  <p:stCondLst>
                                    <p:cond delay="0"/>
                                  </p:stCondLst>
                                  <p:childTnLst>
                                    <p:animMotion origin="layout" path="M 0.00013 0.00046 L 0.13373 0.10115 C 0.16433 0.12777 0.19284 0.12592 0.21589 0.1037 C 0.23711 0.06851 0.2461 0.02199 0.24219 -0.03635 L 0.23191 -0.29977 " pathEditMode="relative" rAng="19440000" ptsTypes="AAAAA">
                                      <p:cBhvr>
                                        <p:cTn id="14" dur="2000" fill="hold"/>
                                        <p:tgtEl>
                                          <p:spTgt spid="13"/>
                                        </p:tgtEl>
                                        <p:attrNameLst>
                                          <p:attrName>ppt_x</p:attrName>
                                          <p:attrName>ppt_y</p:attrName>
                                        </p:attrNameLst>
                                      </p:cBhvr>
                                      <p:rCtr x="16693" y="-2523"/>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dissolve">
                                      <p:cBhvr>
                                        <p:cTn id="2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B1AF0C37-EBE0-7A48-B888-80D8E78187F6}"/>
              </a:ext>
            </a:extLst>
          </p:cNvPr>
          <p:cNvPicPr>
            <a:picLocks noChangeAspect="1"/>
          </p:cNvPicPr>
          <p:nvPr/>
        </p:nvPicPr>
        <p:blipFill>
          <a:blip r:embed="rId3"/>
          <a:stretch>
            <a:fillRect/>
          </a:stretch>
        </p:blipFill>
        <p:spPr>
          <a:xfrm rot="5852907">
            <a:off x="7555181" y="4873774"/>
            <a:ext cx="1631826" cy="959114"/>
          </a:xfrm>
          <a:prstGeom prst="rect">
            <a:avLst/>
          </a:prstGeom>
        </p:spPr>
      </p:pic>
      <p:sp>
        <p:nvSpPr>
          <p:cNvPr id="4" name="Slide Number Placeholder 3">
            <a:extLst>
              <a:ext uri="{FF2B5EF4-FFF2-40B4-BE49-F238E27FC236}">
                <a16:creationId xmlns:a16="http://schemas.microsoft.com/office/drawing/2014/main" id="{CE8E0186-D1EB-5B41-9EC8-484DBCEFBBA1}"/>
              </a:ext>
            </a:extLst>
          </p:cNvPr>
          <p:cNvSpPr>
            <a:spLocks noGrp="1"/>
          </p:cNvSpPr>
          <p:nvPr>
            <p:ph type="sldNum" sz="quarter" idx="12"/>
          </p:nvPr>
        </p:nvSpPr>
        <p:spPr/>
        <p:txBody>
          <a:bodyPr/>
          <a:lstStyle/>
          <a:p>
            <a:fld id="{591A223C-FA10-BC46-A853-03BA373D023C}" type="slidenum">
              <a:rPr lang="en-US" smtClean="0"/>
              <a:t>16</a:t>
            </a:fld>
            <a:endParaRPr lang="en-US"/>
          </a:p>
        </p:txBody>
      </p:sp>
      <p:sp>
        <p:nvSpPr>
          <p:cNvPr id="2" name="Title 1">
            <a:extLst>
              <a:ext uri="{FF2B5EF4-FFF2-40B4-BE49-F238E27FC236}">
                <a16:creationId xmlns:a16="http://schemas.microsoft.com/office/drawing/2014/main" id="{9E303285-5166-3545-8E36-B17F73FFCE01}"/>
              </a:ext>
            </a:extLst>
          </p:cNvPr>
          <p:cNvSpPr>
            <a:spLocks noGrp="1"/>
          </p:cNvSpPr>
          <p:nvPr>
            <p:ph type="title"/>
          </p:nvPr>
        </p:nvSpPr>
        <p:spPr/>
        <p:txBody>
          <a:bodyPr>
            <a:normAutofit/>
          </a:bodyPr>
          <a:lstStyle/>
          <a:p>
            <a:r>
              <a:rPr lang="en-US" dirty="0">
                <a:latin typeface="Comic Sans MS" panose="030F0902030302020204" pitchFamily="66" charset="0"/>
              </a:rPr>
              <a:t>Quantum coin flipping game</a:t>
            </a:r>
          </a:p>
        </p:txBody>
      </p:sp>
      <p:grpSp>
        <p:nvGrpSpPr>
          <p:cNvPr id="6" name="Group 5">
            <a:extLst>
              <a:ext uri="{FF2B5EF4-FFF2-40B4-BE49-F238E27FC236}">
                <a16:creationId xmlns:a16="http://schemas.microsoft.com/office/drawing/2014/main" id="{F1648A98-2B9B-1F46-9361-B795CC64F5C9}"/>
              </a:ext>
            </a:extLst>
          </p:cNvPr>
          <p:cNvGrpSpPr/>
          <p:nvPr/>
        </p:nvGrpSpPr>
        <p:grpSpPr>
          <a:xfrm>
            <a:off x="431799" y="880162"/>
            <a:ext cx="5032427" cy="5197138"/>
            <a:chOff x="431799" y="880162"/>
            <a:chExt cx="5032427" cy="5197138"/>
          </a:xfrm>
        </p:grpSpPr>
        <p:pic>
          <p:nvPicPr>
            <p:cNvPr id="19" name="Picture 18">
              <a:extLst>
                <a:ext uri="{FF2B5EF4-FFF2-40B4-BE49-F238E27FC236}">
                  <a16:creationId xmlns:a16="http://schemas.microsoft.com/office/drawing/2014/main" id="{7DEB869B-6B3E-7849-A8D3-20D709125263}"/>
                </a:ext>
              </a:extLst>
            </p:cNvPr>
            <p:cNvPicPr>
              <a:picLocks noChangeAspect="1"/>
            </p:cNvPicPr>
            <p:nvPr/>
          </p:nvPicPr>
          <p:blipFill>
            <a:blip r:embed="rId4"/>
            <a:stretch>
              <a:fillRect/>
            </a:stretch>
          </p:blipFill>
          <p:spPr>
            <a:xfrm rot="1269284">
              <a:off x="4215632" y="880162"/>
              <a:ext cx="1248594" cy="1905549"/>
            </a:xfrm>
            <a:prstGeom prst="rect">
              <a:avLst/>
            </a:prstGeom>
          </p:spPr>
        </p:pic>
        <p:grpSp>
          <p:nvGrpSpPr>
            <p:cNvPr id="3" name="Group 2">
              <a:extLst>
                <a:ext uri="{FF2B5EF4-FFF2-40B4-BE49-F238E27FC236}">
                  <a16:creationId xmlns:a16="http://schemas.microsoft.com/office/drawing/2014/main" id="{54177BFD-34D1-B443-83E5-AA00F73764AE}"/>
                </a:ext>
              </a:extLst>
            </p:cNvPr>
            <p:cNvGrpSpPr/>
            <p:nvPr/>
          </p:nvGrpSpPr>
          <p:grpSpPr>
            <a:xfrm>
              <a:off x="431799" y="1069835"/>
              <a:ext cx="4238949" cy="5007465"/>
              <a:chOff x="431799" y="1069835"/>
              <a:chExt cx="4238949" cy="5007465"/>
            </a:xfrm>
          </p:grpSpPr>
          <p:pic>
            <p:nvPicPr>
              <p:cNvPr id="5" name="Picture 4">
                <a:extLst>
                  <a:ext uri="{FF2B5EF4-FFF2-40B4-BE49-F238E27FC236}">
                    <a16:creationId xmlns:a16="http://schemas.microsoft.com/office/drawing/2014/main" id="{24044230-5FE1-864C-919E-D34B08E7A899}"/>
                  </a:ext>
                </a:extLst>
              </p:cNvPr>
              <p:cNvPicPr>
                <a:picLocks noChangeAspect="1"/>
              </p:cNvPicPr>
              <p:nvPr/>
            </p:nvPicPr>
            <p:blipFill>
              <a:blip r:embed="rId5"/>
              <a:stretch>
                <a:fillRect/>
              </a:stretch>
            </p:blipFill>
            <p:spPr>
              <a:xfrm rot="20136020">
                <a:off x="431799" y="1584942"/>
                <a:ext cx="2022445" cy="1639071"/>
              </a:xfrm>
              <a:prstGeom prst="rect">
                <a:avLst/>
              </a:prstGeom>
            </p:spPr>
          </p:pic>
          <p:pic>
            <p:nvPicPr>
              <p:cNvPr id="7" name="Picture 6">
                <a:extLst>
                  <a:ext uri="{FF2B5EF4-FFF2-40B4-BE49-F238E27FC236}">
                    <a16:creationId xmlns:a16="http://schemas.microsoft.com/office/drawing/2014/main" id="{50CA25E6-7D58-F04C-8DE6-03D0A7E49BC0}"/>
                  </a:ext>
                </a:extLst>
              </p:cNvPr>
              <p:cNvPicPr>
                <a:picLocks noChangeAspect="1"/>
              </p:cNvPicPr>
              <p:nvPr/>
            </p:nvPicPr>
            <p:blipFill>
              <a:blip r:embed="rId6"/>
              <a:stretch>
                <a:fillRect/>
              </a:stretch>
            </p:blipFill>
            <p:spPr>
              <a:xfrm>
                <a:off x="2308129" y="1550337"/>
                <a:ext cx="2041053" cy="3499363"/>
              </a:xfrm>
              <a:prstGeom prst="rect">
                <a:avLst/>
              </a:prstGeom>
            </p:spPr>
          </p:pic>
          <p:grpSp>
            <p:nvGrpSpPr>
              <p:cNvPr id="13" name="Group 12">
                <a:extLst>
                  <a:ext uri="{FF2B5EF4-FFF2-40B4-BE49-F238E27FC236}">
                    <a16:creationId xmlns:a16="http://schemas.microsoft.com/office/drawing/2014/main" id="{3E06CE44-EEC6-B44C-9EB6-EB8CF19BDC77}"/>
                  </a:ext>
                </a:extLst>
              </p:cNvPr>
              <p:cNvGrpSpPr/>
              <p:nvPr/>
            </p:nvGrpSpPr>
            <p:grpSpPr>
              <a:xfrm>
                <a:off x="2358909" y="1069835"/>
                <a:ext cx="749477" cy="686291"/>
                <a:chOff x="7375358" y="2779295"/>
                <a:chExt cx="540000" cy="540000"/>
              </a:xfrm>
            </p:grpSpPr>
            <p:sp>
              <p:nvSpPr>
                <p:cNvPr id="10" name="Oval 9">
                  <a:extLst>
                    <a:ext uri="{FF2B5EF4-FFF2-40B4-BE49-F238E27FC236}">
                      <a16:creationId xmlns:a16="http://schemas.microsoft.com/office/drawing/2014/main" id="{24CF9A76-2053-664F-9B9B-DDA8E6BA11E3}"/>
                    </a:ext>
                  </a:extLst>
                </p:cNvPr>
                <p:cNvSpPr/>
                <p:nvPr/>
              </p:nvSpPr>
              <p:spPr>
                <a:xfrm>
                  <a:off x="7375358" y="2779295"/>
                  <a:ext cx="540000" cy="5400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11" name="Oval 10">
                  <a:extLst>
                    <a:ext uri="{FF2B5EF4-FFF2-40B4-BE49-F238E27FC236}">
                      <a16:creationId xmlns:a16="http://schemas.microsoft.com/office/drawing/2014/main" id="{A849A65B-E05D-1D41-A4CC-3272351E8A5C}"/>
                    </a:ext>
                  </a:extLst>
                </p:cNvPr>
                <p:cNvSpPr/>
                <p:nvPr/>
              </p:nvSpPr>
              <p:spPr>
                <a:xfrm>
                  <a:off x="7568776" y="2894549"/>
                  <a:ext cx="251999" cy="25199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12" name="Oval 11">
                  <a:extLst>
                    <a:ext uri="{FF2B5EF4-FFF2-40B4-BE49-F238E27FC236}">
                      <a16:creationId xmlns:a16="http://schemas.microsoft.com/office/drawing/2014/main" id="{EED9E978-60C5-1946-A783-E8AC0E850F00}"/>
                    </a:ext>
                  </a:extLst>
                </p:cNvPr>
                <p:cNvSpPr/>
                <p:nvPr/>
              </p:nvSpPr>
              <p:spPr>
                <a:xfrm>
                  <a:off x="7694775" y="2948548"/>
                  <a:ext cx="72000" cy="7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grpSp>
            <p:nvGrpSpPr>
              <p:cNvPr id="14" name="Group 13">
                <a:extLst>
                  <a:ext uri="{FF2B5EF4-FFF2-40B4-BE49-F238E27FC236}">
                    <a16:creationId xmlns:a16="http://schemas.microsoft.com/office/drawing/2014/main" id="{3C63A33C-6BA3-194F-8B3F-2766F079BEC4}"/>
                  </a:ext>
                </a:extLst>
              </p:cNvPr>
              <p:cNvGrpSpPr/>
              <p:nvPr/>
            </p:nvGrpSpPr>
            <p:grpSpPr>
              <a:xfrm>
                <a:off x="3547438" y="1069835"/>
                <a:ext cx="749477" cy="686291"/>
                <a:chOff x="7375358" y="2779295"/>
                <a:chExt cx="540000" cy="540000"/>
              </a:xfrm>
            </p:grpSpPr>
            <p:sp>
              <p:nvSpPr>
                <p:cNvPr id="15" name="Oval 14">
                  <a:extLst>
                    <a:ext uri="{FF2B5EF4-FFF2-40B4-BE49-F238E27FC236}">
                      <a16:creationId xmlns:a16="http://schemas.microsoft.com/office/drawing/2014/main" id="{C64EF36D-BFAB-3842-B678-82ECA344C8E9}"/>
                    </a:ext>
                  </a:extLst>
                </p:cNvPr>
                <p:cNvSpPr/>
                <p:nvPr/>
              </p:nvSpPr>
              <p:spPr>
                <a:xfrm>
                  <a:off x="7375358" y="2779295"/>
                  <a:ext cx="540000" cy="5400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16" name="Oval 15">
                  <a:extLst>
                    <a:ext uri="{FF2B5EF4-FFF2-40B4-BE49-F238E27FC236}">
                      <a16:creationId xmlns:a16="http://schemas.microsoft.com/office/drawing/2014/main" id="{5BF36877-4381-CC43-9102-F49A88B7E9A3}"/>
                    </a:ext>
                  </a:extLst>
                </p:cNvPr>
                <p:cNvSpPr/>
                <p:nvPr/>
              </p:nvSpPr>
              <p:spPr>
                <a:xfrm>
                  <a:off x="7568776" y="2894549"/>
                  <a:ext cx="251999" cy="25199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17" name="Oval 16">
                  <a:extLst>
                    <a:ext uri="{FF2B5EF4-FFF2-40B4-BE49-F238E27FC236}">
                      <a16:creationId xmlns:a16="http://schemas.microsoft.com/office/drawing/2014/main" id="{E2B1CB5E-04BE-3A46-AB72-6422E62847AE}"/>
                    </a:ext>
                  </a:extLst>
                </p:cNvPr>
                <p:cNvSpPr/>
                <p:nvPr/>
              </p:nvSpPr>
              <p:spPr>
                <a:xfrm>
                  <a:off x="7694775" y="2948548"/>
                  <a:ext cx="72000" cy="7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pic>
            <p:nvPicPr>
              <p:cNvPr id="20" name="Picture 19">
                <a:extLst>
                  <a:ext uri="{FF2B5EF4-FFF2-40B4-BE49-F238E27FC236}">
                    <a16:creationId xmlns:a16="http://schemas.microsoft.com/office/drawing/2014/main" id="{2D88972C-AE5D-994D-B71A-90E9A7A7DEEA}"/>
                  </a:ext>
                </a:extLst>
              </p:cNvPr>
              <p:cNvPicPr>
                <a:picLocks noChangeAspect="1"/>
              </p:cNvPicPr>
              <p:nvPr/>
            </p:nvPicPr>
            <p:blipFill>
              <a:blip r:embed="rId7"/>
              <a:stretch>
                <a:fillRect/>
              </a:stretch>
            </p:blipFill>
            <p:spPr>
              <a:xfrm>
                <a:off x="1986564" y="4930285"/>
                <a:ext cx="2684184" cy="1147015"/>
              </a:xfrm>
              <a:prstGeom prst="rect">
                <a:avLst/>
              </a:prstGeom>
            </p:spPr>
          </p:pic>
        </p:grpSp>
      </p:grpSp>
      <p:sp>
        <p:nvSpPr>
          <p:cNvPr id="22" name="TextBox 21">
            <a:extLst>
              <a:ext uri="{FF2B5EF4-FFF2-40B4-BE49-F238E27FC236}">
                <a16:creationId xmlns:a16="http://schemas.microsoft.com/office/drawing/2014/main" id="{3B246BCF-1CAE-7641-9223-41477B10E8B4}"/>
              </a:ext>
            </a:extLst>
          </p:cNvPr>
          <p:cNvSpPr txBox="1"/>
          <p:nvPr/>
        </p:nvSpPr>
        <p:spPr>
          <a:xfrm>
            <a:off x="5377023" y="1402297"/>
            <a:ext cx="6538552" cy="2605585"/>
          </a:xfrm>
          <a:prstGeom prst="rect">
            <a:avLst/>
          </a:prstGeom>
          <a:noFill/>
        </p:spPr>
        <p:txBody>
          <a:bodyPr wrap="square" rtlCol="0">
            <a:spAutoFit/>
          </a:bodyPr>
          <a:lstStyle/>
          <a:p>
            <a:pPr algn="ctr"/>
            <a:r>
              <a:rPr lang="en-ZA" sz="4000" dirty="0">
                <a:latin typeface="Comic Sans MS" panose="030F0902030302020204" pitchFamily="66" charset="0"/>
              </a:rPr>
              <a:t>Simon, a quantum computer, challenges Bob to a quantum coin flipping game.</a:t>
            </a:r>
          </a:p>
        </p:txBody>
      </p:sp>
      <p:pic>
        <p:nvPicPr>
          <p:cNvPr id="21" name="Picture 20">
            <a:extLst>
              <a:ext uri="{FF2B5EF4-FFF2-40B4-BE49-F238E27FC236}">
                <a16:creationId xmlns:a16="http://schemas.microsoft.com/office/drawing/2014/main" id="{3F78E008-4873-5347-9840-7BE0928050B2}"/>
              </a:ext>
            </a:extLst>
          </p:cNvPr>
          <p:cNvPicPr>
            <a:picLocks noChangeAspect="1"/>
          </p:cNvPicPr>
          <p:nvPr/>
        </p:nvPicPr>
        <p:blipFill>
          <a:blip r:embed="rId8"/>
          <a:stretch>
            <a:fillRect/>
          </a:stretch>
        </p:blipFill>
        <p:spPr>
          <a:xfrm rot="15557664">
            <a:off x="7228983" y="4973829"/>
            <a:ext cx="1535664" cy="902540"/>
          </a:xfrm>
          <a:prstGeom prst="rect">
            <a:avLst/>
          </a:prstGeom>
        </p:spPr>
      </p:pic>
      <p:pic>
        <p:nvPicPr>
          <p:cNvPr id="23" name="Picture 22">
            <a:extLst>
              <a:ext uri="{FF2B5EF4-FFF2-40B4-BE49-F238E27FC236}">
                <a16:creationId xmlns:a16="http://schemas.microsoft.com/office/drawing/2014/main" id="{C1A2694C-EB76-BC4B-8199-53B772ECEDDE}"/>
              </a:ext>
            </a:extLst>
          </p:cNvPr>
          <p:cNvPicPr>
            <a:picLocks noChangeAspect="1"/>
          </p:cNvPicPr>
          <p:nvPr/>
        </p:nvPicPr>
        <p:blipFill>
          <a:blip r:embed="rId3"/>
          <a:stretch>
            <a:fillRect/>
          </a:stretch>
        </p:blipFill>
        <p:spPr>
          <a:xfrm rot="6962165">
            <a:off x="7831973" y="4945542"/>
            <a:ext cx="1631826" cy="959114"/>
          </a:xfrm>
          <a:prstGeom prst="rect">
            <a:avLst/>
          </a:prstGeom>
        </p:spPr>
      </p:pic>
      <p:sp>
        <p:nvSpPr>
          <p:cNvPr id="8" name="Curved Right Arrow 7">
            <a:extLst>
              <a:ext uri="{FF2B5EF4-FFF2-40B4-BE49-F238E27FC236}">
                <a16:creationId xmlns:a16="http://schemas.microsoft.com/office/drawing/2014/main" id="{F61B36CF-59D9-3849-A1F7-90181D58055C}"/>
              </a:ext>
            </a:extLst>
          </p:cNvPr>
          <p:cNvSpPr/>
          <p:nvPr/>
        </p:nvSpPr>
        <p:spPr>
          <a:xfrm>
            <a:off x="7587987" y="4140742"/>
            <a:ext cx="824330" cy="892120"/>
          </a:xfrm>
          <a:prstGeom prst="curvedRight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704484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 name="Picture 102">
            <a:extLst>
              <a:ext uri="{FF2B5EF4-FFF2-40B4-BE49-F238E27FC236}">
                <a16:creationId xmlns:a16="http://schemas.microsoft.com/office/drawing/2014/main" id="{4553C1BA-DA88-DA4B-B392-59112DE176E4}"/>
              </a:ext>
            </a:extLst>
          </p:cNvPr>
          <p:cNvPicPr>
            <a:picLocks noChangeAspect="1"/>
          </p:cNvPicPr>
          <p:nvPr/>
        </p:nvPicPr>
        <p:blipFill>
          <a:blip r:embed="rId3"/>
          <a:stretch>
            <a:fillRect/>
          </a:stretch>
        </p:blipFill>
        <p:spPr>
          <a:xfrm>
            <a:off x="655019" y="2759733"/>
            <a:ext cx="1390748" cy="2368916"/>
          </a:xfrm>
          <a:prstGeom prst="rect">
            <a:avLst/>
          </a:prstGeom>
        </p:spPr>
      </p:pic>
      <p:grpSp>
        <p:nvGrpSpPr>
          <p:cNvPr id="6" name="Group 5">
            <a:extLst>
              <a:ext uri="{FF2B5EF4-FFF2-40B4-BE49-F238E27FC236}">
                <a16:creationId xmlns:a16="http://schemas.microsoft.com/office/drawing/2014/main" id="{777001DF-5D6A-D64E-BACD-24BE1F7578B5}"/>
              </a:ext>
            </a:extLst>
          </p:cNvPr>
          <p:cNvGrpSpPr/>
          <p:nvPr/>
        </p:nvGrpSpPr>
        <p:grpSpPr>
          <a:xfrm>
            <a:off x="65313" y="651539"/>
            <a:ext cx="3467658" cy="5919164"/>
            <a:chOff x="65313" y="651539"/>
            <a:chExt cx="3467658" cy="5919164"/>
          </a:xfrm>
        </p:grpSpPr>
        <p:grpSp>
          <p:nvGrpSpPr>
            <p:cNvPr id="3" name="Group 2">
              <a:extLst>
                <a:ext uri="{FF2B5EF4-FFF2-40B4-BE49-F238E27FC236}">
                  <a16:creationId xmlns:a16="http://schemas.microsoft.com/office/drawing/2014/main" id="{52F90E73-F1A7-EA49-B17A-DCC52BA8A0C7}"/>
                </a:ext>
              </a:extLst>
            </p:cNvPr>
            <p:cNvGrpSpPr/>
            <p:nvPr/>
          </p:nvGrpSpPr>
          <p:grpSpPr>
            <a:xfrm>
              <a:off x="139607" y="4711957"/>
              <a:ext cx="2656973" cy="1858746"/>
              <a:chOff x="180203" y="1781942"/>
              <a:chExt cx="2863511" cy="2003235"/>
            </a:xfrm>
          </p:grpSpPr>
          <p:grpSp>
            <p:nvGrpSpPr>
              <p:cNvPr id="38" name="Group 37">
                <a:extLst>
                  <a:ext uri="{FF2B5EF4-FFF2-40B4-BE49-F238E27FC236}">
                    <a16:creationId xmlns:a16="http://schemas.microsoft.com/office/drawing/2014/main" id="{2CC37685-BEED-444F-B886-34A634EF3E40}"/>
                  </a:ext>
                </a:extLst>
              </p:cNvPr>
              <p:cNvGrpSpPr/>
              <p:nvPr/>
            </p:nvGrpSpPr>
            <p:grpSpPr>
              <a:xfrm>
                <a:off x="180203" y="2088319"/>
                <a:ext cx="2863511" cy="1696858"/>
                <a:chOff x="7181826" y="1672730"/>
                <a:chExt cx="3208988" cy="1825467"/>
              </a:xfrm>
            </p:grpSpPr>
            <p:sp>
              <p:nvSpPr>
                <p:cNvPr id="31" name="Freeform 30">
                  <a:extLst>
                    <a:ext uri="{FF2B5EF4-FFF2-40B4-BE49-F238E27FC236}">
                      <a16:creationId xmlns:a16="http://schemas.microsoft.com/office/drawing/2014/main" id="{F4CF7F3E-5E8A-FD42-AF18-990706CA4AD9}"/>
                    </a:ext>
                  </a:extLst>
                </p:cNvPr>
                <p:cNvSpPr/>
                <p:nvPr/>
              </p:nvSpPr>
              <p:spPr>
                <a:xfrm>
                  <a:off x="7195729" y="1672730"/>
                  <a:ext cx="3183778" cy="457150"/>
                </a:xfrm>
                <a:custGeom>
                  <a:avLst/>
                  <a:gdLst>
                    <a:gd name="connsiteX0" fmla="*/ 0 w 2047364"/>
                    <a:gd name="connsiteY0" fmla="*/ 356839 h 365760"/>
                    <a:gd name="connsiteX1" fmla="*/ 347918 w 2047364"/>
                    <a:gd name="connsiteY1" fmla="*/ 0 h 365760"/>
                    <a:gd name="connsiteX2" fmla="*/ 2047364 w 2047364"/>
                    <a:gd name="connsiteY2" fmla="*/ 8921 h 365760"/>
                    <a:gd name="connsiteX3" fmla="*/ 1708366 w 2047364"/>
                    <a:gd name="connsiteY3" fmla="*/ 365760 h 365760"/>
                    <a:gd name="connsiteX4" fmla="*/ 0 w 2047364"/>
                    <a:gd name="connsiteY4" fmla="*/ 356839 h 365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7364" h="365760">
                      <a:moveTo>
                        <a:pt x="0" y="356839"/>
                      </a:moveTo>
                      <a:lnTo>
                        <a:pt x="347918" y="0"/>
                      </a:lnTo>
                      <a:lnTo>
                        <a:pt x="2047364" y="8921"/>
                      </a:lnTo>
                      <a:lnTo>
                        <a:pt x="1708366" y="365760"/>
                      </a:lnTo>
                      <a:lnTo>
                        <a:pt x="0" y="356839"/>
                      </a:lnTo>
                      <a:close/>
                    </a:path>
                  </a:pathLst>
                </a:custGeom>
                <a:solidFill>
                  <a:schemeClr val="accent4">
                    <a:lumMod val="40000"/>
                    <a:lumOff val="60000"/>
                  </a:schemeClr>
                </a:solidFill>
                <a:ln w="12700" cap="rnd">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32" name="Freeform 31">
                  <a:extLst>
                    <a:ext uri="{FF2B5EF4-FFF2-40B4-BE49-F238E27FC236}">
                      <a16:creationId xmlns:a16="http://schemas.microsoft.com/office/drawing/2014/main" id="{D7AC9F91-2F8A-194C-973C-C11375D5470A}"/>
                    </a:ext>
                  </a:extLst>
                </p:cNvPr>
                <p:cNvSpPr/>
                <p:nvPr/>
              </p:nvSpPr>
              <p:spPr>
                <a:xfrm>
                  <a:off x="7181826" y="2124135"/>
                  <a:ext cx="2634611" cy="1374062"/>
                </a:xfrm>
                <a:custGeom>
                  <a:avLst/>
                  <a:gdLst>
                    <a:gd name="connsiteX0" fmla="*/ 0 w 1690525"/>
                    <a:gd name="connsiteY0" fmla="*/ 0 h 1070517"/>
                    <a:gd name="connsiteX1" fmla="*/ 0 w 1690525"/>
                    <a:gd name="connsiteY1" fmla="*/ 1061596 h 1070517"/>
                    <a:gd name="connsiteX2" fmla="*/ 1686065 w 1690525"/>
                    <a:gd name="connsiteY2" fmla="*/ 1070517 h 1070517"/>
                    <a:gd name="connsiteX3" fmla="*/ 1690525 w 1690525"/>
                    <a:gd name="connsiteY3" fmla="*/ 13382 h 1070517"/>
                    <a:gd name="connsiteX4" fmla="*/ 0 w 1690525"/>
                    <a:gd name="connsiteY4" fmla="*/ 0 h 1070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0525" h="1070517">
                      <a:moveTo>
                        <a:pt x="0" y="0"/>
                      </a:moveTo>
                      <a:lnTo>
                        <a:pt x="0" y="1061596"/>
                      </a:lnTo>
                      <a:lnTo>
                        <a:pt x="1686065" y="1070517"/>
                      </a:lnTo>
                      <a:cubicBezTo>
                        <a:pt x="1687552" y="718139"/>
                        <a:pt x="1689038" y="365760"/>
                        <a:pt x="1690525" y="13382"/>
                      </a:cubicBezTo>
                      <a:lnTo>
                        <a:pt x="0" y="0"/>
                      </a:lnTo>
                      <a:close/>
                    </a:path>
                  </a:pathLst>
                </a:custGeom>
                <a:solidFill>
                  <a:schemeClr val="accent4">
                    <a:lumMod val="20000"/>
                    <a:lumOff val="80000"/>
                  </a:schemeClr>
                </a:solidFill>
                <a:ln w="12700" cap="rnd">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dirty="0"/>
                </a:p>
              </p:txBody>
            </p:sp>
            <p:sp>
              <p:nvSpPr>
                <p:cNvPr id="33" name="Freeform 32">
                  <a:extLst>
                    <a:ext uri="{FF2B5EF4-FFF2-40B4-BE49-F238E27FC236}">
                      <a16:creationId xmlns:a16="http://schemas.microsoft.com/office/drawing/2014/main" id="{FB4A99C8-F819-F147-A700-A2F517CDA69B}"/>
                    </a:ext>
                  </a:extLst>
                </p:cNvPr>
                <p:cNvSpPr/>
                <p:nvPr/>
              </p:nvSpPr>
              <p:spPr>
                <a:xfrm>
                  <a:off x="9816437" y="1686157"/>
                  <a:ext cx="574377" cy="1799813"/>
                </a:xfrm>
                <a:custGeom>
                  <a:avLst/>
                  <a:gdLst>
                    <a:gd name="connsiteX0" fmla="*/ 0 w 361300"/>
                    <a:gd name="connsiteY0" fmla="*/ 356839 h 1422895"/>
                    <a:gd name="connsiteX1" fmla="*/ 347918 w 361300"/>
                    <a:gd name="connsiteY1" fmla="*/ 0 h 1422895"/>
                    <a:gd name="connsiteX2" fmla="*/ 361300 w 361300"/>
                    <a:gd name="connsiteY2" fmla="*/ 1074977 h 1422895"/>
                    <a:gd name="connsiteX3" fmla="*/ 0 w 361300"/>
                    <a:gd name="connsiteY3" fmla="*/ 1422895 h 1422895"/>
                    <a:gd name="connsiteX4" fmla="*/ 0 w 361300"/>
                    <a:gd name="connsiteY4" fmla="*/ 356839 h 1422895"/>
                    <a:gd name="connsiteX0" fmla="*/ 0 w 361300"/>
                    <a:gd name="connsiteY0" fmla="*/ 356839 h 1441954"/>
                    <a:gd name="connsiteX1" fmla="*/ 347918 w 361300"/>
                    <a:gd name="connsiteY1" fmla="*/ 0 h 1441954"/>
                    <a:gd name="connsiteX2" fmla="*/ 361300 w 361300"/>
                    <a:gd name="connsiteY2" fmla="*/ 1074977 h 1441954"/>
                    <a:gd name="connsiteX3" fmla="*/ 0 w 361300"/>
                    <a:gd name="connsiteY3" fmla="*/ 1441954 h 1441954"/>
                    <a:gd name="connsiteX4" fmla="*/ 0 w 361300"/>
                    <a:gd name="connsiteY4" fmla="*/ 356839 h 1441954"/>
                    <a:gd name="connsiteX0" fmla="*/ 0 w 361300"/>
                    <a:gd name="connsiteY0" fmla="*/ 356839 h 1429248"/>
                    <a:gd name="connsiteX1" fmla="*/ 347918 w 361300"/>
                    <a:gd name="connsiteY1" fmla="*/ 0 h 1429248"/>
                    <a:gd name="connsiteX2" fmla="*/ 361300 w 361300"/>
                    <a:gd name="connsiteY2" fmla="*/ 1074977 h 1429248"/>
                    <a:gd name="connsiteX3" fmla="*/ 3175 w 361300"/>
                    <a:gd name="connsiteY3" fmla="*/ 1429248 h 1429248"/>
                    <a:gd name="connsiteX4" fmla="*/ 0 w 361300"/>
                    <a:gd name="connsiteY4" fmla="*/ 356839 h 1429248"/>
                    <a:gd name="connsiteX0" fmla="*/ 0 w 363793"/>
                    <a:gd name="connsiteY0" fmla="*/ 337780 h 1410189"/>
                    <a:gd name="connsiteX1" fmla="*/ 363793 w 363793"/>
                    <a:gd name="connsiteY1" fmla="*/ 0 h 1410189"/>
                    <a:gd name="connsiteX2" fmla="*/ 361300 w 363793"/>
                    <a:gd name="connsiteY2" fmla="*/ 1055918 h 1410189"/>
                    <a:gd name="connsiteX3" fmla="*/ 3175 w 363793"/>
                    <a:gd name="connsiteY3" fmla="*/ 1410189 h 1410189"/>
                    <a:gd name="connsiteX4" fmla="*/ 0 w 363793"/>
                    <a:gd name="connsiteY4" fmla="*/ 337780 h 1410189"/>
                    <a:gd name="connsiteX0" fmla="*/ 0 w 368555"/>
                    <a:gd name="connsiteY0" fmla="*/ 362141 h 1434550"/>
                    <a:gd name="connsiteX1" fmla="*/ 368555 w 368555"/>
                    <a:gd name="connsiteY1" fmla="*/ 0 h 1434550"/>
                    <a:gd name="connsiteX2" fmla="*/ 361300 w 368555"/>
                    <a:gd name="connsiteY2" fmla="*/ 1080279 h 1434550"/>
                    <a:gd name="connsiteX3" fmla="*/ 3175 w 368555"/>
                    <a:gd name="connsiteY3" fmla="*/ 1434550 h 1434550"/>
                    <a:gd name="connsiteX4" fmla="*/ 0 w 368555"/>
                    <a:gd name="connsiteY4" fmla="*/ 362141 h 143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55" h="1434550">
                      <a:moveTo>
                        <a:pt x="0" y="362141"/>
                      </a:moveTo>
                      <a:lnTo>
                        <a:pt x="368555" y="0"/>
                      </a:lnTo>
                      <a:cubicBezTo>
                        <a:pt x="366137" y="360093"/>
                        <a:pt x="363718" y="720186"/>
                        <a:pt x="361300" y="1080279"/>
                      </a:cubicBezTo>
                      <a:lnTo>
                        <a:pt x="3175" y="1434550"/>
                      </a:lnTo>
                      <a:cubicBezTo>
                        <a:pt x="2117" y="1077080"/>
                        <a:pt x="1058" y="719611"/>
                        <a:pt x="0" y="362141"/>
                      </a:cubicBezTo>
                      <a:close/>
                    </a:path>
                  </a:pathLst>
                </a:custGeom>
                <a:solidFill>
                  <a:schemeClr val="accent4">
                    <a:lumMod val="40000"/>
                    <a:lumOff val="60000"/>
                    <a:alpha val="70000"/>
                  </a:schemeClr>
                </a:solidFill>
                <a:ln w="12700" cap="sq">
                  <a:solidFill>
                    <a:schemeClr val="accent4">
                      <a:lumMod val="7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34" name="Freeform 33">
                  <a:extLst>
                    <a:ext uri="{FF2B5EF4-FFF2-40B4-BE49-F238E27FC236}">
                      <a16:creationId xmlns:a16="http://schemas.microsoft.com/office/drawing/2014/main" id="{4CF2B100-6BCD-AD4E-9565-53D866B2E1F5}"/>
                    </a:ext>
                  </a:extLst>
                </p:cNvPr>
                <p:cNvSpPr/>
                <p:nvPr/>
              </p:nvSpPr>
              <p:spPr>
                <a:xfrm>
                  <a:off x="7193452" y="2401470"/>
                  <a:ext cx="3191525" cy="440129"/>
                </a:xfrm>
                <a:custGeom>
                  <a:avLst/>
                  <a:gdLst>
                    <a:gd name="connsiteX0" fmla="*/ 0 w 2047875"/>
                    <a:gd name="connsiteY0" fmla="*/ 342900 h 342900"/>
                    <a:gd name="connsiteX1" fmla="*/ 1666875 w 2047875"/>
                    <a:gd name="connsiteY1" fmla="*/ 342900 h 342900"/>
                    <a:gd name="connsiteX2" fmla="*/ 2047875 w 2047875"/>
                    <a:gd name="connsiteY2" fmla="*/ 0 h 342900"/>
                  </a:gdLst>
                  <a:ahLst/>
                  <a:cxnLst>
                    <a:cxn ang="0">
                      <a:pos x="connsiteX0" y="connsiteY0"/>
                    </a:cxn>
                    <a:cxn ang="0">
                      <a:pos x="connsiteX1" y="connsiteY1"/>
                    </a:cxn>
                    <a:cxn ang="0">
                      <a:pos x="connsiteX2" y="connsiteY2"/>
                    </a:cxn>
                  </a:cxnLst>
                  <a:rect l="l" t="t" r="r" b="b"/>
                  <a:pathLst>
                    <a:path w="2047875" h="342900">
                      <a:moveTo>
                        <a:pt x="0" y="342900"/>
                      </a:moveTo>
                      <a:lnTo>
                        <a:pt x="1666875" y="342900"/>
                      </a:lnTo>
                      <a:lnTo>
                        <a:pt x="2047875" y="0"/>
                      </a:lnTo>
                    </a:path>
                  </a:pathLst>
                </a:custGeom>
                <a:noFill/>
                <a:ln w="25400" cap="rnd">
                  <a:solidFill>
                    <a:schemeClr val="accent4">
                      <a:lumMod val="7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36" name="Oval 35">
                  <a:extLst>
                    <a:ext uri="{FF2B5EF4-FFF2-40B4-BE49-F238E27FC236}">
                      <a16:creationId xmlns:a16="http://schemas.microsoft.com/office/drawing/2014/main" id="{89463AA8-2877-F44E-A036-47D62AA4E244}"/>
                    </a:ext>
                  </a:extLst>
                </p:cNvPr>
                <p:cNvSpPr/>
                <p:nvPr/>
              </p:nvSpPr>
              <p:spPr>
                <a:xfrm>
                  <a:off x="7943162" y="1777172"/>
                  <a:ext cx="1572840" cy="26664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pic>
            <p:nvPicPr>
              <p:cNvPr id="4" name="Picture 3">
                <a:extLst>
                  <a:ext uri="{FF2B5EF4-FFF2-40B4-BE49-F238E27FC236}">
                    <a16:creationId xmlns:a16="http://schemas.microsoft.com/office/drawing/2014/main" id="{FA2272E8-8F8D-914A-BD15-CE5574838758}"/>
                  </a:ext>
                </a:extLst>
              </p:cNvPr>
              <p:cNvPicPr>
                <a:picLocks noChangeAspect="1"/>
              </p:cNvPicPr>
              <p:nvPr/>
            </p:nvPicPr>
            <p:blipFill>
              <a:blip r:embed="rId4"/>
              <a:stretch>
                <a:fillRect/>
              </a:stretch>
            </p:blipFill>
            <p:spPr>
              <a:xfrm>
                <a:off x="1099063" y="1781942"/>
                <a:ext cx="1152000" cy="677053"/>
              </a:xfrm>
              <a:prstGeom prst="rect">
                <a:avLst/>
              </a:prstGeom>
            </p:spPr>
          </p:pic>
        </p:grpSp>
        <p:sp>
          <p:nvSpPr>
            <p:cNvPr id="2" name="Rounded Rectangular Callout 1">
              <a:extLst>
                <a:ext uri="{FF2B5EF4-FFF2-40B4-BE49-F238E27FC236}">
                  <a16:creationId xmlns:a16="http://schemas.microsoft.com/office/drawing/2014/main" id="{533405D0-AE5A-AC40-9A9E-163162EDB335}"/>
                </a:ext>
              </a:extLst>
            </p:cNvPr>
            <p:cNvSpPr/>
            <p:nvPr/>
          </p:nvSpPr>
          <p:spPr>
            <a:xfrm>
              <a:off x="65313" y="651539"/>
              <a:ext cx="3467658" cy="1675354"/>
            </a:xfrm>
            <a:prstGeom prst="wedgeRoundRectCallout">
              <a:avLst>
                <a:gd name="adj1" fmla="val -20574"/>
                <a:gd name="adj2" fmla="val 93523"/>
                <a:gd name="adj3" fmla="val 16667"/>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7" dirty="0">
                  <a:solidFill>
                    <a:schemeClr val="tx1"/>
                  </a:solidFill>
                  <a:latin typeface="Comic Sans MS" panose="030F0902030302020204" pitchFamily="66" charset="0"/>
                </a:rPr>
                <a:t>Bob flips a coin, observes the side it lands on, and places it inside a quantum box.</a:t>
              </a:r>
            </a:p>
          </p:txBody>
        </p:sp>
      </p:grpSp>
      <p:sp>
        <p:nvSpPr>
          <p:cNvPr id="92" name="TextBox 91">
            <a:extLst>
              <a:ext uri="{FF2B5EF4-FFF2-40B4-BE49-F238E27FC236}">
                <a16:creationId xmlns:a16="http://schemas.microsoft.com/office/drawing/2014/main" id="{8054AD4C-ADF8-3443-B7A8-0F7BB71F4219}"/>
              </a:ext>
            </a:extLst>
          </p:cNvPr>
          <p:cNvSpPr txBox="1"/>
          <p:nvPr/>
        </p:nvSpPr>
        <p:spPr>
          <a:xfrm>
            <a:off x="12940474" y="-3338518"/>
            <a:ext cx="756938" cy="777777"/>
          </a:xfrm>
          <a:prstGeom prst="rect">
            <a:avLst/>
          </a:prstGeom>
          <a:noFill/>
        </p:spPr>
        <p:txBody>
          <a:bodyPr wrap="none" rtlCol="0">
            <a:spAutoFit/>
          </a:bodyPr>
          <a:lstStyle/>
          <a:p>
            <a:r>
              <a:rPr lang="en-US" sz="4454" b="1" dirty="0">
                <a:latin typeface="Arial Black" panose="020B0604020202020204" pitchFamily="34" charset="0"/>
                <a:cs typeface="Arial Black" panose="020B0604020202020204" pitchFamily="34" charset="0"/>
              </a:rPr>
              <a:t>2.</a:t>
            </a:r>
          </a:p>
        </p:txBody>
      </p:sp>
      <p:grpSp>
        <p:nvGrpSpPr>
          <p:cNvPr id="25" name="Group 24">
            <a:extLst>
              <a:ext uri="{FF2B5EF4-FFF2-40B4-BE49-F238E27FC236}">
                <a16:creationId xmlns:a16="http://schemas.microsoft.com/office/drawing/2014/main" id="{DC7E23D5-DDBB-E045-9F72-3FC8EB7F8ED4}"/>
              </a:ext>
            </a:extLst>
          </p:cNvPr>
          <p:cNvGrpSpPr/>
          <p:nvPr/>
        </p:nvGrpSpPr>
        <p:grpSpPr>
          <a:xfrm>
            <a:off x="2347163" y="2480758"/>
            <a:ext cx="5311107" cy="4180071"/>
            <a:chOff x="2347163" y="2480758"/>
            <a:chExt cx="5311107" cy="4180071"/>
          </a:xfrm>
        </p:grpSpPr>
        <p:grpSp>
          <p:nvGrpSpPr>
            <p:cNvPr id="8" name="Group 7">
              <a:extLst>
                <a:ext uri="{FF2B5EF4-FFF2-40B4-BE49-F238E27FC236}">
                  <a16:creationId xmlns:a16="http://schemas.microsoft.com/office/drawing/2014/main" id="{79CC22DC-083C-A546-B26F-C747C9197174}"/>
                </a:ext>
              </a:extLst>
            </p:cNvPr>
            <p:cNvGrpSpPr/>
            <p:nvPr/>
          </p:nvGrpSpPr>
          <p:grpSpPr>
            <a:xfrm>
              <a:off x="2347163" y="2480758"/>
              <a:ext cx="2757709" cy="3069080"/>
              <a:chOff x="2995126" y="859776"/>
              <a:chExt cx="2972078" cy="3307653"/>
            </a:xfrm>
          </p:grpSpPr>
          <p:pic>
            <p:nvPicPr>
              <p:cNvPr id="7" name="Picture 6">
                <a:extLst>
                  <a:ext uri="{FF2B5EF4-FFF2-40B4-BE49-F238E27FC236}">
                    <a16:creationId xmlns:a16="http://schemas.microsoft.com/office/drawing/2014/main" id="{50CA25E6-7D58-F04C-8DE6-03D0A7E49BC0}"/>
                  </a:ext>
                </a:extLst>
              </p:cNvPr>
              <p:cNvPicPr>
                <a:picLocks noChangeAspect="1"/>
              </p:cNvPicPr>
              <p:nvPr/>
            </p:nvPicPr>
            <p:blipFill>
              <a:blip r:embed="rId5"/>
              <a:stretch>
                <a:fillRect/>
              </a:stretch>
            </p:blipFill>
            <p:spPr>
              <a:xfrm rot="899456">
                <a:off x="3420552" y="1098279"/>
                <a:ext cx="1037257" cy="2040810"/>
              </a:xfrm>
              <a:prstGeom prst="rect">
                <a:avLst/>
              </a:prstGeom>
            </p:spPr>
          </p:pic>
          <p:pic>
            <p:nvPicPr>
              <p:cNvPr id="20" name="Picture 19">
                <a:extLst>
                  <a:ext uri="{FF2B5EF4-FFF2-40B4-BE49-F238E27FC236}">
                    <a16:creationId xmlns:a16="http://schemas.microsoft.com/office/drawing/2014/main" id="{2D88972C-AE5D-994D-B71A-90E9A7A7DEEA}"/>
                  </a:ext>
                </a:extLst>
              </p:cNvPr>
              <p:cNvPicPr>
                <a:picLocks noChangeAspect="1"/>
              </p:cNvPicPr>
              <p:nvPr/>
            </p:nvPicPr>
            <p:blipFill>
              <a:blip r:embed="rId6"/>
              <a:stretch>
                <a:fillRect/>
              </a:stretch>
            </p:blipFill>
            <p:spPr>
              <a:xfrm>
                <a:off x="3257133" y="3069447"/>
                <a:ext cx="1364093" cy="668933"/>
              </a:xfrm>
              <a:prstGeom prst="rect">
                <a:avLst/>
              </a:prstGeom>
            </p:spPr>
          </p:pic>
          <p:sp>
            <p:nvSpPr>
              <p:cNvPr id="40" name="Freeform 39">
                <a:extLst>
                  <a:ext uri="{FF2B5EF4-FFF2-40B4-BE49-F238E27FC236}">
                    <a16:creationId xmlns:a16="http://schemas.microsoft.com/office/drawing/2014/main" id="{E9E65921-0924-7B4B-AFE1-1622F10B2D32}"/>
                  </a:ext>
                </a:extLst>
              </p:cNvPr>
              <p:cNvSpPr/>
              <p:nvPr/>
            </p:nvSpPr>
            <p:spPr>
              <a:xfrm>
                <a:off x="3116099" y="2470571"/>
                <a:ext cx="2841015" cy="424943"/>
              </a:xfrm>
              <a:custGeom>
                <a:avLst/>
                <a:gdLst>
                  <a:gd name="connsiteX0" fmla="*/ 0 w 2047364"/>
                  <a:gd name="connsiteY0" fmla="*/ 356839 h 365760"/>
                  <a:gd name="connsiteX1" fmla="*/ 347918 w 2047364"/>
                  <a:gd name="connsiteY1" fmla="*/ 0 h 365760"/>
                  <a:gd name="connsiteX2" fmla="*/ 2047364 w 2047364"/>
                  <a:gd name="connsiteY2" fmla="*/ 8921 h 365760"/>
                  <a:gd name="connsiteX3" fmla="*/ 1708366 w 2047364"/>
                  <a:gd name="connsiteY3" fmla="*/ 365760 h 365760"/>
                  <a:gd name="connsiteX4" fmla="*/ 0 w 2047364"/>
                  <a:gd name="connsiteY4" fmla="*/ 356839 h 365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7364" h="365760">
                    <a:moveTo>
                      <a:pt x="0" y="356839"/>
                    </a:moveTo>
                    <a:lnTo>
                      <a:pt x="347918" y="0"/>
                    </a:lnTo>
                    <a:lnTo>
                      <a:pt x="2047364" y="8921"/>
                    </a:lnTo>
                    <a:lnTo>
                      <a:pt x="1708366" y="365760"/>
                    </a:lnTo>
                    <a:lnTo>
                      <a:pt x="0" y="356839"/>
                    </a:lnTo>
                    <a:close/>
                  </a:path>
                </a:pathLst>
              </a:custGeom>
              <a:solidFill>
                <a:schemeClr val="accent4">
                  <a:lumMod val="40000"/>
                  <a:lumOff val="60000"/>
                </a:schemeClr>
              </a:solidFill>
              <a:ln w="12700" cap="rnd">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41" name="Freeform 40">
                <a:extLst>
                  <a:ext uri="{FF2B5EF4-FFF2-40B4-BE49-F238E27FC236}">
                    <a16:creationId xmlns:a16="http://schemas.microsoft.com/office/drawing/2014/main" id="{EC97B1FE-2F95-6B4D-92BE-DE73355CEC96}"/>
                  </a:ext>
                </a:extLst>
              </p:cNvPr>
              <p:cNvSpPr/>
              <p:nvPr/>
            </p:nvSpPr>
            <p:spPr>
              <a:xfrm>
                <a:off x="3103693" y="2890173"/>
                <a:ext cx="2350971" cy="1277256"/>
              </a:xfrm>
              <a:custGeom>
                <a:avLst/>
                <a:gdLst>
                  <a:gd name="connsiteX0" fmla="*/ 0 w 1690525"/>
                  <a:gd name="connsiteY0" fmla="*/ 0 h 1070517"/>
                  <a:gd name="connsiteX1" fmla="*/ 0 w 1690525"/>
                  <a:gd name="connsiteY1" fmla="*/ 1061596 h 1070517"/>
                  <a:gd name="connsiteX2" fmla="*/ 1686065 w 1690525"/>
                  <a:gd name="connsiteY2" fmla="*/ 1070517 h 1070517"/>
                  <a:gd name="connsiteX3" fmla="*/ 1690525 w 1690525"/>
                  <a:gd name="connsiteY3" fmla="*/ 13382 h 1070517"/>
                  <a:gd name="connsiteX4" fmla="*/ 0 w 1690525"/>
                  <a:gd name="connsiteY4" fmla="*/ 0 h 1070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0525" h="1070517">
                    <a:moveTo>
                      <a:pt x="0" y="0"/>
                    </a:moveTo>
                    <a:lnTo>
                      <a:pt x="0" y="1061596"/>
                    </a:lnTo>
                    <a:lnTo>
                      <a:pt x="1686065" y="1070517"/>
                    </a:lnTo>
                    <a:cubicBezTo>
                      <a:pt x="1687552" y="718139"/>
                      <a:pt x="1689038" y="365760"/>
                      <a:pt x="1690525" y="13382"/>
                    </a:cubicBezTo>
                    <a:lnTo>
                      <a:pt x="0" y="0"/>
                    </a:lnTo>
                    <a:close/>
                  </a:path>
                </a:pathLst>
              </a:custGeom>
              <a:solidFill>
                <a:schemeClr val="accent4">
                  <a:lumMod val="20000"/>
                  <a:lumOff val="80000"/>
                </a:schemeClr>
              </a:solidFill>
              <a:ln w="12700" cap="rnd">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dirty="0"/>
              </a:p>
            </p:txBody>
          </p:sp>
          <p:sp>
            <p:nvSpPr>
              <p:cNvPr id="42" name="Freeform 41">
                <a:extLst>
                  <a:ext uri="{FF2B5EF4-FFF2-40B4-BE49-F238E27FC236}">
                    <a16:creationId xmlns:a16="http://schemas.microsoft.com/office/drawing/2014/main" id="{34560958-6DFA-6043-BD3C-2A010395C5B3}"/>
                  </a:ext>
                </a:extLst>
              </p:cNvPr>
              <p:cNvSpPr/>
              <p:nvPr/>
            </p:nvSpPr>
            <p:spPr>
              <a:xfrm>
                <a:off x="5454664" y="2483052"/>
                <a:ext cx="512540" cy="1673011"/>
              </a:xfrm>
              <a:custGeom>
                <a:avLst/>
                <a:gdLst>
                  <a:gd name="connsiteX0" fmla="*/ 0 w 361300"/>
                  <a:gd name="connsiteY0" fmla="*/ 356839 h 1422895"/>
                  <a:gd name="connsiteX1" fmla="*/ 347918 w 361300"/>
                  <a:gd name="connsiteY1" fmla="*/ 0 h 1422895"/>
                  <a:gd name="connsiteX2" fmla="*/ 361300 w 361300"/>
                  <a:gd name="connsiteY2" fmla="*/ 1074977 h 1422895"/>
                  <a:gd name="connsiteX3" fmla="*/ 0 w 361300"/>
                  <a:gd name="connsiteY3" fmla="*/ 1422895 h 1422895"/>
                  <a:gd name="connsiteX4" fmla="*/ 0 w 361300"/>
                  <a:gd name="connsiteY4" fmla="*/ 356839 h 1422895"/>
                  <a:gd name="connsiteX0" fmla="*/ 0 w 361300"/>
                  <a:gd name="connsiteY0" fmla="*/ 356839 h 1441954"/>
                  <a:gd name="connsiteX1" fmla="*/ 347918 w 361300"/>
                  <a:gd name="connsiteY1" fmla="*/ 0 h 1441954"/>
                  <a:gd name="connsiteX2" fmla="*/ 361300 w 361300"/>
                  <a:gd name="connsiteY2" fmla="*/ 1074977 h 1441954"/>
                  <a:gd name="connsiteX3" fmla="*/ 0 w 361300"/>
                  <a:gd name="connsiteY3" fmla="*/ 1441954 h 1441954"/>
                  <a:gd name="connsiteX4" fmla="*/ 0 w 361300"/>
                  <a:gd name="connsiteY4" fmla="*/ 356839 h 1441954"/>
                  <a:gd name="connsiteX0" fmla="*/ 0 w 361300"/>
                  <a:gd name="connsiteY0" fmla="*/ 356839 h 1429248"/>
                  <a:gd name="connsiteX1" fmla="*/ 347918 w 361300"/>
                  <a:gd name="connsiteY1" fmla="*/ 0 h 1429248"/>
                  <a:gd name="connsiteX2" fmla="*/ 361300 w 361300"/>
                  <a:gd name="connsiteY2" fmla="*/ 1074977 h 1429248"/>
                  <a:gd name="connsiteX3" fmla="*/ 3175 w 361300"/>
                  <a:gd name="connsiteY3" fmla="*/ 1429248 h 1429248"/>
                  <a:gd name="connsiteX4" fmla="*/ 0 w 361300"/>
                  <a:gd name="connsiteY4" fmla="*/ 356839 h 1429248"/>
                  <a:gd name="connsiteX0" fmla="*/ 0 w 363793"/>
                  <a:gd name="connsiteY0" fmla="*/ 337780 h 1410189"/>
                  <a:gd name="connsiteX1" fmla="*/ 363793 w 363793"/>
                  <a:gd name="connsiteY1" fmla="*/ 0 h 1410189"/>
                  <a:gd name="connsiteX2" fmla="*/ 361300 w 363793"/>
                  <a:gd name="connsiteY2" fmla="*/ 1055918 h 1410189"/>
                  <a:gd name="connsiteX3" fmla="*/ 3175 w 363793"/>
                  <a:gd name="connsiteY3" fmla="*/ 1410189 h 1410189"/>
                  <a:gd name="connsiteX4" fmla="*/ 0 w 363793"/>
                  <a:gd name="connsiteY4" fmla="*/ 337780 h 1410189"/>
                  <a:gd name="connsiteX0" fmla="*/ 0 w 368555"/>
                  <a:gd name="connsiteY0" fmla="*/ 362141 h 1434550"/>
                  <a:gd name="connsiteX1" fmla="*/ 368555 w 368555"/>
                  <a:gd name="connsiteY1" fmla="*/ 0 h 1434550"/>
                  <a:gd name="connsiteX2" fmla="*/ 361300 w 368555"/>
                  <a:gd name="connsiteY2" fmla="*/ 1080279 h 1434550"/>
                  <a:gd name="connsiteX3" fmla="*/ 3175 w 368555"/>
                  <a:gd name="connsiteY3" fmla="*/ 1434550 h 1434550"/>
                  <a:gd name="connsiteX4" fmla="*/ 0 w 368555"/>
                  <a:gd name="connsiteY4" fmla="*/ 362141 h 143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55" h="1434550">
                    <a:moveTo>
                      <a:pt x="0" y="362141"/>
                    </a:moveTo>
                    <a:lnTo>
                      <a:pt x="368555" y="0"/>
                    </a:lnTo>
                    <a:cubicBezTo>
                      <a:pt x="366137" y="360093"/>
                      <a:pt x="363718" y="720186"/>
                      <a:pt x="361300" y="1080279"/>
                    </a:cubicBezTo>
                    <a:lnTo>
                      <a:pt x="3175" y="1434550"/>
                    </a:lnTo>
                    <a:cubicBezTo>
                      <a:pt x="2117" y="1077080"/>
                      <a:pt x="1058" y="719611"/>
                      <a:pt x="0" y="362141"/>
                    </a:cubicBezTo>
                    <a:close/>
                  </a:path>
                </a:pathLst>
              </a:custGeom>
              <a:solidFill>
                <a:schemeClr val="accent4">
                  <a:lumMod val="40000"/>
                  <a:lumOff val="60000"/>
                  <a:alpha val="70000"/>
                </a:schemeClr>
              </a:solidFill>
              <a:ln w="12700" cap="sq">
                <a:solidFill>
                  <a:schemeClr val="accent4">
                    <a:lumMod val="7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43" name="Freeform 42">
                <a:extLst>
                  <a:ext uri="{FF2B5EF4-FFF2-40B4-BE49-F238E27FC236}">
                    <a16:creationId xmlns:a16="http://schemas.microsoft.com/office/drawing/2014/main" id="{6DC8F88A-D548-4341-98EB-09314ABBA5FB}"/>
                  </a:ext>
                </a:extLst>
              </p:cNvPr>
              <p:cNvSpPr/>
              <p:nvPr/>
            </p:nvSpPr>
            <p:spPr>
              <a:xfrm>
                <a:off x="3114067" y="3147969"/>
                <a:ext cx="2847928" cy="409121"/>
              </a:xfrm>
              <a:custGeom>
                <a:avLst/>
                <a:gdLst>
                  <a:gd name="connsiteX0" fmla="*/ 0 w 2047875"/>
                  <a:gd name="connsiteY0" fmla="*/ 342900 h 342900"/>
                  <a:gd name="connsiteX1" fmla="*/ 1666875 w 2047875"/>
                  <a:gd name="connsiteY1" fmla="*/ 342900 h 342900"/>
                  <a:gd name="connsiteX2" fmla="*/ 2047875 w 2047875"/>
                  <a:gd name="connsiteY2" fmla="*/ 0 h 342900"/>
                </a:gdLst>
                <a:ahLst/>
                <a:cxnLst>
                  <a:cxn ang="0">
                    <a:pos x="connsiteX0" y="connsiteY0"/>
                  </a:cxn>
                  <a:cxn ang="0">
                    <a:pos x="connsiteX1" y="connsiteY1"/>
                  </a:cxn>
                  <a:cxn ang="0">
                    <a:pos x="connsiteX2" y="connsiteY2"/>
                  </a:cxn>
                </a:cxnLst>
                <a:rect l="l" t="t" r="r" b="b"/>
                <a:pathLst>
                  <a:path w="2047875" h="342900">
                    <a:moveTo>
                      <a:pt x="0" y="342900"/>
                    </a:moveTo>
                    <a:lnTo>
                      <a:pt x="1666875" y="342900"/>
                    </a:lnTo>
                    <a:lnTo>
                      <a:pt x="2047875" y="0"/>
                    </a:lnTo>
                  </a:path>
                </a:pathLst>
              </a:custGeom>
              <a:noFill/>
              <a:ln w="25400" cap="rnd">
                <a:solidFill>
                  <a:schemeClr val="accent4">
                    <a:lumMod val="7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44" name="Oval 43">
                <a:extLst>
                  <a:ext uri="{FF2B5EF4-FFF2-40B4-BE49-F238E27FC236}">
                    <a16:creationId xmlns:a16="http://schemas.microsoft.com/office/drawing/2014/main" id="{9F8CFF26-B80A-FA44-AE37-D763D3105EF6}"/>
                  </a:ext>
                </a:extLst>
              </p:cNvPr>
              <p:cNvSpPr/>
              <p:nvPr/>
            </p:nvSpPr>
            <p:spPr>
              <a:xfrm>
                <a:off x="3783064" y="2567655"/>
                <a:ext cx="1403509" cy="24785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nvGrpSpPr>
              <p:cNvPr id="62" name="Group 61">
                <a:extLst>
                  <a:ext uri="{FF2B5EF4-FFF2-40B4-BE49-F238E27FC236}">
                    <a16:creationId xmlns:a16="http://schemas.microsoft.com/office/drawing/2014/main" id="{566F8455-9F6E-B84E-A3CC-429B435E5B78}"/>
                  </a:ext>
                </a:extLst>
              </p:cNvPr>
              <p:cNvGrpSpPr/>
              <p:nvPr/>
            </p:nvGrpSpPr>
            <p:grpSpPr>
              <a:xfrm rot="781828">
                <a:off x="3697531" y="859776"/>
                <a:ext cx="984889" cy="400241"/>
                <a:chOff x="3970929" y="3144338"/>
                <a:chExt cx="984889" cy="400241"/>
              </a:xfrm>
            </p:grpSpPr>
            <p:grpSp>
              <p:nvGrpSpPr>
                <p:cNvPr id="13" name="Group 12">
                  <a:extLst>
                    <a:ext uri="{FF2B5EF4-FFF2-40B4-BE49-F238E27FC236}">
                      <a16:creationId xmlns:a16="http://schemas.microsoft.com/office/drawing/2014/main" id="{3E06CE44-EEC6-B44C-9EB6-EB8CF19BDC77}"/>
                    </a:ext>
                  </a:extLst>
                </p:cNvPr>
                <p:cNvGrpSpPr/>
                <p:nvPr/>
              </p:nvGrpSpPr>
              <p:grpSpPr>
                <a:xfrm>
                  <a:off x="3970929" y="3144338"/>
                  <a:ext cx="380882" cy="400241"/>
                  <a:chOff x="7375358" y="2779295"/>
                  <a:chExt cx="540000" cy="540000"/>
                </a:xfrm>
              </p:grpSpPr>
              <p:sp>
                <p:nvSpPr>
                  <p:cNvPr id="10" name="Oval 9">
                    <a:extLst>
                      <a:ext uri="{FF2B5EF4-FFF2-40B4-BE49-F238E27FC236}">
                        <a16:creationId xmlns:a16="http://schemas.microsoft.com/office/drawing/2014/main" id="{24CF9A76-2053-664F-9B9B-DDA8E6BA11E3}"/>
                      </a:ext>
                    </a:extLst>
                  </p:cNvPr>
                  <p:cNvSpPr/>
                  <p:nvPr/>
                </p:nvSpPr>
                <p:spPr>
                  <a:xfrm>
                    <a:off x="7375358" y="2779295"/>
                    <a:ext cx="540000" cy="5400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11" name="Oval 10">
                    <a:extLst>
                      <a:ext uri="{FF2B5EF4-FFF2-40B4-BE49-F238E27FC236}">
                        <a16:creationId xmlns:a16="http://schemas.microsoft.com/office/drawing/2014/main" id="{A849A65B-E05D-1D41-A4CC-3272351E8A5C}"/>
                      </a:ext>
                    </a:extLst>
                  </p:cNvPr>
                  <p:cNvSpPr/>
                  <p:nvPr/>
                </p:nvSpPr>
                <p:spPr>
                  <a:xfrm>
                    <a:off x="7568776" y="2894549"/>
                    <a:ext cx="251999" cy="25199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12" name="Oval 11">
                    <a:extLst>
                      <a:ext uri="{FF2B5EF4-FFF2-40B4-BE49-F238E27FC236}">
                        <a16:creationId xmlns:a16="http://schemas.microsoft.com/office/drawing/2014/main" id="{EED9E978-60C5-1946-A783-E8AC0E850F00}"/>
                      </a:ext>
                    </a:extLst>
                  </p:cNvPr>
                  <p:cNvSpPr/>
                  <p:nvPr/>
                </p:nvSpPr>
                <p:spPr>
                  <a:xfrm>
                    <a:off x="7694775" y="2948548"/>
                    <a:ext cx="72000" cy="7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grpSp>
              <p:nvGrpSpPr>
                <p:cNvPr id="14" name="Group 13">
                  <a:extLst>
                    <a:ext uri="{FF2B5EF4-FFF2-40B4-BE49-F238E27FC236}">
                      <a16:creationId xmlns:a16="http://schemas.microsoft.com/office/drawing/2014/main" id="{3C63A33C-6BA3-194F-8B3F-2766F079BEC4}"/>
                    </a:ext>
                  </a:extLst>
                </p:cNvPr>
                <p:cNvGrpSpPr/>
                <p:nvPr/>
              </p:nvGrpSpPr>
              <p:grpSpPr>
                <a:xfrm>
                  <a:off x="4574936" y="3144338"/>
                  <a:ext cx="380882" cy="400241"/>
                  <a:chOff x="7375358" y="2779295"/>
                  <a:chExt cx="540000" cy="540000"/>
                </a:xfrm>
              </p:grpSpPr>
              <p:sp>
                <p:nvSpPr>
                  <p:cNvPr id="15" name="Oval 14">
                    <a:extLst>
                      <a:ext uri="{FF2B5EF4-FFF2-40B4-BE49-F238E27FC236}">
                        <a16:creationId xmlns:a16="http://schemas.microsoft.com/office/drawing/2014/main" id="{C64EF36D-BFAB-3842-B678-82ECA344C8E9}"/>
                      </a:ext>
                    </a:extLst>
                  </p:cNvPr>
                  <p:cNvSpPr/>
                  <p:nvPr/>
                </p:nvSpPr>
                <p:spPr>
                  <a:xfrm>
                    <a:off x="7375358" y="2779295"/>
                    <a:ext cx="540000" cy="5400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16" name="Oval 15">
                    <a:extLst>
                      <a:ext uri="{FF2B5EF4-FFF2-40B4-BE49-F238E27FC236}">
                        <a16:creationId xmlns:a16="http://schemas.microsoft.com/office/drawing/2014/main" id="{5BF36877-4381-CC43-9102-F49A88B7E9A3}"/>
                      </a:ext>
                    </a:extLst>
                  </p:cNvPr>
                  <p:cNvSpPr/>
                  <p:nvPr/>
                </p:nvSpPr>
                <p:spPr>
                  <a:xfrm>
                    <a:off x="7568776" y="2894549"/>
                    <a:ext cx="251999" cy="25199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17" name="Oval 16">
                    <a:extLst>
                      <a:ext uri="{FF2B5EF4-FFF2-40B4-BE49-F238E27FC236}">
                        <a16:creationId xmlns:a16="http://schemas.microsoft.com/office/drawing/2014/main" id="{E2B1CB5E-04BE-3A46-AB72-6422E62847AE}"/>
                      </a:ext>
                    </a:extLst>
                  </p:cNvPr>
                  <p:cNvSpPr/>
                  <p:nvPr/>
                </p:nvSpPr>
                <p:spPr>
                  <a:xfrm>
                    <a:off x="7694775" y="2948548"/>
                    <a:ext cx="72000" cy="7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grpSp>
          <p:pic>
            <p:nvPicPr>
              <p:cNvPr id="60" name="Picture 59">
                <a:extLst>
                  <a:ext uri="{FF2B5EF4-FFF2-40B4-BE49-F238E27FC236}">
                    <a16:creationId xmlns:a16="http://schemas.microsoft.com/office/drawing/2014/main" id="{7C7DC7B8-69A2-2A4A-9B0C-920E30440A87}"/>
                  </a:ext>
                </a:extLst>
              </p:cNvPr>
              <p:cNvPicPr>
                <a:picLocks noChangeAspect="1"/>
              </p:cNvPicPr>
              <p:nvPr/>
            </p:nvPicPr>
            <p:blipFill>
              <a:blip r:embed="rId7"/>
              <a:stretch>
                <a:fillRect/>
              </a:stretch>
            </p:blipFill>
            <p:spPr>
              <a:xfrm rot="2065660" flipH="1">
                <a:off x="2995126" y="1380052"/>
                <a:ext cx="558800" cy="1130300"/>
              </a:xfrm>
              <a:prstGeom prst="rect">
                <a:avLst/>
              </a:prstGeom>
            </p:spPr>
          </p:pic>
          <p:sp>
            <p:nvSpPr>
              <p:cNvPr id="61" name="Freeform 60">
                <a:extLst>
                  <a:ext uri="{FF2B5EF4-FFF2-40B4-BE49-F238E27FC236}">
                    <a16:creationId xmlns:a16="http://schemas.microsoft.com/office/drawing/2014/main" id="{8AC3F416-44E0-0141-9E88-0DF5491FA226}"/>
                  </a:ext>
                </a:extLst>
              </p:cNvPr>
              <p:cNvSpPr/>
              <p:nvPr/>
            </p:nvSpPr>
            <p:spPr>
              <a:xfrm>
                <a:off x="4323584" y="1813854"/>
                <a:ext cx="271185" cy="957263"/>
              </a:xfrm>
              <a:custGeom>
                <a:avLst/>
                <a:gdLst>
                  <a:gd name="connsiteX0" fmla="*/ 0 w 271185"/>
                  <a:gd name="connsiteY0" fmla="*/ 0 h 957263"/>
                  <a:gd name="connsiteX1" fmla="*/ 257175 w 271185"/>
                  <a:gd name="connsiteY1" fmla="*/ 385763 h 957263"/>
                  <a:gd name="connsiteX2" fmla="*/ 214312 w 271185"/>
                  <a:gd name="connsiteY2" fmla="*/ 957263 h 957263"/>
                </a:gdLst>
                <a:ahLst/>
                <a:cxnLst>
                  <a:cxn ang="0">
                    <a:pos x="connsiteX0" y="connsiteY0"/>
                  </a:cxn>
                  <a:cxn ang="0">
                    <a:pos x="connsiteX1" y="connsiteY1"/>
                  </a:cxn>
                  <a:cxn ang="0">
                    <a:pos x="connsiteX2" y="connsiteY2"/>
                  </a:cxn>
                </a:cxnLst>
                <a:rect l="l" t="t" r="r" b="b"/>
                <a:pathLst>
                  <a:path w="271185" h="957263">
                    <a:moveTo>
                      <a:pt x="0" y="0"/>
                    </a:moveTo>
                    <a:cubicBezTo>
                      <a:pt x="110728" y="113109"/>
                      <a:pt x="221456" y="226219"/>
                      <a:pt x="257175" y="385763"/>
                    </a:cubicBezTo>
                    <a:cubicBezTo>
                      <a:pt x="292894" y="545307"/>
                      <a:pt x="253603" y="751285"/>
                      <a:pt x="214312" y="957263"/>
                    </a:cubicBezTo>
                  </a:path>
                </a:pathLst>
              </a:custGeom>
              <a:noFill/>
              <a:ln w="1270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sp>
          <p:nvSpPr>
            <p:cNvPr id="73" name="Freeform 72">
              <a:extLst>
                <a:ext uri="{FF2B5EF4-FFF2-40B4-BE49-F238E27FC236}">
                  <a16:creationId xmlns:a16="http://schemas.microsoft.com/office/drawing/2014/main" id="{C53D94A4-5192-6C40-8220-3123DA24C2CE}"/>
                </a:ext>
              </a:extLst>
            </p:cNvPr>
            <p:cNvSpPr/>
            <p:nvPr/>
          </p:nvSpPr>
          <p:spPr>
            <a:xfrm rot="17694921">
              <a:off x="2755121" y="4366406"/>
              <a:ext cx="1099513" cy="1165900"/>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solidFill>
              <a:schemeClr val="accent6">
                <a:lumMod val="20000"/>
                <a:lumOff val="80000"/>
              </a:schemeClr>
            </a:solidFill>
            <a:ln w="254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70" dirty="0"/>
                <a:t>≈	</a:t>
              </a:r>
            </a:p>
          </p:txBody>
        </p:sp>
        <p:sp>
          <p:nvSpPr>
            <p:cNvPr id="89" name="Rounded Rectangular Callout 88">
              <a:extLst>
                <a:ext uri="{FF2B5EF4-FFF2-40B4-BE49-F238E27FC236}">
                  <a16:creationId xmlns:a16="http://schemas.microsoft.com/office/drawing/2014/main" id="{28E90E95-2FD8-9A47-A8C5-FF005423692C}"/>
                </a:ext>
              </a:extLst>
            </p:cNvPr>
            <p:cNvSpPr/>
            <p:nvPr/>
          </p:nvSpPr>
          <p:spPr>
            <a:xfrm>
              <a:off x="3023672" y="5508296"/>
              <a:ext cx="4634598" cy="1152533"/>
            </a:xfrm>
            <a:prstGeom prst="wedgeRoundRectCallout">
              <a:avLst>
                <a:gd name="adj1" fmla="val -22253"/>
                <a:gd name="adj2" fmla="val -105170"/>
                <a:gd name="adj3" fmla="val 16667"/>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omic Sans MS" panose="030F0902030302020204" pitchFamily="66" charset="0"/>
                </a:rPr>
                <a:t>It’s Simon’s turn, and he flips the coin without taking it out of the box.</a:t>
              </a:r>
              <a:endParaRPr lang="en-US" sz="2227" dirty="0">
                <a:solidFill>
                  <a:schemeClr val="tx1"/>
                </a:solidFill>
                <a:latin typeface="Comic Sans MS" panose="030F0902030302020204" pitchFamily="66" charset="0"/>
              </a:endParaRPr>
            </a:p>
          </p:txBody>
        </p:sp>
      </p:grpSp>
      <p:grpSp>
        <p:nvGrpSpPr>
          <p:cNvPr id="24" name="Group 23">
            <a:extLst>
              <a:ext uri="{FF2B5EF4-FFF2-40B4-BE49-F238E27FC236}">
                <a16:creationId xmlns:a16="http://schemas.microsoft.com/office/drawing/2014/main" id="{9ED138DA-95D6-0644-86D0-8A81931C2A06}"/>
              </a:ext>
            </a:extLst>
          </p:cNvPr>
          <p:cNvGrpSpPr/>
          <p:nvPr/>
        </p:nvGrpSpPr>
        <p:grpSpPr>
          <a:xfrm>
            <a:off x="9162404" y="573368"/>
            <a:ext cx="2869685" cy="2122805"/>
            <a:chOff x="9162404" y="573368"/>
            <a:chExt cx="2869685" cy="2122805"/>
          </a:xfrm>
        </p:grpSpPr>
        <p:grpSp>
          <p:nvGrpSpPr>
            <p:cNvPr id="97" name="Group 96">
              <a:extLst>
                <a:ext uri="{FF2B5EF4-FFF2-40B4-BE49-F238E27FC236}">
                  <a16:creationId xmlns:a16="http://schemas.microsoft.com/office/drawing/2014/main" id="{750CA04B-C680-CE44-9F4D-A0462A307C3F}"/>
                </a:ext>
              </a:extLst>
            </p:cNvPr>
            <p:cNvGrpSpPr/>
            <p:nvPr/>
          </p:nvGrpSpPr>
          <p:grpSpPr>
            <a:xfrm>
              <a:off x="9352103" y="573368"/>
              <a:ext cx="2679986" cy="942365"/>
              <a:chOff x="9874638" y="929863"/>
              <a:chExt cx="2888313" cy="1015619"/>
            </a:xfrm>
          </p:grpSpPr>
          <p:sp>
            <p:nvSpPr>
              <p:cNvPr id="98" name="Freeform 97">
                <a:extLst>
                  <a:ext uri="{FF2B5EF4-FFF2-40B4-BE49-F238E27FC236}">
                    <a16:creationId xmlns:a16="http://schemas.microsoft.com/office/drawing/2014/main" id="{4987360D-9EA2-FD41-8A0D-E13056963E4F}"/>
                  </a:ext>
                </a:extLst>
              </p:cNvPr>
              <p:cNvSpPr/>
              <p:nvPr/>
            </p:nvSpPr>
            <p:spPr>
              <a:xfrm>
                <a:off x="10384091" y="934251"/>
                <a:ext cx="2372620" cy="621514"/>
              </a:xfrm>
              <a:custGeom>
                <a:avLst/>
                <a:gdLst>
                  <a:gd name="connsiteX0" fmla="*/ 0 w 1676400"/>
                  <a:gd name="connsiteY0" fmla="*/ 0 h 517525"/>
                  <a:gd name="connsiteX1" fmla="*/ 1673225 w 1676400"/>
                  <a:gd name="connsiteY1" fmla="*/ 15875 h 517525"/>
                  <a:gd name="connsiteX2" fmla="*/ 1676400 w 1676400"/>
                  <a:gd name="connsiteY2" fmla="*/ 517525 h 517525"/>
                  <a:gd name="connsiteX3" fmla="*/ 6350 w 1676400"/>
                  <a:gd name="connsiteY3" fmla="*/ 508000 h 517525"/>
                  <a:gd name="connsiteX4" fmla="*/ 0 w 1676400"/>
                  <a:gd name="connsiteY4" fmla="*/ 0 h 517525"/>
                  <a:gd name="connsiteX0" fmla="*/ 0 w 1689154"/>
                  <a:gd name="connsiteY0" fmla="*/ 0 h 517525"/>
                  <a:gd name="connsiteX1" fmla="*/ 1689100 w 1689154"/>
                  <a:gd name="connsiteY1" fmla="*/ 19050 h 517525"/>
                  <a:gd name="connsiteX2" fmla="*/ 1676400 w 1689154"/>
                  <a:gd name="connsiteY2" fmla="*/ 517525 h 517525"/>
                  <a:gd name="connsiteX3" fmla="*/ 6350 w 1689154"/>
                  <a:gd name="connsiteY3" fmla="*/ 508000 h 517525"/>
                  <a:gd name="connsiteX4" fmla="*/ 0 w 1689154"/>
                  <a:gd name="connsiteY4" fmla="*/ 0 h 51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154" h="517525">
                    <a:moveTo>
                      <a:pt x="0" y="0"/>
                    </a:moveTo>
                    <a:lnTo>
                      <a:pt x="1689100" y="19050"/>
                    </a:lnTo>
                    <a:cubicBezTo>
                      <a:pt x="1690158" y="186267"/>
                      <a:pt x="1675342" y="350308"/>
                      <a:pt x="1676400" y="517525"/>
                    </a:cubicBezTo>
                    <a:lnTo>
                      <a:pt x="6350" y="508000"/>
                    </a:lnTo>
                    <a:cubicBezTo>
                      <a:pt x="4233" y="338667"/>
                      <a:pt x="2117" y="169333"/>
                      <a:pt x="0" y="0"/>
                    </a:cubicBezTo>
                    <a:close/>
                  </a:path>
                </a:pathLst>
              </a:custGeom>
              <a:solidFill>
                <a:schemeClr val="accent4">
                  <a:lumMod val="60000"/>
                  <a:lumOff val="40000"/>
                </a:schemeClr>
              </a:solidFill>
              <a:ln cap="rnd">
                <a:solidFill>
                  <a:schemeClr val="accent4">
                    <a:lumMod val="7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99" name="Freeform 98">
                <a:extLst>
                  <a:ext uri="{FF2B5EF4-FFF2-40B4-BE49-F238E27FC236}">
                    <a16:creationId xmlns:a16="http://schemas.microsoft.com/office/drawing/2014/main" id="{D2F3DEED-7D16-AD43-8AC7-3293E554B1EE}"/>
                  </a:ext>
                </a:extLst>
              </p:cNvPr>
              <p:cNvSpPr/>
              <p:nvPr/>
            </p:nvSpPr>
            <p:spPr>
              <a:xfrm>
                <a:off x="9879308" y="929863"/>
                <a:ext cx="513418" cy="1011148"/>
              </a:xfrm>
              <a:custGeom>
                <a:avLst/>
                <a:gdLst>
                  <a:gd name="connsiteX0" fmla="*/ 0 w 361300"/>
                  <a:gd name="connsiteY0" fmla="*/ 356839 h 1422895"/>
                  <a:gd name="connsiteX1" fmla="*/ 347918 w 361300"/>
                  <a:gd name="connsiteY1" fmla="*/ 0 h 1422895"/>
                  <a:gd name="connsiteX2" fmla="*/ 361300 w 361300"/>
                  <a:gd name="connsiteY2" fmla="*/ 1074977 h 1422895"/>
                  <a:gd name="connsiteX3" fmla="*/ 0 w 361300"/>
                  <a:gd name="connsiteY3" fmla="*/ 1422895 h 1422895"/>
                  <a:gd name="connsiteX4" fmla="*/ 0 w 361300"/>
                  <a:gd name="connsiteY4" fmla="*/ 356839 h 1422895"/>
                  <a:gd name="connsiteX0" fmla="*/ 0 w 361300"/>
                  <a:gd name="connsiteY0" fmla="*/ 356839 h 1441954"/>
                  <a:gd name="connsiteX1" fmla="*/ 347918 w 361300"/>
                  <a:gd name="connsiteY1" fmla="*/ 0 h 1441954"/>
                  <a:gd name="connsiteX2" fmla="*/ 361300 w 361300"/>
                  <a:gd name="connsiteY2" fmla="*/ 1074977 h 1441954"/>
                  <a:gd name="connsiteX3" fmla="*/ 0 w 361300"/>
                  <a:gd name="connsiteY3" fmla="*/ 1441954 h 1441954"/>
                  <a:gd name="connsiteX4" fmla="*/ 0 w 361300"/>
                  <a:gd name="connsiteY4" fmla="*/ 356839 h 1441954"/>
                  <a:gd name="connsiteX0" fmla="*/ 0 w 361300"/>
                  <a:gd name="connsiteY0" fmla="*/ 356839 h 1429248"/>
                  <a:gd name="connsiteX1" fmla="*/ 347918 w 361300"/>
                  <a:gd name="connsiteY1" fmla="*/ 0 h 1429248"/>
                  <a:gd name="connsiteX2" fmla="*/ 361300 w 361300"/>
                  <a:gd name="connsiteY2" fmla="*/ 1074977 h 1429248"/>
                  <a:gd name="connsiteX3" fmla="*/ 3175 w 361300"/>
                  <a:gd name="connsiteY3" fmla="*/ 1429248 h 1429248"/>
                  <a:gd name="connsiteX4" fmla="*/ 0 w 361300"/>
                  <a:gd name="connsiteY4" fmla="*/ 356839 h 1429248"/>
                  <a:gd name="connsiteX0" fmla="*/ 0 w 363793"/>
                  <a:gd name="connsiteY0" fmla="*/ 337780 h 1410189"/>
                  <a:gd name="connsiteX1" fmla="*/ 363793 w 363793"/>
                  <a:gd name="connsiteY1" fmla="*/ 0 h 1410189"/>
                  <a:gd name="connsiteX2" fmla="*/ 361300 w 363793"/>
                  <a:gd name="connsiteY2" fmla="*/ 1055918 h 1410189"/>
                  <a:gd name="connsiteX3" fmla="*/ 3175 w 363793"/>
                  <a:gd name="connsiteY3" fmla="*/ 1410189 h 1410189"/>
                  <a:gd name="connsiteX4" fmla="*/ 0 w 363793"/>
                  <a:gd name="connsiteY4" fmla="*/ 337780 h 1410189"/>
                  <a:gd name="connsiteX0" fmla="*/ 0 w 368555"/>
                  <a:gd name="connsiteY0" fmla="*/ 362141 h 1434550"/>
                  <a:gd name="connsiteX1" fmla="*/ 368555 w 368555"/>
                  <a:gd name="connsiteY1" fmla="*/ 0 h 1434550"/>
                  <a:gd name="connsiteX2" fmla="*/ 361300 w 368555"/>
                  <a:gd name="connsiteY2" fmla="*/ 1080279 h 1434550"/>
                  <a:gd name="connsiteX3" fmla="*/ 3175 w 368555"/>
                  <a:gd name="connsiteY3" fmla="*/ 1434550 h 1434550"/>
                  <a:gd name="connsiteX4" fmla="*/ 0 w 368555"/>
                  <a:gd name="connsiteY4" fmla="*/ 362141 h 1434550"/>
                  <a:gd name="connsiteX0" fmla="*/ 0 w 368555"/>
                  <a:gd name="connsiteY0" fmla="*/ 0 h 1072409"/>
                  <a:gd name="connsiteX1" fmla="*/ 368555 w 368555"/>
                  <a:gd name="connsiteY1" fmla="*/ 203048 h 1072409"/>
                  <a:gd name="connsiteX2" fmla="*/ 361300 w 368555"/>
                  <a:gd name="connsiteY2" fmla="*/ 718138 h 1072409"/>
                  <a:gd name="connsiteX3" fmla="*/ 3175 w 368555"/>
                  <a:gd name="connsiteY3" fmla="*/ 1072409 h 1072409"/>
                  <a:gd name="connsiteX4" fmla="*/ 0 w 368555"/>
                  <a:gd name="connsiteY4" fmla="*/ 0 h 1072409"/>
                  <a:gd name="connsiteX0" fmla="*/ 3316 w 365521"/>
                  <a:gd name="connsiteY0" fmla="*/ 329659 h 869361"/>
                  <a:gd name="connsiteX1" fmla="*/ 365521 w 365521"/>
                  <a:gd name="connsiteY1" fmla="*/ 0 h 869361"/>
                  <a:gd name="connsiteX2" fmla="*/ 358266 w 365521"/>
                  <a:gd name="connsiteY2" fmla="*/ 515090 h 869361"/>
                  <a:gd name="connsiteX3" fmla="*/ 141 w 365521"/>
                  <a:gd name="connsiteY3" fmla="*/ 869361 h 869361"/>
                  <a:gd name="connsiteX4" fmla="*/ 3316 w 365521"/>
                  <a:gd name="connsiteY4" fmla="*/ 329659 h 869361"/>
                  <a:gd name="connsiteX0" fmla="*/ 3316 w 365521"/>
                  <a:gd name="connsiteY0" fmla="*/ 312504 h 852206"/>
                  <a:gd name="connsiteX1" fmla="*/ 365521 w 365521"/>
                  <a:gd name="connsiteY1" fmla="*/ 0 h 852206"/>
                  <a:gd name="connsiteX2" fmla="*/ 358266 w 365521"/>
                  <a:gd name="connsiteY2" fmla="*/ 497935 h 852206"/>
                  <a:gd name="connsiteX3" fmla="*/ 141 w 365521"/>
                  <a:gd name="connsiteY3" fmla="*/ 852206 h 852206"/>
                  <a:gd name="connsiteX4" fmla="*/ 3316 w 365521"/>
                  <a:gd name="connsiteY4" fmla="*/ 312504 h 852206"/>
                  <a:gd name="connsiteX0" fmla="*/ 3316 w 365521"/>
                  <a:gd name="connsiteY0" fmla="*/ 322797 h 862499"/>
                  <a:gd name="connsiteX1" fmla="*/ 365521 w 365521"/>
                  <a:gd name="connsiteY1" fmla="*/ 0 h 862499"/>
                  <a:gd name="connsiteX2" fmla="*/ 358266 w 365521"/>
                  <a:gd name="connsiteY2" fmla="*/ 508228 h 862499"/>
                  <a:gd name="connsiteX3" fmla="*/ 141 w 365521"/>
                  <a:gd name="connsiteY3" fmla="*/ 862499 h 862499"/>
                  <a:gd name="connsiteX4" fmla="*/ 3316 w 365521"/>
                  <a:gd name="connsiteY4" fmla="*/ 322797 h 862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521" h="862499">
                    <a:moveTo>
                      <a:pt x="3316" y="322797"/>
                    </a:moveTo>
                    <a:lnTo>
                      <a:pt x="365521" y="0"/>
                    </a:lnTo>
                    <a:cubicBezTo>
                      <a:pt x="363103" y="360093"/>
                      <a:pt x="360684" y="148135"/>
                      <a:pt x="358266" y="508228"/>
                    </a:cubicBezTo>
                    <a:lnTo>
                      <a:pt x="141" y="862499"/>
                    </a:lnTo>
                    <a:cubicBezTo>
                      <a:pt x="-917" y="505029"/>
                      <a:pt x="4374" y="680267"/>
                      <a:pt x="3316" y="322797"/>
                    </a:cubicBezTo>
                    <a:close/>
                  </a:path>
                </a:pathLst>
              </a:custGeom>
              <a:solidFill>
                <a:schemeClr val="accent4">
                  <a:lumMod val="40000"/>
                  <a:lumOff val="60000"/>
                  <a:alpha val="70000"/>
                </a:schemeClr>
              </a:solidFill>
              <a:ln w="12700" cap="rnd">
                <a:solidFill>
                  <a:schemeClr val="accent4">
                    <a:lumMod val="7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100" name="Freeform 99">
                <a:extLst>
                  <a:ext uri="{FF2B5EF4-FFF2-40B4-BE49-F238E27FC236}">
                    <a16:creationId xmlns:a16="http://schemas.microsoft.com/office/drawing/2014/main" id="{08F6D80B-742F-AE44-8992-00A851E6057C}"/>
                  </a:ext>
                </a:extLst>
              </p:cNvPr>
              <p:cNvSpPr/>
              <p:nvPr/>
            </p:nvSpPr>
            <p:spPr>
              <a:xfrm>
                <a:off x="12249533" y="951107"/>
                <a:ext cx="513418" cy="994375"/>
              </a:xfrm>
              <a:custGeom>
                <a:avLst/>
                <a:gdLst>
                  <a:gd name="connsiteX0" fmla="*/ 0 w 361300"/>
                  <a:gd name="connsiteY0" fmla="*/ 356839 h 1422895"/>
                  <a:gd name="connsiteX1" fmla="*/ 347918 w 361300"/>
                  <a:gd name="connsiteY1" fmla="*/ 0 h 1422895"/>
                  <a:gd name="connsiteX2" fmla="*/ 361300 w 361300"/>
                  <a:gd name="connsiteY2" fmla="*/ 1074977 h 1422895"/>
                  <a:gd name="connsiteX3" fmla="*/ 0 w 361300"/>
                  <a:gd name="connsiteY3" fmla="*/ 1422895 h 1422895"/>
                  <a:gd name="connsiteX4" fmla="*/ 0 w 361300"/>
                  <a:gd name="connsiteY4" fmla="*/ 356839 h 1422895"/>
                  <a:gd name="connsiteX0" fmla="*/ 0 w 361300"/>
                  <a:gd name="connsiteY0" fmla="*/ 356839 h 1441954"/>
                  <a:gd name="connsiteX1" fmla="*/ 347918 w 361300"/>
                  <a:gd name="connsiteY1" fmla="*/ 0 h 1441954"/>
                  <a:gd name="connsiteX2" fmla="*/ 361300 w 361300"/>
                  <a:gd name="connsiteY2" fmla="*/ 1074977 h 1441954"/>
                  <a:gd name="connsiteX3" fmla="*/ 0 w 361300"/>
                  <a:gd name="connsiteY3" fmla="*/ 1441954 h 1441954"/>
                  <a:gd name="connsiteX4" fmla="*/ 0 w 361300"/>
                  <a:gd name="connsiteY4" fmla="*/ 356839 h 1441954"/>
                  <a:gd name="connsiteX0" fmla="*/ 0 w 361300"/>
                  <a:gd name="connsiteY0" fmla="*/ 356839 h 1429248"/>
                  <a:gd name="connsiteX1" fmla="*/ 347918 w 361300"/>
                  <a:gd name="connsiteY1" fmla="*/ 0 h 1429248"/>
                  <a:gd name="connsiteX2" fmla="*/ 361300 w 361300"/>
                  <a:gd name="connsiteY2" fmla="*/ 1074977 h 1429248"/>
                  <a:gd name="connsiteX3" fmla="*/ 3175 w 361300"/>
                  <a:gd name="connsiteY3" fmla="*/ 1429248 h 1429248"/>
                  <a:gd name="connsiteX4" fmla="*/ 0 w 361300"/>
                  <a:gd name="connsiteY4" fmla="*/ 356839 h 1429248"/>
                  <a:gd name="connsiteX0" fmla="*/ 0 w 363793"/>
                  <a:gd name="connsiteY0" fmla="*/ 337780 h 1410189"/>
                  <a:gd name="connsiteX1" fmla="*/ 363793 w 363793"/>
                  <a:gd name="connsiteY1" fmla="*/ 0 h 1410189"/>
                  <a:gd name="connsiteX2" fmla="*/ 361300 w 363793"/>
                  <a:gd name="connsiteY2" fmla="*/ 1055918 h 1410189"/>
                  <a:gd name="connsiteX3" fmla="*/ 3175 w 363793"/>
                  <a:gd name="connsiteY3" fmla="*/ 1410189 h 1410189"/>
                  <a:gd name="connsiteX4" fmla="*/ 0 w 363793"/>
                  <a:gd name="connsiteY4" fmla="*/ 337780 h 1410189"/>
                  <a:gd name="connsiteX0" fmla="*/ 0 w 368555"/>
                  <a:gd name="connsiteY0" fmla="*/ 362141 h 1434550"/>
                  <a:gd name="connsiteX1" fmla="*/ 368555 w 368555"/>
                  <a:gd name="connsiteY1" fmla="*/ 0 h 1434550"/>
                  <a:gd name="connsiteX2" fmla="*/ 361300 w 368555"/>
                  <a:gd name="connsiteY2" fmla="*/ 1080279 h 1434550"/>
                  <a:gd name="connsiteX3" fmla="*/ 3175 w 368555"/>
                  <a:gd name="connsiteY3" fmla="*/ 1434550 h 1434550"/>
                  <a:gd name="connsiteX4" fmla="*/ 0 w 368555"/>
                  <a:gd name="connsiteY4" fmla="*/ 362141 h 1434550"/>
                  <a:gd name="connsiteX0" fmla="*/ 0 w 368555"/>
                  <a:gd name="connsiteY0" fmla="*/ 0 h 1072409"/>
                  <a:gd name="connsiteX1" fmla="*/ 368555 w 368555"/>
                  <a:gd name="connsiteY1" fmla="*/ 203048 h 1072409"/>
                  <a:gd name="connsiteX2" fmla="*/ 361300 w 368555"/>
                  <a:gd name="connsiteY2" fmla="*/ 718138 h 1072409"/>
                  <a:gd name="connsiteX3" fmla="*/ 3175 w 368555"/>
                  <a:gd name="connsiteY3" fmla="*/ 1072409 h 1072409"/>
                  <a:gd name="connsiteX4" fmla="*/ 0 w 368555"/>
                  <a:gd name="connsiteY4" fmla="*/ 0 h 1072409"/>
                  <a:gd name="connsiteX0" fmla="*/ 3316 w 365521"/>
                  <a:gd name="connsiteY0" fmla="*/ 329659 h 869361"/>
                  <a:gd name="connsiteX1" fmla="*/ 365521 w 365521"/>
                  <a:gd name="connsiteY1" fmla="*/ 0 h 869361"/>
                  <a:gd name="connsiteX2" fmla="*/ 358266 w 365521"/>
                  <a:gd name="connsiteY2" fmla="*/ 515090 h 869361"/>
                  <a:gd name="connsiteX3" fmla="*/ 141 w 365521"/>
                  <a:gd name="connsiteY3" fmla="*/ 869361 h 869361"/>
                  <a:gd name="connsiteX4" fmla="*/ 3316 w 365521"/>
                  <a:gd name="connsiteY4" fmla="*/ 329659 h 869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521" h="869361">
                    <a:moveTo>
                      <a:pt x="3316" y="329659"/>
                    </a:moveTo>
                    <a:lnTo>
                      <a:pt x="365521" y="0"/>
                    </a:lnTo>
                    <a:cubicBezTo>
                      <a:pt x="363103" y="360093"/>
                      <a:pt x="360684" y="154997"/>
                      <a:pt x="358266" y="515090"/>
                    </a:cubicBezTo>
                    <a:lnTo>
                      <a:pt x="141" y="869361"/>
                    </a:lnTo>
                    <a:cubicBezTo>
                      <a:pt x="-917" y="511891"/>
                      <a:pt x="4374" y="687129"/>
                      <a:pt x="3316" y="329659"/>
                    </a:cubicBezTo>
                    <a:close/>
                  </a:path>
                </a:pathLst>
              </a:custGeom>
              <a:solidFill>
                <a:schemeClr val="accent4">
                  <a:lumMod val="40000"/>
                  <a:lumOff val="60000"/>
                </a:schemeClr>
              </a:solidFill>
              <a:ln w="12700" cap="sq">
                <a:solidFill>
                  <a:schemeClr val="accent4">
                    <a:lumMod val="7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101" name="Freeform 100">
                <a:extLst>
                  <a:ext uri="{FF2B5EF4-FFF2-40B4-BE49-F238E27FC236}">
                    <a16:creationId xmlns:a16="http://schemas.microsoft.com/office/drawing/2014/main" id="{832FB567-DCFF-BD42-82C0-B029E2918E65}"/>
                  </a:ext>
                </a:extLst>
              </p:cNvPr>
              <p:cNvSpPr/>
              <p:nvPr/>
            </p:nvSpPr>
            <p:spPr>
              <a:xfrm>
                <a:off x="9874638" y="1326766"/>
                <a:ext cx="2374545" cy="614336"/>
              </a:xfrm>
              <a:custGeom>
                <a:avLst/>
                <a:gdLst>
                  <a:gd name="connsiteX0" fmla="*/ 0 w 1690525"/>
                  <a:gd name="connsiteY0" fmla="*/ 0 h 1070517"/>
                  <a:gd name="connsiteX1" fmla="*/ 0 w 1690525"/>
                  <a:gd name="connsiteY1" fmla="*/ 1061596 h 1070517"/>
                  <a:gd name="connsiteX2" fmla="*/ 1686065 w 1690525"/>
                  <a:gd name="connsiteY2" fmla="*/ 1070517 h 1070517"/>
                  <a:gd name="connsiteX3" fmla="*/ 1690525 w 1690525"/>
                  <a:gd name="connsiteY3" fmla="*/ 13382 h 1070517"/>
                  <a:gd name="connsiteX4" fmla="*/ 0 w 1690525"/>
                  <a:gd name="connsiteY4" fmla="*/ 0 h 1070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0525" h="1070517">
                    <a:moveTo>
                      <a:pt x="0" y="0"/>
                    </a:moveTo>
                    <a:lnTo>
                      <a:pt x="0" y="1061596"/>
                    </a:lnTo>
                    <a:lnTo>
                      <a:pt x="1686065" y="1070517"/>
                    </a:lnTo>
                    <a:cubicBezTo>
                      <a:pt x="1687552" y="718139"/>
                      <a:pt x="1689038" y="365760"/>
                      <a:pt x="1690525" y="13382"/>
                    </a:cubicBezTo>
                    <a:lnTo>
                      <a:pt x="0" y="0"/>
                    </a:lnTo>
                    <a:close/>
                  </a:path>
                </a:pathLst>
              </a:custGeom>
              <a:solidFill>
                <a:schemeClr val="accent4">
                  <a:lumMod val="20000"/>
                  <a:lumOff val="80000"/>
                </a:schemeClr>
              </a:solidFill>
              <a:ln w="12700" cap="rnd">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dirty="0"/>
              </a:p>
            </p:txBody>
          </p:sp>
        </p:grpSp>
        <p:sp>
          <p:nvSpPr>
            <p:cNvPr id="65" name="Freeform 64">
              <a:extLst>
                <a:ext uri="{FF2B5EF4-FFF2-40B4-BE49-F238E27FC236}">
                  <a16:creationId xmlns:a16="http://schemas.microsoft.com/office/drawing/2014/main" id="{32FA688C-3268-4E4F-925C-A65950A18B80}"/>
                </a:ext>
              </a:extLst>
            </p:cNvPr>
            <p:cNvSpPr/>
            <p:nvPr/>
          </p:nvSpPr>
          <p:spPr>
            <a:xfrm>
              <a:off x="9635111" y="955844"/>
              <a:ext cx="2201489" cy="576686"/>
            </a:xfrm>
            <a:custGeom>
              <a:avLst/>
              <a:gdLst>
                <a:gd name="connsiteX0" fmla="*/ 0 w 1676400"/>
                <a:gd name="connsiteY0" fmla="*/ 0 h 517525"/>
                <a:gd name="connsiteX1" fmla="*/ 1673225 w 1676400"/>
                <a:gd name="connsiteY1" fmla="*/ 15875 h 517525"/>
                <a:gd name="connsiteX2" fmla="*/ 1676400 w 1676400"/>
                <a:gd name="connsiteY2" fmla="*/ 517525 h 517525"/>
                <a:gd name="connsiteX3" fmla="*/ 6350 w 1676400"/>
                <a:gd name="connsiteY3" fmla="*/ 508000 h 517525"/>
                <a:gd name="connsiteX4" fmla="*/ 0 w 1676400"/>
                <a:gd name="connsiteY4" fmla="*/ 0 h 517525"/>
                <a:gd name="connsiteX0" fmla="*/ 0 w 1689154"/>
                <a:gd name="connsiteY0" fmla="*/ 0 h 517525"/>
                <a:gd name="connsiteX1" fmla="*/ 1689100 w 1689154"/>
                <a:gd name="connsiteY1" fmla="*/ 19050 h 517525"/>
                <a:gd name="connsiteX2" fmla="*/ 1676400 w 1689154"/>
                <a:gd name="connsiteY2" fmla="*/ 517525 h 517525"/>
                <a:gd name="connsiteX3" fmla="*/ 6350 w 1689154"/>
                <a:gd name="connsiteY3" fmla="*/ 508000 h 517525"/>
                <a:gd name="connsiteX4" fmla="*/ 0 w 1689154"/>
                <a:gd name="connsiteY4" fmla="*/ 0 h 51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154" h="517525">
                  <a:moveTo>
                    <a:pt x="0" y="0"/>
                  </a:moveTo>
                  <a:lnTo>
                    <a:pt x="1689100" y="19050"/>
                  </a:lnTo>
                  <a:cubicBezTo>
                    <a:pt x="1690158" y="186267"/>
                    <a:pt x="1675342" y="350308"/>
                    <a:pt x="1676400" y="517525"/>
                  </a:cubicBezTo>
                  <a:lnTo>
                    <a:pt x="6350" y="508000"/>
                  </a:lnTo>
                  <a:cubicBezTo>
                    <a:pt x="4233" y="338667"/>
                    <a:pt x="2117" y="169333"/>
                    <a:pt x="0" y="0"/>
                  </a:cubicBezTo>
                  <a:close/>
                </a:path>
              </a:pathLst>
            </a:custGeom>
            <a:solidFill>
              <a:schemeClr val="accent4">
                <a:lumMod val="60000"/>
                <a:lumOff val="40000"/>
              </a:schemeClr>
            </a:solidFill>
            <a:ln cap="rnd">
              <a:solidFill>
                <a:schemeClr val="accent4">
                  <a:lumMod val="7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66" name="Freeform 65">
              <a:extLst>
                <a:ext uri="{FF2B5EF4-FFF2-40B4-BE49-F238E27FC236}">
                  <a16:creationId xmlns:a16="http://schemas.microsoft.com/office/drawing/2014/main" id="{245D4A33-278B-3146-BFB3-2CDA6AD568B1}"/>
                </a:ext>
              </a:extLst>
            </p:cNvPr>
            <p:cNvSpPr/>
            <p:nvPr/>
          </p:nvSpPr>
          <p:spPr>
            <a:xfrm>
              <a:off x="9166737" y="951773"/>
              <a:ext cx="476386" cy="938216"/>
            </a:xfrm>
            <a:custGeom>
              <a:avLst/>
              <a:gdLst>
                <a:gd name="connsiteX0" fmla="*/ 0 w 361300"/>
                <a:gd name="connsiteY0" fmla="*/ 356839 h 1422895"/>
                <a:gd name="connsiteX1" fmla="*/ 347918 w 361300"/>
                <a:gd name="connsiteY1" fmla="*/ 0 h 1422895"/>
                <a:gd name="connsiteX2" fmla="*/ 361300 w 361300"/>
                <a:gd name="connsiteY2" fmla="*/ 1074977 h 1422895"/>
                <a:gd name="connsiteX3" fmla="*/ 0 w 361300"/>
                <a:gd name="connsiteY3" fmla="*/ 1422895 h 1422895"/>
                <a:gd name="connsiteX4" fmla="*/ 0 w 361300"/>
                <a:gd name="connsiteY4" fmla="*/ 356839 h 1422895"/>
                <a:gd name="connsiteX0" fmla="*/ 0 w 361300"/>
                <a:gd name="connsiteY0" fmla="*/ 356839 h 1441954"/>
                <a:gd name="connsiteX1" fmla="*/ 347918 w 361300"/>
                <a:gd name="connsiteY1" fmla="*/ 0 h 1441954"/>
                <a:gd name="connsiteX2" fmla="*/ 361300 w 361300"/>
                <a:gd name="connsiteY2" fmla="*/ 1074977 h 1441954"/>
                <a:gd name="connsiteX3" fmla="*/ 0 w 361300"/>
                <a:gd name="connsiteY3" fmla="*/ 1441954 h 1441954"/>
                <a:gd name="connsiteX4" fmla="*/ 0 w 361300"/>
                <a:gd name="connsiteY4" fmla="*/ 356839 h 1441954"/>
                <a:gd name="connsiteX0" fmla="*/ 0 w 361300"/>
                <a:gd name="connsiteY0" fmla="*/ 356839 h 1429248"/>
                <a:gd name="connsiteX1" fmla="*/ 347918 w 361300"/>
                <a:gd name="connsiteY1" fmla="*/ 0 h 1429248"/>
                <a:gd name="connsiteX2" fmla="*/ 361300 w 361300"/>
                <a:gd name="connsiteY2" fmla="*/ 1074977 h 1429248"/>
                <a:gd name="connsiteX3" fmla="*/ 3175 w 361300"/>
                <a:gd name="connsiteY3" fmla="*/ 1429248 h 1429248"/>
                <a:gd name="connsiteX4" fmla="*/ 0 w 361300"/>
                <a:gd name="connsiteY4" fmla="*/ 356839 h 1429248"/>
                <a:gd name="connsiteX0" fmla="*/ 0 w 363793"/>
                <a:gd name="connsiteY0" fmla="*/ 337780 h 1410189"/>
                <a:gd name="connsiteX1" fmla="*/ 363793 w 363793"/>
                <a:gd name="connsiteY1" fmla="*/ 0 h 1410189"/>
                <a:gd name="connsiteX2" fmla="*/ 361300 w 363793"/>
                <a:gd name="connsiteY2" fmla="*/ 1055918 h 1410189"/>
                <a:gd name="connsiteX3" fmla="*/ 3175 w 363793"/>
                <a:gd name="connsiteY3" fmla="*/ 1410189 h 1410189"/>
                <a:gd name="connsiteX4" fmla="*/ 0 w 363793"/>
                <a:gd name="connsiteY4" fmla="*/ 337780 h 1410189"/>
                <a:gd name="connsiteX0" fmla="*/ 0 w 368555"/>
                <a:gd name="connsiteY0" fmla="*/ 362141 h 1434550"/>
                <a:gd name="connsiteX1" fmla="*/ 368555 w 368555"/>
                <a:gd name="connsiteY1" fmla="*/ 0 h 1434550"/>
                <a:gd name="connsiteX2" fmla="*/ 361300 w 368555"/>
                <a:gd name="connsiteY2" fmla="*/ 1080279 h 1434550"/>
                <a:gd name="connsiteX3" fmla="*/ 3175 w 368555"/>
                <a:gd name="connsiteY3" fmla="*/ 1434550 h 1434550"/>
                <a:gd name="connsiteX4" fmla="*/ 0 w 368555"/>
                <a:gd name="connsiteY4" fmla="*/ 362141 h 1434550"/>
                <a:gd name="connsiteX0" fmla="*/ 0 w 368555"/>
                <a:gd name="connsiteY0" fmla="*/ 0 h 1072409"/>
                <a:gd name="connsiteX1" fmla="*/ 368555 w 368555"/>
                <a:gd name="connsiteY1" fmla="*/ 203048 h 1072409"/>
                <a:gd name="connsiteX2" fmla="*/ 361300 w 368555"/>
                <a:gd name="connsiteY2" fmla="*/ 718138 h 1072409"/>
                <a:gd name="connsiteX3" fmla="*/ 3175 w 368555"/>
                <a:gd name="connsiteY3" fmla="*/ 1072409 h 1072409"/>
                <a:gd name="connsiteX4" fmla="*/ 0 w 368555"/>
                <a:gd name="connsiteY4" fmla="*/ 0 h 1072409"/>
                <a:gd name="connsiteX0" fmla="*/ 3316 w 365521"/>
                <a:gd name="connsiteY0" fmla="*/ 329659 h 869361"/>
                <a:gd name="connsiteX1" fmla="*/ 365521 w 365521"/>
                <a:gd name="connsiteY1" fmla="*/ 0 h 869361"/>
                <a:gd name="connsiteX2" fmla="*/ 358266 w 365521"/>
                <a:gd name="connsiteY2" fmla="*/ 515090 h 869361"/>
                <a:gd name="connsiteX3" fmla="*/ 141 w 365521"/>
                <a:gd name="connsiteY3" fmla="*/ 869361 h 869361"/>
                <a:gd name="connsiteX4" fmla="*/ 3316 w 365521"/>
                <a:gd name="connsiteY4" fmla="*/ 329659 h 869361"/>
                <a:gd name="connsiteX0" fmla="*/ 3316 w 365521"/>
                <a:gd name="connsiteY0" fmla="*/ 312504 h 852206"/>
                <a:gd name="connsiteX1" fmla="*/ 365521 w 365521"/>
                <a:gd name="connsiteY1" fmla="*/ 0 h 852206"/>
                <a:gd name="connsiteX2" fmla="*/ 358266 w 365521"/>
                <a:gd name="connsiteY2" fmla="*/ 497935 h 852206"/>
                <a:gd name="connsiteX3" fmla="*/ 141 w 365521"/>
                <a:gd name="connsiteY3" fmla="*/ 852206 h 852206"/>
                <a:gd name="connsiteX4" fmla="*/ 3316 w 365521"/>
                <a:gd name="connsiteY4" fmla="*/ 312504 h 852206"/>
                <a:gd name="connsiteX0" fmla="*/ 3316 w 365521"/>
                <a:gd name="connsiteY0" fmla="*/ 322797 h 862499"/>
                <a:gd name="connsiteX1" fmla="*/ 365521 w 365521"/>
                <a:gd name="connsiteY1" fmla="*/ 0 h 862499"/>
                <a:gd name="connsiteX2" fmla="*/ 358266 w 365521"/>
                <a:gd name="connsiteY2" fmla="*/ 508228 h 862499"/>
                <a:gd name="connsiteX3" fmla="*/ 141 w 365521"/>
                <a:gd name="connsiteY3" fmla="*/ 862499 h 862499"/>
                <a:gd name="connsiteX4" fmla="*/ 3316 w 365521"/>
                <a:gd name="connsiteY4" fmla="*/ 322797 h 862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521" h="862499">
                  <a:moveTo>
                    <a:pt x="3316" y="322797"/>
                  </a:moveTo>
                  <a:lnTo>
                    <a:pt x="365521" y="0"/>
                  </a:lnTo>
                  <a:cubicBezTo>
                    <a:pt x="363103" y="360093"/>
                    <a:pt x="360684" y="148135"/>
                    <a:pt x="358266" y="508228"/>
                  </a:cubicBezTo>
                  <a:lnTo>
                    <a:pt x="141" y="862499"/>
                  </a:lnTo>
                  <a:cubicBezTo>
                    <a:pt x="-917" y="505029"/>
                    <a:pt x="4374" y="680267"/>
                    <a:pt x="3316" y="322797"/>
                  </a:cubicBezTo>
                  <a:close/>
                </a:path>
              </a:pathLst>
            </a:custGeom>
            <a:solidFill>
              <a:schemeClr val="accent4">
                <a:lumMod val="40000"/>
                <a:lumOff val="60000"/>
                <a:alpha val="70000"/>
              </a:schemeClr>
            </a:solidFill>
            <a:ln w="12700" cap="rnd">
              <a:solidFill>
                <a:schemeClr val="accent4">
                  <a:lumMod val="7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68" name="Freeform 67">
              <a:extLst>
                <a:ext uri="{FF2B5EF4-FFF2-40B4-BE49-F238E27FC236}">
                  <a16:creationId xmlns:a16="http://schemas.microsoft.com/office/drawing/2014/main" id="{BC923F47-63E0-5143-BBB1-75EBA17F2CC8}"/>
                </a:ext>
              </a:extLst>
            </p:cNvPr>
            <p:cNvSpPr/>
            <p:nvPr/>
          </p:nvSpPr>
          <p:spPr>
            <a:xfrm>
              <a:off x="11366004" y="971485"/>
              <a:ext cx="476386" cy="922653"/>
            </a:xfrm>
            <a:custGeom>
              <a:avLst/>
              <a:gdLst>
                <a:gd name="connsiteX0" fmla="*/ 0 w 361300"/>
                <a:gd name="connsiteY0" fmla="*/ 356839 h 1422895"/>
                <a:gd name="connsiteX1" fmla="*/ 347918 w 361300"/>
                <a:gd name="connsiteY1" fmla="*/ 0 h 1422895"/>
                <a:gd name="connsiteX2" fmla="*/ 361300 w 361300"/>
                <a:gd name="connsiteY2" fmla="*/ 1074977 h 1422895"/>
                <a:gd name="connsiteX3" fmla="*/ 0 w 361300"/>
                <a:gd name="connsiteY3" fmla="*/ 1422895 h 1422895"/>
                <a:gd name="connsiteX4" fmla="*/ 0 w 361300"/>
                <a:gd name="connsiteY4" fmla="*/ 356839 h 1422895"/>
                <a:gd name="connsiteX0" fmla="*/ 0 w 361300"/>
                <a:gd name="connsiteY0" fmla="*/ 356839 h 1441954"/>
                <a:gd name="connsiteX1" fmla="*/ 347918 w 361300"/>
                <a:gd name="connsiteY1" fmla="*/ 0 h 1441954"/>
                <a:gd name="connsiteX2" fmla="*/ 361300 w 361300"/>
                <a:gd name="connsiteY2" fmla="*/ 1074977 h 1441954"/>
                <a:gd name="connsiteX3" fmla="*/ 0 w 361300"/>
                <a:gd name="connsiteY3" fmla="*/ 1441954 h 1441954"/>
                <a:gd name="connsiteX4" fmla="*/ 0 w 361300"/>
                <a:gd name="connsiteY4" fmla="*/ 356839 h 1441954"/>
                <a:gd name="connsiteX0" fmla="*/ 0 w 361300"/>
                <a:gd name="connsiteY0" fmla="*/ 356839 h 1429248"/>
                <a:gd name="connsiteX1" fmla="*/ 347918 w 361300"/>
                <a:gd name="connsiteY1" fmla="*/ 0 h 1429248"/>
                <a:gd name="connsiteX2" fmla="*/ 361300 w 361300"/>
                <a:gd name="connsiteY2" fmla="*/ 1074977 h 1429248"/>
                <a:gd name="connsiteX3" fmla="*/ 3175 w 361300"/>
                <a:gd name="connsiteY3" fmla="*/ 1429248 h 1429248"/>
                <a:gd name="connsiteX4" fmla="*/ 0 w 361300"/>
                <a:gd name="connsiteY4" fmla="*/ 356839 h 1429248"/>
                <a:gd name="connsiteX0" fmla="*/ 0 w 363793"/>
                <a:gd name="connsiteY0" fmla="*/ 337780 h 1410189"/>
                <a:gd name="connsiteX1" fmla="*/ 363793 w 363793"/>
                <a:gd name="connsiteY1" fmla="*/ 0 h 1410189"/>
                <a:gd name="connsiteX2" fmla="*/ 361300 w 363793"/>
                <a:gd name="connsiteY2" fmla="*/ 1055918 h 1410189"/>
                <a:gd name="connsiteX3" fmla="*/ 3175 w 363793"/>
                <a:gd name="connsiteY3" fmla="*/ 1410189 h 1410189"/>
                <a:gd name="connsiteX4" fmla="*/ 0 w 363793"/>
                <a:gd name="connsiteY4" fmla="*/ 337780 h 1410189"/>
                <a:gd name="connsiteX0" fmla="*/ 0 w 368555"/>
                <a:gd name="connsiteY0" fmla="*/ 362141 h 1434550"/>
                <a:gd name="connsiteX1" fmla="*/ 368555 w 368555"/>
                <a:gd name="connsiteY1" fmla="*/ 0 h 1434550"/>
                <a:gd name="connsiteX2" fmla="*/ 361300 w 368555"/>
                <a:gd name="connsiteY2" fmla="*/ 1080279 h 1434550"/>
                <a:gd name="connsiteX3" fmla="*/ 3175 w 368555"/>
                <a:gd name="connsiteY3" fmla="*/ 1434550 h 1434550"/>
                <a:gd name="connsiteX4" fmla="*/ 0 w 368555"/>
                <a:gd name="connsiteY4" fmla="*/ 362141 h 1434550"/>
                <a:gd name="connsiteX0" fmla="*/ 0 w 368555"/>
                <a:gd name="connsiteY0" fmla="*/ 0 h 1072409"/>
                <a:gd name="connsiteX1" fmla="*/ 368555 w 368555"/>
                <a:gd name="connsiteY1" fmla="*/ 203048 h 1072409"/>
                <a:gd name="connsiteX2" fmla="*/ 361300 w 368555"/>
                <a:gd name="connsiteY2" fmla="*/ 718138 h 1072409"/>
                <a:gd name="connsiteX3" fmla="*/ 3175 w 368555"/>
                <a:gd name="connsiteY3" fmla="*/ 1072409 h 1072409"/>
                <a:gd name="connsiteX4" fmla="*/ 0 w 368555"/>
                <a:gd name="connsiteY4" fmla="*/ 0 h 1072409"/>
                <a:gd name="connsiteX0" fmla="*/ 3316 w 365521"/>
                <a:gd name="connsiteY0" fmla="*/ 329659 h 869361"/>
                <a:gd name="connsiteX1" fmla="*/ 365521 w 365521"/>
                <a:gd name="connsiteY1" fmla="*/ 0 h 869361"/>
                <a:gd name="connsiteX2" fmla="*/ 358266 w 365521"/>
                <a:gd name="connsiteY2" fmla="*/ 515090 h 869361"/>
                <a:gd name="connsiteX3" fmla="*/ 141 w 365521"/>
                <a:gd name="connsiteY3" fmla="*/ 869361 h 869361"/>
                <a:gd name="connsiteX4" fmla="*/ 3316 w 365521"/>
                <a:gd name="connsiteY4" fmla="*/ 329659 h 869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521" h="869361">
                  <a:moveTo>
                    <a:pt x="3316" y="329659"/>
                  </a:moveTo>
                  <a:lnTo>
                    <a:pt x="365521" y="0"/>
                  </a:lnTo>
                  <a:cubicBezTo>
                    <a:pt x="363103" y="360093"/>
                    <a:pt x="360684" y="154997"/>
                    <a:pt x="358266" y="515090"/>
                  </a:cubicBezTo>
                  <a:lnTo>
                    <a:pt x="141" y="869361"/>
                  </a:lnTo>
                  <a:cubicBezTo>
                    <a:pt x="-917" y="511891"/>
                    <a:pt x="4374" y="687129"/>
                    <a:pt x="3316" y="329659"/>
                  </a:cubicBezTo>
                  <a:close/>
                </a:path>
              </a:pathLst>
            </a:custGeom>
            <a:solidFill>
              <a:schemeClr val="accent4">
                <a:lumMod val="40000"/>
                <a:lumOff val="60000"/>
              </a:schemeClr>
            </a:solidFill>
            <a:ln w="12700" cap="sq">
              <a:solidFill>
                <a:schemeClr val="accent4">
                  <a:lumMod val="7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pic>
          <p:nvPicPr>
            <p:cNvPr id="72" name="Picture 71">
              <a:extLst>
                <a:ext uri="{FF2B5EF4-FFF2-40B4-BE49-F238E27FC236}">
                  <a16:creationId xmlns:a16="http://schemas.microsoft.com/office/drawing/2014/main" id="{446A1B8A-917D-0D4D-8066-17F2D1CA3877}"/>
                </a:ext>
              </a:extLst>
            </p:cNvPr>
            <p:cNvPicPr>
              <a:picLocks noChangeAspect="1"/>
            </p:cNvPicPr>
            <p:nvPr/>
          </p:nvPicPr>
          <p:blipFill>
            <a:blip r:embed="rId4"/>
            <a:stretch>
              <a:fillRect/>
            </a:stretch>
          </p:blipFill>
          <p:spPr>
            <a:xfrm>
              <a:off x="9969946" y="782021"/>
              <a:ext cx="1068909" cy="628219"/>
            </a:xfrm>
            <a:prstGeom prst="rect">
              <a:avLst/>
            </a:prstGeom>
          </p:spPr>
        </p:pic>
        <p:sp>
          <p:nvSpPr>
            <p:cNvPr id="71" name="Freeform 70">
              <a:extLst>
                <a:ext uri="{FF2B5EF4-FFF2-40B4-BE49-F238E27FC236}">
                  <a16:creationId xmlns:a16="http://schemas.microsoft.com/office/drawing/2014/main" id="{9B29D953-5371-0A4F-8F19-2ED1DF2DADF7}"/>
                </a:ext>
              </a:extLst>
            </p:cNvPr>
            <p:cNvSpPr/>
            <p:nvPr/>
          </p:nvSpPr>
          <p:spPr>
            <a:xfrm>
              <a:off x="9162404" y="1320048"/>
              <a:ext cx="2203275" cy="570025"/>
            </a:xfrm>
            <a:custGeom>
              <a:avLst/>
              <a:gdLst>
                <a:gd name="connsiteX0" fmla="*/ 0 w 1690525"/>
                <a:gd name="connsiteY0" fmla="*/ 0 h 1070517"/>
                <a:gd name="connsiteX1" fmla="*/ 0 w 1690525"/>
                <a:gd name="connsiteY1" fmla="*/ 1061596 h 1070517"/>
                <a:gd name="connsiteX2" fmla="*/ 1686065 w 1690525"/>
                <a:gd name="connsiteY2" fmla="*/ 1070517 h 1070517"/>
                <a:gd name="connsiteX3" fmla="*/ 1690525 w 1690525"/>
                <a:gd name="connsiteY3" fmla="*/ 13382 h 1070517"/>
                <a:gd name="connsiteX4" fmla="*/ 0 w 1690525"/>
                <a:gd name="connsiteY4" fmla="*/ 0 h 1070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0525" h="1070517">
                  <a:moveTo>
                    <a:pt x="0" y="0"/>
                  </a:moveTo>
                  <a:lnTo>
                    <a:pt x="0" y="1061596"/>
                  </a:lnTo>
                  <a:lnTo>
                    <a:pt x="1686065" y="1070517"/>
                  </a:lnTo>
                  <a:cubicBezTo>
                    <a:pt x="1687552" y="718139"/>
                    <a:pt x="1689038" y="365760"/>
                    <a:pt x="1690525" y="13382"/>
                  </a:cubicBezTo>
                  <a:lnTo>
                    <a:pt x="0" y="0"/>
                  </a:lnTo>
                  <a:close/>
                </a:path>
              </a:pathLst>
            </a:custGeom>
            <a:solidFill>
              <a:schemeClr val="accent4">
                <a:lumMod val="20000"/>
                <a:lumOff val="80000"/>
              </a:schemeClr>
            </a:solidFill>
            <a:ln w="12700" cap="rnd">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dirty="0"/>
            </a:p>
          </p:txBody>
        </p:sp>
        <p:sp>
          <p:nvSpPr>
            <p:cNvPr id="96" name="Freeform 95">
              <a:extLst>
                <a:ext uri="{FF2B5EF4-FFF2-40B4-BE49-F238E27FC236}">
                  <a16:creationId xmlns:a16="http://schemas.microsoft.com/office/drawing/2014/main" id="{542EC03A-C896-8A4C-8688-D5942ABC044D}"/>
                </a:ext>
              </a:extLst>
            </p:cNvPr>
            <p:cNvSpPr/>
            <p:nvPr/>
          </p:nvSpPr>
          <p:spPr>
            <a:xfrm rot="17694921">
              <a:off x="9523816" y="1563467"/>
              <a:ext cx="1099513" cy="1165900"/>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solidFill>
              <a:schemeClr val="accent6">
                <a:lumMod val="20000"/>
                <a:lumOff val="80000"/>
              </a:schemeClr>
            </a:solidFill>
            <a:ln w="254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70" dirty="0"/>
                <a:t>≈	</a:t>
              </a:r>
            </a:p>
          </p:txBody>
        </p:sp>
      </p:grpSp>
      <p:grpSp>
        <p:nvGrpSpPr>
          <p:cNvPr id="22" name="Group 21">
            <a:extLst>
              <a:ext uri="{FF2B5EF4-FFF2-40B4-BE49-F238E27FC236}">
                <a16:creationId xmlns:a16="http://schemas.microsoft.com/office/drawing/2014/main" id="{36FC49A2-3166-4649-8FDC-52E9BC4D78F9}"/>
              </a:ext>
            </a:extLst>
          </p:cNvPr>
          <p:cNvGrpSpPr/>
          <p:nvPr/>
        </p:nvGrpSpPr>
        <p:grpSpPr>
          <a:xfrm>
            <a:off x="6867713" y="56739"/>
            <a:ext cx="5162329" cy="4763513"/>
            <a:chOff x="6867713" y="56739"/>
            <a:chExt cx="5162329" cy="4763513"/>
          </a:xfrm>
        </p:grpSpPr>
        <p:grpSp>
          <p:nvGrpSpPr>
            <p:cNvPr id="27" name="Group 26">
              <a:extLst>
                <a:ext uri="{FF2B5EF4-FFF2-40B4-BE49-F238E27FC236}">
                  <a16:creationId xmlns:a16="http://schemas.microsoft.com/office/drawing/2014/main" id="{C96E116D-9641-2C4F-AD48-20EECD33D534}"/>
                </a:ext>
              </a:extLst>
            </p:cNvPr>
            <p:cNvGrpSpPr/>
            <p:nvPr/>
          </p:nvGrpSpPr>
          <p:grpSpPr>
            <a:xfrm>
              <a:off x="6867713" y="56739"/>
              <a:ext cx="2656973" cy="3247648"/>
              <a:chOff x="6867713" y="56739"/>
              <a:chExt cx="2656973" cy="3247648"/>
            </a:xfrm>
          </p:grpSpPr>
          <p:pic>
            <p:nvPicPr>
              <p:cNvPr id="67" name="Picture 66">
                <a:extLst>
                  <a:ext uri="{FF2B5EF4-FFF2-40B4-BE49-F238E27FC236}">
                    <a16:creationId xmlns:a16="http://schemas.microsoft.com/office/drawing/2014/main" id="{F976C71F-134B-8248-AB73-C3C55929D86A}"/>
                  </a:ext>
                </a:extLst>
              </p:cNvPr>
              <p:cNvPicPr>
                <a:picLocks noChangeAspect="1"/>
              </p:cNvPicPr>
              <p:nvPr/>
            </p:nvPicPr>
            <p:blipFill>
              <a:blip r:embed="rId8"/>
              <a:stretch>
                <a:fillRect/>
              </a:stretch>
            </p:blipFill>
            <p:spPr>
              <a:xfrm rot="899456">
                <a:off x="7177051" y="341220"/>
                <a:ext cx="962442" cy="1893611"/>
              </a:xfrm>
              <a:prstGeom prst="rect">
                <a:avLst/>
              </a:prstGeom>
            </p:spPr>
          </p:pic>
          <p:sp>
            <p:nvSpPr>
              <p:cNvPr id="76" name="Oval 75">
                <a:extLst>
                  <a:ext uri="{FF2B5EF4-FFF2-40B4-BE49-F238E27FC236}">
                    <a16:creationId xmlns:a16="http://schemas.microsoft.com/office/drawing/2014/main" id="{1BA189D4-624F-2247-A3EF-AD073A9E246E}"/>
                  </a:ext>
                </a:extLst>
              </p:cNvPr>
              <p:cNvSpPr/>
              <p:nvPr/>
            </p:nvSpPr>
            <p:spPr>
              <a:xfrm rot="781828">
                <a:off x="7441267" y="56739"/>
                <a:ext cx="353410" cy="37137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77" name="Oval 76">
                <a:extLst>
                  <a:ext uri="{FF2B5EF4-FFF2-40B4-BE49-F238E27FC236}">
                    <a16:creationId xmlns:a16="http://schemas.microsoft.com/office/drawing/2014/main" id="{142912F4-D24E-474F-A4D4-0CD91D0B373F}"/>
                  </a:ext>
                </a:extLst>
              </p:cNvPr>
              <p:cNvSpPr/>
              <p:nvPr/>
            </p:nvSpPr>
            <p:spPr>
              <a:xfrm rot="781828">
                <a:off x="7512313" y="115481"/>
                <a:ext cx="164924" cy="17330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78" name="Oval 77">
                <a:extLst>
                  <a:ext uri="{FF2B5EF4-FFF2-40B4-BE49-F238E27FC236}">
                    <a16:creationId xmlns:a16="http://schemas.microsoft.com/office/drawing/2014/main" id="{149CC892-B0F4-704B-B490-1F1FE4733AC9}"/>
                  </a:ext>
                </a:extLst>
              </p:cNvPr>
              <p:cNvSpPr/>
              <p:nvPr/>
            </p:nvSpPr>
            <p:spPr>
              <a:xfrm rot="781828">
                <a:off x="7557376" y="143403"/>
                <a:ext cx="47121" cy="495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nvGrpSpPr>
              <p:cNvPr id="52" name="Group 51">
                <a:extLst>
                  <a:ext uri="{FF2B5EF4-FFF2-40B4-BE49-F238E27FC236}">
                    <a16:creationId xmlns:a16="http://schemas.microsoft.com/office/drawing/2014/main" id="{0BF91DCB-52A8-3F4C-9376-F865A5F0C895}"/>
                  </a:ext>
                </a:extLst>
              </p:cNvPr>
              <p:cNvGrpSpPr/>
              <p:nvPr/>
            </p:nvGrpSpPr>
            <p:grpSpPr>
              <a:xfrm>
                <a:off x="6867713" y="1560415"/>
                <a:ext cx="2656973" cy="1574468"/>
                <a:chOff x="7181826" y="1672730"/>
                <a:chExt cx="3208988" cy="1825467"/>
              </a:xfrm>
            </p:grpSpPr>
            <p:sp>
              <p:nvSpPr>
                <p:cNvPr id="53" name="Freeform 52">
                  <a:extLst>
                    <a:ext uri="{FF2B5EF4-FFF2-40B4-BE49-F238E27FC236}">
                      <a16:creationId xmlns:a16="http://schemas.microsoft.com/office/drawing/2014/main" id="{30C18596-7D05-8D45-AADE-AE695AC7F76A}"/>
                    </a:ext>
                  </a:extLst>
                </p:cNvPr>
                <p:cNvSpPr/>
                <p:nvPr/>
              </p:nvSpPr>
              <p:spPr>
                <a:xfrm>
                  <a:off x="7195729" y="1672730"/>
                  <a:ext cx="3183778" cy="457150"/>
                </a:xfrm>
                <a:custGeom>
                  <a:avLst/>
                  <a:gdLst>
                    <a:gd name="connsiteX0" fmla="*/ 0 w 2047364"/>
                    <a:gd name="connsiteY0" fmla="*/ 356839 h 365760"/>
                    <a:gd name="connsiteX1" fmla="*/ 347918 w 2047364"/>
                    <a:gd name="connsiteY1" fmla="*/ 0 h 365760"/>
                    <a:gd name="connsiteX2" fmla="*/ 2047364 w 2047364"/>
                    <a:gd name="connsiteY2" fmla="*/ 8921 h 365760"/>
                    <a:gd name="connsiteX3" fmla="*/ 1708366 w 2047364"/>
                    <a:gd name="connsiteY3" fmla="*/ 365760 h 365760"/>
                    <a:gd name="connsiteX4" fmla="*/ 0 w 2047364"/>
                    <a:gd name="connsiteY4" fmla="*/ 356839 h 365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7364" h="365760">
                      <a:moveTo>
                        <a:pt x="0" y="356839"/>
                      </a:moveTo>
                      <a:lnTo>
                        <a:pt x="347918" y="0"/>
                      </a:lnTo>
                      <a:lnTo>
                        <a:pt x="2047364" y="8921"/>
                      </a:lnTo>
                      <a:lnTo>
                        <a:pt x="1708366" y="365760"/>
                      </a:lnTo>
                      <a:lnTo>
                        <a:pt x="0" y="356839"/>
                      </a:lnTo>
                      <a:close/>
                    </a:path>
                  </a:pathLst>
                </a:custGeom>
                <a:solidFill>
                  <a:schemeClr val="accent4">
                    <a:lumMod val="40000"/>
                    <a:lumOff val="60000"/>
                  </a:schemeClr>
                </a:solidFill>
                <a:ln w="12700" cap="rnd">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54" name="Freeform 53">
                  <a:extLst>
                    <a:ext uri="{FF2B5EF4-FFF2-40B4-BE49-F238E27FC236}">
                      <a16:creationId xmlns:a16="http://schemas.microsoft.com/office/drawing/2014/main" id="{F28E76D4-5AB9-C44A-AFD5-060B11E86DFE}"/>
                    </a:ext>
                  </a:extLst>
                </p:cNvPr>
                <p:cNvSpPr/>
                <p:nvPr/>
              </p:nvSpPr>
              <p:spPr>
                <a:xfrm>
                  <a:off x="7181826" y="2124135"/>
                  <a:ext cx="2634611" cy="1374062"/>
                </a:xfrm>
                <a:custGeom>
                  <a:avLst/>
                  <a:gdLst>
                    <a:gd name="connsiteX0" fmla="*/ 0 w 1690525"/>
                    <a:gd name="connsiteY0" fmla="*/ 0 h 1070517"/>
                    <a:gd name="connsiteX1" fmla="*/ 0 w 1690525"/>
                    <a:gd name="connsiteY1" fmla="*/ 1061596 h 1070517"/>
                    <a:gd name="connsiteX2" fmla="*/ 1686065 w 1690525"/>
                    <a:gd name="connsiteY2" fmla="*/ 1070517 h 1070517"/>
                    <a:gd name="connsiteX3" fmla="*/ 1690525 w 1690525"/>
                    <a:gd name="connsiteY3" fmla="*/ 13382 h 1070517"/>
                    <a:gd name="connsiteX4" fmla="*/ 0 w 1690525"/>
                    <a:gd name="connsiteY4" fmla="*/ 0 h 1070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0525" h="1070517">
                      <a:moveTo>
                        <a:pt x="0" y="0"/>
                      </a:moveTo>
                      <a:lnTo>
                        <a:pt x="0" y="1061596"/>
                      </a:lnTo>
                      <a:lnTo>
                        <a:pt x="1686065" y="1070517"/>
                      </a:lnTo>
                      <a:cubicBezTo>
                        <a:pt x="1687552" y="718139"/>
                        <a:pt x="1689038" y="365760"/>
                        <a:pt x="1690525" y="13382"/>
                      </a:cubicBezTo>
                      <a:lnTo>
                        <a:pt x="0" y="0"/>
                      </a:lnTo>
                      <a:close/>
                    </a:path>
                  </a:pathLst>
                </a:custGeom>
                <a:solidFill>
                  <a:schemeClr val="accent4">
                    <a:lumMod val="20000"/>
                    <a:lumOff val="80000"/>
                  </a:schemeClr>
                </a:solidFill>
                <a:ln w="12700" cap="rnd">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dirty="0"/>
                </a:p>
              </p:txBody>
            </p:sp>
            <p:sp>
              <p:nvSpPr>
                <p:cNvPr id="56" name="Freeform 55">
                  <a:extLst>
                    <a:ext uri="{FF2B5EF4-FFF2-40B4-BE49-F238E27FC236}">
                      <a16:creationId xmlns:a16="http://schemas.microsoft.com/office/drawing/2014/main" id="{061DC8A9-CB93-E049-A450-3E9D641B2E45}"/>
                    </a:ext>
                  </a:extLst>
                </p:cNvPr>
                <p:cNvSpPr/>
                <p:nvPr/>
              </p:nvSpPr>
              <p:spPr>
                <a:xfrm>
                  <a:off x="7193452" y="2401470"/>
                  <a:ext cx="3191525" cy="440129"/>
                </a:xfrm>
                <a:custGeom>
                  <a:avLst/>
                  <a:gdLst>
                    <a:gd name="connsiteX0" fmla="*/ 0 w 2047875"/>
                    <a:gd name="connsiteY0" fmla="*/ 342900 h 342900"/>
                    <a:gd name="connsiteX1" fmla="*/ 1666875 w 2047875"/>
                    <a:gd name="connsiteY1" fmla="*/ 342900 h 342900"/>
                    <a:gd name="connsiteX2" fmla="*/ 2047875 w 2047875"/>
                    <a:gd name="connsiteY2" fmla="*/ 0 h 342900"/>
                  </a:gdLst>
                  <a:ahLst/>
                  <a:cxnLst>
                    <a:cxn ang="0">
                      <a:pos x="connsiteX0" y="connsiteY0"/>
                    </a:cxn>
                    <a:cxn ang="0">
                      <a:pos x="connsiteX1" y="connsiteY1"/>
                    </a:cxn>
                    <a:cxn ang="0">
                      <a:pos x="connsiteX2" y="connsiteY2"/>
                    </a:cxn>
                  </a:cxnLst>
                  <a:rect l="l" t="t" r="r" b="b"/>
                  <a:pathLst>
                    <a:path w="2047875" h="342900">
                      <a:moveTo>
                        <a:pt x="0" y="342900"/>
                      </a:moveTo>
                      <a:lnTo>
                        <a:pt x="1666875" y="342900"/>
                      </a:lnTo>
                      <a:lnTo>
                        <a:pt x="2047875" y="0"/>
                      </a:lnTo>
                    </a:path>
                  </a:pathLst>
                </a:custGeom>
                <a:noFill/>
                <a:ln w="25400" cap="rnd">
                  <a:solidFill>
                    <a:schemeClr val="accent4">
                      <a:lumMod val="7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57" name="Oval 56">
                  <a:extLst>
                    <a:ext uri="{FF2B5EF4-FFF2-40B4-BE49-F238E27FC236}">
                      <a16:creationId xmlns:a16="http://schemas.microsoft.com/office/drawing/2014/main" id="{4068B7BC-C234-A04E-B8DA-B2C7028BE79A}"/>
                    </a:ext>
                  </a:extLst>
                </p:cNvPr>
                <p:cNvSpPr/>
                <p:nvPr/>
              </p:nvSpPr>
              <p:spPr>
                <a:xfrm>
                  <a:off x="7943162" y="1777172"/>
                  <a:ext cx="1572840" cy="26664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55" name="Freeform 54">
                  <a:extLst>
                    <a:ext uri="{FF2B5EF4-FFF2-40B4-BE49-F238E27FC236}">
                      <a16:creationId xmlns:a16="http://schemas.microsoft.com/office/drawing/2014/main" id="{3CFA3C7D-967F-4B45-9A41-3DBFC1F7D513}"/>
                    </a:ext>
                  </a:extLst>
                </p:cNvPr>
                <p:cNvSpPr/>
                <p:nvPr/>
              </p:nvSpPr>
              <p:spPr>
                <a:xfrm>
                  <a:off x="9816437" y="1686157"/>
                  <a:ext cx="574377" cy="1799813"/>
                </a:xfrm>
                <a:custGeom>
                  <a:avLst/>
                  <a:gdLst>
                    <a:gd name="connsiteX0" fmla="*/ 0 w 361300"/>
                    <a:gd name="connsiteY0" fmla="*/ 356839 h 1422895"/>
                    <a:gd name="connsiteX1" fmla="*/ 347918 w 361300"/>
                    <a:gd name="connsiteY1" fmla="*/ 0 h 1422895"/>
                    <a:gd name="connsiteX2" fmla="*/ 361300 w 361300"/>
                    <a:gd name="connsiteY2" fmla="*/ 1074977 h 1422895"/>
                    <a:gd name="connsiteX3" fmla="*/ 0 w 361300"/>
                    <a:gd name="connsiteY3" fmla="*/ 1422895 h 1422895"/>
                    <a:gd name="connsiteX4" fmla="*/ 0 w 361300"/>
                    <a:gd name="connsiteY4" fmla="*/ 356839 h 1422895"/>
                    <a:gd name="connsiteX0" fmla="*/ 0 w 361300"/>
                    <a:gd name="connsiteY0" fmla="*/ 356839 h 1441954"/>
                    <a:gd name="connsiteX1" fmla="*/ 347918 w 361300"/>
                    <a:gd name="connsiteY1" fmla="*/ 0 h 1441954"/>
                    <a:gd name="connsiteX2" fmla="*/ 361300 w 361300"/>
                    <a:gd name="connsiteY2" fmla="*/ 1074977 h 1441954"/>
                    <a:gd name="connsiteX3" fmla="*/ 0 w 361300"/>
                    <a:gd name="connsiteY3" fmla="*/ 1441954 h 1441954"/>
                    <a:gd name="connsiteX4" fmla="*/ 0 w 361300"/>
                    <a:gd name="connsiteY4" fmla="*/ 356839 h 1441954"/>
                    <a:gd name="connsiteX0" fmla="*/ 0 w 361300"/>
                    <a:gd name="connsiteY0" fmla="*/ 356839 h 1429248"/>
                    <a:gd name="connsiteX1" fmla="*/ 347918 w 361300"/>
                    <a:gd name="connsiteY1" fmla="*/ 0 h 1429248"/>
                    <a:gd name="connsiteX2" fmla="*/ 361300 w 361300"/>
                    <a:gd name="connsiteY2" fmla="*/ 1074977 h 1429248"/>
                    <a:gd name="connsiteX3" fmla="*/ 3175 w 361300"/>
                    <a:gd name="connsiteY3" fmla="*/ 1429248 h 1429248"/>
                    <a:gd name="connsiteX4" fmla="*/ 0 w 361300"/>
                    <a:gd name="connsiteY4" fmla="*/ 356839 h 1429248"/>
                    <a:gd name="connsiteX0" fmla="*/ 0 w 363793"/>
                    <a:gd name="connsiteY0" fmla="*/ 337780 h 1410189"/>
                    <a:gd name="connsiteX1" fmla="*/ 363793 w 363793"/>
                    <a:gd name="connsiteY1" fmla="*/ 0 h 1410189"/>
                    <a:gd name="connsiteX2" fmla="*/ 361300 w 363793"/>
                    <a:gd name="connsiteY2" fmla="*/ 1055918 h 1410189"/>
                    <a:gd name="connsiteX3" fmla="*/ 3175 w 363793"/>
                    <a:gd name="connsiteY3" fmla="*/ 1410189 h 1410189"/>
                    <a:gd name="connsiteX4" fmla="*/ 0 w 363793"/>
                    <a:gd name="connsiteY4" fmla="*/ 337780 h 1410189"/>
                    <a:gd name="connsiteX0" fmla="*/ 0 w 368555"/>
                    <a:gd name="connsiteY0" fmla="*/ 362141 h 1434550"/>
                    <a:gd name="connsiteX1" fmla="*/ 368555 w 368555"/>
                    <a:gd name="connsiteY1" fmla="*/ 0 h 1434550"/>
                    <a:gd name="connsiteX2" fmla="*/ 361300 w 368555"/>
                    <a:gd name="connsiteY2" fmla="*/ 1080279 h 1434550"/>
                    <a:gd name="connsiteX3" fmla="*/ 3175 w 368555"/>
                    <a:gd name="connsiteY3" fmla="*/ 1434550 h 1434550"/>
                    <a:gd name="connsiteX4" fmla="*/ 0 w 368555"/>
                    <a:gd name="connsiteY4" fmla="*/ 362141 h 143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55" h="1434550">
                      <a:moveTo>
                        <a:pt x="0" y="362141"/>
                      </a:moveTo>
                      <a:lnTo>
                        <a:pt x="368555" y="0"/>
                      </a:lnTo>
                      <a:cubicBezTo>
                        <a:pt x="366137" y="360093"/>
                        <a:pt x="363718" y="720186"/>
                        <a:pt x="361300" y="1080279"/>
                      </a:cubicBezTo>
                      <a:lnTo>
                        <a:pt x="3175" y="1434550"/>
                      </a:lnTo>
                      <a:cubicBezTo>
                        <a:pt x="2117" y="1077080"/>
                        <a:pt x="1058" y="719611"/>
                        <a:pt x="0" y="362141"/>
                      </a:cubicBezTo>
                      <a:close/>
                    </a:path>
                  </a:pathLst>
                </a:custGeom>
                <a:solidFill>
                  <a:schemeClr val="accent4">
                    <a:lumMod val="40000"/>
                    <a:lumOff val="60000"/>
                    <a:alpha val="70000"/>
                  </a:schemeClr>
                </a:solidFill>
                <a:ln w="12700" cap="sq">
                  <a:solidFill>
                    <a:schemeClr val="accent4">
                      <a:lumMod val="7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sp>
            <p:nvSpPr>
              <p:cNvPr id="70" name="Freeform 69">
                <a:extLst>
                  <a:ext uri="{FF2B5EF4-FFF2-40B4-BE49-F238E27FC236}">
                    <a16:creationId xmlns:a16="http://schemas.microsoft.com/office/drawing/2014/main" id="{0D73A3F4-DB39-C34F-8FB6-949EC22D57FE}"/>
                  </a:ext>
                </a:extLst>
              </p:cNvPr>
              <p:cNvSpPr/>
              <p:nvPr/>
            </p:nvSpPr>
            <p:spPr>
              <a:xfrm>
                <a:off x="8005397" y="982660"/>
                <a:ext cx="251625" cy="888218"/>
              </a:xfrm>
              <a:custGeom>
                <a:avLst/>
                <a:gdLst>
                  <a:gd name="connsiteX0" fmla="*/ 0 w 271185"/>
                  <a:gd name="connsiteY0" fmla="*/ 0 h 957263"/>
                  <a:gd name="connsiteX1" fmla="*/ 257175 w 271185"/>
                  <a:gd name="connsiteY1" fmla="*/ 385763 h 957263"/>
                  <a:gd name="connsiteX2" fmla="*/ 214312 w 271185"/>
                  <a:gd name="connsiteY2" fmla="*/ 957263 h 957263"/>
                </a:gdLst>
                <a:ahLst/>
                <a:cxnLst>
                  <a:cxn ang="0">
                    <a:pos x="connsiteX0" y="connsiteY0"/>
                  </a:cxn>
                  <a:cxn ang="0">
                    <a:pos x="connsiteX1" y="connsiteY1"/>
                  </a:cxn>
                  <a:cxn ang="0">
                    <a:pos x="connsiteX2" y="connsiteY2"/>
                  </a:cxn>
                </a:cxnLst>
                <a:rect l="l" t="t" r="r" b="b"/>
                <a:pathLst>
                  <a:path w="271185" h="957263">
                    <a:moveTo>
                      <a:pt x="0" y="0"/>
                    </a:moveTo>
                    <a:cubicBezTo>
                      <a:pt x="110728" y="113109"/>
                      <a:pt x="221456" y="226219"/>
                      <a:pt x="257175" y="385763"/>
                    </a:cubicBezTo>
                    <a:cubicBezTo>
                      <a:pt x="292894" y="545307"/>
                      <a:pt x="253603" y="751285"/>
                      <a:pt x="214312" y="957263"/>
                    </a:cubicBezTo>
                  </a:path>
                </a:pathLst>
              </a:custGeom>
              <a:noFill/>
              <a:ln w="1270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79" name="Oval 78">
                <a:extLst>
                  <a:ext uri="{FF2B5EF4-FFF2-40B4-BE49-F238E27FC236}">
                    <a16:creationId xmlns:a16="http://schemas.microsoft.com/office/drawing/2014/main" id="{0597278C-7926-5A45-B514-9EEF9BEAEE8C}"/>
                  </a:ext>
                </a:extLst>
              </p:cNvPr>
              <p:cNvSpPr/>
              <p:nvPr/>
            </p:nvSpPr>
            <p:spPr>
              <a:xfrm rot="781828">
                <a:off x="8019885" y="194970"/>
                <a:ext cx="353410" cy="37137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80" name="Oval 79">
                <a:extLst>
                  <a:ext uri="{FF2B5EF4-FFF2-40B4-BE49-F238E27FC236}">
                    <a16:creationId xmlns:a16="http://schemas.microsoft.com/office/drawing/2014/main" id="{52E76E7B-ADFA-7E41-91FB-2627C5A40295}"/>
                  </a:ext>
                </a:extLst>
              </p:cNvPr>
              <p:cNvSpPr/>
              <p:nvPr/>
            </p:nvSpPr>
            <p:spPr>
              <a:xfrm rot="781828">
                <a:off x="8090931" y="253711"/>
                <a:ext cx="164924" cy="17330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81" name="Oval 80">
                <a:extLst>
                  <a:ext uri="{FF2B5EF4-FFF2-40B4-BE49-F238E27FC236}">
                    <a16:creationId xmlns:a16="http://schemas.microsoft.com/office/drawing/2014/main" id="{A33006C5-069F-A443-9049-0B6F2AF9125F}"/>
                  </a:ext>
                </a:extLst>
              </p:cNvPr>
              <p:cNvSpPr/>
              <p:nvPr/>
            </p:nvSpPr>
            <p:spPr>
              <a:xfrm rot="781828">
                <a:off x="8135993" y="281634"/>
                <a:ext cx="47121" cy="495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pic>
            <p:nvPicPr>
              <p:cNvPr id="69" name="Picture 68">
                <a:extLst>
                  <a:ext uri="{FF2B5EF4-FFF2-40B4-BE49-F238E27FC236}">
                    <a16:creationId xmlns:a16="http://schemas.microsoft.com/office/drawing/2014/main" id="{AD379A99-DDDC-4043-831A-C362F567072E}"/>
                  </a:ext>
                </a:extLst>
              </p:cNvPr>
              <p:cNvPicPr>
                <a:picLocks noChangeAspect="1"/>
              </p:cNvPicPr>
              <p:nvPr/>
            </p:nvPicPr>
            <p:blipFill>
              <a:blip r:embed="rId7"/>
              <a:stretch>
                <a:fillRect/>
              </a:stretch>
            </p:blipFill>
            <p:spPr>
              <a:xfrm rot="2065660" flipH="1">
                <a:off x="6888714" y="706258"/>
                <a:ext cx="518495" cy="1048774"/>
              </a:xfrm>
              <a:prstGeom prst="rect">
                <a:avLst/>
              </a:prstGeom>
            </p:spPr>
          </p:pic>
          <p:sp>
            <p:nvSpPr>
              <p:cNvPr id="95" name="Freeform 94">
                <a:extLst>
                  <a:ext uri="{FF2B5EF4-FFF2-40B4-BE49-F238E27FC236}">
                    <a16:creationId xmlns:a16="http://schemas.microsoft.com/office/drawing/2014/main" id="{CC1DDC1B-90CA-8B42-904C-69DC01812609}"/>
                  </a:ext>
                </a:extLst>
              </p:cNvPr>
              <p:cNvSpPr/>
              <p:nvPr/>
            </p:nvSpPr>
            <p:spPr>
              <a:xfrm rot="17694921">
                <a:off x="6920742" y="2171681"/>
                <a:ext cx="1099513" cy="1165900"/>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solidFill>
                <a:schemeClr val="accent6">
                  <a:lumMod val="20000"/>
                  <a:lumOff val="80000"/>
                </a:schemeClr>
              </a:solidFill>
              <a:ln w="254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70" dirty="0"/>
                  <a:t>≈	</a:t>
                </a:r>
              </a:p>
            </p:txBody>
          </p:sp>
        </p:grpSp>
        <p:sp>
          <p:nvSpPr>
            <p:cNvPr id="90" name="Rounded Rectangular Callout 89">
              <a:extLst>
                <a:ext uri="{FF2B5EF4-FFF2-40B4-BE49-F238E27FC236}">
                  <a16:creationId xmlns:a16="http://schemas.microsoft.com/office/drawing/2014/main" id="{149687EF-3452-3246-B4DA-18335FFFC269}"/>
                </a:ext>
              </a:extLst>
            </p:cNvPr>
            <p:cNvSpPr/>
            <p:nvPr/>
          </p:nvSpPr>
          <p:spPr>
            <a:xfrm>
              <a:off x="8508993" y="2550817"/>
              <a:ext cx="3521049" cy="2269435"/>
            </a:xfrm>
            <a:prstGeom prst="wedgeRoundRectCallout">
              <a:avLst>
                <a:gd name="adj1" fmla="val -39780"/>
                <a:gd name="adj2" fmla="val -69537"/>
                <a:gd name="adj3" fmla="val 16667"/>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2227" dirty="0">
                  <a:solidFill>
                    <a:schemeClr val="tx1"/>
                  </a:solidFill>
                  <a:latin typeface="Comic Sans MS" panose="030F0902030302020204" pitchFamily="66" charset="0"/>
                </a:rPr>
                <a:t>Simon </a:t>
              </a:r>
              <a:r>
                <a:rPr lang="sr-Latn-RS" sz="2227" dirty="0" err="1">
                  <a:solidFill>
                    <a:schemeClr val="tx1"/>
                  </a:solidFill>
                  <a:latin typeface="Comic Sans MS" panose="030F0902030302020204" pitchFamily="66" charset="0"/>
                </a:rPr>
                <a:t>claims</a:t>
              </a:r>
              <a:r>
                <a:rPr lang="sr-Latn-RS" sz="2227" dirty="0">
                  <a:solidFill>
                    <a:schemeClr val="tx1"/>
                  </a:solidFill>
                  <a:latin typeface="Comic Sans MS" panose="030F0902030302020204" pitchFamily="66" charset="0"/>
                </a:rPr>
                <a:t> </a:t>
              </a:r>
              <a:r>
                <a:rPr lang="sr-Latn-RS" sz="2227" dirty="0" err="1">
                  <a:solidFill>
                    <a:schemeClr val="tx1"/>
                  </a:solidFill>
                  <a:latin typeface="Comic Sans MS" panose="030F0902030302020204" pitchFamily="66" charset="0"/>
                </a:rPr>
                <a:t>that</a:t>
              </a:r>
              <a:r>
                <a:rPr lang="sr-Latn-RS" sz="2227" dirty="0">
                  <a:solidFill>
                    <a:schemeClr val="tx1"/>
                  </a:solidFill>
                  <a:latin typeface="Comic Sans MS" panose="030F0902030302020204" pitchFamily="66" charset="0"/>
                </a:rPr>
                <a:t>, </a:t>
              </a:r>
              <a:r>
                <a:rPr lang="sr-Latn-RS" sz="2227" dirty="0" err="1">
                  <a:solidFill>
                    <a:schemeClr val="tx1"/>
                  </a:solidFill>
                  <a:latin typeface="Comic Sans MS" panose="030F0902030302020204" pitchFamily="66" charset="0"/>
                </a:rPr>
                <a:t>regardless</a:t>
              </a:r>
              <a:r>
                <a:rPr lang="sr-Latn-RS" sz="2227" dirty="0">
                  <a:solidFill>
                    <a:schemeClr val="tx1"/>
                  </a:solidFill>
                  <a:latin typeface="Comic Sans MS" panose="030F0902030302020204" pitchFamily="66" charset="0"/>
                </a:rPr>
                <a:t> </a:t>
              </a:r>
              <a:r>
                <a:rPr lang="sr-Latn-RS" sz="2227" dirty="0" err="1">
                  <a:solidFill>
                    <a:schemeClr val="tx1"/>
                  </a:solidFill>
                  <a:latin typeface="Comic Sans MS" panose="030F0902030302020204" pitchFamily="66" charset="0"/>
                </a:rPr>
                <a:t>of</a:t>
              </a:r>
              <a:r>
                <a:rPr lang="sr-Latn-RS" sz="2227" dirty="0">
                  <a:solidFill>
                    <a:schemeClr val="tx1"/>
                  </a:solidFill>
                  <a:latin typeface="Comic Sans MS" panose="030F0902030302020204" pitchFamily="66" charset="0"/>
                </a:rPr>
                <a:t> </a:t>
              </a:r>
              <a:r>
                <a:rPr lang="sr-Latn-RS" sz="2227" dirty="0" err="1">
                  <a:solidFill>
                    <a:schemeClr val="tx1"/>
                  </a:solidFill>
                  <a:latin typeface="Comic Sans MS" panose="030F0902030302020204" pitchFamily="66" charset="0"/>
                </a:rPr>
                <a:t>Bob's</a:t>
              </a:r>
              <a:r>
                <a:rPr lang="sr-Latn-RS" sz="2227" dirty="0">
                  <a:solidFill>
                    <a:schemeClr val="tx1"/>
                  </a:solidFill>
                  <a:latin typeface="Comic Sans MS" panose="030F0902030302020204" pitchFamily="66" charset="0"/>
                </a:rPr>
                <a:t> </a:t>
              </a:r>
              <a:r>
                <a:rPr lang="sr-Latn-RS" sz="2227" dirty="0" err="1">
                  <a:solidFill>
                    <a:schemeClr val="tx1"/>
                  </a:solidFill>
                  <a:latin typeface="Comic Sans MS" panose="030F0902030302020204" pitchFamily="66" charset="0"/>
                </a:rPr>
                <a:t>move</a:t>
              </a:r>
              <a:r>
                <a:rPr lang="sr-Latn-RS" sz="2227" dirty="0">
                  <a:solidFill>
                    <a:schemeClr val="tx1"/>
                  </a:solidFill>
                  <a:latin typeface="Comic Sans MS" panose="030F0902030302020204" pitchFamily="66" charset="0"/>
                </a:rPr>
                <a:t>, he </a:t>
              </a:r>
              <a:r>
                <a:rPr lang="sr-Latn-RS" sz="2227" dirty="0" err="1">
                  <a:solidFill>
                    <a:schemeClr val="tx1"/>
                  </a:solidFill>
                  <a:latin typeface="Comic Sans MS" panose="030F0902030302020204" pitchFamily="66" charset="0"/>
                </a:rPr>
                <a:t>will</a:t>
              </a:r>
              <a:r>
                <a:rPr lang="sr-Latn-RS" sz="2227" dirty="0">
                  <a:solidFill>
                    <a:schemeClr val="tx1"/>
                  </a:solidFill>
                  <a:latin typeface="Comic Sans MS" panose="030F0902030302020204" pitchFamily="66" charset="0"/>
                </a:rPr>
                <a:t> </a:t>
              </a:r>
              <a:r>
                <a:rPr lang="sr-Latn-RS" sz="2227" dirty="0" err="1">
                  <a:solidFill>
                    <a:schemeClr val="tx1"/>
                  </a:solidFill>
                  <a:latin typeface="Comic Sans MS" panose="030F0902030302020204" pitchFamily="66" charset="0"/>
                </a:rPr>
                <a:t>turn</a:t>
              </a:r>
              <a:r>
                <a:rPr lang="sr-Latn-RS" sz="2227" dirty="0">
                  <a:solidFill>
                    <a:schemeClr val="tx1"/>
                  </a:solidFill>
                  <a:latin typeface="Comic Sans MS" panose="030F0902030302020204" pitchFamily="66" charset="0"/>
                </a:rPr>
                <a:t> </a:t>
              </a:r>
              <a:r>
                <a:rPr lang="sr-Latn-RS" sz="2227" dirty="0" err="1">
                  <a:solidFill>
                    <a:schemeClr val="tx1"/>
                  </a:solidFill>
                  <a:latin typeface="Comic Sans MS" panose="030F0902030302020204" pitchFamily="66" charset="0"/>
                </a:rPr>
                <a:t>the</a:t>
              </a:r>
              <a:r>
                <a:rPr lang="sr-Latn-RS" sz="2227" dirty="0">
                  <a:solidFill>
                    <a:schemeClr val="tx1"/>
                  </a:solidFill>
                  <a:latin typeface="Comic Sans MS" panose="030F0902030302020204" pitchFamily="66" charset="0"/>
                </a:rPr>
                <a:t> </a:t>
              </a:r>
              <a:r>
                <a:rPr lang="sr-Latn-RS" sz="2227" dirty="0" err="1">
                  <a:solidFill>
                    <a:schemeClr val="tx1"/>
                  </a:solidFill>
                  <a:latin typeface="Comic Sans MS" panose="030F0902030302020204" pitchFamily="66" charset="0"/>
                </a:rPr>
                <a:t>coin</a:t>
              </a:r>
              <a:r>
                <a:rPr lang="sr-Latn-RS" sz="2227" dirty="0">
                  <a:solidFill>
                    <a:schemeClr val="tx1"/>
                  </a:solidFill>
                  <a:latin typeface="Comic Sans MS" panose="030F0902030302020204" pitchFamily="66" charset="0"/>
                </a:rPr>
                <a:t> </a:t>
              </a:r>
              <a:r>
                <a:rPr lang="sr-Latn-RS" sz="2227" dirty="0" err="1">
                  <a:solidFill>
                    <a:schemeClr val="tx1"/>
                  </a:solidFill>
                  <a:latin typeface="Comic Sans MS" panose="030F0902030302020204" pitchFamily="66" charset="0"/>
                </a:rPr>
                <a:t>back</a:t>
              </a:r>
              <a:r>
                <a:rPr lang="sr-Latn-RS" sz="2227" dirty="0">
                  <a:solidFill>
                    <a:schemeClr val="tx1"/>
                  </a:solidFill>
                  <a:latin typeface="Comic Sans MS" panose="030F0902030302020204" pitchFamily="66" charset="0"/>
                </a:rPr>
                <a:t> to </a:t>
              </a:r>
              <a:r>
                <a:rPr lang="sr-Latn-RS" sz="2227" dirty="0" err="1">
                  <a:solidFill>
                    <a:schemeClr val="tx1"/>
                  </a:solidFill>
                  <a:latin typeface="Comic Sans MS" panose="030F0902030302020204" pitchFamily="66" charset="0"/>
                </a:rPr>
                <a:t>its</a:t>
              </a:r>
              <a:r>
                <a:rPr lang="sr-Latn-RS" sz="2227" dirty="0">
                  <a:solidFill>
                    <a:schemeClr val="tx1"/>
                  </a:solidFill>
                  <a:latin typeface="Comic Sans MS" panose="030F0902030302020204" pitchFamily="66" charset="0"/>
                </a:rPr>
                <a:t> original </a:t>
              </a:r>
              <a:r>
                <a:rPr lang="sr-Latn-RS" sz="2227" dirty="0" err="1">
                  <a:solidFill>
                    <a:schemeClr val="tx1"/>
                  </a:solidFill>
                  <a:latin typeface="Comic Sans MS" panose="030F0902030302020204" pitchFamily="66" charset="0"/>
                </a:rPr>
                <a:t>position</a:t>
              </a:r>
              <a:r>
                <a:rPr lang="sr-Latn-RS" sz="2227" dirty="0">
                  <a:solidFill>
                    <a:schemeClr val="tx1"/>
                  </a:solidFill>
                  <a:latin typeface="Comic Sans MS" panose="030F0902030302020204" pitchFamily="66" charset="0"/>
                </a:rPr>
                <a:t>.</a:t>
              </a:r>
              <a:endParaRPr lang="en-US" sz="2227" dirty="0">
                <a:solidFill>
                  <a:schemeClr val="tx1"/>
                </a:solidFill>
                <a:latin typeface="Comic Sans MS" panose="030F0902030302020204" pitchFamily="66" charset="0"/>
              </a:endParaRPr>
            </a:p>
          </p:txBody>
        </p:sp>
      </p:grpSp>
      <p:grpSp>
        <p:nvGrpSpPr>
          <p:cNvPr id="9" name="Group 8">
            <a:extLst>
              <a:ext uri="{FF2B5EF4-FFF2-40B4-BE49-F238E27FC236}">
                <a16:creationId xmlns:a16="http://schemas.microsoft.com/office/drawing/2014/main" id="{C0A6D41C-81B7-B643-8238-A7FF0CD2A68F}"/>
              </a:ext>
            </a:extLst>
          </p:cNvPr>
          <p:cNvGrpSpPr/>
          <p:nvPr/>
        </p:nvGrpSpPr>
        <p:grpSpPr>
          <a:xfrm>
            <a:off x="4455532" y="782021"/>
            <a:ext cx="3870768" cy="4576568"/>
            <a:chOff x="4455532" y="782021"/>
            <a:chExt cx="3870768" cy="4576568"/>
          </a:xfrm>
        </p:grpSpPr>
        <p:grpSp>
          <p:nvGrpSpPr>
            <p:cNvPr id="45" name="Group 44">
              <a:extLst>
                <a:ext uri="{FF2B5EF4-FFF2-40B4-BE49-F238E27FC236}">
                  <a16:creationId xmlns:a16="http://schemas.microsoft.com/office/drawing/2014/main" id="{8A2DCC72-6157-6F49-899E-0AC9070DC85F}"/>
                </a:ext>
              </a:extLst>
            </p:cNvPr>
            <p:cNvGrpSpPr/>
            <p:nvPr/>
          </p:nvGrpSpPr>
          <p:grpSpPr>
            <a:xfrm>
              <a:off x="4742078" y="2834772"/>
              <a:ext cx="2656972" cy="1574467"/>
              <a:chOff x="7181826" y="1672730"/>
              <a:chExt cx="3208988" cy="1825467"/>
            </a:xfrm>
          </p:grpSpPr>
          <p:sp>
            <p:nvSpPr>
              <p:cNvPr id="46" name="Freeform 45">
                <a:extLst>
                  <a:ext uri="{FF2B5EF4-FFF2-40B4-BE49-F238E27FC236}">
                    <a16:creationId xmlns:a16="http://schemas.microsoft.com/office/drawing/2014/main" id="{DEFA6989-CED2-DD48-8C99-6732A9F74F10}"/>
                  </a:ext>
                </a:extLst>
              </p:cNvPr>
              <p:cNvSpPr/>
              <p:nvPr/>
            </p:nvSpPr>
            <p:spPr>
              <a:xfrm>
                <a:off x="7195729" y="1672730"/>
                <a:ext cx="3183778" cy="457150"/>
              </a:xfrm>
              <a:custGeom>
                <a:avLst/>
                <a:gdLst>
                  <a:gd name="connsiteX0" fmla="*/ 0 w 2047364"/>
                  <a:gd name="connsiteY0" fmla="*/ 356839 h 365760"/>
                  <a:gd name="connsiteX1" fmla="*/ 347918 w 2047364"/>
                  <a:gd name="connsiteY1" fmla="*/ 0 h 365760"/>
                  <a:gd name="connsiteX2" fmla="*/ 2047364 w 2047364"/>
                  <a:gd name="connsiteY2" fmla="*/ 8921 h 365760"/>
                  <a:gd name="connsiteX3" fmla="*/ 1708366 w 2047364"/>
                  <a:gd name="connsiteY3" fmla="*/ 365760 h 365760"/>
                  <a:gd name="connsiteX4" fmla="*/ 0 w 2047364"/>
                  <a:gd name="connsiteY4" fmla="*/ 356839 h 365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7364" h="365760">
                    <a:moveTo>
                      <a:pt x="0" y="356839"/>
                    </a:moveTo>
                    <a:lnTo>
                      <a:pt x="347918" y="0"/>
                    </a:lnTo>
                    <a:lnTo>
                      <a:pt x="2047364" y="8921"/>
                    </a:lnTo>
                    <a:lnTo>
                      <a:pt x="1708366" y="365760"/>
                    </a:lnTo>
                    <a:lnTo>
                      <a:pt x="0" y="356839"/>
                    </a:lnTo>
                    <a:close/>
                  </a:path>
                </a:pathLst>
              </a:custGeom>
              <a:solidFill>
                <a:schemeClr val="accent4">
                  <a:lumMod val="40000"/>
                  <a:lumOff val="60000"/>
                </a:schemeClr>
              </a:solidFill>
              <a:ln w="12700" cap="rnd">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47" name="Freeform 46">
                <a:extLst>
                  <a:ext uri="{FF2B5EF4-FFF2-40B4-BE49-F238E27FC236}">
                    <a16:creationId xmlns:a16="http://schemas.microsoft.com/office/drawing/2014/main" id="{20FE2D44-20CB-2844-9E9A-411E5B1AF5F8}"/>
                  </a:ext>
                </a:extLst>
              </p:cNvPr>
              <p:cNvSpPr/>
              <p:nvPr/>
            </p:nvSpPr>
            <p:spPr>
              <a:xfrm>
                <a:off x="7181826" y="2124135"/>
                <a:ext cx="2634611" cy="1374062"/>
              </a:xfrm>
              <a:custGeom>
                <a:avLst/>
                <a:gdLst>
                  <a:gd name="connsiteX0" fmla="*/ 0 w 1690525"/>
                  <a:gd name="connsiteY0" fmla="*/ 0 h 1070517"/>
                  <a:gd name="connsiteX1" fmla="*/ 0 w 1690525"/>
                  <a:gd name="connsiteY1" fmla="*/ 1061596 h 1070517"/>
                  <a:gd name="connsiteX2" fmla="*/ 1686065 w 1690525"/>
                  <a:gd name="connsiteY2" fmla="*/ 1070517 h 1070517"/>
                  <a:gd name="connsiteX3" fmla="*/ 1690525 w 1690525"/>
                  <a:gd name="connsiteY3" fmla="*/ 13382 h 1070517"/>
                  <a:gd name="connsiteX4" fmla="*/ 0 w 1690525"/>
                  <a:gd name="connsiteY4" fmla="*/ 0 h 1070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0525" h="1070517">
                    <a:moveTo>
                      <a:pt x="0" y="0"/>
                    </a:moveTo>
                    <a:lnTo>
                      <a:pt x="0" y="1061596"/>
                    </a:lnTo>
                    <a:lnTo>
                      <a:pt x="1686065" y="1070517"/>
                    </a:lnTo>
                    <a:cubicBezTo>
                      <a:pt x="1687552" y="718139"/>
                      <a:pt x="1689038" y="365760"/>
                      <a:pt x="1690525" y="13382"/>
                    </a:cubicBezTo>
                    <a:lnTo>
                      <a:pt x="0" y="0"/>
                    </a:lnTo>
                    <a:close/>
                  </a:path>
                </a:pathLst>
              </a:custGeom>
              <a:solidFill>
                <a:schemeClr val="accent4">
                  <a:lumMod val="20000"/>
                  <a:lumOff val="80000"/>
                </a:schemeClr>
              </a:solidFill>
              <a:ln w="12700" cap="rnd">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dirty="0"/>
              </a:p>
            </p:txBody>
          </p:sp>
          <p:sp>
            <p:nvSpPr>
              <p:cNvPr id="48" name="Freeform 47">
                <a:extLst>
                  <a:ext uri="{FF2B5EF4-FFF2-40B4-BE49-F238E27FC236}">
                    <a16:creationId xmlns:a16="http://schemas.microsoft.com/office/drawing/2014/main" id="{F225330C-6CD5-6248-82A1-98319DB8AF04}"/>
                  </a:ext>
                </a:extLst>
              </p:cNvPr>
              <p:cNvSpPr/>
              <p:nvPr/>
            </p:nvSpPr>
            <p:spPr>
              <a:xfrm>
                <a:off x="9816437" y="1686157"/>
                <a:ext cx="574377" cy="1799813"/>
              </a:xfrm>
              <a:custGeom>
                <a:avLst/>
                <a:gdLst>
                  <a:gd name="connsiteX0" fmla="*/ 0 w 361300"/>
                  <a:gd name="connsiteY0" fmla="*/ 356839 h 1422895"/>
                  <a:gd name="connsiteX1" fmla="*/ 347918 w 361300"/>
                  <a:gd name="connsiteY1" fmla="*/ 0 h 1422895"/>
                  <a:gd name="connsiteX2" fmla="*/ 361300 w 361300"/>
                  <a:gd name="connsiteY2" fmla="*/ 1074977 h 1422895"/>
                  <a:gd name="connsiteX3" fmla="*/ 0 w 361300"/>
                  <a:gd name="connsiteY3" fmla="*/ 1422895 h 1422895"/>
                  <a:gd name="connsiteX4" fmla="*/ 0 w 361300"/>
                  <a:gd name="connsiteY4" fmla="*/ 356839 h 1422895"/>
                  <a:gd name="connsiteX0" fmla="*/ 0 w 361300"/>
                  <a:gd name="connsiteY0" fmla="*/ 356839 h 1441954"/>
                  <a:gd name="connsiteX1" fmla="*/ 347918 w 361300"/>
                  <a:gd name="connsiteY1" fmla="*/ 0 h 1441954"/>
                  <a:gd name="connsiteX2" fmla="*/ 361300 w 361300"/>
                  <a:gd name="connsiteY2" fmla="*/ 1074977 h 1441954"/>
                  <a:gd name="connsiteX3" fmla="*/ 0 w 361300"/>
                  <a:gd name="connsiteY3" fmla="*/ 1441954 h 1441954"/>
                  <a:gd name="connsiteX4" fmla="*/ 0 w 361300"/>
                  <a:gd name="connsiteY4" fmla="*/ 356839 h 1441954"/>
                  <a:gd name="connsiteX0" fmla="*/ 0 w 361300"/>
                  <a:gd name="connsiteY0" fmla="*/ 356839 h 1429248"/>
                  <a:gd name="connsiteX1" fmla="*/ 347918 w 361300"/>
                  <a:gd name="connsiteY1" fmla="*/ 0 h 1429248"/>
                  <a:gd name="connsiteX2" fmla="*/ 361300 w 361300"/>
                  <a:gd name="connsiteY2" fmla="*/ 1074977 h 1429248"/>
                  <a:gd name="connsiteX3" fmla="*/ 3175 w 361300"/>
                  <a:gd name="connsiteY3" fmla="*/ 1429248 h 1429248"/>
                  <a:gd name="connsiteX4" fmla="*/ 0 w 361300"/>
                  <a:gd name="connsiteY4" fmla="*/ 356839 h 1429248"/>
                  <a:gd name="connsiteX0" fmla="*/ 0 w 363793"/>
                  <a:gd name="connsiteY0" fmla="*/ 337780 h 1410189"/>
                  <a:gd name="connsiteX1" fmla="*/ 363793 w 363793"/>
                  <a:gd name="connsiteY1" fmla="*/ 0 h 1410189"/>
                  <a:gd name="connsiteX2" fmla="*/ 361300 w 363793"/>
                  <a:gd name="connsiteY2" fmla="*/ 1055918 h 1410189"/>
                  <a:gd name="connsiteX3" fmla="*/ 3175 w 363793"/>
                  <a:gd name="connsiteY3" fmla="*/ 1410189 h 1410189"/>
                  <a:gd name="connsiteX4" fmla="*/ 0 w 363793"/>
                  <a:gd name="connsiteY4" fmla="*/ 337780 h 1410189"/>
                  <a:gd name="connsiteX0" fmla="*/ 0 w 368555"/>
                  <a:gd name="connsiteY0" fmla="*/ 362141 h 1434550"/>
                  <a:gd name="connsiteX1" fmla="*/ 368555 w 368555"/>
                  <a:gd name="connsiteY1" fmla="*/ 0 h 1434550"/>
                  <a:gd name="connsiteX2" fmla="*/ 361300 w 368555"/>
                  <a:gd name="connsiteY2" fmla="*/ 1080279 h 1434550"/>
                  <a:gd name="connsiteX3" fmla="*/ 3175 w 368555"/>
                  <a:gd name="connsiteY3" fmla="*/ 1434550 h 1434550"/>
                  <a:gd name="connsiteX4" fmla="*/ 0 w 368555"/>
                  <a:gd name="connsiteY4" fmla="*/ 362141 h 143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55" h="1434550">
                    <a:moveTo>
                      <a:pt x="0" y="362141"/>
                    </a:moveTo>
                    <a:lnTo>
                      <a:pt x="368555" y="0"/>
                    </a:lnTo>
                    <a:cubicBezTo>
                      <a:pt x="366137" y="360093"/>
                      <a:pt x="363718" y="720186"/>
                      <a:pt x="361300" y="1080279"/>
                    </a:cubicBezTo>
                    <a:lnTo>
                      <a:pt x="3175" y="1434550"/>
                    </a:lnTo>
                    <a:cubicBezTo>
                      <a:pt x="2117" y="1077080"/>
                      <a:pt x="1058" y="719611"/>
                      <a:pt x="0" y="362141"/>
                    </a:cubicBezTo>
                    <a:close/>
                  </a:path>
                </a:pathLst>
              </a:custGeom>
              <a:solidFill>
                <a:schemeClr val="accent4">
                  <a:lumMod val="40000"/>
                  <a:lumOff val="60000"/>
                  <a:alpha val="70000"/>
                </a:schemeClr>
              </a:solidFill>
              <a:ln w="12700" cap="sq">
                <a:solidFill>
                  <a:schemeClr val="accent4">
                    <a:lumMod val="7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49" name="Freeform 48">
                <a:extLst>
                  <a:ext uri="{FF2B5EF4-FFF2-40B4-BE49-F238E27FC236}">
                    <a16:creationId xmlns:a16="http://schemas.microsoft.com/office/drawing/2014/main" id="{723727B2-A598-B242-A29E-2440B79DCFBB}"/>
                  </a:ext>
                </a:extLst>
              </p:cNvPr>
              <p:cNvSpPr/>
              <p:nvPr/>
            </p:nvSpPr>
            <p:spPr>
              <a:xfrm>
                <a:off x="7193452" y="2401470"/>
                <a:ext cx="3191525" cy="440129"/>
              </a:xfrm>
              <a:custGeom>
                <a:avLst/>
                <a:gdLst>
                  <a:gd name="connsiteX0" fmla="*/ 0 w 2047875"/>
                  <a:gd name="connsiteY0" fmla="*/ 342900 h 342900"/>
                  <a:gd name="connsiteX1" fmla="*/ 1666875 w 2047875"/>
                  <a:gd name="connsiteY1" fmla="*/ 342900 h 342900"/>
                  <a:gd name="connsiteX2" fmla="*/ 2047875 w 2047875"/>
                  <a:gd name="connsiteY2" fmla="*/ 0 h 342900"/>
                </a:gdLst>
                <a:ahLst/>
                <a:cxnLst>
                  <a:cxn ang="0">
                    <a:pos x="connsiteX0" y="connsiteY0"/>
                  </a:cxn>
                  <a:cxn ang="0">
                    <a:pos x="connsiteX1" y="connsiteY1"/>
                  </a:cxn>
                  <a:cxn ang="0">
                    <a:pos x="connsiteX2" y="connsiteY2"/>
                  </a:cxn>
                </a:cxnLst>
                <a:rect l="l" t="t" r="r" b="b"/>
                <a:pathLst>
                  <a:path w="2047875" h="342900">
                    <a:moveTo>
                      <a:pt x="0" y="342900"/>
                    </a:moveTo>
                    <a:lnTo>
                      <a:pt x="1666875" y="342900"/>
                    </a:lnTo>
                    <a:lnTo>
                      <a:pt x="2047875" y="0"/>
                    </a:lnTo>
                  </a:path>
                </a:pathLst>
              </a:custGeom>
              <a:noFill/>
              <a:ln w="25400" cap="rnd">
                <a:solidFill>
                  <a:schemeClr val="accent4">
                    <a:lumMod val="7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50" name="Oval 49">
                <a:extLst>
                  <a:ext uri="{FF2B5EF4-FFF2-40B4-BE49-F238E27FC236}">
                    <a16:creationId xmlns:a16="http://schemas.microsoft.com/office/drawing/2014/main" id="{49F4A68A-F6C7-D942-88C6-CC2DF4DD4BFE}"/>
                  </a:ext>
                </a:extLst>
              </p:cNvPr>
              <p:cNvSpPr/>
              <p:nvPr/>
            </p:nvSpPr>
            <p:spPr>
              <a:xfrm>
                <a:off x="7943162" y="1777172"/>
                <a:ext cx="1572840" cy="26664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grpSp>
          <p:nvGrpSpPr>
            <p:cNvPr id="28" name="Group 27">
              <a:extLst>
                <a:ext uri="{FF2B5EF4-FFF2-40B4-BE49-F238E27FC236}">
                  <a16:creationId xmlns:a16="http://schemas.microsoft.com/office/drawing/2014/main" id="{F6234ABB-5B7D-DD4A-A442-4F0D491B96D6}"/>
                </a:ext>
              </a:extLst>
            </p:cNvPr>
            <p:cNvGrpSpPr/>
            <p:nvPr/>
          </p:nvGrpSpPr>
          <p:grpSpPr>
            <a:xfrm>
              <a:off x="4455532" y="782021"/>
              <a:ext cx="1551768" cy="2368916"/>
              <a:chOff x="4455532" y="782021"/>
              <a:chExt cx="1551768" cy="2368916"/>
            </a:xfrm>
          </p:grpSpPr>
          <p:pic>
            <p:nvPicPr>
              <p:cNvPr id="104" name="Picture 103">
                <a:extLst>
                  <a:ext uri="{FF2B5EF4-FFF2-40B4-BE49-F238E27FC236}">
                    <a16:creationId xmlns:a16="http://schemas.microsoft.com/office/drawing/2014/main" id="{40942D45-94F5-6649-B1B5-14751E55C8B0}"/>
                  </a:ext>
                </a:extLst>
              </p:cNvPr>
              <p:cNvPicPr>
                <a:picLocks noChangeAspect="1"/>
              </p:cNvPicPr>
              <p:nvPr/>
            </p:nvPicPr>
            <p:blipFill>
              <a:blip r:embed="rId3"/>
              <a:stretch>
                <a:fillRect/>
              </a:stretch>
            </p:blipFill>
            <p:spPr>
              <a:xfrm>
                <a:off x="4455532" y="782021"/>
                <a:ext cx="1390748" cy="2368916"/>
              </a:xfrm>
              <a:prstGeom prst="rect">
                <a:avLst/>
              </a:prstGeom>
              <a:noFill/>
            </p:spPr>
          </p:pic>
          <p:grpSp>
            <p:nvGrpSpPr>
              <p:cNvPr id="18" name="Group 17">
                <a:extLst>
                  <a:ext uri="{FF2B5EF4-FFF2-40B4-BE49-F238E27FC236}">
                    <a16:creationId xmlns:a16="http://schemas.microsoft.com/office/drawing/2014/main" id="{B8D6F4BD-2CA6-8347-AD30-8CD63FE459EF}"/>
                  </a:ext>
                </a:extLst>
              </p:cNvPr>
              <p:cNvGrpSpPr/>
              <p:nvPr/>
            </p:nvGrpSpPr>
            <p:grpSpPr>
              <a:xfrm>
                <a:off x="5526836" y="2435027"/>
                <a:ext cx="266636" cy="231579"/>
                <a:chOff x="5507075" y="2392905"/>
                <a:chExt cx="266636" cy="231579"/>
              </a:xfrm>
            </p:grpSpPr>
            <p:sp>
              <p:nvSpPr>
                <p:cNvPr id="84" name="Rounded Rectangle 83">
                  <a:extLst>
                    <a:ext uri="{FF2B5EF4-FFF2-40B4-BE49-F238E27FC236}">
                      <a16:creationId xmlns:a16="http://schemas.microsoft.com/office/drawing/2014/main" id="{04F2861A-DC90-5447-AF97-FC6672481C26}"/>
                    </a:ext>
                  </a:extLst>
                </p:cNvPr>
                <p:cNvSpPr/>
                <p:nvPr/>
              </p:nvSpPr>
              <p:spPr>
                <a:xfrm rot="17243580">
                  <a:off x="5525719" y="2397314"/>
                  <a:ext cx="231579" cy="222762"/>
                </a:xfrm>
                <a:prstGeom prst="roundRect">
                  <a:avLst/>
                </a:prstGeom>
                <a:solidFill>
                  <a:srgbClr val="394C3D"/>
                </a:solidFill>
                <a:ln w="254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85" name="Rectangle 84">
                  <a:extLst>
                    <a:ext uri="{FF2B5EF4-FFF2-40B4-BE49-F238E27FC236}">
                      <a16:creationId xmlns:a16="http://schemas.microsoft.com/office/drawing/2014/main" id="{B6D257AB-481B-5B45-87F8-B6095EA5CB29}"/>
                    </a:ext>
                  </a:extLst>
                </p:cNvPr>
                <p:cNvSpPr/>
                <p:nvPr/>
              </p:nvSpPr>
              <p:spPr>
                <a:xfrm rot="17243580">
                  <a:off x="5597245" y="2474976"/>
                  <a:ext cx="42421" cy="222762"/>
                </a:xfrm>
                <a:prstGeom prst="rect">
                  <a:avLst/>
                </a:prstGeom>
                <a:solidFill>
                  <a:srgbClr val="5B765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86" name="Rectangle 85">
                  <a:extLst>
                    <a:ext uri="{FF2B5EF4-FFF2-40B4-BE49-F238E27FC236}">
                      <a16:creationId xmlns:a16="http://schemas.microsoft.com/office/drawing/2014/main" id="{5B79B2BB-F36F-FB43-82E8-825478B9E1B4}"/>
                    </a:ext>
                  </a:extLst>
                </p:cNvPr>
                <p:cNvSpPr/>
                <p:nvPr/>
              </p:nvSpPr>
              <p:spPr>
                <a:xfrm rot="17243580">
                  <a:off x="5620297" y="2397315"/>
                  <a:ext cx="42421" cy="222762"/>
                </a:xfrm>
                <a:prstGeom prst="rect">
                  <a:avLst/>
                </a:prstGeom>
                <a:solidFill>
                  <a:srgbClr val="5B765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87" name="Rectangle 86">
                  <a:extLst>
                    <a:ext uri="{FF2B5EF4-FFF2-40B4-BE49-F238E27FC236}">
                      <a16:creationId xmlns:a16="http://schemas.microsoft.com/office/drawing/2014/main" id="{F7414102-B9A6-E04A-90B5-10FE94939360}"/>
                    </a:ext>
                  </a:extLst>
                </p:cNvPr>
                <p:cNvSpPr/>
                <p:nvPr/>
              </p:nvSpPr>
              <p:spPr>
                <a:xfrm rot="17243580">
                  <a:off x="5641119" y="2330844"/>
                  <a:ext cx="42421" cy="222762"/>
                </a:xfrm>
                <a:prstGeom prst="rect">
                  <a:avLst/>
                </a:prstGeom>
                <a:solidFill>
                  <a:srgbClr val="5B765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sp>
            <p:nvSpPr>
              <p:cNvPr id="82" name="Freeform 81">
                <a:extLst>
                  <a:ext uri="{FF2B5EF4-FFF2-40B4-BE49-F238E27FC236}">
                    <a16:creationId xmlns:a16="http://schemas.microsoft.com/office/drawing/2014/main" id="{8A1BEE16-5623-9F46-A13F-5DD4C70586D4}"/>
                  </a:ext>
                </a:extLst>
              </p:cNvPr>
              <p:cNvSpPr/>
              <p:nvPr/>
            </p:nvSpPr>
            <p:spPr>
              <a:xfrm>
                <a:off x="5759703" y="2557809"/>
                <a:ext cx="247597" cy="363056"/>
              </a:xfrm>
              <a:custGeom>
                <a:avLst/>
                <a:gdLst>
                  <a:gd name="connsiteX0" fmla="*/ 0 w 342405"/>
                  <a:gd name="connsiteY0" fmla="*/ 0 h 592853"/>
                  <a:gd name="connsiteX1" fmla="*/ 301450 w 342405"/>
                  <a:gd name="connsiteY1" fmla="*/ 226088 h 592853"/>
                  <a:gd name="connsiteX2" fmla="*/ 331595 w 342405"/>
                  <a:gd name="connsiteY2" fmla="*/ 592853 h 592853"/>
                </a:gdLst>
                <a:ahLst/>
                <a:cxnLst>
                  <a:cxn ang="0">
                    <a:pos x="connsiteX0" y="connsiteY0"/>
                  </a:cxn>
                  <a:cxn ang="0">
                    <a:pos x="connsiteX1" y="connsiteY1"/>
                  </a:cxn>
                  <a:cxn ang="0">
                    <a:pos x="connsiteX2" y="connsiteY2"/>
                  </a:cxn>
                </a:cxnLst>
                <a:rect l="l" t="t" r="r" b="b"/>
                <a:pathLst>
                  <a:path w="342405" h="592853">
                    <a:moveTo>
                      <a:pt x="0" y="0"/>
                    </a:moveTo>
                    <a:cubicBezTo>
                      <a:pt x="123092" y="63639"/>
                      <a:pt x="246184" y="127279"/>
                      <a:pt x="301450" y="226088"/>
                    </a:cubicBezTo>
                    <a:cubicBezTo>
                      <a:pt x="356716" y="324897"/>
                      <a:pt x="344155" y="458875"/>
                      <a:pt x="331595" y="592853"/>
                    </a:cubicBezTo>
                  </a:path>
                </a:pathLst>
              </a:custGeom>
              <a:noFill/>
              <a:ln w="19050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sp>
          <p:nvSpPr>
            <p:cNvPr id="94" name="Freeform 93">
              <a:extLst>
                <a:ext uri="{FF2B5EF4-FFF2-40B4-BE49-F238E27FC236}">
                  <a16:creationId xmlns:a16="http://schemas.microsoft.com/office/drawing/2014/main" id="{F1A135B9-A33C-A742-B347-6A8FAF59626D}"/>
                </a:ext>
              </a:extLst>
            </p:cNvPr>
            <p:cNvSpPr/>
            <p:nvPr/>
          </p:nvSpPr>
          <p:spPr>
            <a:xfrm rot="17694921">
              <a:off x="4865859" y="3286429"/>
              <a:ext cx="1099513" cy="1165900"/>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solidFill>
              <a:schemeClr val="accent6">
                <a:lumMod val="20000"/>
                <a:lumOff val="80000"/>
              </a:schemeClr>
            </a:solidFill>
            <a:ln w="254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70" dirty="0"/>
                <a:t>≈	</a:t>
              </a:r>
            </a:p>
          </p:txBody>
        </p:sp>
        <p:sp>
          <p:nvSpPr>
            <p:cNvPr id="19" name="Rounded Rectangular Callout 18">
              <a:extLst>
                <a:ext uri="{FF2B5EF4-FFF2-40B4-BE49-F238E27FC236}">
                  <a16:creationId xmlns:a16="http://schemas.microsoft.com/office/drawing/2014/main" id="{05BF4C13-75B9-E948-A8C4-BB113857ACC6}"/>
                </a:ext>
              </a:extLst>
            </p:cNvPr>
            <p:cNvSpPr/>
            <p:nvPr/>
          </p:nvSpPr>
          <p:spPr>
            <a:xfrm>
              <a:off x="5428378" y="4190928"/>
              <a:ext cx="2897922" cy="1167661"/>
            </a:xfrm>
            <a:prstGeom prst="wedgeRoundRectCallout">
              <a:avLst>
                <a:gd name="adj1" fmla="val -22619"/>
                <a:gd name="adj2" fmla="val -77868"/>
                <a:gd name="adj3" fmla="val 16667"/>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omic Sans MS" panose="030F0902030302020204" pitchFamily="66" charset="0"/>
                </a:rPr>
                <a:t>It's Bob's turn to flip the coin!</a:t>
              </a:r>
            </a:p>
          </p:txBody>
        </p:sp>
      </p:grpSp>
      <p:sp>
        <p:nvSpPr>
          <p:cNvPr id="102" name="Explosion 1 101">
            <a:extLst>
              <a:ext uri="{FF2B5EF4-FFF2-40B4-BE49-F238E27FC236}">
                <a16:creationId xmlns:a16="http://schemas.microsoft.com/office/drawing/2014/main" id="{9ACA49AE-2B87-6B4C-94DD-F768F825178E}"/>
              </a:ext>
            </a:extLst>
          </p:cNvPr>
          <p:cNvSpPr/>
          <p:nvPr/>
        </p:nvSpPr>
        <p:spPr>
          <a:xfrm>
            <a:off x="9964958" y="1167303"/>
            <a:ext cx="2177862" cy="1545233"/>
          </a:xfrm>
          <a:prstGeom prst="irregularSeal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dirty="0"/>
              <a:t>Simon</a:t>
            </a:r>
            <a:r>
              <a:rPr lang="en-US" dirty="0">
                <a:latin typeface="Comic Sans MS" panose="030F0902030302020204" pitchFamily="66" charset="0"/>
              </a:rPr>
              <a:t> wins!</a:t>
            </a:r>
          </a:p>
        </p:txBody>
      </p:sp>
      <p:sp>
        <p:nvSpPr>
          <p:cNvPr id="23" name="Slide Number Placeholder 22">
            <a:extLst>
              <a:ext uri="{FF2B5EF4-FFF2-40B4-BE49-F238E27FC236}">
                <a16:creationId xmlns:a16="http://schemas.microsoft.com/office/drawing/2014/main" id="{2E7C2EB6-4F7C-C045-A325-CB14AFCA36AF}"/>
              </a:ext>
            </a:extLst>
          </p:cNvPr>
          <p:cNvSpPr>
            <a:spLocks noGrp="1"/>
          </p:cNvSpPr>
          <p:nvPr>
            <p:ph type="sldNum" sz="quarter" idx="4294967295"/>
          </p:nvPr>
        </p:nvSpPr>
        <p:spPr>
          <a:xfrm>
            <a:off x="8610600" y="6356350"/>
            <a:ext cx="2743200" cy="365125"/>
          </a:xfrm>
        </p:spPr>
        <p:txBody>
          <a:bodyPr/>
          <a:lstStyle/>
          <a:p>
            <a:fld id="{591A223C-FA10-BC46-A853-03BA373D023C}" type="slidenum">
              <a:rPr lang="en-US" smtClean="0"/>
              <a:t>17</a:t>
            </a:fld>
            <a:endParaRPr lang="en-US"/>
          </a:p>
        </p:txBody>
      </p:sp>
    </p:spTree>
    <p:extLst>
      <p:ext uri="{BB962C8B-B14F-4D97-AF65-F5344CB8AC3E}">
        <p14:creationId xmlns:p14="http://schemas.microsoft.com/office/powerpoint/2010/main" val="3769954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dissolv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checkerboard(across)">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2"/>
                                        </p:tgtEl>
                                        <p:attrNameLst>
                                          <p:attrName>style.visibility</p:attrName>
                                        </p:attrNameLst>
                                      </p:cBhvr>
                                      <p:to>
                                        <p:strVal val="visible"/>
                                      </p:to>
                                    </p:set>
                                    <p:animEffect transition="in" filter="blinds(horizontal)">
                                      <p:cBhvr>
                                        <p:cTn id="27"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 name="Picture 96">
            <a:extLst>
              <a:ext uri="{FF2B5EF4-FFF2-40B4-BE49-F238E27FC236}">
                <a16:creationId xmlns:a16="http://schemas.microsoft.com/office/drawing/2014/main" id="{80334C97-E316-694C-86F5-23D7365CE4C4}"/>
              </a:ext>
            </a:extLst>
          </p:cNvPr>
          <p:cNvPicPr>
            <a:picLocks noChangeAspect="1"/>
          </p:cNvPicPr>
          <p:nvPr/>
        </p:nvPicPr>
        <p:blipFill>
          <a:blip r:embed="rId3"/>
          <a:stretch>
            <a:fillRect/>
          </a:stretch>
        </p:blipFill>
        <p:spPr>
          <a:xfrm>
            <a:off x="5640259" y="730765"/>
            <a:ext cx="1390748" cy="2368916"/>
          </a:xfrm>
          <a:prstGeom prst="rect">
            <a:avLst/>
          </a:prstGeom>
          <a:noFill/>
        </p:spPr>
      </p:pic>
      <p:grpSp>
        <p:nvGrpSpPr>
          <p:cNvPr id="98" name="Group 97">
            <a:extLst>
              <a:ext uri="{FF2B5EF4-FFF2-40B4-BE49-F238E27FC236}">
                <a16:creationId xmlns:a16="http://schemas.microsoft.com/office/drawing/2014/main" id="{26B84141-91D1-B644-AC83-3AA0D1CCC390}"/>
              </a:ext>
            </a:extLst>
          </p:cNvPr>
          <p:cNvGrpSpPr/>
          <p:nvPr/>
        </p:nvGrpSpPr>
        <p:grpSpPr>
          <a:xfrm>
            <a:off x="6711563" y="2383771"/>
            <a:ext cx="266636" cy="231579"/>
            <a:chOff x="5507075" y="2392905"/>
            <a:chExt cx="266636" cy="231579"/>
          </a:xfrm>
        </p:grpSpPr>
        <p:sp>
          <p:nvSpPr>
            <p:cNvPr id="100" name="Rounded Rectangle 99">
              <a:extLst>
                <a:ext uri="{FF2B5EF4-FFF2-40B4-BE49-F238E27FC236}">
                  <a16:creationId xmlns:a16="http://schemas.microsoft.com/office/drawing/2014/main" id="{C9B836DB-0D59-D84A-B49B-6E9FB137E484}"/>
                </a:ext>
              </a:extLst>
            </p:cNvPr>
            <p:cNvSpPr/>
            <p:nvPr/>
          </p:nvSpPr>
          <p:spPr>
            <a:xfrm rot="17243580">
              <a:off x="5525719" y="2397314"/>
              <a:ext cx="231579" cy="222762"/>
            </a:xfrm>
            <a:prstGeom prst="roundRect">
              <a:avLst/>
            </a:prstGeom>
            <a:solidFill>
              <a:srgbClr val="394C3D"/>
            </a:solidFill>
            <a:ln w="254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101" name="Rectangle 100">
              <a:extLst>
                <a:ext uri="{FF2B5EF4-FFF2-40B4-BE49-F238E27FC236}">
                  <a16:creationId xmlns:a16="http://schemas.microsoft.com/office/drawing/2014/main" id="{B3667366-390C-F047-9565-420C9E24DA40}"/>
                </a:ext>
              </a:extLst>
            </p:cNvPr>
            <p:cNvSpPr/>
            <p:nvPr/>
          </p:nvSpPr>
          <p:spPr>
            <a:xfrm rot="17243580">
              <a:off x="5597245" y="2474976"/>
              <a:ext cx="42421" cy="222762"/>
            </a:xfrm>
            <a:prstGeom prst="rect">
              <a:avLst/>
            </a:prstGeom>
            <a:solidFill>
              <a:srgbClr val="5B765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102" name="Rectangle 101">
              <a:extLst>
                <a:ext uri="{FF2B5EF4-FFF2-40B4-BE49-F238E27FC236}">
                  <a16:creationId xmlns:a16="http://schemas.microsoft.com/office/drawing/2014/main" id="{6A92454A-3BD3-1844-B989-F8BB8500770A}"/>
                </a:ext>
              </a:extLst>
            </p:cNvPr>
            <p:cNvSpPr/>
            <p:nvPr/>
          </p:nvSpPr>
          <p:spPr>
            <a:xfrm rot="17243580">
              <a:off x="5620297" y="2397315"/>
              <a:ext cx="42421" cy="222762"/>
            </a:xfrm>
            <a:prstGeom prst="rect">
              <a:avLst/>
            </a:prstGeom>
            <a:solidFill>
              <a:srgbClr val="5B765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103" name="Rectangle 102">
              <a:extLst>
                <a:ext uri="{FF2B5EF4-FFF2-40B4-BE49-F238E27FC236}">
                  <a16:creationId xmlns:a16="http://schemas.microsoft.com/office/drawing/2014/main" id="{43CF054C-591C-3C46-BED2-5BBC5BF1C286}"/>
                </a:ext>
              </a:extLst>
            </p:cNvPr>
            <p:cNvSpPr/>
            <p:nvPr/>
          </p:nvSpPr>
          <p:spPr>
            <a:xfrm rot="17243580">
              <a:off x="5641119" y="2330844"/>
              <a:ext cx="42421" cy="222762"/>
            </a:xfrm>
            <a:prstGeom prst="rect">
              <a:avLst/>
            </a:prstGeom>
            <a:solidFill>
              <a:srgbClr val="5B765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pic>
        <p:nvPicPr>
          <p:cNvPr id="3" name="Picture 2">
            <a:extLst>
              <a:ext uri="{FF2B5EF4-FFF2-40B4-BE49-F238E27FC236}">
                <a16:creationId xmlns:a16="http://schemas.microsoft.com/office/drawing/2014/main" id="{AD46E575-C48F-1844-B399-CEF49576DA18}"/>
              </a:ext>
            </a:extLst>
          </p:cNvPr>
          <p:cNvPicPr>
            <a:picLocks noChangeAspect="1"/>
          </p:cNvPicPr>
          <p:nvPr/>
        </p:nvPicPr>
        <p:blipFill>
          <a:blip r:embed="rId4"/>
          <a:stretch>
            <a:fillRect/>
          </a:stretch>
        </p:blipFill>
        <p:spPr>
          <a:xfrm>
            <a:off x="253942" y="35247"/>
            <a:ext cx="1520892" cy="2252712"/>
          </a:xfrm>
          <a:prstGeom prst="rect">
            <a:avLst/>
          </a:prstGeom>
        </p:spPr>
      </p:pic>
      <p:sp>
        <p:nvSpPr>
          <p:cNvPr id="89" name="Explosion 1 88">
            <a:extLst>
              <a:ext uri="{FF2B5EF4-FFF2-40B4-BE49-F238E27FC236}">
                <a16:creationId xmlns:a16="http://schemas.microsoft.com/office/drawing/2014/main" id="{5AF5E31D-84C5-7E48-944B-6FFF73D4D01B}"/>
              </a:ext>
            </a:extLst>
          </p:cNvPr>
          <p:cNvSpPr/>
          <p:nvPr/>
        </p:nvSpPr>
        <p:spPr>
          <a:xfrm>
            <a:off x="8551913" y="4801905"/>
            <a:ext cx="1718827" cy="1419313"/>
          </a:xfrm>
          <a:prstGeom prst="irregularSeal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83" dirty="0">
              <a:latin typeface="Comic Sans MS" panose="030F0902030302020204" pitchFamily="66" charset="0"/>
            </a:endParaRPr>
          </a:p>
        </p:txBody>
      </p:sp>
      <p:pic>
        <p:nvPicPr>
          <p:cNvPr id="7" name="Picture 6">
            <a:extLst>
              <a:ext uri="{FF2B5EF4-FFF2-40B4-BE49-F238E27FC236}">
                <a16:creationId xmlns:a16="http://schemas.microsoft.com/office/drawing/2014/main" id="{50CA25E6-7D58-F04C-8DE6-03D0A7E49BC0}"/>
              </a:ext>
            </a:extLst>
          </p:cNvPr>
          <p:cNvPicPr>
            <a:picLocks noChangeAspect="1"/>
          </p:cNvPicPr>
          <p:nvPr/>
        </p:nvPicPr>
        <p:blipFill>
          <a:blip r:embed="rId5"/>
          <a:stretch>
            <a:fillRect/>
          </a:stretch>
        </p:blipFill>
        <p:spPr>
          <a:xfrm rot="899456">
            <a:off x="3173836" y="1108041"/>
            <a:ext cx="962442" cy="1893611"/>
          </a:xfrm>
          <a:prstGeom prst="rect">
            <a:avLst/>
          </a:prstGeom>
        </p:spPr>
      </p:pic>
      <p:pic>
        <p:nvPicPr>
          <p:cNvPr id="67" name="Picture 66">
            <a:extLst>
              <a:ext uri="{FF2B5EF4-FFF2-40B4-BE49-F238E27FC236}">
                <a16:creationId xmlns:a16="http://schemas.microsoft.com/office/drawing/2014/main" id="{F976C71F-134B-8248-AB73-C3C55929D86A}"/>
              </a:ext>
            </a:extLst>
          </p:cNvPr>
          <p:cNvPicPr>
            <a:picLocks noChangeAspect="1"/>
          </p:cNvPicPr>
          <p:nvPr/>
        </p:nvPicPr>
        <p:blipFill>
          <a:blip r:embed="rId6"/>
          <a:stretch>
            <a:fillRect/>
          </a:stretch>
        </p:blipFill>
        <p:spPr>
          <a:xfrm rot="899456">
            <a:off x="8566095" y="2037596"/>
            <a:ext cx="962442" cy="1893611"/>
          </a:xfrm>
          <a:prstGeom prst="rect">
            <a:avLst/>
          </a:prstGeom>
        </p:spPr>
      </p:pic>
      <p:sp>
        <p:nvSpPr>
          <p:cNvPr id="76" name="Oval 75">
            <a:extLst>
              <a:ext uri="{FF2B5EF4-FFF2-40B4-BE49-F238E27FC236}">
                <a16:creationId xmlns:a16="http://schemas.microsoft.com/office/drawing/2014/main" id="{1BA189D4-624F-2247-A3EF-AD073A9E246E}"/>
              </a:ext>
            </a:extLst>
          </p:cNvPr>
          <p:cNvSpPr/>
          <p:nvPr/>
        </p:nvSpPr>
        <p:spPr>
          <a:xfrm rot="781828">
            <a:off x="8830311" y="1753115"/>
            <a:ext cx="353410" cy="37137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77" name="Oval 76">
            <a:extLst>
              <a:ext uri="{FF2B5EF4-FFF2-40B4-BE49-F238E27FC236}">
                <a16:creationId xmlns:a16="http://schemas.microsoft.com/office/drawing/2014/main" id="{142912F4-D24E-474F-A4D4-0CD91D0B373F}"/>
              </a:ext>
            </a:extLst>
          </p:cNvPr>
          <p:cNvSpPr/>
          <p:nvPr/>
        </p:nvSpPr>
        <p:spPr>
          <a:xfrm rot="781828">
            <a:off x="8901357" y="1811857"/>
            <a:ext cx="164924" cy="17330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78" name="Oval 77">
            <a:extLst>
              <a:ext uri="{FF2B5EF4-FFF2-40B4-BE49-F238E27FC236}">
                <a16:creationId xmlns:a16="http://schemas.microsoft.com/office/drawing/2014/main" id="{149CC892-B0F4-704B-B490-1F1FE4733AC9}"/>
              </a:ext>
            </a:extLst>
          </p:cNvPr>
          <p:cNvSpPr/>
          <p:nvPr/>
        </p:nvSpPr>
        <p:spPr>
          <a:xfrm rot="781828">
            <a:off x="8946419" y="1839780"/>
            <a:ext cx="47121" cy="495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pic>
        <p:nvPicPr>
          <p:cNvPr id="20" name="Picture 19">
            <a:extLst>
              <a:ext uri="{FF2B5EF4-FFF2-40B4-BE49-F238E27FC236}">
                <a16:creationId xmlns:a16="http://schemas.microsoft.com/office/drawing/2014/main" id="{2D88972C-AE5D-994D-B71A-90E9A7A7DEEA}"/>
              </a:ext>
            </a:extLst>
          </p:cNvPr>
          <p:cNvPicPr>
            <a:picLocks noChangeAspect="1"/>
          </p:cNvPicPr>
          <p:nvPr/>
        </p:nvPicPr>
        <p:blipFill>
          <a:blip r:embed="rId7"/>
          <a:stretch>
            <a:fillRect/>
          </a:stretch>
        </p:blipFill>
        <p:spPr>
          <a:xfrm>
            <a:off x="3022204" y="2937034"/>
            <a:ext cx="1265704" cy="620684"/>
          </a:xfrm>
          <a:prstGeom prst="rect">
            <a:avLst/>
          </a:prstGeom>
        </p:spPr>
      </p:pic>
      <p:grpSp>
        <p:nvGrpSpPr>
          <p:cNvPr id="38" name="Group 37">
            <a:extLst>
              <a:ext uri="{FF2B5EF4-FFF2-40B4-BE49-F238E27FC236}">
                <a16:creationId xmlns:a16="http://schemas.microsoft.com/office/drawing/2014/main" id="{2CC37685-BEED-444F-B886-34A634EF3E40}"/>
              </a:ext>
            </a:extLst>
          </p:cNvPr>
          <p:cNvGrpSpPr/>
          <p:nvPr/>
        </p:nvGrpSpPr>
        <p:grpSpPr>
          <a:xfrm>
            <a:off x="167206" y="2026672"/>
            <a:ext cx="2656973" cy="1574468"/>
            <a:chOff x="7181826" y="1672730"/>
            <a:chExt cx="3208988" cy="1825467"/>
          </a:xfrm>
        </p:grpSpPr>
        <p:sp>
          <p:nvSpPr>
            <p:cNvPr id="31" name="Freeform 30">
              <a:extLst>
                <a:ext uri="{FF2B5EF4-FFF2-40B4-BE49-F238E27FC236}">
                  <a16:creationId xmlns:a16="http://schemas.microsoft.com/office/drawing/2014/main" id="{F4CF7F3E-5E8A-FD42-AF18-990706CA4AD9}"/>
                </a:ext>
              </a:extLst>
            </p:cNvPr>
            <p:cNvSpPr/>
            <p:nvPr/>
          </p:nvSpPr>
          <p:spPr>
            <a:xfrm>
              <a:off x="7195729" y="1672730"/>
              <a:ext cx="3183778" cy="457150"/>
            </a:xfrm>
            <a:custGeom>
              <a:avLst/>
              <a:gdLst>
                <a:gd name="connsiteX0" fmla="*/ 0 w 2047364"/>
                <a:gd name="connsiteY0" fmla="*/ 356839 h 365760"/>
                <a:gd name="connsiteX1" fmla="*/ 347918 w 2047364"/>
                <a:gd name="connsiteY1" fmla="*/ 0 h 365760"/>
                <a:gd name="connsiteX2" fmla="*/ 2047364 w 2047364"/>
                <a:gd name="connsiteY2" fmla="*/ 8921 h 365760"/>
                <a:gd name="connsiteX3" fmla="*/ 1708366 w 2047364"/>
                <a:gd name="connsiteY3" fmla="*/ 365760 h 365760"/>
                <a:gd name="connsiteX4" fmla="*/ 0 w 2047364"/>
                <a:gd name="connsiteY4" fmla="*/ 356839 h 365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7364" h="365760">
                  <a:moveTo>
                    <a:pt x="0" y="356839"/>
                  </a:moveTo>
                  <a:lnTo>
                    <a:pt x="347918" y="0"/>
                  </a:lnTo>
                  <a:lnTo>
                    <a:pt x="2047364" y="8921"/>
                  </a:lnTo>
                  <a:lnTo>
                    <a:pt x="1708366" y="365760"/>
                  </a:lnTo>
                  <a:lnTo>
                    <a:pt x="0" y="356839"/>
                  </a:lnTo>
                  <a:close/>
                </a:path>
              </a:pathLst>
            </a:custGeom>
            <a:solidFill>
              <a:schemeClr val="accent4">
                <a:lumMod val="40000"/>
                <a:lumOff val="60000"/>
              </a:schemeClr>
            </a:solidFill>
            <a:ln w="12700" cap="rnd">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32" name="Freeform 31">
              <a:extLst>
                <a:ext uri="{FF2B5EF4-FFF2-40B4-BE49-F238E27FC236}">
                  <a16:creationId xmlns:a16="http://schemas.microsoft.com/office/drawing/2014/main" id="{D7AC9F91-2F8A-194C-973C-C11375D5470A}"/>
                </a:ext>
              </a:extLst>
            </p:cNvPr>
            <p:cNvSpPr/>
            <p:nvPr/>
          </p:nvSpPr>
          <p:spPr>
            <a:xfrm>
              <a:off x="7181826" y="2124135"/>
              <a:ext cx="2634611" cy="1374062"/>
            </a:xfrm>
            <a:custGeom>
              <a:avLst/>
              <a:gdLst>
                <a:gd name="connsiteX0" fmla="*/ 0 w 1690525"/>
                <a:gd name="connsiteY0" fmla="*/ 0 h 1070517"/>
                <a:gd name="connsiteX1" fmla="*/ 0 w 1690525"/>
                <a:gd name="connsiteY1" fmla="*/ 1061596 h 1070517"/>
                <a:gd name="connsiteX2" fmla="*/ 1686065 w 1690525"/>
                <a:gd name="connsiteY2" fmla="*/ 1070517 h 1070517"/>
                <a:gd name="connsiteX3" fmla="*/ 1690525 w 1690525"/>
                <a:gd name="connsiteY3" fmla="*/ 13382 h 1070517"/>
                <a:gd name="connsiteX4" fmla="*/ 0 w 1690525"/>
                <a:gd name="connsiteY4" fmla="*/ 0 h 1070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0525" h="1070517">
                  <a:moveTo>
                    <a:pt x="0" y="0"/>
                  </a:moveTo>
                  <a:lnTo>
                    <a:pt x="0" y="1061596"/>
                  </a:lnTo>
                  <a:lnTo>
                    <a:pt x="1686065" y="1070517"/>
                  </a:lnTo>
                  <a:cubicBezTo>
                    <a:pt x="1687552" y="718139"/>
                    <a:pt x="1689038" y="365760"/>
                    <a:pt x="1690525" y="13382"/>
                  </a:cubicBezTo>
                  <a:lnTo>
                    <a:pt x="0" y="0"/>
                  </a:lnTo>
                  <a:close/>
                </a:path>
              </a:pathLst>
            </a:custGeom>
            <a:solidFill>
              <a:schemeClr val="accent4">
                <a:lumMod val="20000"/>
                <a:lumOff val="80000"/>
              </a:schemeClr>
            </a:solidFill>
            <a:ln w="12700" cap="rnd">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dirty="0"/>
            </a:p>
          </p:txBody>
        </p:sp>
        <p:sp>
          <p:nvSpPr>
            <p:cNvPr id="33" name="Freeform 32">
              <a:extLst>
                <a:ext uri="{FF2B5EF4-FFF2-40B4-BE49-F238E27FC236}">
                  <a16:creationId xmlns:a16="http://schemas.microsoft.com/office/drawing/2014/main" id="{FB4A99C8-F819-F147-A700-A2F517CDA69B}"/>
                </a:ext>
              </a:extLst>
            </p:cNvPr>
            <p:cNvSpPr/>
            <p:nvPr/>
          </p:nvSpPr>
          <p:spPr>
            <a:xfrm>
              <a:off x="9816437" y="1686157"/>
              <a:ext cx="574377" cy="1799813"/>
            </a:xfrm>
            <a:custGeom>
              <a:avLst/>
              <a:gdLst>
                <a:gd name="connsiteX0" fmla="*/ 0 w 361300"/>
                <a:gd name="connsiteY0" fmla="*/ 356839 h 1422895"/>
                <a:gd name="connsiteX1" fmla="*/ 347918 w 361300"/>
                <a:gd name="connsiteY1" fmla="*/ 0 h 1422895"/>
                <a:gd name="connsiteX2" fmla="*/ 361300 w 361300"/>
                <a:gd name="connsiteY2" fmla="*/ 1074977 h 1422895"/>
                <a:gd name="connsiteX3" fmla="*/ 0 w 361300"/>
                <a:gd name="connsiteY3" fmla="*/ 1422895 h 1422895"/>
                <a:gd name="connsiteX4" fmla="*/ 0 w 361300"/>
                <a:gd name="connsiteY4" fmla="*/ 356839 h 1422895"/>
                <a:gd name="connsiteX0" fmla="*/ 0 w 361300"/>
                <a:gd name="connsiteY0" fmla="*/ 356839 h 1441954"/>
                <a:gd name="connsiteX1" fmla="*/ 347918 w 361300"/>
                <a:gd name="connsiteY1" fmla="*/ 0 h 1441954"/>
                <a:gd name="connsiteX2" fmla="*/ 361300 w 361300"/>
                <a:gd name="connsiteY2" fmla="*/ 1074977 h 1441954"/>
                <a:gd name="connsiteX3" fmla="*/ 0 w 361300"/>
                <a:gd name="connsiteY3" fmla="*/ 1441954 h 1441954"/>
                <a:gd name="connsiteX4" fmla="*/ 0 w 361300"/>
                <a:gd name="connsiteY4" fmla="*/ 356839 h 1441954"/>
                <a:gd name="connsiteX0" fmla="*/ 0 w 361300"/>
                <a:gd name="connsiteY0" fmla="*/ 356839 h 1429248"/>
                <a:gd name="connsiteX1" fmla="*/ 347918 w 361300"/>
                <a:gd name="connsiteY1" fmla="*/ 0 h 1429248"/>
                <a:gd name="connsiteX2" fmla="*/ 361300 w 361300"/>
                <a:gd name="connsiteY2" fmla="*/ 1074977 h 1429248"/>
                <a:gd name="connsiteX3" fmla="*/ 3175 w 361300"/>
                <a:gd name="connsiteY3" fmla="*/ 1429248 h 1429248"/>
                <a:gd name="connsiteX4" fmla="*/ 0 w 361300"/>
                <a:gd name="connsiteY4" fmla="*/ 356839 h 1429248"/>
                <a:gd name="connsiteX0" fmla="*/ 0 w 363793"/>
                <a:gd name="connsiteY0" fmla="*/ 337780 h 1410189"/>
                <a:gd name="connsiteX1" fmla="*/ 363793 w 363793"/>
                <a:gd name="connsiteY1" fmla="*/ 0 h 1410189"/>
                <a:gd name="connsiteX2" fmla="*/ 361300 w 363793"/>
                <a:gd name="connsiteY2" fmla="*/ 1055918 h 1410189"/>
                <a:gd name="connsiteX3" fmla="*/ 3175 w 363793"/>
                <a:gd name="connsiteY3" fmla="*/ 1410189 h 1410189"/>
                <a:gd name="connsiteX4" fmla="*/ 0 w 363793"/>
                <a:gd name="connsiteY4" fmla="*/ 337780 h 1410189"/>
                <a:gd name="connsiteX0" fmla="*/ 0 w 368555"/>
                <a:gd name="connsiteY0" fmla="*/ 362141 h 1434550"/>
                <a:gd name="connsiteX1" fmla="*/ 368555 w 368555"/>
                <a:gd name="connsiteY1" fmla="*/ 0 h 1434550"/>
                <a:gd name="connsiteX2" fmla="*/ 361300 w 368555"/>
                <a:gd name="connsiteY2" fmla="*/ 1080279 h 1434550"/>
                <a:gd name="connsiteX3" fmla="*/ 3175 w 368555"/>
                <a:gd name="connsiteY3" fmla="*/ 1434550 h 1434550"/>
                <a:gd name="connsiteX4" fmla="*/ 0 w 368555"/>
                <a:gd name="connsiteY4" fmla="*/ 362141 h 143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55" h="1434550">
                  <a:moveTo>
                    <a:pt x="0" y="362141"/>
                  </a:moveTo>
                  <a:lnTo>
                    <a:pt x="368555" y="0"/>
                  </a:lnTo>
                  <a:cubicBezTo>
                    <a:pt x="366137" y="360093"/>
                    <a:pt x="363718" y="720186"/>
                    <a:pt x="361300" y="1080279"/>
                  </a:cubicBezTo>
                  <a:lnTo>
                    <a:pt x="3175" y="1434550"/>
                  </a:lnTo>
                  <a:cubicBezTo>
                    <a:pt x="2117" y="1077080"/>
                    <a:pt x="1058" y="719611"/>
                    <a:pt x="0" y="362141"/>
                  </a:cubicBezTo>
                  <a:close/>
                </a:path>
              </a:pathLst>
            </a:custGeom>
            <a:solidFill>
              <a:schemeClr val="accent4">
                <a:lumMod val="40000"/>
                <a:lumOff val="60000"/>
                <a:alpha val="70000"/>
              </a:schemeClr>
            </a:solidFill>
            <a:ln w="12700" cap="sq">
              <a:solidFill>
                <a:schemeClr val="accent4">
                  <a:lumMod val="7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34" name="Freeform 33">
              <a:extLst>
                <a:ext uri="{FF2B5EF4-FFF2-40B4-BE49-F238E27FC236}">
                  <a16:creationId xmlns:a16="http://schemas.microsoft.com/office/drawing/2014/main" id="{4CF2B100-6BCD-AD4E-9565-53D866B2E1F5}"/>
                </a:ext>
              </a:extLst>
            </p:cNvPr>
            <p:cNvSpPr/>
            <p:nvPr/>
          </p:nvSpPr>
          <p:spPr>
            <a:xfrm>
              <a:off x="7193452" y="2401470"/>
              <a:ext cx="3191525" cy="440129"/>
            </a:xfrm>
            <a:custGeom>
              <a:avLst/>
              <a:gdLst>
                <a:gd name="connsiteX0" fmla="*/ 0 w 2047875"/>
                <a:gd name="connsiteY0" fmla="*/ 342900 h 342900"/>
                <a:gd name="connsiteX1" fmla="*/ 1666875 w 2047875"/>
                <a:gd name="connsiteY1" fmla="*/ 342900 h 342900"/>
                <a:gd name="connsiteX2" fmla="*/ 2047875 w 2047875"/>
                <a:gd name="connsiteY2" fmla="*/ 0 h 342900"/>
              </a:gdLst>
              <a:ahLst/>
              <a:cxnLst>
                <a:cxn ang="0">
                  <a:pos x="connsiteX0" y="connsiteY0"/>
                </a:cxn>
                <a:cxn ang="0">
                  <a:pos x="connsiteX1" y="connsiteY1"/>
                </a:cxn>
                <a:cxn ang="0">
                  <a:pos x="connsiteX2" y="connsiteY2"/>
                </a:cxn>
              </a:cxnLst>
              <a:rect l="l" t="t" r="r" b="b"/>
              <a:pathLst>
                <a:path w="2047875" h="342900">
                  <a:moveTo>
                    <a:pt x="0" y="342900"/>
                  </a:moveTo>
                  <a:lnTo>
                    <a:pt x="1666875" y="342900"/>
                  </a:lnTo>
                  <a:lnTo>
                    <a:pt x="2047875" y="0"/>
                  </a:lnTo>
                </a:path>
              </a:pathLst>
            </a:custGeom>
            <a:noFill/>
            <a:ln w="25400" cap="rnd">
              <a:solidFill>
                <a:schemeClr val="accent4">
                  <a:lumMod val="7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36" name="Oval 35">
              <a:extLst>
                <a:ext uri="{FF2B5EF4-FFF2-40B4-BE49-F238E27FC236}">
                  <a16:creationId xmlns:a16="http://schemas.microsoft.com/office/drawing/2014/main" id="{89463AA8-2877-F44E-A036-47D62AA4E244}"/>
                </a:ext>
              </a:extLst>
            </p:cNvPr>
            <p:cNvSpPr/>
            <p:nvPr/>
          </p:nvSpPr>
          <p:spPr>
            <a:xfrm>
              <a:off x="7943162" y="1777172"/>
              <a:ext cx="1572840" cy="26664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sp>
        <p:nvSpPr>
          <p:cNvPr id="40" name="Freeform 39">
            <a:extLst>
              <a:ext uri="{FF2B5EF4-FFF2-40B4-BE49-F238E27FC236}">
                <a16:creationId xmlns:a16="http://schemas.microsoft.com/office/drawing/2014/main" id="{E9E65921-0924-7B4B-AFE1-1622F10B2D32}"/>
              </a:ext>
            </a:extLst>
          </p:cNvPr>
          <p:cNvSpPr/>
          <p:nvPr/>
        </p:nvSpPr>
        <p:spPr>
          <a:xfrm>
            <a:off x="2891343" y="2381354"/>
            <a:ext cx="2636099" cy="394293"/>
          </a:xfrm>
          <a:custGeom>
            <a:avLst/>
            <a:gdLst>
              <a:gd name="connsiteX0" fmla="*/ 0 w 2047364"/>
              <a:gd name="connsiteY0" fmla="*/ 356839 h 365760"/>
              <a:gd name="connsiteX1" fmla="*/ 347918 w 2047364"/>
              <a:gd name="connsiteY1" fmla="*/ 0 h 365760"/>
              <a:gd name="connsiteX2" fmla="*/ 2047364 w 2047364"/>
              <a:gd name="connsiteY2" fmla="*/ 8921 h 365760"/>
              <a:gd name="connsiteX3" fmla="*/ 1708366 w 2047364"/>
              <a:gd name="connsiteY3" fmla="*/ 365760 h 365760"/>
              <a:gd name="connsiteX4" fmla="*/ 0 w 2047364"/>
              <a:gd name="connsiteY4" fmla="*/ 356839 h 365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7364" h="365760">
                <a:moveTo>
                  <a:pt x="0" y="356839"/>
                </a:moveTo>
                <a:lnTo>
                  <a:pt x="347918" y="0"/>
                </a:lnTo>
                <a:lnTo>
                  <a:pt x="2047364" y="8921"/>
                </a:lnTo>
                <a:lnTo>
                  <a:pt x="1708366" y="365760"/>
                </a:lnTo>
                <a:lnTo>
                  <a:pt x="0" y="356839"/>
                </a:lnTo>
                <a:close/>
              </a:path>
            </a:pathLst>
          </a:custGeom>
          <a:solidFill>
            <a:schemeClr val="accent4">
              <a:lumMod val="40000"/>
              <a:lumOff val="60000"/>
            </a:schemeClr>
          </a:solidFill>
          <a:ln w="12700" cap="rnd">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41" name="Freeform 40">
            <a:extLst>
              <a:ext uri="{FF2B5EF4-FFF2-40B4-BE49-F238E27FC236}">
                <a16:creationId xmlns:a16="http://schemas.microsoft.com/office/drawing/2014/main" id="{EC97B1FE-2F95-6B4D-92BE-DE73355CEC96}"/>
              </a:ext>
            </a:extLst>
          </p:cNvPr>
          <p:cNvSpPr/>
          <p:nvPr/>
        </p:nvSpPr>
        <p:spPr>
          <a:xfrm>
            <a:off x="2879831" y="2770690"/>
            <a:ext cx="2181401" cy="1185131"/>
          </a:xfrm>
          <a:custGeom>
            <a:avLst/>
            <a:gdLst>
              <a:gd name="connsiteX0" fmla="*/ 0 w 1690525"/>
              <a:gd name="connsiteY0" fmla="*/ 0 h 1070517"/>
              <a:gd name="connsiteX1" fmla="*/ 0 w 1690525"/>
              <a:gd name="connsiteY1" fmla="*/ 1061596 h 1070517"/>
              <a:gd name="connsiteX2" fmla="*/ 1686065 w 1690525"/>
              <a:gd name="connsiteY2" fmla="*/ 1070517 h 1070517"/>
              <a:gd name="connsiteX3" fmla="*/ 1690525 w 1690525"/>
              <a:gd name="connsiteY3" fmla="*/ 13382 h 1070517"/>
              <a:gd name="connsiteX4" fmla="*/ 0 w 1690525"/>
              <a:gd name="connsiteY4" fmla="*/ 0 h 1070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0525" h="1070517">
                <a:moveTo>
                  <a:pt x="0" y="0"/>
                </a:moveTo>
                <a:lnTo>
                  <a:pt x="0" y="1061596"/>
                </a:lnTo>
                <a:lnTo>
                  <a:pt x="1686065" y="1070517"/>
                </a:lnTo>
                <a:cubicBezTo>
                  <a:pt x="1687552" y="718139"/>
                  <a:pt x="1689038" y="365760"/>
                  <a:pt x="1690525" y="13382"/>
                </a:cubicBezTo>
                <a:lnTo>
                  <a:pt x="0" y="0"/>
                </a:lnTo>
                <a:close/>
              </a:path>
            </a:pathLst>
          </a:custGeom>
          <a:solidFill>
            <a:schemeClr val="accent4">
              <a:lumMod val="20000"/>
              <a:lumOff val="80000"/>
            </a:schemeClr>
          </a:solidFill>
          <a:ln w="12700" cap="rnd">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dirty="0"/>
          </a:p>
        </p:txBody>
      </p:sp>
      <p:sp>
        <p:nvSpPr>
          <p:cNvPr id="42" name="Freeform 41">
            <a:extLst>
              <a:ext uri="{FF2B5EF4-FFF2-40B4-BE49-F238E27FC236}">
                <a16:creationId xmlns:a16="http://schemas.microsoft.com/office/drawing/2014/main" id="{34560958-6DFA-6043-BD3C-2A010395C5B3}"/>
              </a:ext>
            </a:extLst>
          </p:cNvPr>
          <p:cNvSpPr/>
          <p:nvPr/>
        </p:nvSpPr>
        <p:spPr>
          <a:xfrm>
            <a:off x="5061232" y="2392934"/>
            <a:ext cx="475572" cy="1552341"/>
          </a:xfrm>
          <a:custGeom>
            <a:avLst/>
            <a:gdLst>
              <a:gd name="connsiteX0" fmla="*/ 0 w 361300"/>
              <a:gd name="connsiteY0" fmla="*/ 356839 h 1422895"/>
              <a:gd name="connsiteX1" fmla="*/ 347918 w 361300"/>
              <a:gd name="connsiteY1" fmla="*/ 0 h 1422895"/>
              <a:gd name="connsiteX2" fmla="*/ 361300 w 361300"/>
              <a:gd name="connsiteY2" fmla="*/ 1074977 h 1422895"/>
              <a:gd name="connsiteX3" fmla="*/ 0 w 361300"/>
              <a:gd name="connsiteY3" fmla="*/ 1422895 h 1422895"/>
              <a:gd name="connsiteX4" fmla="*/ 0 w 361300"/>
              <a:gd name="connsiteY4" fmla="*/ 356839 h 1422895"/>
              <a:gd name="connsiteX0" fmla="*/ 0 w 361300"/>
              <a:gd name="connsiteY0" fmla="*/ 356839 h 1441954"/>
              <a:gd name="connsiteX1" fmla="*/ 347918 w 361300"/>
              <a:gd name="connsiteY1" fmla="*/ 0 h 1441954"/>
              <a:gd name="connsiteX2" fmla="*/ 361300 w 361300"/>
              <a:gd name="connsiteY2" fmla="*/ 1074977 h 1441954"/>
              <a:gd name="connsiteX3" fmla="*/ 0 w 361300"/>
              <a:gd name="connsiteY3" fmla="*/ 1441954 h 1441954"/>
              <a:gd name="connsiteX4" fmla="*/ 0 w 361300"/>
              <a:gd name="connsiteY4" fmla="*/ 356839 h 1441954"/>
              <a:gd name="connsiteX0" fmla="*/ 0 w 361300"/>
              <a:gd name="connsiteY0" fmla="*/ 356839 h 1429248"/>
              <a:gd name="connsiteX1" fmla="*/ 347918 w 361300"/>
              <a:gd name="connsiteY1" fmla="*/ 0 h 1429248"/>
              <a:gd name="connsiteX2" fmla="*/ 361300 w 361300"/>
              <a:gd name="connsiteY2" fmla="*/ 1074977 h 1429248"/>
              <a:gd name="connsiteX3" fmla="*/ 3175 w 361300"/>
              <a:gd name="connsiteY3" fmla="*/ 1429248 h 1429248"/>
              <a:gd name="connsiteX4" fmla="*/ 0 w 361300"/>
              <a:gd name="connsiteY4" fmla="*/ 356839 h 1429248"/>
              <a:gd name="connsiteX0" fmla="*/ 0 w 363793"/>
              <a:gd name="connsiteY0" fmla="*/ 337780 h 1410189"/>
              <a:gd name="connsiteX1" fmla="*/ 363793 w 363793"/>
              <a:gd name="connsiteY1" fmla="*/ 0 h 1410189"/>
              <a:gd name="connsiteX2" fmla="*/ 361300 w 363793"/>
              <a:gd name="connsiteY2" fmla="*/ 1055918 h 1410189"/>
              <a:gd name="connsiteX3" fmla="*/ 3175 w 363793"/>
              <a:gd name="connsiteY3" fmla="*/ 1410189 h 1410189"/>
              <a:gd name="connsiteX4" fmla="*/ 0 w 363793"/>
              <a:gd name="connsiteY4" fmla="*/ 337780 h 1410189"/>
              <a:gd name="connsiteX0" fmla="*/ 0 w 368555"/>
              <a:gd name="connsiteY0" fmla="*/ 362141 h 1434550"/>
              <a:gd name="connsiteX1" fmla="*/ 368555 w 368555"/>
              <a:gd name="connsiteY1" fmla="*/ 0 h 1434550"/>
              <a:gd name="connsiteX2" fmla="*/ 361300 w 368555"/>
              <a:gd name="connsiteY2" fmla="*/ 1080279 h 1434550"/>
              <a:gd name="connsiteX3" fmla="*/ 3175 w 368555"/>
              <a:gd name="connsiteY3" fmla="*/ 1434550 h 1434550"/>
              <a:gd name="connsiteX4" fmla="*/ 0 w 368555"/>
              <a:gd name="connsiteY4" fmla="*/ 362141 h 143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55" h="1434550">
                <a:moveTo>
                  <a:pt x="0" y="362141"/>
                </a:moveTo>
                <a:lnTo>
                  <a:pt x="368555" y="0"/>
                </a:lnTo>
                <a:cubicBezTo>
                  <a:pt x="366137" y="360093"/>
                  <a:pt x="363718" y="720186"/>
                  <a:pt x="361300" y="1080279"/>
                </a:cubicBezTo>
                <a:lnTo>
                  <a:pt x="3175" y="1434550"/>
                </a:lnTo>
                <a:cubicBezTo>
                  <a:pt x="2117" y="1077080"/>
                  <a:pt x="1058" y="719611"/>
                  <a:pt x="0" y="362141"/>
                </a:cubicBezTo>
                <a:close/>
              </a:path>
            </a:pathLst>
          </a:custGeom>
          <a:solidFill>
            <a:schemeClr val="accent4">
              <a:lumMod val="40000"/>
              <a:lumOff val="60000"/>
              <a:alpha val="70000"/>
            </a:schemeClr>
          </a:solidFill>
          <a:ln w="12700" cap="sq">
            <a:solidFill>
              <a:schemeClr val="accent4">
                <a:lumMod val="7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43" name="Freeform 42">
            <a:extLst>
              <a:ext uri="{FF2B5EF4-FFF2-40B4-BE49-F238E27FC236}">
                <a16:creationId xmlns:a16="http://schemas.microsoft.com/office/drawing/2014/main" id="{6DC8F88A-D548-4341-98EB-09314ABBA5FB}"/>
              </a:ext>
            </a:extLst>
          </p:cNvPr>
          <p:cNvSpPr/>
          <p:nvPr/>
        </p:nvSpPr>
        <p:spPr>
          <a:xfrm>
            <a:off x="2889457" y="3009893"/>
            <a:ext cx="2642514" cy="379612"/>
          </a:xfrm>
          <a:custGeom>
            <a:avLst/>
            <a:gdLst>
              <a:gd name="connsiteX0" fmla="*/ 0 w 2047875"/>
              <a:gd name="connsiteY0" fmla="*/ 342900 h 342900"/>
              <a:gd name="connsiteX1" fmla="*/ 1666875 w 2047875"/>
              <a:gd name="connsiteY1" fmla="*/ 342900 h 342900"/>
              <a:gd name="connsiteX2" fmla="*/ 2047875 w 2047875"/>
              <a:gd name="connsiteY2" fmla="*/ 0 h 342900"/>
            </a:gdLst>
            <a:ahLst/>
            <a:cxnLst>
              <a:cxn ang="0">
                <a:pos x="connsiteX0" y="connsiteY0"/>
              </a:cxn>
              <a:cxn ang="0">
                <a:pos x="connsiteX1" y="connsiteY1"/>
              </a:cxn>
              <a:cxn ang="0">
                <a:pos x="connsiteX2" y="connsiteY2"/>
              </a:cxn>
            </a:cxnLst>
            <a:rect l="l" t="t" r="r" b="b"/>
            <a:pathLst>
              <a:path w="2047875" h="342900">
                <a:moveTo>
                  <a:pt x="0" y="342900"/>
                </a:moveTo>
                <a:lnTo>
                  <a:pt x="1666875" y="342900"/>
                </a:lnTo>
                <a:lnTo>
                  <a:pt x="2047875" y="0"/>
                </a:lnTo>
              </a:path>
            </a:pathLst>
          </a:custGeom>
          <a:noFill/>
          <a:ln w="25400" cap="rnd">
            <a:solidFill>
              <a:schemeClr val="accent4">
                <a:lumMod val="7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44" name="Oval 43">
            <a:extLst>
              <a:ext uri="{FF2B5EF4-FFF2-40B4-BE49-F238E27FC236}">
                <a16:creationId xmlns:a16="http://schemas.microsoft.com/office/drawing/2014/main" id="{9F8CFF26-B80A-FA44-AE37-D763D3105EF6}"/>
              </a:ext>
            </a:extLst>
          </p:cNvPr>
          <p:cNvSpPr/>
          <p:nvPr/>
        </p:nvSpPr>
        <p:spPr>
          <a:xfrm>
            <a:off x="3510201" y="2471435"/>
            <a:ext cx="1302277" cy="22997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nvGrpSpPr>
          <p:cNvPr id="45" name="Group 44">
            <a:extLst>
              <a:ext uri="{FF2B5EF4-FFF2-40B4-BE49-F238E27FC236}">
                <a16:creationId xmlns:a16="http://schemas.microsoft.com/office/drawing/2014/main" id="{8A2DCC72-6157-6F49-899E-0AC9070DC85F}"/>
              </a:ext>
            </a:extLst>
          </p:cNvPr>
          <p:cNvGrpSpPr/>
          <p:nvPr/>
        </p:nvGrpSpPr>
        <p:grpSpPr>
          <a:xfrm>
            <a:off x="5573648" y="2801802"/>
            <a:ext cx="2656973" cy="1574468"/>
            <a:chOff x="7181826" y="1672730"/>
            <a:chExt cx="3208988" cy="1825467"/>
          </a:xfrm>
        </p:grpSpPr>
        <p:sp>
          <p:nvSpPr>
            <p:cNvPr id="46" name="Freeform 45">
              <a:extLst>
                <a:ext uri="{FF2B5EF4-FFF2-40B4-BE49-F238E27FC236}">
                  <a16:creationId xmlns:a16="http://schemas.microsoft.com/office/drawing/2014/main" id="{DEFA6989-CED2-DD48-8C99-6732A9F74F10}"/>
                </a:ext>
              </a:extLst>
            </p:cNvPr>
            <p:cNvSpPr/>
            <p:nvPr/>
          </p:nvSpPr>
          <p:spPr>
            <a:xfrm>
              <a:off x="7195729" y="1672730"/>
              <a:ext cx="3183778" cy="457150"/>
            </a:xfrm>
            <a:custGeom>
              <a:avLst/>
              <a:gdLst>
                <a:gd name="connsiteX0" fmla="*/ 0 w 2047364"/>
                <a:gd name="connsiteY0" fmla="*/ 356839 h 365760"/>
                <a:gd name="connsiteX1" fmla="*/ 347918 w 2047364"/>
                <a:gd name="connsiteY1" fmla="*/ 0 h 365760"/>
                <a:gd name="connsiteX2" fmla="*/ 2047364 w 2047364"/>
                <a:gd name="connsiteY2" fmla="*/ 8921 h 365760"/>
                <a:gd name="connsiteX3" fmla="*/ 1708366 w 2047364"/>
                <a:gd name="connsiteY3" fmla="*/ 365760 h 365760"/>
                <a:gd name="connsiteX4" fmla="*/ 0 w 2047364"/>
                <a:gd name="connsiteY4" fmla="*/ 356839 h 365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7364" h="365760">
                  <a:moveTo>
                    <a:pt x="0" y="356839"/>
                  </a:moveTo>
                  <a:lnTo>
                    <a:pt x="347918" y="0"/>
                  </a:lnTo>
                  <a:lnTo>
                    <a:pt x="2047364" y="8921"/>
                  </a:lnTo>
                  <a:lnTo>
                    <a:pt x="1708366" y="365760"/>
                  </a:lnTo>
                  <a:lnTo>
                    <a:pt x="0" y="356839"/>
                  </a:lnTo>
                  <a:close/>
                </a:path>
              </a:pathLst>
            </a:custGeom>
            <a:solidFill>
              <a:schemeClr val="accent4">
                <a:lumMod val="40000"/>
                <a:lumOff val="60000"/>
              </a:schemeClr>
            </a:solidFill>
            <a:ln w="12700" cap="rnd">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47" name="Freeform 46">
              <a:extLst>
                <a:ext uri="{FF2B5EF4-FFF2-40B4-BE49-F238E27FC236}">
                  <a16:creationId xmlns:a16="http://schemas.microsoft.com/office/drawing/2014/main" id="{20FE2D44-20CB-2844-9E9A-411E5B1AF5F8}"/>
                </a:ext>
              </a:extLst>
            </p:cNvPr>
            <p:cNvSpPr/>
            <p:nvPr/>
          </p:nvSpPr>
          <p:spPr>
            <a:xfrm>
              <a:off x="7181826" y="2124135"/>
              <a:ext cx="2634611" cy="1374062"/>
            </a:xfrm>
            <a:custGeom>
              <a:avLst/>
              <a:gdLst>
                <a:gd name="connsiteX0" fmla="*/ 0 w 1690525"/>
                <a:gd name="connsiteY0" fmla="*/ 0 h 1070517"/>
                <a:gd name="connsiteX1" fmla="*/ 0 w 1690525"/>
                <a:gd name="connsiteY1" fmla="*/ 1061596 h 1070517"/>
                <a:gd name="connsiteX2" fmla="*/ 1686065 w 1690525"/>
                <a:gd name="connsiteY2" fmla="*/ 1070517 h 1070517"/>
                <a:gd name="connsiteX3" fmla="*/ 1690525 w 1690525"/>
                <a:gd name="connsiteY3" fmla="*/ 13382 h 1070517"/>
                <a:gd name="connsiteX4" fmla="*/ 0 w 1690525"/>
                <a:gd name="connsiteY4" fmla="*/ 0 h 1070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0525" h="1070517">
                  <a:moveTo>
                    <a:pt x="0" y="0"/>
                  </a:moveTo>
                  <a:lnTo>
                    <a:pt x="0" y="1061596"/>
                  </a:lnTo>
                  <a:lnTo>
                    <a:pt x="1686065" y="1070517"/>
                  </a:lnTo>
                  <a:cubicBezTo>
                    <a:pt x="1687552" y="718139"/>
                    <a:pt x="1689038" y="365760"/>
                    <a:pt x="1690525" y="13382"/>
                  </a:cubicBezTo>
                  <a:lnTo>
                    <a:pt x="0" y="0"/>
                  </a:lnTo>
                  <a:close/>
                </a:path>
              </a:pathLst>
            </a:custGeom>
            <a:solidFill>
              <a:schemeClr val="accent4">
                <a:lumMod val="20000"/>
                <a:lumOff val="80000"/>
              </a:schemeClr>
            </a:solidFill>
            <a:ln w="12700" cap="rnd">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dirty="0"/>
            </a:p>
          </p:txBody>
        </p:sp>
        <p:sp>
          <p:nvSpPr>
            <p:cNvPr id="48" name="Freeform 47">
              <a:extLst>
                <a:ext uri="{FF2B5EF4-FFF2-40B4-BE49-F238E27FC236}">
                  <a16:creationId xmlns:a16="http://schemas.microsoft.com/office/drawing/2014/main" id="{F225330C-6CD5-6248-82A1-98319DB8AF04}"/>
                </a:ext>
              </a:extLst>
            </p:cNvPr>
            <p:cNvSpPr/>
            <p:nvPr/>
          </p:nvSpPr>
          <p:spPr>
            <a:xfrm>
              <a:off x="9816437" y="1686157"/>
              <a:ext cx="574377" cy="1799813"/>
            </a:xfrm>
            <a:custGeom>
              <a:avLst/>
              <a:gdLst>
                <a:gd name="connsiteX0" fmla="*/ 0 w 361300"/>
                <a:gd name="connsiteY0" fmla="*/ 356839 h 1422895"/>
                <a:gd name="connsiteX1" fmla="*/ 347918 w 361300"/>
                <a:gd name="connsiteY1" fmla="*/ 0 h 1422895"/>
                <a:gd name="connsiteX2" fmla="*/ 361300 w 361300"/>
                <a:gd name="connsiteY2" fmla="*/ 1074977 h 1422895"/>
                <a:gd name="connsiteX3" fmla="*/ 0 w 361300"/>
                <a:gd name="connsiteY3" fmla="*/ 1422895 h 1422895"/>
                <a:gd name="connsiteX4" fmla="*/ 0 w 361300"/>
                <a:gd name="connsiteY4" fmla="*/ 356839 h 1422895"/>
                <a:gd name="connsiteX0" fmla="*/ 0 w 361300"/>
                <a:gd name="connsiteY0" fmla="*/ 356839 h 1441954"/>
                <a:gd name="connsiteX1" fmla="*/ 347918 w 361300"/>
                <a:gd name="connsiteY1" fmla="*/ 0 h 1441954"/>
                <a:gd name="connsiteX2" fmla="*/ 361300 w 361300"/>
                <a:gd name="connsiteY2" fmla="*/ 1074977 h 1441954"/>
                <a:gd name="connsiteX3" fmla="*/ 0 w 361300"/>
                <a:gd name="connsiteY3" fmla="*/ 1441954 h 1441954"/>
                <a:gd name="connsiteX4" fmla="*/ 0 w 361300"/>
                <a:gd name="connsiteY4" fmla="*/ 356839 h 1441954"/>
                <a:gd name="connsiteX0" fmla="*/ 0 w 361300"/>
                <a:gd name="connsiteY0" fmla="*/ 356839 h 1429248"/>
                <a:gd name="connsiteX1" fmla="*/ 347918 w 361300"/>
                <a:gd name="connsiteY1" fmla="*/ 0 h 1429248"/>
                <a:gd name="connsiteX2" fmla="*/ 361300 w 361300"/>
                <a:gd name="connsiteY2" fmla="*/ 1074977 h 1429248"/>
                <a:gd name="connsiteX3" fmla="*/ 3175 w 361300"/>
                <a:gd name="connsiteY3" fmla="*/ 1429248 h 1429248"/>
                <a:gd name="connsiteX4" fmla="*/ 0 w 361300"/>
                <a:gd name="connsiteY4" fmla="*/ 356839 h 1429248"/>
                <a:gd name="connsiteX0" fmla="*/ 0 w 363793"/>
                <a:gd name="connsiteY0" fmla="*/ 337780 h 1410189"/>
                <a:gd name="connsiteX1" fmla="*/ 363793 w 363793"/>
                <a:gd name="connsiteY1" fmla="*/ 0 h 1410189"/>
                <a:gd name="connsiteX2" fmla="*/ 361300 w 363793"/>
                <a:gd name="connsiteY2" fmla="*/ 1055918 h 1410189"/>
                <a:gd name="connsiteX3" fmla="*/ 3175 w 363793"/>
                <a:gd name="connsiteY3" fmla="*/ 1410189 h 1410189"/>
                <a:gd name="connsiteX4" fmla="*/ 0 w 363793"/>
                <a:gd name="connsiteY4" fmla="*/ 337780 h 1410189"/>
                <a:gd name="connsiteX0" fmla="*/ 0 w 368555"/>
                <a:gd name="connsiteY0" fmla="*/ 362141 h 1434550"/>
                <a:gd name="connsiteX1" fmla="*/ 368555 w 368555"/>
                <a:gd name="connsiteY1" fmla="*/ 0 h 1434550"/>
                <a:gd name="connsiteX2" fmla="*/ 361300 w 368555"/>
                <a:gd name="connsiteY2" fmla="*/ 1080279 h 1434550"/>
                <a:gd name="connsiteX3" fmla="*/ 3175 w 368555"/>
                <a:gd name="connsiteY3" fmla="*/ 1434550 h 1434550"/>
                <a:gd name="connsiteX4" fmla="*/ 0 w 368555"/>
                <a:gd name="connsiteY4" fmla="*/ 362141 h 143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55" h="1434550">
                  <a:moveTo>
                    <a:pt x="0" y="362141"/>
                  </a:moveTo>
                  <a:lnTo>
                    <a:pt x="368555" y="0"/>
                  </a:lnTo>
                  <a:cubicBezTo>
                    <a:pt x="366137" y="360093"/>
                    <a:pt x="363718" y="720186"/>
                    <a:pt x="361300" y="1080279"/>
                  </a:cubicBezTo>
                  <a:lnTo>
                    <a:pt x="3175" y="1434550"/>
                  </a:lnTo>
                  <a:cubicBezTo>
                    <a:pt x="2117" y="1077080"/>
                    <a:pt x="1058" y="719611"/>
                    <a:pt x="0" y="362141"/>
                  </a:cubicBezTo>
                  <a:close/>
                </a:path>
              </a:pathLst>
            </a:custGeom>
            <a:solidFill>
              <a:schemeClr val="accent4">
                <a:lumMod val="40000"/>
                <a:lumOff val="60000"/>
                <a:alpha val="70000"/>
              </a:schemeClr>
            </a:solidFill>
            <a:ln w="12700" cap="sq">
              <a:solidFill>
                <a:schemeClr val="accent4">
                  <a:lumMod val="7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49" name="Freeform 48">
              <a:extLst>
                <a:ext uri="{FF2B5EF4-FFF2-40B4-BE49-F238E27FC236}">
                  <a16:creationId xmlns:a16="http://schemas.microsoft.com/office/drawing/2014/main" id="{723727B2-A598-B242-A29E-2440B79DCFBB}"/>
                </a:ext>
              </a:extLst>
            </p:cNvPr>
            <p:cNvSpPr/>
            <p:nvPr/>
          </p:nvSpPr>
          <p:spPr>
            <a:xfrm>
              <a:off x="7193452" y="2401470"/>
              <a:ext cx="3191525" cy="440129"/>
            </a:xfrm>
            <a:custGeom>
              <a:avLst/>
              <a:gdLst>
                <a:gd name="connsiteX0" fmla="*/ 0 w 2047875"/>
                <a:gd name="connsiteY0" fmla="*/ 342900 h 342900"/>
                <a:gd name="connsiteX1" fmla="*/ 1666875 w 2047875"/>
                <a:gd name="connsiteY1" fmla="*/ 342900 h 342900"/>
                <a:gd name="connsiteX2" fmla="*/ 2047875 w 2047875"/>
                <a:gd name="connsiteY2" fmla="*/ 0 h 342900"/>
              </a:gdLst>
              <a:ahLst/>
              <a:cxnLst>
                <a:cxn ang="0">
                  <a:pos x="connsiteX0" y="connsiteY0"/>
                </a:cxn>
                <a:cxn ang="0">
                  <a:pos x="connsiteX1" y="connsiteY1"/>
                </a:cxn>
                <a:cxn ang="0">
                  <a:pos x="connsiteX2" y="connsiteY2"/>
                </a:cxn>
              </a:cxnLst>
              <a:rect l="l" t="t" r="r" b="b"/>
              <a:pathLst>
                <a:path w="2047875" h="342900">
                  <a:moveTo>
                    <a:pt x="0" y="342900"/>
                  </a:moveTo>
                  <a:lnTo>
                    <a:pt x="1666875" y="342900"/>
                  </a:lnTo>
                  <a:lnTo>
                    <a:pt x="2047875" y="0"/>
                  </a:lnTo>
                </a:path>
              </a:pathLst>
            </a:custGeom>
            <a:noFill/>
            <a:ln w="25400" cap="rnd">
              <a:solidFill>
                <a:schemeClr val="accent4">
                  <a:lumMod val="7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50" name="Oval 49">
              <a:extLst>
                <a:ext uri="{FF2B5EF4-FFF2-40B4-BE49-F238E27FC236}">
                  <a16:creationId xmlns:a16="http://schemas.microsoft.com/office/drawing/2014/main" id="{49F4A68A-F6C7-D942-88C6-CC2DF4DD4BFE}"/>
                </a:ext>
              </a:extLst>
            </p:cNvPr>
            <p:cNvSpPr/>
            <p:nvPr/>
          </p:nvSpPr>
          <p:spPr>
            <a:xfrm>
              <a:off x="7943162" y="1777172"/>
              <a:ext cx="1572840" cy="26664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grpSp>
        <p:nvGrpSpPr>
          <p:cNvPr id="52" name="Group 51">
            <a:extLst>
              <a:ext uri="{FF2B5EF4-FFF2-40B4-BE49-F238E27FC236}">
                <a16:creationId xmlns:a16="http://schemas.microsoft.com/office/drawing/2014/main" id="{0BF91DCB-52A8-3F4C-9376-F865A5F0C895}"/>
              </a:ext>
            </a:extLst>
          </p:cNvPr>
          <p:cNvGrpSpPr/>
          <p:nvPr/>
        </p:nvGrpSpPr>
        <p:grpSpPr>
          <a:xfrm>
            <a:off x="8256757" y="3256791"/>
            <a:ext cx="2656973" cy="1574468"/>
            <a:chOff x="7181826" y="1672730"/>
            <a:chExt cx="3208988" cy="1825467"/>
          </a:xfrm>
        </p:grpSpPr>
        <p:sp>
          <p:nvSpPr>
            <p:cNvPr id="53" name="Freeform 52">
              <a:extLst>
                <a:ext uri="{FF2B5EF4-FFF2-40B4-BE49-F238E27FC236}">
                  <a16:creationId xmlns:a16="http://schemas.microsoft.com/office/drawing/2014/main" id="{30C18596-7D05-8D45-AADE-AE695AC7F76A}"/>
                </a:ext>
              </a:extLst>
            </p:cNvPr>
            <p:cNvSpPr/>
            <p:nvPr/>
          </p:nvSpPr>
          <p:spPr>
            <a:xfrm>
              <a:off x="7195729" y="1672730"/>
              <a:ext cx="3183778" cy="457150"/>
            </a:xfrm>
            <a:custGeom>
              <a:avLst/>
              <a:gdLst>
                <a:gd name="connsiteX0" fmla="*/ 0 w 2047364"/>
                <a:gd name="connsiteY0" fmla="*/ 356839 h 365760"/>
                <a:gd name="connsiteX1" fmla="*/ 347918 w 2047364"/>
                <a:gd name="connsiteY1" fmla="*/ 0 h 365760"/>
                <a:gd name="connsiteX2" fmla="*/ 2047364 w 2047364"/>
                <a:gd name="connsiteY2" fmla="*/ 8921 h 365760"/>
                <a:gd name="connsiteX3" fmla="*/ 1708366 w 2047364"/>
                <a:gd name="connsiteY3" fmla="*/ 365760 h 365760"/>
                <a:gd name="connsiteX4" fmla="*/ 0 w 2047364"/>
                <a:gd name="connsiteY4" fmla="*/ 356839 h 365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7364" h="365760">
                  <a:moveTo>
                    <a:pt x="0" y="356839"/>
                  </a:moveTo>
                  <a:lnTo>
                    <a:pt x="347918" y="0"/>
                  </a:lnTo>
                  <a:lnTo>
                    <a:pt x="2047364" y="8921"/>
                  </a:lnTo>
                  <a:lnTo>
                    <a:pt x="1708366" y="365760"/>
                  </a:lnTo>
                  <a:lnTo>
                    <a:pt x="0" y="356839"/>
                  </a:lnTo>
                  <a:close/>
                </a:path>
              </a:pathLst>
            </a:custGeom>
            <a:solidFill>
              <a:schemeClr val="accent4">
                <a:lumMod val="40000"/>
                <a:lumOff val="60000"/>
              </a:schemeClr>
            </a:solidFill>
            <a:ln w="12700" cap="rnd">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54" name="Freeform 53">
              <a:extLst>
                <a:ext uri="{FF2B5EF4-FFF2-40B4-BE49-F238E27FC236}">
                  <a16:creationId xmlns:a16="http://schemas.microsoft.com/office/drawing/2014/main" id="{F28E76D4-5AB9-C44A-AFD5-060B11E86DFE}"/>
                </a:ext>
              </a:extLst>
            </p:cNvPr>
            <p:cNvSpPr/>
            <p:nvPr/>
          </p:nvSpPr>
          <p:spPr>
            <a:xfrm>
              <a:off x="7181826" y="2124135"/>
              <a:ext cx="2634611" cy="1374062"/>
            </a:xfrm>
            <a:custGeom>
              <a:avLst/>
              <a:gdLst>
                <a:gd name="connsiteX0" fmla="*/ 0 w 1690525"/>
                <a:gd name="connsiteY0" fmla="*/ 0 h 1070517"/>
                <a:gd name="connsiteX1" fmla="*/ 0 w 1690525"/>
                <a:gd name="connsiteY1" fmla="*/ 1061596 h 1070517"/>
                <a:gd name="connsiteX2" fmla="*/ 1686065 w 1690525"/>
                <a:gd name="connsiteY2" fmla="*/ 1070517 h 1070517"/>
                <a:gd name="connsiteX3" fmla="*/ 1690525 w 1690525"/>
                <a:gd name="connsiteY3" fmla="*/ 13382 h 1070517"/>
                <a:gd name="connsiteX4" fmla="*/ 0 w 1690525"/>
                <a:gd name="connsiteY4" fmla="*/ 0 h 1070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0525" h="1070517">
                  <a:moveTo>
                    <a:pt x="0" y="0"/>
                  </a:moveTo>
                  <a:lnTo>
                    <a:pt x="0" y="1061596"/>
                  </a:lnTo>
                  <a:lnTo>
                    <a:pt x="1686065" y="1070517"/>
                  </a:lnTo>
                  <a:cubicBezTo>
                    <a:pt x="1687552" y="718139"/>
                    <a:pt x="1689038" y="365760"/>
                    <a:pt x="1690525" y="13382"/>
                  </a:cubicBezTo>
                  <a:lnTo>
                    <a:pt x="0" y="0"/>
                  </a:lnTo>
                  <a:close/>
                </a:path>
              </a:pathLst>
            </a:custGeom>
            <a:solidFill>
              <a:schemeClr val="accent4">
                <a:lumMod val="20000"/>
                <a:lumOff val="80000"/>
              </a:schemeClr>
            </a:solidFill>
            <a:ln w="12700" cap="rnd">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dirty="0"/>
            </a:p>
          </p:txBody>
        </p:sp>
        <p:sp>
          <p:nvSpPr>
            <p:cNvPr id="55" name="Freeform 54">
              <a:extLst>
                <a:ext uri="{FF2B5EF4-FFF2-40B4-BE49-F238E27FC236}">
                  <a16:creationId xmlns:a16="http://schemas.microsoft.com/office/drawing/2014/main" id="{3CFA3C7D-967F-4B45-9A41-3DBFC1F7D513}"/>
                </a:ext>
              </a:extLst>
            </p:cNvPr>
            <p:cNvSpPr/>
            <p:nvPr/>
          </p:nvSpPr>
          <p:spPr>
            <a:xfrm>
              <a:off x="9816437" y="1686157"/>
              <a:ext cx="574377" cy="1799813"/>
            </a:xfrm>
            <a:custGeom>
              <a:avLst/>
              <a:gdLst>
                <a:gd name="connsiteX0" fmla="*/ 0 w 361300"/>
                <a:gd name="connsiteY0" fmla="*/ 356839 h 1422895"/>
                <a:gd name="connsiteX1" fmla="*/ 347918 w 361300"/>
                <a:gd name="connsiteY1" fmla="*/ 0 h 1422895"/>
                <a:gd name="connsiteX2" fmla="*/ 361300 w 361300"/>
                <a:gd name="connsiteY2" fmla="*/ 1074977 h 1422895"/>
                <a:gd name="connsiteX3" fmla="*/ 0 w 361300"/>
                <a:gd name="connsiteY3" fmla="*/ 1422895 h 1422895"/>
                <a:gd name="connsiteX4" fmla="*/ 0 w 361300"/>
                <a:gd name="connsiteY4" fmla="*/ 356839 h 1422895"/>
                <a:gd name="connsiteX0" fmla="*/ 0 w 361300"/>
                <a:gd name="connsiteY0" fmla="*/ 356839 h 1441954"/>
                <a:gd name="connsiteX1" fmla="*/ 347918 w 361300"/>
                <a:gd name="connsiteY1" fmla="*/ 0 h 1441954"/>
                <a:gd name="connsiteX2" fmla="*/ 361300 w 361300"/>
                <a:gd name="connsiteY2" fmla="*/ 1074977 h 1441954"/>
                <a:gd name="connsiteX3" fmla="*/ 0 w 361300"/>
                <a:gd name="connsiteY3" fmla="*/ 1441954 h 1441954"/>
                <a:gd name="connsiteX4" fmla="*/ 0 w 361300"/>
                <a:gd name="connsiteY4" fmla="*/ 356839 h 1441954"/>
                <a:gd name="connsiteX0" fmla="*/ 0 w 361300"/>
                <a:gd name="connsiteY0" fmla="*/ 356839 h 1429248"/>
                <a:gd name="connsiteX1" fmla="*/ 347918 w 361300"/>
                <a:gd name="connsiteY1" fmla="*/ 0 h 1429248"/>
                <a:gd name="connsiteX2" fmla="*/ 361300 w 361300"/>
                <a:gd name="connsiteY2" fmla="*/ 1074977 h 1429248"/>
                <a:gd name="connsiteX3" fmla="*/ 3175 w 361300"/>
                <a:gd name="connsiteY3" fmla="*/ 1429248 h 1429248"/>
                <a:gd name="connsiteX4" fmla="*/ 0 w 361300"/>
                <a:gd name="connsiteY4" fmla="*/ 356839 h 1429248"/>
                <a:gd name="connsiteX0" fmla="*/ 0 w 363793"/>
                <a:gd name="connsiteY0" fmla="*/ 337780 h 1410189"/>
                <a:gd name="connsiteX1" fmla="*/ 363793 w 363793"/>
                <a:gd name="connsiteY1" fmla="*/ 0 h 1410189"/>
                <a:gd name="connsiteX2" fmla="*/ 361300 w 363793"/>
                <a:gd name="connsiteY2" fmla="*/ 1055918 h 1410189"/>
                <a:gd name="connsiteX3" fmla="*/ 3175 w 363793"/>
                <a:gd name="connsiteY3" fmla="*/ 1410189 h 1410189"/>
                <a:gd name="connsiteX4" fmla="*/ 0 w 363793"/>
                <a:gd name="connsiteY4" fmla="*/ 337780 h 1410189"/>
                <a:gd name="connsiteX0" fmla="*/ 0 w 368555"/>
                <a:gd name="connsiteY0" fmla="*/ 362141 h 1434550"/>
                <a:gd name="connsiteX1" fmla="*/ 368555 w 368555"/>
                <a:gd name="connsiteY1" fmla="*/ 0 h 1434550"/>
                <a:gd name="connsiteX2" fmla="*/ 361300 w 368555"/>
                <a:gd name="connsiteY2" fmla="*/ 1080279 h 1434550"/>
                <a:gd name="connsiteX3" fmla="*/ 3175 w 368555"/>
                <a:gd name="connsiteY3" fmla="*/ 1434550 h 1434550"/>
                <a:gd name="connsiteX4" fmla="*/ 0 w 368555"/>
                <a:gd name="connsiteY4" fmla="*/ 362141 h 143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55" h="1434550">
                  <a:moveTo>
                    <a:pt x="0" y="362141"/>
                  </a:moveTo>
                  <a:lnTo>
                    <a:pt x="368555" y="0"/>
                  </a:lnTo>
                  <a:cubicBezTo>
                    <a:pt x="366137" y="360093"/>
                    <a:pt x="363718" y="720186"/>
                    <a:pt x="361300" y="1080279"/>
                  </a:cubicBezTo>
                  <a:lnTo>
                    <a:pt x="3175" y="1434550"/>
                  </a:lnTo>
                  <a:cubicBezTo>
                    <a:pt x="2117" y="1077080"/>
                    <a:pt x="1058" y="719611"/>
                    <a:pt x="0" y="362141"/>
                  </a:cubicBezTo>
                  <a:close/>
                </a:path>
              </a:pathLst>
            </a:custGeom>
            <a:solidFill>
              <a:schemeClr val="accent4">
                <a:lumMod val="40000"/>
                <a:lumOff val="60000"/>
                <a:alpha val="70000"/>
              </a:schemeClr>
            </a:solidFill>
            <a:ln w="12700" cap="sq">
              <a:solidFill>
                <a:schemeClr val="accent4">
                  <a:lumMod val="7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56" name="Freeform 55">
              <a:extLst>
                <a:ext uri="{FF2B5EF4-FFF2-40B4-BE49-F238E27FC236}">
                  <a16:creationId xmlns:a16="http://schemas.microsoft.com/office/drawing/2014/main" id="{061DC8A9-CB93-E049-A450-3E9D641B2E45}"/>
                </a:ext>
              </a:extLst>
            </p:cNvPr>
            <p:cNvSpPr/>
            <p:nvPr/>
          </p:nvSpPr>
          <p:spPr>
            <a:xfrm>
              <a:off x="7193452" y="2401470"/>
              <a:ext cx="3191525" cy="440129"/>
            </a:xfrm>
            <a:custGeom>
              <a:avLst/>
              <a:gdLst>
                <a:gd name="connsiteX0" fmla="*/ 0 w 2047875"/>
                <a:gd name="connsiteY0" fmla="*/ 342900 h 342900"/>
                <a:gd name="connsiteX1" fmla="*/ 1666875 w 2047875"/>
                <a:gd name="connsiteY1" fmla="*/ 342900 h 342900"/>
                <a:gd name="connsiteX2" fmla="*/ 2047875 w 2047875"/>
                <a:gd name="connsiteY2" fmla="*/ 0 h 342900"/>
              </a:gdLst>
              <a:ahLst/>
              <a:cxnLst>
                <a:cxn ang="0">
                  <a:pos x="connsiteX0" y="connsiteY0"/>
                </a:cxn>
                <a:cxn ang="0">
                  <a:pos x="connsiteX1" y="connsiteY1"/>
                </a:cxn>
                <a:cxn ang="0">
                  <a:pos x="connsiteX2" y="connsiteY2"/>
                </a:cxn>
              </a:cxnLst>
              <a:rect l="l" t="t" r="r" b="b"/>
              <a:pathLst>
                <a:path w="2047875" h="342900">
                  <a:moveTo>
                    <a:pt x="0" y="342900"/>
                  </a:moveTo>
                  <a:lnTo>
                    <a:pt x="1666875" y="342900"/>
                  </a:lnTo>
                  <a:lnTo>
                    <a:pt x="2047875" y="0"/>
                  </a:lnTo>
                </a:path>
              </a:pathLst>
            </a:custGeom>
            <a:noFill/>
            <a:ln w="25400" cap="rnd">
              <a:solidFill>
                <a:schemeClr val="accent4">
                  <a:lumMod val="7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57" name="Oval 56">
              <a:extLst>
                <a:ext uri="{FF2B5EF4-FFF2-40B4-BE49-F238E27FC236}">
                  <a16:creationId xmlns:a16="http://schemas.microsoft.com/office/drawing/2014/main" id="{4068B7BC-C234-A04E-B8DA-B2C7028BE79A}"/>
                </a:ext>
              </a:extLst>
            </p:cNvPr>
            <p:cNvSpPr/>
            <p:nvPr/>
          </p:nvSpPr>
          <p:spPr>
            <a:xfrm>
              <a:off x="7943162" y="1777172"/>
              <a:ext cx="1572840" cy="26664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grpSp>
        <p:nvGrpSpPr>
          <p:cNvPr id="62" name="Group 61">
            <a:extLst>
              <a:ext uri="{FF2B5EF4-FFF2-40B4-BE49-F238E27FC236}">
                <a16:creationId xmlns:a16="http://schemas.microsoft.com/office/drawing/2014/main" id="{566F8455-9F6E-B84E-A3CC-429B435E5B78}"/>
              </a:ext>
            </a:extLst>
          </p:cNvPr>
          <p:cNvGrpSpPr/>
          <p:nvPr/>
        </p:nvGrpSpPr>
        <p:grpSpPr>
          <a:xfrm rot="781828">
            <a:off x="3430837" y="886741"/>
            <a:ext cx="913851" cy="371373"/>
            <a:chOff x="3970929" y="3144338"/>
            <a:chExt cx="984889" cy="400241"/>
          </a:xfrm>
        </p:grpSpPr>
        <p:grpSp>
          <p:nvGrpSpPr>
            <p:cNvPr id="13" name="Group 12">
              <a:extLst>
                <a:ext uri="{FF2B5EF4-FFF2-40B4-BE49-F238E27FC236}">
                  <a16:creationId xmlns:a16="http://schemas.microsoft.com/office/drawing/2014/main" id="{3E06CE44-EEC6-B44C-9EB6-EB8CF19BDC77}"/>
                </a:ext>
              </a:extLst>
            </p:cNvPr>
            <p:cNvGrpSpPr/>
            <p:nvPr/>
          </p:nvGrpSpPr>
          <p:grpSpPr>
            <a:xfrm>
              <a:off x="3970929" y="3144338"/>
              <a:ext cx="380882" cy="400241"/>
              <a:chOff x="7375358" y="2779295"/>
              <a:chExt cx="540000" cy="540000"/>
            </a:xfrm>
          </p:grpSpPr>
          <p:sp>
            <p:nvSpPr>
              <p:cNvPr id="10" name="Oval 9">
                <a:extLst>
                  <a:ext uri="{FF2B5EF4-FFF2-40B4-BE49-F238E27FC236}">
                    <a16:creationId xmlns:a16="http://schemas.microsoft.com/office/drawing/2014/main" id="{24CF9A76-2053-664F-9B9B-DDA8E6BA11E3}"/>
                  </a:ext>
                </a:extLst>
              </p:cNvPr>
              <p:cNvSpPr/>
              <p:nvPr/>
            </p:nvSpPr>
            <p:spPr>
              <a:xfrm>
                <a:off x="7375358" y="2779295"/>
                <a:ext cx="540000" cy="5400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11" name="Oval 10">
                <a:extLst>
                  <a:ext uri="{FF2B5EF4-FFF2-40B4-BE49-F238E27FC236}">
                    <a16:creationId xmlns:a16="http://schemas.microsoft.com/office/drawing/2014/main" id="{A849A65B-E05D-1D41-A4CC-3272351E8A5C}"/>
                  </a:ext>
                </a:extLst>
              </p:cNvPr>
              <p:cNvSpPr/>
              <p:nvPr/>
            </p:nvSpPr>
            <p:spPr>
              <a:xfrm>
                <a:off x="7568776" y="2894549"/>
                <a:ext cx="251999" cy="25199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12" name="Oval 11">
                <a:extLst>
                  <a:ext uri="{FF2B5EF4-FFF2-40B4-BE49-F238E27FC236}">
                    <a16:creationId xmlns:a16="http://schemas.microsoft.com/office/drawing/2014/main" id="{EED9E978-60C5-1946-A783-E8AC0E850F00}"/>
                  </a:ext>
                </a:extLst>
              </p:cNvPr>
              <p:cNvSpPr/>
              <p:nvPr/>
            </p:nvSpPr>
            <p:spPr>
              <a:xfrm>
                <a:off x="7694775" y="2948548"/>
                <a:ext cx="72000" cy="7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grpSp>
          <p:nvGrpSpPr>
            <p:cNvPr id="14" name="Group 13">
              <a:extLst>
                <a:ext uri="{FF2B5EF4-FFF2-40B4-BE49-F238E27FC236}">
                  <a16:creationId xmlns:a16="http://schemas.microsoft.com/office/drawing/2014/main" id="{3C63A33C-6BA3-194F-8B3F-2766F079BEC4}"/>
                </a:ext>
              </a:extLst>
            </p:cNvPr>
            <p:cNvGrpSpPr/>
            <p:nvPr/>
          </p:nvGrpSpPr>
          <p:grpSpPr>
            <a:xfrm>
              <a:off x="4574936" y="3144338"/>
              <a:ext cx="380882" cy="400241"/>
              <a:chOff x="7375358" y="2779295"/>
              <a:chExt cx="540000" cy="540000"/>
            </a:xfrm>
          </p:grpSpPr>
          <p:sp>
            <p:nvSpPr>
              <p:cNvPr id="15" name="Oval 14">
                <a:extLst>
                  <a:ext uri="{FF2B5EF4-FFF2-40B4-BE49-F238E27FC236}">
                    <a16:creationId xmlns:a16="http://schemas.microsoft.com/office/drawing/2014/main" id="{C64EF36D-BFAB-3842-B678-82ECA344C8E9}"/>
                  </a:ext>
                </a:extLst>
              </p:cNvPr>
              <p:cNvSpPr/>
              <p:nvPr/>
            </p:nvSpPr>
            <p:spPr>
              <a:xfrm>
                <a:off x="7375358" y="2779295"/>
                <a:ext cx="540000" cy="5400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16" name="Oval 15">
                <a:extLst>
                  <a:ext uri="{FF2B5EF4-FFF2-40B4-BE49-F238E27FC236}">
                    <a16:creationId xmlns:a16="http://schemas.microsoft.com/office/drawing/2014/main" id="{5BF36877-4381-CC43-9102-F49A88B7E9A3}"/>
                  </a:ext>
                </a:extLst>
              </p:cNvPr>
              <p:cNvSpPr/>
              <p:nvPr/>
            </p:nvSpPr>
            <p:spPr>
              <a:xfrm>
                <a:off x="7568776" y="2894549"/>
                <a:ext cx="251999" cy="25199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17" name="Oval 16">
                <a:extLst>
                  <a:ext uri="{FF2B5EF4-FFF2-40B4-BE49-F238E27FC236}">
                    <a16:creationId xmlns:a16="http://schemas.microsoft.com/office/drawing/2014/main" id="{E2B1CB5E-04BE-3A46-AB72-6422E62847AE}"/>
                  </a:ext>
                </a:extLst>
              </p:cNvPr>
              <p:cNvSpPr/>
              <p:nvPr/>
            </p:nvSpPr>
            <p:spPr>
              <a:xfrm>
                <a:off x="7694775" y="2948548"/>
                <a:ext cx="72000" cy="7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grpSp>
      <p:pic>
        <p:nvPicPr>
          <p:cNvPr id="60" name="Picture 59">
            <a:extLst>
              <a:ext uri="{FF2B5EF4-FFF2-40B4-BE49-F238E27FC236}">
                <a16:creationId xmlns:a16="http://schemas.microsoft.com/office/drawing/2014/main" id="{7C7DC7B8-69A2-2A4A-9B0C-920E30440A87}"/>
              </a:ext>
            </a:extLst>
          </p:cNvPr>
          <p:cNvPicPr>
            <a:picLocks noChangeAspect="1"/>
          </p:cNvPicPr>
          <p:nvPr/>
        </p:nvPicPr>
        <p:blipFill>
          <a:blip r:embed="rId8"/>
          <a:stretch>
            <a:fillRect/>
          </a:stretch>
        </p:blipFill>
        <p:spPr>
          <a:xfrm rot="2065660" flipH="1">
            <a:off x="2779095" y="1369491"/>
            <a:ext cx="518495" cy="1048774"/>
          </a:xfrm>
          <a:prstGeom prst="rect">
            <a:avLst/>
          </a:prstGeom>
        </p:spPr>
      </p:pic>
      <p:sp>
        <p:nvSpPr>
          <p:cNvPr id="61" name="Freeform 60">
            <a:extLst>
              <a:ext uri="{FF2B5EF4-FFF2-40B4-BE49-F238E27FC236}">
                <a16:creationId xmlns:a16="http://schemas.microsoft.com/office/drawing/2014/main" id="{8AC3F416-44E0-0141-9E88-0DF5491FA226}"/>
              </a:ext>
            </a:extLst>
          </p:cNvPr>
          <p:cNvSpPr/>
          <p:nvPr/>
        </p:nvSpPr>
        <p:spPr>
          <a:xfrm>
            <a:off x="4011735" y="1772004"/>
            <a:ext cx="251625" cy="888218"/>
          </a:xfrm>
          <a:custGeom>
            <a:avLst/>
            <a:gdLst>
              <a:gd name="connsiteX0" fmla="*/ 0 w 271185"/>
              <a:gd name="connsiteY0" fmla="*/ 0 h 957263"/>
              <a:gd name="connsiteX1" fmla="*/ 257175 w 271185"/>
              <a:gd name="connsiteY1" fmla="*/ 385763 h 957263"/>
              <a:gd name="connsiteX2" fmla="*/ 214312 w 271185"/>
              <a:gd name="connsiteY2" fmla="*/ 957263 h 957263"/>
            </a:gdLst>
            <a:ahLst/>
            <a:cxnLst>
              <a:cxn ang="0">
                <a:pos x="connsiteX0" y="connsiteY0"/>
              </a:cxn>
              <a:cxn ang="0">
                <a:pos x="connsiteX1" y="connsiteY1"/>
              </a:cxn>
              <a:cxn ang="0">
                <a:pos x="connsiteX2" y="connsiteY2"/>
              </a:cxn>
            </a:cxnLst>
            <a:rect l="l" t="t" r="r" b="b"/>
            <a:pathLst>
              <a:path w="271185" h="957263">
                <a:moveTo>
                  <a:pt x="0" y="0"/>
                </a:moveTo>
                <a:cubicBezTo>
                  <a:pt x="110728" y="113109"/>
                  <a:pt x="221456" y="226219"/>
                  <a:pt x="257175" y="385763"/>
                </a:cubicBezTo>
                <a:cubicBezTo>
                  <a:pt x="292894" y="545307"/>
                  <a:pt x="253603" y="751285"/>
                  <a:pt x="214312" y="957263"/>
                </a:cubicBezTo>
              </a:path>
            </a:pathLst>
          </a:custGeom>
          <a:noFill/>
          <a:ln w="1270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70" name="Freeform 69">
            <a:extLst>
              <a:ext uri="{FF2B5EF4-FFF2-40B4-BE49-F238E27FC236}">
                <a16:creationId xmlns:a16="http://schemas.microsoft.com/office/drawing/2014/main" id="{0D73A3F4-DB39-C34F-8FB6-949EC22D57FE}"/>
              </a:ext>
            </a:extLst>
          </p:cNvPr>
          <p:cNvSpPr/>
          <p:nvPr/>
        </p:nvSpPr>
        <p:spPr>
          <a:xfrm>
            <a:off x="9394441" y="2679036"/>
            <a:ext cx="251625" cy="888218"/>
          </a:xfrm>
          <a:custGeom>
            <a:avLst/>
            <a:gdLst>
              <a:gd name="connsiteX0" fmla="*/ 0 w 271185"/>
              <a:gd name="connsiteY0" fmla="*/ 0 h 957263"/>
              <a:gd name="connsiteX1" fmla="*/ 257175 w 271185"/>
              <a:gd name="connsiteY1" fmla="*/ 385763 h 957263"/>
              <a:gd name="connsiteX2" fmla="*/ 214312 w 271185"/>
              <a:gd name="connsiteY2" fmla="*/ 957263 h 957263"/>
            </a:gdLst>
            <a:ahLst/>
            <a:cxnLst>
              <a:cxn ang="0">
                <a:pos x="connsiteX0" y="connsiteY0"/>
              </a:cxn>
              <a:cxn ang="0">
                <a:pos x="connsiteX1" y="connsiteY1"/>
              </a:cxn>
              <a:cxn ang="0">
                <a:pos x="connsiteX2" y="connsiteY2"/>
              </a:cxn>
            </a:cxnLst>
            <a:rect l="l" t="t" r="r" b="b"/>
            <a:pathLst>
              <a:path w="271185" h="957263">
                <a:moveTo>
                  <a:pt x="0" y="0"/>
                </a:moveTo>
                <a:cubicBezTo>
                  <a:pt x="110728" y="113109"/>
                  <a:pt x="221456" y="226219"/>
                  <a:pt x="257175" y="385763"/>
                </a:cubicBezTo>
                <a:cubicBezTo>
                  <a:pt x="292894" y="545307"/>
                  <a:pt x="253603" y="751285"/>
                  <a:pt x="214312" y="957263"/>
                </a:cubicBezTo>
              </a:path>
            </a:pathLst>
          </a:custGeom>
          <a:noFill/>
          <a:ln w="1270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79" name="Oval 78">
            <a:extLst>
              <a:ext uri="{FF2B5EF4-FFF2-40B4-BE49-F238E27FC236}">
                <a16:creationId xmlns:a16="http://schemas.microsoft.com/office/drawing/2014/main" id="{0597278C-7926-5A45-B514-9EEF9BEAEE8C}"/>
              </a:ext>
            </a:extLst>
          </p:cNvPr>
          <p:cNvSpPr/>
          <p:nvPr/>
        </p:nvSpPr>
        <p:spPr>
          <a:xfrm rot="781828">
            <a:off x="9408929" y="1891346"/>
            <a:ext cx="353410" cy="37137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80" name="Oval 79">
            <a:extLst>
              <a:ext uri="{FF2B5EF4-FFF2-40B4-BE49-F238E27FC236}">
                <a16:creationId xmlns:a16="http://schemas.microsoft.com/office/drawing/2014/main" id="{52E76E7B-ADFA-7E41-91FB-2627C5A40295}"/>
              </a:ext>
            </a:extLst>
          </p:cNvPr>
          <p:cNvSpPr/>
          <p:nvPr/>
        </p:nvSpPr>
        <p:spPr>
          <a:xfrm rot="781828">
            <a:off x="9479975" y="1950087"/>
            <a:ext cx="164924" cy="17330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81" name="Oval 80">
            <a:extLst>
              <a:ext uri="{FF2B5EF4-FFF2-40B4-BE49-F238E27FC236}">
                <a16:creationId xmlns:a16="http://schemas.microsoft.com/office/drawing/2014/main" id="{A33006C5-069F-A443-9049-0B6F2AF9125F}"/>
              </a:ext>
            </a:extLst>
          </p:cNvPr>
          <p:cNvSpPr/>
          <p:nvPr/>
        </p:nvSpPr>
        <p:spPr>
          <a:xfrm rot="781828">
            <a:off x="9525037" y="1978010"/>
            <a:ext cx="47121" cy="495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65" name="Freeform 64">
            <a:extLst>
              <a:ext uri="{FF2B5EF4-FFF2-40B4-BE49-F238E27FC236}">
                <a16:creationId xmlns:a16="http://schemas.microsoft.com/office/drawing/2014/main" id="{32FA688C-3268-4E4F-925C-A65950A18B80}"/>
              </a:ext>
            </a:extLst>
          </p:cNvPr>
          <p:cNvSpPr/>
          <p:nvPr/>
        </p:nvSpPr>
        <p:spPr>
          <a:xfrm>
            <a:off x="9693745" y="5372293"/>
            <a:ext cx="2201489" cy="576686"/>
          </a:xfrm>
          <a:custGeom>
            <a:avLst/>
            <a:gdLst>
              <a:gd name="connsiteX0" fmla="*/ 0 w 1676400"/>
              <a:gd name="connsiteY0" fmla="*/ 0 h 517525"/>
              <a:gd name="connsiteX1" fmla="*/ 1673225 w 1676400"/>
              <a:gd name="connsiteY1" fmla="*/ 15875 h 517525"/>
              <a:gd name="connsiteX2" fmla="*/ 1676400 w 1676400"/>
              <a:gd name="connsiteY2" fmla="*/ 517525 h 517525"/>
              <a:gd name="connsiteX3" fmla="*/ 6350 w 1676400"/>
              <a:gd name="connsiteY3" fmla="*/ 508000 h 517525"/>
              <a:gd name="connsiteX4" fmla="*/ 0 w 1676400"/>
              <a:gd name="connsiteY4" fmla="*/ 0 h 517525"/>
              <a:gd name="connsiteX0" fmla="*/ 0 w 1689154"/>
              <a:gd name="connsiteY0" fmla="*/ 0 h 517525"/>
              <a:gd name="connsiteX1" fmla="*/ 1689100 w 1689154"/>
              <a:gd name="connsiteY1" fmla="*/ 19050 h 517525"/>
              <a:gd name="connsiteX2" fmla="*/ 1676400 w 1689154"/>
              <a:gd name="connsiteY2" fmla="*/ 517525 h 517525"/>
              <a:gd name="connsiteX3" fmla="*/ 6350 w 1689154"/>
              <a:gd name="connsiteY3" fmla="*/ 508000 h 517525"/>
              <a:gd name="connsiteX4" fmla="*/ 0 w 1689154"/>
              <a:gd name="connsiteY4" fmla="*/ 0 h 51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9154" h="517525">
                <a:moveTo>
                  <a:pt x="0" y="0"/>
                </a:moveTo>
                <a:lnTo>
                  <a:pt x="1689100" y="19050"/>
                </a:lnTo>
                <a:cubicBezTo>
                  <a:pt x="1690158" y="186267"/>
                  <a:pt x="1675342" y="350308"/>
                  <a:pt x="1676400" y="517525"/>
                </a:cubicBezTo>
                <a:lnTo>
                  <a:pt x="6350" y="508000"/>
                </a:lnTo>
                <a:cubicBezTo>
                  <a:pt x="4233" y="338667"/>
                  <a:pt x="2117" y="169333"/>
                  <a:pt x="0" y="0"/>
                </a:cubicBezTo>
                <a:close/>
              </a:path>
            </a:pathLst>
          </a:custGeom>
          <a:solidFill>
            <a:schemeClr val="accent4">
              <a:lumMod val="60000"/>
              <a:lumOff val="40000"/>
            </a:schemeClr>
          </a:solidFill>
          <a:ln cap="rnd">
            <a:solidFill>
              <a:schemeClr val="accent4">
                <a:lumMod val="7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66" name="Freeform 65">
            <a:extLst>
              <a:ext uri="{FF2B5EF4-FFF2-40B4-BE49-F238E27FC236}">
                <a16:creationId xmlns:a16="http://schemas.microsoft.com/office/drawing/2014/main" id="{245D4A33-278B-3146-BFB3-2CDA6AD568B1}"/>
              </a:ext>
            </a:extLst>
          </p:cNvPr>
          <p:cNvSpPr/>
          <p:nvPr/>
        </p:nvSpPr>
        <p:spPr>
          <a:xfrm>
            <a:off x="9225371" y="5368222"/>
            <a:ext cx="476386" cy="938216"/>
          </a:xfrm>
          <a:custGeom>
            <a:avLst/>
            <a:gdLst>
              <a:gd name="connsiteX0" fmla="*/ 0 w 361300"/>
              <a:gd name="connsiteY0" fmla="*/ 356839 h 1422895"/>
              <a:gd name="connsiteX1" fmla="*/ 347918 w 361300"/>
              <a:gd name="connsiteY1" fmla="*/ 0 h 1422895"/>
              <a:gd name="connsiteX2" fmla="*/ 361300 w 361300"/>
              <a:gd name="connsiteY2" fmla="*/ 1074977 h 1422895"/>
              <a:gd name="connsiteX3" fmla="*/ 0 w 361300"/>
              <a:gd name="connsiteY3" fmla="*/ 1422895 h 1422895"/>
              <a:gd name="connsiteX4" fmla="*/ 0 w 361300"/>
              <a:gd name="connsiteY4" fmla="*/ 356839 h 1422895"/>
              <a:gd name="connsiteX0" fmla="*/ 0 w 361300"/>
              <a:gd name="connsiteY0" fmla="*/ 356839 h 1441954"/>
              <a:gd name="connsiteX1" fmla="*/ 347918 w 361300"/>
              <a:gd name="connsiteY1" fmla="*/ 0 h 1441954"/>
              <a:gd name="connsiteX2" fmla="*/ 361300 w 361300"/>
              <a:gd name="connsiteY2" fmla="*/ 1074977 h 1441954"/>
              <a:gd name="connsiteX3" fmla="*/ 0 w 361300"/>
              <a:gd name="connsiteY3" fmla="*/ 1441954 h 1441954"/>
              <a:gd name="connsiteX4" fmla="*/ 0 w 361300"/>
              <a:gd name="connsiteY4" fmla="*/ 356839 h 1441954"/>
              <a:gd name="connsiteX0" fmla="*/ 0 w 361300"/>
              <a:gd name="connsiteY0" fmla="*/ 356839 h 1429248"/>
              <a:gd name="connsiteX1" fmla="*/ 347918 w 361300"/>
              <a:gd name="connsiteY1" fmla="*/ 0 h 1429248"/>
              <a:gd name="connsiteX2" fmla="*/ 361300 w 361300"/>
              <a:gd name="connsiteY2" fmla="*/ 1074977 h 1429248"/>
              <a:gd name="connsiteX3" fmla="*/ 3175 w 361300"/>
              <a:gd name="connsiteY3" fmla="*/ 1429248 h 1429248"/>
              <a:gd name="connsiteX4" fmla="*/ 0 w 361300"/>
              <a:gd name="connsiteY4" fmla="*/ 356839 h 1429248"/>
              <a:gd name="connsiteX0" fmla="*/ 0 w 363793"/>
              <a:gd name="connsiteY0" fmla="*/ 337780 h 1410189"/>
              <a:gd name="connsiteX1" fmla="*/ 363793 w 363793"/>
              <a:gd name="connsiteY1" fmla="*/ 0 h 1410189"/>
              <a:gd name="connsiteX2" fmla="*/ 361300 w 363793"/>
              <a:gd name="connsiteY2" fmla="*/ 1055918 h 1410189"/>
              <a:gd name="connsiteX3" fmla="*/ 3175 w 363793"/>
              <a:gd name="connsiteY3" fmla="*/ 1410189 h 1410189"/>
              <a:gd name="connsiteX4" fmla="*/ 0 w 363793"/>
              <a:gd name="connsiteY4" fmla="*/ 337780 h 1410189"/>
              <a:gd name="connsiteX0" fmla="*/ 0 w 368555"/>
              <a:gd name="connsiteY0" fmla="*/ 362141 h 1434550"/>
              <a:gd name="connsiteX1" fmla="*/ 368555 w 368555"/>
              <a:gd name="connsiteY1" fmla="*/ 0 h 1434550"/>
              <a:gd name="connsiteX2" fmla="*/ 361300 w 368555"/>
              <a:gd name="connsiteY2" fmla="*/ 1080279 h 1434550"/>
              <a:gd name="connsiteX3" fmla="*/ 3175 w 368555"/>
              <a:gd name="connsiteY3" fmla="*/ 1434550 h 1434550"/>
              <a:gd name="connsiteX4" fmla="*/ 0 w 368555"/>
              <a:gd name="connsiteY4" fmla="*/ 362141 h 1434550"/>
              <a:gd name="connsiteX0" fmla="*/ 0 w 368555"/>
              <a:gd name="connsiteY0" fmla="*/ 0 h 1072409"/>
              <a:gd name="connsiteX1" fmla="*/ 368555 w 368555"/>
              <a:gd name="connsiteY1" fmla="*/ 203048 h 1072409"/>
              <a:gd name="connsiteX2" fmla="*/ 361300 w 368555"/>
              <a:gd name="connsiteY2" fmla="*/ 718138 h 1072409"/>
              <a:gd name="connsiteX3" fmla="*/ 3175 w 368555"/>
              <a:gd name="connsiteY3" fmla="*/ 1072409 h 1072409"/>
              <a:gd name="connsiteX4" fmla="*/ 0 w 368555"/>
              <a:gd name="connsiteY4" fmla="*/ 0 h 1072409"/>
              <a:gd name="connsiteX0" fmla="*/ 3316 w 365521"/>
              <a:gd name="connsiteY0" fmla="*/ 329659 h 869361"/>
              <a:gd name="connsiteX1" fmla="*/ 365521 w 365521"/>
              <a:gd name="connsiteY1" fmla="*/ 0 h 869361"/>
              <a:gd name="connsiteX2" fmla="*/ 358266 w 365521"/>
              <a:gd name="connsiteY2" fmla="*/ 515090 h 869361"/>
              <a:gd name="connsiteX3" fmla="*/ 141 w 365521"/>
              <a:gd name="connsiteY3" fmla="*/ 869361 h 869361"/>
              <a:gd name="connsiteX4" fmla="*/ 3316 w 365521"/>
              <a:gd name="connsiteY4" fmla="*/ 329659 h 869361"/>
              <a:gd name="connsiteX0" fmla="*/ 3316 w 365521"/>
              <a:gd name="connsiteY0" fmla="*/ 312504 h 852206"/>
              <a:gd name="connsiteX1" fmla="*/ 365521 w 365521"/>
              <a:gd name="connsiteY1" fmla="*/ 0 h 852206"/>
              <a:gd name="connsiteX2" fmla="*/ 358266 w 365521"/>
              <a:gd name="connsiteY2" fmla="*/ 497935 h 852206"/>
              <a:gd name="connsiteX3" fmla="*/ 141 w 365521"/>
              <a:gd name="connsiteY3" fmla="*/ 852206 h 852206"/>
              <a:gd name="connsiteX4" fmla="*/ 3316 w 365521"/>
              <a:gd name="connsiteY4" fmla="*/ 312504 h 852206"/>
              <a:gd name="connsiteX0" fmla="*/ 3316 w 365521"/>
              <a:gd name="connsiteY0" fmla="*/ 322797 h 862499"/>
              <a:gd name="connsiteX1" fmla="*/ 365521 w 365521"/>
              <a:gd name="connsiteY1" fmla="*/ 0 h 862499"/>
              <a:gd name="connsiteX2" fmla="*/ 358266 w 365521"/>
              <a:gd name="connsiteY2" fmla="*/ 508228 h 862499"/>
              <a:gd name="connsiteX3" fmla="*/ 141 w 365521"/>
              <a:gd name="connsiteY3" fmla="*/ 862499 h 862499"/>
              <a:gd name="connsiteX4" fmla="*/ 3316 w 365521"/>
              <a:gd name="connsiteY4" fmla="*/ 322797 h 862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521" h="862499">
                <a:moveTo>
                  <a:pt x="3316" y="322797"/>
                </a:moveTo>
                <a:lnTo>
                  <a:pt x="365521" y="0"/>
                </a:lnTo>
                <a:cubicBezTo>
                  <a:pt x="363103" y="360093"/>
                  <a:pt x="360684" y="148135"/>
                  <a:pt x="358266" y="508228"/>
                </a:cubicBezTo>
                <a:lnTo>
                  <a:pt x="141" y="862499"/>
                </a:lnTo>
                <a:cubicBezTo>
                  <a:pt x="-917" y="505029"/>
                  <a:pt x="4374" y="680267"/>
                  <a:pt x="3316" y="322797"/>
                </a:cubicBezTo>
                <a:close/>
              </a:path>
            </a:pathLst>
          </a:custGeom>
          <a:solidFill>
            <a:schemeClr val="accent4">
              <a:lumMod val="40000"/>
              <a:lumOff val="60000"/>
              <a:alpha val="70000"/>
            </a:schemeClr>
          </a:solidFill>
          <a:ln w="12700" cap="rnd">
            <a:solidFill>
              <a:schemeClr val="accent4">
                <a:lumMod val="7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68" name="Freeform 67">
            <a:extLst>
              <a:ext uri="{FF2B5EF4-FFF2-40B4-BE49-F238E27FC236}">
                <a16:creationId xmlns:a16="http://schemas.microsoft.com/office/drawing/2014/main" id="{BC923F47-63E0-5143-BBB1-75EBA17F2CC8}"/>
              </a:ext>
            </a:extLst>
          </p:cNvPr>
          <p:cNvSpPr/>
          <p:nvPr/>
        </p:nvSpPr>
        <p:spPr>
          <a:xfrm>
            <a:off x="11424638" y="5387934"/>
            <a:ext cx="476386" cy="922653"/>
          </a:xfrm>
          <a:custGeom>
            <a:avLst/>
            <a:gdLst>
              <a:gd name="connsiteX0" fmla="*/ 0 w 361300"/>
              <a:gd name="connsiteY0" fmla="*/ 356839 h 1422895"/>
              <a:gd name="connsiteX1" fmla="*/ 347918 w 361300"/>
              <a:gd name="connsiteY1" fmla="*/ 0 h 1422895"/>
              <a:gd name="connsiteX2" fmla="*/ 361300 w 361300"/>
              <a:gd name="connsiteY2" fmla="*/ 1074977 h 1422895"/>
              <a:gd name="connsiteX3" fmla="*/ 0 w 361300"/>
              <a:gd name="connsiteY3" fmla="*/ 1422895 h 1422895"/>
              <a:gd name="connsiteX4" fmla="*/ 0 w 361300"/>
              <a:gd name="connsiteY4" fmla="*/ 356839 h 1422895"/>
              <a:gd name="connsiteX0" fmla="*/ 0 w 361300"/>
              <a:gd name="connsiteY0" fmla="*/ 356839 h 1441954"/>
              <a:gd name="connsiteX1" fmla="*/ 347918 w 361300"/>
              <a:gd name="connsiteY1" fmla="*/ 0 h 1441954"/>
              <a:gd name="connsiteX2" fmla="*/ 361300 w 361300"/>
              <a:gd name="connsiteY2" fmla="*/ 1074977 h 1441954"/>
              <a:gd name="connsiteX3" fmla="*/ 0 w 361300"/>
              <a:gd name="connsiteY3" fmla="*/ 1441954 h 1441954"/>
              <a:gd name="connsiteX4" fmla="*/ 0 w 361300"/>
              <a:gd name="connsiteY4" fmla="*/ 356839 h 1441954"/>
              <a:gd name="connsiteX0" fmla="*/ 0 w 361300"/>
              <a:gd name="connsiteY0" fmla="*/ 356839 h 1429248"/>
              <a:gd name="connsiteX1" fmla="*/ 347918 w 361300"/>
              <a:gd name="connsiteY1" fmla="*/ 0 h 1429248"/>
              <a:gd name="connsiteX2" fmla="*/ 361300 w 361300"/>
              <a:gd name="connsiteY2" fmla="*/ 1074977 h 1429248"/>
              <a:gd name="connsiteX3" fmla="*/ 3175 w 361300"/>
              <a:gd name="connsiteY3" fmla="*/ 1429248 h 1429248"/>
              <a:gd name="connsiteX4" fmla="*/ 0 w 361300"/>
              <a:gd name="connsiteY4" fmla="*/ 356839 h 1429248"/>
              <a:gd name="connsiteX0" fmla="*/ 0 w 363793"/>
              <a:gd name="connsiteY0" fmla="*/ 337780 h 1410189"/>
              <a:gd name="connsiteX1" fmla="*/ 363793 w 363793"/>
              <a:gd name="connsiteY1" fmla="*/ 0 h 1410189"/>
              <a:gd name="connsiteX2" fmla="*/ 361300 w 363793"/>
              <a:gd name="connsiteY2" fmla="*/ 1055918 h 1410189"/>
              <a:gd name="connsiteX3" fmla="*/ 3175 w 363793"/>
              <a:gd name="connsiteY3" fmla="*/ 1410189 h 1410189"/>
              <a:gd name="connsiteX4" fmla="*/ 0 w 363793"/>
              <a:gd name="connsiteY4" fmla="*/ 337780 h 1410189"/>
              <a:gd name="connsiteX0" fmla="*/ 0 w 368555"/>
              <a:gd name="connsiteY0" fmla="*/ 362141 h 1434550"/>
              <a:gd name="connsiteX1" fmla="*/ 368555 w 368555"/>
              <a:gd name="connsiteY1" fmla="*/ 0 h 1434550"/>
              <a:gd name="connsiteX2" fmla="*/ 361300 w 368555"/>
              <a:gd name="connsiteY2" fmla="*/ 1080279 h 1434550"/>
              <a:gd name="connsiteX3" fmla="*/ 3175 w 368555"/>
              <a:gd name="connsiteY3" fmla="*/ 1434550 h 1434550"/>
              <a:gd name="connsiteX4" fmla="*/ 0 w 368555"/>
              <a:gd name="connsiteY4" fmla="*/ 362141 h 1434550"/>
              <a:gd name="connsiteX0" fmla="*/ 0 w 368555"/>
              <a:gd name="connsiteY0" fmla="*/ 0 h 1072409"/>
              <a:gd name="connsiteX1" fmla="*/ 368555 w 368555"/>
              <a:gd name="connsiteY1" fmla="*/ 203048 h 1072409"/>
              <a:gd name="connsiteX2" fmla="*/ 361300 w 368555"/>
              <a:gd name="connsiteY2" fmla="*/ 718138 h 1072409"/>
              <a:gd name="connsiteX3" fmla="*/ 3175 w 368555"/>
              <a:gd name="connsiteY3" fmla="*/ 1072409 h 1072409"/>
              <a:gd name="connsiteX4" fmla="*/ 0 w 368555"/>
              <a:gd name="connsiteY4" fmla="*/ 0 h 1072409"/>
              <a:gd name="connsiteX0" fmla="*/ 3316 w 365521"/>
              <a:gd name="connsiteY0" fmla="*/ 329659 h 869361"/>
              <a:gd name="connsiteX1" fmla="*/ 365521 w 365521"/>
              <a:gd name="connsiteY1" fmla="*/ 0 h 869361"/>
              <a:gd name="connsiteX2" fmla="*/ 358266 w 365521"/>
              <a:gd name="connsiteY2" fmla="*/ 515090 h 869361"/>
              <a:gd name="connsiteX3" fmla="*/ 141 w 365521"/>
              <a:gd name="connsiteY3" fmla="*/ 869361 h 869361"/>
              <a:gd name="connsiteX4" fmla="*/ 3316 w 365521"/>
              <a:gd name="connsiteY4" fmla="*/ 329659 h 869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521" h="869361">
                <a:moveTo>
                  <a:pt x="3316" y="329659"/>
                </a:moveTo>
                <a:lnTo>
                  <a:pt x="365521" y="0"/>
                </a:lnTo>
                <a:cubicBezTo>
                  <a:pt x="363103" y="360093"/>
                  <a:pt x="360684" y="154997"/>
                  <a:pt x="358266" y="515090"/>
                </a:cubicBezTo>
                <a:lnTo>
                  <a:pt x="141" y="869361"/>
                </a:lnTo>
                <a:cubicBezTo>
                  <a:pt x="-917" y="511891"/>
                  <a:pt x="4374" y="687129"/>
                  <a:pt x="3316" y="329659"/>
                </a:cubicBezTo>
                <a:close/>
              </a:path>
            </a:pathLst>
          </a:custGeom>
          <a:solidFill>
            <a:schemeClr val="accent4">
              <a:lumMod val="40000"/>
              <a:lumOff val="60000"/>
            </a:schemeClr>
          </a:solidFill>
          <a:ln w="12700" cap="sq">
            <a:solidFill>
              <a:schemeClr val="accent4">
                <a:lumMod val="7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pic>
        <p:nvPicPr>
          <p:cNvPr id="69" name="Picture 68">
            <a:extLst>
              <a:ext uri="{FF2B5EF4-FFF2-40B4-BE49-F238E27FC236}">
                <a16:creationId xmlns:a16="http://schemas.microsoft.com/office/drawing/2014/main" id="{AD379A99-DDDC-4043-831A-C362F567072E}"/>
              </a:ext>
            </a:extLst>
          </p:cNvPr>
          <p:cNvPicPr>
            <a:picLocks noChangeAspect="1"/>
          </p:cNvPicPr>
          <p:nvPr/>
        </p:nvPicPr>
        <p:blipFill>
          <a:blip r:embed="rId8"/>
          <a:stretch>
            <a:fillRect/>
          </a:stretch>
        </p:blipFill>
        <p:spPr>
          <a:xfrm rot="2065660" flipH="1">
            <a:off x="8277758" y="2402634"/>
            <a:ext cx="518495" cy="1048774"/>
          </a:xfrm>
          <a:prstGeom prst="rect">
            <a:avLst/>
          </a:prstGeom>
        </p:spPr>
      </p:pic>
      <p:sp>
        <p:nvSpPr>
          <p:cNvPr id="73" name="Freeform 72">
            <a:extLst>
              <a:ext uri="{FF2B5EF4-FFF2-40B4-BE49-F238E27FC236}">
                <a16:creationId xmlns:a16="http://schemas.microsoft.com/office/drawing/2014/main" id="{C53D94A4-5192-6C40-8220-3123DA24C2CE}"/>
              </a:ext>
            </a:extLst>
          </p:cNvPr>
          <p:cNvSpPr/>
          <p:nvPr/>
        </p:nvSpPr>
        <p:spPr>
          <a:xfrm rot="3430108" flipV="1">
            <a:off x="2125623" y="185562"/>
            <a:ext cx="1099513" cy="1165900"/>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solidFill>
            <a:schemeClr val="accent6">
              <a:lumMod val="20000"/>
              <a:lumOff val="80000"/>
            </a:schemeClr>
          </a:solidFill>
          <a:ln w="254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70" dirty="0"/>
              <a:t>≈	</a:t>
            </a:r>
          </a:p>
        </p:txBody>
      </p:sp>
      <p:sp>
        <p:nvSpPr>
          <p:cNvPr id="74" name="Freeform 73">
            <a:extLst>
              <a:ext uri="{FF2B5EF4-FFF2-40B4-BE49-F238E27FC236}">
                <a16:creationId xmlns:a16="http://schemas.microsoft.com/office/drawing/2014/main" id="{47436DBE-5E5D-5144-B167-7092D2683761}"/>
              </a:ext>
            </a:extLst>
          </p:cNvPr>
          <p:cNvSpPr/>
          <p:nvPr/>
        </p:nvSpPr>
        <p:spPr>
          <a:xfrm rot="3430108" flipV="1">
            <a:off x="4344855" y="442860"/>
            <a:ext cx="1099513" cy="1165900"/>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solidFill>
            <a:schemeClr val="accent6">
              <a:lumMod val="20000"/>
              <a:lumOff val="80000"/>
            </a:schemeClr>
          </a:solidFill>
          <a:ln w="254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70" dirty="0"/>
              <a:t>≈	</a:t>
            </a:r>
          </a:p>
        </p:txBody>
      </p:sp>
      <p:sp>
        <p:nvSpPr>
          <p:cNvPr id="75" name="Freeform 74">
            <a:extLst>
              <a:ext uri="{FF2B5EF4-FFF2-40B4-BE49-F238E27FC236}">
                <a16:creationId xmlns:a16="http://schemas.microsoft.com/office/drawing/2014/main" id="{F8929D42-847C-3D40-AFE2-D7B827D75E88}"/>
              </a:ext>
            </a:extLst>
          </p:cNvPr>
          <p:cNvSpPr/>
          <p:nvPr/>
        </p:nvSpPr>
        <p:spPr>
          <a:xfrm rot="3430108" flipV="1">
            <a:off x="6990436" y="1359890"/>
            <a:ext cx="1099513" cy="1165900"/>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solidFill>
            <a:schemeClr val="accent6">
              <a:lumMod val="20000"/>
              <a:lumOff val="80000"/>
            </a:schemeClr>
          </a:solidFill>
          <a:ln w="254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70" dirty="0"/>
              <a:t>≈	</a:t>
            </a:r>
          </a:p>
        </p:txBody>
      </p:sp>
      <p:sp>
        <p:nvSpPr>
          <p:cNvPr id="83" name="Freeform 82">
            <a:extLst>
              <a:ext uri="{FF2B5EF4-FFF2-40B4-BE49-F238E27FC236}">
                <a16:creationId xmlns:a16="http://schemas.microsoft.com/office/drawing/2014/main" id="{7B43EE4D-C197-854E-A025-C6843BA05EA3}"/>
              </a:ext>
            </a:extLst>
          </p:cNvPr>
          <p:cNvSpPr/>
          <p:nvPr/>
        </p:nvSpPr>
        <p:spPr>
          <a:xfrm rot="5723162" flipV="1">
            <a:off x="10546518" y="3750317"/>
            <a:ext cx="1099513" cy="1165900"/>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solidFill>
            <a:schemeClr val="accent6">
              <a:lumMod val="20000"/>
              <a:lumOff val="80000"/>
            </a:schemeClr>
          </a:solidFill>
          <a:ln w="254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70" dirty="0"/>
              <a:t>≈	</a:t>
            </a:r>
          </a:p>
        </p:txBody>
      </p:sp>
      <p:sp>
        <p:nvSpPr>
          <p:cNvPr id="9" name="TextBox 8">
            <a:extLst>
              <a:ext uri="{FF2B5EF4-FFF2-40B4-BE49-F238E27FC236}">
                <a16:creationId xmlns:a16="http://schemas.microsoft.com/office/drawing/2014/main" id="{8D2C7D8B-2752-D147-9063-616335DF2FE3}"/>
              </a:ext>
            </a:extLst>
          </p:cNvPr>
          <p:cNvSpPr txBox="1"/>
          <p:nvPr/>
        </p:nvSpPr>
        <p:spPr>
          <a:xfrm>
            <a:off x="880677" y="4355645"/>
            <a:ext cx="4963218" cy="2148280"/>
          </a:xfrm>
          <a:prstGeom prst="rect">
            <a:avLst/>
          </a:prstGeom>
          <a:noFill/>
        </p:spPr>
        <p:txBody>
          <a:bodyPr wrap="none" rtlCol="0">
            <a:spAutoFit/>
          </a:bodyPr>
          <a:lstStyle/>
          <a:p>
            <a:pPr algn="ctr"/>
            <a:r>
              <a:rPr lang="en-US" sz="3340" dirty="0">
                <a:latin typeface="Comic Sans MS" panose="030F0902030302020204" pitchFamily="66" charset="0"/>
              </a:rPr>
              <a:t>Bob asks for a rematch,</a:t>
            </a:r>
          </a:p>
          <a:p>
            <a:pPr algn="ctr"/>
            <a:r>
              <a:rPr lang="en-US" sz="3340" dirty="0">
                <a:latin typeface="Comic Sans MS" panose="030F0902030302020204" pitchFamily="66" charset="0"/>
              </a:rPr>
              <a:t>but Simon always wins.</a:t>
            </a:r>
          </a:p>
          <a:p>
            <a:pPr algn="ctr"/>
            <a:endParaRPr lang="en-US" sz="3340" dirty="0">
              <a:latin typeface="Comic Sans MS" panose="030F0902030302020204" pitchFamily="66" charset="0"/>
            </a:endParaRPr>
          </a:p>
          <a:p>
            <a:pPr algn="ctr"/>
            <a:r>
              <a:rPr lang="en-US" sz="3340" dirty="0">
                <a:latin typeface="Comic Sans MS" panose="030F0902030302020204" pitchFamily="66" charset="0"/>
              </a:rPr>
              <a:t>How is that possible?</a:t>
            </a:r>
          </a:p>
        </p:txBody>
      </p:sp>
      <p:sp>
        <p:nvSpPr>
          <p:cNvPr id="90" name="Slide Number Placeholder 1">
            <a:extLst>
              <a:ext uri="{FF2B5EF4-FFF2-40B4-BE49-F238E27FC236}">
                <a16:creationId xmlns:a16="http://schemas.microsoft.com/office/drawing/2014/main" id="{37FE2E9E-35CB-CE4D-BF5D-8244CEEF01FF}"/>
              </a:ext>
            </a:extLst>
          </p:cNvPr>
          <p:cNvSpPr>
            <a:spLocks noGrp="1"/>
          </p:cNvSpPr>
          <p:nvPr>
            <p:ph type="sldNum" sz="quarter" idx="4294967295"/>
          </p:nvPr>
        </p:nvSpPr>
        <p:spPr>
          <a:xfrm>
            <a:off x="9448800" y="6492875"/>
            <a:ext cx="2743200" cy="365125"/>
          </a:xfrm>
        </p:spPr>
        <p:txBody>
          <a:bodyPr/>
          <a:lstStyle/>
          <a:p>
            <a:fld id="{F9755F1A-B9A0-4847-95B6-A26175A266D6}" type="slidenum">
              <a:rPr lang="en-US" smtClean="0"/>
              <a:t>18</a:t>
            </a:fld>
            <a:endParaRPr lang="en-US" dirty="0"/>
          </a:p>
        </p:txBody>
      </p:sp>
      <p:pic>
        <p:nvPicPr>
          <p:cNvPr id="91" name="Picture 90">
            <a:extLst>
              <a:ext uri="{FF2B5EF4-FFF2-40B4-BE49-F238E27FC236}">
                <a16:creationId xmlns:a16="http://schemas.microsoft.com/office/drawing/2014/main" id="{4436F02B-4FBE-6D41-8C98-A0239688858D}"/>
              </a:ext>
            </a:extLst>
          </p:cNvPr>
          <p:cNvPicPr>
            <a:picLocks noChangeAspect="1"/>
          </p:cNvPicPr>
          <p:nvPr/>
        </p:nvPicPr>
        <p:blipFill>
          <a:blip r:embed="rId9"/>
          <a:stretch>
            <a:fillRect/>
          </a:stretch>
        </p:blipFill>
        <p:spPr>
          <a:xfrm>
            <a:off x="9923490" y="5169276"/>
            <a:ext cx="1235300" cy="726054"/>
          </a:xfrm>
          <a:prstGeom prst="rect">
            <a:avLst/>
          </a:prstGeom>
        </p:spPr>
      </p:pic>
      <p:sp>
        <p:nvSpPr>
          <p:cNvPr id="71" name="Freeform 70">
            <a:extLst>
              <a:ext uri="{FF2B5EF4-FFF2-40B4-BE49-F238E27FC236}">
                <a16:creationId xmlns:a16="http://schemas.microsoft.com/office/drawing/2014/main" id="{9B29D953-5371-0A4F-8F19-2ED1DF2DADF7}"/>
              </a:ext>
            </a:extLst>
          </p:cNvPr>
          <p:cNvSpPr/>
          <p:nvPr/>
        </p:nvSpPr>
        <p:spPr>
          <a:xfrm>
            <a:off x="9221038" y="5736497"/>
            <a:ext cx="2203275" cy="570025"/>
          </a:xfrm>
          <a:custGeom>
            <a:avLst/>
            <a:gdLst>
              <a:gd name="connsiteX0" fmla="*/ 0 w 1690525"/>
              <a:gd name="connsiteY0" fmla="*/ 0 h 1070517"/>
              <a:gd name="connsiteX1" fmla="*/ 0 w 1690525"/>
              <a:gd name="connsiteY1" fmla="*/ 1061596 h 1070517"/>
              <a:gd name="connsiteX2" fmla="*/ 1686065 w 1690525"/>
              <a:gd name="connsiteY2" fmla="*/ 1070517 h 1070517"/>
              <a:gd name="connsiteX3" fmla="*/ 1690525 w 1690525"/>
              <a:gd name="connsiteY3" fmla="*/ 13382 h 1070517"/>
              <a:gd name="connsiteX4" fmla="*/ 0 w 1690525"/>
              <a:gd name="connsiteY4" fmla="*/ 0 h 1070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0525" h="1070517">
                <a:moveTo>
                  <a:pt x="0" y="0"/>
                </a:moveTo>
                <a:lnTo>
                  <a:pt x="0" y="1061596"/>
                </a:lnTo>
                <a:lnTo>
                  <a:pt x="1686065" y="1070517"/>
                </a:lnTo>
                <a:cubicBezTo>
                  <a:pt x="1687552" y="718139"/>
                  <a:pt x="1689038" y="365760"/>
                  <a:pt x="1690525" y="13382"/>
                </a:cubicBezTo>
                <a:lnTo>
                  <a:pt x="0" y="0"/>
                </a:lnTo>
                <a:close/>
              </a:path>
            </a:pathLst>
          </a:custGeom>
          <a:solidFill>
            <a:schemeClr val="accent4">
              <a:lumMod val="20000"/>
              <a:lumOff val="80000"/>
            </a:schemeClr>
          </a:solidFill>
          <a:ln w="12700" cap="rnd">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dirty="0"/>
          </a:p>
        </p:txBody>
      </p:sp>
      <p:pic>
        <p:nvPicPr>
          <p:cNvPr id="92" name="Picture 91">
            <a:extLst>
              <a:ext uri="{FF2B5EF4-FFF2-40B4-BE49-F238E27FC236}">
                <a16:creationId xmlns:a16="http://schemas.microsoft.com/office/drawing/2014/main" id="{C0686C10-97A2-FE4C-B8AD-ED0333F8DA31}"/>
              </a:ext>
            </a:extLst>
          </p:cNvPr>
          <p:cNvPicPr>
            <a:picLocks noChangeAspect="1"/>
          </p:cNvPicPr>
          <p:nvPr/>
        </p:nvPicPr>
        <p:blipFill>
          <a:blip r:embed="rId9"/>
          <a:stretch>
            <a:fillRect/>
          </a:stretch>
        </p:blipFill>
        <p:spPr>
          <a:xfrm rot="20936631">
            <a:off x="981635" y="1714279"/>
            <a:ext cx="1076500" cy="632719"/>
          </a:xfrm>
          <a:prstGeom prst="rect">
            <a:avLst/>
          </a:prstGeom>
        </p:spPr>
      </p:pic>
      <p:sp>
        <p:nvSpPr>
          <p:cNvPr id="99" name="Freeform 98">
            <a:extLst>
              <a:ext uri="{FF2B5EF4-FFF2-40B4-BE49-F238E27FC236}">
                <a16:creationId xmlns:a16="http://schemas.microsoft.com/office/drawing/2014/main" id="{282DF678-0544-354D-AC80-ED210ECA45C9}"/>
              </a:ext>
            </a:extLst>
          </p:cNvPr>
          <p:cNvSpPr/>
          <p:nvPr/>
        </p:nvSpPr>
        <p:spPr>
          <a:xfrm>
            <a:off x="6944430" y="2506553"/>
            <a:ext cx="247597" cy="363056"/>
          </a:xfrm>
          <a:custGeom>
            <a:avLst/>
            <a:gdLst>
              <a:gd name="connsiteX0" fmla="*/ 0 w 342405"/>
              <a:gd name="connsiteY0" fmla="*/ 0 h 592853"/>
              <a:gd name="connsiteX1" fmla="*/ 301450 w 342405"/>
              <a:gd name="connsiteY1" fmla="*/ 226088 h 592853"/>
              <a:gd name="connsiteX2" fmla="*/ 331595 w 342405"/>
              <a:gd name="connsiteY2" fmla="*/ 592853 h 592853"/>
            </a:gdLst>
            <a:ahLst/>
            <a:cxnLst>
              <a:cxn ang="0">
                <a:pos x="connsiteX0" y="connsiteY0"/>
              </a:cxn>
              <a:cxn ang="0">
                <a:pos x="connsiteX1" y="connsiteY1"/>
              </a:cxn>
              <a:cxn ang="0">
                <a:pos x="connsiteX2" y="connsiteY2"/>
              </a:cxn>
            </a:cxnLst>
            <a:rect l="l" t="t" r="r" b="b"/>
            <a:pathLst>
              <a:path w="342405" h="592853">
                <a:moveTo>
                  <a:pt x="0" y="0"/>
                </a:moveTo>
                <a:cubicBezTo>
                  <a:pt x="123092" y="63639"/>
                  <a:pt x="246184" y="127279"/>
                  <a:pt x="301450" y="226088"/>
                </a:cubicBezTo>
                <a:cubicBezTo>
                  <a:pt x="356716" y="324897"/>
                  <a:pt x="344155" y="458875"/>
                  <a:pt x="331595" y="592853"/>
                </a:cubicBezTo>
              </a:path>
            </a:pathLst>
          </a:custGeom>
          <a:noFill/>
          <a:ln w="19050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Tree>
    <p:extLst>
      <p:ext uri="{BB962C8B-B14F-4D97-AF65-F5344CB8AC3E}">
        <p14:creationId xmlns:p14="http://schemas.microsoft.com/office/powerpoint/2010/main" val="1325607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Picture 54">
            <a:extLst>
              <a:ext uri="{FF2B5EF4-FFF2-40B4-BE49-F238E27FC236}">
                <a16:creationId xmlns:a16="http://schemas.microsoft.com/office/drawing/2014/main" id="{C70A0714-6A72-5247-991F-83C66ED45C5A}"/>
              </a:ext>
            </a:extLst>
          </p:cNvPr>
          <p:cNvPicPr>
            <a:picLocks noChangeAspect="1"/>
          </p:cNvPicPr>
          <p:nvPr/>
        </p:nvPicPr>
        <p:blipFill>
          <a:blip r:embed="rId3"/>
          <a:stretch>
            <a:fillRect/>
          </a:stretch>
        </p:blipFill>
        <p:spPr>
          <a:xfrm>
            <a:off x="619347" y="965012"/>
            <a:ext cx="1520892" cy="2252712"/>
          </a:xfrm>
          <a:prstGeom prst="rect">
            <a:avLst/>
          </a:prstGeom>
        </p:spPr>
      </p:pic>
      <p:pic>
        <p:nvPicPr>
          <p:cNvPr id="12" name="Picture 11">
            <a:extLst>
              <a:ext uri="{FF2B5EF4-FFF2-40B4-BE49-F238E27FC236}">
                <a16:creationId xmlns:a16="http://schemas.microsoft.com/office/drawing/2014/main" id="{7C3BDE87-523F-3542-86AF-BEFF7B8768D5}"/>
              </a:ext>
            </a:extLst>
          </p:cNvPr>
          <p:cNvPicPr>
            <a:picLocks noChangeAspect="1"/>
          </p:cNvPicPr>
          <p:nvPr/>
        </p:nvPicPr>
        <p:blipFill>
          <a:blip r:embed="rId4"/>
          <a:stretch>
            <a:fillRect/>
          </a:stretch>
        </p:blipFill>
        <p:spPr>
          <a:xfrm>
            <a:off x="441072" y="3217724"/>
            <a:ext cx="1670170" cy="981649"/>
          </a:xfrm>
          <a:prstGeom prst="rect">
            <a:avLst/>
          </a:prstGeom>
        </p:spPr>
      </p:pic>
      <p:sp>
        <p:nvSpPr>
          <p:cNvPr id="52" name="Rectangle 51">
            <a:extLst>
              <a:ext uri="{FF2B5EF4-FFF2-40B4-BE49-F238E27FC236}">
                <a16:creationId xmlns:a16="http://schemas.microsoft.com/office/drawing/2014/main" id="{EC1D5D4D-801C-534C-9F59-DDA01CBEB270}"/>
              </a:ext>
            </a:extLst>
          </p:cNvPr>
          <p:cNvSpPr/>
          <p:nvPr/>
        </p:nvSpPr>
        <p:spPr>
          <a:xfrm>
            <a:off x="138838" y="4814303"/>
            <a:ext cx="2306519" cy="1939836"/>
          </a:xfrm>
          <a:prstGeom prst="rect">
            <a:avLst/>
          </a:prstGeom>
          <a:solidFill>
            <a:schemeClr val="accent4">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7" dirty="0">
                <a:solidFill>
                  <a:schemeClr val="tx1"/>
                </a:solidFill>
                <a:latin typeface="Comic Sans MS" panose="030F0902030302020204" pitchFamily="66" charset="0"/>
              </a:rPr>
              <a:t>For example, the game starts with side 0 facing up.</a:t>
            </a:r>
          </a:p>
        </p:txBody>
      </p:sp>
      <p:grpSp>
        <p:nvGrpSpPr>
          <p:cNvPr id="4" name="Group 3">
            <a:extLst>
              <a:ext uri="{FF2B5EF4-FFF2-40B4-BE49-F238E27FC236}">
                <a16:creationId xmlns:a16="http://schemas.microsoft.com/office/drawing/2014/main" id="{D7EBD3BB-1D91-4445-B0C5-7928B96FC24C}"/>
              </a:ext>
            </a:extLst>
          </p:cNvPr>
          <p:cNvGrpSpPr/>
          <p:nvPr/>
        </p:nvGrpSpPr>
        <p:grpSpPr>
          <a:xfrm>
            <a:off x="8809085" y="361010"/>
            <a:ext cx="3240288" cy="6396601"/>
            <a:chOff x="8809085" y="361010"/>
            <a:chExt cx="3240288" cy="6396601"/>
          </a:xfrm>
        </p:grpSpPr>
        <p:grpSp>
          <p:nvGrpSpPr>
            <p:cNvPr id="34" name="Group 33">
              <a:extLst>
                <a:ext uri="{FF2B5EF4-FFF2-40B4-BE49-F238E27FC236}">
                  <a16:creationId xmlns:a16="http://schemas.microsoft.com/office/drawing/2014/main" id="{B280C0EE-AB03-6142-924C-4B400581CEAE}"/>
                </a:ext>
              </a:extLst>
            </p:cNvPr>
            <p:cNvGrpSpPr/>
            <p:nvPr/>
          </p:nvGrpSpPr>
          <p:grpSpPr>
            <a:xfrm>
              <a:off x="9826356" y="361010"/>
              <a:ext cx="1160890" cy="2282882"/>
              <a:chOff x="5814884" y="408214"/>
              <a:chExt cx="2019316" cy="3910154"/>
            </a:xfrm>
          </p:grpSpPr>
          <p:pic>
            <p:nvPicPr>
              <p:cNvPr id="35" name="Picture 34">
                <a:extLst>
                  <a:ext uri="{FF2B5EF4-FFF2-40B4-BE49-F238E27FC236}">
                    <a16:creationId xmlns:a16="http://schemas.microsoft.com/office/drawing/2014/main" id="{445D1929-B57E-4941-9B96-AE96D7652F18}"/>
                  </a:ext>
                </a:extLst>
              </p:cNvPr>
              <p:cNvPicPr>
                <a:picLocks noChangeAspect="1"/>
              </p:cNvPicPr>
              <p:nvPr/>
            </p:nvPicPr>
            <p:blipFill>
              <a:blip r:embed="rId5"/>
              <a:stretch>
                <a:fillRect/>
              </a:stretch>
            </p:blipFill>
            <p:spPr>
              <a:xfrm>
                <a:off x="6116202" y="858171"/>
                <a:ext cx="1422831" cy="2799429"/>
              </a:xfrm>
              <a:prstGeom prst="rect">
                <a:avLst/>
              </a:prstGeom>
            </p:spPr>
          </p:pic>
          <p:grpSp>
            <p:nvGrpSpPr>
              <p:cNvPr id="36" name="Group 35">
                <a:extLst>
                  <a:ext uri="{FF2B5EF4-FFF2-40B4-BE49-F238E27FC236}">
                    <a16:creationId xmlns:a16="http://schemas.microsoft.com/office/drawing/2014/main" id="{04156925-EE56-374B-AE9D-91603CB6EC2B}"/>
                  </a:ext>
                </a:extLst>
              </p:cNvPr>
              <p:cNvGrpSpPr/>
              <p:nvPr/>
            </p:nvGrpSpPr>
            <p:grpSpPr>
              <a:xfrm>
                <a:off x="6164296" y="417299"/>
                <a:ext cx="545905" cy="576202"/>
                <a:chOff x="7375358" y="2779295"/>
                <a:chExt cx="540000" cy="540000"/>
              </a:xfrm>
            </p:grpSpPr>
            <p:sp>
              <p:nvSpPr>
                <p:cNvPr id="44" name="Oval 43">
                  <a:extLst>
                    <a:ext uri="{FF2B5EF4-FFF2-40B4-BE49-F238E27FC236}">
                      <a16:creationId xmlns:a16="http://schemas.microsoft.com/office/drawing/2014/main" id="{3405E6F1-2900-BA4D-A655-0A45428201F6}"/>
                    </a:ext>
                  </a:extLst>
                </p:cNvPr>
                <p:cNvSpPr/>
                <p:nvPr/>
              </p:nvSpPr>
              <p:spPr>
                <a:xfrm>
                  <a:off x="7375358" y="2779295"/>
                  <a:ext cx="540000" cy="5400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45" name="Oval 44">
                  <a:extLst>
                    <a:ext uri="{FF2B5EF4-FFF2-40B4-BE49-F238E27FC236}">
                      <a16:creationId xmlns:a16="http://schemas.microsoft.com/office/drawing/2014/main" id="{53AF35F4-A0F1-B347-89C7-36F445DBDF26}"/>
                    </a:ext>
                  </a:extLst>
                </p:cNvPr>
                <p:cNvSpPr/>
                <p:nvPr/>
              </p:nvSpPr>
              <p:spPr>
                <a:xfrm>
                  <a:off x="7568776" y="2894549"/>
                  <a:ext cx="251999" cy="25199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46" name="Oval 45">
                  <a:extLst>
                    <a:ext uri="{FF2B5EF4-FFF2-40B4-BE49-F238E27FC236}">
                      <a16:creationId xmlns:a16="http://schemas.microsoft.com/office/drawing/2014/main" id="{E94CECFC-8459-E94A-8AD6-D9881E16BCFF}"/>
                    </a:ext>
                  </a:extLst>
                </p:cNvPr>
                <p:cNvSpPr/>
                <p:nvPr/>
              </p:nvSpPr>
              <p:spPr>
                <a:xfrm>
                  <a:off x="7694775" y="2948548"/>
                  <a:ext cx="72000" cy="7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grpSp>
            <p:nvGrpSpPr>
              <p:cNvPr id="37" name="Group 36">
                <a:extLst>
                  <a:ext uri="{FF2B5EF4-FFF2-40B4-BE49-F238E27FC236}">
                    <a16:creationId xmlns:a16="http://schemas.microsoft.com/office/drawing/2014/main" id="{6B38E7BC-F163-4247-BE33-CDC4946C6438}"/>
                  </a:ext>
                </a:extLst>
              </p:cNvPr>
              <p:cNvGrpSpPr/>
              <p:nvPr/>
            </p:nvGrpSpPr>
            <p:grpSpPr>
              <a:xfrm>
                <a:off x="6895154" y="408214"/>
                <a:ext cx="545905" cy="576202"/>
                <a:chOff x="7375358" y="2779295"/>
                <a:chExt cx="540000" cy="540000"/>
              </a:xfrm>
            </p:grpSpPr>
            <p:sp>
              <p:nvSpPr>
                <p:cNvPr id="41" name="Oval 40">
                  <a:extLst>
                    <a:ext uri="{FF2B5EF4-FFF2-40B4-BE49-F238E27FC236}">
                      <a16:creationId xmlns:a16="http://schemas.microsoft.com/office/drawing/2014/main" id="{80C069E4-AEDA-8547-BEF3-7FAF4A479FD2}"/>
                    </a:ext>
                  </a:extLst>
                </p:cNvPr>
                <p:cNvSpPr/>
                <p:nvPr/>
              </p:nvSpPr>
              <p:spPr>
                <a:xfrm>
                  <a:off x="7375358" y="2779295"/>
                  <a:ext cx="540000" cy="5400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42" name="Oval 41">
                  <a:extLst>
                    <a:ext uri="{FF2B5EF4-FFF2-40B4-BE49-F238E27FC236}">
                      <a16:creationId xmlns:a16="http://schemas.microsoft.com/office/drawing/2014/main" id="{F9CA69E1-99DB-7140-8BAE-716C9CF4B294}"/>
                    </a:ext>
                  </a:extLst>
                </p:cNvPr>
                <p:cNvSpPr/>
                <p:nvPr/>
              </p:nvSpPr>
              <p:spPr>
                <a:xfrm>
                  <a:off x="7568776" y="2894549"/>
                  <a:ext cx="251999" cy="25199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43" name="Oval 42">
                  <a:extLst>
                    <a:ext uri="{FF2B5EF4-FFF2-40B4-BE49-F238E27FC236}">
                      <a16:creationId xmlns:a16="http://schemas.microsoft.com/office/drawing/2014/main" id="{8D494C82-4323-7345-AA96-13EDB5C19092}"/>
                    </a:ext>
                  </a:extLst>
                </p:cNvPr>
                <p:cNvSpPr/>
                <p:nvPr/>
              </p:nvSpPr>
              <p:spPr>
                <a:xfrm>
                  <a:off x="7694775" y="2948548"/>
                  <a:ext cx="72000" cy="7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pic>
            <p:nvPicPr>
              <p:cNvPr id="38" name="Picture 37">
                <a:extLst>
                  <a:ext uri="{FF2B5EF4-FFF2-40B4-BE49-F238E27FC236}">
                    <a16:creationId xmlns:a16="http://schemas.microsoft.com/office/drawing/2014/main" id="{B6FB2794-B7D9-FC45-B15E-2E793A1C67EE}"/>
                  </a:ext>
                </a:extLst>
              </p:cNvPr>
              <p:cNvPicPr>
                <a:picLocks noChangeAspect="1"/>
              </p:cNvPicPr>
              <p:nvPr/>
            </p:nvPicPr>
            <p:blipFill>
              <a:blip r:embed="rId6"/>
              <a:stretch>
                <a:fillRect/>
              </a:stretch>
            </p:blipFill>
            <p:spPr>
              <a:xfrm rot="372615" flipH="1">
                <a:off x="5897690" y="1474565"/>
                <a:ext cx="690890" cy="1397483"/>
              </a:xfrm>
              <a:prstGeom prst="rect">
                <a:avLst/>
              </a:prstGeom>
            </p:spPr>
          </p:pic>
          <p:pic>
            <p:nvPicPr>
              <p:cNvPr id="39" name="Picture 38">
                <a:extLst>
                  <a:ext uri="{FF2B5EF4-FFF2-40B4-BE49-F238E27FC236}">
                    <a16:creationId xmlns:a16="http://schemas.microsoft.com/office/drawing/2014/main" id="{AC772E7E-25C4-714D-A7FF-25C4E116A7A5}"/>
                  </a:ext>
                </a:extLst>
              </p:cNvPr>
              <p:cNvPicPr>
                <a:picLocks noChangeAspect="1"/>
              </p:cNvPicPr>
              <p:nvPr/>
            </p:nvPicPr>
            <p:blipFill>
              <a:blip r:embed="rId6"/>
              <a:stretch>
                <a:fillRect/>
              </a:stretch>
            </p:blipFill>
            <p:spPr>
              <a:xfrm rot="21227385">
                <a:off x="7090250" y="1474566"/>
                <a:ext cx="690890" cy="1397483"/>
              </a:xfrm>
              <a:prstGeom prst="rect">
                <a:avLst/>
              </a:prstGeom>
            </p:spPr>
          </p:pic>
          <p:pic>
            <p:nvPicPr>
              <p:cNvPr id="40" name="Picture 39">
                <a:extLst>
                  <a:ext uri="{FF2B5EF4-FFF2-40B4-BE49-F238E27FC236}">
                    <a16:creationId xmlns:a16="http://schemas.microsoft.com/office/drawing/2014/main" id="{0C08B86D-3F98-CB4E-BF90-3F75241C9CF5}"/>
                  </a:ext>
                </a:extLst>
              </p:cNvPr>
              <p:cNvPicPr>
                <a:picLocks noChangeAspect="1"/>
              </p:cNvPicPr>
              <p:nvPr/>
            </p:nvPicPr>
            <p:blipFill>
              <a:blip r:embed="rId7"/>
              <a:stretch>
                <a:fillRect/>
              </a:stretch>
            </p:blipFill>
            <p:spPr>
              <a:xfrm>
                <a:off x="5814884" y="3455466"/>
                <a:ext cx="2019316" cy="862902"/>
              </a:xfrm>
              <a:prstGeom prst="rect">
                <a:avLst/>
              </a:prstGeom>
            </p:spPr>
          </p:pic>
        </p:grpSp>
        <p:pic>
          <p:nvPicPr>
            <p:cNvPr id="47" name="Picture 46">
              <a:extLst>
                <a:ext uri="{FF2B5EF4-FFF2-40B4-BE49-F238E27FC236}">
                  <a16:creationId xmlns:a16="http://schemas.microsoft.com/office/drawing/2014/main" id="{F34275A6-7DDB-354E-884D-858FE1D85ED7}"/>
                </a:ext>
              </a:extLst>
            </p:cNvPr>
            <p:cNvPicPr>
              <a:picLocks noChangeAspect="1"/>
            </p:cNvPicPr>
            <p:nvPr/>
          </p:nvPicPr>
          <p:blipFill>
            <a:blip r:embed="rId4"/>
            <a:stretch>
              <a:fillRect/>
            </a:stretch>
          </p:blipFill>
          <p:spPr>
            <a:xfrm>
              <a:off x="9681504" y="3013480"/>
              <a:ext cx="1670170" cy="981649"/>
            </a:xfrm>
            <a:prstGeom prst="rect">
              <a:avLst/>
            </a:prstGeom>
          </p:spPr>
        </p:pic>
        <p:sp>
          <p:nvSpPr>
            <p:cNvPr id="51" name="Rectangle 50">
              <a:extLst>
                <a:ext uri="{FF2B5EF4-FFF2-40B4-BE49-F238E27FC236}">
                  <a16:creationId xmlns:a16="http://schemas.microsoft.com/office/drawing/2014/main" id="{D7231782-15CE-DF4F-BFD9-4BE6756094E4}"/>
                </a:ext>
              </a:extLst>
            </p:cNvPr>
            <p:cNvSpPr/>
            <p:nvPr/>
          </p:nvSpPr>
          <p:spPr>
            <a:xfrm>
              <a:off x="8809085" y="434066"/>
              <a:ext cx="334034" cy="417482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58" name="Rectangle 57">
              <a:extLst>
                <a:ext uri="{FF2B5EF4-FFF2-40B4-BE49-F238E27FC236}">
                  <a16:creationId xmlns:a16="http://schemas.microsoft.com/office/drawing/2014/main" id="{6552EA09-7CBA-AA43-82DC-E8092072BC93}"/>
                </a:ext>
              </a:extLst>
            </p:cNvPr>
            <p:cNvSpPr/>
            <p:nvPr/>
          </p:nvSpPr>
          <p:spPr>
            <a:xfrm>
              <a:off x="9258538" y="3838801"/>
              <a:ext cx="2790835" cy="2918810"/>
            </a:xfrm>
            <a:prstGeom prst="rect">
              <a:avLst/>
            </a:prstGeom>
            <a:solidFill>
              <a:schemeClr val="accent5">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7" dirty="0">
                  <a:solidFill>
                    <a:schemeClr val="tx1"/>
                  </a:solidFill>
                  <a:latin typeface="Comic Sans MS" panose="030F0902030302020204" pitchFamily="66" charset="0"/>
                </a:rPr>
                <a:t>In the final move, Simon removes the superposition, and according to the laws of quantum mechanics, the coin returns to its state from before the superposition.</a:t>
              </a:r>
            </a:p>
          </p:txBody>
        </p:sp>
      </p:grpSp>
      <p:grpSp>
        <p:nvGrpSpPr>
          <p:cNvPr id="5" name="Group 4">
            <a:extLst>
              <a:ext uri="{FF2B5EF4-FFF2-40B4-BE49-F238E27FC236}">
                <a16:creationId xmlns:a16="http://schemas.microsoft.com/office/drawing/2014/main" id="{0DDCD74F-6293-904F-91B6-2643F31099B6}"/>
              </a:ext>
            </a:extLst>
          </p:cNvPr>
          <p:cNvGrpSpPr/>
          <p:nvPr/>
        </p:nvGrpSpPr>
        <p:grpSpPr>
          <a:xfrm>
            <a:off x="2514710" y="289209"/>
            <a:ext cx="3145641" cy="6468402"/>
            <a:chOff x="2514710" y="289209"/>
            <a:chExt cx="3145641" cy="6468402"/>
          </a:xfrm>
        </p:grpSpPr>
        <p:grpSp>
          <p:nvGrpSpPr>
            <p:cNvPr id="32" name="Group 31">
              <a:extLst>
                <a:ext uri="{FF2B5EF4-FFF2-40B4-BE49-F238E27FC236}">
                  <a16:creationId xmlns:a16="http://schemas.microsoft.com/office/drawing/2014/main" id="{E9BF9667-5077-EB44-8E6C-AD7223383761}"/>
                </a:ext>
              </a:extLst>
            </p:cNvPr>
            <p:cNvGrpSpPr/>
            <p:nvPr/>
          </p:nvGrpSpPr>
          <p:grpSpPr>
            <a:xfrm>
              <a:off x="3749880" y="289209"/>
              <a:ext cx="1160890" cy="2282882"/>
              <a:chOff x="5814884" y="408214"/>
              <a:chExt cx="2019316" cy="3910154"/>
            </a:xfrm>
          </p:grpSpPr>
          <p:pic>
            <p:nvPicPr>
              <p:cNvPr id="19" name="Picture 18">
                <a:extLst>
                  <a:ext uri="{FF2B5EF4-FFF2-40B4-BE49-F238E27FC236}">
                    <a16:creationId xmlns:a16="http://schemas.microsoft.com/office/drawing/2014/main" id="{1C62DCC5-CE46-744E-8945-AB5E008F54F2}"/>
                  </a:ext>
                </a:extLst>
              </p:cNvPr>
              <p:cNvPicPr>
                <a:picLocks noChangeAspect="1"/>
              </p:cNvPicPr>
              <p:nvPr/>
            </p:nvPicPr>
            <p:blipFill>
              <a:blip r:embed="rId8"/>
              <a:stretch>
                <a:fillRect/>
              </a:stretch>
            </p:blipFill>
            <p:spPr>
              <a:xfrm>
                <a:off x="6116202" y="858171"/>
                <a:ext cx="1422831" cy="2799429"/>
              </a:xfrm>
              <a:prstGeom prst="rect">
                <a:avLst/>
              </a:prstGeom>
            </p:spPr>
          </p:pic>
          <p:grpSp>
            <p:nvGrpSpPr>
              <p:cNvPr id="21" name="Group 20">
                <a:extLst>
                  <a:ext uri="{FF2B5EF4-FFF2-40B4-BE49-F238E27FC236}">
                    <a16:creationId xmlns:a16="http://schemas.microsoft.com/office/drawing/2014/main" id="{FF0A00D0-2225-A04F-9DAA-DB3A76616833}"/>
                  </a:ext>
                </a:extLst>
              </p:cNvPr>
              <p:cNvGrpSpPr/>
              <p:nvPr/>
            </p:nvGrpSpPr>
            <p:grpSpPr>
              <a:xfrm>
                <a:off x="6164296" y="417299"/>
                <a:ext cx="545905" cy="576202"/>
                <a:chOff x="7375358" y="2779295"/>
                <a:chExt cx="540000" cy="540000"/>
              </a:xfrm>
            </p:grpSpPr>
            <p:sp>
              <p:nvSpPr>
                <p:cNvPr id="26" name="Oval 25">
                  <a:extLst>
                    <a:ext uri="{FF2B5EF4-FFF2-40B4-BE49-F238E27FC236}">
                      <a16:creationId xmlns:a16="http://schemas.microsoft.com/office/drawing/2014/main" id="{ADA1436F-4967-A149-910D-C169C17AB8DF}"/>
                    </a:ext>
                  </a:extLst>
                </p:cNvPr>
                <p:cNvSpPr/>
                <p:nvPr/>
              </p:nvSpPr>
              <p:spPr>
                <a:xfrm>
                  <a:off x="7375358" y="2779295"/>
                  <a:ext cx="540000" cy="5400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27" name="Oval 26">
                  <a:extLst>
                    <a:ext uri="{FF2B5EF4-FFF2-40B4-BE49-F238E27FC236}">
                      <a16:creationId xmlns:a16="http://schemas.microsoft.com/office/drawing/2014/main" id="{762EC612-CCAD-5A4A-A9DE-63116BE1E890}"/>
                    </a:ext>
                  </a:extLst>
                </p:cNvPr>
                <p:cNvSpPr/>
                <p:nvPr/>
              </p:nvSpPr>
              <p:spPr>
                <a:xfrm>
                  <a:off x="7568776" y="2894549"/>
                  <a:ext cx="251999" cy="25199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28" name="Oval 27">
                  <a:extLst>
                    <a:ext uri="{FF2B5EF4-FFF2-40B4-BE49-F238E27FC236}">
                      <a16:creationId xmlns:a16="http://schemas.microsoft.com/office/drawing/2014/main" id="{B7CDB6C2-365B-2643-81C9-D3DEF353B7C0}"/>
                    </a:ext>
                  </a:extLst>
                </p:cNvPr>
                <p:cNvSpPr/>
                <p:nvPr/>
              </p:nvSpPr>
              <p:spPr>
                <a:xfrm>
                  <a:off x="7694775" y="2948548"/>
                  <a:ext cx="72000" cy="7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grpSp>
            <p:nvGrpSpPr>
              <p:cNvPr id="22" name="Group 21">
                <a:extLst>
                  <a:ext uri="{FF2B5EF4-FFF2-40B4-BE49-F238E27FC236}">
                    <a16:creationId xmlns:a16="http://schemas.microsoft.com/office/drawing/2014/main" id="{17A62225-E01C-0242-8AEC-16EA5AB5AA4E}"/>
                  </a:ext>
                </a:extLst>
              </p:cNvPr>
              <p:cNvGrpSpPr/>
              <p:nvPr/>
            </p:nvGrpSpPr>
            <p:grpSpPr>
              <a:xfrm>
                <a:off x="6895154" y="408214"/>
                <a:ext cx="545905" cy="576202"/>
                <a:chOff x="7375358" y="2779295"/>
                <a:chExt cx="540000" cy="540000"/>
              </a:xfrm>
            </p:grpSpPr>
            <p:sp>
              <p:nvSpPr>
                <p:cNvPr id="23" name="Oval 22">
                  <a:extLst>
                    <a:ext uri="{FF2B5EF4-FFF2-40B4-BE49-F238E27FC236}">
                      <a16:creationId xmlns:a16="http://schemas.microsoft.com/office/drawing/2014/main" id="{68687BDC-E634-D548-BD58-14EA82DAAA25}"/>
                    </a:ext>
                  </a:extLst>
                </p:cNvPr>
                <p:cNvSpPr/>
                <p:nvPr/>
              </p:nvSpPr>
              <p:spPr>
                <a:xfrm>
                  <a:off x="7375358" y="2779295"/>
                  <a:ext cx="540000" cy="5400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24" name="Oval 23">
                  <a:extLst>
                    <a:ext uri="{FF2B5EF4-FFF2-40B4-BE49-F238E27FC236}">
                      <a16:creationId xmlns:a16="http://schemas.microsoft.com/office/drawing/2014/main" id="{743164B5-FD03-C44B-B122-BBE6CADA8B87}"/>
                    </a:ext>
                  </a:extLst>
                </p:cNvPr>
                <p:cNvSpPr/>
                <p:nvPr/>
              </p:nvSpPr>
              <p:spPr>
                <a:xfrm>
                  <a:off x="7568776" y="2894549"/>
                  <a:ext cx="251999" cy="25199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25" name="Oval 24">
                  <a:extLst>
                    <a:ext uri="{FF2B5EF4-FFF2-40B4-BE49-F238E27FC236}">
                      <a16:creationId xmlns:a16="http://schemas.microsoft.com/office/drawing/2014/main" id="{A6F3004F-FA7F-7E4D-8086-A0B57EBD4300}"/>
                    </a:ext>
                  </a:extLst>
                </p:cNvPr>
                <p:cNvSpPr/>
                <p:nvPr/>
              </p:nvSpPr>
              <p:spPr>
                <a:xfrm>
                  <a:off x="7694775" y="2948548"/>
                  <a:ext cx="72000" cy="7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grpSp>
          <p:pic>
            <p:nvPicPr>
              <p:cNvPr id="29" name="Picture 28">
                <a:extLst>
                  <a:ext uri="{FF2B5EF4-FFF2-40B4-BE49-F238E27FC236}">
                    <a16:creationId xmlns:a16="http://schemas.microsoft.com/office/drawing/2014/main" id="{29FE85DC-493A-4244-9D2D-E0557B9BB248}"/>
                  </a:ext>
                </a:extLst>
              </p:cNvPr>
              <p:cNvPicPr>
                <a:picLocks noChangeAspect="1"/>
              </p:cNvPicPr>
              <p:nvPr/>
            </p:nvPicPr>
            <p:blipFill>
              <a:blip r:embed="rId6"/>
              <a:stretch>
                <a:fillRect/>
              </a:stretch>
            </p:blipFill>
            <p:spPr>
              <a:xfrm rot="372615" flipH="1">
                <a:off x="5897690" y="1474565"/>
                <a:ext cx="690890" cy="1397483"/>
              </a:xfrm>
              <a:prstGeom prst="rect">
                <a:avLst/>
              </a:prstGeom>
            </p:spPr>
          </p:pic>
          <p:pic>
            <p:nvPicPr>
              <p:cNvPr id="30" name="Picture 29">
                <a:extLst>
                  <a:ext uri="{FF2B5EF4-FFF2-40B4-BE49-F238E27FC236}">
                    <a16:creationId xmlns:a16="http://schemas.microsoft.com/office/drawing/2014/main" id="{A6CF3F8E-689C-3640-9023-BE43D582399E}"/>
                  </a:ext>
                </a:extLst>
              </p:cNvPr>
              <p:cNvPicPr>
                <a:picLocks noChangeAspect="1"/>
              </p:cNvPicPr>
              <p:nvPr/>
            </p:nvPicPr>
            <p:blipFill>
              <a:blip r:embed="rId6"/>
              <a:stretch>
                <a:fillRect/>
              </a:stretch>
            </p:blipFill>
            <p:spPr>
              <a:xfrm rot="21227385">
                <a:off x="7090250" y="1474566"/>
                <a:ext cx="690890" cy="1397483"/>
              </a:xfrm>
              <a:prstGeom prst="rect">
                <a:avLst/>
              </a:prstGeom>
            </p:spPr>
          </p:pic>
          <p:pic>
            <p:nvPicPr>
              <p:cNvPr id="31" name="Picture 30">
                <a:extLst>
                  <a:ext uri="{FF2B5EF4-FFF2-40B4-BE49-F238E27FC236}">
                    <a16:creationId xmlns:a16="http://schemas.microsoft.com/office/drawing/2014/main" id="{FAFA0A7E-4BF8-3544-B56A-B8F3F1AE2C8D}"/>
                  </a:ext>
                </a:extLst>
              </p:cNvPr>
              <p:cNvPicPr>
                <a:picLocks noChangeAspect="1"/>
              </p:cNvPicPr>
              <p:nvPr/>
            </p:nvPicPr>
            <p:blipFill>
              <a:blip r:embed="rId7"/>
              <a:stretch>
                <a:fillRect/>
              </a:stretch>
            </p:blipFill>
            <p:spPr>
              <a:xfrm>
                <a:off x="5814884" y="3455466"/>
                <a:ext cx="2019316" cy="862902"/>
              </a:xfrm>
              <a:prstGeom prst="rect">
                <a:avLst/>
              </a:prstGeom>
            </p:spPr>
          </p:pic>
        </p:grpSp>
        <p:sp>
          <p:nvSpPr>
            <p:cNvPr id="49" name="Rectangle 48">
              <a:extLst>
                <a:ext uri="{FF2B5EF4-FFF2-40B4-BE49-F238E27FC236}">
                  <a16:creationId xmlns:a16="http://schemas.microsoft.com/office/drawing/2014/main" id="{48A1B3DB-49F1-894E-BEFF-4911BFD0C37B}"/>
                </a:ext>
              </a:extLst>
            </p:cNvPr>
            <p:cNvSpPr/>
            <p:nvPr/>
          </p:nvSpPr>
          <p:spPr>
            <a:xfrm>
              <a:off x="2514710" y="885174"/>
              <a:ext cx="334034" cy="372371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56" name="Rectangle 55">
              <a:extLst>
                <a:ext uri="{FF2B5EF4-FFF2-40B4-BE49-F238E27FC236}">
                  <a16:creationId xmlns:a16="http://schemas.microsoft.com/office/drawing/2014/main" id="{8CE71A9F-CBED-C740-8BBF-DA7AC3AEFBAD}"/>
                </a:ext>
              </a:extLst>
            </p:cNvPr>
            <p:cNvSpPr/>
            <p:nvPr/>
          </p:nvSpPr>
          <p:spPr>
            <a:xfrm>
              <a:off x="2803256" y="4329624"/>
              <a:ext cx="2857095" cy="2427987"/>
            </a:xfrm>
            <a:prstGeom prst="rect">
              <a:avLst/>
            </a:prstGeom>
            <a:solidFill>
              <a:schemeClr val="accent5">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7" dirty="0">
                  <a:solidFill>
                    <a:schemeClr val="tx1"/>
                  </a:solidFill>
                  <a:latin typeface="Comic Sans MS" panose="030F0902030302020204" pitchFamily="66" charset="0"/>
                </a:rPr>
                <a:t>On his turn, Simon places the coin into a superposition, where it exists on both side 0 and side 1 simultaneously.</a:t>
              </a:r>
            </a:p>
          </p:txBody>
        </p:sp>
        <p:pic>
          <p:nvPicPr>
            <p:cNvPr id="48" name="Picture 47">
              <a:extLst>
                <a:ext uri="{FF2B5EF4-FFF2-40B4-BE49-F238E27FC236}">
                  <a16:creationId xmlns:a16="http://schemas.microsoft.com/office/drawing/2014/main" id="{38DDB769-5AAB-4E49-8CC9-FEF5B326BBBD}"/>
                </a:ext>
              </a:extLst>
            </p:cNvPr>
            <p:cNvPicPr>
              <a:picLocks noChangeAspect="1"/>
            </p:cNvPicPr>
            <p:nvPr/>
          </p:nvPicPr>
          <p:blipFill>
            <a:blip r:embed="rId9">
              <a:alphaModFix amt="86000"/>
            </a:blip>
            <a:stretch>
              <a:fillRect/>
            </a:stretch>
          </p:blipFill>
          <p:spPr>
            <a:xfrm>
              <a:off x="3390029" y="3163349"/>
              <a:ext cx="1749124" cy="1052262"/>
            </a:xfrm>
            <a:prstGeom prst="rect">
              <a:avLst/>
            </a:prstGeom>
          </p:spPr>
        </p:pic>
      </p:grpSp>
      <p:sp>
        <p:nvSpPr>
          <p:cNvPr id="54" name="Slide Number Placeholder 1">
            <a:extLst>
              <a:ext uri="{FF2B5EF4-FFF2-40B4-BE49-F238E27FC236}">
                <a16:creationId xmlns:a16="http://schemas.microsoft.com/office/drawing/2014/main" id="{A81C8284-FBF1-B64E-9C06-C74D514ED2E2}"/>
              </a:ext>
            </a:extLst>
          </p:cNvPr>
          <p:cNvSpPr>
            <a:spLocks noGrp="1"/>
          </p:cNvSpPr>
          <p:nvPr>
            <p:ph type="sldNum" sz="quarter" idx="4294967295"/>
          </p:nvPr>
        </p:nvSpPr>
        <p:spPr>
          <a:xfrm>
            <a:off x="9448800" y="6492875"/>
            <a:ext cx="2743200" cy="365125"/>
          </a:xfrm>
        </p:spPr>
        <p:txBody>
          <a:bodyPr/>
          <a:lstStyle/>
          <a:p>
            <a:fld id="{F9755F1A-B9A0-4847-95B6-A26175A266D6}" type="slidenum">
              <a:rPr lang="en-US" smtClean="0"/>
              <a:t>19</a:t>
            </a:fld>
            <a:endParaRPr lang="en-US" dirty="0"/>
          </a:p>
        </p:txBody>
      </p:sp>
      <p:sp>
        <p:nvSpPr>
          <p:cNvPr id="59" name="TextBox 58">
            <a:extLst>
              <a:ext uri="{FF2B5EF4-FFF2-40B4-BE49-F238E27FC236}">
                <a16:creationId xmlns:a16="http://schemas.microsoft.com/office/drawing/2014/main" id="{32CE1C1D-CD66-084D-AAD9-A30AFA4CAF63}"/>
              </a:ext>
            </a:extLst>
          </p:cNvPr>
          <p:cNvSpPr txBox="1"/>
          <p:nvPr/>
        </p:nvSpPr>
        <p:spPr>
          <a:xfrm>
            <a:off x="138838" y="217584"/>
            <a:ext cx="3184116" cy="1137687"/>
          </a:xfrm>
          <a:prstGeom prst="rect">
            <a:avLst/>
          </a:prstGeom>
          <a:solidFill>
            <a:schemeClr val="accent2">
              <a:lumMod val="20000"/>
              <a:lumOff val="80000"/>
            </a:schemeClr>
          </a:solidFill>
        </p:spPr>
        <p:txBody>
          <a:bodyPr wrap="square" rtlCol="0">
            <a:spAutoFit/>
          </a:bodyPr>
          <a:lstStyle/>
          <a:p>
            <a:r>
              <a:rPr lang="en-US" sz="2227" dirty="0">
                <a:latin typeface="Comic Sans MS" panose="030F0902030302020204" pitchFamily="66" charset="0"/>
              </a:rPr>
              <a:t>Simon reveals to Bob that the secret lies in quantum superposition</a:t>
            </a:r>
          </a:p>
        </p:txBody>
      </p:sp>
      <p:grpSp>
        <p:nvGrpSpPr>
          <p:cNvPr id="2" name="Group 1">
            <a:extLst>
              <a:ext uri="{FF2B5EF4-FFF2-40B4-BE49-F238E27FC236}">
                <a16:creationId xmlns:a16="http://schemas.microsoft.com/office/drawing/2014/main" id="{BD50857F-1EEC-C643-BAFC-16B4CE8D59C7}"/>
              </a:ext>
            </a:extLst>
          </p:cNvPr>
          <p:cNvGrpSpPr/>
          <p:nvPr/>
        </p:nvGrpSpPr>
        <p:grpSpPr>
          <a:xfrm>
            <a:off x="5663444" y="319379"/>
            <a:ext cx="3145641" cy="6434760"/>
            <a:chOff x="5663444" y="319379"/>
            <a:chExt cx="3145641" cy="6434760"/>
          </a:xfrm>
        </p:grpSpPr>
        <p:grpSp>
          <p:nvGrpSpPr>
            <p:cNvPr id="6" name="Group 5">
              <a:extLst>
                <a:ext uri="{FF2B5EF4-FFF2-40B4-BE49-F238E27FC236}">
                  <a16:creationId xmlns:a16="http://schemas.microsoft.com/office/drawing/2014/main" id="{E1BDE30D-48F4-5A4D-9E01-4E80367B8A0E}"/>
                </a:ext>
              </a:extLst>
            </p:cNvPr>
            <p:cNvGrpSpPr/>
            <p:nvPr/>
          </p:nvGrpSpPr>
          <p:grpSpPr>
            <a:xfrm>
              <a:off x="5663444" y="417078"/>
              <a:ext cx="3145641" cy="6337061"/>
              <a:chOff x="5663444" y="417078"/>
              <a:chExt cx="3145641" cy="6337061"/>
            </a:xfrm>
          </p:grpSpPr>
          <p:sp>
            <p:nvSpPr>
              <p:cNvPr id="50" name="Rectangle 49">
                <a:extLst>
                  <a:ext uri="{FF2B5EF4-FFF2-40B4-BE49-F238E27FC236}">
                    <a16:creationId xmlns:a16="http://schemas.microsoft.com/office/drawing/2014/main" id="{36791C26-32B6-8848-890E-B458A8F0CEAB}"/>
                  </a:ext>
                </a:extLst>
              </p:cNvPr>
              <p:cNvSpPr/>
              <p:nvPr/>
            </p:nvSpPr>
            <p:spPr>
              <a:xfrm>
                <a:off x="5663444" y="417078"/>
                <a:ext cx="334034" cy="419180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70"/>
              </a:p>
            </p:txBody>
          </p:sp>
          <p:sp>
            <p:nvSpPr>
              <p:cNvPr id="57" name="Rectangle 56">
                <a:extLst>
                  <a:ext uri="{FF2B5EF4-FFF2-40B4-BE49-F238E27FC236}">
                    <a16:creationId xmlns:a16="http://schemas.microsoft.com/office/drawing/2014/main" id="{07042DF4-ACB3-8347-B8BE-5129FB181E6F}"/>
                  </a:ext>
                </a:extLst>
              </p:cNvPr>
              <p:cNvSpPr/>
              <p:nvPr/>
            </p:nvSpPr>
            <p:spPr>
              <a:xfrm>
                <a:off x="6018250" y="4954138"/>
                <a:ext cx="2790835" cy="1800001"/>
              </a:xfrm>
              <a:prstGeom prst="rect">
                <a:avLst/>
              </a:prstGeom>
              <a:solidFill>
                <a:schemeClr val="accent4">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7" dirty="0">
                    <a:solidFill>
                      <a:schemeClr val="tx1"/>
                    </a:solidFill>
                    <a:latin typeface="Comic Sans MS" panose="030F0902030302020204" pitchFamily="66" charset="0"/>
                  </a:rPr>
                  <a:t>No matter how many times Bob turns the coin, the superposition remains unchanged.</a:t>
                </a:r>
              </a:p>
            </p:txBody>
          </p:sp>
          <p:pic>
            <p:nvPicPr>
              <p:cNvPr id="53" name="Picture 52">
                <a:extLst>
                  <a:ext uri="{FF2B5EF4-FFF2-40B4-BE49-F238E27FC236}">
                    <a16:creationId xmlns:a16="http://schemas.microsoft.com/office/drawing/2014/main" id="{05B91CBA-5B24-DB49-8E4C-A19F74C4594D}"/>
                  </a:ext>
                </a:extLst>
              </p:cNvPr>
              <p:cNvPicPr>
                <a:picLocks noChangeAspect="1"/>
              </p:cNvPicPr>
              <p:nvPr/>
            </p:nvPicPr>
            <p:blipFill>
              <a:blip r:embed="rId9">
                <a:alphaModFix amt="86000"/>
              </a:blip>
              <a:stretch>
                <a:fillRect/>
              </a:stretch>
            </p:blipFill>
            <p:spPr>
              <a:xfrm>
                <a:off x="6494000" y="3122572"/>
                <a:ext cx="1749124" cy="1052262"/>
              </a:xfrm>
              <a:prstGeom prst="rect">
                <a:avLst/>
              </a:prstGeom>
            </p:spPr>
          </p:pic>
        </p:grpSp>
        <p:pic>
          <p:nvPicPr>
            <p:cNvPr id="60" name="Picture 59">
              <a:extLst>
                <a:ext uri="{FF2B5EF4-FFF2-40B4-BE49-F238E27FC236}">
                  <a16:creationId xmlns:a16="http://schemas.microsoft.com/office/drawing/2014/main" id="{3959C021-CC84-344E-AFAE-649BDE7D53D1}"/>
                </a:ext>
              </a:extLst>
            </p:cNvPr>
            <p:cNvPicPr>
              <a:picLocks noChangeAspect="1"/>
            </p:cNvPicPr>
            <p:nvPr/>
          </p:nvPicPr>
          <p:blipFill>
            <a:blip r:embed="rId3"/>
            <a:stretch>
              <a:fillRect/>
            </a:stretch>
          </p:blipFill>
          <p:spPr>
            <a:xfrm>
              <a:off x="6602579" y="319379"/>
              <a:ext cx="1520892" cy="2252712"/>
            </a:xfrm>
            <a:prstGeom prst="rect">
              <a:avLst/>
            </a:prstGeom>
          </p:spPr>
        </p:pic>
      </p:grpSp>
    </p:spTree>
    <p:extLst>
      <p:ext uri="{BB962C8B-B14F-4D97-AF65-F5344CB8AC3E}">
        <p14:creationId xmlns:p14="http://schemas.microsoft.com/office/powerpoint/2010/main" val="3179763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82A732-BBC6-DF44-B63C-C55E2C732EB4}"/>
              </a:ext>
            </a:extLst>
          </p:cNvPr>
          <p:cNvPicPr>
            <a:picLocks noChangeAspect="1"/>
          </p:cNvPicPr>
          <p:nvPr/>
        </p:nvPicPr>
        <p:blipFill>
          <a:blip r:embed="rId3"/>
          <a:stretch>
            <a:fillRect/>
          </a:stretch>
        </p:blipFill>
        <p:spPr>
          <a:xfrm>
            <a:off x="691376" y="1439333"/>
            <a:ext cx="7315200" cy="4876800"/>
          </a:xfrm>
          <a:prstGeom prst="rect">
            <a:avLst/>
          </a:prstGeom>
        </p:spPr>
      </p:pic>
      <p:sp>
        <p:nvSpPr>
          <p:cNvPr id="10" name="Oval Callout 9">
            <a:extLst>
              <a:ext uri="{FF2B5EF4-FFF2-40B4-BE49-F238E27FC236}">
                <a16:creationId xmlns:a16="http://schemas.microsoft.com/office/drawing/2014/main" id="{92C5DC11-19F0-564A-8066-33ACD5DCF138}"/>
              </a:ext>
            </a:extLst>
          </p:cNvPr>
          <p:cNvSpPr/>
          <p:nvPr/>
        </p:nvSpPr>
        <p:spPr>
          <a:xfrm>
            <a:off x="0" y="186517"/>
            <a:ext cx="4348976" cy="2266751"/>
          </a:xfrm>
          <a:prstGeom prst="wedgeEllipseCallout">
            <a:avLst>
              <a:gd name="adj1" fmla="val 17658"/>
              <a:gd name="adj2" fmla="val 71746"/>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2400" dirty="0">
                <a:solidFill>
                  <a:schemeClr val="tx1"/>
                </a:solidFill>
                <a:latin typeface="Comic Sans MS" panose="030F0902030302020204" pitchFamily="66" charset="0"/>
              </a:rPr>
              <a:t>If you think you understand quantum mechanics, you don't understand quantum mechanics</a:t>
            </a:r>
            <a:endParaRPr lang="en-US" sz="2400" dirty="0">
              <a:solidFill>
                <a:schemeClr val="tx1"/>
              </a:solidFill>
              <a:latin typeface="Comic Sans MS" panose="030F0902030302020204" pitchFamily="66" charset="0"/>
            </a:endParaRPr>
          </a:p>
        </p:txBody>
      </p:sp>
      <p:sp>
        <p:nvSpPr>
          <p:cNvPr id="11" name="TextBox 10">
            <a:extLst>
              <a:ext uri="{FF2B5EF4-FFF2-40B4-BE49-F238E27FC236}">
                <a16:creationId xmlns:a16="http://schemas.microsoft.com/office/drawing/2014/main" id="{0B7750BD-9D23-5747-9035-33643065E69B}"/>
              </a:ext>
            </a:extLst>
          </p:cNvPr>
          <p:cNvSpPr txBox="1"/>
          <p:nvPr/>
        </p:nvSpPr>
        <p:spPr>
          <a:xfrm>
            <a:off x="2249764" y="6316133"/>
            <a:ext cx="3422732" cy="584775"/>
          </a:xfrm>
          <a:prstGeom prst="rect">
            <a:avLst/>
          </a:prstGeom>
          <a:noFill/>
        </p:spPr>
        <p:txBody>
          <a:bodyPr wrap="none" rtlCol="0">
            <a:spAutoFit/>
          </a:bodyPr>
          <a:lstStyle/>
          <a:p>
            <a:r>
              <a:rPr lang="en-ZA" sz="3200" dirty="0">
                <a:latin typeface="Comic Sans MS" panose="030F0902030302020204" pitchFamily="66" charset="0"/>
              </a:rPr>
              <a:t>Richard Feynman</a:t>
            </a:r>
            <a:endParaRPr lang="en-US" sz="3200" dirty="0">
              <a:latin typeface="Comic Sans MS" panose="030F0902030302020204" pitchFamily="66" charset="0"/>
            </a:endParaRPr>
          </a:p>
        </p:txBody>
      </p:sp>
      <p:sp>
        <p:nvSpPr>
          <p:cNvPr id="12" name="TextBox 11">
            <a:extLst>
              <a:ext uri="{FF2B5EF4-FFF2-40B4-BE49-F238E27FC236}">
                <a16:creationId xmlns:a16="http://schemas.microsoft.com/office/drawing/2014/main" id="{9F58C0FB-B96D-674C-BAF3-5E03B87A1D10}"/>
              </a:ext>
            </a:extLst>
          </p:cNvPr>
          <p:cNvSpPr txBox="1"/>
          <p:nvPr/>
        </p:nvSpPr>
        <p:spPr>
          <a:xfrm>
            <a:off x="7646804" y="6316132"/>
            <a:ext cx="2803973" cy="584775"/>
          </a:xfrm>
          <a:prstGeom prst="rect">
            <a:avLst/>
          </a:prstGeom>
          <a:noFill/>
        </p:spPr>
        <p:txBody>
          <a:bodyPr wrap="none" rtlCol="0">
            <a:spAutoFit/>
          </a:bodyPr>
          <a:lstStyle/>
          <a:p>
            <a:r>
              <a:rPr lang="en-ZA" sz="3200" dirty="0">
                <a:latin typeface="Comic Sans MS" panose="030F0902030302020204" pitchFamily="66" charset="0"/>
              </a:rPr>
              <a:t>David </a:t>
            </a:r>
            <a:r>
              <a:rPr lang="en-ZA" sz="3200" dirty="0" err="1">
                <a:latin typeface="Comic Sans MS" panose="030F0902030302020204" pitchFamily="66" charset="0"/>
              </a:rPr>
              <a:t>Mermin</a:t>
            </a:r>
            <a:endParaRPr lang="en-US" sz="3200" dirty="0">
              <a:latin typeface="Comic Sans MS" panose="030F0902030302020204" pitchFamily="66" charset="0"/>
            </a:endParaRPr>
          </a:p>
        </p:txBody>
      </p:sp>
      <p:pic>
        <p:nvPicPr>
          <p:cNvPr id="3" name="Picture 2">
            <a:extLst>
              <a:ext uri="{FF2B5EF4-FFF2-40B4-BE49-F238E27FC236}">
                <a16:creationId xmlns:a16="http://schemas.microsoft.com/office/drawing/2014/main" id="{BAE95DC8-9D59-6844-807D-5A4C57EA545E}"/>
              </a:ext>
            </a:extLst>
          </p:cNvPr>
          <p:cNvPicPr>
            <a:picLocks noChangeAspect="1"/>
          </p:cNvPicPr>
          <p:nvPr/>
        </p:nvPicPr>
        <p:blipFill>
          <a:blip r:embed="rId4"/>
          <a:stretch>
            <a:fillRect/>
          </a:stretch>
        </p:blipFill>
        <p:spPr>
          <a:xfrm>
            <a:off x="7413719" y="1848917"/>
            <a:ext cx="3037058" cy="4555587"/>
          </a:xfrm>
          <a:prstGeom prst="rect">
            <a:avLst/>
          </a:prstGeom>
        </p:spPr>
      </p:pic>
      <p:sp>
        <p:nvSpPr>
          <p:cNvPr id="9" name="Oval Callout 8">
            <a:extLst>
              <a:ext uri="{FF2B5EF4-FFF2-40B4-BE49-F238E27FC236}">
                <a16:creationId xmlns:a16="http://schemas.microsoft.com/office/drawing/2014/main" id="{322414D7-0532-8240-9C58-1E8E1DAB68E0}"/>
              </a:ext>
            </a:extLst>
          </p:cNvPr>
          <p:cNvSpPr/>
          <p:nvPr/>
        </p:nvSpPr>
        <p:spPr>
          <a:xfrm>
            <a:off x="8534236" y="186517"/>
            <a:ext cx="3533778" cy="2418555"/>
          </a:xfrm>
          <a:prstGeom prst="wedgeEllipseCallout">
            <a:avLst>
              <a:gd name="adj1" fmla="val -54854"/>
              <a:gd name="adj2" fmla="val 71313"/>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Comic Sans MS" panose="030F0902030302020204" pitchFamily="66" charset="0"/>
              </a:rPr>
              <a:t>Shut up and calculate!</a:t>
            </a:r>
          </a:p>
        </p:txBody>
      </p:sp>
    </p:spTree>
    <p:extLst>
      <p:ext uri="{BB962C8B-B14F-4D97-AF65-F5344CB8AC3E}">
        <p14:creationId xmlns:p14="http://schemas.microsoft.com/office/powerpoint/2010/main" val="31014402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7422D2-018B-7042-B8D4-15F291282BE5}"/>
              </a:ext>
            </a:extLst>
          </p:cNvPr>
          <p:cNvSpPr>
            <a:spLocks noGrp="1"/>
          </p:cNvSpPr>
          <p:nvPr>
            <p:ph type="sldNum" sz="quarter" idx="12"/>
          </p:nvPr>
        </p:nvSpPr>
        <p:spPr/>
        <p:txBody>
          <a:bodyPr/>
          <a:lstStyle/>
          <a:p>
            <a:fld id="{F9755F1A-B9A0-4847-95B6-A26175A266D6}" type="slidenum">
              <a:rPr lang="en-US" smtClean="0"/>
              <a:t>21</a:t>
            </a:fld>
            <a:endParaRPr lang="en-US" dirty="0"/>
          </a:p>
        </p:txBody>
      </p:sp>
      <p:sp>
        <p:nvSpPr>
          <p:cNvPr id="3" name="Title 2">
            <a:extLst>
              <a:ext uri="{FF2B5EF4-FFF2-40B4-BE49-F238E27FC236}">
                <a16:creationId xmlns:a16="http://schemas.microsoft.com/office/drawing/2014/main" id="{06EAB403-2B3E-F944-8A38-3D26B1E746CD}"/>
              </a:ext>
            </a:extLst>
          </p:cNvPr>
          <p:cNvSpPr>
            <a:spLocks noGrp="1"/>
          </p:cNvSpPr>
          <p:nvPr>
            <p:ph type="title"/>
          </p:nvPr>
        </p:nvSpPr>
        <p:spPr/>
        <p:txBody>
          <a:bodyPr/>
          <a:lstStyle/>
          <a:p>
            <a:r>
              <a:rPr lang="en-US" dirty="0"/>
              <a:t>Classical vs quantum data: bit vs qubit</a:t>
            </a:r>
          </a:p>
        </p:txBody>
      </p:sp>
      <p:grpSp>
        <p:nvGrpSpPr>
          <p:cNvPr id="43" name="Group 42">
            <a:extLst>
              <a:ext uri="{FF2B5EF4-FFF2-40B4-BE49-F238E27FC236}">
                <a16:creationId xmlns:a16="http://schemas.microsoft.com/office/drawing/2014/main" id="{A542E8B7-9B59-374E-B8A2-2909B4DE9F9C}"/>
              </a:ext>
            </a:extLst>
          </p:cNvPr>
          <p:cNvGrpSpPr/>
          <p:nvPr/>
        </p:nvGrpSpPr>
        <p:grpSpPr>
          <a:xfrm>
            <a:off x="756711" y="3568275"/>
            <a:ext cx="4388354" cy="2612854"/>
            <a:chOff x="743449" y="2752022"/>
            <a:chExt cx="4388354" cy="2612854"/>
          </a:xfrm>
        </p:grpSpPr>
        <p:pic>
          <p:nvPicPr>
            <p:cNvPr id="5" name="Picture 4">
              <a:extLst>
                <a:ext uri="{FF2B5EF4-FFF2-40B4-BE49-F238E27FC236}">
                  <a16:creationId xmlns:a16="http://schemas.microsoft.com/office/drawing/2014/main" id="{D52C12E3-425E-4F49-90B0-0CCD0D53F456}"/>
                </a:ext>
              </a:extLst>
            </p:cNvPr>
            <p:cNvPicPr>
              <a:picLocks noChangeAspect="1"/>
            </p:cNvPicPr>
            <p:nvPr/>
          </p:nvPicPr>
          <p:blipFill>
            <a:blip r:embed="rId3"/>
            <a:stretch>
              <a:fillRect/>
            </a:stretch>
          </p:blipFill>
          <p:spPr>
            <a:xfrm>
              <a:off x="743449" y="3552187"/>
              <a:ext cx="1722697" cy="1012524"/>
            </a:xfrm>
            <a:prstGeom prst="rect">
              <a:avLst/>
            </a:prstGeom>
          </p:spPr>
        </p:pic>
        <p:pic>
          <p:nvPicPr>
            <p:cNvPr id="7" name="Picture 6">
              <a:extLst>
                <a:ext uri="{FF2B5EF4-FFF2-40B4-BE49-F238E27FC236}">
                  <a16:creationId xmlns:a16="http://schemas.microsoft.com/office/drawing/2014/main" id="{17137103-B0F0-E441-AFF1-17F82844AB1F}"/>
                </a:ext>
              </a:extLst>
            </p:cNvPr>
            <p:cNvPicPr>
              <a:picLocks noChangeAspect="1"/>
            </p:cNvPicPr>
            <p:nvPr/>
          </p:nvPicPr>
          <p:blipFill>
            <a:blip r:embed="rId4"/>
            <a:stretch>
              <a:fillRect/>
            </a:stretch>
          </p:blipFill>
          <p:spPr>
            <a:xfrm>
              <a:off x="3409106" y="3580742"/>
              <a:ext cx="1722697" cy="1012524"/>
            </a:xfrm>
            <a:prstGeom prst="rect">
              <a:avLst/>
            </a:prstGeom>
          </p:spPr>
        </p:pic>
        <p:sp>
          <p:nvSpPr>
            <p:cNvPr id="33" name="TextBox 32">
              <a:extLst>
                <a:ext uri="{FF2B5EF4-FFF2-40B4-BE49-F238E27FC236}">
                  <a16:creationId xmlns:a16="http://schemas.microsoft.com/office/drawing/2014/main" id="{80ADF3FF-EBE7-7E4B-BB50-C716B19AC59A}"/>
                </a:ext>
              </a:extLst>
            </p:cNvPr>
            <p:cNvSpPr txBox="1"/>
            <p:nvPr/>
          </p:nvSpPr>
          <p:spPr>
            <a:xfrm>
              <a:off x="2419330" y="4903211"/>
              <a:ext cx="902811" cy="461665"/>
            </a:xfrm>
            <a:prstGeom prst="rect">
              <a:avLst/>
            </a:prstGeom>
            <a:noFill/>
          </p:spPr>
          <p:txBody>
            <a:bodyPr wrap="none" rtlCol="0">
              <a:spAutoFit/>
            </a:bodyPr>
            <a:lstStyle/>
            <a:p>
              <a:r>
                <a:rPr lang="en-US" sz="2400" dirty="0"/>
                <a:t>0 </a:t>
              </a:r>
              <a:r>
                <a:rPr lang="en-US" sz="2400" b="1" dirty="0"/>
                <a:t>or</a:t>
              </a:r>
              <a:r>
                <a:rPr lang="en-US" sz="2400" dirty="0"/>
                <a:t> 1</a:t>
              </a:r>
            </a:p>
          </p:txBody>
        </p:sp>
        <p:sp>
          <p:nvSpPr>
            <p:cNvPr id="35" name="TextBox 34">
              <a:extLst>
                <a:ext uri="{FF2B5EF4-FFF2-40B4-BE49-F238E27FC236}">
                  <a16:creationId xmlns:a16="http://schemas.microsoft.com/office/drawing/2014/main" id="{11D2BC80-23A4-DF40-8EDA-38C5737CFCF7}"/>
                </a:ext>
              </a:extLst>
            </p:cNvPr>
            <p:cNvSpPr txBox="1"/>
            <p:nvPr/>
          </p:nvSpPr>
          <p:spPr>
            <a:xfrm>
              <a:off x="1604797" y="2752022"/>
              <a:ext cx="3021533" cy="461665"/>
            </a:xfrm>
            <a:prstGeom prst="rect">
              <a:avLst/>
            </a:prstGeom>
            <a:noFill/>
          </p:spPr>
          <p:txBody>
            <a:bodyPr wrap="none" rtlCol="0">
              <a:spAutoFit/>
            </a:bodyPr>
            <a:lstStyle/>
            <a:p>
              <a:r>
                <a:rPr lang="en-US" sz="2400" dirty="0"/>
                <a:t>classical computer: BIT</a:t>
              </a:r>
            </a:p>
          </p:txBody>
        </p:sp>
      </p:grpSp>
      <p:grpSp>
        <p:nvGrpSpPr>
          <p:cNvPr id="23" name="Group 22">
            <a:extLst>
              <a:ext uri="{FF2B5EF4-FFF2-40B4-BE49-F238E27FC236}">
                <a16:creationId xmlns:a16="http://schemas.microsoft.com/office/drawing/2014/main" id="{F49ABB6B-9AC5-2645-917E-942892B751EE}"/>
              </a:ext>
            </a:extLst>
          </p:cNvPr>
          <p:cNvGrpSpPr/>
          <p:nvPr/>
        </p:nvGrpSpPr>
        <p:grpSpPr>
          <a:xfrm>
            <a:off x="6455757" y="3398520"/>
            <a:ext cx="4741598" cy="3204194"/>
            <a:chOff x="6455757" y="2779163"/>
            <a:chExt cx="4741598" cy="3204194"/>
          </a:xfrm>
        </p:grpSpPr>
        <p:pic>
          <p:nvPicPr>
            <p:cNvPr id="9" name="Picture 8">
              <a:extLst>
                <a:ext uri="{FF2B5EF4-FFF2-40B4-BE49-F238E27FC236}">
                  <a16:creationId xmlns:a16="http://schemas.microsoft.com/office/drawing/2014/main" id="{E90093A4-7525-1846-9BF8-1BE220BA8941}"/>
                </a:ext>
              </a:extLst>
            </p:cNvPr>
            <p:cNvPicPr>
              <a:picLocks noChangeAspect="1"/>
            </p:cNvPicPr>
            <p:nvPr/>
          </p:nvPicPr>
          <p:blipFill>
            <a:blip r:embed="rId5">
              <a:alphaModFix amt="86000"/>
            </a:blip>
            <a:stretch>
              <a:fillRect/>
            </a:stretch>
          </p:blipFill>
          <p:spPr>
            <a:xfrm>
              <a:off x="8228886" y="3729214"/>
              <a:ext cx="1749124" cy="1052262"/>
            </a:xfrm>
            <a:prstGeom prst="rect">
              <a:avLst/>
            </a:prstGeom>
          </p:spPr>
        </p:pic>
        <p:sp>
          <p:nvSpPr>
            <p:cNvPr id="34" name="TextBox 33">
              <a:extLst>
                <a:ext uri="{FF2B5EF4-FFF2-40B4-BE49-F238E27FC236}">
                  <a16:creationId xmlns:a16="http://schemas.microsoft.com/office/drawing/2014/main" id="{AB0B0CE4-1ACA-A14F-A958-B3DE191971F5}"/>
                </a:ext>
              </a:extLst>
            </p:cNvPr>
            <p:cNvSpPr txBox="1"/>
            <p:nvPr/>
          </p:nvSpPr>
          <p:spPr>
            <a:xfrm>
              <a:off x="8545442" y="5100107"/>
              <a:ext cx="1116011" cy="461665"/>
            </a:xfrm>
            <a:prstGeom prst="rect">
              <a:avLst/>
            </a:prstGeom>
            <a:noFill/>
          </p:spPr>
          <p:txBody>
            <a:bodyPr wrap="none" rtlCol="0">
              <a:spAutoFit/>
            </a:bodyPr>
            <a:lstStyle/>
            <a:p>
              <a:pPr algn="ctr"/>
              <a:r>
                <a:rPr lang="en-US" sz="2400" dirty="0"/>
                <a:t>0 </a:t>
              </a:r>
              <a:r>
                <a:rPr lang="en-US" sz="2400" b="1" dirty="0"/>
                <a:t>and</a:t>
              </a:r>
              <a:r>
                <a:rPr lang="en-US" sz="2400" dirty="0"/>
                <a:t> 1</a:t>
              </a:r>
            </a:p>
          </p:txBody>
        </p:sp>
        <p:sp>
          <p:nvSpPr>
            <p:cNvPr id="37" name="TextBox 36">
              <a:extLst>
                <a:ext uri="{FF2B5EF4-FFF2-40B4-BE49-F238E27FC236}">
                  <a16:creationId xmlns:a16="http://schemas.microsoft.com/office/drawing/2014/main" id="{FC4F05F6-40A2-C34E-9766-D5A10E1D7A5C}"/>
                </a:ext>
              </a:extLst>
            </p:cNvPr>
            <p:cNvSpPr txBox="1"/>
            <p:nvPr/>
          </p:nvSpPr>
          <p:spPr>
            <a:xfrm>
              <a:off x="7591047" y="2948918"/>
              <a:ext cx="3606308" cy="461665"/>
            </a:xfrm>
            <a:prstGeom prst="rect">
              <a:avLst/>
            </a:prstGeom>
            <a:noFill/>
          </p:spPr>
          <p:txBody>
            <a:bodyPr wrap="none" rtlCol="0">
              <a:spAutoFit/>
            </a:bodyPr>
            <a:lstStyle/>
            <a:p>
              <a:r>
                <a:rPr lang="en-US" sz="2400" dirty="0"/>
                <a:t>Quantum computer: QUBIT</a:t>
              </a:r>
            </a:p>
          </p:txBody>
        </p:sp>
        <p:cxnSp>
          <p:nvCxnSpPr>
            <p:cNvPr id="10" name="Straight Connector 9">
              <a:extLst>
                <a:ext uri="{FF2B5EF4-FFF2-40B4-BE49-F238E27FC236}">
                  <a16:creationId xmlns:a16="http://schemas.microsoft.com/office/drawing/2014/main" id="{BC442FC7-D485-8D41-A4FB-3AF50B192918}"/>
                </a:ext>
              </a:extLst>
            </p:cNvPr>
            <p:cNvCxnSpPr>
              <a:cxnSpLocks/>
            </p:cNvCxnSpPr>
            <p:nvPr/>
          </p:nvCxnSpPr>
          <p:spPr>
            <a:xfrm>
              <a:off x="6455757" y="2779163"/>
              <a:ext cx="0" cy="3204194"/>
            </a:xfrm>
            <a:prstGeom prst="line">
              <a:avLst/>
            </a:prstGeom>
            <a:ln w="50800" cmpd="dbl">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44" name="Rectangle 43">
            <a:extLst>
              <a:ext uri="{FF2B5EF4-FFF2-40B4-BE49-F238E27FC236}">
                <a16:creationId xmlns:a16="http://schemas.microsoft.com/office/drawing/2014/main" id="{A9D07CED-3BF0-194A-B151-2A634EE5E0B8}"/>
              </a:ext>
            </a:extLst>
          </p:cNvPr>
          <p:cNvSpPr/>
          <p:nvPr/>
        </p:nvSpPr>
        <p:spPr>
          <a:xfrm>
            <a:off x="1291726" y="2519126"/>
            <a:ext cx="10349694" cy="400110"/>
          </a:xfrm>
          <a:prstGeom prst="rect">
            <a:avLst/>
          </a:prstGeom>
        </p:spPr>
        <p:txBody>
          <a:bodyPr wrap="square">
            <a:spAutoFit/>
          </a:bodyPr>
          <a:lstStyle/>
          <a:p>
            <a:r>
              <a:rPr lang="en-US" sz="2000" dirty="0">
                <a:latin typeface="Courier" pitchFamily="2" charset="0"/>
              </a:rPr>
              <a:t>10001001010100000100111001000111000011010000101000011010000010 ...</a:t>
            </a:r>
          </a:p>
        </p:txBody>
      </p:sp>
      <p:pic>
        <p:nvPicPr>
          <p:cNvPr id="6" name="Picture 5">
            <a:extLst>
              <a:ext uri="{FF2B5EF4-FFF2-40B4-BE49-F238E27FC236}">
                <a16:creationId xmlns:a16="http://schemas.microsoft.com/office/drawing/2014/main" id="{A344C62E-94AF-E346-A95A-12121C090238}"/>
              </a:ext>
            </a:extLst>
          </p:cNvPr>
          <p:cNvPicPr>
            <a:picLocks noChangeAspect="1"/>
          </p:cNvPicPr>
          <p:nvPr/>
        </p:nvPicPr>
        <p:blipFill>
          <a:blip r:embed="rId6"/>
          <a:stretch>
            <a:fillRect/>
          </a:stretch>
        </p:blipFill>
        <p:spPr>
          <a:xfrm>
            <a:off x="234029" y="1211192"/>
            <a:ext cx="2115394" cy="1657299"/>
          </a:xfrm>
          <a:prstGeom prst="rect">
            <a:avLst/>
          </a:prstGeom>
        </p:spPr>
      </p:pic>
    </p:spTree>
    <p:extLst>
      <p:ext uri="{BB962C8B-B14F-4D97-AF65-F5344CB8AC3E}">
        <p14:creationId xmlns:p14="http://schemas.microsoft.com/office/powerpoint/2010/main" val="269670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dissolve">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91245D2-7D58-204C-A5F2-4E7852DC1F76}"/>
              </a:ext>
            </a:extLst>
          </p:cNvPr>
          <p:cNvSpPr>
            <a:spLocks noGrp="1"/>
          </p:cNvSpPr>
          <p:nvPr>
            <p:ph type="title"/>
          </p:nvPr>
        </p:nvSpPr>
        <p:spPr/>
        <p:txBody>
          <a:bodyPr/>
          <a:lstStyle/>
          <a:p>
            <a:r>
              <a:rPr lang="en-US" dirty="0"/>
              <a:t>Quantum bit or qubit in bra-ket notation [from bra</a:t>
            </a:r>
            <a:r>
              <a:rPr lang="en-US" dirty="0">
                <a:solidFill>
                  <a:schemeClr val="tx1">
                    <a:lumMod val="50000"/>
                    <a:lumOff val="50000"/>
                  </a:schemeClr>
                </a:solidFill>
              </a:rPr>
              <a:t>c</a:t>
            </a:r>
            <a:r>
              <a:rPr lang="en-US" dirty="0"/>
              <a:t>ket]</a:t>
            </a:r>
          </a:p>
        </p:txBody>
      </p:sp>
      <p:sp>
        <p:nvSpPr>
          <p:cNvPr id="8" name="Rounded Rectangle 7">
            <a:extLst>
              <a:ext uri="{FF2B5EF4-FFF2-40B4-BE49-F238E27FC236}">
                <a16:creationId xmlns:a16="http://schemas.microsoft.com/office/drawing/2014/main" id="{573B658D-F6C8-664C-97F0-47D4A9FC634B}"/>
              </a:ext>
            </a:extLst>
          </p:cNvPr>
          <p:cNvSpPr/>
          <p:nvPr/>
        </p:nvSpPr>
        <p:spPr>
          <a:xfrm>
            <a:off x="598516" y="5270269"/>
            <a:ext cx="10557164" cy="1080655"/>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8DE24FB4-03B2-BE47-9E53-40A4FA6DEE3B}"/>
              </a:ext>
            </a:extLst>
          </p:cNvPr>
          <p:cNvSpPr>
            <a:spLocks noGrp="1"/>
          </p:cNvSpPr>
          <p:nvPr>
            <p:ph type="sldNum" sz="quarter" idx="12"/>
          </p:nvPr>
        </p:nvSpPr>
        <p:spPr/>
        <p:txBody>
          <a:bodyPr/>
          <a:lstStyle/>
          <a:p>
            <a:fld id="{591A223C-FA10-BC46-A853-03BA373D023C}" type="slidenum">
              <a:rPr lang="en-US" smtClean="0"/>
              <a:t>22</a:t>
            </a:fld>
            <a:endParaRPr lang="en-US"/>
          </a:p>
        </p:txBody>
      </p:sp>
      <p:sp>
        <p:nvSpPr>
          <p:cNvPr id="9" name="TextBox 8">
            <a:extLst>
              <a:ext uri="{FF2B5EF4-FFF2-40B4-BE49-F238E27FC236}">
                <a16:creationId xmlns:a16="http://schemas.microsoft.com/office/drawing/2014/main" id="{6603FE90-0AA2-D44B-843B-E6BE8044B615}"/>
              </a:ext>
            </a:extLst>
          </p:cNvPr>
          <p:cNvSpPr txBox="1"/>
          <p:nvPr/>
        </p:nvSpPr>
        <p:spPr>
          <a:xfrm>
            <a:off x="1024380" y="5420383"/>
            <a:ext cx="838691" cy="769441"/>
          </a:xfrm>
          <a:prstGeom prst="rect">
            <a:avLst/>
          </a:prstGeom>
          <a:noFill/>
        </p:spPr>
        <p:txBody>
          <a:bodyPr wrap="none" rtlCol="0">
            <a:spAutoFit/>
          </a:bodyPr>
          <a:lstStyle/>
          <a:p>
            <a:r>
              <a:rPr lang="en-US" sz="4400" dirty="0"/>
              <a:t>∣0⟩</a:t>
            </a:r>
          </a:p>
        </p:txBody>
      </p:sp>
      <p:sp>
        <p:nvSpPr>
          <p:cNvPr id="10" name="TextBox 9">
            <a:extLst>
              <a:ext uri="{FF2B5EF4-FFF2-40B4-BE49-F238E27FC236}">
                <a16:creationId xmlns:a16="http://schemas.microsoft.com/office/drawing/2014/main" id="{67F6D63D-4E0A-E440-BB27-A9A324A2821E}"/>
              </a:ext>
            </a:extLst>
          </p:cNvPr>
          <p:cNvSpPr txBox="1"/>
          <p:nvPr/>
        </p:nvSpPr>
        <p:spPr>
          <a:xfrm>
            <a:off x="8898667" y="918167"/>
            <a:ext cx="184731" cy="646331"/>
          </a:xfrm>
          <a:prstGeom prst="rect">
            <a:avLst/>
          </a:prstGeom>
          <a:noFill/>
        </p:spPr>
        <p:txBody>
          <a:bodyPr wrap="none" rtlCol="0">
            <a:spAutoFit/>
          </a:bodyPr>
          <a:lstStyle/>
          <a:p>
            <a:endParaRPr lang="en-US" sz="3600" dirty="0"/>
          </a:p>
        </p:txBody>
      </p:sp>
      <p:sp>
        <p:nvSpPr>
          <p:cNvPr id="11" name="TextBox 10">
            <a:extLst>
              <a:ext uri="{FF2B5EF4-FFF2-40B4-BE49-F238E27FC236}">
                <a16:creationId xmlns:a16="http://schemas.microsoft.com/office/drawing/2014/main" id="{127EF464-1DEE-3147-8F71-2141EFBB5BD6}"/>
              </a:ext>
            </a:extLst>
          </p:cNvPr>
          <p:cNvSpPr txBox="1"/>
          <p:nvPr/>
        </p:nvSpPr>
        <p:spPr>
          <a:xfrm>
            <a:off x="10658590" y="935327"/>
            <a:ext cx="184731" cy="646331"/>
          </a:xfrm>
          <a:prstGeom prst="rect">
            <a:avLst/>
          </a:prstGeom>
          <a:noFill/>
        </p:spPr>
        <p:txBody>
          <a:bodyPr wrap="none" rtlCol="0">
            <a:spAutoFit/>
          </a:bodyPr>
          <a:lstStyle/>
          <a:p>
            <a:endParaRPr lang="en-US" sz="3600" dirty="0"/>
          </a:p>
        </p:txBody>
      </p:sp>
      <p:sp>
        <p:nvSpPr>
          <p:cNvPr id="24" name="TextBox 23">
            <a:extLst>
              <a:ext uri="{FF2B5EF4-FFF2-40B4-BE49-F238E27FC236}">
                <a16:creationId xmlns:a16="http://schemas.microsoft.com/office/drawing/2014/main" id="{5FC7FBEE-28EF-6441-A49E-A33C2E014D36}"/>
              </a:ext>
            </a:extLst>
          </p:cNvPr>
          <p:cNvSpPr txBox="1"/>
          <p:nvPr/>
        </p:nvSpPr>
        <p:spPr>
          <a:xfrm>
            <a:off x="5178752" y="5425765"/>
            <a:ext cx="838691" cy="769441"/>
          </a:xfrm>
          <a:prstGeom prst="rect">
            <a:avLst/>
          </a:prstGeom>
          <a:noFill/>
        </p:spPr>
        <p:txBody>
          <a:bodyPr wrap="none" rtlCol="0">
            <a:spAutoFit/>
          </a:bodyPr>
          <a:lstStyle/>
          <a:p>
            <a:r>
              <a:rPr lang="en-US" sz="4400" dirty="0"/>
              <a:t>∣1⟩</a:t>
            </a:r>
          </a:p>
        </p:txBody>
      </p:sp>
      <p:sp>
        <p:nvSpPr>
          <p:cNvPr id="25" name="TextBox 24">
            <a:extLst>
              <a:ext uri="{FF2B5EF4-FFF2-40B4-BE49-F238E27FC236}">
                <a16:creationId xmlns:a16="http://schemas.microsoft.com/office/drawing/2014/main" id="{52A3AD19-626B-B54D-8C28-59AEE096C015}"/>
              </a:ext>
            </a:extLst>
          </p:cNvPr>
          <p:cNvSpPr txBox="1"/>
          <p:nvPr/>
        </p:nvSpPr>
        <p:spPr>
          <a:xfrm>
            <a:off x="8489792" y="5425765"/>
            <a:ext cx="2353529" cy="769441"/>
          </a:xfrm>
          <a:prstGeom prst="rect">
            <a:avLst/>
          </a:prstGeom>
          <a:noFill/>
        </p:spPr>
        <p:txBody>
          <a:bodyPr wrap="none" rtlCol="0">
            <a:spAutoFit/>
          </a:bodyPr>
          <a:lstStyle/>
          <a:p>
            <a:r>
              <a:rPr lang="en-US" sz="4400" i="1" dirty="0"/>
              <a:t>a</a:t>
            </a:r>
            <a:r>
              <a:rPr lang="en-US" sz="4400" dirty="0"/>
              <a:t>∣0⟩+</a:t>
            </a:r>
            <a:r>
              <a:rPr lang="en-US" sz="4400" i="1" dirty="0"/>
              <a:t>b</a:t>
            </a:r>
            <a:r>
              <a:rPr lang="en-US" sz="4400" dirty="0"/>
              <a:t>∣1⟩</a:t>
            </a:r>
          </a:p>
        </p:txBody>
      </p:sp>
      <p:pic>
        <p:nvPicPr>
          <p:cNvPr id="27" name="Picture 26">
            <a:extLst>
              <a:ext uri="{FF2B5EF4-FFF2-40B4-BE49-F238E27FC236}">
                <a16:creationId xmlns:a16="http://schemas.microsoft.com/office/drawing/2014/main" id="{020B5A68-4443-6A4B-A257-E100D6425B5B}"/>
              </a:ext>
            </a:extLst>
          </p:cNvPr>
          <p:cNvPicPr>
            <a:picLocks noChangeAspect="1"/>
          </p:cNvPicPr>
          <p:nvPr/>
        </p:nvPicPr>
        <p:blipFill>
          <a:blip r:embed="rId3"/>
          <a:stretch>
            <a:fillRect/>
          </a:stretch>
        </p:blipFill>
        <p:spPr>
          <a:xfrm>
            <a:off x="842319" y="4086401"/>
            <a:ext cx="1346369" cy="791335"/>
          </a:xfrm>
          <a:prstGeom prst="rect">
            <a:avLst/>
          </a:prstGeom>
        </p:spPr>
      </p:pic>
      <p:pic>
        <p:nvPicPr>
          <p:cNvPr id="28" name="Picture 27">
            <a:extLst>
              <a:ext uri="{FF2B5EF4-FFF2-40B4-BE49-F238E27FC236}">
                <a16:creationId xmlns:a16="http://schemas.microsoft.com/office/drawing/2014/main" id="{873E545D-289D-1A46-91AD-56CC1CDD2730}"/>
              </a:ext>
            </a:extLst>
          </p:cNvPr>
          <p:cNvPicPr>
            <a:picLocks noChangeAspect="1"/>
          </p:cNvPicPr>
          <p:nvPr/>
        </p:nvPicPr>
        <p:blipFill>
          <a:blip r:embed="rId4"/>
          <a:stretch>
            <a:fillRect/>
          </a:stretch>
        </p:blipFill>
        <p:spPr>
          <a:xfrm>
            <a:off x="4760551" y="4082262"/>
            <a:ext cx="1346369" cy="791335"/>
          </a:xfrm>
          <a:prstGeom prst="rect">
            <a:avLst/>
          </a:prstGeom>
        </p:spPr>
      </p:pic>
      <p:pic>
        <p:nvPicPr>
          <p:cNvPr id="32" name="Picture 31">
            <a:extLst>
              <a:ext uri="{FF2B5EF4-FFF2-40B4-BE49-F238E27FC236}">
                <a16:creationId xmlns:a16="http://schemas.microsoft.com/office/drawing/2014/main" id="{3E3A2F72-BF93-8847-BB67-D046017A02FA}"/>
              </a:ext>
            </a:extLst>
          </p:cNvPr>
          <p:cNvPicPr>
            <a:picLocks noChangeAspect="1"/>
          </p:cNvPicPr>
          <p:nvPr/>
        </p:nvPicPr>
        <p:blipFill>
          <a:blip r:embed="rId5">
            <a:alphaModFix amt="86000"/>
          </a:blip>
          <a:stretch>
            <a:fillRect/>
          </a:stretch>
        </p:blipFill>
        <p:spPr>
          <a:xfrm>
            <a:off x="8584196" y="4031368"/>
            <a:ext cx="1367023" cy="822392"/>
          </a:xfrm>
          <a:prstGeom prst="rect">
            <a:avLst/>
          </a:prstGeom>
        </p:spPr>
      </p:pic>
      <p:cxnSp>
        <p:nvCxnSpPr>
          <p:cNvPr id="38" name="Straight Connector 37">
            <a:extLst>
              <a:ext uri="{FF2B5EF4-FFF2-40B4-BE49-F238E27FC236}">
                <a16:creationId xmlns:a16="http://schemas.microsoft.com/office/drawing/2014/main" id="{12E847FC-C6F4-6844-808A-14C975C7A851}"/>
              </a:ext>
            </a:extLst>
          </p:cNvPr>
          <p:cNvCxnSpPr>
            <a:cxnSpLocks/>
          </p:cNvCxnSpPr>
          <p:nvPr/>
        </p:nvCxnSpPr>
        <p:spPr>
          <a:xfrm>
            <a:off x="9328878" y="482339"/>
            <a:ext cx="21535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38DB1F8E-5B5B-CC4E-A105-F3BB5BE30661}"/>
              </a:ext>
            </a:extLst>
          </p:cNvPr>
          <p:cNvPicPr>
            <a:picLocks noChangeAspect="1"/>
          </p:cNvPicPr>
          <p:nvPr/>
        </p:nvPicPr>
        <p:blipFill>
          <a:blip r:embed="rId6"/>
          <a:stretch>
            <a:fillRect/>
          </a:stretch>
        </p:blipFill>
        <p:spPr>
          <a:xfrm>
            <a:off x="8569168" y="2341997"/>
            <a:ext cx="2089422" cy="1277196"/>
          </a:xfrm>
          <a:prstGeom prst="rect">
            <a:avLst/>
          </a:prstGeom>
        </p:spPr>
      </p:pic>
      <p:pic>
        <p:nvPicPr>
          <p:cNvPr id="22" name="Picture 21">
            <a:extLst>
              <a:ext uri="{FF2B5EF4-FFF2-40B4-BE49-F238E27FC236}">
                <a16:creationId xmlns:a16="http://schemas.microsoft.com/office/drawing/2014/main" id="{CFB6D43D-B947-314A-9136-D1CB339273CC}"/>
              </a:ext>
            </a:extLst>
          </p:cNvPr>
          <p:cNvPicPr>
            <a:picLocks noChangeAspect="1"/>
          </p:cNvPicPr>
          <p:nvPr/>
        </p:nvPicPr>
        <p:blipFill>
          <a:blip r:embed="rId7"/>
          <a:stretch>
            <a:fillRect/>
          </a:stretch>
        </p:blipFill>
        <p:spPr>
          <a:xfrm flipH="1">
            <a:off x="7815569" y="1450652"/>
            <a:ext cx="1757957" cy="2187226"/>
          </a:xfrm>
          <a:prstGeom prst="rect">
            <a:avLst/>
          </a:prstGeom>
        </p:spPr>
      </p:pic>
      <p:pic>
        <p:nvPicPr>
          <p:cNvPr id="26" name="Picture 25">
            <a:extLst>
              <a:ext uri="{FF2B5EF4-FFF2-40B4-BE49-F238E27FC236}">
                <a16:creationId xmlns:a16="http://schemas.microsoft.com/office/drawing/2014/main" id="{92B98682-71E2-874F-B7A4-296AB26E814C}"/>
              </a:ext>
            </a:extLst>
          </p:cNvPr>
          <p:cNvPicPr>
            <a:picLocks noChangeAspect="1"/>
          </p:cNvPicPr>
          <p:nvPr/>
        </p:nvPicPr>
        <p:blipFill>
          <a:blip r:embed="rId6"/>
          <a:stretch>
            <a:fillRect/>
          </a:stretch>
        </p:blipFill>
        <p:spPr>
          <a:xfrm>
            <a:off x="470792" y="2460880"/>
            <a:ext cx="2089422" cy="1277196"/>
          </a:xfrm>
          <a:prstGeom prst="rect">
            <a:avLst/>
          </a:prstGeom>
        </p:spPr>
      </p:pic>
      <p:pic>
        <p:nvPicPr>
          <p:cNvPr id="29" name="Picture 28">
            <a:extLst>
              <a:ext uri="{FF2B5EF4-FFF2-40B4-BE49-F238E27FC236}">
                <a16:creationId xmlns:a16="http://schemas.microsoft.com/office/drawing/2014/main" id="{9644639F-42B5-BA45-9F33-2CD8EA765138}"/>
              </a:ext>
            </a:extLst>
          </p:cNvPr>
          <p:cNvPicPr>
            <a:picLocks noChangeAspect="1"/>
          </p:cNvPicPr>
          <p:nvPr/>
        </p:nvPicPr>
        <p:blipFill>
          <a:blip r:embed="rId7"/>
          <a:stretch>
            <a:fillRect/>
          </a:stretch>
        </p:blipFill>
        <p:spPr>
          <a:xfrm flipH="1">
            <a:off x="4386263" y="1594692"/>
            <a:ext cx="1757957" cy="2187226"/>
          </a:xfrm>
          <a:prstGeom prst="rect">
            <a:avLst/>
          </a:prstGeom>
        </p:spPr>
      </p:pic>
    </p:spTree>
    <p:extLst>
      <p:ext uri="{BB962C8B-B14F-4D97-AF65-F5344CB8AC3E}">
        <p14:creationId xmlns:p14="http://schemas.microsoft.com/office/powerpoint/2010/main" val="7448608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1CBB562-F2E0-184D-A6FF-48F6B7B5C052}"/>
              </a:ext>
            </a:extLst>
          </p:cNvPr>
          <p:cNvSpPr txBox="1"/>
          <p:nvPr/>
        </p:nvSpPr>
        <p:spPr>
          <a:xfrm>
            <a:off x="8482187" y="3398837"/>
            <a:ext cx="2885725" cy="1569660"/>
          </a:xfrm>
          <a:prstGeom prst="rect">
            <a:avLst/>
          </a:prstGeom>
          <a:noFill/>
        </p:spPr>
        <p:txBody>
          <a:bodyPr wrap="none" rtlCol="0">
            <a:spAutoFit/>
          </a:bodyPr>
          <a:lstStyle/>
          <a:p>
            <a:pPr algn="ctr"/>
            <a:r>
              <a:rPr lang="en-US" sz="4800" dirty="0">
                <a:latin typeface="Comic Sans MS" panose="030F0902030302020204" pitchFamily="66" charset="0"/>
              </a:rPr>
              <a:t>Quantum</a:t>
            </a:r>
          </a:p>
          <a:p>
            <a:pPr algn="ctr"/>
            <a:r>
              <a:rPr lang="en-US" sz="4800" dirty="0">
                <a:latin typeface="Comic Sans MS" panose="030F0902030302020204" pitchFamily="66" charset="0"/>
              </a:rPr>
              <a:t>hardware</a:t>
            </a:r>
          </a:p>
        </p:txBody>
      </p:sp>
      <p:pic>
        <p:nvPicPr>
          <p:cNvPr id="5" name="Picture 4">
            <a:extLst>
              <a:ext uri="{FF2B5EF4-FFF2-40B4-BE49-F238E27FC236}">
                <a16:creationId xmlns:a16="http://schemas.microsoft.com/office/drawing/2014/main" id="{AC79F321-563E-8D47-A905-7A2A196075BF}"/>
              </a:ext>
            </a:extLst>
          </p:cNvPr>
          <p:cNvPicPr>
            <a:picLocks noChangeAspect="1"/>
          </p:cNvPicPr>
          <p:nvPr/>
        </p:nvPicPr>
        <p:blipFill>
          <a:blip r:embed="rId3"/>
          <a:stretch>
            <a:fillRect/>
          </a:stretch>
        </p:blipFill>
        <p:spPr>
          <a:xfrm flipH="1">
            <a:off x="2345309" y="3153963"/>
            <a:ext cx="2274863" cy="3338912"/>
          </a:xfrm>
          <a:prstGeom prst="rect">
            <a:avLst/>
          </a:prstGeom>
        </p:spPr>
      </p:pic>
      <p:pic>
        <p:nvPicPr>
          <p:cNvPr id="10" name="Picture 9">
            <a:extLst>
              <a:ext uri="{FF2B5EF4-FFF2-40B4-BE49-F238E27FC236}">
                <a16:creationId xmlns:a16="http://schemas.microsoft.com/office/drawing/2014/main" id="{06BF8436-9A42-0D43-99AD-8363FE738B50}"/>
              </a:ext>
            </a:extLst>
          </p:cNvPr>
          <p:cNvPicPr>
            <a:picLocks noChangeAspect="1"/>
          </p:cNvPicPr>
          <p:nvPr/>
        </p:nvPicPr>
        <p:blipFill>
          <a:blip r:embed="rId4"/>
          <a:stretch>
            <a:fillRect/>
          </a:stretch>
        </p:blipFill>
        <p:spPr>
          <a:xfrm>
            <a:off x="4137715" y="0"/>
            <a:ext cx="4044540" cy="5451337"/>
          </a:xfrm>
          <a:prstGeom prst="rect">
            <a:avLst/>
          </a:prstGeom>
        </p:spPr>
      </p:pic>
      <p:sp>
        <p:nvSpPr>
          <p:cNvPr id="7" name="Slide Number Placeholder 18">
            <a:extLst>
              <a:ext uri="{FF2B5EF4-FFF2-40B4-BE49-F238E27FC236}">
                <a16:creationId xmlns:a16="http://schemas.microsoft.com/office/drawing/2014/main" id="{EA1C5D29-73CF-8845-B9CE-EED56F095BFD}"/>
              </a:ext>
            </a:extLst>
          </p:cNvPr>
          <p:cNvSpPr txBox="1">
            <a:spLocks/>
          </p:cNvSpPr>
          <p:nvPr/>
        </p:nvSpPr>
        <p:spPr>
          <a:xfrm>
            <a:off x="14410" y="6463863"/>
            <a:ext cx="899990" cy="39413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A7A90D-170E-2F4F-8861-97D6C3C25EEF}" type="slidenum">
              <a:rPr lang="en-US" smtClean="0"/>
              <a:pPr/>
              <a:t>23</a:t>
            </a:fld>
            <a:endParaRPr lang="en-US" dirty="0"/>
          </a:p>
        </p:txBody>
      </p:sp>
    </p:spTree>
    <p:extLst>
      <p:ext uri="{BB962C8B-B14F-4D97-AF65-F5344CB8AC3E}">
        <p14:creationId xmlns:p14="http://schemas.microsoft.com/office/powerpoint/2010/main" val="6637417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E24FB4-03B2-BE47-9E53-40A4FA6DEE3B}"/>
              </a:ext>
            </a:extLst>
          </p:cNvPr>
          <p:cNvSpPr>
            <a:spLocks noGrp="1"/>
          </p:cNvSpPr>
          <p:nvPr>
            <p:ph type="sldNum" sz="quarter" idx="12"/>
          </p:nvPr>
        </p:nvSpPr>
        <p:spPr/>
        <p:txBody>
          <a:bodyPr/>
          <a:lstStyle/>
          <a:p>
            <a:fld id="{591A223C-FA10-BC46-A853-03BA373D023C}" type="slidenum">
              <a:rPr lang="en-US" smtClean="0"/>
              <a:t>24</a:t>
            </a:fld>
            <a:endParaRPr lang="en-US"/>
          </a:p>
        </p:txBody>
      </p:sp>
      <p:sp>
        <p:nvSpPr>
          <p:cNvPr id="3" name="Title 2">
            <a:extLst>
              <a:ext uri="{FF2B5EF4-FFF2-40B4-BE49-F238E27FC236}">
                <a16:creationId xmlns:a16="http://schemas.microsoft.com/office/drawing/2014/main" id="{E91245D2-7D58-204C-A5F2-4E7852DC1F76}"/>
              </a:ext>
            </a:extLst>
          </p:cNvPr>
          <p:cNvSpPr>
            <a:spLocks noGrp="1"/>
          </p:cNvSpPr>
          <p:nvPr>
            <p:ph type="title"/>
          </p:nvPr>
        </p:nvSpPr>
        <p:spPr/>
        <p:txBody>
          <a:bodyPr/>
          <a:lstStyle/>
          <a:p>
            <a:r>
              <a:rPr lang="en-US" dirty="0"/>
              <a:t>Quantum bit or qubit</a:t>
            </a:r>
          </a:p>
        </p:txBody>
      </p:sp>
      <p:pic>
        <p:nvPicPr>
          <p:cNvPr id="6" name="Picture 5">
            <a:extLst>
              <a:ext uri="{FF2B5EF4-FFF2-40B4-BE49-F238E27FC236}">
                <a16:creationId xmlns:a16="http://schemas.microsoft.com/office/drawing/2014/main" id="{8DBCD534-EB72-8941-829E-1CCCBC203DFF}"/>
              </a:ext>
            </a:extLst>
          </p:cNvPr>
          <p:cNvPicPr>
            <a:picLocks noChangeAspect="1"/>
          </p:cNvPicPr>
          <p:nvPr/>
        </p:nvPicPr>
        <p:blipFill>
          <a:blip r:embed="rId3"/>
          <a:stretch>
            <a:fillRect/>
          </a:stretch>
        </p:blipFill>
        <p:spPr>
          <a:xfrm>
            <a:off x="303680" y="1772379"/>
            <a:ext cx="6760508" cy="1652569"/>
          </a:xfrm>
          <a:prstGeom prst="rect">
            <a:avLst/>
          </a:prstGeom>
        </p:spPr>
      </p:pic>
      <p:sp>
        <p:nvSpPr>
          <p:cNvPr id="9" name="TextBox 8">
            <a:extLst>
              <a:ext uri="{FF2B5EF4-FFF2-40B4-BE49-F238E27FC236}">
                <a16:creationId xmlns:a16="http://schemas.microsoft.com/office/drawing/2014/main" id="{6603FE90-0AA2-D44B-843B-E6BE8044B615}"/>
              </a:ext>
            </a:extLst>
          </p:cNvPr>
          <p:cNvSpPr txBox="1"/>
          <p:nvPr/>
        </p:nvSpPr>
        <p:spPr>
          <a:xfrm>
            <a:off x="868594" y="3622308"/>
            <a:ext cx="6272871" cy="646331"/>
          </a:xfrm>
          <a:prstGeom prst="rect">
            <a:avLst/>
          </a:prstGeom>
          <a:noFill/>
        </p:spPr>
        <p:txBody>
          <a:bodyPr wrap="none" rtlCol="0">
            <a:spAutoFit/>
          </a:bodyPr>
          <a:lstStyle/>
          <a:p>
            <a:r>
              <a:rPr lang="en-US" sz="3600" dirty="0"/>
              <a:t>∣0⟩                    ∣1⟩           </a:t>
            </a:r>
            <a:r>
              <a:rPr lang="en-US" sz="3600" i="1" dirty="0"/>
              <a:t>a</a:t>
            </a:r>
            <a:r>
              <a:rPr lang="en-US" sz="3600" dirty="0"/>
              <a:t>∣0⟩+</a:t>
            </a:r>
            <a:r>
              <a:rPr lang="en-US" sz="3600" i="1" dirty="0"/>
              <a:t>b</a:t>
            </a:r>
            <a:r>
              <a:rPr lang="en-US" sz="3600" dirty="0"/>
              <a:t>∣1⟩</a:t>
            </a:r>
          </a:p>
        </p:txBody>
      </p:sp>
      <p:sp>
        <p:nvSpPr>
          <p:cNvPr id="10" name="TextBox 9">
            <a:extLst>
              <a:ext uri="{FF2B5EF4-FFF2-40B4-BE49-F238E27FC236}">
                <a16:creationId xmlns:a16="http://schemas.microsoft.com/office/drawing/2014/main" id="{67F6D63D-4E0A-E440-BB27-A9A324A2821E}"/>
              </a:ext>
            </a:extLst>
          </p:cNvPr>
          <p:cNvSpPr txBox="1"/>
          <p:nvPr/>
        </p:nvSpPr>
        <p:spPr>
          <a:xfrm>
            <a:off x="8898667" y="918167"/>
            <a:ext cx="184731" cy="646331"/>
          </a:xfrm>
          <a:prstGeom prst="rect">
            <a:avLst/>
          </a:prstGeom>
          <a:noFill/>
        </p:spPr>
        <p:txBody>
          <a:bodyPr wrap="none" rtlCol="0">
            <a:spAutoFit/>
          </a:bodyPr>
          <a:lstStyle/>
          <a:p>
            <a:endParaRPr lang="en-US" sz="3600" dirty="0"/>
          </a:p>
        </p:txBody>
      </p:sp>
      <p:sp>
        <p:nvSpPr>
          <p:cNvPr id="11" name="TextBox 10">
            <a:extLst>
              <a:ext uri="{FF2B5EF4-FFF2-40B4-BE49-F238E27FC236}">
                <a16:creationId xmlns:a16="http://schemas.microsoft.com/office/drawing/2014/main" id="{127EF464-1DEE-3147-8F71-2141EFBB5BD6}"/>
              </a:ext>
            </a:extLst>
          </p:cNvPr>
          <p:cNvSpPr txBox="1"/>
          <p:nvPr/>
        </p:nvSpPr>
        <p:spPr>
          <a:xfrm>
            <a:off x="10658590" y="935327"/>
            <a:ext cx="184731" cy="646331"/>
          </a:xfrm>
          <a:prstGeom prst="rect">
            <a:avLst/>
          </a:prstGeom>
          <a:noFill/>
        </p:spPr>
        <p:txBody>
          <a:bodyPr wrap="none" rtlCol="0">
            <a:spAutoFit/>
          </a:bodyPr>
          <a:lstStyle/>
          <a:p>
            <a:endParaRPr lang="en-US" sz="3600" dirty="0"/>
          </a:p>
        </p:txBody>
      </p:sp>
      <p:sp>
        <p:nvSpPr>
          <p:cNvPr id="4" name="TextBox 3">
            <a:extLst>
              <a:ext uri="{FF2B5EF4-FFF2-40B4-BE49-F238E27FC236}">
                <a16:creationId xmlns:a16="http://schemas.microsoft.com/office/drawing/2014/main" id="{96F5A0E8-6ABC-E048-8609-733436FB8AA3}"/>
              </a:ext>
            </a:extLst>
          </p:cNvPr>
          <p:cNvSpPr txBox="1"/>
          <p:nvPr/>
        </p:nvSpPr>
        <p:spPr>
          <a:xfrm>
            <a:off x="475697" y="1102691"/>
            <a:ext cx="1061894" cy="461665"/>
          </a:xfrm>
          <a:prstGeom prst="rect">
            <a:avLst/>
          </a:prstGeom>
          <a:noFill/>
        </p:spPr>
        <p:txBody>
          <a:bodyPr wrap="none" rtlCol="0">
            <a:spAutoFit/>
          </a:bodyPr>
          <a:lstStyle/>
          <a:p>
            <a:r>
              <a:rPr lang="en-US" sz="2400" dirty="0"/>
              <a:t>Atomic</a:t>
            </a:r>
          </a:p>
        </p:txBody>
      </p:sp>
      <p:grpSp>
        <p:nvGrpSpPr>
          <p:cNvPr id="5" name="Group 4">
            <a:extLst>
              <a:ext uri="{FF2B5EF4-FFF2-40B4-BE49-F238E27FC236}">
                <a16:creationId xmlns:a16="http://schemas.microsoft.com/office/drawing/2014/main" id="{21DA0496-2F7B-E145-8131-5DA15C6B3AAC}"/>
              </a:ext>
            </a:extLst>
          </p:cNvPr>
          <p:cNvGrpSpPr/>
          <p:nvPr/>
        </p:nvGrpSpPr>
        <p:grpSpPr>
          <a:xfrm>
            <a:off x="303680" y="4268640"/>
            <a:ext cx="8045824" cy="2406797"/>
            <a:chOff x="303680" y="4268640"/>
            <a:chExt cx="8045824" cy="2406797"/>
          </a:xfrm>
        </p:grpSpPr>
        <p:pic>
          <p:nvPicPr>
            <p:cNvPr id="7" name="Picture 6">
              <a:extLst>
                <a:ext uri="{FF2B5EF4-FFF2-40B4-BE49-F238E27FC236}">
                  <a16:creationId xmlns:a16="http://schemas.microsoft.com/office/drawing/2014/main" id="{6B654A9A-94BB-5B43-889D-0437011F0FEA}"/>
                </a:ext>
              </a:extLst>
            </p:cNvPr>
            <p:cNvPicPr>
              <a:picLocks noChangeAspect="1"/>
            </p:cNvPicPr>
            <p:nvPr/>
          </p:nvPicPr>
          <p:blipFill>
            <a:blip r:embed="rId4"/>
            <a:stretch>
              <a:fillRect/>
            </a:stretch>
          </p:blipFill>
          <p:spPr>
            <a:xfrm>
              <a:off x="303680" y="4268640"/>
              <a:ext cx="8045824" cy="2278642"/>
            </a:xfrm>
            <a:prstGeom prst="rect">
              <a:avLst/>
            </a:prstGeom>
          </p:spPr>
        </p:pic>
        <p:sp>
          <p:nvSpPr>
            <p:cNvPr id="17" name="TextBox 16">
              <a:extLst>
                <a:ext uri="{FF2B5EF4-FFF2-40B4-BE49-F238E27FC236}">
                  <a16:creationId xmlns:a16="http://schemas.microsoft.com/office/drawing/2014/main" id="{543D8553-A054-7249-9245-533F995E0E61}"/>
                </a:ext>
              </a:extLst>
            </p:cNvPr>
            <p:cNvSpPr txBox="1"/>
            <p:nvPr/>
          </p:nvSpPr>
          <p:spPr>
            <a:xfrm>
              <a:off x="475697" y="6213772"/>
              <a:ext cx="1290931" cy="461665"/>
            </a:xfrm>
            <a:prstGeom prst="rect">
              <a:avLst/>
            </a:prstGeom>
            <a:noFill/>
          </p:spPr>
          <p:txBody>
            <a:bodyPr wrap="none" rtlCol="0">
              <a:spAutoFit/>
            </a:bodyPr>
            <a:lstStyle/>
            <a:p>
              <a:r>
                <a:rPr lang="en-US" sz="2400" dirty="0"/>
                <a:t>Photonic</a:t>
              </a:r>
            </a:p>
          </p:txBody>
        </p:sp>
      </p:grpSp>
      <p:grpSp>
        <p:nvGrpSpPr>
          <p:cNvPr id="8" name="Group 7">
            <a:extLst>
              <a:ext uri="{FF2B5EF4-FFF2-40B4-BE49-F238E27FC236}">
                <a16:creationId xmlns:a16="http://schemas.microsoft.com/office/drawing/2014/main" id="{6ABE5202-F79E-7147-8EBA-5A2EADAF288F}"/>
              </a:ext>
            </a:extLst>
          </p:cNvPr>
          <p:cNvGrpSpPr/>
          <p:nvPr/>
        </p:nvGrpSpPr>
        <p:grpSpPr>
          <a:xfrm>
            <a:off x="7906871" y="1749645"/>
            <a:ext cx="4104116" cy="4391624"/>
            <a:chOff x="7906871" y="1749645"/>
            <a:chExt cx="4104116" cy="4391624"/>
          </a:xfrm>
        </p:grpSpPr>
        <p:grpSp>
          <p:nvGrpSpPr>
            <p:cNvPr id="16" name="Group 15">
              <a:extLst>
                <a:ext uri="{FF2B5EF4-FFF2-40B4-BE49-F238E27FC236}">
                  <a16:creationId xmlns:a16="http://schemas.microsoft.com/office/drawing/2014/main" id="{BA81F191-E6D4-914B-9D00-413D2CE81C9A}"/>
                </a:ext>
              </a:extLst>
            </p:cNvPr>
            <p:cNvGrpSpPr/>
            <p:nvPr/>
          </p:nvGrpSpPr>
          <p:grpSpPr>
            <a:xfrm>
              <a:off x="7906871" y="1749645"/>
              <a:ext cx="4104116" cy="3523946"/>
              <a:chOff x="7906871" y="1042272"/>
              <a:chExt cx="4104116" cy="3523946"/>
            </a:xfrm>
          </p:grpSpPr>
          <p:pic>
            <p:nvPicPr>
              <p:cNvPr id="12" name="Picture 11">
                <a:extLst>
                  <a:ext uri="{FF2B5EF4-FFF2-40B4-BE49-F238E27FC236}">
                    <a16:creationId xmlns:a16="http://schemas.microsoft.com/office/drawing/2014/main" id="{788D8BCF-30E3-A64A-818C-F9B35C3DEB43}"/>
                  </a:ext>
                </a:extLst>
              </p:cNvPr>
              <p:cNvPicPr>
                <a:picLocks noChangeAspect="1"/>
              </p:cNvPicPr>
              <p:nvPr/>
            </p:nvPicPr>
            <p:blipFill>
              <a:blip r:embed="rId5"/>
              <a:stretch>
                <a:fillRect/>
              </a:stretch>
            </p:blipFill>
            <p:spPr>
              <a:xfrm>
                <a:off x="7906871" y="1808931"/>
                <a:ext cx="4104116" cy="2757287"/>
              </a:xfrm>
              <a:prstGeom prst="rect">
                <a:avLst/>
              </a:prstGeom>
            </p:spPr>
          </p:pic>
          <p:sp>
            <p:nvSpPr>
              <p:cNvPr id="13" name="TextBox 12">
                <a:extLst>
                  <a:ext uri="{FF2B5EF4-FFF2-40B4-BE49-F238E27FC236}">
                    <a16:creationId xmlns:a16="http://schemas.microsoft.com/office/drawing/2014/main" id="{942E830A-A4B9-FC4B-BA95-123DF50484F0}"/>
                  </a:ext>
                </a:extLst>
              </p:cNvPr>
              <p:cNvSpPr txBox="1"/>
              <p:nvPr/>
            </p:nvSpPr>
            <p:spPr>
              <a:xfrm>
                <a:off x="9100196" y="3187574"/>
                <a:ext cx="1947969" cy="646331"/>
              </a:xfrm>
              <a:prstGeom prst="rect">
                <a:avLst/>
              </a:prstGeom>
              <a:noFill/>
            </p:spPr>
            <p:txBody>
              <a:bodyPr wrap="none" rtlCol="0">
                <a:spAutoFit/>
              </a:bodyPr>
              <a:lstStyle/>
              <a:p>
                <a:r>
                  <a:rPr lang="en-US" sz="3600" i="1" dirty="0"/>
                  <a:t>a</a:t>
                </a:r>
                <a:r>
                  <a:rPr lang="en-US" sz="3600" dirty="0"/>
                  <a:t>∣0⟩+</a:t>
                </a:r>
                <a:r>
                  <a:rPr lang="en-US" sz="3600" i="1" dirty="0"/>
                  <a:t>b</a:t>
                </a:r>
                <a:r>
                  <a:rPr lang="en-US" sz="3600" dirty="0"/>
                  <a:t>∣1⟩</a:t>
                </a:r>
              </a:p>
            </p:txBody>
          </p:sp>
          <p:sp>
            <p:nvSpPr>
              <p:cNvPr id="14" name="TextBox 13">
                <a:extLst>
                  <a:ext uri="{FF2B5EF4-FFF2-40B4-BE49-F238E27FC236}">
                    <a16:creationId xmlns:a16="http://schemas.microsoft.com/office/drawing/2014/main" id="{67A1F6F9-FC6B-D444-93D9-21FEF05C5E7E}"/>
                  </a:ext>
                </a:extLst>
              </p:cNvPr>
              <p:cNvSpPr txBox="1"/>
              <p:nvPr/>
            </p:nvSpPr>
            <p:spPr>
              <a:xfrm>
                <a:off x="9086066" y="1042272"/>
                <a:ext cx="720069" cy="646331"/>
              </a:xfrm>
              <a:prstGeom prst="rect">
                <a:avLst/>
              </a:prstGeom>
              <a:noFill/>
            </p:spPr>
            <p:txBody>
              <a:bodyPr wrap="none" rtlCol="0">
                <a:spAutoFit/>
              </a:bodyPr>
              <a:lstStyle/>
              <a:p>
                <a:r>
                  <a:rPr lang="en-US" sz="3600" dirty="0"/>
                  <a:t>∣0⟩</a:t>
                </a:r>
              </a:p>
            </p:txBody>
          </p:sp>
          <p:sp>
            <p:nvSpPr>
              <p:cNvPr id="15" name="TextBox 14">
                <a:extLst>
                  <a:ext uri="{FF2B5EF4-FFF2-40B4-BE49-F238E27FC236}">
                    <a16:creationId xmlns:a16="http://schemas.microsoft.com/office/drawing/2014/main" id="{BB4698AE-2821-9C42-A97A-B15EDFD9C75F}"/>
                  </a:ext>
                </a:extLst>
              </p:cNvPr>
              <p:cNvSpPr txBox="1"/>
              <p:nvPr/>
            </p:nvSpPr>
            <p:spPr>
              <a:xfrm>
                <a:off x="10376048" y="1042272"/>
                <a:ext cx="720069" cy="646331"/>
              </a:xfrm>
              <a:prstGeom prst="rect">
                <a:avLst/>
              </a:prstGeom>
              <a:noFill/>
            </p:spPr>
            <p:txBody>
              <a:bodyPr wrap="none" rtlCol="0">
                <a:spAutoFit/>
              </a:bodyPr>
              <a:lstStyle/>
              <a:p>
                <a:r>
                  <a:rPr lang="en-US" sz="3600" dirty="0"/>
                  <a:t>∣1⟩</a:t>
                </a:r>
              </a:p>
            </p:txBody>
          </p:sp>
        </p:grpSp>
        <p:sp>
          <p:nvSpPr>
            <p:cNvPr id="18" name="TextBox 17">
              <a:extLst>
                <a:ext uri="{FF2B5EF4-FFF2-40B4-BE49-F238E27FC236}">
                  <a16:creationId xmlns:a16="http://schemas.microsoft.com/office/drawing/2014/main" id="{06563AE2-95F6-5941-B4CE-1A70CE3B1497}"/>
                </a:ext>
              </a:extLst>
            </p:cNvPr>
            <p:cNvSpPr txBox="1"/>
            <p:nvPr/>
          </p:nvSpPr>
          <p:spPr>
            <a:xfrm>
              <a:off x="8945852" y="5679604"/>
              <a:ext cx="2290371" cy="461665"/>
            </a:xfrm>
            <a:prstGeom prst="rect">
              <a:avLst/>
            </a:prstGeom>
            <a:noFill/>
          </p:spPr>
          <p:txBody>
            <a:bodyPr wrap="none" rtlCol="0">
              <a:spAutoFit/>
            </a:bodyPr>
            <a:lstStyle/>
            <a:p>
              <a:r>
                <a:rPr lang="en-US" sz="2400" dirty="0"/>
                <a:t>Superconducting</a:t>
              </a:r>
            </a:p>
          </p:txBody>
        </p:sp>
      </p:grpSp>
    </p:spTree>
    <p:extLst>
      <p:ext uri="{BB962C8B-B14F-4D97-AF65-F5344CB8AC3E}">
        <p14:creationId xmlns:p14="http://schemas.microsoft.com/office/powerpoint/2010/main" val="3687838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A5DAF-5D6F-A943-85E4-A5A0644FD93C}"/>
              </a:ext>
            </a:extLst>
          </p:cNvPr>
          <p:cNvSpPr>
            <a:spLocks noGrp="1"/>
          </p:cNvSpPr>
          <p:nvPr>
            <p:ph type="title"/>
          </p:nvPr>
        </p:nvSpPr>
        <p:spPr/>
        <p:txBody>
          <a:bodyPr/>
          <a:lstStyle/>
          <a:p>
            <a:r>
              <a:rPr lang="en-US" dirty="0"/>
              <a:t>Superconducting quantum processor (QPU)</a:t>
            </a:r>
          </a:p>
        </p:txBody>
      </p:sp>
      <p:sp>
        <p:nvSpPr>
          <p:cNvPr id="3" name="Slide Number Placeholder 2">
            <a:extLst>
              <a:ext uri="{FF2B5EF4-FFF2-40B4-BE49-F238E27FC236}">
                <a16:creationId xmlns:a16="http://schemas.microsoft.com/office/drawing/2014/main" id="{CD5BF48C-85B3-EF4A-B3FD-26DB0F063294}"/>
              </a:ext>
            </a:extLst>
          </p:cNvPr>
          <p:cNvSpPr>
            <a:spLocks noGrp="1"/>
          </p:cNvSpPr>
          <p:nvPr>
            <p:ph type="sldNum" sz="quarter" idx="12"/>
          </p:nvPr>
        </p:nvSpPr>
        <p:spPr/>
        <p:txBody>
          <a:bodyPr/>
          <a:lstStyle/>
          <a:p>
            <a:fld id="{591A223C-FA10-BC46-A853-03BA373D023C}" type="slidenum">
              <a:rPr lang="en-US" smtClean="0"/>
              <a:t>25</a:t>
            </a:fld>
            <a:endParaRPr lang="en-US"/>
          </a:p>
        </p:txBody>
      </p:sp>
      <p:pic>
        <p:nvPicPr>
          <p:cNvPr id="4" name="Picture 3">
            <a:extLst>
              <a:ext uri="{FF2B5EF4-FFF2-40B4-BE49-F238E27FC236}">
                <a16:creationId xmlns:a16="http://schemas.microsoft.com/office/drawing/2014/main" id="{5B968943-D610-A749-BBB6-A16C8CE5E133}"/>
              </a:ext>
            </a:extLst>
          </p:cNvPr>
          <p:cNvPicPr>
            <a:picLocks noChangeAspect="1"/>
          </p:cNvPicPr>
          <p:nvPr/>
        </p:nvPicPr>
        <p:blipFill>
          <a:blip r:embed="rId3"/>
          <a:stretch>
            <a:fillRect/>
          </a:stretch>
        </p:blipFill>
        <p:spPr>
          <a:xfrm>
            <a:off x="1017404" y="1466550"/>
            <a:ext cx="4921798" cy="4129785"/>
          </a:xfrm>
          <a:prstGeom prst="rect">
            <a:avLst/>
          </a:prstGeom>
        </p:spPr>
      </p:pic>
      <p:sp>
        <p:nvSpPr>
          <p:cNvPr id="5" name="TextBox 4">
            <a:extLst>
              <a:ext uri="{FF2B5EF4-FFF2-40B4-BE49-F238E27FC236}">
                <a16:creationId xmlns:a16="http://schemas.microsoft.com/office/drawing/2014/main" id="{A2172880-2D4E-AC4A-B902-425CF6EA52F8}"/>
              </a:ext>
            </a:extLst>
          </p:cNvPr>
          <p:cNvSpPr txBox="1"/>
          <p:nvPr/>
        </p:nvSpPr>
        <p:spPr>
          <a:xfrm>
            <a:off x="8750764" y="3858803"/>
            <a:ext cx="2841673" cy="707886"/>
          </a:xfrm>
          <a:prstGeom prst="rect">
            <a:avLst/>
          </a:prstGeom>
          <a:noFill/>
        </p:spPr>
        <p:txBody>
          <a:bodyPr wrap="square" rtlCol="0">
            <a:spAutoFit/>
          </a:bodyPr>
          <a:lstStyle/>
          <a:p>
            <a:pPr algn="ctr"/>
            <a:r>
              <a:rPr lang="en-US" sz="2000" dirty="0">
                <a:latin typeface="+mj-lt"/>
              </a:rPr>
              <a:t>gates as microwave pulses</a:t>
            </a:r>
          </a:p>
        </p:txBody>
      </p:sp>
      <p:grpSp>
        <p:nvGrpSpPr>
          <p:cNvPr id="6" name="Group 5">
            <a:extLst>
              <a:ext uri="{FF2B5EF4-FFF2-40B4-BE49-F238E27FC236}">
                <a16:creationId xmlns:a16="http://schemas.microsoft.com/office/drawing/2014/main" id="{D9C4CC86-5130-014B-9E61-7A8B4304548F}"/>
              </a:ext>
            </a:extLst>
          </p:cNvPr>
          <p:cNvGrpSpPr/>
          <p:nvPr/>
        </p:nvGrpSpPr>
        <p:grpSpPr>
          <a:xfrm>
            <a:off x="6539407" y="1512880"/>
            <a:ext cx="1881525" cy="1703429"/>
            <a:chOff x="8126783" y="1156395"/>
            <a:chExt cx="1881525" cy="1703429"/>
          </a:xfrm>
        </p:grpSpPr>
        <p:sp>
          <p:nvSpPr>
            <p:cNvPr id="7" name="Rounded Rectangle 6">
              <a:extLst>
                <a:ext uri="{FF2B5EF4-FFF2-40B4-BE49-F238E27FC236}">
                  <a16:creationId xmlns:a16="http://schemas.microsoft.com/office/drawing/2014/main" id="{88201080-3BC1-6242-AC06-F59E679A303C}"/>
                </a:ext>
              </a:extLst>
            </p:cNvPr>
            <p:cNvSpPr/>
            <p:nvPr/>
          </p:nvSpPr>
          <p:spPr>
            <a:xfrm>
              <a:off x="8126783" y="1156395"/>
              <a:ext cx="1881525" cy="1703429"/>
            </a:xfrm>
            <a:prstGeom prst="roundRect">
              <a:avLst/>
            </a:pr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8303BB0-AB7A-B242-9CDB-01F2903529D0}"/>
                </a:ext>
              </a:extLst>
            </p:cNvPr>
            <p:cNvSpPr txBox="1"/>
            <p:nvPr/>
          </p:nvSpPr>
          <p:spPr>
            <a:xfrm>
              <a:off x="8987515" y="1340405"/>
              <a:ext cx="894797" cy="1323439"/>
            </a:xfrm>
            <a:prstGeom prst="rect">
              <a:avLst/>
            </a:prstGeom>
            <a:noFill/>
          </p:spPr>
          <p:txBody>
            <a:bodyPr wrap="none" rtlCol="0">
              <a:spAutoFit/>
            </a:bodyPr>
            <a:lstStyle/>
            <a:p>
              <a:r>
                <a:rPr lang="en-US" sz="4000" dirty="0">
                  <a:latin typeface="+mj-lt"/>
                </a:rPr>
                <a:t> </a:t>
              </a:r>
              <a:r>
                <a:rPr lang="en-US" sz="4000" dirty="0"/>
                <a:t>∣1⟩</a:t>
              </a:r>
            </a:p>
            <a:p>
              <a:r>
                <a:rPr lang="en-US" sz="4000" dirty="0"/>
                <a:t> ∣0⟩</a:t>
              </a:r>
            </a:p>
          </p:txBody>
        </p:sp>
        <p:cxnSp>
          <p:nvCxnSpPr>
            <p:cNvPr id="9" name="Straight Connector 8">
              <a:extLst>
                <a:ext uri="{FF2B5EF4-FFF2-40B4-BE49-F238E27FC236}">
                  <a16:creationId xmlns:a16="http://schemas.microsoft.com/office/drawing/2014/main" id="{25D9701B-5E29-2447-9F6A-2E425620A844}"/>
                </a:ext>
              </a:extLst>
            </p:cNvPr>
            <p:cNvCxnSpPr>
              <a:cxnSpLocks/>
            </p:cNvCxnSpPr>
            <p:nvPr/>
          </p:nvCxnSpPr>
          <p:spPr>
            <a:xfrm>
              <a:off x="8381318" y="1736223"/>
              <a:ext cx="690982" cy="0"/>
            </a:xfrm>
            <a:prstGeom prst="line">
              <a:avLst/>
            </a:prstGeom>
            <a:ln w="539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8153485-FD47-C949-A9E7-5EBC8F7F0F20}"/>
                </a:ext>
              </a:extLst>
            </p:cNvPr>
            <p:cNvCxnSpPr>
              <a:cxnSpLocks/>
            </p:cNvCxnSpPr>
            <p:nvPr/>
          </p:nvCxnSpPr>
          <p:spPr>
            <a:xfrm>
              <a:off x="8381318" y="2261455"/>
              <a:ext cx="690982"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1" name="Picture 10">
            <a:extLst>
              <a:ext uri="{FF2B5EF4-FFF2-40B4-BE49-F238E27FC236}">
                <a16:creationId xmlns:a16="http://schemas.microsoft.com/office/drawing/2014/main" id="{0A77D812-F70E-0140-8785-20092AD0BDAA}"/>
              </a:ext>
            </a:extLst>
          </p:cNvPr>
          <p:cNvPicPr>
            <a:picLocks noChangeAspect="1"/>
          </p:cNvPicPr>
          <p:nvPr/>
        </p:nvPicPr>
        <p:blipFill>
          <a:blip r:embed="rId4"/>
          <a:stretch>
            <a:fillRect/>
          </a:stretch>
        </p:blipFill>
        <p:spPr>
          <a:xfrm>
            <a:off x="6793942" y="3912491"/>
            <a:ext cx="1602017" cy="908288"/>
          </a:xfrm>
          <a:prstGeom prst="rect">
            <a:avLst/>
          </a:prstGeom>
        </p:spPr>
      </p:pic>
      <p:sp>
        <p:nvSpPr>
          <p:cNvPr id="12" name="TextBox 11">
            <a:extLst>
              <a:ext uri="{FF2B5EF4-FFF2-40B4-BE49-F238E27FC236}">
                <a16:creationId xmlns:a16="http://schemas.microsoft.com/office/drawing/2014/main" id="{C07A02E7-8256-824B-B304-A659A74D2D19}"/>
              </a:ext>
            </a:extLst>
          </p:cNvPr>
          <p:cNvSpPr txBox="1"/>
          <p:nvPr/>
        </p:nvSpPr>
        <p:spPr>
          <a:xfrm>
            <a:off x="8577386" y="1861875"/>
            <a:ext cx="2972189" cy="707886"/>
          </a:xfrm>
          <a:prstGeom prst="rect">
            <a:avLst/>
          </a:prstGeom>
          <a:noFill/>
        </p:spPr>
        <p:txBody>
          <a:bodyPr wrap="square" rtlCol="0">
            <a:spAutoFit/>
          </a:bodyPr>
          <a:lstStyle/>
          <a:p>
            <a:pPr algn="ctr"/>
            <a:r>
              <a:rPr lang="en-US" sz="2000" dirty="0">
                <a:latin typeface="+mj-lt"/>
              </a:rPr>
              <a:t>Qubit as two-levels superconducting circuit</a:t>
            </a:r>
          </a:p>
        </p:txBody>
      </p:sp>
      <p:cxnSp>
        <p:nvCxnSpPr>
          <p:cNvPr id="13" name="Straight Arrow Connector 12">
            <a:extLst>
              <a:ext uri="{FF2B5EF4-FFF2-40B4-BE49-F238E27FC236}">
                <a16:creationId xmlns:a16="http://schemas.microsoft.com/office/drawing/2014/main" id="{D81E3CD3-B40C-FF47-B892-98BFF54B60D0}"/>
              </a:ext>
            </a:extLst>
          </p:cNvPr>
          <p:cNvCxnSpPr>
            <a:cxnSpLocks/>
          </p:cNvCxnSpPr>
          <p:nvPr/>
        </p:nvCxnSpPr>
        <p:spPr>
          <a:xfrm flipV="1">
            <a:off x="3802983" y="2448791"/>
            <a:ext cx="2579970" cy="478367"/>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Arrow Connector 13">
            <a:extLst>
              <a:ext uri="{FF2B5EF4-FFF2-40B4-BE49-F238E27FC236}">
                <a16:creationId xmlns:a16="http://schemas.microsoft.com/office/drawing/2014/main" id="{5700E0A2-3F62-3047-8085-8DDA4385312F}"/>
              </a:ext>
            </a:extLst>
          </p:cNvPr>
          <p:cNvCxnSpPr>
            <a:cxnSpLocks/>
          </p:cNvCxnSpPr>
          <p:nvPr/>
        </p:nvCxnSpPr>
        <p:spPr>
          <a:xfrm flipV="1">
            <a:off x="4821120" y="4259260"/>
            <a:ext cx="1718287" cy="284604"/>
          </a:xfrm>
          <a:prstGeom prst="straightConnector1">
            <a:avLst/>
          </a:pr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73C0D6DD-F8C7-F342-A9E9-6B4D11EA7C92}"/>
              </a:ext>
            </a:extLst>
          </p:cNvPr>
          <p:cNvCxnSpPr>
            <a:cxnSpLocks/>
          </p:cNvCxnSpPr>
          <p:nvPr/>
        </p:nvCxnSpPr>
        <p:spPr>
          <a:xfrm>
            <a:off x="3691305" y="5105383"/>
            <a:ext cx="2691648" cy="970508"/>
          </a:xfrm>
          <a:prstGeom prst="straightConnector1">
            <a:avLst/>
          </a:prstGeom>
          <a:ln w="38100" cap="flat" cmpd="sng" algn="ctr">
            <a:solidFill>
              <a:srgbClr val="0432FF"/>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20" name="Picture 19">
            <a:extLst>
              <a:ext uri="{FF2B5EF4-FFF2-40B4-BE49-F238E27FC236}">
                <a16:creationId xmlns:a16="http://schemas.microsoft.com/office/drawing/2014/main" id="{16702927-87F7-294C-9D31-FD1267497FF1}"/>
              </a:ext>
            </a:extLst>
          </p:cNvPr>
          <p:cNvPicPr>
            <a:picLocks noChangeAspect="1"/>
          </p:cNvPicPr>
          <p:nvPr/>
        </p:nvPicPr>
        <p:blipFill>
          <a:blip r:embed="rId5"/>
          <a:stretch>
            <a:fillRect/>
          </a:stretch>
        </p:blipFill>
        <p:spPr>
          <a:xfrm>
            <a:off x="6860139" y="5516961"/>
            <a:ext cx="1080000" cy="1109189"/>
          </a:xfrm>
          <a:prstGeom prst="rect">
            <a:avLst/>
          </a:prstGeom>
        </p:spPr>
      </p:pic>
      <p:sp>
        <p:nvSpPr>
          <p:cNvPr id="15" name="TextBox 14">
            <a:extLst>
              <a:ext uri="{FF2B5EF4-FFF2-40B4-BE49-F238E27FC236}">
                <a16:creationId xmlns:a16="http://schemas.microsoft.com/office/drawing/2014/main" id="{482D8AC6-801B-114E-A87A-A615B2AE9460}"/>
              </a:ext>
            </a:extLst>
          </p:cNvPr>
          <p:cNvSpPr txBox="1"/>
          <p:nvPr/>
        </p:nvSpPr>
        <p:spPr>
          <a:xfrm>
            <a:off x="1103069" y="1088574"/>
            <a:ext cx="4750468" cy="400110"/>
          </a:xfrm>
          <a:prstGeom prst="rect">
            <a:avLst/>
          </a:prstGeom>
          <a:noFill/>
        </p:spPr>
        <p:txBody>
          <a:bodyPr wrap="none" rtlCol="0">
            <a:spAutoFit/>
          </a:bodyPr>
          <a:lstStyle/>
          <a:p>
            <a:r>
              <a:rPr lang="en-US" sz="2000" dirty="0"/>
              <a:t>Superconducting Quantum Processor (QPU)</a:t>
            </a:r>
          </a:p>
        </p:txBody>
      </p:sp>
    </p:spTree>
    <p:extLst>
      <p:ext uri="{BB962C8B-B14F-4D97-AF65-F5344CB8AC3E}">
        <p14:creationId xmlns:p14="http://schemas.microsoft.com/office/powerpoint/2010/main" val="1505188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7D44F-95F8-1242-89AC-BD381FB2A23B}"/>
              </a:ext>
            </a:extLst>
          </p:cNvPr>
          <p:cNvSpPr>
            <a:spLocks noGrp="1"/>
          </p:cNvSpPr>
          <p:nvPr>
            <p:ph type="title"/>
          </p:nvPr>
        </p:nvSpPr>
        <p:spPr/>
        <p:txBody>
          <a:bodyPr/>
          <a:lstStyle/>
          <a:p>
            <a:r>
              <a:rPr lang="en-US" dirty="0"/>
              <a:t>IBM Eagle – 127 qubits</a:t>
            </a:r>
          </a:p>
        </p:txBody>
      </p:sp>
      <p:sp>
        <p:nvSpPr>
          <p:cNvPr id="3" name="Slide Number Placeholder 2">
            <a:extLst>
              <a:ext uri="{FF2B5EF4-FFF2-40B4-BE49-F238E27FC236}">
                <a16:creationId xmlns:a16="http://schemas.microsoft.com/office/drawing/2014/main" id="{9B9C27B8-ED1C-AC40-A238-4CCB3862F392}"/>
              </a:ext>
            </a:extLst>
          </p:cNvPr>
          <p:cNvSpPr>
            <a:spLocks noGrp="1"/>
          </p:cNvSpPr>
          <p:nvPr>
            <p:ph type="sldNum" sz="quarter" idx="12"/>
          </p:nvPr>
        </p:nvSpPr>
        <p:spPr/>
        <p:txBody>
          <a:bodyPr/>
          <a:lstStyle/>
          <a:p>
            <a:fld id="{591A223C-FA10-BC46-A853-03BA373D023C}" type="slidenum">
              <a:rPr lang="en-US" smtClean="0"/>
              <a:t>26</a:t>
            </a:fld>
            <a:endParaRPr lang="en-US"/>
          </a:p>
        </p:txBody>
      </p:sp>
      <p:pic>
        <p:nvPicPr>
          <p:cNvPr id="4" name="Picture 3">
            <a:extLst>
              <a:ext uri="{FF2B5EF4-FFF2-40B4-BE49-F238E27FC236}">
                <a16:creationId xmlns:a16="http://schemas.microsoft.com/office/drawing/2014/main" id="{1E8B5FBF-B454-7B41-ABE1-9647E98FE517}"/>
              </a:ext>
            </a:extLst>
          </p:cNvPr>
          <p:cNvPicPr>
            <a:picLocks noChangeAspect="1"/>
          </p:cNvPicPr>
          <p:nvPr/>
        </p:nvPicPr>
        <p:blipFill>
          <a:blip r:embed="rId3"/>
          <a:stretch>
            <a:fillRect/>
          </a:stretch>
        </p:blipFill>
        <p:spPr>
          <a:xfrm>
            <a:off x="2742884" y="1141254"/>
            <a:ext cx="5590233" cy="5716745"/>
          </a:xfrm>
          <a:prstGeom prst="rect">
            <a:avLst/>
          </a:prstGeom>
        </p:spPr>
      </p:pic>
      <p:sp>
        <p:nvSpPr>
          <p:cNvPr id="5" name="TextBox 4">
            <a:extLst>
              <a:ext uri="{FF2B5EF4-FFF2-40B4-BE49-F238E27FC236}">
                <a16:creationId xmlns:a16="http://schemas.microsoft.com/office/drawing/2014/main" id="{E97AC23B-6034-464D-AF28-8C7C86EED02E}"/>
              </a:ext>
            </a:extLst>
          </p:cNvPr>
          <p:cNvSpPr txBox="1"/>
          <p:nvPr/>
        </p:nvSpPr>
        <p:spPr>
          <a:xfrm>
            <a:off x="741872" y="3071004"/>
            <a:ext cx="1255472" cy="369332"/>
          </a:xfrm>
          <a:prstGeom prst="rect">
            <a:avLst/>
          </a:prstGeom>
          <a:noFill/>
        </p:spPr>
        <p:txBody>
          <a:bodyPr wrap="none" rtlCol="0">
            <a:spAutoFit/>
          </a:bodyPr>
          <a:lstStyle/>
          <a:p>
            <a:r>
              <a:rPr lang="en-US" dirty="0"/>
              <a:t>qubit plane</a:t>
            </a:r>
          </a:p>
        </p:txBody>
      </p:sp>
      <p:sp>
        <p:nvSpPr>
          <p:cNvPr id="6" name="TextBox 5">
            <a:extLst>
              <a:ext uri="{FF2B5EF4-FFF2-40B4-BE49-F238E27FC236}">
                <a16:creationId xmlns:a16="http://schemas.microsoft.com/office/drawing/2014/main" id="{ABAADA49-22F8-6C46-AB36-0A1F346D80DD}"/>
              </a:ext>
            </a:extLst>
          </p:cNvPr>
          <p:cNvSpPr txBox="1"/>
          <p:nvPr/>
        </p:nvSpPr>
        <p:spPr>
          <a:xfrm>
            <a:off x="8231715" y="3895540"/>
            <a:ext cx="1671291" cy="369332"/>
          </a:xfrm>
          <a:prstGeom prst="rect">
            <a:avLst/>
          </a:prstGeom>
          <a:noFill/>
        </p:spPr>
        <p:txBody>
          <a:bodyPr wrap="none" rtlCol="0">
            <a:spAutoFit/>
          </a:bodyPr>
          <a:lstStyle/>
          <a:p>
            <a:r>
              <a:rPr lang="en-US" dirty="0"/>
              <a:t>resonator plane</a:t>
            </a:r>
          </a:p>
        </p:txBody>
      </p:sp>
      <p:sp>
        <p:nvSpPr>
          <p:cNvPr id="7" name="TextBox 6">
            <a:extLst>
              <a:ext uri="{FF2B5EF4-FFF2-40B4-BE49-F238E27FC236}">
                <a16:creationId xmlns:a16="http://schemas.microsoft.com/office/drawing/2014/main" id="{AD73775D-B7F5-074D-85D9-B6AF0849927D}"/>
              </a:ext>
            </a:extLst>
          </p:cNvPr>
          <p:cNvSpPr txBox="1"/>
          <p:nvPr/>
        </p:nvSpPr>
        <p:spPr>
          <a:xfrm>
            <a:off x="645816" y="4715138"/>
            <a:ext cx="1342034" cy="369332"/>
          </a:xfrm>
          <a:prstGeom prst="rect">
            <a:avLst/>
          </a:prstGeom>
          <a:noFill/>
        </p:spPr>
        <p:txBody>
          <a:bodyPr wrap="none" rtlCol="0">
            <a:spAutoFit/>
          </a:bodyPr>
          <a:lstStyle/>
          <a:p>
            <a:r>
              <a:rPr lang="en-US" dirty="0"/>
              <a:t>wiring plane</a:t>
            </a:r>
          </a:p>
        </p:txBody>
      </p:sp>
      <p:sp>
        <p:nvSpPr>
          <p:cNvPr id="8" name="TextBox 7">
            <a:extLst>
              <a:ext uri="{FF2B5EF4-FFF2-40B4-BE49-F238E27FC236}">
                <a16:creationId xmlns:a16="http://schemas.microsoft.com/office/drawing/2014/main" id="{3B336841-007E-5B46-8DF3-9C2C47AB8419}"/>
              </a:ext>
            </a:extLst>
          </p:cNvPr>
          <p:cNvSpPr txBox="1"/>
          <p:nvPr/>
        </p:nvSpPr>
        <p:spPr>
          <a:xfrm>
            <a:off x="8741715" y="5701994"/>
            <a:ext cx="1784656" cy="369332"/>
          </a:xfrm>
          <a:prstGeom prst="rect">
            <a:avLst/>
          </a:prstGeom>
          <a:noFill/>
        </p:spPr>
        <p:txBody>
          <a:bodyPr wrap="none" rtlCol="0">
            <a:spAutoFit/>
          </a:bodyPr>
          <a:lstStyle/>
          <a:p>
            <a:pPr algn="ctr"/>
            <a:r>
              <a:rPr lang="en-US" dirty="0"/>
              <a:t>interplane wiring</a:t>
            </a:r>
          </a:p>
        </p:txBody>
      </p:sp>
      <p:cxnSp>
        <p:nvCxnSpPr>
          <p:cNvPr id="9" name="Straight Connector 8">
            <a:extLst>
              <a:ext uri="{FF2B5EF4-FFF2-40B4-BE49-F238E27FC236}">
                <a16:creationId xmlns:a16="http://schemas.microsoft.com/office/drawing/2014/main" id="{6BCEEC83-88F8-E945-ACB1-34B180E2E6DC}"/>
              </a:ext>
            </a:extLst>
          </p:cNvPr>
          <p:cNvCxnSpPr>
            <a:cxnSpLocks/>
          </p:cNvCxnSpPr>
          <p:nvPr/>
        </p:nvCxnSpPr>
        <p:spPr>
          <a:xfrm>
            <a:off x="8145838" y="4257893"/>
            <a:ext cx="13611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0732A0D-62B5-E74B-B8EA-3EA7313C973D}"/>
              </a:ext>
            </a:extLst>
          </p:cNvPr>
          <p:cNvCxnSpPr>
            <a:cxnSpLocks/>
          </p:cNvCxnSpPr>
          <p:nvPr/>
        </p:nvCxnSpPr>
        <p:spPr>
          <a:xfrm>
            <a:off x="8034156" y="5501337"/>
            <a:ext cx="635194" cy="56998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E885F7D-C769-9A4C-967A-51408F8F1E4C}"/>
              </a:ext>
            </a:extLst>
          </p:cNvPr>
          <p:cNvCxnSpPr/>
          <p:nvPr/>
        </p:nvCxnSpPr>
        <p:spPr>
          <a:xfrm>
            <a:off x="8676330" y="6071326"/>
            <a:ext cx="131226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A3A66E4-7D01-4949-9867-7EA8E7F28FF8}"/>
              </a:ext>
            </a:extLst>
          </p:cNvPr>
          <p:cNvCxnSpPr>
            <a:cxnSpLocks/>
          </p:cNvCxnSpPr>
          <p:nvPr/>
        </p:nvCxnSpPr>
        <p:spPr>
          <a:xfrm flipH="1">
            <a:off x="1569033" y="5084470"/>
            <a:ext cx="134169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C92B93E-14EB-2741-BD73-E2D69B57B202}"/>
              </a:ext>
            </a:extLst>
          </p:cNvPr>
          <p:cNvCxnSpPr>
            <a:cxnSpLocks/>
          </p:cNvCxnSpPr>
          <p:nvPr/>
        </p:nvCxnSpPr>
        <p:spPr>
          <a:xfrm flipH="1">
            <a:off x="1242467" y="3440336"/>
            <a:ext cx="1668257" cy="0"/>
          </a:xfrm>
          <a:prstGeom prst="line">
            <a:avLst/>
          </a:prstGeom>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B17514AB-AF26-4243-96E1-31517B9E731B}"/>
              </a:ext>
            </a:extLst>
          </p:cNvPr>
          <p:cNvPicPr>
            <a:picLocks noChangeAspect="1"/>
          </p:cNvPicPr>
          <p:nvPr/>
        </p:nvPicPr>
        <p:blipFill>
          <a:blip r:embed="rId4"/>
          <a:stretch>
            <a:fillRect/>
          </a:stretch>
        </p:blipFill>
        <p:spPr>
          <a:xfrm>
            <a:off x="8591067" y="1352111"/>
            <a:ext cx="2484934" cy="2053522"/>
          </a:xfrm>
          <a:prstGeom prst="rect">
            <a:avLst/>
          </a:prstGeom>
          <a:ln>
            <a:solidFill>
              <a:schemeClr val="accent1"/>
            </a:solidFill>
          </a:ln>
        </p:spPr>
      </p:pic>
      <p:cxnSp>
        <p:nvCxnSpPr>
          <p:cNvPr id="15" name="Straight Connector 14">
            <a:extLst>
              <a:ext uri="{FF2B5EF4-FFF2-40B4-BE49-F238E27FC236}">
                <a16:creationId xmlns:a16="http://schemas.microsoft.com/office/drawing/2014/main" id="{FF94C786-7889-334C-A61A-FC946AC90168}"/>
              </a:ext>
            </a:extLst>
          </p:cNvPr>
          <p:cNvCxnSpPr>
            <a:cxnSpLocks/>
          </p:cNvCxnSpPr>
          <p:nvPr/>
        </p:nvCxnSpPr>
        <p:spPr>
          <a:xfrm flipV="1">
            <a:off x="7436581" y="2702741"/>
            <a:ext cx="1076962" cy="55292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35608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0DFF5-4A4F-DF42-9481-2148F597198F}"/>
              </a:ext>
            </a:extLst>
          </p:cNvPr>
          <p:cNvSpPr>
            <a:spLocks noGrp="1"/>
          </p:cNvSpPr>
          <p:nvPr>
            <p:ph type="title"/>
          </p:nvPr>
        </p:nvSpPr>
        <p:spPr>
          <a:xfrm>
            <a:off x="0" y="0"/>
            <a:ext cx="12192000" cy="928688"/>
          </a:xfrm>
        </p:spPr>
        <p:txBody>
          <a:bodyPr/>
          <a:lstStyle/>
          <a:p>
            <a:r>
              <a:rPr lang="en-US" dirty="0"/>
              <a:t>Binary machines</a:t>
            </a:r>
          </a:p>
        </p:txBody>
      </p:sp>
      <p:sp>
        <p:nvSpPr>
          <p:cNvPr id="3" name="Slide Number Placeholder 2">
            <a:extLst>
              <a:ext uri="{FF2B5EF4-FFF2-40B4-BE49-F238E27FC236}">
                <a16:creationId xmlns:a16="http://schemas.microsoft.com/office/drawing/2014/main" id="{947AFC6D-9054-5C4F-BC6F-F71355750398}"/>
              </a:ext>
            </a:extLst>
          </p:cNvPr>
          <p:cNvSpPr>
            <a:spLocks noGrp="1"/>
          </p:cNvSpPr>
          <p:nvPr>
            <p:ph type="sldNum" sz="quarter" idx="12"/>
          </p:nvPr>
        </p:nvSpPr>
        <p:spPr/>
        <p:txBody>
          <a:bodyPr/>
          <a:lstStyle/>
          <a:p>
            <a:fld id="{591A223C-FA10-BC46-A853-03BA373D023C}" type="slidenum">
              <a:rPr lang="en-US" smtClean="0"/>
              <a:t>27</a:t>
            </a:fld>
            <a:endParaRPr lang="en-US"/>
          </a:p>
        </p:txBody>
      </p:sp>
      <p:grpSp>
        <p:nvGrpSpPr>
          <p:cNvPr id="5" name="Group 4">
            <a:extLst>
              <a:ext uri="{FF2B5EF4-FFF2-40B4-BE49-F238E27FC236}">
                <a16:creationId xmlns:a16="http://schemas.microsoft.com/office/drawing/2014/main" id="{5481896C-6642-734C-AB11-8C69B45D8BC0}"/>
              </a:ext>
            </a:extLst>
          </p:cNvPr>
          <p:cNvGrpSpPr/>
          <p:nvPr/>
        </p:nvGrpSpPr>
        <p:grpSpPr>
          <a:xfrm>
            <a:off x="1314072" y="971402"/>
            <a:ext cx="10091498" cy="4552783"/>
            <a:chOff x="1314072" y="971402"/>
            <a:chExt cx="10091498" cy="4552783"/>
          </a:xfrm>
        </p:grpSpPr>
        <p:sp>
          <p:nvSpPr>
            <p:cNvPr id="6" name="TextBox 5">
              <a:extLst>
                <a:ext uri="{FF2B5EF4-FFF2-40B4-BE49-F238E27FC236}">
                  <a16:creationId xmlns:a16="http://schemas.microsoft.com/office/drawing/2014/main" id="{ED90F2DD-267C-094E-AA43-EF35384F3462}"/>
                </a:ext>
              </a:extLst>
            </p:cNvPr>
            <p:cNvSpPr txBox="1"/>
            <p:nvPr/>
          </p:nvSpPr>
          <p:spPr>
            <a:xfrm>
              <a:off x="1314072" y="2515523"/>
              <a:ext cx="1194558" cy="461665"/>
            </a:xfrm>
            <a:prstGeom prst="rect">
              <a:avLst/>
            </a:prstGeom>
            <a:noFill/>
          </p:spPr>
          <p:txBody>
            <a:bodyPr wrap="none" rtlCol="0">
              <a:spAutoFit/>
            </a:bodyPr>
            <a:lstStyle/>
            <a:p>
              <a:r>
                <a:rPr lang="en-US" sz="2400" dirty="0">
                  <a:latin typeface="Comic Sans MS" panose="030F0902030302020204" pitchFamily="66" charset="0"/>
                </a:rPr>
                <a:t>INPUT</a:t>
              </a:r>
            </a:p>
          </p:txBody>
        </p:sp>
        <p:sp>
          <p:nvSpPr>
            <p:cNvPr id="23" name="TextBox 22">
              <a:extLst>
                <a:ext uri="{FF2B5EF4-FFF2-40B4-BE49-F238E27FC236}">
                  <a16:creationId xmlns:a16="http://schemas.microsoft.com/office/drawing/2014/main" id="{D8A6CE33-5C7E-AF4E-AB0B-C843B6B59E21}"/>
                </a:ext>
              </a:extLst>
            </p:cNvPr>
            <p:cNvSpPr txBox="1"/>
            <p:nvPr/>
          </p:nvSpPr>
          <p:spPr>
            <a:xfrm>
              <a:off x="6862016" y="2496584"/>
              <a:ext cx="1462260" cy="461665"/>
            </a:xfrm>
            <a:prstGeom prst="rect">
              <a:avLst/>
            </a:prstGeom>
            <a:noFill/>
          </p:spPr>
          <p:txBody>
            <a:bodyPr wrap="none" rtlCol="0">
              <a:spAutoFit/>
            </a:bodyPr>
            <a:lstStyle/>
            <a:p>
              <a:r>
                <a:rPr lang="en-US" sz="2400" dirty="0">
                  <a:latin typeface="Comic Sans MS" panose="030F0902030302020204" pitchFamily="66" charset="0"/>
                </a:rPr>
                <a:t>OUTPUT</a:t>
              </a:r>
            </a:p>
          </p:txBody>
        </p:sp>
        <p:sp>
          <p:nvSpPr>
            <p:cNvPr id="10" name="Rectangle 9">
              <a:extLst>
                <a:ext uri="{FF2B5EF4-FFF2-40B4-BE49-F238E27FC236}">
                  <a16:creationId xmlns:a16="http://schemas.microsoft.com/office/drawing/2014/main" id="{EA2FFAD9-835D-1340-8F62-7A417C002218}"/>
                </a:ext>
              </a:extLst>
            </p:cNvPr>
            <p:cNvSpPr/>
            <p:nvPr/>
          </p:nvSpPr>
          <p:spPr>
            <a:xfrm>
              <a:off x="1480785" y="3277416"/>
              <a:ext cx="684803" cy="2246769"/>
            </a:xfrm>
            <a:prstGeom prst="rect">
              <a:avLst/>
            </a:prstGeom>
          </p:spPr>
          <p:txBody>
            <a:bodyPr wrap="none">
              <a:spAutoFit/>
            </a:bodyPr>
            <a:lstStyle/>
            <a:p>
              <a:r>
                <a:rPr lang="en-US" sz="2800" dirty="0">
                  <a:latin typeface="Comic Sans MS" panose="030F0902030302020204" pitchFamily="66" charset="0"/>
                </a:rPr>
                <a:t>|0⟩</a:t>
              </a:r>
            </a:p>
            <a:p>
              <a:r>
                <a:rPr lang="en-US" sz="2800" dirty="0">
                  <a:latin typeface="Comic Sans MS" panose="030F0902030302020204" pitchFamily="66" charset="0"/>
                </a:rPr>
                <a:t>|0⟩</a:t>
              </a:r>
            </a:p>
            <a:p>
              <a:r>
                <a:rPr lang="en-US" sz="2800" dirty="0">
                  <a:latin typeface="Comic Sans MS" panose="030F0902030302020204" pitchFamily="66" charset="0"/>
                </a:rPr>
                <a:t>|0⟩</a:t>
              </a:r>
            </a:p>
            <a:p>
              <a:r>
                <a:rPr lang="en-US" sz="2800" dirty="0">
                  <a:latin typeface="Comic Sans MS" panose="030F0902030302020204" pitchFamily="66" charset="0"/>
                </a:rPr>
                <a:t>|0⟩</a:t>
              </a:r>
            </a:p>
            <a:p>
              <a:r>
                <a:rPr lang="en-US" sz="2800" dirty="0">
                  <a:latin typeface="Comic Sans MS" panose="030F0902030302020204" pitchFamily="66" charset="0"/>
                </a:rPr>
                <a:t>|0⟩</a:t>
              </a:r>
            </a:p>
          </p:txBody>
        </p:sp>
        <p:sp>
          <p:nvSpPr>
            <p:cNvPr id="11" name="Rectangle 10">
              <a:extLst>
                <a:ext uri="{FF2B5EF4-FFF2-40B4-BE49-F238E27FC236}">
                  <a16:creationId xmlns:a16="http://schemas.microsoft.com/office/drawing/2014/main" id="{75C23BE5-984F-D24F-883F-347D73DA7ADA}"/>
                </a:ext>
              </a:extLst>
            </p:cNvPr>
            <p:cNvSpPr/>
            <p:nvPr/>
          </p:nvSpPr>
          <p:spPr>
            <a:xfrm>
              <a:off x="7391007" y="3277415"/>
              <a:ext cx="404278" cy="2246769"/>
            </a:xfrm>
            <a:prstGeom prst="rect">
              <a:avLst/>
            </a:prstGeom>
          </p:spPr>
          <p:txBody>
            <a:bodyPr wrap="none">
              <a:spAutoFit/>
            </a:bodyPr>
            <a:lstStyle/>
            <a:p>
              <a:r>
                <a:rPr lang="en-US" sz="2800" dirty="0">
                  <a:latin typeface="Comic Sans MS" panose="030F0902030302020204" pitchFamily="66" charset="0"/>
                </a:rPr>
                <a:t>0</a:t>
              </a:r>
            </a:p>
            <a:p>
              <a:r>
                <a:rPr lang="en-US" sz="2800" dirty="0">
                  <a:latin typeface="Comic Sans MS" panose="030F0902030302020204" pitchFamily="66" charset="0"/>
                </a:rPr>
                <a:t>1</a:t>
              </a:r>
            </a:p>
            <a:p>
              <a:r>
                <a:rPr lang="en-US" sz="2800" dirty="0">
                  <a:latin typeface="Comic Sans MS" panose="030F0902030302020204" pitchFamily="66" charset="0"/>
                </a:rPr>
                <a:t>1</a:t>
              </a:r>
            </a:p>
            <a:p>
              <a:r>
                <a:rPr lang="en-US" sz="2800" dirty="0">
                  <a:latin typeface="Comic Sans MS" panose="030F0902030302020204" pitchFamily="66" charset="0"/>
                </a:rPr>
                <a:t>0</a:t>
              </a:r>
            </a:p>
            <a:p>
              <a:r>
                <a:rPr lang="en-US" sz="2800" dirty="0">
                  <a:latin typeface="Comic Sans MS" panose="030F0902030302020204" pitchFamily="66" charset="0"/>
                </a:rPr>
                <a:t>1</a:t>
              </a:r>
              <a:endParaRPr lang="en-US" sz="2800" dirty="0"/>
            </a:p>
          </p:txBody>
        </p:sp>
        <p:pic>
          <p:nvPicPr>
            <p:cNvPr id="21" name="Picture 20">
              <a:extLst>
                <a:ext uri="{FF2B5EF4-FFF2-40B4-BE49-F238E27FC236}">
                  <a16:creationId xmlns:a16="http://schemas.microsoft.com/office/drawing/2014/main" id="{BCAF695C-11C4-DD42-9FDB-E5590EA81200}"/>
                </a:ext>
              </a:extLst>
            </p:cNvPr>
            <p:cNvPicPr>
              <a:picLocks noChangeAspect="1"/>
            </p:cNvPicPr>
            <p:nvPr/>
          </p:nvPicPr>
          <p:blipFill>
            <a:blip r:embed="rId3"/>
            <a:stretch>
              <a:fillRect/>
            </a:stretch>
          </p:blipFill>
          <p:spPr>
            <a:xfrm>
              <a:off x="2422504" y="4035104"/>
              <a:ext cx="1198635" cy="774118"/>
            </a:xfrm>
            <a:prstGeom prst="rect">
              <a:avLst/>
            </a:prstGeom>
          </p:spPr>
        </p:pic>
        <p:pic>
          <p:nvPicPr>
            <p:cNvPr id="43" name="Picture 42">
              <a:extLst>
                <a:ext uri="{FF2B5EF4-FFF2-40B4-BE49-F238E27FC236}">
                  <a16:creationId xmlns:a16="http://schemas.microsoft.com/office/drawing/2014/main" id="{99F50E10-C269-D245-8094-48838580CEE5}"/>
                </a:ext>
              </a:extLst>
            </p:cNvPr>
            <p:cNvPicPr>
              <a:picLocks noChangeAspect="1"/>
            </p:cNvPicPr>
            <p:nvPr/>
          </p:nvPicPr>
          <p:blipFill>
            <a:blip r:embed="rId3"/>
            <a:stretch>
              <a:fillRect/>
            </a:stretch>
          </p:blipFill>
          <p:spPr>
            <a:xfrm>
              <a:off x="5935456" y="3902691"/>
              <a:ext cx="1198635" cy="774118"/>
            </a:xfrm>
            <a:prstGeom prst="rect">
              <a:avLst/>
            </a:prstGeom>
          </p:spPr>
        </p:pic>
        <p:sp>
          <p:nvSpPr>
            <p:cNvPr id="4" name="TextBox 3">
              <a:extLst>
                <a:ext uri="{FF2B5EF4-FFF2-40B4-BE49-F238E27FC236}">
                  <a16:creationId xmlns:a16="http://schemas.microsoft.com/office/drawing/2014/main" id="{126CA8C2-44D7-274F-8970-A7085C812430}"/>
                </a:ext>
              </a:extLst>
            </p:cNvPr>
            <p:cNvSpPr txBox="1"/>
            <p:nvPr/>
          </p:nvSpPr>
          <p:spPr>
            <a:xfrm>
              <a:off x="9475076" y="2221078"/>
              <a:ext cx="1037528" cy="2862322"/>
            </a:xfrm>
            <a:prstGeom prst="rect">
              <a:avLst/>
            </a:prstGeom>
            <a:noFill/>
          </p:spPr>
          <p:txBody>
            <a:bodyPr wrap="none" rtlCol="0">
              <a:spAutoFit/>
            </a:bodyPr>
            <a:lstStyle/>
            <a:p>
              <a:pPr algn="r"/>
              <a:r>
                <a:rPr lang="en-US" sz="2400" dirty="0" err="1">
                  <a:latin typeface="Comic Sans MS" panose="030F0902030302020204" pitchFamily="66" charset="0"/>
                </a:rPr>
                <a:t>int</a:t>
              </a:r>
              <a:endParaRPr lang="en-US" sz="2400" dirty="0">
                <a:latin typeface="Comic Sans MS" panose="030F0902030302020204" pitchFamily="66" charset="0"/>
              </a:endParaRPr>
            </a:p>
            <a:p>
              <a:pPr algn="r"/>
              <a:endParaRPr lang="en-US" sz="900" dirty="0">
                <a:latin typeface="Comic Sans MS" panose="030F0902030302020204" pitchFamily="66" charset="0"/>
              </a:endParaRPr>
            </a:p>
            <a:p>
              <a:pPr algn="r"/>
              <a:r>
                <a:rPr lang="en-US" sz="2400" dirty="0">
                  <a:latin typeface="Comic Sans MS" panose="030F0902030302020204" pitchFamily="66" charset="0"/>
                </a:rPr>
                <a:t>float</a:t>
              </a:r>
            </a:p>
            <a:p>
              <a:pPr algn="r"/>
              <a:endParaRPr lang="en-US" sz="900" dirty="0">
                <a:latin typeface="Comic Sans MS" panose="030F0902030302020204" pitchFamily="66" charset="0"/>
              </a:endParaRPr>
            </a:p>
            <a:p>
              <a:pPr algn="r"/>
              <a:r>
                <a:rPr lang="en-US" sz="2400" dirty="0">
                  <a:latin typeface="Comic Sans MS" panose="030F0902030302020204" pitchFamily="66" charset="0"/>
                </a:rPr>
                <a:t>string</a:t>
              </a:r>
            </a:p>
            <a:p>
              <a:pPr algn="r"/>
              <a:endParaRPr lang="en-US" sz="900" dirty="0">
                <a:latin typeface="Comic Sans MS" panose="030F0902030302020204" pitchFamily="66" charset="0"/>
              </a:endParaRPr>
            </a:p>
            <a:p>
              <a:pPr algn="r"/>
              <a:r>
                <a:rPr lang="en-US" sz="2400" dirty="0">
                  <a:latin typeface="Comic Sans MS" panose="030F0902030302020204" pitchFamily="66" charset="0"/>
                </a:rPr>
                <a:t>list</a:t>
              </a:r>
            </a:p>
            <a:p>
              <a:pPr algn="r"/>
              <a:endParaRPr lang="en-US" sz="900" dirty="0">
                <a:latin typeface="Comic Sans MS" panose="030F0902030302020204" pitchFamily="66" charset="0"/>
              </a:endParaRPr>
            </a:p>
            <a:p>
              <a:pPr algn="r"/>
              <a:r>
                <a:rPr lang="en-US" sz="2400" dirty="0">
                  <a:latin typeface="Comic Sans MS" panose="030F0902030302020204" pitchFamily="66" charset="0"/>
                </a:rPr>
                <a:t>RAM</a:t>
              </a:r>
              <a:endParaRPr lang="en-US" sz="2400" dirty="0"/>
            </a:p>
            <a:p>
              <a:pPr algn="r"/>
              <a:endParaRPr lang="en-US" sz="2400" dirty="0">
                <a:latin typeface="Comic Sans MS" panose="030F0902030302020204" pitchFamily="66" charset="0"/>
              </a:endParaRPr>
            </a:p>
          </p:txBody>
        </p:sp>
        <p:pic>
          <p:nvPicPr>
            <p:cNvPr id="8" name="Picture 7">
              <a:extLst>
                <a:ext uri="{FF2B5EF4-FFF2-40B4-BE49-F238E27FC236}">
                  <a16:creationId xmlns:a16="http://schemas.microsoft.com/office/drawing/2014/main" id="{E27AEA51-B1CA-0747-B6D3-46A7E9998372}"/>
                </a:ext>
              </a:extLst>
            </p:cNvPr>
            <p:cNvPicPr>
              <a:picLocks noChangeAspect="1"/>
            </p:cNvPicPr>
            <p:nvPr/>
          </p:nvPicPr>
          <p:blipFill>
            <a:blip r:embed="rId4"/>
            <a:stretch>
              <a:fillRect/>
            </a:stretch>
          </p:blipFill>
          <p:spPr>
            <a:xfrm>
              <a:off x="10902436" y="1496741"/>
              <a:ext cx="503134" cy="471688"/>
            </a:xfrm>
            <a:prstGeom prst="rect">
              <a:avLst/>
            </a:prstGeom>
          </p:spPr>
        </p:pic>
        <p:pic>
          <p:nvPicPr>
            <p:cNvPr id="12" name="Picture 11">
              <a:extLst>
                <a:ext uri="{FF2B5EF4-FFF2-40B4-BE49-F238E27FC236}">
                  <a16:creationId xmlns:a16="http://schemas.microsoft.com/office/drawing/2014/main" id="{5D15FB50-5376-3C46-9635-075D9FC98B91}"/>
                </a:ext>
              </a:extLst>
            </p:cNvPr>
            <p:cNvPicPr>
              <a:picLocks noChangeAspect="1"/>
            </p:cNvPicPr>
            <p:nvPr/>
          </p:nvPicPr>
          <p:blipFill>
            <a:blip r:embed="rId5"/>
            <a:stretch>
              <a:fillRect/>
            </a:stretch>
          </p:blipFill>
          <p:spPr>
            <a:xfrm>
              <a:off x="10718942" y="2190572"/>
              <a:ext cx="366985" cy="494130"/>
            </a:xfrm>
            <a:prstGeom prst="rect">
              <a:avLst/>
            </a:prstGeom>
          </p:spPr>
        </p:pic>
        <p:pic>
          <p:nvPicPr>
            <p:cNvPr id="18" name="Picture 17">
              <a:extLst>
                <a:ext uri="{FF2B5EF4-FFF2-40B4-BE49-F238E27FC236}">
                  <a16:creationId xmlns:a16="http://schemas.microsoft.com/office/drawing/2014/main" id="{D1DDC8E0-10CD-7148-B723-2A46614AD4C0}"/>
                </a:ext>
              </a:extLst>
            </p:cNvPr>
            <p:cNvPicPr>
              <a:picLocks noChangeAspect="1"/>
            </p:cNvPicPr>
            <p:nvPr/>
          </p:nvPicPr>
          <p:blipFill>
            <a:blip r:embed="rId5"/>
            <a:stretch>
              <a:fillRect/>
            </a:stretch>
          </p:blipFill>
          <p:spPr>
            <a:xfrm>
              <a:off x="10748710" y="2711184"/>
              <a:ext cx="366985" cy="494130"/>
            </a:xfrm>
            <a:prstGeom prst="rect">
              <a:avLst/>
            </a:prstGeom>
          </p:spPr>
        </p:pic>
        <p:pic>
          <p:nvPicPr>
            <p:cNvPr id="19" name="Picture 18">
              <a:extLst>
                <a:ext uri="{FF2B5EF4-FFF2-40B4-BE49-F238E27FC236}">
                  <a16:creationId xmlns:a16="http://schemas.microsoft.com/office/drawing/2014/main" id="{9567A294-F0D3-CD43-B321-30BF4C1B63D0}"/>
                </a:ext>
              </a:extLst>
            </p:cNvPr>
            <p:cNvPicPr>
              <a:picLocks noChangeAspect="1"/>
            </p:cNvPicPr>
            <p:nvPr/>
          </p:nvPicPr>
          <p:blipFill>
            <a:blip r:embed="rId5"/>
            <a:stretch>
              <a:fillRect/>
            </a:stretch>
          </p:blipFill>
          <p:spPr>
            <a:xfrm>
              <a:off x="10748710" y="3231796"/>
              <a:ext cx="366985" cy="494130"/>
            </a:xfrm>
            <a:prstGeom prst="rect">
              <a:avLst/>
            </a:prstGeom>
          </p:spPr>
        </p:pic>
        <p:pic>
          <p:nvPicPr>
            <p:cNvPr id="20" name="Picture 19">
              <a:extLst>
                <a:ext uri="{FF2B5EF4-FFF2-40B4-BE49-F238E27FC236}">
                  <a16:creationId xmlns:a16="http://schemas.microsoft.com/office/drawing/2014/main" id="{E84F2ED2-E9ED-EF42-8247-0B36779C3F89}"/>
                </a:ext>
              </a:extLst>
            </p:cNvPr>
            <p:cNvPicPr>
              <a:picLocks noChangeAspect="1"/>
            </p:cNvPicPr>
            <p:nvPr/>
          </p:nvPicPr>
          <p:blipFill>
            <a:blip r:embed="rId5"/>
            <a:stretch>
              <a:fillRect/>
            </a:stretch>
          </p:blipFill>
          <p:spPr>
            <a:xfrm>
              <a:off x="10748710" y="3719750"/>
              <a:ext cx="366985" cy="494130"/>
            </a:xfrm>
            <a:prstGeom prst="rect">
              <a:avLst/>
            </a:prstGeom>
          </p:spPr>
        </p:pic>
        <p:sp>
          <p:nvSpPr>
            <p:cNvPr id="25" name="TextBox 24">
              <a:extLst>
                <a:ext uri="{FF2B5EF4-FFF2-40B4-BE49-F238E27FC236}">
                  <a16:creationId xmlns:a16="http://schemas.microsoft.com/office/drawing/2014/main" id="{10EF91A8-CBF7-FA40-ACC6-296C3604F181}"/>
                </a:ext>
              </a:extLst>
            </p:cNvPr>
            <p:cNvSpPr txBox="1"/>
            <p:nvPr/>
          </p:nvSpPr>
          <p:spPr>
            <a:xfrm>
              <a:off x="9431859" y="971402"/>
              <a:ext cx="1702710" cy="461665"/>
            </a:xfrm>
            <a:prstGeom prst="rect">
              <a:avLst/>
            </a:prstGeom>
            <a:solidFill>
              <a:schemeClr val="bg1">
                <a:lumMod val="95000"/>
              </a:schemeClr>
            </a:solidFill>
          </p:spPr>
          <p:txBody>
            <a:bodyPr wrap="none" rtlCol="0">
              <a:spAutoFit/>
            </a:bodyPr>
            <a:lstStyle/>
            <a:p>
              <a:r>
                <a:rPr lang="en-US" sz="2400" dirty="0">
                  <a:latin typeface="Comic Sans MS" panose="030F0902030302020204" pitchFamily="66" charset="0"/>
                </a:rPr>
                <a:t>data types</a:t>
              </a:r>
              <a:endParaRPr lang="en-US" sz="2400" dirty="0"/>
            </a:p>
          </p:txBody>
        </p:sp>
        <p:pic>
          <p:nvPicPr>
            <p:cNvPr id="26" name="Picture 25">
              <a:extLst>
                <a:ext uri="{FF2B5EF4-FFF2-40B4-BE49-F238E27FC236}">
                  <a16:creationId xmlns:a16="http://schemas.microsoft.com/office/drawing/2014/main" id="{98FAA959-6847-D74B-9890-6A21FEDEF0AA}"/>
                </a:ext>
              </a:extLst>
            </p:cNvPr>
            <p:cNvPicPr>
              <a:picLocks noChangeAspect="1"/>
            </p:cNvPicPr>
            <p:nvPr/>
          </p:nvPicPr>
          <p:blipFill>
            <a:blip r:embed="rId5"/>
            <a:stretch>
              <a:fillRect/>
            </a:stretch>
          </p:blipFill>
          <p:spPr>
            <a:xfrm>
              <a:off x="10787018" y="4175805"/>
              <a:ext cx="366985" cy="494130"/>
            </a:xfrm>
            <a:prstGeom prst="rect">
              <a:avLst/>
            </a:prstGeom>
          </p:spPr>
        </p:pic>
        <p:sp>
          <p:nvSpPr>
            <p:cNvPr id="7" name="TextBox 6">
              <a:extLst>
                <a:ext uri="{FF2B5EF4-FFF2-40B4-BE49-F238E27FC236}">
                  <a16:creationId xmlns:a16="http://schemas.microsoft.com/office/drawing/2014/main" id="{E3AE3E1A-6868-3A45-84BF-A59024F90987}"/>
                </a:ext>
              </a:extLst>
            </p:cNvPr>
            <p:cNvSpPr txBox="1"/>
            <p:nvPr/>
          </p:nvSpPr>
          <p:spPr>
            <a:xfrm>
              <a:off x="9431859" y="1585891"/>
              <a:ext cx="1080745" cy="461665"/>
            </a:xfrm>
            <a:prstGeom prst="rect">
              <a:avLst/>
            </a:prstGeom>
            <a:noFill/>
          </p:spPr>
          <p:txBody>
            <a:bodyPr wrap="none" rtlCol="0">
              <a:spAutoFit/>
            </a:bodyPr>
            <a:lstStyle/>
            <a:p>
              <a:r>
                <a:rPr lang="en-US" sz="2400" dirty="0">
                  <a:latin typeface="Comic Sans MS" panose="030F0902030302020204" pitchFamily="66" charset="0"/>
                </a:rPr>
                <a:t>binary</a:t>
              </a:r>
            </a:p>
          </p:txBody>
        </p:sp>
      </p:grpSp>
      <p:pic>
        <p:nvPicPr>
          <p:cNvPr id="22" name="Picture 21">
            <a:extLst>
              <a:ext uri="{FF2B5EF4-FFF2-40B4-BE49-F238E27FC236}">
                <a16:creationId xmlns:a16="http://schemas.microsoft.com/office/drawing/2014/main" id="{E8A4D980-1CB6-B346-B2C6-D9E8C3815E7A}"/>
              </a:ext>
            </a:extLst>
          </p:cNvPr>
          <p:cNvPicPr>
            <a:picLocks noChangeAspect="1"/>
          </p:cNvPicPr>
          <p:nvPr/>
        </p:nvPicPr>
        <p:blipFill>
          <a:blip r:embed="rId6"/>
          <a:stretch>
            <a:fillRect/>
          </a:stretch>
        </p:blipFill>
        <p:spPr>
          <a:xfrm>
            <a:off x="3425828" y="1983370"/>
            <a:ext cx="2584093" cy="3482908"/>
          </a:xfrm>
          <a:prstGeom prst="rect">
            <a:avLst/>
          </a:prstGeom>
        </p:spPr>
      </p:pic>
    </p:spTree>
    <p:extLst>
      <p:ext uri="{BB962C8B-B14F-4D97-AF65-F5344CB8AC3E}">
        <p14:creationId xmlns:p14="http://schemas.microsoft.com/office/powerpoint/2010/main" val="7037757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399D833-5D8C-474B-BF8C-B775B13FD27B}"/>
              </a:ext>
            </a:extLst>
          </p:cNvPr>
          <p:cNvSpPr/>
          <p:nvPr/>
        </p:nvSpPr>
        <p:spPr>
          <a:xfrm>
            <a:off x="7051485" y="3333658"/>
            <a:ext cx="1185694" cy="864872"/>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2D0739-EDD1-1549-8DFA-CB4F40D297A1}"/>
              </a:ext>
            </a:extLst>
          </p:cNvPr>
          <p:cNvSpPr>
            <a:spLocks noGrp="1"/>
          </p:cNvSpPr>
          <p:nvPr>
            <p:ph type="title"/>
          </p:nvPr>
        </p:nvSpPr>
        <p:spPr>
          <a:xfrm>
            <a:off x="0" y="0"/>
            <a:ext cx="12192000" cy="928688"/>
          </a:xfrm>
        </p:spPr>
        <p:txBody>
          <a:bodyPr/>
          <a:lstStyle/>
          <a:p>
            <a:r>
              <a:rPr lang="en-ZA" dirty="0"/>
              <a:t>Layered Model of Quantum Computing</a:t>
            </a:r>
            <a:endParaRPr lang="en-US" dirty="0"/>
          </a:p>
        </p:txBody>
      </p:sp>
      <p:graphicFrame>
        <p:nvGraphicFramePr>
          <p:cNvPr id="13" name="Diagram 12">
            <a:extLst>
              <a:ext uri="{FF2B5EF4-FFF2-40B4-BE49-F238E27FC236}">
                <a16:creationId xmlns:a16="http://schemas.microsoft.com/office/drawing/2014/main" id="{10EB9623-501D-7A45-8A8E-6BA01D731007}"/>
              </a:ext>
            </a:extLst>
          </p:cNvPr>
          <p:cNvGraphicFramePr/>
          <p:nvPr>
            <p:extLst>
              <p:ext uri="{D42A27DB-BD31-4B8C-83A1-F6EECF244321}">
                <p14:modId xmlns:p14="http://schemas.microsoft.com/office/powerpoint/2010/main" val="1452076540"/>
              </p:ext>
            </p:extLst>
          </p:nvPr>
        </p:nvGraphicFramePr>
        <p:xfrm>
          <a:off x="334148" y="1141204"/>
          <a:ext cx="6229350" cy="53006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06C10DC-9ED4-A04B-8EE7-254939B7DE04}"/>
                  </a:ext>
                </a:extLst>
              </p:cNvPr>
              <p:cNvSpPr txBox="1"/>
              <p:nvPr/>
            </p:nvSpPr>
            <p:spPr>
              <a:xfrm>
                <a:off x="6992991" y="3392826"/>
                <a:ext cx="2639632" cy="73385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2500" i="1" smtClean="0">
                              <a:latin typeface="Cambria Math" panose="02040503050406030204" pitchFamily="18" charset="0"/>
                              <a:ea typeface="Cambria Math" panose="02040503050406030204" pitchFamily="18" charset="0"/>
                            </a:rPr>
                          </m:ctrlPr>
                        </m:dPr>
                        <m:e>
                          <m:m>
                            <m:mPr>
                              <m:plcHide m:val="on"/>
                              <m:mcs>
                                <m:mc>
                                  <m:mcPr>
                                    <m:count m:val="2"/>
                                    <m:mcJc m:val="center"/>
                                  </m:mcPr>
                                </m:mc>
                              </m:mcs>
                              <m:ctrlPr>
                                <a:rPr lang="en-US" sz="2500" i="1">
                                  <a:latin typeface="Cambria Math" panose="02040503050406030204" pitchFamily="18" charset="0"/>
                                  <a:ea typeface="Cambria Math" panose="02040503050406030204" pitchFamily="18" charset="0"/>
                                </a:rPr>
                              </m:ctrlPr>
                            </m:mPr>
                            <m:mr>
                              <m:e>
                                <m:r>
                                  <a:rPr lang="en-US" sz="2500">
                                    <a:latin typeface="Cambria Math" panose="02040503050406030204" pitchFamily="18" charset="0"/>
                                    <a:ea typeface="Cambria Math" panose="02040503050406030204" pitchFamily="18" charset="0"/>
                                  </a:rPr>
                                  <m:t>0</m:t>
                                </m:r>
                              </m:e>
                              <m:e>
                                <m:r>
                                  <a:rPr lang="en-US" sz="2500">
                                    <a:latin typeface="Cambria Math" panose="02040503050406030204" pitchFamily="18" charset="0"/>
                                    <a:ea typeface="Cambria Math" panose="02040503050406030204" pitchFamily="18" charset="0"/>
                                  </a:rPr>
                                  <m:t>1</m:t>
                                </m:r>
                              </m:e>
                            </m:mr>
                            <m:mr>
                              <m:e>
                                <m:r>
                                  <a:rPr lang="en-US" sz="2500">
                                    <a:latin typeface="Cambria Math" panose="02040503050406030204" pitchFamily="18" charset="0"/>
                                    <a:ea typeface="Cambria Math" panose="02040503050406030204" pitchFamily="18" charset="0"/>
                                  </a:rPr>
                                  <m:t>1</m:t>
                                </m:r>
                              </m:e>
                              <m:e>
                                <m:r>
                                  <a:rPr lang="en-US" sz="2500">
                                    <a:latin typeface="Cambria Math" panose="02040503050406030204" pitchFamily="18" charset="0"/>
                                    <a:ea typeface="Cambria Math" panose="02040503050406030204" pitchFamily="18" charset="0"/>
                                  </a:rPr>
                                  <m:t>0</m:t>
                                </m:r>
                              </m:e>
                            </m:mr>
                          </m:m>
                        </m:e>
                      </m:d>
                      <m:r>
                        <a:rPr lang="en-US" sz="2500" b="0" i="1" smtClean="0">
                          <a:latin typeface="Cambria Math" panose="02040503050406030204" pitchFamily="18" charset="0"/>
                          <a:ea typeface="Cambria Math" panose="02040503050406030204" pitchFamily="18" charset="0"/>
                        </a:rPr>
                        <m:t> </m:t>
                      </m:r>
                      <m:d>
                        <m:dPr>
                          <m:ctrlPr>
                            <a:rPr lang="en-US" sz="2500" i="1">
                              <a:latin typeface="Cambria Math" panose="02040503050406030204" pitchFamily="18" charset="0"/>
                              <a:ea typeface="Cambria Math" panose="02040503050406030204" pitchFamily="18" charset="0"/>
                            </a:rPr>
                          </m:ctrlPr>
                        </m:dPr>
                        <m:e>
                          <m:m>
                            <m:mPr>
                              <m:plcHide m:val="on"/>
                              <m:mcs>
                                <m:mc>
                                  <m:mcPr>
                                    <m:count m:val="1"/>
                                    <m:mcJc m:val="center"/>
                                  </m:mcPr>
                                </m:mc>
                              </m:mcs>
                              <m:ctrlPr>
                                <a:rPr lang="en-US" sz="2500" i="1">
                                  <a:latin typeface="Cambria Math" panose="02040503050406030204" pitchFamily="18" charset="0"/>
                                  <a:ea typeface="Cambria Math" panose="02040503050406030204" pitchFamily="18" charset="0"/>
                                </a:rPr>
                              </m:ctrlPr>
                            </m:mPr>
                            <m:mr>
                              <m:e>
                                <m:r>
                                  <a:rPr lang="en-US" sz="2500" b="0" i="0" smtClean="0">
                                    <a:latin typeface="Cambria Math" panose="02040503050406030204" pitchFamily="18" charset="0"/>
                                    <a:ea typeface="Cambria Math" panose="02040503050406030204" pitchFamily="18" charset="0"/>
                                  </a:rPr>
                                  <m:t>0.9808</m:t>
                                </m:r>
                              </m:e>
                            </m:mr>
                            <m:mr>
                              <m:e>
                                <m:r>
                                  <a:rPr lang="en-US" sz="2500">
                                    <a:latin typeface="Cambria Math" panose="02040503050406030204" pitchFamily="18" charset="0"/>
                                    <a:ea typeface="Cambria Math" panose="02040503050406030204" pitchFamily="18" charset="0"/>
                                  </a:rPr>
                                  <m:t>0</m:t>
                                </m:r>
                                <m:r>
                                  <a:rPr lang="en-US" sz="2500" b="0" i="0" smtClean="0">
                                    <a:latin typeface="Cambria Math" panose="02040503050406030204" pitchFamily="18" charset="0"/>
                                    <a:ea typeface="Cambria Math" panose="02040503050406030204" pitchFamily="18" charset="0"/>
                                  </a:rPr>
                                  <m:t>.1951</m:t>
                                </m:r>
                              </m:e>
                            </m:mr>
                          </m:m>
                        </m:e>
                      </m:d>
                    </m:oMath>
                  </m:oMathPara>
                </a14:m>
                <a:endParaRPr lang="en-US" sz="2500" dirty="0">
                  <a:latin typeface="Cambria Math" panose="02040503050406030204" pitchFamily="18" charset="0"/>
                  <a:ea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F06C10DC-9ED4-A04B-8EE7-254939B7DE04}"/>
                  </a:ext>
                </a:extLst>
              </p:cNvPr>
              <p:cNvSpPr txBox="1">
                <a:spLocks noRot="1" noChangeAspect="1" noMove="1" noResize="1" noEditPoints="1" noAdjustHandles="1" noChangeArrowheads="1" noChangeShapeType="1" noTextEdit="1"/>
              </p:cNvSpPr>
              <p:nvPr/>
            </p:nvSpPr>
            <p:spPr>
              <a:xfrm>
                <a:off x="6992991" y="3392826"/>
                <a:ext cx="2639632" cy="733855"/>
              </a:xfrm>
              <a:prstGeom prst="rect">
                <a:avLst/>
              </a:prstGeom>
              <a:blipFill>
                <a:blip r:embed="rId9"/>
                <a:stretch>
                  <a:fillRect b="-67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A69AB2F-EAB2-5F41-A45D-5012876B2FC9}"/>
                  </a:ext>
                </a:extLst>
              </p:cNvPr>
              <p:cNvSpPr txBox="1"/>
              <p:nvPr/>
            </p:nvSpPr>
            <p:spPr>
              <a:xfrm>
                <a:off x="8022622" y="1209620"/>
                <a:ext cx="1526508" cy="73385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2500" i="1">
                              <a:latin typeface="Cambria Math" panose="02040503050406030204" pitchFamily="18" charset="0"/>
                              <a:ea typeface="Cambria Math" panose="02040503050406030204" pitchFamily="18" charset="0"/>
                            </a:rPr>
                          </m:ctrlPr>
                        </m:dPr>
                        <m:e>
                          <m:m>
                            <m:mPr>
                              <m:plcHide m:val="on"/>
                              <m:mcs>
                                <m:mc>
                                  <m:mcPr>
                                    <m:count m:val="1"/>
                                    <m:mcJc m:val="center"/>
                                  </m:mcPr>
                                </m:mc>
                              </m:mcs>
                              <m:ctrlPr>
                                <a:rPr lang="en-US" sz="2500" i="1">
                                  <a:latin typeface="Cambria Math" panose="02040503050406030204" pitchFamily="18" charset="0"/>
                                  <a:ea typeface="Cambria Math" panose="02040503050406030204" pitchFamily="18" charset="0"/>
                                </a:rPr>
                              </m:ctrlPr>
                            </m:mPr>
                            <m:mr>
                              <m:e>
                                <m:r>
                                  <a:rPr lang="en-US" sz="2500">
                                    <a:latin typeface="Cambria Math" panose="02040503050406030204" pitchFamily="18" charset="0"/>
                                    <a:ea typeface="Cambria Math" panose="02040503050406030204" pitchFamily="18" charset="0"/>
                                  </a:rPr>
                                  <m:t>0.9808</m:t>
                                </m:r>
                              </m:e>
                            </m:mr>
                            <m:mr>
                              <m:e>
                                <m:r>
                                  <a:rPr lang="en-US" sz="2500">
                                    <a:latin typeface="Cambria Math" panose="02040503050406030204" pitchFamily="18" charset="0"/>
                                    <a:ea typeface="Cambria Math" panose="02040503050406030204" pitchFamily="18" charset="0"/>
                                  </a:rPr>
                                  <m:t>0.1951</m:t>
                                </m:r>
                              </m:e>
                            </m:mr>
                          </m:m>
                        </m:e>
                      </m:d>
                    </m:oMath>
                  </m:oMathPara>
                </a14:m>
                <a:endParaRPr lang="en-US" sz="2500" dirty="0"/>
              </a:p>
            </p:txBody>
          </p:sp>
        </mc:Choice>
        <mc:Fallback xmlns="">
          <p:sp>
            <p:nvSpPr>
              <p:cNvPr id="15" name="TextBox 14">
                <a:extLst>
                  <a:ext uri="{FF2B5EF4-FFF2-40B4-BE49-F238E27FC236}">
                    <a16:creationId xmlns:a16="http://schemas.microsoft.com/office/drawing/2014/main" id="{DA69AB2F-EAB2-5F41-A45D-5012876B2FC9}"/>
                  </a:ext>
                </a:extLst>
              </p:cNvPr>
              <p:cNvSpPr txBox="1">
                <a:spLocks noRot="1" noChangeAspect="1" noMove="1" noResize="1" noEditPoints="1" noAdjustHandles="1" noChangeArrowheads="1" noChangeShapeType="1" noTextEdit="1"/>
              </p:cNvSpPr>
              <p:nvPr/>
            </p:nvSpPr>
            <p:spPr>
              <a:xfrm>
                <a:off x="8022622" y="1209620"/>
                <a:ext cx="1526508" cy="733855"/>
              </a:xfrm>
              <a:prstGeom prst="rect">
                <a:avLst/>
              </a:prstGeom>
              <a:blipFill>
                <a:blip r:embed="rId10"/>
                <a:stretch>
                  <a:fillRect b="-67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C3C3807-0723-8E42-A7B0-2D62DE9DF039}"/>
                  </a:ext>
                </a:extLst>
              </p:cNvPr>
              <p:cNvSpPr txBox="1"/>
              <p:nvPr/>
            </p:nvSpPr>
            <p:spPr>
              <a:xfrm>
                <a:off x="8093050" y="2249545"/>
                <a:ext cx="1597040" cy="733855"/>
              </a:xfrm>
              <a:prstGeom prst="rect">
                <a:avLst/>
              </a:prstGeom>
              <a:noFill/>
            </p:spPr>
            <p:txBody>
              <a:bodyPr wrap="none" rtlCol="0">
                <a:spAutoFit/>
              </a:bodyPr>
              <a:lstStyle/>
              <a:p>
                <a:r>
                  <a:rPr lang="en-US" sz="2500" dirty="0">
                    <a:latin typeface="Cambria Math" panose="02040503050406030204" pitchFamily="18" charset="0"/>
                    <a:ea typeface="Cambria Math" panose="02040503050406030204" pitchFamily="18" charset="0"/>
                  </a:rPr>
                  <a:t>X=</a:t>
                </a:r>
                <a14:m>
                  <m:oMath xmlns:m="http://schemas.openxmlformats.org/officeDocument/2006/math">
                    <m:d>
                      <m:dPr>
                        <m:ctrlPr>
                          <a:rPr lang="en-US" sz="2500" i="1">
                            <a:latin typeface="Cambria Math" panose="02040503050406030204" pitchFamily="18" charset="0"/>
                            <a:ea typeface="Cambria Math" panose="02040503050406030204" pitchFamily="18" charset="0"/>
                          </a:rPr>
                        </m:ctrlPr>
                      </m:dPr>
                      <m:e>
                        <m:m>
                          <m:mPr>
                            <m:plcHide m:val="on"/>
                            <m:mcs>
                              <m:mc>
                                <m:mcPr>
                                  <m:count m:val="2"/>
                                  <m:mcJc m:val="center"/>
                                </m:mcPr>
                              </m:mc>
                            </m:mcs>
                            <m:ctrlPr>
                              <a:rPr lang="en-US" sz="2500" i="1">
                                <a:latin typeface="Cambria Math" panose="02040503050406030204" pitchFamily="18" charset="0"/>
                                <a:ea typeface="Cambria Math" panose="02040503050406030204" pitchFamily="18" charset="0"/>
                              </a:rPr>
                            </m:ctrlPr>
                          </m:mPr>
                          <m:mr>
                            <m:e>
                              <m:r>
                                <a:rPr lang="en-US" sz="2500" b="0" i="0" smtClean="0">
                                  <a:latin typeface="Cambria Math" panose="02040503050406030204" pitchFamily="18" charset="0"/>
                                  <a:ea typeface="Cambria Math" panose="02040503050406030204" pitchFamily="18" charset="0"/>
                                </a:rPr>
                                <m:t>0</m:t>
                              </m:r>
                            </m:e>
                            <m:e>
                              <m:r>
                                <a:rPr lang="en-US" sz="2500" b="0" i="0" smtClean="0">
                                  <a:latin typeface="Cambria Math" panose="02040503050406030204" pitchFamily="18" charset="0"/>
                                  <a:ea typeface="Cambria Math" panose="02040503050406030204" pitchFamily="18" charset="0"/>
                                </a:rPr>
                                <m:t>1</m:t>
                              </m:r>
                            </m:e>
                          </m:mr>
                          <m:mr>
                            <m:e>
                              <m:r>
                                <a:rPr lang="en-US" sz="2500" b="0" i="0" smtClean="0">
                                  <a:latin typeface="Cambria Math" panose="02040503050406030204" pitchFamily="18" charset="0"/>
                                  <a:ea typeface="Cambria Math" panose="02040503050406030204" pitchFamily="18" charset="0"/>
                                </a:rPr>
                                <m:t>1</m:t>
                              </m:r>
                            </m:e>
                            <m:e>
                              <m:r>
                                <a:rPr lang="en-US" sz="2500" b="0" i="0" smtClean="0">
                                  <a:latin typeface="Cambria Math" panose="02040503050406030204" pitchFamily="18" charset="0"/>
                                  <a:ea typeface="Cambria Math" panose="02040503050406030204" pitchFamily="18" charset="0"/>
                                </a:rPr>
                                <m:t>0</m:t>
                              </m:r>
                            </m:e>
                          </m:mr>
                        </m:m>
                      </m:e>
                    </m:d>
                  </m:oMath>
                </a14:m>
                <a:endParaRPr lang="en-US" sz="2500" dirty="0">
                  <a:latin typeface="Cambria Math" panose="02040503050406030204" pitchFamily="18" charset="0"/>
                  <a:ea typeface="Cambria Math" panose="02040503050406030204" pitchFamily="18" charset="0"/>
                </a:endParaRPr>
              </a:p>
            </p:txBody>
          </p:sp>
        </mc:Choice>
        <mc:Fallback xmlns="">
          <p:sp>
            <p:nvSpPr>
              <p:cNvPr id="18" name="TextBox 17">
                <a:extLst>
                  <a:ext uri="{FF2B5EF4-FFF2-40B4-BE49-F238E27FC236}">
                    <a16:creationId xmlns:a16="http://schemas.microsoft.com/office/drawing/2014/main" id="{AC3C3807-0723-8E42-A7B0-2D62DE9DF039}"/>
                  </a:ext>
                </a:extLst>
              </p:cNvPr>
              <p:cNvSpPr txBox="1">
                <a:spLocks noRot="1" noChangeAspect="1" noMove="1" noResize="1" noEditPoints="1" noAdjustHandles="1" noChangeArrowheads="1" noChangeShapeType="1" noTextEdit="1"/>
              </p:cNvSpPr>
              <p:nvPr/>
            </p:nvSpPr>
            <p:spPr>
              <a:xfrm>
                <a:off x="8093050" y="2249545"/>
                <a:ext cx="1597040" cy="733855"/>
              </a:xfrm>
              <a:prstGeom prst="rect">
                <a:avLst/>
              </a:prstGeom>
              <a:blipFill>
                <a:blip r:embed="rId11"/>
                <a:stretch>
                  <a:fillRect l="-5512" b="-6780"/>
                </a:stretch>
              </a:blipFill>
            </p:spPr>
            <p:txBody>
              <a:bodyPr/>
              <a:lstStyle/>
              <a:p>
                <a:r>
                  <a:rPr lang="en-US">
                    <a:noFill/>
                  </a:rPr>
                  <a:t> </a:t>
                </a:r>
              </a:p>
            </p:txBody>
          </p:sp>
        </mc:Fallback>
      </mc:AlternateContent>
      <p:sp>
        <p:nvSpPr>
          <p:cNvPr id="19" name="Slide Number Placeholder 18">
            <a:extLst>
              <a:ext uri="{FF2B5EF4-FFF2-40B4-BE49-F238E27FC236}">
                <a16:creationId xmlns:a16="http://schemas.microsoft.com/office/drawing/2014/main" id="{92874A6E-1BBE-DD4F-8C8A-DC83FB6B8BE2}"/>
              </a:ext>
            </a:extLst>
          </p:cNvPr>
          <p:cNvSpPr>
            <a:spLocks noGrp="1"/>
          </p:cNvSpPr>
          <p:nvPr>
            <p:ph type="sldNum" sz="quarter" idx="12"/>
          </p:nvPr>
        </p:nvSpPr>
        <p:spPr/>
        <p:txBody>
          <a:bodyPr/>
          <a:lstStyle/>
          <a:p>
            <a:fld id="{D0A7A90D-170E-2F4F-8861-97D6C3C25EEF}" type="slidenum">
              <a:rPr lang="en-US" smtClean="0"/>
              <a:t>28</a:t>
            </a:fld>
            <a:endParaRPr lang="en-US"/>
          </a:p>
        </p:txBody>
      </p:sp>
      <p:sp>
        <p:nvSpPr>
          <p:cNvPr id="12" name="Oval 11">
            <a:extLst>
              <a:ext uri="{FF2B5EF4-FFF2-40B4-BE49-F238E27FC236}">
                <a16:creationId xmlns:a16="http://schemas.microsoft.com/office/drawing/2014/main" id="{095F4CDB-67C0-A949-9108-543060B9DC85}"/>
              </a:ext>
            </a:extLst>
          </p:cNvPr>
          <p:cNvSpPr/>
          <p:nvPr/>
        </p:nvSpPr>
        <p:spPr>
          <a:xfrm>
            <a:off x="6992991" y="2322068"/>
            <a:ext cx="827999" cy="827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cxnSp>
        <p:nvCxnSpPr>
          <p:cNvPr id="8" name="Straight Connector 7">
            <a:extLst>
              <a:ext uri="{FF2B5EF4-FFF2-40B4-BE49-F238E27FC236}">
                <a16:creationId xmlns:a16="http://schemas.microsoft.com/office/drawing/2014/main" id="{E8A318D2-2468-D946-AB85-289E68A4BC67}"/>
              </a:ext>
            </a:extLst>
          </p:cNvPr>
          <p:cNvCxnSpPr>
            <a:cxnSpLocks/>
          </p:cNvCxnSpPr>
          <p:nvPr/>
        </p:nvCxnSpPr>
        <p:spPr>
          <a:xfrm>
            <a:off x="6808732" y="4897813"/>
            <a:ext cx="3877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D939135-177E-464F-BE68-8BFF3A98B9ED}"/>
              </a:ext>
            </a:extLst>
          </p:cNvPr>
          <p:cNvSpPr/>
          <p:nvPr/>
        </p:nvSpPr>
        <p:spPr>
          <a:xfrm>
            <a:off x="7097301" y="4534540"/>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1" name="Rectangle 20">
            <a:extLst>
              <a:ext uri="{FF2B5EF4-FFF2-40B4-BE49-F238E27FC236}">
                <a16:creationId xmlns:a16="http://schemas.microsoft.com/office/drawing/2014/main" id="{F1E96AF3-BDE2-F042-9D10-19EA31F654C1}"/>
              </a:ext>
            </a:extLst>
          </p:cNvPr>
          <p:cNvSpPr/>
          <p:nvPr/>
        </p:nvSpPr>
        <p:spPr>
          <a:xfrm>
            <a:off x="8093050" y="4528072"/>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H</a:t>
            </a:r>
          </a:p>
        </p:txBody>
      </p:sp>
      <p:pic>
        <p:nvPicPr>
          <p:cNvPr id="22" name="Picture 21">
            <a:extLst>
              <a:ext uri="{FF2B5EF4-FFF2-40B4-BE49-F238E27FC236}">
                <a16:creationId xmlns:a16="http://schemas.microsoft.com/office/drawing/2014/main" id="{1B26F4F8-1472-A740-9986-0A030CC73B1A}"/>
              </a:ext>
            </a:extLst>
          </p:cNvPr>
          <p:cNvPicPr>
            <a:picLocks noChangeAspect="1"/>
          </p:cNvPicPr>
          <p:nvPr/>
        </p:nvPicPr>
        <p:blipFill>
          <a:blip r:embed="rId12"/>
          <a:stretch>
            <a:fillRect/>
          </a:stretch>
        </p:blipFill>
        <p:spPr>
          <a:xfrm>
            <a:off x="9088800" y="4528072"/>
            <a:ext cx="720000" cy="739459"/>
          </a:xfrm>
          <a:prstGeom prst="rect">
            <a:avLst/>
          </a:prstGeom>
        </p:spPr>
      </p:pic>
      <p:sp>
        <p:nvSpPr>
          <p:cNvPr id="24" name="Rectangle 23">
            <a:extLst>
              <a:ext uri="{FF2B5EF4-FFF2-40B4-BE49-F238E27FC236}">
                <a16:creationId xmlns:a16="http://schemas.microsoft.com/office/drawing/2014/main" id="{94990A0B-E909-5541-B793-0888935EBF18}"/>
              </a:ext>
            </a:extLst>
          </p:cNvPr>
          <p:cNvSpPr/>
          <p:nvPr/>
        </p:nvSpPr>
        <p:spPr>
          <a:xfrm>
            <a:off x="6563498" y="5451830"/>
            <a:ext cx="4076793" cy="923330"/>
          </a:xfrm>
          <a:prstGeom prst="rect">
            <a:avLst/>
          </a:prstGeom>
          <a:solidFill>
            <a:schemeClr val="bg1">
              <a:lumMod val="95000"/>
            </a:schemeClr>
          </a:solidFill>
        </p:spPr>
        <p:txBody>
          <a:bodyPr wrap="square">
            <a:spAutoFit/>
          </a:bodyPr>
          <a:lstStyle/>
          <a:p>
            <a:r>
              <a:rPr lang="en-US" dirty="0" err="1"/>
              <a:t>circuit.x</a:t>
            </a:r>
            <a:r>
              <a:rPr lang="en-US" dirty="0"/>
              <a:t> (</a:t>
            </a:r>
            <a:r>
              <a:rPr lang="en-US" dirty="0" err="1"/>
              <a:t>qreg_q</a:t>
            </a:r>
            <a:r>
              <a:rPr lang="en-US" dirty="0"/>
              <a:t>[0])</a:t>
            </a:r>
          </a:p>
          <a:p>
            <a:r>
              <a:rPr lang="en-US" dirty="0" err="1"/>
              <a:t>circuit.h</a:t>
            </a:r>
            <a:r>
              <a:rPr lang="en-US" dirty="0"/>
              <a:t> (</a:t>
            </a:r>
            <a:r>
              <a:rPr lang="en-US" dirty="0" err="1"/>
              <a:t>qreg_q</a:t>
            </a:r>
            <a:r>
              <a:rPr lang="en-US" dirty="0"/>
              <a:t>[0])</a:t>
            </a:r>
          </a:p>
          <a:p>
            <a:r>
              <a:rPr lang="en-US" dirty="0" err="1"/>
              <a:t>circuit.measure</a:t>
            </a:r>
            <a:r>
              <a:rPr lang="en-US" dirty="0"/>
              <a:t> (</a:t>
            </a:r>
            <a:r>
              <a:rPr lang="en-US" dirty="0" err="1"/>
              <a:t>qreg_q</a:t>
            </a:r>
            <a:r>
              <a:rPr lang="en-US" dirty="0"/>
              <a:t>[0], </a:t>
            </a:r>
            <a:r>
              <a:rPr lang="en-US" dirty="0" err="1"/>
              <a:t>creg_c</a:t>
            </a:r>
            <a:r>
              <a:rPr lang="en-US" dirty="0"/>
              <a:t>[0])</a:t>
            </a:r>
          </a:p>
        </p:txBody>
      </p:sp>
      <p:grpSp>
        <p:nvGrpSpPr>
          <p:cNvPr id="23" name="Group 22">
            <a:extLst>
              <a:ext uri="{FF2B5EF4-FFF2-40B4-BE49-F238E27FC236}">
                <a16:creationId xmlns:a16="http://schemas.microsoft.com/office/drawing/2014/main" id="{3281CE0B-728B-CD44-AC60-8DC0250D4363}"/>
              </a:ext>
            </a:extLst>
          </p:cNvPr>
          <p:cNvGrpSpPr/>
          <p:nvPr/>
        </p:nvGrpSpPr>
        <p:grpSpPr>
          <a:xfrm>
            <a:off x="6762916" y="977447"/>
            <a:ext cx="1114259" cy="1140000"/>
            <a:chOff x="6762916" y="977447"/>
            <a:chExt cx="1114259" cy="1140000"/>
          </a:xfrm>
        </p:grpSpPr>
        <p:pic>
          <p:nvPicPr>
            <p:cNvPr id="27" name="Picture 26">
              <a:extLst>
                <a:ext uri="{FF2B5EF4-FFF2-40B4-BE49-F238E27FC236}">
                  <a16:creationId xmlns:a16="http://schemas.microsoft.com/office/drawing/2014/main" id="{FBAB7664-E219-CC49-8676-48A17E37653F}"/>
                </a:ext>
              </a:extLst>
            </p:cNvPr>
            <p:cNvPicPr>
              <a:picLocks noChangeAspect="1"/>
            </p:cNvPicPr>
            <p:nvPr/>
          </p:nvPicPr>
          <p:blipFill>
            <a:blip r:embed="rId13"/>
            <a:stretch>
              <a:fillRect/>
            </a:stretch>
          </p:blipFill>
          <p:spPr>
            <a:xfrm>
              <a:off x="6762916" y="977447"/>
              <a:ext cx="1080000" cy="1140000"/>
            </a:xfrm>
            <a:prstGeom prst="rect">
              <a:avLst/>
            </a:prstGeom>
          </p:spPr>
        </p:pic>
        <p:sp>
          <p:nvSpPr>
            <p:cNvPr id="29" name="Oval 28">
              <a:extLst>
                <a:ext uri="{FF2B5EF4-FFF2-40B4-BE49-F238E27FC236}">
                  <a16:creationId xmlns:a16="http://schemas.microsoft.com/office/drawing/2014/main" id="{908B48EC-4AFC-1746-9F63-E00A5191AF74}"/>
                </a:ext>
              </a:extLst>
            </p:cNvPr>
            <p:cNvSpPr/>
            <p:nvPr/>
          </p:nvSpPr>
          <p:spPr>
            <a:xfrm>
              <a:off x="6771533" y="995401"/>
              <a:ext cx="1105642" cy="1105642"/>
            </a:xfrm>
            <a:prstGeom prst="ellipse">
              <a:avLst/>
            </a:prstGeom>
            <a:gradFill flip="none" rotWithShape="1">
              <a:gsLst>
                <a:gs pos="0">
                  <a:schemeClr val="bg1"/>
                </a:gs>
                <a:gs pos="100000">
                  <a:schemeClr val="bg1">
                    <a:lumMod val="95000"/>
                  </a:schemeClr>
                </a:gs>
              </a:gsLst>
              <a:lin ang="5400000" scaled="1"/>
              <a:tileRect/>
            </a:gra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D0BA4C24-40CF-6146-B3A5-50D1C33E3DFA}"/>
                </a:ext>
              </a:extLst>
            </p:cNvPr>
            <p:cNvSpPr/>
            <p:nvPr/>
          </p:nvSpPr>
          <p:spPr>
            <a:xfrm>
              <a:off x="6771533" y="1347348"/>
              <a:ext cx="1105642" cy="401747"/>
            </a:xfrm>
            <a:prstGeom prst="ellipse">
              <a:avLst/>
            </a:prstGeom>
            <a:noFill/>
            <a:ln w="6350">
              <a:solidFill>
                <a:schemeClr val="tx1">
                  <a:lumMod val="50000"/>
                  <a:lumOff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A9FC825B-FC77-6141-9D8F-31F632D019B1}"/>
                </a:ext>
              </a:extLst>
            </p:cNvPr>
            <p:cNvCxnSpPr>
              <a:cxnSpLocks/>
            </p:cNvCxnSpPr>
            <p:nvPr/>
          </p:nvCxnSpPr>
          <p:spPr>
            <a:xfrm flipV="1">
              <a:off x="7324354" y="1052470"/>
              <a:ext cx="0" cy="495752"/>
            </a:xfrm>
            <a:prstGeom prst="straightConnector1">
              <a:avLst/>
            </a:prstGeom>
            <a:ln w="6350">
              <a:solidFill>
                <a:schemeClr val="tx1"/>
              </a:solidFill>
              <a:tailEnd type="none" w="lg" len="sm"/>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8BC7FA27-1DEF-2548-BB6C-992694EF3FC6}"/>
                </a:ext>
              </a:extLst>
            </p:cNvPr>
            <p:cNvCxnSpPr>
              <a:cxnSpLocks/>
              <a:endCxn id="29" idx="6"/>
            </p:cNvCxnSpPr>
            <p:nvPr/>
          </p:nvCxnSpPr>
          <p:spPr>
            <a:xfrm>
              <a:off x="7324354" y="1548222"/>
              <a:ext cx="552821" cy="0"/>
            </a:xfrm>
            <a:prstGeom prst="straightConnector1">
              <a:avLst/>
            </a:prstGeom>
            <a:ln w="6350">
              <a:solidFill>
                <a:schemeClr val="tx1"/>
              </a:solidFill>
              <a:tailEnd type="none" w="lg" len="sm"/>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0842C65-9DC9-0B48-B224-172D3D07FA99}"/>
                </a:ext>
              </a:extLst>
            </p:cNvPr>
            <p:cNvCxnSpPr>
              <a:cxnSpLocks/>
            </p:cNvCxnSpPr>
            <p:nvPr/>
          </p:nvCxnSpPr>
          <p:spPr>
            <a:xfrm flipH="1">
              <a:off x="7162229" y="1548222"/>
              <a:ext cx="162125" cy="192029"/>
            </a:xfrm>
            <a:prstGeom prst="straightConnector1">
              <a:avLst/>
            </a:prstGeom>
            <a:ln w="6350">
              <a:solidFill>
                <a:schemeClr val="tx1"/>
              </a:solidFill>
              <a:tailEnd type="none" w="lg" len="sm"/>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0BCB0479-A475-7747-97AF-D2928CAEADC3}"/>
                </a:ext>
              </a:extLst>
            </p:cNvPr>
            <p:cNvCxnSpPr>
              <a:cxnSpLocks/>
            </p:cNvCxnSpPr>
            <p:nvPr/>
          </p:nvCxnSpPr>
          <p:spPr>
            <a:xfrm flipV="1">
              <a:off x="7324354" y="1246905"/>
              <a:ext cx="187559" cy="301317"/>
            </a:xfrm>
            <a:prstGeom prst="straightConnector1">
              <a:avLst/>
            </a:prstGeom>
            <a:ln w="2540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669D5DE-48E9-114A-8A16-A731BC8AFBC7}"/>
                </a:ext>
              </a:extLst>
            </p:cNvPr>
            <p:cNvCxnSpPr>
              <a:cxnSpLocks/>
            </p:cNvCxnSpPr>
            <p:nvPr/>
          </p:nvCxnSpPr>
          <p:spPr>
            <a:xfrm>
              <a:off x="7511913" y="1246905"/>
              <a:ext cx="0" cy="397331"/>
            </a:xfrm>
            <a:prstGeom prst="line">
              <a:avLst/>
            </a:prstGeom>
            <a:ln w="6350">
              <a:solidFill>
                <a:schemeClr val="tx1">
                  <a:lumMod val="65000"/>
                  <a:lumOff val="3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C97ECF5-AC41-9940-9C93-7889D84F264A}"/>
                </a:ext>
              </a:extLst>
            </p:cNvPr>
            <p:cNvCxnSpPr>
              <a:cxnSpLocks/>
            </p:cNvCxnSpPr>
            <p:nvPr/>
          </p:nvCxnSpPr>
          <p:spPr>
            <a:xfrm>
              <a:off x="7324354" y="1548222"/>
              <a:ext cx="187559" cy="96014"/>
            </a:xfrm>
            <a:prstGeom prst="line">
              <a:avLst/>
            </a:prstGeom>
            <a:ln w="6350">
              <a:solidFill>
                <a:schemeClr val="tx1">
                  <a:lumMod val="65000"/>
                  <a:lumOff val="35000"/>
                </a:schemeClr>
              </a:solidFill>
              <a:prstDash val="lg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177102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1DC57A7-75D7-0644-B7E0-372861707DD1}"/>
              </a:ext>
            </a:extLst>
          </p:cNvPr>
          <p:cNvSpPr txBox="1"/>
          <p:nvPr/>
        </p:nvSpPr>
        <p:spPr>
          <a:xfrm>
            <a:off x="1472001" y="1683132"/>
            <a:ext cx="1874231" cy="830997"/>
          </a:xfrm>
          <a:prstGeom prst="rect">
            <a:avLst/>
          </a:prstGeom>
          <a:noFill/>
        </p:spPr>
        <p:txBody>
          <a:bodyPr wrap="none" rtlCol="0">
            <a:spAutoFit/>
          </a:bodyPr>
          <a:lstStyle/>
          <a:p>
            <a:r>
              <a:rPr lang="en-US" sz="4800" dirty="0">
                <a:latin typeface="Comic Sans MS" panose="030F0902030302020204" pitchFamily="66" charset="0"/>
              </a:rPr>
              <a:t>Qubit</a:t>
            </a:r>
          </a:p>
        </p:txBody>
      </p:sp>
      <p:pic>
        <p:nvPicPr>
          <p:cNvPr id="8" name="Picture 7">
            <a:extLst>
              <a:ext uri="{FF2B5EF4-FFF2-40B4-BE49-F238E27FC236}">
                <a16:creationId xmlns:a16="http://schemas.microsoft.com/office/drawing/2014/main" id="{C882B037-5C5A-944E-8F98-EAEF9FC13272}"/>
              </a:ext>
            </a:extLst>
          </p:cNvPr>
          <p:cNvPicPr>
            <a:picLocks noChangeAspect="1"/>
          </p:cNvPicPr>
          <p:nvPr/>
        </p:nvPicPr>
        <p:blipFill>
          <a:blip r:embed="rId3"/>
          <a:stretch>
            <a:fillRect/>
          </a:stretch>
        </p:blipFill>
        <p:spPr>
          <a:xfrm>
            <a:off x="4459842" y="675391"/>
            <a:ext cx="5510068" cy="4889428"/>
          </a:xfrm>
          <a:prstGeom prst="rect">
            <a:avLst/>
          </a:prstGeom>
        </p:spPr>
      </p:pic>
      <p:sp>
        <p:nvSpPr>
          <p:cNvPr id="13" name="Oval 12">
            <a:extLst>
              <a:ext uri="{FF2B5EF4-FFF2-40B4-BE49-F238E27FC236}">
                <a16:creationId xmlns:a16="http://schemas.microsoft.com/office/drawing/2014/main" id="{DE8F0D04-C1C6-EF41-9397-7F2EE05E94B7}"/>
              </a:ext>
            </a:extLst>
          </p:cNvPr>
          <p:cNvSpPr/>
          <p:nvPr/>
        </p:nvSpPr>
        <p:spPr>
          <a:xfrm>
            <a:off x="4532787" y="4764155"/>
            <a:ext cx="1165648" cy="324679"/>
          </a:xfrm>
          <a:prstGeom prst="ellipse">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3FE6760F-EE52-604D-ABAB-9B87D151B21C}"/>
              </a:ext>
            </a:extLst>
          </p:cNvPr>
          <p:cNvCxnSpPr>
            <a:cxnSpLocks/>
          </p:cNvCxnSpPr>
          <p:nvPr/>
        </p:nvCxnSpPr>
        <p:spPr>
          <a:xfrm flipV="1">
            <a:off x="5108771" y="4424575"/>
            <a:ext cx="218603" cy="478729"/>
          </a:xfrm>
          <a:prstGeom prst="straightConnector1">
            <a:avLst/>
          </a:prstGeom>
          <a:ln w="76200" cap="rnd">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 name="Slide Number Placeholder 18">
            <a:extLst>
              <a:ext uri="{FF2B5EF4-FFF2-40B4-BE49-F238E27FC236}">
                <a16:creationId xmlns:a16="http://schemas.microsoft.com/office/drawing/2014/main" id="{D9B12DEC-82D8-CE45-935E-114E50C64917}"/>
              </a:ext>
            </a:extLst>
          </p:cNvPr>
          <p:cNvSpPr txBox="1">
            <a:spLocks/>
          </p:cNvSpPr>
          <p:nvPr/>
        </p:nvSpPr>
        <p:spPr>
          <a:xfrm>
            <a:off x="14410" y="6463863"/>
            <a:ext cx="899990" cy="39413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A7A90D-170E-2F4F-8861-97D6C3C25EEF}" type="slidenum">
              <a:rPr lang="en-US" smtClean="0"/>
              <a:pPr/>
              <a:t>29</a:t>
            </a:fld>
            <a:endParaRPr lang="en-US" dirty="0"/>
          </a:p>
        </p:txBody>
      </p:sp>
    </p:spTree>
    <p:extLst>
      <p:ext uri="{BB962C8B-B14F-4D97-AF65-F5344CB8AC3E}">
        <p14:creationId xmlns:p14="http://schemas.microsoft.com/office/powerpoint/2010/main" val="5065942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6E350-DA86-0B4A-A836-ADAE8DB7B48A}"/>
              </a:ext>
            </a:extLst>
          </p:cNvPr>
          <p:cNvSpPr>
            <a:spLocks noGrp="1"/>
          </p:cNvSpPr>
          <p:nvPr>
            <p:ph type="title"/>
          </p:nvPr>
        </p:nvSpPr>
        <p:spPr>
          <a:xfrm>
            <a:off x="0" y="0"/>
            <a:ext cx="12192000" cy="928688"/>
          </a:xfrm>
        </p:spPr>
        <p:txBody>
          <a:bodyPr>
            <a:normAutofit/>
          </a:bodyPr>
          <a:lstStyle/>
          <a:p>
            <a:r>
              <a:rPr lang="en-US" dirty="0"/>
              <a:t>Qubit as a vector</a:t>
            </a:r>
          </a:p>
        </p:txBody>
      </p:sp>
      <p:sp>
        <p:nvSpPr>
          <p:cNvPr id="3" name="Slide Number Placeholder 2">
            <a:extLst>
              <a:ext uri="{FF2B5EF4-FFF2-40B4-BE49-F238E27FC236}">
                <a16:creationId xmlns:a16="http://schemas.microsoft.com/office/drawing/2014/main" id="{06BFE2DE-ECD0-434D-8AB4-C80122BF073B}"/>
              </a:ext>
            </a:extLst>
          </p:cNvPr>
          <p:cNvSpPr>
            <a:spLocks noGrp="1"/>
          </p:cNvSpPr>
          <p:nvPr>
            <p:ph type="sldNum" sz="quarter" idx="12"/>
          </p:nvPr>
        </p:nvSpPr>
        <p:spPr/>
        <p:txBody>
          <a:bodyPr/>
          <a:lstStyle/>
          <a:p>
            <a:fld id="{591A223C-FA10-BC46-A853-03BA373D023C}" type="slidenum">
              <a:rPr lang="en-US" smtClean="0"/>
              <a:t>30</a:t>
            </a:fld>
            <a:endParaRPr lang="en-US"/>
          </a:p>
        </p:txBody>
      </p:sp>
      <p:cxnSp>
        <p:nvCxnSpPr>
          <p:cNvPr id="12" name="Straight Connector 11">
            <a:extLst>
              <a:ext uri="{FF2B5EF4-FFF2-40B4-BE49-F238E27FC236}">
                <a16:creationId xmlns:a16="http://schemas.microsoft.com/office/drawing/2014/main" id="{ED3A3394-1725-684A-BA78-B7826D919F0F}"/>
              </a:ext>
            </a:extLst>
          </p:cNvPr>
          <p:cNvCxnSpPr>
            <a:cxnSpLocks/>
          </p:cNvCxnSpPr>
          <p:nvPr/>
        </p:nvCxnSpPr>
        <p:spPr>
          <a:xfrm>
            <a:off x="896304" y="3777623"/>
            <a:ext cx="1620000" cy="0"/>
          </a:xfrm>
          <a:prstGeom prst="line">
            <a:avLst/>
          </a:prstGeom>
          <a:ln w="127000" cap="rnd"/>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234A1B3-8F62-D64C-943E-3B3D719A37C2}"/>
              </a:ext>
            </a:extLst>
          </p:cNvPr>
          <p:cNvCxnSpPr>
            <a:cxnSpLocks/>
          </p:cNvCxnSpPr>
          <p:nvPr/>
        </p:nvCxnSpPr>
        <p:spPr>
          <a:xfrm>
            <a:off x="896304" y="2614587"/>
            <a:ext cx="1620000" cy="0"/>
          </a:xfrm>
          <a:prstGeom prst="line">
            <a:avLst/>
          </a:prstGeom>
          <a:ln w="127000" cap="rnd"/>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0A329B0-47EF-0F49-A0C2-00C2C1EC1446}"/>
              </a:ext>
            </a:extLst>
          </p:cNvPr>
          <p:cNvSpPr txBox="1"/>
          <p:nvPr/>
        </p:nvSpPr>
        <p:spPr>
          <a:xfrm>
            <a:off x="484497" y="4818122"/>
            <a:ext cx="1937775" cy="523220"/>
          </a:xfrm>
          <a:prstGeom prst="rect">
            <a:avLst/>
          </a:prstGeom>
          <a:noFill/>
        </p:spPr>
        <p:txBody>
          <a:bodyPr wrap="none" rtlCol="0">
            <a:spAutoFit/>
          </a:bodyPr>
          <a:lstStyle/>
          <a:p>
            <a:r>
              <a:rPr lang="en-US" sz="2800" dirty="0">
                <a:solidFill>
                  <a:schemeClr val="tx1">
                    <a:lumMod val="50000"/>
                    <a:lumOff val="50000"/>
                  </a:schemeClr>
                </a:solidFill>
              </a:rPr>
              <a:t>energy level</a:t>
            </a:r>
          </a:p>
        </p:txBody>
      </p:sp>
      <p:grpSp>
        <p:nvGrpSpPr>
          <p:cNvPr id="51" name="Group 50">
            <a:extLst>
              <a:ext uri="{FF2B5EF4-FFF2-40B4-BE49-F238E27FC236}">
                <a16:creationId xmlns:a16="http://schemas.microsoft.com/office/drawing/2014/main" id="{0281CD97-1AE0-9645-BBA5-AA47D2C5F942}"/>
              </a:ext>
            </a:extLst>
          </p:cNvPr>
          <p:cNvGrpSpPr/>
          <p:nvPr/>
        </p:nvGrpSpPr>
        <p:grpSpPr>
          <a:xfrm>
            <a:off x="1404769" y="2814834"/>
            <a:ext cx="7129884" cy="2534815"/>
            <a:chOff x="1661861" y="3155481"/>
            <a:chExt cx="7129884" cy="2534815"/>
          </a:xfrm>
        </p:grpSpPr>
        <p:grpSp>
          <p:nvGrpSpPr>
            <p:cNvPr id="41" name="Group 40">
              <a:extLst>
                <a:ext uri="{FF2B5EF4-FFF2-40B4-BE49-F238E27FC236}">
                  <a16:creationId xmlns:a16="http://schemas.microsoft.com/office/drawing/2014/main" id="{2D977A11-418A-F848-8361-151F4DF54934}"/>
                </a:ext>
              </a:extLst>
            </p:cNvPr>
            <p:cNvGrpSpPr/>
            <p:nvPr/>
          </p:nvGrpSpPr>
          <p:grpSpPr>
            <a:xfrm>
              <a:off x="1661861" y="3155481"/>
              <a:ext cx="7129884" cy="1548085"/>
              <a:chOff x="2079304" y="3195238"/>
              <a:chExt cx="7129884" cy="1548085"/>
            </a:xfrm>
          </p:grpSpPr>
          <p:pic>
            <p:nvPicPr>
              <p:cNvPr id="20" name="Picture 19">
                <a:extLst>
                  <a:ext uri="{FF2B5EF4-FFF2-40B4-BE49-F238E27FC236}">
                    <a16:creationId xmlns:a16="http://schemas.microsoft.com/office/drawing/2014/main" id="{CF7A14FE-4C76-4D42-A109-1797AA777445}"/>
                  </a:ext>
                </a:extLst>
              </p:cNvPr>
              <p:cNvPicPr>
                <a:picLocks noChangeAspect="1"/>
              </p:cNvPicPr>
              <p:nvPr/>
            </p:nvPicPr>
            <p:blipFill>
              <a:blip r:embed="rId3">
                <a:duotone>
                  <a:schemeClr val="accent1">
                    <a:shade val="45000"/>
                    <a:satMod val="135000"/>
                  </a:schemeClr>
                  <a:prstClr val="white"/>
                </a:duotone>
              </a:blip>
              <a:stretch>
                <a:fillRect/>
              </a:stretch>
            </p:blipFill>
            <p:spPr>
              <a:xfrm>
                <a:off x="4561924" y="3195238"/>
                <a:ext cx="954560" cy="962789"/>
              </a:xfrm>
              <a:prstGeom prst="rect">
                <a:avLst/>
              </a:prstGeom>
            </p:spPr>
          </p:pic>
          <p:sp>
            <p:nvSpPr>
              <p:cNvPr id="22" name="Oval 21">
                <a:extLst>
                  <a:ext uri="{FF2B5EF4-FFF2-40B4-BE49-F238E27FC236}">
                    <a16:creationId xmlns:a16="http://schemas.microsoft.com/office/drawing/2014/main" id="{93B73584-5BC4-0B44-9F34-0DD3C6BA6B6C}"/>
                  </a:ext>
                </a:extLst>
              </p:cNvPr>
              <p:cNvSpPr/>
              <p:nvPr/>
            </p:nvSpPr>
            <p:spPr>
              <a:xfrm>
                <a:off x="2079304" y="3925309"/>
                <a:ext cx="540000" cy="54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DA92A4F2-05D8-A242-97EA-9392ED899D5F}"/>
                  </a:ext>
                </a:extLst>
              </p:cNvPr>
              <p:cNvCxnSpPr>
                <a:cxnSpLocks/>
              </p:cNvCxnSpPr>
              <p:nvPr/>
            </p:nvCxnSpPr>
            <p:spPr>
              <a:xfrm>
                <a:off x="7386394" y="4743323"/>
                <a:ext cx="1822794" cy="0"/>
              </a:xfrm>
              <a:prstGeom prst="straightConnector1">
                <a:avLst/>
              </a:prstGeom>
              <a:ln w="127000" cap="rnd">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9AEAF78B-4DE5-1E49-AF65-1C8E0128DD93}"/>
                    </a:ext>
                  </a:extLst>
                </p:cNvPr>
                <p:cNvSpPr/>
                <p:nvPr/>
              </p:nvSpPr>
              <p:spPr>
                <a:xfrm>
                  <a:off x="7380767" y="5043965"/>
                  <a:ext cx="85574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600" i="1">
                                <a:latin typeface="Cambria Math" panose="02040503050406030204" pitchFamily="18" charset="0"/>
                                <a:ea typeface="Cambria Math" panose="02040503050406030204" pitchFamily="18" charset="0"/>
                              </a:rPr>
                            </m:ctrlPr>
                          </m:dPr>
                          <m:e>
                            <m:r>
                              <m:rPr>
                                <m:nor/>
                              </m:rPr>
                              <a:rPr lang="en-US" sz="3600">
                                <a:latin typeface="Cambria Math" panose="02040503050406030204" pitchFamily="18" charset="0"/>
                                <a:ea typeface="Cambria Math" panose="02040503050406030204" pitchFamily="18" charset="0"/>
                              </a:rPr>
                              <m:t>0</m:t>
                            </m:r>
                          </m:e>
                        </m:d>
                      </m:oMath>
                    </m:oMathPara>
                  </a14:m>
                  <a:endParaRPr lang="en-US" sz="3600" dirty="0"/>
                </a:p>
              </p:txBody>
            </p:sp>
          </mc:Choice>
          <mc:Fallback xmlns="">
            <p:sp>
              <p:nvSpPr>
                <p:cNvPr id="47" name="Rectangle 46">
                  <a:extLst>
                    <a:ext uri="{FF2B5EF4-FFF2-40B4-BE49-F238E27FC236}">
                      <a16:creationId xmlns:a16="http://schemas.microsoft.com/office/drawing/2014/main" id="{9AEAF78B-4DE5-1E49-AF65-1C8E0128DD93}"/>
                    </a:ext>
                  </a:extLst>
                </p:cNvPr>
                <p:cNvSpPr>
                  <a:spLocks noRot="1" noChangeAspect="1" noMove="1" noResize="1" noEditPoints="1" noAdjustHandles="1" noChangeArrowheads="1" noChangeShapeType="1" noTextEdit="1"/>
                </p:cNvSpPr>
                <p:nvPr/>
              </p:nvSpPr>
              <p:spPr>
                <a:xfrm>
                  <a:off x="7380767" y="5043965"/>
                  <a:ext cx="855747" cy="646331"/>
                </a:xfrm>
                <a:prstGeom prst="rect">
                  <a:avLst/>
                </a:prstGeom>
                <a:blipFill>
                  <a:blip r:embed="rId5"/>
                  <a:stretch>
                    <a:fillRect/>
                  </a:stretch>
                </a:blipFill>
              </p:spPr>
              <p:txBody>
                <a:bodyPr/>
                <a:lstStyle/>
                <a:p>
                  <a:r>
                    <a:rPr lang="en-US">
                      <a:noFill/>
                    </a:rPr>
                    <a:t> </a:t>
                  </a:r>
                </a:p>
              </p:txBody>
            </p:sp>
          </mc:Fallback>
        </mc:AlternateContent>
      </p:grpSp>
      <p:sp>
        <p:nvSpPr>
          <p:cNvPr id="59" name="TextBox 58">
            <a:extLst>
              <a:ext uri="{FF2B5EF4-FFF2-40B4-BE49-F238E27FC236}">
                <a16:creationId xmlns:a16="http://schemas.microsoft.com/office/drawing/2014/main" id="{780D1635-4F7F-1A4F-8D0F-EFE36423461C}"/>
              </a:ext>
            </a:extLst>
          </p:cNvPr>
          <p:cNvSpPr txBox="1"/>
          <p:nvPr/>
        </p:nvSpPr>
        <p:spPr>
          <a:xfrm>
            <a:off x="3669673" y="4829810"/>
            <a:ext cx="945643" cy="523220"/>
          </a:xfrm>
          <a:prstGeom prst="rect">
            <a:avLst/>
          </a:prstGeom>
          <a:noFill/>
        </p:spPr>
        <p:txBody>
          <a:bodyPr wrap="none" rtlCol="0">
            <a:spAutoFit/>
          </a:bodyPr>
          <a:lstStyle/>
          <a:p>
            <a:r>
              <a:rPr lang="en-US" sz="2800" dirty="0">
                <a:solidFill>
                  <a:schemeClr val="tx1">
                    <a:lumMod val="50000"/>
                    <a:lumOff val="50000"/>
                  </a:schemeClr>
                </a:solidFill>
              </a:rPr>
              <a:t>atom</a:t>
            </a:r>
          </a:p>
        </p:txBody>
      </p:sp>
      <p:grpSp>
        <p:nvGrpSpPr>
          <p:cNvPr id="8" name="Group 7">
            <a:extLst>
              <a:ext uri="{FF2B5EF4-FFF2-40B4-BE49-F238E27FC236}">
                <a16:creationId xmlns:a16="http://schemas.microsoft.com/office/drawing/2014/main" id="{124DD873-84B0-E041-AA41-D538CB7957A8}"/>
              </a:ext>
            </a:extLst>
          </p:cNvPr>
          <p:cNvGrpSpPr/>
          <p:nvPr/>
        </p:nvGrpSpPr>
        <p:grpSpPr>
          <a:xfrm>
            <a:off x="918107" y="5376848"/>
            <a:ext cx="1335591" cy="1335120"/>
            <a:chOff x="6768287" y="5349649"/>
            <a:chExt cx="1335591" cy="1335120"/>
          </a:xfrm>
        </p:grpSpPr>
        <p:sp>
          <p:nvSpPr>
            <p:cNvPr id="50" name="Oval 49">
              <a:extLst>
                <a:ext uri="{FF2B5EF4-FFF2-40B4-BE49-F238E27FC236}">
                  <a16:creationId xmlns:a16="http://schemas.microsoft.com/office/drawing/2014/main" id="{21F47166-DA05-DF4C-960D-A86470874033}"/>
                </a:ext>
              </a:extLst>
            </p:cNvPr>
            <p:cNvSpPr/>
            <p:nvPr/>
          </p:nvSpPr>
          <p:spPr>
            <a:xfrm>
              <a:off x="6847621" y="5425522"/>
              <a:ext cx="1177985" cy="1177985"/>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scene3d>
              <a:camera prst="orthographicFront"/>
              <a:lightRig rig="threePt" dir="t"/>
            </a:scene3d>
            <a:sp3d>
              <a:bevelT w="234950" h="1143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ounded Rectangle 53">
              <a:extLst>
                <a:ext uri="{FF2B5EF4-FFF2-40B4-BE49-F238E27FC236}">
                  <a16:creationId xmlns:a16="http://schemas.microsoft.com/office/drawing/2014/main" id="{8E9619A5-313C-3F4F-84EC-73E54FCA3157}"/>
                </a:ext>
              </a:extLst>
            </p:cNvPr>
            <p:cNvSpPr/>
            <p:nvPr/>
          </p:nvSpPr>
          <p:spPr>
            <a:xfrm>
              <a:off x="8035163" y="6007954"/>
              <a:ext cx="68715" cy="13123"/>
            </a:xfrm>
            <a:prstGeom prst="roundRect">
              <a:avLst/>
            </a:prstGeom>
            <a:solidFill>
              <a:schemeClr val="bg1">
                <a:lumMod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ounded Rectangle 54">
              <a:extLst>
                <a:ext uri="{FF2B5EF4-FFF2-40B4-BE49-F238E27FC236}">
                  <a16:creationId xmlns:a16="http://schemas.microsoft.com/office/drawing/2014/main" id="{DC7BC40B-66A4-9E48-94BE-0D82739EA71A}"/>
                </a:ext>
              </a:extLst>
            </p:cNvPr>
            <p:cNvSpPr/>
            <p:nvPr/>
          </p:nvSpPr>
          <p:spPr>
            <a:xfrm>
              <a:off x="6768287" y="6007954"/>
              <a:ext cx="68715" cy="13123"/>
            </a:xfrm>
            <a:prstGeom prst="roundRect">
              <a:avLst/>
            </a:prstGeom>
            <a:solidFill>
              <a:schemeClr val="bg1">
                <a:lumMod val="50000"/>
              </a:schemeClr>
            </a:solidFill>
            <a:ln cap="rnd">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ounded Rectangle 59">
              <a:extLst>
                <a:ext uri="{FF2B5EF4-FFF2-40B4-BE49-F238E27FC236}">
                  <a16:creationId xmlns:a16="http://schemas.microsoft.com/office/drawing/2014/main" id="{E2A7D2CE-782A-8541-B5C4-F7725299FCEE}"/>
                </a:ext>
              </a:extLst>
            </p:cNvPr>
            <p:cNvSpPr/>
            <p:nvPr/>
          </p:nvSpPr>
          <p:spPr>
            <a:xfrm rot="5400000">
              <a:off x="7401281" y="5377445"/>
              <a:ext cx="68715" cy="13123"/>
            </a:xfrm>
            <a:prstGeom prst="roundRect">
              <a:avLst/>
            </a:prstGeom>
            <a:solidFill>
              <a:schemeClr val="bg1">
                <a:lumMod val="50000"/>
              </a:schemeClr>
            </a:solidFill>
            <a:ln cap="rnd">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ounded Rectangle 60">
              <a:extLst>
                <a:ext uri="{FF2B5EF4-FFF2-40B4-BE49-F238E27FC236}">
                  <a16:creationId xmlns:a16="http://schemas.microsoft.com/office/drawing/2014/main" id="{CE2C9232-DC07-EB49-8E81-06F8AFBAB569}"/>
                </a:ext>
              </a:extLst>
            </p:cNvPr>
            <p:cNvSpPr/>
            <p:nvPr/>
          </p:nvSpPr>
          <p:spPr>
            <a:xfrm rot="5400000">
              <a:off x="7402255" y="6643850"/>
              <a:ext cx="68715" cy="13123"/>
            </a:xfrm>
            <a:prstGeom prst="roundRect">
              <a:avLst/>
            </a:prstGeom>
            <a:solidFill>
              <a:schemeClr val="bg1">
                <a:lumMod val="50000"/>
              </a:schemeClr>
            </a:solidFill>
            <a:ln cap="rnd">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Arrow Connector 61">
              <a:extLst>
                <a:ext uri="{FF2B5EF4-FFF2-40B4-BE49-F238E27FC236}">
                  <a16:creationId xmlns:a16="http://schemas.microsoft.com/office/drawing/2014/main" id="{5BCE8B69-7DCB-B246-987D-0A93D4D53DF4}"/>
                </a:ext>
              </a:extLst>
            </p:cNvPr>
            <p:cNvCxnSpPr>
              <a:cxnSpLocks/>
              <a:endCxn id="50" idx="6"/>
            </p:cNvCxnSpPr>
            <p:nvPr/>
          </p:nvCxnSpPr>
          <p:spPr>
            <a:xfrm>
              <a:off x="7436613" y="6014515"/>
              <a:ext cx="576000" cy="0"/>
            </a:xfrm>
            <a:prstGeom prst="straightConnector1">
              <a:avLst/>
            </a:prstGeom>
            <a:ln w="50800" cap="rnd">
              <a:solidFill>
                <a:srgbClr val="C00000"/>
              </a:solidFill>
              <a:tailEnd type="none" w="lg" len="lg"/>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625CD600-B236-F44B-A504-F9333E6A245F}"/>
              </a:ext>
            </a:extLst>
          </p:cNvPr>
          <p:cNvSpPr txBox="1"/>
          <p:nvPr/>
        </p:nvSpPr>
        <p:spPr>
          <a:xfrm>
            <a:off x="1104181" y="4502989"/>
            <a:ext cx="184731" cy="369332"/>
          </a:xfrm>
          <a:prstGeom prst="rect">
            <a:avLst/>
          </a:prstGeom>
          <a:noFill/>
        </p:spPr>
        <p:txBody>
          <a:bodyPr wrap="none" rtlCol="0">
            <a:spAutoFit/>
          </a:bodyPr>
          <a:lstStyle/>
          <a:p>
            <a:endParaRPr lang="en-US" dirty="0"/>
          </a:p>
        </p:txBody>
      </p:sp>
      <p:pic>
        <p:nvPicPr>
          <p:cNvPr id="65" name="Picture 64">
            <a:extLst>
              <a:ext uri="{FF2B5EF4-FFF2-40B4-BE49-F238E27FC236}">
                <a16:creationId xmlns:a16="http://schemas.microsoft.com/office/drawing/2014/main" id="{79ABD583-F0D9-F14A-A33A-5FF535DC9D60}"/>
              </a:ext>
            </a:extLst>
          </p:cNvPr>
          <p:cNvPicPr>
            <a:picLocks noChangeAspect="1"/>
          </p:cNvPicPr>
          <p:nvPr/>
        </p:nvPicPr>
        <p:blipFill>
          <a:blip r:embed="rId6"/>
          <a:stretch>
            <a:fillRect/>
          </a:stretch>
        </p:blipFill>
        <p:spPr>
          <a:xfrm>
            <a:off x="6223230" y="2373324"/>
            <a:ext cx="2800052" cy="1711581"/>
          </a:xfrm>
          <a:prstGeom prst="rect">
            <a:avLst/>
          </a:prstGeom>
        </p:spPr>
      </p:pic>
    </p:spTree>
    <p:extLst>
      <p:ext uri="{BB962C8B-B14F-4D97-AF65-F5344CB8AC3E}">
        <p14:creationId xmlns:p14="http://schemas.microsoft.com/office/powerpoint/2010/main" val="31011740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A234A1B3-8F62-D64C-943E-3B3D719A37C2}"/>
              </a:ext>
            </a:extLst>
          </p:cNvPr>
          <p:cNvCxnSpPr>
            <a:cxnSpLocks/>
          </p:cNvCxnSpPr>
          <p:nvPr/>
        </p:nvCxnSpPr>
        <p:spPr>
          <a:xfrm>
            <a:off x="896304" y="2614587"/>
            <a:ext cx="1620000" cy="0"/>
          </a:xfrm>
          <a:prstGeom prst="line">
            <a:avLst/>
          </a:prstGeom>
          <a:ln w="127000" cap="rnd"/>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04CE115F-9B1B-F140-9BEF-EA77E06EBF1D}"/>
              </a:ext>
            </a:extLst>
          </p:cNvPr>
          <p:cNvGrpSpPr/>
          <p:nvPr/>
        </p:nvGrpSpPr>
        <p:grpSpPr>
          <a:xfrm>
            <a:off x="986944" y="2158724"/>
            <a:ext cx="8629604" cy="4471982"/>
            <a:chOff x="986414" y="2144072"/>
            <a:chExt cx="8629604" cy="4471982"/>
          </a:xfrm>
        </p:grpSpPr>
        <p:grpSp>
          <p:nvGrpSpPr>
            <p:cNvPr id="52" name="Group 51">
              <a:extLst>
                <a:ext uri="{FF2B5EF4-FFF2-40B4-BE49-F238E27FC236}">
                  <a16:creationId xmlns:a16="http://schemas.microsoft.com/office/drawing/2014/main" id="{2368F930-D0F1-9940-8D2F-C73948753169}"/>
                </a:ext>
              </a:extLst>
            </p:cNvPr>
            <p:cNvGrpSpPr/>
            <p:nvPr/>
          </p:nvGrpSpPr>
          <p:grpSpPr>
            <a:xfrm>
              <a:off x="1411940" y="2144072"/>
              <a:ext cx="8204078" cy="1880902"/>
              <a:chOff x="1665304" y="2490425"/>
              <a:chExt cx="8204078" cy="1880902"/>
            </a:xfrm>
          </p:grpSpPr>
          <p:grpSp>
            <p:nvGrpSpPr>
              <p:cNvPr id="42" name="Group 41">
                <a:extLst>
                  <a:ext uri="{FF2B5EF4-FFF2-40B4-BE49-F238E27FC236}">
                    <a16:creationId xmlns:a16="http://schemas.microsoft.com/office/drawing/2014/main" id="{97EBD80C-06EE-3442-9E68-F1E70E59A647}"/>
                  </a:ext>
                </a:extLst>
              </p:cNvPr>
              <p:cNvGrpSpPr/>
              <p:nvPr/>
            </p:nvGrpSpPr>
            <p:grpSpPr>
              <a:xfrm>
                <a:off x="1665304" y="2490425"/>
                <a:ext cx="7313198" cy="1880902"/>
                <a:chOff x="2087190" y="2524685"/>
                <a:chExt cx="7313198" cy="1880902"/>
              </a:xfrm>
            </p:grpSpPr>
            <p:cxnSp>
              <p:nvCxnSpPr>
                <p:cNvPr id="30" name="Straight Arrow Connector 29">
                  <a:extLst>
                    <a:ext uri="{FF2B5EF4-FFF2-40B4-BE49-F238E27FC236}">
                      <a16:creationId xmlns:a16="http://schemas.microsoft.com/office/drawing/2014/main" id="{F7722E54-8BDD-C147-A7FD-A13C89965945}"/>
                    </a:ext>
                  </a:extLst>
                </p:cNvPr>
                <p:cNvCxnSpPr>
                  <a:cxnSpLocks/>
                </p:cNvCxnSpPr>
                <p:nvPr/>
              </p:nvCxnSpPr>
              <p:spPr>
                <a:xfrm flipV="1">
                  <a:off x="9400388" y="2524685"/>
                  <a:ext cx="0" cy="1747104"/>
                </a:xfrm>
                <a:prstGeom prst="straightConnector1">
                  <a:avLst/>
                </a:prstGeom>
                <a:ln w="127000" cap="rnd">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B79BB041-45A7-104F-9A7C-22B42CC6BE3E}"/>
                    </a:ext>
                  </a:extLst>
                </p:cNvPr>
                <p:cNvPicPr>
                  <a:picLocks noChangeAspect="1"/>
                </p:cNvPicPr>
                <p:nvPr/>
              </p:nvPicPr>
              <p:blipFill>
                <a:blip r:embed="rId3"/>
                <a:stretch>
                  <a:fillRect/>
                </a:stretch>
              </p:blipFill>
              <p:spPr>
                <a:xfrm>
                  <a:off x="4218619" y="2869911"/>
                  <a:ext cx="1595026" cy="1535676"/>
                </a:xfrm>
                <a:prstGeom prst="rect">
                  <a:avLst/>
                </a:prstGeom>
              </p:spPr>
            </p:pic>
            <p:sp>
              <p:nvSpPr>
                <p:cNvPr id="40" name="Oval 39">
                  <a:extLst>
                    <a:ext uri="{FF2B5EF4-FFF2-40B4-BE49-F238E27FC236}">
                      <a16:creationId xmlns:a16="http://schemas.microsoft.com/office/drawing/2014/main" id="{8B09122B-9C3A-694A-BB0F-D8769B50F004}"/>
                    </a:ext>
                  </a:extLst>
                </p:cNvPr>
                <p:cNvSpPr/>
                <p:nvPr/>
              </p:nvSpPr>
              <p:spPr>
                <a:xfrm>
                  <a:off x="2087190" y="2739526"/>
                  <a:ext cx="540000" cy="54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1586798D-5739-0D4B-A33C-C0C26AF6AAB3}"/>
                      </a:ext>
                    </a:extLst>
                  </p:cNvPr>
                  <p:cNvSpPr/>
                  <p:nvPr/>
                </p:nvSpPr>
                <p:spPr>
                  <a:xfrm>
                    <a:off x="9013635" y="3245265"/>
                    <a:ext cx="85574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600" i="1">
                                  <a:latin typeface="Cambria Math" panose="02040503050406030204" pitchFamily="18" charset="0"/>
                                  <a:ea typeface="Cambria Math" panose="02040503050406030204" pitchFamily="18" charset="0"/>
                                </a:rPr>
                              </m:ctrlPr>
                            </m:dPr>
                            <m:e>
                              <m:r>
                                <m:rPr>
                                  <m:nor/>
                                </m:rPr>
                                <a:rPr lang="en-US" sz="3600" b="0" i="0" smtClean="0">
                                  <a:latin typeface="Cambria Math" panose="02040503050406030204" pitchFamily="18" charset="0"/>
                                  <a:ea typeface="Cambria Math" panose="02040503050406030204" pitchFamily="18" charset="0"/>
                                </a:rPr>
                                <m:t>1</m:t>
                              </m:r>
                            </m:e>
                          </m:d>
                        </m:oMath>
                      </m:oMathPara>
                    </a14:m>
                    <a:endParaRPr lang="en-US" sz="3600" dirty="0"/>
                  </a:p>
                </p:txBody>
              </p:sp>
            </mc:Choice>
            <mc:Fallback xmlns="">
              <p:sp>
                <p:nvSpPr>
                  <p:cNvPr id="48" name="Rectangle 47">
                    <a:extLst>
                      <a:ext uri="{FF2B5EF4-FFF2-40B4-BE49-F238E27FC236}">
                        <a16:creationId xmlns:a16="http://schemas.microsoft.com/office/drawing/2014/main" id="{1586798D-5739-0D4B-A33C-C0C26AF6AAB3}"/>
                      </a:ext>
                    </a:extLst>
                  </p:cNvPr>
                  <p:cNvSpPr>
                    <a:spLocks noRot="1" noChangeAspect="1" noMove="1" noResize="1" noEditPoints="1" noAdjustHandles="1" noChangeArrowheads="1" noChangeShapeType="1" noTextEdit="1"/>
                  </p:cNvSpPr>
                  <p:nvPr/>
                </p:nvSpPr>
                <p:spPr>
                  <a:xfrm>
                    <a:off x="9013635" y="3245265"/>
                    <a:ext cx="855747" cy="646331"/>
                  </a:xfrm>
                  <a:prstGeom prst="rect">
                    <a:avLst/>
                  </a:prstGeom>
                  <a:blipFill>
                    <a:blip r:embed="rId8"/>
                    <a:stretch>
                      <a:fillRect/>
                    </a:stretch>
                  </a:blipFill>
                </p:spPr>
                <p:txBody>
                  <a:bodyPr/>
                  <a:lstStyle/>
                  <a:p>
                    <a:r>
                      <a:rPr lang="en-US">
                        <a:noFill/>
                      </a:rPr>
                      <a:t> </a:t>
                    </a:r>
                  </a:p>
                </p:txBody>
              </p:sp>
            </mc:Fallback>
          </mc:AlternateContent>
        </p:grpSp>
        <p:grpSp>
          <p:nvGrpSpPr>
            <p:cNvPr id="63" name="Group 62">
              <a:extLst>
                <a:ext uri="{FF2B5EF4-FFF2-40B4-BE49-F238E27FC236}">
                  <a16:creationId xmlns:a16="http://schemas.microsoft.com/office/drawing/2014/main" id="{F8AA0256-7DDC-BD46-8E55-32754686142B}"/>
                </a:ext>
              </a:extLst>
            </p:cNvPr>
            <p:cNvGrpSpPr/>
            <p:nvPr/>
          </p:nvGrpSpPr>
          <p:grpSpPr>
            <a:xfrm>
              <a:off x="986414" y="5438069"/>
              <a:ext cx="1177985" cy="1177985"/>
              <a:chOff x="-966029" y="5472427"/>
              <a:chExt cx="1177985" cy="1177985"/>
            </a:xfrm>
          </p:grpSpPr>
          <p:sp>
            <p:nvSpPr>
              <p:cNvPr id="64" name="Oval 63">
                <a:extLst>
                  <a:ext uri="{FF2B5EF4-FFF2-40B4-BE49-F238E27FC236}">
                    <a16:creationId xmlns:a16="http://schemas.microsoft.com/office/drawing/2014/main" id="{80FBDF5C-1F6E-ED4C-9D15-D89D56138E68}"/>
                  </a:ext>
                </a:extLst>
              </p:cNvPr>
              <p:cNvSpPr/>
              <p:nvPr/>
            </p:nvSpPr>
            <p:spPr>
              <a:xfrm>
                <a:off x="-966029" y="5472427"/>
                <a:ext cx="1177985" cy="1177985"/>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scene3d>
                <a:camera prst="orthographicFront"/>
                <a:lightRig rig="threePt" dir="t"/>
              </a:scene3d>
              <a:sp3d>
                <a:bevelT w="234950" h="1143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9" name="Straight Arrow Connector 68">
                <a:extLst>
                  <a:ext uri="{FF2B5EF4-FFF2-40B4-BE49-F238E27FC236}">
                    <a16:creationId xmlns:a16="http://schemas.microsoft.com/office/drawing/2014/main" id="{5F02A10F-D077-7B48-B13A-395F6CE2BE55}"/>
                  </a:ext>
                </a:extLst>
              </p:cNvPr>
              <p:cNvCxnSpPr>
                <a:cxnSpLocks/>
              </p:cNvCxnSpPr>
              <p:nvPr/>
            </p:nvCxnSpPr>
            <p:spPr>
              <a:xfrm flipV="1">
                <a:off x="-369037" y="5485419"/>
                <a:ext cx="1" cy="576000"/>
              </a:xfrm>
              <a:prstGeom prst="straightConnector1">
                <a:avLst/>
              </a:prstGeom>
              <a:ln w="50800" cap="rnd">
                <a:solidFill>
                  <a:srgbClr val="C00000"/>
                </a:solidFill>
                <a:tailEnd type="none" w="lg" len="lg"/>
              </a:ln>
            </p:spPr>
            <p:style>
              <a:lnRef idx="1">
                <a:schemeClr val="accent1"/>
              </a:lnRef>
              <a:fillRef idx="0">
                <a:schemeClr val="accent1"/>
              </a:fillRef>
              <a:effectRef idx="0">
                <a:schemeClr val="accent1"/>
              </a:effectRef>
              <a:fontRef idx="minor">
                <a:schemeClr val="tx1"/>
              </a:fontRef>
            </p:style>
          </p:cxnSp>
        </p:grpSp>
      </p:grpSp>
      <p:sp>
        <p:nvSpPr>
          <p:cNvPr id="2" name="Title 1">
            <a:extLst>
              <a:ext uri="{FF2B5EF4-FFF2-40B4-BE49-F238E27FC236}">
                <a16:creationId xmlns:a16="http://schemas.microsoft.com/office/drawing/2014/main" id="{3156E350-DA86-0B4A-A836-ADAE8DB7B48A}"/>
              </a:ext>
            </a:extLst>
          </p:cNvPr>
          <p:cNvSpPr>
            <a:spLocks noGrp="1"/>
          </p:cNvSpPr>
          <p:nvPr>
            <p:ph type="title"/>
          </p:nvPr>
        </p:nvSpPr>
        <p:spPr>
          <a:xfrm>
            <a:off x="0" y="0"/>
            <a:ext cx="12192000" cy="928688"/>
          </a:xfrm>
        </p:spPr>
        <p:txBody>
          <a:bodyPr>
            <a:normAutofit/>
          </a:bodyPr>
          <a:lstStyle/>
          <a:p>
            <a:r>
              <a:rPr lang="en-US" dirty="0"/>
              <a:t>Qubit as a vector</a:t>
            </a:r>
          </a:p>
        </p:txBody>
      </p:sp>
      <p:sp>
        <p:nvSpPr>
          <p:cNvPr id="3" name="Slide Number Placeholder 2">
            <a:extLst>
              <a:ext uri="{FF2B5EF4-FFF2-40B4-BE49-F238E27FC236}">
                <a16:creationId xmlns:a16="http://schemas.microsoft.com/office/drawing/2014/main" id="{06BFE2DE-ECD0-434D-8AB4-C80122BF073B}"/>
              </a:ext>
            </a:extLst>
          </p:cNvPr>
          <p:cNvSpPr>
            <a:spLocks noGrp="1"/>
          </p:cNvSpPr>
          <p:nvPr>
            <p:ph type="sldNum" sz="quarter" idx="12"/>
          </p:nvPr>
        </p:nvSpPr>
        <p:spPr/>
        <p:txBody>
          <a:bodyPr/>
          <a:lstStyle/>
          <a:p>
            <a:fld id="{591A223C-FA10-BC46-A853-03BA373D023C}" type="slidenum">
              <a:rPr lang="en-US" smtClean="0"/>
              <a:t>31</a:t>
            </a:fld>
            <a:endParaRPr lang="en-US"/>
          </a:p>
        </p:txBody>
      </p:sp>
      <p:cxnSp>
        <p:nvCxnSpPr>
          <p:cNvPr id="12" name="Straight Connector 11">
            <a:extLst>
              <a:ext uri="{FF2B5EF4-FFF2-40B4-BE49-F238E27FC236}">
                <a16:creationId xmlns:a16="http://schemas.microsoft.com/office/drawing/2014/main" id="{ED3A3394-1725-684A-BA78-B7826D919F0F}"/>
              </a:ext>
            </a:extLst>
          </p:cNvPr>
          <p:cNvCxnSpPr>
            <a:cxnSpLocks/>
          </p:cNvCxnSpPr>
          <p:nvPr/>
        </p:nvCxnSpPr>
        <p:spPr>
          <a:xfrm>
            <a:off x="896304" y="3777623"/>
            <a:ext cx="1620000" cy="0"/>
          </a:xfrm>
          <a:prstGeom prst="line">
            <a:avLst/>
          </a:prstGeom>
          <a:ln w="127000" cap="rnd"/>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0A329B0-47EF-0F49-A0C2-00C2C1EC1446}"/>
              </a:ext>
            </a:extLst>
          </p:cNvPr>
          <p:cNvSpPr txBox="1"/>
          <p:nvPr/>
        </p:nvSpPr>
        <p:spPr>
          <a:xfrm>
            <a:off x="484497" y="4818122"/>
            <a:ext cx="1937775" cy="523220"/>
          </a:xfrm>
          <a:prstGeom prst="rect">
            <a:avLst/>
          </a:prstGeom>
          <a:noFill/>
        </p:spPr>
        <p:txBody>
          <a:bodyPr wrap="none" rtlCol="0">
            <a:spAutoFit/>
          </a:bodyPr>
          <a:lstStyle/>
          <a:p>
            <a:r>
              <a:rPr lang="en-US" sz="2800" dirty="0">
                <a:solidFill>
                  <a:schemeClr val="tx1">
                    <a:lumMod val="50000"/>
                    <a:lumOff val="50000"/>
                  </a:schemeClr>
                </a:solidFill>
              </a:rPr>
              <a:t>energy level</a:t>
            </a:r>
          </a:p>
        </p:txBody>
      </p:sp>
      <p:sp>
        <p:nvSpPr>
          <p:cNvPr id="59" name="TextBox 58">
            <a:extLst>
              <a:ext uri="{FF2B5EF4-FFF2-40B4-BE49-F238E27FC236}">
                <a16:creationId xmlns:a16="http://schemas.microsoft.com/office/drawing/2014/main" id="{780D1635-4F7F-1A4F-8D0F-EFE36423461C}"/>
              </a:ext>
            </a:extLst>
          </p:cNvPr>
          <p:cNvSpPr txBox="1"/>
          <p:nvPr/>
        </p:nvSpPr>
        <p:spPr>
          <a:xfrm>
            <a:off x="3669673" y="4829810"/>
            <a:ext cx="945643" cy="523220"/>
          </a:xfrm>
          <a:prstGeom prst="rect">
            <a:avLst/>
          </a:prstGeom>
          <a:noFill/>
        </p:spPr>
        <p:txBody>
          <a:bodyPr wrap="none" rtlCol="0">
            <a:spAutoFit/>
          </a:bodyPr>
          <a:lstStyle/>
          <a:p>
            <a:r>
              <a:rPr lang="en-US" sz="2800" dirty="0">
                <a:solidFill>
                  <a:schemeClr val="tx1">
                    <a:lumMod val="50000"/>
                    <a:lumOff val="50000"/>
                  </a:schemeClr>
                </a:solidFill>
              </a:rPr>
              <a:t>atom</a:t>
            </a:r>
          </a:p>
        </p:txBody>
      </p:sp>
      <p:sp>
        <p:nvSpPr>
          <p:cNvPr id="4" name="TextBox 3">
            <a:extLst>
              <a:ext uri="{FF2B5EF4-FFF2-40B4-BE49-F238E27FC236}">
                <a16:creationId xmlns:a16="http://schemas.microsoft.com/office/drawing/2014/main" id="{625CD600-B236-F44B-A504-F9333E6A245F}"/>
              </a:ext>
            </a:extLst>
          </p:cNvPr>
          <p:cNvSpPr txBox="1"/>
          <p:nvPr/>
        </p:nvSpPr>
        <p:spPr>
          <a:xfrm>
            <a:off x="1104181" y="4502989"/>
            <a:ext cx="184731" cy="369332"/>
          </a:xfrm>
          <a:prstGeom prst="rect">
            <a:avLst/>
          </a:prstGeom>
          <a:noFill/>
        </p:spPr>
        <p:txBody>
          <a:bodyPr wrap="none" rtlCol="0">
            <a:spAutoFit/>
          </a:bodyPr>
          <a:lstStyle/>
          <a:p>
            <a:endParaRPr lang="en-US" dirty="0"/>
          </a:p>
        </p:txBody>
      </p:sp>
      <p:pic>
        <p:nvPicPr>
          <p:cNvPr id="65" name="Picture 64">
            <a:extLst>
              <a:ext uri="{FF2B5EF4-FFF2-40B4-BE49-F238E27FC236}">
                <a16:creationId xmlns:a16="http://schemas.microsoft.com/office/drawing/2014/main" id="{16342E60-9401-DE41-9C10-C0A2AB308EA2}"/>
              </a:ext>
            </a:extLst>
          </p:cNvPr>
          <p:cNvPicPr>
            <a:picLocks noChangeAspect="1"/>
          </p:cNvPicPr>
          <p:nvPr/>
        </p:nvPicPr>
        <p:blipFill>
          <a:blip r:embed="rId9"/>
          <a:stretch>
            <a:fillRect/>
          </a:stretch>
        </p:blipFill>
        <p:spPr>
          <a:xfrm flipH="1">
            <a:off x="6096000" y="1693007"/>
            <a:ext cx="2007654" cy="2497896"/>
          </a:xfrm>
          <a:prstGeom prst="rect">
            <a:avLst/>
          </a:prstGeom>
        </p:spPr>
      </p:pic>
    </p:spTree>
    <p:extLst>
      <p:ext uri="{BB962C8B-B14F-4D97-AF65-F5344CB8AC3E}">
        <p14:creationId xmlns:p14="http://schemas.microsoft.com/office/powerpoint/2010/main" val="37192222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5">
            <a:extLst>
              <a:ext uri="{FF2B5EF4-FFF2-40B4-BE49-F238E27FC236}">
                <a16:creationId xmlns:a16="http://schemas.microsoft.com/office/drawing/2014/main" id="{94A6A6B0-989D-614D-B8F1-70F66E821894}"/>
              </a:ext>
            </a:extLst>
          </p:cNvPr>
          <p:cNvPicPr>
            <a:picLocks noChangeAspect="1"/>
          </p:cNvPicPr>
          <p:nvPr/>
        </p:nvPicPr>
        <p:blipFill>
          <a:blip r:embed="rId3"/>
          <a:stretch>
            <a:fillRect/>
          </a:stretch>
        </p:blipFill>
        <p:spPr>
          <a:xfrm>
            <a:off x="6708316" y="3054934"/>
            <a:ext cx="2495387" cy="1525349"/>
          </a:xfrm>
          <a:prstGeom prst="rect">
            <a:avLst/>
          </a:prstGeom>
        </p:spPr>
      </p:pic>
      <p:cxnSp>
        <p:nvCxnSpPr>
          <p:cNvPr id="12" name="Straight Connector 11">
            <a:extLst>
              <a:ext uri="{FF2B5EF4-FFF2-40B4-BE49-F238E27FC236}">
                <a16:creationId xmlns:a16="http://schemas.microsoft.com/office/drawing/2014/main" id="{ED3A3394-1725-684A-BA78-B7826D919F0F}"/>
              </a:ext>
            </a:extLst>
          </p:cNvPr>
          <p:cNvCxnSpPr>
            <a:cxnSpLocks/>
          </p:cNvCxnSpPr>
          <p:nvPr/>
        </p:nvCxnSpPr>
        <p:spPr>
          <a:xfrm>
            <a:off x="896304" y="3777623"/>
            <a:ext cx="1620000" cy="0"/>
          </a:xfrm>
          <a:prstGeom prst="line">
            <a:avLst/>
          </a:prstGeom>
          <a:ln w="127000" cap="rnd"/>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234A1B3-8F62-D64C-943E-3B3D719A37C2}"/>
              </a:ext>
            </a:extLst>
          </p:cNvPr>
          <p:cNvCxnSpPr>
            <a:cxnSpLocks/>
          </p:cNvCxnSpPr>
          <p:nvPr/>
        </p:nvCxnSpPr>
        <p:spPr>
          <a:xfrm>
            <a:off x="896304" y="2614587"/>
            <a:ext cx="1620000" cy="0"/>
          </a:xfrm>
          <a:prstGeom prst="line">
            <a:avLst/>
          </a:prstGeom>
          <a:ln w="127000" cap="rnd"/>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EB98686-E6AC-1E48-8FD5-4304BC06F0D1}"/>
              </a:ext>
            </a:extLst>
          </p:cNvPr>
          <p:cNvCxnSpPr>
            <a:cxnSpLocks/>
          </p:cNvCxnSpPr>
          <p:nvPr/>
        </p:nvCxnSpPr>
        <p:spPr>
          <a:xfrm>
            <a:off x="9599451" y="4114304"/>
            <a:ext cx="1693299" cy="0"/>
          </a:xfrm>
          <a:prstGeom prst="straightConnector1">
            <a:avLst/>
          </a:prstGeom>
          <a:ln w="127000" cap="rnd">
            <a:solidFill>
              <a:schemeClr val="accent1">
                <a:alpha val="69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8066CE20-DD02-2B4D-BF71-F4D20FD1FA12}"/>
              </a:ext>
            </a:extLst>
          </p:cNvPr>
          <p:cNvCxnSpPr>
            <a:cxnSpLocks/>
          </p:cNvCxnSpPr>
          <p:nvPr/>
        </p:nvCxnSpPr>
        <p:spPr>
          <a:xfrm flipV="1">
            <a:off x="9599448" y="2396400"/>
            <a:ext cx="1708136" cy="1717906"/>
          </a:xfrm>
          <a:prstGeom prst="straightConnector1">
            <a:avLst/>
          </a:prstGeom>
          <a:ln w="12700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1E6A182-064A-E141-BE0C-8EC11D9AAB35}"/>
              </a:ext>
            </a:extLst>
          </p:cNvPr>
          <p:cNvCxnSpPr>
            <a:cxnSpLocks/>
          </p:cNvCxnSpPr>
          <p:nvPr/>
        </p:nvCxnSpPr>
        <p:spPr>
          <a:xfrm flipV="1">
            <a:off x="11292750" y="2396400"/>
            <a:ext cx="0" cy="1693300"/>
          </a:xfrm>
          <a:prstGeom prst="straightConnector1">
            <a:avLst/>
          </a:prstGeom>
          <a:ln w="127000" cap="rnd">
            <a:solidFill>
              <a:srgbClr val="C00000">
                <a:alpha val="69000"/>
              </a:srgbClr>
            </a:solidFill>
            <a:tailEnd type="triangl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DF0B59C3-EEF9-F943-9B21-41AD98349B14}"/>
              </a:ext>
            </a:extLst>
          </p:cNvPr>
          <p:cNvGrpSpPr/>
          <p:nvPr/>
        </p:nvGrpSpPr>
        <p:grpSpPr>
          <a:xfrm>
            <a:off x="1462394" y="2360988"/>
            <a:ext cx="540000" cy="1726621"/>
            <a:chOff x="2087190" y="2739525"/>
            <a:chExt cx="540000" cy="1726621"/>
          </a:xfrm>
        </p:grpSpPr>
        <p:sp>
          <p:nvSpPr>
            <p:cNvPr id="43" name="Oval 42">
              <a:extLst>
                <a:ext uri="{FF2B5EF4-FFF2-40B4-BE49-F238E27FC236}">
                  <a16:creationId xmlns:a16="http://schemas.microsoft.com/office/drawing/2014/main" id="{B3D91DB0-9955-EE4B-A2FD-2BF9C4F3FD8D}"/>
                </a:ext>
              </a:extLst>
            </p:cNvPr>
            <p:cNvSpPr/>
            <p:nvPr/>
          </p:nvSpPr>
          <p:spPr>
            <a:xfrm>
              <a:off x="2087190" y="3926146"/>
              <a:ext cx="540000" cy="54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5BD96238-884C-4649-8602-62A711240CD8}"/>
                </a:ext>
              </a:extLst>
            </p:cNvPr>
            <p:cNvSpPr/>
            <p:nvPr/>
          </p:nvSpPr>
          <p:spPr>
            <a:xfrm>
              <a:off x="2087190" y="2739525"/>
              <a:ext cx="540000" cy="54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19D40D0A-C44F-4C45-A41F-EDB882F29A05}"/>
              </a:ext>
            </a:extLst>
          </p:cNvPr>
          <p:cNvGrpSpPr/>
          <p:nvPr/>
        </p:nvGrpSpPr>
        <p:grpSpPr>
          <a:xfrm>
            <a:off x="3605011" y="2496163"/>
            <a:ext cx="1595026" cy="1535676"/>
            <a:chOff x="4715989" y="2417648"/>
            <a:chExt cx="1595026" cy="1535676"/>
          </a:xfrm>
        </p:grpSpPr>
        <p:pic>
          <p:nvPicPr>
            <p:cNvPr id="5" name="Picture 4">
              <a:extLst>
                <a:ext uri="{FF2B5EF4-FFF2-40B4-BE49-F238E27FC236}">
                  <a16:creationId xmlns:a16="http://schemas.microsoft.com/office/drawing/2014/main" id="{DF0546B7-7898-1345-B5EE-F74FCE618A07}"/>
                </a:ext>
              </a:extLst>
            </p:cNvPr>
            <p:cNvPicPr>
              <a:picLocks noChangeAspect="1"/>
            </p:cNvPicPr>
            <p:nvPr/>
          </p:nvPicPr>
          <p:blipFill>
            <a:blip r:embed="rId4"/>
            <a:stretch>
              <a:fillRect/>
            </a:stretch>
          </p:blipFill>
          <p:spPr>
            <a:xfrm>
              <a:off x="4715989" y="2417648"/>
              <a:ext cx="1595026" cy="1535676"/>
            </a:xfrm>
            <a:prstGeom prst="rect">
              <a:avLst/>
            </a:prstGeom>
          </p:spPr>
        </p:pic>
        <p:pic>
          <p:nvPicPr>
            <p:cNvPr id="6" name="Picture 5">
              <a:extLst>
                <a:ext uri="{FF2B5EF4-FFF2-40B4-BE49-F238E27FC236}">
                  <a16:creationId xmlns:a16="http://schemas.microsoft.com/office/drawing/2014/main" id="{16ADE40C-5706-6042-AA4B-E1A9AC7C5B59}"/>
                </a:ext>
              </a:extLst>
            </p:cNvPr>
            <p:cNvPicPr>
              <a:picLocks noChangeAspect="1"/>
            </p:cNvPicPr>
            <p:nvPr/>
          </p:nvPicPr>
          <p:blipFill>
            <a:blip r:embed="rId5">
              <a:duotone>
                <a:schemeClr val="accent1">
                  <a:shade val="45000"/>
                  <a:satMod val="135000"/>
                </a:schemeClr>
                <a:prstClr val="white"/>
              </a:duotone>
            </a:blip>
            <a:stretch>
              <a:fillRect/>
            </a:stretch>
          </p:blipFill>
          <p:spPr>
            <a:xfrm>
              <a:off x="5046788" y="2739810"/>
              <a:ext cx="954560" cy="962789"/>
            </a:xfrm>
            <a:prstGeom prst="rect">
              <a:avLst/>
            </a:prstGeom>
          </p:spPr>
        </p:pic>
      </p:grp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7C971B2C-6064-044B-9E29-DDD52E87DDB4}"/>
                  </a:ext>
                </a:extLst>
              </p:cNvPr>
              <p:cNvSpPr/>
              <p:nvPr/>
            </p:nvSpPr>
            <p:spPr>
              <a:xfrm rot="18953104">
                <a:off x="8770293" y="2709873"/>
                <a:ext cx="2498826"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3600" b="0" i="1" smtClean="0">
                          <a:latin typeface="Cambria Math" panose="02040503050406030204" pitchFamily="18" charset="0"/>
                          <a:ea typeface="Cambria Math" panose="02040503050406030204" pitchFamily="18" charset="0"/>
                        </a:rPr>
                        <m:t>𝑎</m:t>
                      </m:r>
                      <m:d>
                        <m:dPr>
                          <m:begChr m:val="|"/>
                          <m:endChr m:val="⟩"/>
                          <m:ctrlPr>
                            <a:rPr lang="en-US" sz="3600" i="1" smtClean="0">
                              <a:latin typeface="Cambria Math" panose="02040503050406030204" pitchFamily="18" charset="0"/>
                              <a:ea typeface="Cambria Math" panose="02040503050406030204" pitchFamily="18" charset="0"/>
                            </a:rPr>
                          </m:ctrlPr>
                        </m:dPr>
                        <m:e>
                          <m:r>
                            <m:rPr>
                              <m:nor/>
                            </m:rPr>
                            <a:rPr lang="en-US" sz="3600">
                              <a:latin typeface="Cambria Math" panose="02040503050406030204" pitchFamily="18" charset="0"/>
                              <a:ea typeface="Cambria Math" panose="02040503050406030204" pitchFamily="18" charset="0"/>
                            </a:rPr>
                            <m:t>0</m:t>
                          </m:r>
                        </m:e>
                      </m:d>
                      <m:r>
                        <a:rPr lang="en-US" sz="3600" b="0" i="1" smtClean="0">
                          <a:latin typeface="Cambria Math" panose="02040503050406030204" pitchFamily="18" charset="0"/>
                          <a:ea typeface="Cambria Math" panose="02040503050406030204" pitchFamily="18" charset="0"/>
                        </a:rPr>
                        <m:t>+</m:t>
                      </m:r>
                      <m:r>
                        <a:rPr lang="sr-Latn-RS" sz="3600" b="0" i="1" smtClean="0">
                          <a:latin typeface="Cambria Math" panose="02040503050406030204" pitchFamily="18" charset="0"/>
                          <a:ea typeface="Cambria Math" panose="02040503050406030204" pitchFamily="18" charset="0"/>
                        </a:rPr>
                        <m:t>𝑏</m:t>
                      </m:r>
                      <m:d>
                        <m:dPr>
                          <m:begChr m:val="|"/>
                          <m:endChr m:val="⟩"/>
                          <m:ctrlPr>
                            <a:rPr lang="en-US" sz="3600" i="1">
                              <a:latin typeface="Cambria Math" panose="02040503050406030204" pitchFamily="18" charset="0"/>
                              <a:ea typeface="Cambria Math" panose="02040503050406030204" pitchFamily="18" charset="0"/>
                            </a:rPr>
                          </m:ctrlPr>
                        </m:dPr>
                        <m:e>
                          <m:r>
                            <m:rPr>
                              <m:nor/>
                            </m:rPr>
                            <a:rPr lang="en-US" sz="3600" b="0" i="0" smtClean="0">
                              <a:latin typeface="Cambria Math" panose="02040503050406030204" pitchFamily="18" charset="0"/>
                              <a:ea typeface="Cambria Math" panose="02040503050406030204" pitchFamily="18" charset="0"/>
                            </a:rPr>
                            <m:t>1</m:t>
                          </m:r>
                        </m:e>
                      </m:d>
                    </m:oMath>
                  </m:oMathPara>
                </a14:m>
                <a:endParaRPr lang="en-US" sz="3600" dirty="0"/>
              </a:p>
            </p:txBody>
          </p:sp>
        </mc:Choice>
        <mc:Fallback xmlns="">
          <p:sp>
            <p:nvSpPr>
              <p:cNvPr id="49" name="Rectangle 48">
                <a:extLst>
                  <a:ext uri="{FF2B5EF4-FFF2-40B4-BE49-F238E27FC236}">
                    <a16:creationId xmlns:a16="http://schemas.microsoft.com/office/drawing/2014/main" id="{7C971B2C-6064-044B-9E29-DDD52E87DDB4}"/>
                  </a:ext>
                </a:extLst>
              </p:cNvPr>
              <p:cNvSpPr>
                <a:spLocks noRot="1" noChangeAspect="1" noMove="1" noResize="1" noEditPoints="1" noAdjustHandles="1" noChangeArrowheads="1" noChangeShapeType="1" noTextEdit="1"/>
              </p:cNvSpPr>
              <p:nvPr/>
            </p:nvSpPr>
            <p:spPr>
              <a:xfrm rot="18953104">
                <a:off x="8770293" y="2709873"/>
                <a:ext cx="2498826" cy="64633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Rectangle 55">
                <a:extLst>
                  <a:ext uri="{FF2B5EF4-FFF2-40B4-BE49-F238E27FC236}">
                    <a16:creationId xmlns:a16="http://schemas.microsoft.com/office/drawing/2014/main" id="{2740E65F-38D9-0148-889F-236B2F9B0544}"/>
                  </a:ext>
                </a:extLst>
              </p:cNvPr>
              <p:cNvSpPr/>
              <p:nvPr/>
            </p:nvSpPr>
            <p:spPr>
              <a:xfrm>
                <a:off x="9957515" y="4208502"/>
                <a:ext cx="1123513"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3600" b="0" i="1" smtClean="0">
                          <a:latin typeface="Cambria Math" panose="02040503050406030204" pitchFamily="18" charset="0"/>
                          <a:ea typeface="Cambria Math" panose="02040503050406030204" pitchFamily="18" charset="0"/>
                        </a:rPr>
                        <m:t>𝑎</m:t>
                      </m:r>
                      <m:d>
                        <m:dPr>
                          <m:begChr m:val="|"/>
                          <m:endChr m:val="⟩"/>
                          <m:ctrlPr>
                            <a:rPr lang="en-US" sz="3600" i="1">
                              <a:latin typeface="Cambria Math" panose="02040503050406030204" pitchFamily="18" charset="0"/>
                              <a:ea typeface="Cambria Math" panose="02040503050406030204" pitchFamily="18" charset="0"/>
                            </a:rPr>
                          </m:ctrlPr>
                        </m:dPr>
                        <m:e>
                          <m:r>
                            <m:rPr>
                              <m:nor/>
                            </m:rPr>
                            <a:rPr lang="en-US" sz="3600">
                              <a:latin typeface="Cambria Math" panose="02040503050406030204" pitchFamily="18" charset="0"/>
                              <a:ea typeface="Cambria Math" panose="02040503050406030204" pitchFamily="18" charset="0"/>
                            </a:rPr>
                            <m:t>0</m:t>
                          </m:r>
                        </m:e>
                      </m:d>
                    </m:oMath>
                  </m:oMathPara>
                </a14:m>
                <a:endParaRPr lang="en-US" sz="3600" dirty="0"/>
              </a:p>
            </p:txBody>
          </p:sp>
        </mc:Choice>
        <mc:Fallback xmlns="">
          <p:sp>
            <p:nvSpPr>
              <p:cNvPr id="56" name="Rectangle 55">
                <a:extLst>
                  <a:ext uri="{FF2B5EF4-FFF2-40B4-BE49-F238E27FC236}">
                    <a16:creationId xmlns:a16="http://schemas.microsoft.com/office/drawing/2014/main" id="{2740E65F-38D9-0148-889F-236B2F9B0544}"/>
                  </a:ext>
                </a:extLst>
              </p:cNvPr>
              <p:cNvSpPr>
                <a:spLocks noRot="1" noChangeAspect="1" noMove="1" noResize="1" noEditPoints="1" noAdjustHandles="1" noChangeArrowheads="1" noChangeShapeType="1" noTextEdit="1"/>
              </p:cNvSpPr>
              <p:nvPr/>
            </p:nvSpPr>
            <p:spPr>
              <a:xfrm>
                <a:off x="9957515" y="4208502"/>
                <a:ext cx="1123513" cy="64633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C4979697-7FC8-7442-8A01-CB66F2763940}"/>
                  </a:ext>
                </a:extLst>
              </p:cNvPr>
              <p:cNvSpPr/>
              <p:nvPr/>
            </p:nvSpPr>
            <p:spPr>
              <a:xfrm>
                <a:off x="11217631" y="3082149"/>
                <a:ext cx="1114344"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3600" b="0" i="1" smtClean="0">
                          <a:latin typeface="Cambria Math" panose="02040503050406030204" pitchFamily="18" charset="0"/>
                          <a:ea typeface="Cambria Math" panose="02040503050406030204" pitchFamily="18" charset="0"/>
                        </a:rPr>
                        <m:t>𝑏</m:t>
                      </m:r>
                      <m:d>
                        <m:dPr>
                          <m:begChr m:val="|"/>
                          <m:endChr m:val="⟩"/>
                          <m:ctrlPr>
                            <a:rPr lang="en-US" sz="3600" i="1">
                              <a:latin typeface="Cambria Math" panose="02040503050406030204" pitchFamily="18" charset="0"/>
                              <a:ea typeface="Cambria Math" panose="02040503050406030204" pitchFamily="18" charset="0"/>
                            </a:rPr>
                          </m:ctrlPr>
                        </m:dPr>
                        <m:e>
                          <m:r>
                            <m:rPr>
                              <m:nor/>
                            </m:rPr>
                            <a:rPr lang="en-US" sz="3600" b="0" i="0" smtClean="0">
                              <a:latin typeface="Cambria Math" panose="02040503050406030204" pitchFamily="18" charset="0"/>
                              <a:ea typeface="Cambria Math" panose="02040503050406030204" pitchFamily="18" charset="0"/>
                            </a:rPr>
                            <m:t>1</m:t>
                          </m:r>
                        </m:e>
                      </m:d>
                    </m:oMath>
                  </m:oMathPara>
                </a14:m>
                <a:endParaRPr lang="en-US" sz="3600" dirty="0"/>
              </a:p>
            </p:txBody>
          </p:sp>
        </mc:Choice>
        <mc:Fallback xmlns="">
          <p:sp>
            <p:nvSpPr>
              <p:cNvPr id="57" name="Rectangle 56">
                <a:extLst>
                  <a:ext uri="{FF2B5EF4-FFF2-40B4-BE49-F238E27FC236}">
                    <a16:creationId xmlns:a16="http://schemas.microsoft.com/office/drawing/2014/main" id="{C4979697-7FC8-7442-8A01-CB66F2763940}"/>
                  </a:ext>
                </a:extLst>
              </p:cNvPr>
              <p:cNvSpPr>
                <a:spLocks noRot="1" noChangeAspect="1" noMove="1" noResize="1" noEditPoints="1" noAdjustHandles="1" noChangeArrowheads="1" noChangeShapeType="1" noTextEdit="1"/>
              </p:cNvSpPr>
              <p:nvPr/>
            </p:nvSpPr>
            <p:spPr>
              <a:xfrm>
                <a:off x="11217631" y="3082149"/>
                <a:ext cx="1114344" cy="646331"/>
              </a:xfrm>
              <a:prstGeom prst="rect">
                <a:avLst/>
              </a:prstGeom>
              <a:blipFill>
                <a:blip r:embed="rId8"/>
                <a:stretch>
                  <a:fillRect/>
                </a:stretch>
              </a:blipFill>
            </p:spPr>
            <p:txBody>
              <a:bodyPr/>
              <a:lstStyle/>
              <a:p>
                <a:r>
                  <a:rPr lang="en-US">
                    <a:noFill/>
                  </a:rPr>
                  <a:t> </a:t>
                </a:r>
              </a:p>
            </p:txBody>
          </p:sp>
        </mc:Fallback>
      </mc:AlternateContent>
      <p:grpSp>
        <p:nvGrpSpPr>
          <p:cNvPr id="71" name="Group 70">
            <a:extLst>
              <a:ext uri="{FF2B5EF4-FFF2-40B4-BE49-F238E27FC236}">
                <a16:creationId xmlns:a16="http://schemas.microsoft.com/office/drawing/2014/main" id="{4A957E66-CFB4-064E-9B94-D9FBA6240E31}"/>
              </a:ext>
            </a:extLst>
          </p:cNvPr>
          <p:cNvGrpSpPr/>
          <p:nvPr/>
        </p:nvGrpSpPr>
        <p:grpSpPr>
          <a:xfrm>
            <a:off x="997441" y="5452721"/>
            <a:ext cx="1177985" cy="1177985"/>
            <a:chOff x="-2394074" y="5479385"/>
            <a:chExt cx="1177985" cy="1177985"/>
          </a:xfrm>
        </p:grpSpPr>
        <p:sp>
          <p:nvSpPr>
            <p:cNvPr id="72" name="Oval 71">
              <a:extLst>
                <a:ext uri="{FF2B5EF4-FFF2-40B4-BE49-F238E27FC236}">
                  <a16:creationId xmlns:a16="http://schemas.microsoft.com/office/drawing/2014/main" id="{BFC57026-2936-8740-BB18-5254ED477505}"/>
                </a:ext>
              </a:extLst>
            </p:cNvPr>
            <p:cNvSpPr/>
            <p:nvPr/>
          </p:nvSpPr>
          <p:spPr>
            <a:xfrm>
              <a:off x="-2394074" y="5479385"/>
              <a:ext cx="1177985" cy="1177985"/>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scene3d>
              <a:camera prst="orthographicFront"/>
              <a:lightRig rig="threePt" dir="t"/>
            </a:scene3d>
            <a:sp3d>
              <a:bevelT w="234950" h="1143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Straight Arrow Connector 76">
              <a:extLst>
                <a:ext uri="{FF2B5EF4-FFF2-40B4-BE49-F238E27FC236}">
                  <a16:creationId xmlns:a16="http://schemas.microsoft.com/office/drawing/2014/main" id="{F3963EF1-50A3-4641-AA9C-18A7518F4183}"/>
                </a:ext>
              </a:extLst>
            </p:cNvPr>
            <p:cNvCxnSpPr>
              <a:cxnSpLocks/>
              <a:endCxn id="72" idx="7"/>
            </p:cNvCxnSpPr>
            <p:nvPr/>
          </p:nvCxnSpPr>
          <p:spPr>
            <a:xfrm flipV="1">
              <a:off x="-1805082" y="5651897"/>
              <a:ext cx="416481" cy="416482"/>
            </a:xfrm>
            <a:prstGeom prst="straightConnector1">
              <a:avLst/>
            </a:prstGeom>
            <a:ln w="50800" cap="rnd">
              <a:solidFill>
                <a:srgbClr val="C00000"/>
              </a:solidFill>
              <a:tailEnd type="none" w="lg"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156E350-DA86-0B4A-A836-ADAE8DB7B48A}"/>
              </a:ext>
            </a:extLst>
          </p:cNvPr>
          <p:cNvSpPr>
            <a:spLocks noGrp="1"/>
          </p:cNvSpPr>
          <p:nvPr>
            <p:ph type="title"/>
          </p:nvPr>
        </p:nvSpPr>
        <p:spPr>
          <a:xfrm>
            <a:off x="0" y="0"/>
            <a:ext cx="12192000" cy="928688"/>
          </a:xfrm>
        </p:spPr>
        <p:txBody>
          <a:bodyPr>
            <a:normAutofit/>
          </a:bodyPr>
          <a:lstStyle/>
          <a:p>
            <a:r>
              <a:rPr lang="en-US" dirty="0"/>
              <a:t>Qubit as a vector</a:t>
            </a:r>
          </a:p>
        </p:txBody>
      </p:sp>
      <p:sp>
        <p:nvSpPr>
          <p:cNvPr id="3" name="Slide Number Placeholder 2">
            <a:extLst>
              <a:ext uri="{FF2B5EF4-FFF2-40B4-BE49-F238E27FC236}">
                <a16:creationId xmlns:a16="http://schemas.microsoft.com/office/drawing/2014/main" id="{06BFE2DE-ECD0-434D-8AB4-C80122BF073B}"/>
              </a:ext>
            </a:extLst>
          </p:cNvPr>
          <p:cNvSpPr>
            <a:spLocks noGrp="1"/>
          </p:cNvSpPr>
          <p:nvPr>
            <p:ph type="sldNum" sz="quarter" idx="12"/>
          </p:nvPr>
        </p:nvSpPr>
        <p:spPr/>
        <p:txBody>
          <a:bodyPr/>
          <a:lstStyle/>
          <a:p>
            <a:fld id="{591A223C-FA10-BC46-A853-03BA373D023C}" type="slidenum">
              <a:rPr lang="en-US" smtClean="0"/>
              <a:t>32</a:t>
            </a:fld>
            <a:endParaRPr lang="en-US"/>
          </a:p>
        </p:txBody>
      </p:sp>
      <p:sp>
        <p:nvSpPr>
          <p:cNvPr id="15" name="TextBox 14">
            <a:extLst>
              <a:ext uri="{FF2B5EF4-FFF2-40B4-BE49-F238E27FC236}">
                <a16:creationId xmlns:a16="http://schemas.microsoft.com/office/drawing/2014/main" id="{A0A329B0-47EF-0F49-A0C2-00C2C1EC1446}"/>
              </a:ext>
            </a:extLst>
          </p:cNvPr>
          <p:cNvSpPr txBox="1"/>
          <p:nvPr/>
        </p:nvSpPr>
        <p:spPr>
          <a:xfrm>
            <a:off x="484497" y="4818122"/>
            <a:ext cx="1937775" cy="523220"/>
          </a:xfrm>
          <a:prstGeom prst="rect">
            <a:avLst/>
          </a:prstGeom>
          <a:noFill/>
        </p:spPr>
        <p:txBody>
          <a:bodyPr wrap="none" rtlCol="0">
            <a:spAutoFit/>
          </a:bodyPr>
          <a:lstStyle/>
          <a:p>
            <a:r>
              <a:rPr lang="en-US" sz="2800" dirty="0">
                <a:solidFill>
                  <a:schemeClr val="tx1">
                    <a:lumMod val="50000"/>
                    <a:lumOff val="50000"/>
                  </a:schemeClr>
                </a:solidFill>
              </a:rPr>
              <a:t>energy level</a:t>
            </a:r>
          </a:p>
        </p:txBody>
      </p:sp>
      <p:sp>
        <p:nvSpPr>
          <p:cNvPr id="59" name="TextBox 58">
            <a:extLst>
              <a:ext uri="{FF2B5EF4-FFF2-40B4-BE49-F238E27FC236}">
                <a16:creationId xmlns:a16="http://schemas.microsoft.com/office/drawing/2014/main" id="{780D1635-4F7F-1A4F-8D0F-EFE36423461C}"/>
              </a:ext>
            </a:extLst>
          </p:cNvPr>
          <p:cNvSpPr txBox="1"/>
          <p:nvPr/>
        </p:nvSpPr>
        <p:spPr>
          <a:xfrm>
            <a:off x="3669673" y="4829810"/>
            <a:ext cx="945643" cy="523220"/>
          </a:xfrm>
          <a:prstGeom prst="rect">
            <a:avLst/>
          </a:prstGeom>
          <a:noFill/>
        </p:spPr>
        <p:txBody>
          <a:bodyPr wrap="none" rtlCol="0">
            <a:spAutoFit/>
          </a:bodyPr>
          <a:lstStyle/>
          <a:p>
            <a:r>
              <a:rPr lang="en-US" sz="2800" dirty="0">
                <a:solidFill>
                  <a:schemeClr val="tx1">
                    <a:lumMod val="50000"/>
                    <a:lumOff val="50000"/>
                  </a:schemeClr>
                </a:solidFill>
              </a:rPr>
              <a:t>atom</a:t>
            </a:r>
          </a:p>
        </p:txBody>
      </p:sp>
      <p:sp>
        <p:nvSpPr>
          <p:cNvPr id="4" name="TextBox 3">
            <a:extLst>
              <a:ext uri="{FF2B5EF4-FFF2-40B4-BE49-F238E27FC236}">
                <a16:creationId xmlns:a16="http://schemas.microsoft.com/office/drawing/2014/main" id="{625CD600-B236-F44B-A504-F9333E6A245F}"/>
              </a:ext>
            </a:extLst>
          </p:cNvPr>
          <p:cNvSpPr txBox="1"/>
          <p:nvPr/>
        </p:nvSpPr>
        <p:spPr>
          <a:xfrm>
            <a:off x="1104181" y="4502989"/>
            <a:ext cx="184731" cy="369332"/>
          </a:xfrm>
          <a:prstGeom prst="rect">
            <a:avLst/>
          </a:prstGeom>
          <a:noFill/>
        </p:spPr>
        <p:txBody>
          <a:bodyPr wrap="none" rtlCol="0">
            <a:spAutoFit/>
          </a:bodyPr>
          <a:lstStyle/>
          <a:p>
            <a:endParaRPr lang="en-US" dirty="0"/>
          </a:p>
        </p:txBody>
      </p:sp>
      <p:pic>
        <p:nvPicPr>
          <p:cNvPr id="65" name="Picture 64">
            <a:extLst>
              <a:ext uri="{FF2B5EF4-FFF2-40B4-BE49-F238E27FC236}">
                <a16:creationId xmlns:a16="http://schemas.microsoft.com/office/drawing/2014/main" id="{AA331B62-6CDB-BE4F-8F8A-F41790FDAE34}"/>
              </a:ext>
            </a:extLst>
          </p:cNvPr>
          <p:cNvPicPr>
            <a:picLocks noChangeAspect="1"/>
          </p:cNvPicPr>
          <p:nvPr/>
        </p:nvPicPr>
        <p:blipFill>
          <a:blip r:embed="rId9"/>
          <a:stretch>
            <a:fillRect/>
          </a:stretch>
        </p:blipFill>
        <p:spPr>
          <a:xfrm flipH="1">
            <a:off x="5797278" y="2054041"/>
            <a:ext cx="2007654" cy="2497896"/>
          </a:xfrm>
          <a:prstGeom prst="rect">
            <a:avLst/>
          </a:prstGeom>
        </p:spPr>
      </p:pic>
    </p:spTree>
    <p:extLst>
      <p:ext uri="{BB962C8B-B14F-4D97-AF65-F5344CB8AC3E}">
        <p14:creationId xmlns:p14="http://schemas.microsoft.com/office/powerpoint/2010/main" val="17535197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55">
            <a:extLst>
              <a:ext uri="{FF2B5EF4-FFF2-40B4-BE49-F238E27FC236}">
                <a16:creationId xmlns:a16="http://schemas.microsoft.com/office/drawing/2014/main" id="{75BAA227-3300-6E4B-825B-B710248BD85B}"/>
              </a:ext>
            </a:extLst>
          </p:cNvPr>
          <p:cNvPicPr>
            <a:picLocks noChangeAspect="1"/>
          </p:cNvPicPr>
          <p:nvPr/>
        </p:nvPicPr>
        <p:blipFill>
          <a:blip r:embed="rId3">
            <a:alphaModFix amt="30000"/>
          </a:blip>
          <a:stretch>
            <a:fillRect/>
          </a:stretch>
        </p:blipFill>
        <p:spPr>
          <a:xfrm>
            <a:off x="213103" y="1661358"/>
            <a:ext cx="1642033" cy="1800000"/>
          </a:xfrm>
          <a:prstGeom prst="rect">
            <a:avLst/>
          </a:prstGeom>
        </p:spPr>
      </p:pic>
      <p:sp>
        <p:nvSpPr>
          <p:cNvPr id="2" name="Title 1">
            <a:extLst>
              <a:ext uri="{FF2B5EF4-FFF2-40B4-BE49-F238E27FC236}">
                <a16:creationId xmlns:a16="http://schemas.microsoft.com/office/drawing/2014/main" id="{FC90C6CC-5B29-3145-B78E-2CD4880BE4A0}"/>
              </a:ext>
            </a:extLst>
          </p:cNvPr>
          <p:cNvSpPr>
            <a:spLocks noGrp="1"/>
          </p:cNvSpPr>
          <p:nvPr>
            <p:ph type="title"/>
          </p:nvPr>
        </p:nvSpPr>
        <p:spPr/>
        <p:txBody>
          <a:bodyPr/>
          <a:lstStyle/>
          <a:p>
            <a:r>
              <a:rPr lang="en-ZA" b="1" dirty="0"/>
              <a:t>The Power of Quantum Superposition</a:t>
            </a:r>
            <a:endParaRPr lang="en-US" dirty="0"/>
          </a:p>
        </p:txBody>
      </p:sp>
      <p:sp>
        <p:nvSpPr>
          <p:cNvPr id="3" name="Slide Number Placeholder 2">
            <a:extLst>
              <a:ext uri="{FF2B5EF4-FFF2-40B4-BE49-F238E27FC236}">
                <a16:creationId xmlns:a16="http://schemas.microsoft.com/office/drawing/2014/main" id="{9F8142E1-2299-3C4B-B294-78ECF62D2FBC}"/>
              </a:ext>
            </a:extLst>
          </p:cNvPr>
          <p:cNvSpPr>
            <a:spLocks noGrp="1"/>
          </p:cNvSpPr>
          <p:nvPr>
            <p:ph type="sldNum" sz="quarter" idx="12"/>
          </p:nvPr>
        </p:nvSpPr>
        <p:spPr/>
        <p:txBody>
          <a:bodyPr/>
          <a:lstStyle/>
          <a:p>
            <a:fld id="{591A223C-FA10-BC46-A853-03BA373D023C}" type="slidenum">
              <a:rPr lang="en-US" smtClean="0"/>
              <a:t>33</a:t>
            </a:fld>
            <a:endParaRPr lang="en-US"/>
          </a:p>
        </p:txBody>
      </p:sp>
      <p:pic>
        <p:nvPicPr>
          <p:cNvPr id="13" name="Picture 12">
            <a:extLst>
              <a:ext uri="{FF2B5EF4-FFF2-40B4-BE49-F238E27FC236}">
                <a16:creationId xmlns:a16="http://schemas.microsoft.com/office/drawing/2014/main" id="{BD211BF4-6CB9-AA48-A7DC-AB70116BEAE0}"/>
              </a:ext>
            </a:extLst>
          </p:cNvPr>
          <p:cNvPicPr>
            <a:picLocks noChangeAspect="1"/>
          </p:cNvPicPr>
          <p:nvPr/>
        </p:nvPicPr>
        <p:blipFill>
          <a:blip r:embed="rId3"/>
          <a:stretch>
            <a:fillRect/>
          </a:stretch>
        </p:blipFill>
        <p:spPr>
          <a:xfrm>
            <a:off x="213103" y="4907153"/>
            <a:ext cx="1642033" cy="1800000"/>
          </a:xfrm>
          <a:prstGeom prst="rect">
            <a:avLst/>
          </a:prstGeom>
        </p:spPr>
      </p:pic>
      <p:sp>
        <p:nvSpPr>
          <p:cNvPr id="16" name="TextBox 15">
            <a:extLst>
              <a:ext uri="{FF2B5EF4-FFF2-40B4-BE49-F238E27FC236}">
                <a16:creationId xmlns:a16="http://schemas.microsoft.com/office/drawing/2014/main" id="{3F204FF4-0036-0641-AAE4-0404B93DAD30}"/>
              </a:ext>
            </a:extLst>
          </p:cNvPr>
          <p:cNvSpPr txBox="1"/>
          <p:nvPr/>
        </p:nvSpPr>
        <p:spPr>
          <a:xfrm>
            <a:off x="381532" y="3904005"/>
            <a:ext cx="1473481" cy="923330"/>
          </a:xfrm>
          <a:prstGeom prst="rect">
            <a:avLst/>
          </a:prstGeom>
          <a:noFill/>
        </p:spPr>
        <p:txBody>
          <a:bodyPr wrap="none" rtlCol="0">
            <a:spAutoFit/>
          </a:bodyPr>
          <a:lstStyle/>
          <a:p>
            <a:pPr algn="ctr"/>
            <a:r>
              <a:rPr lang="en-US" dirty="0"/>
              <a:t>1 qubit:</a:t>
            </a:r>
          </a:p>
          <a:p>
            <a:pPr algn="ctr"/>
            <a:r>
              <a:rPr lang="en-US" dirty="0"/>
              <a:t>superposition</a:t>
            </a:r>
            <a:br>
              <a:rPr lang="en-US" dirty="0"/>
            </a:br>
            <a:r>
              <a:rPr lang="en-US" dirty="0"/>
              <a:t>of 2 </a:t>
            </a:r>
            <a:r>
              <a:rPr lang="en-ZA" dirty="0"/>
              <a:t>states</a:t>
            </a:r>
            <a:endParaRPr lang="en-US" dirty="0"/>
          </a:p>
        </p:txBody>
      </p:sp>
      <p:sp>
        <p:nvSpPr>
          <p:cNvPr id="22" name="TextBox 21">
            <a:extLst>
              <a:ext uri="{FF2B5EF4-FFF2-40B4-BE49-F238E27FC236}">
                <a16:creationId xmlns:a16="http://schemas.microsoft.com/office/drawing/2014/main" id="{9A1DCD39-38EF-DE47-BA2A-180C969B5671}"/>
              </a:ext>
            </a:extLst>
          </p:cNvPr>
          <p:cNvSpPr txBox="1"/>
          <p:nvPr/>
        </p:nvSpPr>
        <p:spPr>
          <a:xfrm>
            <a:off x="458669" y="886391"/>
            <a:ext cx="1319208" cy="646331"/>
          </a:xfrm>
          <a:prstGeom prst="rect">
            <a:avLst/>
          </a:prstGeom>
          <a:noFill/>
        </p:spPr>
        <p:txBody>
          <a:bodyPr wrap="none" rtlCol="0">
            <a:spAutoFit/>
          </a:bodyPr>
          <a:lstStyle/>
          <a:p>
            <a:pPr algn="ctr"/>
            <a:r>
              <a:rPr lang="en-US" dirty="0"/>
              <a:t>1 bit:</a:t>
            </a:r>
          </a:p>
          <a:p>
            <a:pPr algn="ctr"/>
            <a:r>
              <a:rPr lang="en-US" dirty="0"/>
              <a:t>1 of 2 </a:t>
            </a:r>
            <a:r>
              <a:rPr lang="en-ZA" dirty="0"/>
              <a:t>states</a:t>
            </a:r>
            <a:endParaRPr lang="en-US" dirty="0"/>
          </a:p>
        </p:txBody>
      </p:sp>
      <p:cxnSp>
        <p:nvCxnSpPr>
          <p:cNvPr id="38" name="Straight Connector 37">
            <a:extLst>
              <a:ext uri="{FF2B5EF4-FFF2-40B4-BE49-F238E27FC236}">
                <a16:creationId xmlns:a16="http://schemas.microsoft.com/office/drawing/2014/main" id="{28E46B1B-421C-3548-B897-7B52F8FBDCCC}"/>
              </a:ext>
            </a:extLst>
          </p:cNvPr>
          <p:cNvCxnSpPr>
            <a:cxnSpLocks/>
          </p:cNvCxnSpPr>
          <p:nvPr/>
        </p:nvCxnSpPr>
        <p:spPr>
          <a:xfrm>
            <a:off x="1034120" y="1817367"/>
            <a:ext cx="1" cy="813967"/>
          </a:xfrm>
          <a:prstGeom prst="line">
            <a:avLst/>
          </a:prstGeom>
          <a:ln w="25400" cap="rnd">
            <a:solidFill>
              <a:srgbClr val="0000FF"/>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7CE44FB3-B03F-1A4F-9FF9-ED0E18F539F5}"/>
              </a:ext>
            </a:extLst>
          </p:cNvPr>
          <p:cNvGrpSpPr/>
          <p:nvPr/>
        </p:nvGrpSpPr>
        <p:grpSpPr>
          <a:xfrm>
            <a:off x="2327190" y="933066"/>
            <a:ext cx="1778146" cy="5774087"/>
            <a:chOff x="2327190" y="933066"/>
            <a:chExt cx="1778146" cy="5774087"/>
          </a:xfrm>
        </p:grpSpPr>
        <p:pic>
          <p:nvPicPr>
            <p:cNvPr id="11" name="Picture 10">
              <a:extLst>
                <a:ext uri="{FF2B5EF4-FFF2-40B4-BE49-F238E27FC236}">
                  <a16:creationId xmlns:a16="http://schemas.microsoft.com/office/drawing/2014/main" id="{97ECE792-25BB-9B4B-8530-B1EF0E109107}"/>
                </a:ext>
              </a:extLst>
            </p:cNvPr>
            <p:cNvPicPr>
              <a:picLocks noChangeAspect="1"/>
            </p:cNvPicPr>
            <p:nvPr/>
          </p:nvPicPr>
          <p:blipFill>
            <a:blip r:embed="rId4"/>
            <a:stretch>
              <a:fillRect/>
            </a:stretch>
          </p:blipFill>
          <p:spPr>
            <a:xfrm>
              <a:off x="2327190" y="4907153"/>
              <a:ext cx="1706604" cy="1800000"/>
            </a:xfrm>
            <a:prstGeom prst="rect">
              <a:avLst/>
            </a:prstGeom>
          </p:spPr>
        </p:pic>
        <p:sp>
          <p:nvSpPr>
            <p:cNvPr id="17" name="TextBox 16">
              <a:extLst>
                <a:ext uri="{FF2B5EF4-FFF2-40B4-BE49-F238E27FC236}">
                  <a16:creationId xmlns:a16="http://schemas.microsoft.com/office/drawing/2014/main" id="{62B7F873-118F-DE4E-92E2-FAFCF2E6E2BE}"/>
                </a:ext>
              </a:extLst>
            </p:cNvPr>
            <p:cNvSpPr txBox="1"/>
            <p:nvPr/>
          </p:nvSpPr>
          <p:spPr>
            <a:xfrm>
              <a:off x="2476295" y="3906376"/>
              <a:ext cx="1473481" cy="923330"/>
            </a:xfrm>
            <a:prstGeom prst="rect">
              <a:avLst/>
            </a:prstGeom>
            <a:noFill/>
          </p:spPr>
          <p:txBody>
            <a:bodyPr wrap="none" rtlCol="0">
              <a:spAutoFit/>
            </a:bodyPr>
            <a:lstStyle/>
            <a:p>
              <a:pPr algn="ctr"/>
              <a:r>
                <a:rPr lang="en-US" dirty="0"/>
                <a:t>2 qubits :</a:t>
              </a:r>
            </a:p>
            <a:p>
              <a:pPr algn="ctr"/>
              <a:r>
                <a:rPr lang="en-US" dirty="0"/>
                <a:t>superposition</a:t>
              </a:r>
              <a:br>
                <a:rPr lang="en-US" dirty="0"/>
              </a:br>
              <a:r>
                <a:rPr lang="en-US" dirty="0"/>
                <a:t>of 4 </a:t>
              </a:r>
              <a:r>
                <a:rPr lang="en-ZA" dirty="0"/>
                <a:t>states</a:t>
              </a:r>
              <a:endParaRPr lang="en-US" dirty="0"/>
            </a:p>
          </p:txBody>
        </p:sp>
        <p:sp>
          <p:nvSpPr>
            <p:cNvPr id="23" name="TextBox 22">
              <a:extLst>
                <a:ext uri="{FF2B5EF4-FFF2-40B4-BE49-F238E27FC236}">
                  <a16:creationId xmlns:a16="http://schemas.microsoft.com/office/drawing/2014/main" id="{222FE6A5-C92C-B042-BC9E-041B1E770C8A}"/>
                </a:ext>
              </a:extLst>
            </p:cNvPr>
            <p:cNvSpPr txBox="1"/>
            <p:nvPr/>
          </p:nvSpPr>
          <p:spPr>
            <a:xfrm>
              <a:off x="2495242" y="933066"/>
              <a:ext cx="1370503" cy="646331"/>
            </a:xfrm>
            <a:prstGeom prst="rect">
              <a:avLst/>
            </a:prstGeom>
            <a:noFill/>
          </p:spPr>
          <p:txBody>
            <a:bodyPr wrap="none" rtlCol="0">
              <a:spAutoFit/>
            </a:bodyPr>
            <a:lstStyle/>
            <a:p>
              <a:pPr algn="ctr"/>
              <a:r>
                <a:rPr lang="en-US" dirty="0"/>
                <a:t>2 bits:</a:t>
              </a:r>
            </a:p>
            <a:p>
              <a:pPr algn="ctr"/>
              <a:r>
                <a:rPr lang="en-US" dirty="0"/>
                <a:t>1 of 4 </a:t>
              </a:r>
              <a:r>
                <a:rPr lang="en-ZA" dirty="0"/>
                <a:t>states</a:t>
              </a:r>
              <a:endParaRPr lang="en-US" dirty="0"/>
            </a:p>
          </p:txBody>
        </p:sp>
        <p:pic>
          <p:nvPicPr>
            <p:cNvPr id="57" name="Picture 56">
              <a:extLst>
                <a:ext uri="{FF2B5EF4-FFF2-40B4-BE49-F238E27FC236}">
                  <a16:creationId xmlns:a16="http://schemas.microsoft.com/office/drawing/2014/main" id="{4BADF30F-165B-364C-850F-E184FF9150E6}"/>
                </a:ext>
              </a:extLst>
            </p:cNvPr>
            <p:cNvPicPr>
              <a:picLocks noChangeAspect="1"/>
            </p:cNvPicPr>
            <p:nvPr/>
          </p:nvPicPr>
          <p:blipFill>
            <a:blip r:embed="rId4">
              <a:alphaModFix amt="30000"/>
            </a:blip>
            <a:stretch>
              <a:fillRect/>
            </a:stretch>
          </p:blipFill>
          <p:spPr>
            <a:xfrm>
              <a:off x="2398732" y="1673368"/>
              <a:ext cx="1706604" cy="1800000"/>
            </a:xfrm>
            <a:prstGeom prst="rect">
              <a:avLst/>
            </a:prstGeom>
          </p:spPr>
        </p:pic>
        <p:cxnSp>
          <p:nvCxnSpPr>
            <p:cNvPr id="61" name="Straight Connector 60">
              <a:extLst>
                <a:ext uri="{FF2B5EF4-FFF2-40B4-BE49-F238E27FC236}">
                  <a16:creationId xmlns:a16="http://schemas.microsoft.com/office/drawing/2014/main" id="{E59148C8-7CEA-8E45-A56B-F1EC07169875}"/>
                </a:ext>
              </a:extLst>
            </p:cNvPr>
            <p:cNvCxnSpPr>
              <a:cxnSpLocks/>
            </p:cNvCxnSpPr>
            <p:nvPr/>
          </p:nvCxnSpPr>
          <p:spPr>
            <a:xfrm>
              <a:off x="2493589" y="2631334"/>
              <a:ext cx="758445" cy="0"/>
            </a:xfrm>
            <a:prstGeom prst="line">
              <a:avLst/>
            </a:prstGeom>
            <a:ln w="25400" cap="rnd">
              <a:solidFill>
                <a:srgbClr val="0000FF"/>
              </a:solidFill>
              <a:headEnd type="oval"/>
              <a:tailEnd type="none"/>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1A592B0F-BC39-3844-82B8-E70CD68E7BA5}"/>
              </a:ext>
            </a:extLst>
          </p:cNvPr>
          <p:cNvGrpSpPr/>
          <p:nvPr/>
        </p:nvGrpSpPr>
        <p:grpSpPr>
          <a:xfrm>
            <a:off x="4573074" y="898015"/>
            <a:ext cx="1705938" cy="5809138"/>
            <a:chOff x="4573074" y="898015"/>
            <a:chExt cx="1705938" cy="5809138"/>
          </a:xfrm>
        </p:grpSpPr>
        <p:pic>
          <p:nvPicPr>
            <p:cNvPr id="9" name="Picture 8">
              <a:extLst>
                <a:ext uri="{FF2B5EF4-FFF2-40B4-BE49-F238E27FC236}">
                  <a16:creationId xmlns:a16="http://schemas.microsoft.com/office/drawing/2014/main" id="{07643CBC-EF50-C64F-82D4-3CD7E79F8AA9}"/>
                </a:ext>
              </a:extLst>
            </p:cNvPr>
            <p:cNvPicPr>
              <a:picLocks noChangeAspect="1"/>
            </p:cNvPicPr>
            <p:nvPr/>
          </p:nvPicPr>
          <p:blipFill>
            <a:blip r:embed="rId5"/>
            <a:stretch>
              <a:fillRect/>
            </a:stretch>
          </p:blipFill>
          <p:spPr>
            <a:xfrm>
              <a:off x="4573074" y="4907153"/>
              <a:ext cx="1705938" cy="1800000"/>
            </a:xfrm>
            <a:prstGeom prst="rect">
              <a:avLst/>
            </a:prstGeom>
          </p:spPr>
        </p:pic>
        <p:sp>
          <p:nvSpPr>
            <p:cNvPr id="18" name="TextBox 17">
              <a:extLst>
                <a:ext uri="{FF2B5EF4-FFF2-40B4-BE49-F238E27FC236}">
                  <a16:creationId xmlns:a16="http://schemas.microsoft.com/office/drawing/2014/main" id="{ED35C487-4894-6845-93AA-002D5C075AB0}"/>
                </a:ext>
              </a:extLst>
            </p:cNvPr>
            <p:cNvSpPr txBox="1"/>
            <p:nvPr/>
          </p:nvSpPr>
          <p:spPr>
            <a:xfrm>
              <a:off x="4756648" y="3883546"/>
              <a:ext cx="1473481" cy="923330"/>
            </a:xfrm>
            <a:prstGeom prst="rect">
              <a:avLst/>
            </a:prstGeom>
            <a:noFill/>
          </p:spPr>
          <p:txBody>
            <a:bodyPr wrap="none" rtlCol="0">
              <a:spAutoFit/>
            </a:bodyPr>
            <a:lstStyle/>
            <a:p>
              <a:pPr algn="ctr"/>
              <a:r>
                <a:rPr lang="en-US" dirty="0"/>
                <a:t>3 qubits :</a:t>
              </a:r>
            </a:p>
            <a:p>
              <a:pPr algn="ctr"/>
              <a:r>
                <a:rPr lang="en-US" dirty="0"/>
                <a:t>superposition</a:t>
              </a:r>
              <a:br>
                <a:rPr lang="en-US" dirty="0"/>
              </a:br>
              <a:r>
                <a:rPr lang="en-US" dirty="0"/>
                <a:t>of 8 </a:t>
              </a:r>
              <a:r>
                <a:rPr lang="en-ZA" dirty="0"/>
                <a:t>states</a:t>
              </a:r>
              <a:endParaRPr lang="en-US" dirty="0"/>
            </a:p>
          </p:txBody>
        </p:sp>
        <p:sp>
          <p:nvSpPr>
            <p:cNvPr id="24" name="TextBox 23">
              <a:extLst>
                <a:ext uri="{FF2B5EF4-FFF2-40B4-BE49-F238E27FC236}">
                  <a16:creationId xmlns:a16="http://schemas.microsoft.com/office/drawing/2014/main" id="{1867D26F-C825-6D43-9B63-48628E3A8EB2}"/>
                </a:ext>
              </a:extLst>
            </p:cNvPr>
            <p:cNvSpPr txBox="1"/>
            <p:nvPr/>
          </p:nvSpPr>
          <p:spPr>
            <a:xfrm>
              <a:off x="4698720" y="898015"/>
              <a:ext cx="1493934" cy="646331"/>
            </a:xfrm>
            <a:prstGeom prst="rect">
              <a:avLst/>
            </a:prstGeom>
            <a:noFill/>
          </p:spPr>
          <p:txBody>
            <a:bodyPr wrap="none" rtlCol="0">
              <a:spAutoFit/>
            </a:bodyPr>
            <a:lstStyle/>
            <a:p>
              <a:pPr algn="ctr"/>
              <a:r>
                <a:rPr lang="en-US" dirty="0"/>
                <a:t>3 bits :</a:t>
              </a:r>
            </a:p>
            <a:p>
              <a:pPr algn="ctr"/>
              <a:r>
                <a:rPr lang="en-US" dirty="0"/>
                <a:t>1 of f 8 </a:t>
              </a:r>
              <a:r>
                <a:rPr lang="en-ZA" dirty="0"/>
                <a:t>states</a:t>
              </a:r>
              <a:endParaRPr lang="en-US" dirty="0"/>
            </a:p>
          </p:txBody>
        </p:sp>
        <p:pic>
          <p:nvPicPr>
            <p:cNvPr id="58" name="Picture 57">
              <a:extLst>
                <a:ext uri="{FF2B5EF4-FFF2-40B4-BE49-F238E27FC236}">
                  <a16:creationId xmlns:a16="http://schemas.microsoft.com/office/drawing/2014/main" id="{A9D40794-2981-664A-A4EA-657D879F893B}"/>
                </a:ext>
              </a:extLst>
            </p:cNvPr>
            <p:cNvPicPr>
              <a:picLocks noChangeAspect="1"/>
            </p:cNvPicPr>
            <p:nvPr/>
          </p:nvPicPr>
          <p:blipFill>
            <a:blip r:embed="rId5">
              <a:alphaModFix amt="30000"/>
            </a:blip>
            <a:stretch>
              <a:fillRect/>
            </a:stretch>
          </p:blipFill>
          <p:spPr>
            <a:xfrm>
              <a:off x="4573074" y="1661358"/>
              <a:ext cx="1705938" cy="1800000"/>
            </a:xfrm>
            <a:prstGeom prst="rect">
              <a:avLst/>
            </a:prstGeom>
          </p:spPr>
        </p:pic>
        <p:cxnSp>
          <p:nvCxnSpPr>
            <p:cNvPr id="65" name="Straight Connector 64">
              <a:extLst>
                <a:ext uri="{FF2B5EF4-FFF2-40B4-BE49-F238E27FC236}">
                  <a16:creationId xmlns:a16="http://schemas.microsoft.com/office/drawing/2014/main" id="{79659319-A407-AF4A-BA07-E8E86A22AD26}"/>
                </a:ext>
              </a:extLst>
            </p:cNvPr>
            <p:cNvCxnSpPr>
              <a:cxnSpLocks/>
            </p:cNvCxnSpPr>
            <p:nvPr/>
          </p:nvCxnSpPr>
          <p:spPr>
            <a:xfrm flipH="1">
              <a:off x="5426043" y="2357117"/>
              <a:ext cx="757145" cy="247650"/>
            </a:xfrm>
            <a:prstGeom prst="line">
              <a:avLst/>
            </a:prstGeom>
            <a:ln w="25400" cap="rnd">
              <a:solidFill>
                <a:srgbClr val="0000FF"/>
              </a:solidFill>
              <a:headEnd type="oval"/>
              <a:tailEnd type="none"/>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18BDE183-497E-FD47-A003-BA7A83624013}"/>
              </a:ext>
            </a:extLst>
          </p:cNvPr>
          <p:cNvGrpSpPr/>
          <p:nvPr/>
        </p:nvGrpSpPr>
        <p:grpSpPr>
          <a:xfrm>
            <a:off x="6739467" y="933066"/>
            <a:ext cx="1795279" cy="5774087"/>
            <a:chOff x="6739467" y="933066"/>
            <a:chExt cx="1795279" cy="5774087"/>
          </a:xfrm>
        </p:grpSpPr>
        <p:pic>
          <p:nvPicPr>
            <p:cNvPr id="7" name="Picture 6">
              <a:extLst>
                <a:ext uri="{FF2B5EF4-FFF2-40B4-BE49-F238E27FC236}">
                  <a16:creationId xmlns:a16="http://schemas.microsoft.com/office/drawing/2014/main" id="{CE82BBCC-C158-A046-9E04-55BAD127CDAA}"/>
                </a:ext>
              </a:extLst>
            </p:cNvPr>
            <p:cNvPicPr>
              <a:picLocks noChangeAspect="1"/>
            </p:cNvPicPr>
            <p:nvPr/>
          </p:nvPicPr>
          <p:blipFill>
            <a:blip r:embed="rId6"/>
            <a:stretch>
              <a:fillRect/>
            </a:stretch>
          </p:blipFill>
          <p:spPr>
            <a:xfrm>
              <a:off x="6739467" y="4907153"/>
              <a:ext cx="1778469" cy="1800000"/>
            </a:xfrm>
            <a:prstGeom prst="rect">
              <a:avLst/>
            </a:prstGeom>
          </p:spPr>
        </p:pic>
        <p:sp>
          <p:nvSpPr>
            <p:cNvPr id="19" name="TextBox 18">
              <a:extLst>
                <a:ext uri="{FF2B5EF4-FFF2-40B4-BE49-F238E27FC236}">
                  <a16:creationId xmlns:a16="http://schemas.microsoft.com/office/drawing/2014/main" id="{D36FC028-B8F5-C54F-9D45-97EE6B7CCCA7}"/>
                </a:ext>
              </a:extLst>
            </p:cNvPr>
            <p:cNvSpPr txBox="1"/>
            <p:nvPr/>
          </p:nvSpPr>
          <p:spPr>
            <a:xfrm>
              <a:off x="6864719" y="3883545"/>
              <a:ext cx="1473481" cy="923330"/>
            </a:xfrm>
            <a:prstGeom prst="rect">
              <a:avLst/>
            </a:prstGeom>
            <a:noFill/>
          </p:spPr>
          <p:txBody>
            <a:bodyPr wrap="none" rtlCol="0">
              <a:spAutoFit/>
            </a:bodyPr>
            <a:lstStyle/>
            <a:p>
              <a:pPr algn="ctr"/>
              <a:r>
                <a:rPr lang="en-US" dirty="0"/>
                <a:t>4 qubits :</a:t>
              </a:r>
            </a:p>
            <a:p>
              <a:pPr algn="ctr"/>
              <a:r>
                <a:rPr lang="en-US" dirty="0"/>
                <a:t>superposition</a:t>
              </a:r>
              <a:br>
                <a:rPr lang="en-US" dirty="0"/>
              </a:br>
              <a:r>
                <a:rPr lang="en-US" dirty="0"/>
                <a:t>of 16 </a:t>
              </a:r>
              <a:r>
                <a:rPr lang="en-ZA" dirty="0"/>
                <a:t>states</a:t>
              </a:r>
              <a:endParaRPr lang="en-US" dirty="0"/>
            </a:p>
          </p:txBody>
        </p:sp>
        <p:sp>
          <p:nvSpPr>
            <p:cNvPr id="25" name="TextBox 24">
              <a:extLst>
                <a:ext uri="{FF2B5EF4-FFF2-40B4-BE49-F238E27FC236}">
                  <a16:creationId xmlns:a16="http://schemas.microsoft.com/office/drawing/2014/main" id="{E02DA0C1-8041-4740-84DB-78509BB81B64}"/>
                </a:ext>
              </a:extLst>
            </p:cNvPr>
            <p:cNvSpPr txBox="1"/>
            <p:nvPr/>
          </p:nvSpPr>
          <p:spPr>
            <a:xfrm>
              <a:off x="6857695" y="933066"/>
              <a:ext cx="1487522" cy="646331"/>
            </a:xfrm>
            <a:prstGeom prst="rect">
              <a:avLst/>
            </a:prstGeom>
            <a:noFill/>
          </p:spPr>
          <p:txBody>
            <a:bodyPr wrap="none" rtlCol="0">
              <a:spAutoFit/>
            </a:bodyPr>
            <a:lstStyle/>
            <a:p>
              <a:pPr algn="ctr"/>
              <a:r>
                <a:rPr lang="en-US" dirty="0"/>
                <a:t>4 bits :</a:t>
              </a:r>
            </a:p>
            <a:p>
              <a:pPr algn="ctr"/>
              <a:r>
                <a:rPr lang="en-US" dirty="0"/>
                <a:t>1 of 16 </a:t>
              </a:r>
              <a:r>
                <a:rPr lang="en-ZA" dirty="0"/>
                <a:t>states</a:t>
              </a:r>
              <a:endParaRPr lang="en-US" dirty="0"/>
            </a:p>
          </p:txBody>
        </p:sp>
        <p:pic>
          <p:nvPicPr>
            <p:cNvPr id="59" name="Picture 58">
              <a:extLst>
                <a:ext uri="{FF2B5EF4-FFF2-40B4-BE49-F238E27FC236}">
                  <a16:creationId xmlns:a16="http://schemas.microsoft.com/office/drawing/2014/main" id="{423A5B71-E485-534E-871D-042D581CBCFD}"/>
                </a:ext>
              </a:extLst>
            </p:cNvPr>
            <p:cNvPicPr>
              <a:picLocks noChangeAspect="1"/>
            </p:cNvPicPr>
            <p:nvPr/>
          </p:nvPicPr>
          <p:blipFill>
            <a:blip r:embed="rId6">
              <a:alphaModFix amt="30000"/>
            </a:blip>
            <a:stretch>
              <a:fillRect/>
            </a:stretch>
          </p:blipFill>
          <p:spPr>
            <a:xfrm>
              <a:off x="6756277" y="1582640"/>
              <a:ext cx="1778469" cy="1800000"/>
            </a:xfrm>
            <a:prstGeom prst="rect">
              <a:avLst/>
            </a:prstGeom>
          </p:spPr>
        </p:pic>
        <p:cxnSp>
          <p:nvCxnSpPr>
            <p:cNvPr id="68" name="Straight Connector 67">
              <a:extLst>
                <a:ext uri="{FF2B5EF4-FFF2-40B4-BE49-F238E27FC236}">
                  <a16:creationId xmlns:a16="http://schemas.microsoft.com/office/drawing/2014/main" id="{42143F98-C024-AD44-851C-084EB6748F39}"/>
                </a:ext>
              </a:extLst>
            </p:cNvPr>
            <p:cNvCxnSpPr>
              <a:cxnSpLocks/>
            </p:cNvCxnSpPr>
            <p:nvPr/>
          </p:nvCxnSpPr>
          <p:spPr>
            <a:xfrm flipH="1" flipV="1">
              <a:off x="7610983" y="2540607"/>
              <a:ext cx="710693" cy="395707"/>
            </a:xfrm>
            <a:prstGeom prst="line">
              <a:avLst/>
            </a:prstGeom>
            <a:ln w="25400" cap="rnd">
              <a:solidFill>
                <a:srgbClr val="0000FF"/>
              </a:solidFill>
              <a:headEnd type="oval"/>
              <a:tailEnd type="none"/>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46086DEF-09A5-C340-A598-501D97630DEE}"/>
              </a:ext>
            </a:extLst>
          </p:cNvPr>
          <p:cNvGrpSpPr/>
          <p:nvPr/>
        </p:nvGrpSpPr>
        <p:grpSpPr>
          <a:xfrm>
            <a:off x="8918125" y="855916"/>
            <a:ext cx="2838517" cy="5735574"/>
            <a:chOff x="8918125" y="855916"/>
            <a:chExt cx="2838517" cy="5735574"/>
          </a:xfrm>
        </p:grpSpPr>
        <p:pic>
          <p:nvPicPr>
            <p:cNvPr id="10" name="Picture 9">
              <a:extLst>
                <a:ext uri="{FF2B5EF4-FFF2-40B4-BE49-F238E27FC236}">
                  <a16:creationId xmlns:a16="http://schemas.microsoft.com/office/drawing/2014/main" id="{15DA476F-10C9-3E42-AA9B-245A685B32AA}"/>
                </a:ext>
              </a:extLst>
            </p:cNvPr>
            <p:cNvPicPr>
              <a:picLocks noChangeAspect="1"/>
            </p:cNvPicPr>
            <p:nvPr/>
          </p:nvPicPr>
          <p:blipFill>
            <a:blip r:embed="rId7"/>
            <a:stretch>
              <a:fillRect/>
            </a:stretch>
          </p:blipFill>
          <p:spPr>
            <a:xfrm>
              <a:off x="9943715" y="4791490"/>
              <a:ext cx="1812927" cy="1800000"/>
            </a:xfrm>
            <a:prstGeom prst="rect">
              <a:avLst/>
            </a:prstGeom>
          </p:spPr>
        </p:pic>
        <p:sp>
          <p:nvSpPr>
            <p:cNvPr id="21" name="TextBox 20">
              <a:extLst>
                <a:ext uri="{FF2B5EF4-FFF2-40B4-BE49-F238E27FC236}">
                  <a16:creationId xmlns:a16="http://schemas.microsoft.com/office/drawing/2014/main" id="{C18129C0-861A-3D47-86DD-7D06A1E73518}"/>
                </a:ext>
              </a:extLst>
            </p:cNvPr>
            <p:cNvSpPr txBox="1"/>
            <p:nvPr/>
          </p:nvSpPr>
          <p:spPr>
            <a:xfrm>
              <a:off x="8918125" y="4791490"/>
              <a:ext cx="954107" cy="1015663"/>
            </a:xfrm>
            <a:prstGeom prst="rect">
              <a:avLst/>
            </a:prstGeom>
            <a:noFill/>
          </p:spPr>
          <p:txBody>
            <a:bodyPr wrap="none" rtlCol="0">
              <a:spAutoFit/>
            </a:bodyPr>
            <a:lstStyle/>
            <a:p>
              <a:r>
                <a:rPr lang="en-US" sz="6000" dirty="0">
                  <a:latin typeface="Times New Roman" panose="02020603050405020304" pitchFamily="18" charset="0"/>
                  <a:cs typeface="Times New Roman" panose="02020603050405020304" pitchFamily="18" charset="0"/>
                </a:rPr>
                <a:t>…</a:t>
              </a:r>
            </a:p>
          </p:txBody>
        </p:sp>
        <p:sp>
          <p:nvSpPr>
            <p:cNvPr id="26" name="TextBox 25">
              <a:extLst>
                <a:ext uri="{FF2B5EF4-FFF2-40B4-BE49-F238E27FC236}">
                  <a16:creationId xmlns:a16="http://schemas.microsoft.com/office/drawing/2014/main" id="{C3B63481-2726-4042-830E-634018598391}"/>
                </a:ext>
              </a:extLst>
            </p:cNvPr>
            <p:cNvSpPr txBox="1"/>
            <p:nvPr/>
          </p:nvSpPr>
          <p:spPr>
            <a:xfrm>
              <a:off x="10109635" y="855916"/>
              <a:ext cx="1593321" cy="646331"/>
            </a:xfrm>
            <a:prstGeom prst="rect">
              <a:avLst/>
            </a:prstGeom>
            <a:noFill/>
          </p:spPr>
          <p:txBody>
            <a:bodyPr wrap="none" rtlCol="0">
              <a:spAutoFit/>
            </a:bodyPr>
            <a:lstStyle/>
            <a:p>
              <a:pPr algn="ctr"/>
              <a:r>
                <a:rPr lang="en-US" dirty="0"/>
                <a:t>167 bits</a:t>
              </a:r>
              <a:br>
                <a:rPr lang="en-US" dirty="0"/>
              </a:br>
              <a:r>
                <a:rPr lang="en-US" dirty="0"/>
                <a:t>1 of 10 </a:t>
              </a:r>
              <a:r>
                <a:rPr lang="en-US" baseline="30000" dirty="0"/>
                <a:t>50</a:t>
              </a:r>
              <a:r>
                <a:rPr lang="en-US" dirty="0"/>
                <a:t>states</a:t>
              </a:r>
            </a:p>
          </p:txBody>
        </p:sp>
        <p:sp>
          <p:nvSpPr>
            <p:cNvPr id="79" name="TextBox 78">
              <a:extLst>
                <a:ext uri="{FF2B5EF4-FFF2-40B4-BE49-F238E27FC236}">
                  <a16:creationId xmlns:a16="http://schemas.microsoft.com/office/drawing/2014/main" id="{BB423BFB-4D97-6F4C-8FDD-7F771F89DA44}"/>
                </a:ext>
              </a:extLst>
            </p:cNvPr>
            <p:cNvSpPr txBox="1"/>
            <p:nvPr/>
          </p:nvSpPr>
          <p:spPr>
            <a:xfrm>
              <a:off x="8918126" y="2052424"/>
              <a:ext cx="954107" cy="1015663"/>
            </a:xfrm>
            <a:prstGeom prst="rect">
              <a:avLst/>
            </a:prstGeom>
            <a:noFill/>
          </p:spPr>
          <p:txBody>
            <a:bodyPr wrap="none" rtlCol="0">
              <a:spAutoFit/>
            </a:bodyPr>
            <a:lstStyle/>
            <a:p>
              <a:r>
                <a:rPr lang="en-US" sz="6000" dirty="0">
                  <a:latin typeface="Times New Roman" panose="02020603050405020304" pitchFamily="18" charset="0"/>
                  <a:cs typeface="Times New Roman" panose="02020603050405020304" pitchFamily="18" charset="0"/>
                </a:rPr>
                <a:t>…</a:t>
              </a:r>
            </a:p>
          </p:txBody>
        </p:sp>
        <p:sp>
          <p:nvSpPr>
            <p:cNvPr id="20" name="TextBox 19">
              <a:extLst>
                <a:ext uri="{FF2B5EF4-FFF2-40B4-BE49-F238E27FC236}">
                  <a16:creationId xmlns:a16="http://schemas.microsoft.com/office/drawing/2014/main" id="{0FBA2F6C-67AA-EE4A-AC06-2A26EA55BFA3}"/>
                </a:ext>
              </a:extLst>
            </p:cNvPr>
            <p:cNvSpPr txBox="1"/>
            <p:nvPr/>
          </p:nvSpPr>
          <p:spPr>
            <a:xfrm>
              <a:off x="10074058" y="3868160"/>
              <a:ext cx="1473480" cy="923330"/>
            </a:xfrm>
            <a:prstGeom prst="rect">
              <a:avLst/>
            </a:prstGeom>
            <a:noFill/>
          </p:spPr>
          <p:txBody>
            <a:bodyPr wrap="none" rtlCol="0">
              <a:spAutoFit/>
            </a:bodyPr>
            <a:lstStyle/>
            <a:p>
              <a:pPr algn="ctr"/>
              <a:r>
                <a:rPr lang="en-US" dirty="0"/>
                <a:t>167 qubits:</a:t>
              </a:r>
            </a:p>
            <a:p>
              <a:pPr algn="ctr"/>
              <a:r>
                <a:rPr lang="en-US" dirty="0"/>
                <a:t>superposition</a:t>
              </a:r>
              <a:br>
                <a:rPr lang="en-US" dirty="0"/>
              </a:br>
              <a:r>
                <a:rPr lang="en-US" dirty="0"/>
                <a:t>of 10</a:t>
              </a:r>
              <a:r>
                <a:rPr lang="en-US" baseline="30000" dirty="0"/>
                <a:t>50</a:t>
              </a:r>
              <a:r>
                <a:rPr lang="en-US" dirty="0"/>
                <a:t> </a:t>
              </a:r>
              <a:r>
                <a:rPr lang="en-ZA" dirty="0"/>
                <a:t>states</a:t>
              </a:r>
            </a:p>
          </p:txBody>
        </p:sp>
        <p:pic>
          <p:nvPicPr>
            <p:cNvPr id="5" name="Picture 4">
              <a:extLst>
                <a:ext uri="{FF2B5EF4-FFF2-40B4-BE49-F238E27FC236}">
                  <a16:creationId xmlns:a16="http://schemas.microsoft.com/office/drawing/2014/main" id="{E2BF1C8E-D37B-B943-B86C-4DECCB82359F}"/>
                </a:ext>
              </a:extLst>
            </p:cNvPr>
            <p:cNvPicPr>
              <a:picLocks noChangeAspect="1"/>
            </p:cNvPicPr>
            <p:nvPr/>
          </p:nvPicPr>
          <p:blipFill>
            <a:blip r:embed="rId8"/>
            <a:stretch>
              <a:fillRect/>
            </a:stretch>
          </p:blipFill>
          <p:spPr>
            <a:xfrm>
              <a:off x="9910798" y="1578498"/>
              <a:ext cx="1819601" cy="1800000"/>
            </a:xfrm>
            <a:prstGeom prst="rect">
              <a:avLst/>
            </a:prstGeom>
          </p:spPr>
        </p:pic>
        <p:sp>
          <p:nvSpPr>
            <p:cNvPr id="4" name="Oval 3">
              <a:extLst>
                <a:ext uri="{FF2B5EF4-FFF2-40B4-BE49-F238E27FC236}">
                  <a16:creationId xmlns:a16="http://schemas.microsoft.com/office/drawing/2014/main" id="{86F0C5CB-11AD-9C4C-9801-4E80AB979041}"/>
                </a:ext>
              </a:extLst>
            </p:cNvPr>
            <p:cNvSpPr>
              <a:spLocks noChangeAspect="1"/>
            </p:cNvSpPr>
            <p:nvPr/>
          </p:nvSpPr>
          <p:spPr>
            <a:xfrm>
              <a:off x="10473973" y="2648460"/>
              <a:ext cx="90000" cy="9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a:extLst>
                <a:ext uri="{FF2B5EF4-FFF2-40B4-BE49-F238E27FC236}">
                  <a16:creationId xmlns:a16="http://schemas.microsoft.com/office/drawing/2014/main" id="{368404CA-1027-2944-B46B-F9AA8FCCFE0B}"/>
                </a:ext>
              </a:extLst>
            </p:cNvPr>
            <p:cNvPicPr>
              <a:picLocks/>
            </p:cNvPicPr>
            <p:nvPr/>
          </p:nvPicPr>
          <p:blipFill>
            <a:blip r:embed="rId9">
              <a:alphaModFix amt="34000"/>
            </a:blip>
            <a:stretch>
              <a:fillRect/>
            </a:stretch>
          </p:blipFill>
          <p:spPr>
            <a:xfrm>
              <a:off x="9943715" y="4790846"/>
              <a:ext cx="1800000" cy="1800000"/>
            </a:xfrm>
            <a:prstGeom prst="rect">
              <a:avLst/>
            </a:prstGeom>
          </p:spPr>
        </p:pic>
      </p:grpSp>
    </p:spTree>
    <p:extLst>
      <p:ext uri="{BB962C8B-B14F-4D97-AF65-F5344CB8AC3E}">
        <p14:creationId xmlns:p14="http://schemas.microsoft.com/office/powerpoint/2010/main" val="3172663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dissolv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dissolve">
                                      <p:cBhvr>
                                        <p:cTn id="2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D0739-EDD1-1549-8DFA-CB4F40D297A1}"/>
              </a:ext>
            </a:extLst>
          </p:cNvPr>
          <p:cNvSpPr>
            <a:spLocks noGrp="1"/>
          </p:cNvSpPr>
          <p:nvPr>
            <p:ph type="title"/>
          </p:nvPr>
        </p:nvSpPr>
        <p:spPr>
          <a:xfrm>
            <a:off x="0" y="0"/>
            <a:ext cx="12192000" cy="928688"/>
          </a:xfrm>
        </p:spPr>
        <p:txBody>
          <a:bodyPr/>
          <a:lstStyle/>
          <a:p>
            <a:r>
              <a:rPr lang="en-US" dirty="0"/>
              <a:t>A qubit on a sphere</a:t>
            </a:r>
          </a:p>
        </p:txBody>
      </p:sp>
      <p:sp>
        <p:nvSpPr>
          <p:cNvPr id="19" name="Slide Number Placeholder 18">
            <a:extLst>
              <a:ext uri="{FF2B5EF4-FFF2-40B4-BE49-F238E27FC236}">
                <a16:creationId xmlns:a16="http://schemas.microsoft.com/office/drawing/2014/main" id="{92874A6E-1BBE-DD4F-8C8A-DC83FB6B8BE2}"/>
              </a:ext>
            </a:extLst>
          </p:cNvPr>
          <p:cNvSpPr>
            <a:spLocks noGrp="1"/>
          </p:cNvSpPr>
          <p:nvPr>
            <p:ph type="sldNum" sz="quarter" idx="12"/>
          </p:nvPr>
        </p:nvSpPr>
        <p:spPr/>
        <p:txBody>
          <a:bodyPr/>
          <a:lstStyle/>
          <a:p>
            <a:fld id="{D0A7A90D-170E-2F4F-8861-97D6C3C25EEF}" type="slidenum">
              <a:rPr lang="en-US" smtClean="0"/>
              <a:t>34</a:t>
            </a:fld>
            <a:endParaRPr lang="en-US"/>
          </a:p>
        </p:txBody>
      </p:sp>
      <p:pic>
        <p:nvPicPr>
          <p:cNvPr id="30" name="Picture 29">
            <a:extLst>
              <a:ext uri="{FF2B5EF4-FFF2-40B4-BE49-F238E27FC236}">
                <a16:creationId xmlns:a16="http://schemas.microsoft.com/office/drawing/2014/main" id="{4D09D172-1C9A-0948-A22A-25D0038C10D8}"/>
              </a:ext>
            </a:extLst>
          </p:cNvPr>
          <p:cNvPicPr>
            <a:picLocks/>
          </p:cNvPicPr>
          <p:nvPr/>
        </p:nvPicPr>
        <p:blipFill>
          <a:blip r:embed="rId3">
            <a:alphaModFix amt="34000"/>
          </a:blip>
          <a:stretch>
            <a:fillRect/>
          </a:stretch>
        </p:blipFill>
        <p:spPr>
          <a:xfrm>
            <a:off x="3822758" y="2039405"/>
            <a:ext cx="3924000" cy="3924000"/>
          </a:xfrm>
          <a:prstGeom prst="rect">
            <a:avLst/>
          </a:prstGeom>
        </p:spPr>
      </p:pic>
      <p:sp>
        <p:nvSpPr>
          <p:cNvPr id="31" name="Oval 30">
            <a:extLst>
              <a:ext uri="{FF2B5EF4-FFF2-40B4-BE49-F238E27FC236}">
                <a16:creationId xmlns:a16="http://schemas.microsoft.com/office/drawing/2014/main" id="{44704A98-15D1-A34B-B2B9-0A6476DB794D}"/>
              </a:ext>
            </a:extLst>
          </p:cNvPr>
          <p:cNvSpPr>
            <a:spLocks noChangeAspect="1"/>
          </p:cNvSpPr>
          <p:nvPr/>
        </p:nvSpPr>
        <p:spPr>
          <a:xfrm>
            <a:off x="3866935" y="2060825"/>
            <a:ext cx="3857067" cy="385706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26B4702C-B5CF-524C-838D-76EC31EEA993}"/>
              </a:ext>
            </a:extLst>
          </p:cNvPr>
          <p:cNvCxnSpPr>
            <a:cxnSpLocks/>
          </p:cNvCxnSpPr>
          <p:nvPr/>
        </p:nvCxnSpPr>
        <p:spPr>
          <a:xfrm flipH="1">
            <a:off x="4076392" y="3940031"/>
            <a:ext cx="1725104" cy="1828799"/>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5DB632D-FB5D-E740-AB06-5F0493490DA8}"/>
              </a:ext>
            </a:extLst>
          </p:cNvPr>
          <p:cNvCxnSpPr>
            <a:cxnSpLocks/>
          </p:cNvCxnSpPr>
          <p:nvPr/>
        </p:nvCxnSpPr>
        <p:spPr>
          <a:xfrm>
            <a:off x="5810922" y="3949457"/>
            <a:ext cx="2143955" cy="688157"/>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E9DFF0D-B2F4-2E44-B115-CE9066E24432}"/>
              </a:ext>
            </a:extLst>
          </p:cNvPr>
          <p:cNvCxnSpPr>
            <a:cxnSpLocks/>
          </p:cNvCxnSpPr>
          <p:nvPr/>
        </p:nvCxnSpPr>
        <p:spPr>
          <a:xfrm flipV="1">
            <a:off x="5801496" y="1735478"/>
            <a:ext cx="0" cy="2204553"/>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11A61DE-58FC-5C40-9BFE-492DC31237C7}"/>
              </a:ext>
            </a:extLst>
          </p:cNvPr>
          <p:cNvSpPr/>
          <p:nvPr/>
        </p:nvSpPr>
        <p:spPr>
          <a:xfrm>
            <a:off x="4632572" y="2084571"/>
            <a:ext cx="2356701" cy="1167396"/>
          </a:xfrm>
          <a:prstGeom prst="ellipse">
            <a:avLst/>
          </a:prstGeom>
          <a:noFill/>
          <a:ln w="12700">
            <a:solidFill>
              <a:srgbClr val="7030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Connector 36">
            <a:extLst>
              <a:ext uri="{FF2B5EF4-FFF2-40B4-BE49-F238E27FC236}">
                <a16:creationId xmlns:a16="http://schemas.microsoft.com/office/drawing/2014/main" id="{D5D98D65-2E01-7447-8CF4-08C68C176032}"/>
              </a:ext>
            </a:extLst>
          </p:cNvPr>
          <p:cNvCxnSpPr>
            <a:cxnSpLocks/>
          </p:cNvCxnSpPr>
          <p:nvPr/>
        </p:nvCxnSpPr>
        <p:spPr>
          <a:xfrm flipV="1">
            <a:off x="5810922" y="2870609"/>
            <a:ext cx="1021841" cy="1069422"/>
          </a:xfrm>
          <a:prstGeom prst="line">
            <a:avLst/>
          </a:prstGeom>
          <a:ln w="889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2" name="Arc 41">
            <a:extLst>
              <a:ext uri="{FF2B5EF4-FFF2-40B4-BE49-F238E27FC236}">
                <a16:creationId xmlns:a16="http://schemas.microsoft.com/office/drawing/2014/main" id="{15A86F19-C288-7543-9C79-707D2736C90E}"/>
              </a:ext>
            </a:extLst>
          </p:cNvPr>
          <p:cNvSpPr/>
          <p:nvPr/>
        </p:nvSpPr>
        <p:spPr>
          <a:xfrm rot="12278854">
            <a:off x="4949052" y="1952703"/>
            <a:ext cx="1832329" cy="3973975"/>
          </a:xfrm>
          <a:prstGeom prst="arc">
            <a:avLst>
              <a:gd name="adj1" fmla="val 16079390"/>
              <a:gd name="adj2" fmla="val 4769972"/>
            </a:avLst>
          </a:prstGeom>
          <a:ln w="12700">
            <a:solidFill>
              <a:srgbClr val="7030A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5" name="Oval 54">
            <a:extLst>
              <a:ext uri="{FF2B5EF4-FFF2-40B4-BE49-F238E27FC236}">
                <a16:creationId xmlns:a16="http://schemas.microsoft.com/office/drawing/2014/main" id="{23591E5E-22EC-4B4F-9227-42766B223B72}"/>
              </a:ext>
            </a:extLst>
          </p:cNvPr>
          <p:cNvSpPr/>
          <p:nvPr/>
        </p:nvSpPr>
        <p:spPr>
          <a:xfrm>
            <a:off x="5650169" y="2323527"/>
            <a:ext cx="320302" cy="195146"/>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6F79462B-3712-6E4C-ACFD-370AB2B9C284}"/>
              </a:ext>
            </a:extLst>
          </p:cNvPr>
          <p:cNvGrpSpPr/>
          <p:nvPr/>
        </p:nvGrpSpPr>
        <p:grpSpPr>
          <a:xfrm>
            <a:off x="4203879" y="2110160"/>
            <a:ext cx="1606444" cy="1836214"/>
            <a:chOff x="2145788" y="2890718"/>
            <a:chExt cx="725804" cy="1836214"/>
          </a:xfrm>
        </p:grpSpPr>
        <p:cxnSp>
          <p:nvCxnSpPr>
            <p:cNvPr id="54" name="Straight Arrow Connector 53">
              <a:extLst>
                <a:ext uri="{FF2B5EF4-FFF2-40B4-BE49-F238E27FC236}">
                  <a16:creationId xmlns:a16="http://schemas.microsoft.com/office/drawing/2014/main" id="{69B28C88-DA34-B74E-B316-11FDDAEF49AF}"/>
                </a:ext>
              </a:extLst>
            </p:cNvPr>
            <p:cNvCxnSpPr>
              <a:cxnSpLocks/>
            </p:cNvCxnSpPr>
            <p:nvPr/>
          </p:nvCxnSpPr>
          <p:spPr>
            <a:xfrm flipV="1">
              <a:off x="2871592" y="3180139"/>
              <a:ext cx="0" cy="1546793"/>
            </a:xfrm>
            <a:prstGeom prst="straightConnector1">
              <a:avLst/>
            </a:prstGeom>
            <a:ln w="38100">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Rectangle 58">
                  <a:extLst>
                    <a:ext uri="{FF2B5EF4-FFF2-40B4-BE49-F238E27FC236}">
                      <a16:creationId xmlns:a16="http://schemas.microsoft.com/office/drawing/2014/main" id="{BBF2B15F-928D-834F-ABF6-87D5822952F0}"/>
                    </a:ext>
                  </a:extLst>
                </p:cNvPr>
                <p:cNvSpPr/>
                <p:nvPr/>
              </p:nvSpPr>
              <p:spPr>
                <a:xfrm>
                  <a:off x="2145788" y="2890718"/>
                  <a:ext cx="679230" cy="7081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r>
                          <a:rPr lang="en-US" sz="2400" b="0" i="0" smtClean="0">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ea typeface="Cambria Math" panose="02040503050406030204" pitchFamily="18" charset="0"/>
                                  </a:rPr>
                                </m:ctrlPr>
                              </m:mPr>
                              <m:mr>
                                <m:e>
                                  <m:r>
                                    <a:rPr lang="en-US" sz="2400" i="1">
                                      <a:latin typeface="Cambria Math" panose="02040503050406030204" pitchFamily="18" charset="0"/>
                                    </a:rPr>
                                    <m:t>1</m:t>
                                  </m:r>
                                </m:e>
                              </m:mr>
                              <m:mr>
                                <m:e>
                                  <m:r>
                                    <a:rPr lang="en-US" sz="2400" i="1">
                                      <a:latin typeface="Cambria Math" panose="02040503050406030204" pitchFamily="18" charset="0"/>
                                      <a:ea typeface="Cambria Math" panose="02040503050406030204" pitchFamily="18" charset="0"/>
                                    </a:rPr>
                                    <m:t>0</m:t>
                                  </m:r>
                                </m:e>
                              </m:mr>
                            </m:m>
                          </m:e>
                        </m:d>
                      </m:oMath>
                    </m:oMathPara>
                  </a14:m>
                  <a:endParaRPr lang="en-US" sz="2400" dirty="0"/>
                </a:p>
              </p:txBody>
            </p:sp>
          </mc:Choice>
          <mc:Fallback xmlns="">
            <p:sp>
              <p:nvSpPr>
                <p:cNvPr id="59" name="Rectangle 58">
                  <a:extLst>
                    <a:ext uri="{FF2B5EF4-FFF2-40B4-BE49-F238E27FC236}">
                      <a16:creationId xmlns:a16="http://schemas.microsoft.com/office/drawing/2014/main" id="{BBF2B15F-928D-834F-ABF6-87D5822952F0}"/>
                    </a:ext>
                  </a:extLst>
                </p:cNvPr>
                <p:cNvSpPr>
                  <a:spLocks noRot="1" noChangeAspect="1" noMove="1" noResize="1" noEditPoints="1" noAdjustHandles="1" noChangeArrowheads="1" noChangeShapeType="1" noTextEdit="1"/>
                </p:cNvSpPr>
                <p:nvPr/>
              </p:nvSpPr>
              <p:spPr>
                <a:xfrm>
                  <a:off x="2145788" y="2890718"/>
                  <a:ext cx="679230" cy="708143"/>
                </a:xfrm>
                <a:prstGeom prst="rect">
                  <a:avLst/>
                </a:prstGeom>
                <a:blipFill>
                  <a:blip r:embed="rId4"/>
                  <a:stretch>
                    <a:fillRect b="-7018"/>
                  </a:stretch>
                </a:blipFill>
              </p:spPr>
              <p:txBody>
                <a:bodyPr/>
                <a:lstStyle/>
                <a:p>
                  <a:r>
                    <a:rPr lang="en-US">
                      <a:noFill/>
                    </a:rPr>
                    <a:t> </a:t>
                  </a:r>
                </a:p>
              </p:txBody>
            </p:sp>
          </mc:Fallback>
        </mc:AlternateContent>
      </p:grpSp>
      <p:grpSp>
        <p:nvGrpSpPr>
          <p:cNvPr id="14" name="Group 13">
            <a:extLst>
              <a:ext uri="{FF2B5EF4-FFF2-40B4-BE49-F238E27FC236}">
                <a16:creationId xmlns:a16="http://schemas.microsoft.com/office/drawing/2014/main" id="{2C582641-56E4-4F4A-BCA3-A83D7A18F659}"/>
              </a:ext>
            </a:extLst>
          </p:cNvPr>
          <p:cNvGrpSpPr/>
          <p:nvPr/>
        </p:nvGrpSpPr>
        <p:grpSpPr>
          <a:xfrm>
            <a:off x="5650536" y="3939690"/>
            <a:ext cx="1630558" cy="1632526"/>
            <a:chOff x="4145586" y="4107565"/>
            <a:chExt cx="1630558" cy="1632526"/>
          </a:xfrm>
        </p:grpSpPr>
        <p:sp>
          <p:nvSpPr>
            <p:cNvPr id="56" name="Oval 55">
              <a:extLst>
                <a:ext uri="{FF2B5EF4-FFF2-40B4-BE49-F238E27FC236}">
                  <a16:creationId xmlns:a16="http://schemas.microsoft.com/office/drawing/2014/main" id="{271936F8-060A-F743-A4DC-4339C91D9AC2}"/>
                </a:ext>
              </a:extLst>
            </p:cNvPr>
            <p:cNvSpPr/>
            <p:nvPr/>
          </p:nvSpPr>
          <p:spPr>
            <a:xfrm>
              <a:off x="4145586" y="5544945"/>
              <a:ext cx="320302" cy="195146"/>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EB36C152-24E5-D146-8D0D-1E5A988FE645}"/>
                </a:ext>
              </a:extLst>
            </p:cNvPr>
            <p:cNvGrpSpPr/>
            <p:nvPr/>
          </p:nvGrpSpPr>
          <p:grpSpPr>
            <a:xfrm>
              <a:off x="4272784" y="4107565"/>
              <a:ext cx="1503360" cy="1546793"/>
              <a:chOff x="2838404" y="4717165"/>
              <a:chExt cx="1503360" cy="1546793"/>
            </a:xfrm>
          </p:grpSpPr>
          <p:cxnSp>
            <p:nvCxnSpPr>
              <p:cNvPr id="57" name="Straight Arrow Connector 56">
                <a:extLst>
                  <a:ext uri="{FF2B5EF4-FFF2-40B4-BE49-F238E27FC236}">
                    <a16:creationId xmlns:a16="http://schemas.microsoft.com/office/drawing/2014/main" id="{6F226F2F-5BF5-BC40-8477-D6CE4C5BA975}"/>
                  </a:ext>
                </a:extLst>
              </p:cNvPr>
              <p:cNvCxnSpPr>
                <a:cxnSpLocks/>
              </p:cNvCxnSpPr>
              <p:nvPr/>
            </p:nvCxnSpPr>
            <p:spPr>
              <a:xfrm>
                <a:off x="2871357" y="4717165"/>
                <a:ext cx="0" cy="1546793"/>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8942103A-F370-744F-B64A-51AA67CBBC85}"/>
                      </a:ext>
                    </a:extLst>
                  </p:cNvPr>
                  <p:cNvSpPr/>
                  <p:nvPr/>
                </p:nvSpPr>
                <p:spPr>
                  <a:xfrm>
                    <a:off x="2838404" y="5540874"/>
                    <a:ext cx="1503360" cy="7057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1</m:t>
                              </m:r>
                            </m:e>
                          </m:d>
                          <m:r>
                            <a:rPr lang="en-US" sz="2400">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ea typeface="Cambria Math" panose="02040503050406030204" pitchFamily="18" charset="0"/>
                                    </a:rPr>
                                  </m:ctrlPr>
                                </m:mPr>
                                <m:mr>
                                  <m:e>
                                    <m:r>
                                      <a:rPr lang="en-US" sz="2400" b="0" i="1" smtClean="0">
                                        <a:latin typeface="Cambria Math" panose="02040503050406030204" pitchFamily="18" charset="0"/>
                                        <a:ea typeface="Cambria Math" panose="02040503050406030204" pitchFamily="18" charset="0"/>
                                      </a:rPr>
                                      <m:t>0</m:t>
                                    </m:r>
                                  </m:e>
                                </m:mr>
                                <m:mr>
                                  <m:e>
                                    <m:r>
                                      <a:rPr lang="en-US" sz="2400" b="0" i="1" smtClean="0">
                                        <a:latin typeface="Cambria Math" panose="02040503050406030204" pitchFamily="18" charset="0"/>
                                      </a:rPr>
                                      <m:t>1</m:t>
                                    </m:r>
                                  </m:e>
                                </m:mr>
                              </m:m>
                            </m:e>
                          </m:d>
                        </m:oMath>
                      </m:oMathPara>
                    </a14:m>
                    <a:endParaRPr lang="en-US" sz="2400" dirty="0"/>
                  </a:p>
                </p:txBody>
              </p:sp>
            </mc:Choice>
            <mc:Fallback xmlns="">
              <p:sp>
                <p:nvSpPr>
                  <p:cNvPr id="60" name="Rectangle 59">
                    <a:extLst>
                      <a:ext uri="{FF2B5EF4-FFF2-40B4-BE49-F238E27FC236}">
                        <a16:creationId xmlns:a16="http://schemas.microsoft.com/office/drawing/2014/main" id="{8942103A-F370-744F-B64A-51AA67CBBC85}"/>
                      </a:ext>
                    </a:extLst>
                  </p:cNvPr>
                  <p:cNvSpPr>
                    <a:spLocks noRot="1" noChangeAspect="1" noMove="1" noResize="1" noEditPoints="1" noAdjustHandles="1" noChangeArrowheads="1" noChangeShapeType="1" noTextEdit="1"/>
                  </p:cNvSpPr>
                  <p:nvPr/>
                </p:nvSpPr>
                <p:spPr>
                  <a:xfrm>
                    <a:off x="2838404" y="5540874"/>
                    <a:ext cx="1503360" cy="705771"/>
                  </a:xfrm>
                  <a:prstGeom prst="rect">
                    <a:avLst/>
                  </a:prstGeom>
                  <a:blipFill>
                    <a:blip r:embed="rId6"/>
                    <a:stretch>
                      <a:fillRect b="-7018"/>
                    </a:stretch>
                  </a:blipFill>
                </p:spPr>
                <p:txBody>
                  <a:bodyPr/>
                  <a:lstStyle/>
                  <a:p>
                    <a:r>
                      <a:rPr lang="en-US">
                        <a:noFill/>
                      </a:rPr>
                      <a:t> </a:t>
                    </a:r>
                  </a:p>
                </p:txBody>
              </p:sp>
            </mc:Fallback>
          </mc:AlternateContent>
        </p:grpSp>
      </p:grpSp>
      <p:pic>
        <p:nvPicPr>
          <p:cNvPr id="40" name="Picture 39">
            <a:extLst>
              <a:ext uri="{FF2B5EF4-FFF2-40B4-BE49-F238E27FC236}">
                <a16:creationId xmlns:a16="http://schemas.microsoft.com/office/drawing/2014/main" id="{C0859842-F3B8-5349-A6B3-A952B7E8EB1B}"/>
              </a:ext>
            </a:extLst>
          </p:cNvPr>
          <p:cNvPicPr>
            <a:picLocks noChangeAspect="1"/>
          </p:cNvPicPr>
          <p:nvPr/>
        </p:nvPicPr>
        <p:blipFill>
          <a:blip r:embed="rId7"/>
          <a:stretch>
            <a:fillRect/>
          </a:stretch>
        </p:blipFill>
        <p:spPr>
          <a:xfrm>
            <a:off x="1904785" y="8966202"/>
            <a:ext cx="457200" cy="850900"/>
          </a:xfrm>
          <a:prstGeom prst="rect">
            <a:avLst/>
          </a:prstGeom>
        </p:spPr>
      </p:pic>
      <p:grpSp>
        <p:nvGrpSpPr>
          <p:cNvPr id="15" name="Group 14">
            <a:extLst>
              <a:ext uri="{FF2B5EF4-FFF2-40B4-BE49-F238E27FC236}">
                <a16:creationId xmlns:a16="http://schemas.microsoft.com/office/drawing/2014/main" id="{0FE92092-20D2-2C41-9AEF-E85B883A32DE}"/>
              </a:ext>
            </a:extLst>
          </p:cNvPr>
          <p:cNvGrpSpPr/>
          <p:nvPr/>
        </p:nvGrpSpPr>
        <p:grpSpPr>
          <a:xfrm>
            <a:off x="5810922" y="1296032"/>
            <a:ext cx="2794582" cy="2653425"/>
            <a:chOff x="4305972" y="1463907"/>
            <a:chExt cx="2794582" cy="2653425"/>
          </a:xfrm>
        </p:grpSpPr>
        <p:grpSp>
          <p:nvGrpSpPr>
            <p:cNvPr id="6" name="Group 5">
              <a:extLst>
                <a:ext uri="{FF2B5EF4-FFF2-40B4-BE49-F238E27FC236}">
                  <a16:creationId xmlns:a16="http://schemas.microsoft.com/office/drawing/2014/main" id="{C1416DD0-96F2-854F-888C-02EC70E610C3}"/>
                </a:ext>
              </a:extLst>
            </p:cNvPr>
            <p:cNvGrpSpPr/>
            <p:nvPr/>
          </p:nvGrpSpPr>
          <p:grpSpPr>
            <a:xfrm>
              <a:off x="4305972" y="1463907"/>
              <a:ext cx="2794582" cy="2653425"/>
              <a:chOff x="2871592" y="2073507"/>
              <a:chExt cx="2794582" cy="2653425"/>
            </a:xfrm>
          </p:grpSpPr>
          <p:cxnSp>
            <p:nvCxnSpPr>
              <p:cNvPr id="36" name="Straight Connector 35">
                <a:extLst>
                  <a:ext uri="{FF2B5EF4-FFF2-40B4-BE49-F238E27FC236}">
                    <a16:creationId xmlns:a16="http://schemas.microsoft.com/office/drawing/2014/main" id="{1EB3E8E3-684D-B643-B191-043CD7D59B88}"/>
                  </a:ext>
                </a:extLst>
              </p:cNvPr>
              <p:cNvCxnSpPr>
                <a:cxnSpLocks/>
              </p:cNvCxnSpPr>
              <p:nvPr/>
            </p:nvCxnSpPr>
            <p:spPr>
              <a:xfrm flipV="1">
                <a:off x="2871592" y="2907559"/>
                <a:ext cx="527901" cy="1819373"/>
              </a:xfrm>
              <a:prstGeom prst="line">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3EE7630-42B5-1542-A1B3-F48952DC8EAB}"/>
                  </a:ext>
                </a:extLst>
              </p:cNvPr>
              <p:cNvCxnSpPr>
                <a:cxnSpLocks/>
              </p:cNvCxnSpPr>
              <p:nvPr/>
            </p:nvCxnSpPr>
            <p:spPr>
              <a:xfrm>
                <a:off x="3399493" y="2907559"/>
                <a:ext cx="0" cy="1200179"/>
              </a:xfrm>
              <a:prstGeom prst="line">
                <a:avLst/>
              </a:prstGeom>
              <a:ln w="889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8DF85956-5878-F248-9153-C2D6EBC23148}"/>
                      </a:ext>
                    </a:extLst>
                  </p:cNvPr>
                  <p:cNvSpPr/>
                  <p:nvPr/>
                </p:nvSpPr>
                <p:spPr>
                  <a:xfrm>
                    <a:off x="3191137" y="2073507"/>
                    <a:ext cx="2475037" cy="71564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400" i="1">
                                  <a:latin typeface="Cambria Math" panose="02040503050406030204" pitchFamily="18" charset="0"/>
                                  <a:ea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ea typeface="Cambria Math" panose="02040503050406030204" pitchFamily="18" charset="0"/>
                                    </a:rPr>
                                  </m:ctrlPr>
                                </m:mPr>
                                <m:mr>
                                  <m:e>
                                    <m:r>
                                      <a:rPr lang="en-US" sz="2400" i="1">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𝑎</m:t>
                                    </m:r>
                                  </m:e>
                                </m:mr>
                                <m:mr>
                                  <m:e>
                                    <m:r>
                                      <a:rPr lang="en-US" sz="2400" b="0" i="1" smtClean="0">
                                        <a:latin typeface="Cambria Math" panose="02040503050406030204" pitchFamily="18" charset="0"/>
                                        <a:ea typeface="Cambria Math" panose="02040503050406030204" pitchFamily="18" charset="0"/>
                                      </a:rPr>
                                      <m:t>𝑏</m:t>
                                    </m:r>
                                  </m:e>
                                </m:mr>
                              </m:m>
                            </m:e>
                          </m:d>
                          <m:r>
                            <a:rPr lang="en-US" sz="2400" b="0" i="1" smtClean="0">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ea typeface="Cambria Math" panose="02040503050406030204" pitchFamily="18" charset="0"/>
                                    </a:rPr>
                                  </m:ctrlPr>
                                </m:mPr>
                                <m:mr>
                                  <m:e>
                                    <m:r>
                                      <a:rPr lang="en-US" sz="2400" b="0" i="1" smtClean="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0.</m:t>
                                    </m:r>
                                    <m:r>
                                      <a:rPr lang="en-US" sz="2400" b="0" i="1" smtClean="0">
                                        <a:latin typeface="Cambria Math" panose="02040503050406030204" pitchFamily="18" charset="0"/>
                                        <a:ea typeface="Cambria Math" panose="02040503050406030204" pitchFamily="18" charset="0"/>
                                      </a:rPr>
                                      <m:t>951</m:t>
                                    </m:r>
                                  </m:e>
                                </m:mr>
                                <m:mr>
                                  <m:e>
                                    <m:r>
                                      <a:rPr lang="en-US" sz="2400" b="0" i="1" smtClean="0">
                                        <a:latin typeface="Cambria Math" panose="02040503050406030204" pitchFamily="18" charset="0"/>
                                        <a:ea typeface="Cambria Math" panose="02040503050406030204" pitchFamily="18" charset="0"/>
                                      </a:rPr>
                                      <m:t>−0.309</m:t>
                                    </m:r>
                                  </m:e>
                                </m:mr>
                              </m:m>
                            </m:e>
                          </m:d>
                        </m:oMath>
                      </m:oMathPara>
                    </a14:m>
                    <a:endParaRPr lang="en-US" sz="2400" dirty="0"/>
                  </a:p>
                </p:txBody>
              </p:sp>
            </mc:Choice>
            <mc:Fallback xmlns="">
              <p:sp>
                <p:nvSpPr>
                  <p:cNvPr id="47" name="Rectangle 46">
                    <a:extLst>
                      <a:ext uri="{FF2B5EF4-FFF2-40B4-BE49-F238E27FC236}">
                        <a16:creationId xmlns:a16="http://schemas.microsoft.com/office/drawing/2014/main" id="{8DF85956-5878-F248-9153-C2D6EBC23148}"/>
                      </a:ext>
                    </a:extLst>
                  </p:cNvPr>
                  <p:cNvSpPr>
                    <a:spLocks noRot="1" noChangeAspect="1" noMove="1" noResize="1" noEditPoints="1" noAdjustHandles="1" noChangeArrowheads="1" noChangeShapeType="1" noTextEdit="1"/>
                  </p:cNvSpPr>
                  <p:nvPr/>
                </p:nvSpPr>
                <p:spPr>
                  <a:xfrm>
                    <a:off x="3191137" y="2073507"/>
                    <a:ext cx="2475037" cy="715645"/>
                  </a:xfrm>
                  <a:prstGeom prst="rect">
                    <a:avLst/>
                  </a:prstGeom>
                  <a:blipFill>
                    <a:blip r:embed="rId8"/>
                    <a:stretch>
                      <a:fillRect t="-5263" b="-8772"/>
                    </a:stretch>
                  </a:blipFill>
                </p:spPr>
                <p:txBody>
                  <a:bodyPr/>
                  <a:lstStyle/>
                  <a:p>
                    <a:r>
                      <a:rPr lang="en-US">
                        <a:noFill/>
                      </a:rPr>
                      <a:t> </a:t>
                    </a:r>
                  </a:p>
                </p:txBody>
              </p:sp>
            </mc:Fallback>
          </mc:AlternateContent>
        </p:grpSp>
        <p:sp>
          <p:nvSpPr>
            <p:cNvPr id="63" name="Oval 62">
              <a:extLst>
                <a:ext uri="{FF2B5EF4-FFF2-40B4-BE49-F238E27FC236}">
                  <a16:creationId xmlns:a16="http://schemas.microsoft.com/office/drawing/2014/main" id="{E6EAC9DD-2035-7840-8F09-11ABA08DE6F0}"/>
                </a:ext>
              </a:extLst>
            </p:cNvPr>
            <p:cNvSpPr/>
            <p:nvPr/>
          </p:nvSpPr>
          <p:spPr>
            <a:xfrm rot="1147979">
              <a:off x="4674365" y="2270740"/>
              <a:ext cx="320302" cy="195146"/>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Box 2">
            <a:extLst>
              <a:ext uri="{FF2B5EF4-FFF2-40B4-BE49-F238E27FC236}">
                <a16:creationId xmlns:a16="http://schemas.microsoft.com/office/drawing/2014/main" id="{6E5027E4-1698-9043-BB4E-C4AC9F09D282}"/>
              </a:ext>
            </a:extLst>
          </p:cNvPr>
          <p:cNvSpPr txBox="1"/>
          <p:nvPr/>
        </p:nvSpPr>
        <p:spPr>
          <a:xfrm>
            <a:off x="417714" y="6066932"/>
            <a:ext cx="7572329" cy="646331"/>
          </a:xfrm>
          <a:prstGeom prst="rect">
            <a:avLst/>
          </a:prstGeom>
          <a:noFill/>
        </p:spPr>
        <p:txBody>
          <a:bodyPr wrap="none" rtlCol="0">
            <a:spAutoFit/>
          </a:bodyPr>
          <a:lstStyle/>
          <a:p>
            <a:r>
              <a:rPr lang="en-ZA" b="1" dirty="0"/>
              <a:t>Latitude</a:t>
            </a:r>
            <a:r>
              <a:rPr lang="en-ZA" dirty="0"/>
              <a:t> – measures how far north or south a point is from the Equator.</a:t>
            </a:r>
          </a:p>
          <a:p>
            <a:r>
              <a:rPr lang="en-ZA" b="1" dirty="0"/>
              <a:t>Longitude</a:t>
            </a:r>
            <a:r>
              <a:rPr lang="en-ZA" dirty="0"/>
              <a:t> – measures how far east or west a point is from the Prime Meridian.</a:t>
            </a:r>
          </a:p>
        </p:txBody>
      </p:sp>
      <p:pic>
        <p:nvPicPr>
          <p:cNvPr id="39" name="Picture 38">
            <a:extLst>
              <a:ext uri="{FF2B5EF4-FFF2-40B4-BE49-F238E27FC236}">
                <a16:creationId xmlns:a16="http://schemas.microsoft.com/office/drawing/2014/main" id="{BAA6E306-56E9-8444-8E33-5A3BD0316CBF}"/>
              </a:ext>
            </a:extLst>
          </p:cNvPr>
          <p:cNvPicPr>
            <a:picLocks noChangeAspect="1"/>
          </p:cNvPicPr>
          <p:nvPr/>
        </p:nvPicPr>
        <p:blipFill>
          <a:blip r:embed="rId9"/>
          <a:stretch>
            <a:fillRect/>
          </a:stretch>
        </p:blipFill>
        <p:spPr>
          <a:xfrm>
            <a:off x="6641251" y="2116165"/>
            <a:ext cx="1296853" cy="1506021"/>
          </a:xfrm>
          <a:prstGeom prst="rect">
            <a:avLst/>
          </a:prstGeom>
        </p:spPr>
      </p:pic>
    </p:spTree>
    <p:extLst>
      <p:ext uri="{BB962C8B-B14F-4D97-AF65-F5344CB8AC3E}">
        <p14:creationId xmlns:p14="http://schemas.microsoft.com/office/powerpoint/2010/main" val="3644131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dissolve">
                                      <p:cBhvr>
                                        <p:cTn id="11" dur="500"/>
                                        <p:tgtEl>
                                          <p:spTgt spid="4"/>
                                        </p:tgtEl>
                                      </p:cBhvr>
                                    </p:animEffect>
                                  </p:childTnLst>
                                </p:cTn>
                              </p:par>
                              <p:par>
                                <p:cTn id="12" presetID="1"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blinds(horizontal)">
                                      <p:cBhvr>
                                        <p:cTn id="18"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linds(horizontal)">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726C1A8-47D7-0C45-801A-2E05BD6FB668}"/>
              </a:ext>
            </a:extLst>
          </p:cNvPr>
          <p:cNvPicPr>
            <a:picLocks/>
          </p:cNvPicPr>
          <p:nvPr/>
        </p:nvPicPr>
        <p:blipFill>
          <a:blip r:embed="rId3">
            <a:alphaModFix amt="34000"/>
          </a:blip>
          <a:stretch>
            <a:fillRect/>
          </a:stretch>
        </p:blipFill>
        <p:spPr>
          <a:xfrm>
            <a:off x="3916225" y="1842993"/>
            <a:ext cx="3924000" cy="3924000"/>
          </a:xfrm>
          <a:prstGeom prst="rect">
            <a:avLst/>
          </a:prstGeom>
        </p:spPr>
      </p:pic>
      <p:sp>
        <p:nvSpPr>
          <p:cNvPr id="2" name="Slide Number Placeholder 1">
            <a:extLst>
              <a:ext uri="{FF2B5EF4-FFF2-40B4-BE49-F238E27FC236}">
                <a16:creationId xmlns:a16="http://schemas.microsoft.com/office/drawing/2014/main" id="{1BE5A374-E053-2C4B-BDB3-F1C9AE5DE959}"/>
              </a:ext>
            </a:extLst>
          </p:cNvPr>
          <p:cNvSpPr>
            <a:spLocks noGrp="1"/>
          </p:cNvSpPr>
          <p:nvPr>
            <p:ph type="sldNum" sz="quarter" idx="12"/>
          </p:nvPr>
        </p:nvSpPr>
        <p:spPr/>
        <p:txBody>
          <a:bodyPr/>
          <a:lstStyle/>
          <a:p>
            <a:fld id="{591A223C-FA10-BC46-A853-03BA373D023C}" type="slidenum">
              <a:rPr lang="en-US" smtClean="0"/>
              <a:t>35</a:t>
            </a:fld>
            <a:endParaRPr lang="en-US"/>
          </a:p>
        </p:txBody>
      </p:sp>
      <p:sp>
        <p:nvSpPr>
          <p:cNvPr id="3" name="Title 2">
            <a:extLst>
              <a:ext uri="{FF2B5EF4-FFF2-40B4-BE49-F238E27FC236}">
                <a16:creationId xmlns:a16="http://schemas.microsoft.com/office/drawing/2014/main" id="{44418874-732C-774E-B414-FE120DBFF3F8}"/>
              </a:ext>
            </a:extLst>
          </p:cNvPr>
          <p:cNvSpPr>
            <a:spLocks noGrp="1"/>
          </p:cNvSpPr>
          <p:nvPr>
            <p:ph type="title"/>
          </p:nvPr>
        </p:nvSpPr>
        <p:spPr/>
        <p:txBody>
          <a:bodyPr/>
          <a:lstStyle/>
          <a:p>
            <a:r>
              <a:rPr lang="en-ZA" dirty="0"/>
              <a:t>A qubit on a sphere</a:t>
            </a:r>
            <a:endParaRPr lang="en-US" dirty="0"/>
          </a:p>
        </p:txBody>
      </p:sp>
      <p:sp>
        <p:nvSpPr>
          <p:cNvPr id="6" name="Oval 5">
            <a:extLst>
              <a:ext uri="{FF2B5EF4-FFF2-40B4-BE49-F238E27FC236}">
                <a16:creationId xmlns:a16="http://schemas.microsoft.com/office/drawing/2014/main" id="{D39AD468-8D62-5044-AC67-7EBA8CE024AC}"/>
              </a:ext>
            </a:extLst>
          </p:cNvPr>
          <p:cNvSpPr>
            <a:spLocks noChangeAspect="1"/>
          </p:cNvSpPr>
          <p:nvPr/>
        </p:nvSpPr>
        <p:spPr>
          <a:xfrm>
            <a:off x="3960402" y="1864413"/>
            <a:ext cx="3857067" cy="385706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8E8000CA-BF22-F84F-AE9C-E7ADED9C83FE}"/>
              </a:ext>
            </a:extLst>
          </p:cNvPr>
          <p:cNvCxnSpPr>
            <a:cxnSpLocks/>
          </p:cNvCxnSpPr>
          <p:nvPr/>
        </p:nvCxnSpPr>
        <p:spPr>
          <a:xfrm flipH="1">
            <a:off x="4169859" y="3743619"/>
            <a:ext cx="1725104" cy="1828799"/>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8626262-9D29-1546-9863-159A4C905BA9}"/>
              </a:ext>
            </a:extLst>
          </p:cNvPr>
          <p:cNvCxnSpPr>
            <a:cxnSpLocks/>
          </p:cNvCxnSpPr>
          <p:nvPr/>
        </p:nvCxnSpPr>
        <p:spPr>
          <a:xfrm flipV="1">
            <a:off x="5904389" y="3710393"/>
            <a:ext cx="2389320" cy="42652"/>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0ED9A33-5E1D-6A4C-98A4-9E74C29F2DB5}"/>
              </a:ext>
            </a:extLst>
          </p:cNvPr>
          <p:cNvCxnSpPr>
            <a:cxnSpLocks/>
          </p:cNvCxnSpPr>
          <p:nvPr/>
        </p:nvCxnSpPr>
        <p:spPr>
          <a:xfrm flipV="1">
            <a:off x="5894963" y="1539066"/>
            <a:ext cx="0" cy="2204553"/>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6DDCA247-7F90-8F45-BD46-9373B6323064}"/>
              </a:ext>
            </a:extLst>
          </p:cNvPr>
          <p:cNvSpPr/>
          <p:nvPr/>
        </p:nvSpPr>
        <p:spPr>
          <a:xfrm>
            <a:off x="4726039" y="1888159"/>
            <a:ext cx="2356701" cy="1167396"/>
          </a:xfrm>
          <a:prstGeom prst="ellipse">
            <a:avLst/>
          </a:prstGeom>
          <a:noFill/>
          <a:ln w="12700">
            <a:solidFill>
              <a:srgbClr val="7030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A1F26155-7FFC-A04A-A73C-2495FB142631}"/>
              </a:ext>
            </a:extLst>
          </p:cNvPr>
          <p:cNvCxnSpPr>
            <a:cxnSpLocks/>
          </p:cNvCxnSpPr>
          <p:nvPr/>
        </p:nvCxnSpPr>
        <p:spPr>
          <a:xfrm flipV="1">
            <a:off x="5904389" y="2674197"/>
            <a:ext cx="1021841" cy="1069422"/>
          </a:xfrm>
          <a:prstGeom prst="line">
            <a:avLst/>
          </a:prstGeom>
          <a:ln w="889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2" name="Arc 11">
            <a:extLst>
              <a:ext uri="{FF2B5EF4-FFF2-40B4-BE49-F238E27FC236}">
                <a16:creationId xmlns:a16="http://schemas.microsoft.com/office/drawing/2014/main" id="{3910A2F4-9692-8C44-A6CE-F8C3434DB31A}"/>
              </a:ext>
            </a:extLst>
          </p:cNvPr>
          <p:cNvSpPr/>
          <p:nvPr/>
        </p:nvSpPr>
        <p:spPr>
          <a:xfrm rot="12278854">
            <a:off x="5042519" y="1756291"/>
            <a:ext cx="1832329" cy="3973975"/>
          </a:xfrm>
          <a:prstGeom prst="arc">
            <a:avLst>
              <a:gd name="adj1" fmla="val 16079390"/>
              <a:gd name="adj2" fmla="val 4769972"/>
            </a:avLst>
          </a:prstGeom>
          <a:ln w="12700">
            <a:solidFill>
              <a:srgbClr val="7030A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5FE6E51F-F71D-6C4A-BCED-C1A717DB6874}"/>
              </a:ext>
            </a:extLst>
          </p:cNvPr>
          <p:cNvCxnSpPr>
            <a:cxnSpLocks/>
          </p:cNvCxnSpPr>
          <p:nvPr/>
        </p:nvCxnSpPr>
        <p:spPr>
          <a:xfrm flipV="1">
            <a:off x="5904389" y="2844553"/>
            <a:ext cx="836146" cy="908493"/>
          </a:xfrm>
          <a:prstGeom prst="line">
            <a:avLst/>
          </a:prstGeom>
          <a:ln w="508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2004A74-5481-8149-A635-C57D15C20136}"/>
              </a:ext>
            </a:extLst>
          </p:cNvPr>
          <p:cNvCxnSpPr>
            <a:cxnSpLocks/>
          </p:cNvCxnSpPr>
          <p:nvPr/>
        </p:nvCxnSpPr>
        <p:spPr>
          <a:xfrm>
            <a:off x="6432290" y="1933672"/>
            <a:ext cx="0" cy="1200179"/>
          </a:xfrm>
          <a:prstGeom prst="line">
            <a:avLst/>
          </a:prstGeom>
          <a:ln w="889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29F42C99-BBAC-E647-BEB0-BB3AF6A59B00}"/>
              </a:ext>
            </a:extLst>
          </p:cNvPr>
          <p:cNvSpPr/>
          <p:nvPr/>
        </p:nvSpPr>
        <p:spPr>
          <a:xfrm rot="1147979">
            <a:off x="6581405" y="2753957"/>
            <a:ext cx="320302" cy="195146"/>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a:extLst>
              <a:ext uri="{FF2B5EF4-FFF2-40B4-BE49-F238E27FC236}">
                <a16:creationId xmlns:a16="http://schemas.microsoft.com/office/drawing/2014/main" id="{9E861B0A-A4DD-4445-8991-CF278AFAF462}"/>
              </a:ext>
            </a:extLst>
          </p:cNvPr>
          <p:cNvPicPr>
            <a:picLocks noChangeAspect="1"/>
          </p:cNvPicPr>
          <p:nvPr/>
        </p:nvPicPr>
        <p:blipFill>
          <a:blip r:embed="rId4"/>
          <a:stretch>
            <a:fillRect/>
          </a:stretch>
        </p:blipFill>
        <p:spPr>
          <a:xfrm>
            <a:off x="7977526" y="820370"/>
            <a:ext cx="1738939" cy="1886485"/>
          </a:xfrm>
          <a:prstGeom prst="rect">
            <a:avLst/>
          </a:prstGeom>
        </p:spPr>
      </p:pic>
      <p:sp>
        <p:nvSpPr>
          <p:cNvPr id="40" name="TextBox 39">
            <a:extLst>
              <a:ext uri="{FF2B5EF4-FFF2-40B4-BE49-F238E27FC236}">
                <a16:creationId xmlns:a16="http://schemas.microsoft.com/office/drawing/2014/main" id="{C972DD28-EA2C-954D-AB3A-580704DB7CE7}"/>
              </a:ext>
            </a:extLst>
          </p:cNvPr>
          <p:cNvSpPr txBox="1"/>
          <p:nvPr/>
        </p:nvSpPr>
        <p:spPr>
          <a:xfrm>
            <a:off x="5875999" y="3090657"/>
            <a:ext cx="348172" cy="461665"/>
          </a:xfrm>
          <a:prstGeom prst="rect">
            <a:avLst/>
          </a:prstGeom>
          <a:noFill/>
        </p:spPr>
        <p:txBody>
          <a:bodyPr wrap="none" rtlCol="0">
            <a:spAutoFit/>
          </a:bodyPr>
          <a:lstStyle/>
          <a:p>
            <a:r>
              <a:rPr lang="el-GR" sz="2400" dirty="0"/>
              <a:t>θ</a:t>
            </a:r>
            <a:endParaRPr lang="en-US" sz="2400" dirty="0">
              <a:latin typeface="Comic Sans MS" panose="030F0902030302020204" pitchFamily="66" charset="0"/>
            </a:endParaRPr>
          </a:p>
        </p:txBody>
      </p:sp>
      <p:cxnSp>
        <p:nvCxnSpPr>
          <p:cNvPr id="42" name="Straight Connector 41">
            <a:extLst>
              <a:ext uri="{FF2B5EF4-FFF2-40B4-BE49-F238E27FC236}">
                <a16:creationId xmlns:a16="http://schemas.microsoft.com/office/drawing/2014/main" id="{D6840EB2-57BF-CB45-9711-F51BC8F0E650}"/>
              </a:ext>
            </a:extLst>
          </p:cNvPr>
          <p:cNvCxnSpPr>
            <a:cxnSpLocks/>
            <a:stCxn id="30" idx="4"/>
          </p:cNvCxnSpPr>
          <p:nvPr/>
        </p:nvCxnSpPr>
        <p:spPr>
          <a:xfrm>
            <a:off x="6709575" y="2943713"/>
            <a:ext cx="0" cy="1363401"/>
          </a:xfrm>
          <a:prstGeom prst="line">
            <a:avLst/>
          </a:prstGeom>
          <a:ln w="12700">
            <a:prstDash val="lg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972DA4A-6C67-5741-9B81-EDD741FF7FAF}"/>
              </a:ext>
            </a:extLst>
          </p:cNvPr>
          <p:cNvCxnSpPr>
            <a:cxnSpLocks/>
          </p:cNvCxnSpPr>
          <p:nvPr/>
        </p:nvCxnSpPr>
        <p:spPr>
          <a:xfrm>
            <a:off x="5898079" y="3753045"/>
            <a:ext cx="811496" cy="561581"/>
          </a:xfrm>
          <a:prstGeom prst="line">
            <a:avLst/>
          </a:prstGeom>
          <a:ln w="12700">
            <a:prstDash val="lgDash"/>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D0CAAC33-BF9C-BA44-BE6D-196CADD49EB0}"/>
              </a:ext>
            </a:extLst>
          </p:cNvPr>
          <p:cNvSpPr txBox="1"/>
          <p:nvPr/>
        </p:nvSpPr>
        <p:spPr>
          <a:xfrm>
            <a:off x="5711740" y="3743383"/>
            <a:ext cx="385042" cy="461665"/>
          </a:xfrm>
          <a:prstGeom prst="rect">
            <a:avLst/>
          </a:prstGeom>
          <a:noFill/>
        </p:spPr>
        <p:txBody>
          <a:bodyPr wrap="none" rtlCol="0">
            <a:spAutoFit/>
          </a:bodyPr>
          <a:lstStyle/>
          <a:p>
            <a:r>
              <a:rPr lang="el-GR" sz="2400" dirty="0"/>
              <a:t>φ</a:t>
            </a:r>
            <a:endParaRPr lang="en-US" sz="2400" dirty="0"/>
          </a:p>
        </p:txBody>
      </p:sp>
      <p:sp>
        <p:nvSpPr>
          <p:cNvPr id="68" name="TextBox 67">
            <a:extLst>
              <a:ext uri="{FF2B5EF4-FFF2-40B4-BE49-F238E27FC236}">
                <a16:creationId xmlns:a16="http://schemas.microsoft.com/office/drawing/2014/main" id="{D33AB7BF-4D9E-5244-91B0-735CB7974502}"/>
              </a:ext>
            </a:extLst>
          </p:cNvPr>
          <p:cNvSpPr txBox="1"/>
          <p:nvPr/>
        </p:nvSpPr>
        <p:spPr>
          <a:xfrm>
            <a:off x="3787988" y="5304021"/>
            <a:ext cx="351378" cy="430887"/>
          </a:xfrm>
          <a:prstGeom prst="rect">
            <a:avLst/>
          </a:prstGeom>
          <a:noFill/>
        </p:spPr>
        <p:txBody>
          <a:bodyPr wrap="none" rtlCol="0">
            <a:spAutoFit/>
          </a:bodyPr>
          <a:lstStyle/>
          <a:p>
            <a:r>
              <a:rPr lang="en-US" sz="2200" dirty="0">
                <a:latin typeface="Comic Sans MS" panose="030F0902030302020204" pitchFamily="66" charset="0"/>
              </a:rPr>
              <a:t>x</a:t>
            </a:r>
          </a:p>
        </p:txBody>
      </p:sp>
      <p:sp>
        <p:nvSpPr>
          <p:cNvPr id="69" name="TextBox 68">
            <a:extLst>
              <a:ext uri="{FF2B5EF4-FFF2-40B4-BE49-F238E27FC236}">
                <a16:creationId xmlns:a16="http://schemas.microsoft.com/office/drawing/2014/main" id="{BC06888A-EE86-DA4B-8C38-E9DCEACA0D5F}"/>
              </a:ext>
            </a:extLst>
          </p:cNvPr>
          <p:cNvSpPr txBox="1"/>
          <p:nvPr/>
        </p:nvSpPr>
        <p:spPr>
          <a:xfrm>
            <a:off x="8245227" y="3908064"/>
            <a:ext cx="332142" cy="430887"/>
          </a:xfrm>
          <a:prstGeom prst="rect">
            <a:avLst/>
          </a:prstGeom>
          <a:noFill/>
        </p:spPr>
        <p:txBody>
          <a:bodyPr wrap="none" rtlCol="0">
            <a:spAutoFit/>
          </a:bodyPr>
          <a:lstStyle/>
          <a:p>
            <a:r>
              <a:rPr lang="en-US" sz="2200" dirty="0">
                <a:latin typeface="Comic Sans MS" panose="030F0902030302020204" pitchFamily="66" charset="0"/>
              </a:rPr>
              <a:t>y</a:t>
            </a:r>
          </a:p>
        </p:txBody>
      </p:sp>
      <p:sp>
        <p:nvSpPr>
          <p:cNvPr id="70" name="TextBox 69">
            <a:extLst>
              <a:ext uri="{FF2B5EF4-FFF2-40B4-BE49-F238E27FC236}">
                <a16:creationId xmlns:a16="http://schemas.microsoft.com/office/drawing/2014/main" id="{0318BB0B-93A2-5647-973C-A39755E4C0A5}"/>
              </a:ext>
            </a:extLst>
          </p:cNvPr>
          <p:cNvSpPr txBox="1"/>
          <p:nvPr/>
        </p:nvSpPr>
        <p:spPr>
          <a:xfrm>
            <a:off x="5537557" y="1161872"/>
            <a:ext cx="336952" cy="430887"/>
          </a:xfrm>
          <a:prstGeom prst="rect">
            <a:avLst/>
          </a:prstGeom>
          <a:noFill/>
        </p:spPr>
        <p:txBody>
          <a:bodyPr wrap="none" rtlCol="0">
            <a:spAutoFit/>
          </a:bodyPr>
          <a:lstStyle/>
          <a:p>
            <a:r>
              <a:rPr lang="en-US" sz="2200" dirty="0">
                <a:latin typeface="Comic Sans MS" panose="030F0902030302020204" pitchFamily="66" charset="0"/>
              </a:rPr>
              <a:t>z</a:t>
            </a:r>
          </a:p>
        </p:txBody>
      </p:sp>
      <p:sp>
        <p:nvSpPr>
          <p:cNvPr id="35" name="Oval 34">
            <a:extLst>
              <a:ext uri="{FF2B5EF4-FFF2-40B4-BE49-F238E27FC236}">
                <a16:creationId xmlns:a16="http://schemas.microsoft.com/office/drawing/2014/main" id="{85915865-F658-E049-84B1-3C5334E662D5}"/>
              </a:ext>
            </a:extLst>
          </p:cNvPr>
          <p:cNvSpPr/>
          <p:nvPr/>
        </p:nvSpPr>
        <p:spPr>
          <a:xfrm>
            <a:off x="3967989" y="3123484"/>
            <a:ext cx="3866491" cy="1246985"/>
          </a:xfrm>
          <a:prstGeom prst="ellipse">
            <a:avLst/>
          </a:prstGeom>
          <a:solidFill>
            <a:schemeClr val="bg1">
              <a:alpha val="30000"/>
            </a:schemeClr>
          </a:solidFill>
          <a:ln w="12700">
            <a:solidFill>
              <a:srgbClr val="7030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B308B9A-8883-F94A-BC68-5E9645501723}"/>
              </a:ext>
            </a:extLst>
          </p:cNvPr>
          <p:cNvSpPr txBox="1"/>
          <p:nvPr/>
        </p:nvSpPr>
        <p:spPr>
          <a:xfrm>
            <a:off x="6115746" y="3381001"/>
            <a:ext cx="654346" cy="369332"/>
          </a:xfrm>
          <a:prstGeom prst="rect">
            <a:avLst/>
          </a:prstGeom>
          <a:noFill/>
        </p:spPr>
        <p:txBody>
          <a:bodyPr wrap="none" rtlCol="0">
            <a:spAutoFit/>
          </a:bodyPr>
          <a:lstStyle/>
          <a:p>
            <a:r>
              <a:rPr lang="en-US" dirty="0">
                <a:latin typeface="Comic Sans MS" panose="030F0902030302020204" pitchFamily="66" charset="0"/>
              </a:rPr>
              <a:t>r = 1</a:t>
            </a:r>
          </a:p>
        </p:txBody>
      </p:sp>
      <p:sp>
        <p:nvSpPr>
          <p:cNvPr id="16" name="TextBox 15">
            <a:extLst>
              <a:ext uri="{FF2B5EF4-FFF2-40B4-BE49-F238E27FC236}">
                <a16:creationId xmlns:a16="http://schemas.microsoft.com/office/drawing/2014/main" id="{60DEB4E5-F3BB-D840-BCD3-DD31D6D48829}"/>
              </a:ext>
            </a:extLst>
          </p:cNvPr>
          <p:cNvSpPr txBox="1"/>
          <p:nvPr/>
        </p:nvSpPr>
        <p:spPr>
          <a:xfrm>
            <a:off x="1399327" y="3602265"/>
            <a:ext cx="2004075" cy="430887"/>
          </a:xfrm>
          <a:prstGeom prst="rect">
            <a:avLst/>
          </a:prstGeom>
          <a:noFill/>
        </p:spPr>
        <p:txBody>
          <a:bodyPr wrap="none" rtlCol="0">
            <a:spAutoFit/>
          </a:bodyPr>
          <a:lstStyle/>
          <a:p>
            <a:r>
              <a:rPr lang="en-US" sz="2200" dirty="0">
                <a:latin typeface="Comic Sans MS" panose="030F0902030302020204" pitchFamily="66" charset="0"/>
              </a:rPr>
              <a:t>complex plane</a:t>
            </a:r>
          </a:p>
        </p:txBody>
      </p:sp>
      <p:sp>
        <p:nvSpPr>
          <p:cNvPr id="17" name="Freeform 16">
            <a:extLst>
              <a:ext uri="{FF2B5EF4-FFF2-40B4-BE49-F238E27FC236}">
                <a16:creationId xmlns:a16="http://schemas.microsoft.com/office/drawing/2014/main" id="{19A00B58-E86F-C946-93C4-5C2577FF25C2}"/>
              </a:ext>
            </a:extLst>
          </p:cNvPr>
          <p:cNvSpPr/>
          <p:nvPr/>
        </p:nvSpPr>
        <p:spPr>
          <a:xfrm>
            <a:off x="2909454" y="3267755"/>
            <a:ext cx="1454727" cy="431410"/>
          </a:xfrm>
          <a:custGeom>
            <a:avLst/>
            <a:gdLst>
              <a:gd name="connsiteX0" fmla="*/ 0 w 1524000"/>
              <a:gd name="connsiteY0" fmla="*/ 236278 h 305551"/>
              <a:gd name="connsiteX1" fmla="*/ 623454 w 1524000"/>
              <a:gd name="connsiteY1" fmla="*/ 751 h 305551"/>
              <a:gd name="connsiteX2" fmla="*/ 1524000 w 1524000"/>
              <a:gd name="connsiteY2" fmla="*/ 305551 h 305551"/>
              <a:gd name="connsiteX0" fmla="*/ 0 w 1524000"/>
              <a:gd name="connsiteY0" fmla="*/ 291476 h 360749"/>
              <a:gd name="connsiteX1" fmla="*/ 872836 w 1524000"/>
              <a:gd name="connsiteY1" fmla="*/ 531 h 360749"/>
              <a:gd name="connsiteX2" fmla="*/ 1524000 w 1524000"/>
              <a:gd name="connsiteY2" fmla="*/ 360749 h 360749"/>
              <a:gd name="connsiteX0" fmla="*/ 0 w 1524000"/>
              <a:gd name="connsiteY0" fmla="*/ 291476 h 360749"/>
              <a:gd name="connsiteX1" fmla="*/ 789709 w 1524000"/>
              <a:gd name="connsiteY1" fmla="*/ 531 h 360749"/>
              <a:gd name="connsiteX2" fmla="*/ 1524000 w 1524000"/>
              <a:gd name="connsiteY2" fmla="*/ 360749 h 360749"/>
              <a:gd name="connsiteX0" fmla="*/ 0 w 1454727"/>
              <a:gd name="connsiteY0" fmla="*/ 292864 h 431410"/>
              <a:gd name="connsiteX1" fmla="*/ 789709 w 1454727"/>
              <a:gd name="connsiteY1" fmla="*/ 1919 h 431410"/>
              <a:gd name="connsiteX2" fmla="*/ 1454727 w 1454727"/>
              <a:gd name="connsiteY2" fmla="*/ 431410 h 431410"/>
              <a:gd name="connsiteX0" fmla="*/ 0 w 1454727"/>
              <a:gd name="connsiteY0" fmla="*/ 292864 h 431410"/>
              <a:gd name="connsiteX1" fmla="*/ 789709 w 1454727"/>
              <a:gd name="connsiteY1" fmla="*/ 1919 h 431410"/>
              <a:gd name="connsiteX2" fmla="*/ 1454727 w 1454727"/>
              <a:gd name="connsiteY2" fmla="*/ 431410 h 431410"/>
            </a:gdLst>
            <a:ahLst/>
            <a:cxnLst>
              <a:cxn ang="0">
                <a:pos x="connsiteX0" y="connsiteY0"/>
              </a:cxn>
              <a:cxn ang="0">
                <a:pos x="connsiteX1" y="connsiteY1"/>
              </a:cxn>
              <a:cxn ang="0">
                <a:pos x="connsiteX2" y="connsiteY2"/>
              </a:cxn>
            </a:cxnLst>
            <a:rect l="l" t="t" r="r" b="b"/>
            <a:pathLst>
              <a:path w="1454727" h="431410">
                <a:moveTo>
                  <a:pt x="0" y="292864"/>
                </a:moveTo>
                <a:cubicBezTo>
                  <a:pt x="184727" y="169327"/>
                  <a:pt x="547255" y="-21172"/>
                  <a:pt x="789709" y="1919"/>
                </a:cubicBezTo>
                <a:cubicBezTo>
                  <a:pt x="1032163" y="25010"/>
                  <a:pt x="1159163" y="132383"/>
                  <a:pt x="1454727" y="431410"/>
                </a:cubicBezTo>
              </a:path>
            </a:pathLst>
          </a:custGeom>
          <a:noFill/>
          <a:ln w="25400">
            <a:solidFill>
              <a:schemeClr val="tx1">
                <a:lumMod val="50000"/>
                <a:lumOff val="50000"/>
              </a:schemeClr>
            </a:solidFill>
            <a:headEnd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E1453F96-2956-8F49-83F3-1CA178D012F0}"/>
              </a:ext>
            </a:extLst>
          </p:cNvPr>
          <p:cNvPicPr>
            <a:picLocks noChangeAspect="1"/>
          </p:cNvPicPr>
          <p:nvPr/>
        </p:nvPicPr>
        <p:blipFill>
          <a:blip r:embed="rId5"/>
          <a:stretch>
            <a:fillRect/>
          </a:stretch>
        </p:blipFill>
        <p:spPr>
          <a:xfrm>
            <a:off x="6474742" y="1188961"/>
            <a:ext cx="1296853" cy="1506021"/>
          </a:xfrm>
          <a:prstGeom prst="rect">
            <a:avLst/>
          </a:prstGeom>
        </p:spPr>
      </p:pic>
    </p:spTree>
    <p:extLst>
      <p:ext uri="{BB962C8B-B14F-4D97-AF65-F5344CB8AC3E}">
        <p14:creationId xmlns:p14="http://schemas.microsoft.com/office/powerpoint/2010/main" val="23690556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E7ACAF-DED2-3D42-85C9-94530EAB7BFA}"/>
              </a:ext>
            </a:extLst>
          </p:cNvPr>
          <p:cNvSpPr>
            <a:spLocks noGrp="1"/>
          </p:cNvSpPr>
          <p:nvPr>
            <p:ph type="sldNum" sz="quarter" idx="12"/>
          </p:nvPr>
        </p:nvSpPr>
        <p:spPr/>
        <p:txBody>
          <a:bodyPr/>
          <a:lstStyle/>
          <a:p>
            <a:fld id="{591A223C-FA10-BC46-A853-03BA373D023C}" type="slidenum">
              <a:rPr lang="en-US" smtClean="0"/>
              <a:t>36</a:t>
            </a:fld>
            <a:endParaRPr lang="en-US"/>
          </a:p>
        </p:txBody>
      </p:sp>
      <p:sp>
        <p:nvSpPr>
          <p:cNvPr id="3" name="Title 2">
            <a:extLst>
              <a:ext uri="{FF2B5EF4-FFF2-40B4-BE49-F238E27FC236}">
                <a16:creationId xmlns:a16="http://schemas.microsoft.com/office/drawing/2014/main" id="{32E52C64-3B61-C94A-A7F0-CAC02D815EF4}"/>
              </a:ext>
            </a:extLst>
          </p:cNvPr>
          <p:cNvSpPr>
            <a:spLocks noGrp="1"/>
          </p:cNvSpPr>
          <p:nvPr>
            <p:ph type="title"/>
          </p:nvPr>
        </p:nvSpPr>
        <p:spPr>
          <a:xfrm>
            <a:off x="0" y="0"/>
            <a:ext cx="12192000" cy="928688"/>
          </a:xfrm>
        </p:spPr>
        <p:txBody>
          <a:bodyPr/>
          <a:lstStyle/>
          <a:p>
            <a:r>
              <a:rPr lang="en-US" dirty="0"/>
              <a:t>Qubit measurement</a:t>
            </a:r>
          </a:p>
        </p:txBody>
      </p:sp>
      <p:sp>
        <p:nvSpPr>
          <p:cNvPr id="5" name="Oval 4">
            <a:extLst>
              <a:ext uri="{FF2B5EF4-FFF2-40B4-BE49-F238E27FC236}">
                <a16:creationId xmlns:a16="http://schemas.microsoft.com/office/drawing/2014/main" id="{E288BAC9-03F8-F749-96FB-7899D77956B4}"/>
              </a:ext>
            </a:extLst>
          </p:cNvPr>
          <p:cNvSpPr/>
          <p:nvPr/>
        </p:nvSpPr>
        <p:spPr>
          <a:xfrm>
            <a:off x="349130" y="1716717"/>
            <a:ext cx="3926699" cy="3926699"/>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792F856-2DDB-A042-A9C9-5F3D6CF7F9EE}"/>
              </a:ext>
            </a:extLst>
          </p:cNvPr>
          <p:cNvSpPr/>
          <p:nvPr/>
        </p:nvSpPr>
        <p:spPr>
          <a:xfrm>
            <a:off x="363406" y="2844194"/>
            <a:ext cx="3898146" cy="1671744"/>
          </a:xfrm>
          <a:prstGeom prst="ellipse">
            <a:avLst/>
          </a:pr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9" name="Straight Arrow Connector 8">
            <a:extLst>
              <a:ext uri="{FF2B5EF4-FFF2-40B4-BE49-F238E27FC236}">
                <a16:creationId xmlns:a16="http://schemas.microsoft.com/office/drawing/2014/main" id="{EF591756-C657-354F-812C-FFBA04BD454B}"/>
              </a:ext>
            </a:extLst>
          </p:cNvPr>
          <p:cNvCxnSpPr>
            <a:cxnSpLocks/>
          </p:cNvCxnSpPr>
          <p:nvPr/>
        </p:nvCxnSpPr>
        <p:spPr>
          <a:xfrm flipV="1">
            <a:off x="2312480" y="3763633"/>
            <a:ext cx="0" cy="1492917"/>
          </a:xfrm>
          <a:prstGeom prst="straightConnector1">
            <a:avLst/>
          </a:prstGeom>
          <a:ln w="12700">
            <a:solidFill>
              <a:schemeClr val="bg1">
                <a:lumMod val="50000"/>
              </a:schemeClr>
            </a:solidFill>
            <a:prstDash val="dash"/>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E85409AC-8C5B-CE49-8C43-8533A7291B0B}"/>
                  </a:ext>
                </a:extLst>
              </p:cNvPr>
              <p:cNvSpPr/>
              <p:nvPr/>
            </p:nvSpPr>
            <p:spPr>
              <a:xfrm>
                <a:off x="1583045" y="2001616"/>
                <a:ext cx="63152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10" name="Rectangle 9">
                <a:extLst>
                  <a:ext uri="{FF2B5EF4-FFF2-40B4-BE49-F238E27FC236}">
                    <a16:creationId xmlns:a16="http://schemas.microsoft.com/office/drawing/2014/main" id="{E85409AC-8C5B-CE49-8C43-8533A7291B0B}"/>
                  </a:ext>
                </a:extLst>
              </p:cNvPr>
              <p:cNvSpPr>
                <a:spLocks noRot="1" noChangeAspect="1" noMove="1" noResize="1" noEditPoints="1" noAdjustHandles="1" noChangeArrowheads="1" noChangeShapeType="1" noTextEdit="1"/>
              </p:cNvSpPr>
              <p:nvPr/>
            </p:nvSpPr>
            <p:spPr>
              <a:xfrm>
                <a:off x="1583045" y="2001616"/>
                <a:ext cx="631520" cy="461665"/>
              </a:xfrm>
              <a:prstGeom prst="rect">
                <a:avLst/>
              </a:prstGeom>
              <a:blipFill>
                <a:blip r:embed="rId3"/>
                <a:stretch>
                  <a:fillRect/>
                </a:stretch>
              </a:blipFill>
            </p:spPr>
            <p:txBody>
              <a:bodyPr/>
              <a:lstStyle/>
              <a:p>
                <a:r>
                  <a:rPr lang="en-US">
                    <a:noFill/>
                  </a:rPr>
                  <a:t> </a:t>
                </a:r>
              </a:p>
            </p:txBody>
          </p:sp>
        </mc:Fallback>
      </mc:AlternateContent>
      <p:sp>
        <p:nvSpPr>
          <p:cNvPr id="13" name="Freeform 12">
            <a:extLst>
              <a:ext uri="{FF2B5EF4-FFF2-40B4-BE49-F238E27FC236}">
                <a16:creationId xmlns:a16="http://schemas.microsoft.com/office/drawing/2014/main" id="{FC0CA6A1-DBE3-C54D-BC93-FF7E09A1F90E}"/>
              </a:ext>
            </a:extLst>
          </p:cNvPr>
          <p:cNvSpPr/>
          <p:nvPr/>
        </p:nvSpPr>
        <p:spPr>
          <a:xfrm>
            <a:off x="2302686" y="1173361"/>
            <a:ext cx="2672413" cy="1994179"/>
          </a:xfrm>
          <a:custGeom>
            <a:avLst/>
            <a:gdLst>
              <a:gd name="connsiteX0" fmla="*/ 0 w 1938803"/>
              <a:gd name="connsiteY0" fmla="*/ 338452 h 1074097"/>
              <a:gd name="connsiteX1" fmla="*/ 570641 w 1938803"/>
              <a:gd name="connsiteY1" fmla="*/ 1567 h 1074097"/>
              <a:gd name="connsiteX2" fmla="*/ 1237534 w 1938803"/>
              <a:gd name="connsiteY2" fmla="*/ 235324 h 1074097"/>
              <a:gd name="connsiteX3" fmla="*/ 1753173 w 1938803"/>
              <a:gd name="connsiteY3" fmla="*/ 744088 h 1074097"/>
              <a:gd name="connsiteX4" fmla="*/ 1938803 w 1938803"/>
              <a:gd name="connsiteY4" fmla="*/ 1074097 h 1074097"/>
              <a:gd name="connsiteX0" fmla="*/ 0 w 1938803"/>
              <a:gd name="connsiteY0" fmla="*/ 339206 h 1074851"/>
              <a:gd name="connsiteX1" fmla="*/ 570641 w 1938803"/>
              <a:gd name="connsiteY1" fmla="*/ 2321 h 1074851"/>
              <a:gd name="connsiteX2" fmla="*/ 1045029 w 1938803"/>
              <a:gd name="connsiteY2" fmla="*/ 497336 h 1074851"/>
              <a:gd name="connsiteX3" fmla="*/ 1753173 w 1938803"/>
              <a:gd name="connsiteY3" fmla="*/ 744842 h 1074851"/>
              <a:gd name="connsiteX4" fmla="*/ 1938803 w 1938803"/>
              <a:gd name="connsiteY4" fmla="*/ 1074851 h 1074851"/>
              <a:gd name="connsiteX0" fmla="*/ 0 w 1938803"/>
              <a:gd name="connsiteY0" fmla="*/ 291698 h 1027343"/>
              <a:gd name="connsiteX1" fmla="*/ 907525 w 1938803"/>
              <a:gd name="connsiteY1" fmla="*/ 2940 h 1027343"/>
              <a:gd name="connsiteX2" fmla="*/ 1045029 w 1938803"/>
              <a:gd name="connsiteY2" fmla="*/ 449828 h 1027343"/>
              <a:gd name="connsiteX3" fmla="*/ 1753173 w 1938803"/>
              <a:gd name="connsiteY3" fmla="*/ 697334 h 1027343"/>
              <a:gd name="connsiteX4" fmla="*/ 1938803 w 1938803"/>
              <a:gd name="connsiteY4" fmla="*/ 1027343 h 1027343"/>
              <a:gd name="connsiteX0" fmla="*/ 0 w 2008968"/>
              <a:gd name="connsiteY0" fmla="*/ 291698 h 1027343"/>
              <a:gd name="connsiteX1" fmla="*/ 907525 w 2008968"/>
              <a:gd name="connsiteY1" fmla="*/ 2940 h 1027343"/>
              <a:gd name="connsiteX2" fmla="*/ 1045029 w 2008968"/>
              <a:gd name="connsiteY2" fmla="*/ 449828 h 1027343"/>
              <a:gd name="connsiteX3" fmla="*/ 1952553 w 2008968"/>
              <a:gd name="connsiteY3" fmla="*/ 594207 h 1027343"/>
              <a:gd name="connsiteX4" fmla="*/ 1938803 w 2008968"/>
              <a:gd name="connsiteY4" fmla="*/ 1027343 h 1027343"/>
              <a:gd name="connsiteX0" fmla="*/ 0 w 1938803"/>
              <a:gd name="connsiteY0" fmla="*/ 291698 h 1027343"/>
              <a:gd name="connsiteX1" fmla="*/ 907525 w 1938803"/>
              <a:gd name="connsiteY1" fmla="*/ 2940 h 1027343"/>
              <a:gd name="connsiteX2" fmla="*/ 1045029 w 1938803"/>
              <a:gd name="connsiteY2" fmla="*/ 449828 h 1027343"/>
              <a:gd name="connsiteX3" fmla="*/ 1842550 w 1938803"/>
              <a:gd name="connsiteY3" fmla="*/ 683585 h 1027343"/>
              <a:gd name="connsiteX4" fmla="*/ 1938803 w 1938803"/>
              <a:gd name="connsiteY4" fmla="*/ 1027343 h 1027343"/>
              <a:gd name="connsiteX0" fmla="*/ 0 w 1938803"/>
              <a:gd name="connsiteY0" fmla="*/ 297132 h 1032777"/>
              <a:gd name="connsiteX1" fmla="*/ 426262 w 1938803"/>
              <a:gd name="connsiteY1" fmla="*/ 173378 h 1032777"/>
              <a:gd name="connsiteX2" fmla="*/ 907525 w 1938803"/>
              <a:gd name="connsiteY2" fmla="*/ 8374 h 1032777"/>
              <a:gd name="connsiteX3" fmla="*/ 1045029 w 1938803"/>
              <a:gd name="connsiteY3" fmla="*/ 455262 h 1032777"/>
              <a:gd name="connsiteX4" fmla="*/ 1842550 w 1938803"/>
              <a:gd name="connsiteY4" fmla="*/ 689019 h 1032777"/>
              <a:gd name="connsiteX5" fmla="*/ 1938803 w 1938803"/>
              <a:gd name="connsiteY5" fmla="*/ 1032777 h 1032777"/>
              <a:gd name="connsiteX0" fmla="*/ 0 w 1938803"/>
              <a:gd name="connsiteY0" fmla="*/ 307374 h 1043019"/>
              <a:gd name="connsiteX1" fmla="*/ 426262 w 1938803"/>
              <a:gd name="connsiteY1" fmla="*/ 183620 h 1043019"/>
              <a:gd name="connsiteX2" fmla="*/ 907525 w 1938803"/>
              <a:gd name="connsiteY2" fmla="*/ 18616 h 1043019"/>
              <a:gd name="connsiteX3" fmla="*/ 1430040 w 1938803"/>
              <a:gd name="connsiteY3" fmla="*/ 80493 h 1043019"/>
              <a:gd name="connsiteX4" fmla="*/ 1842550 w 1938803"/>
              <a:gd name="connsiteY4" fmla="*/ 699261 h 1043019"/>
              <a:gd name="connsiteX5" fmla="*/ 1938803 w 1938803"/>
              <a:gd name="connsiteY5" fmla="*/ 1043019 h 1043019"/>
              <a:gd name="connsiteX0" fmla="*/ 0 w 1938803"/>
              <a:gd name="connsiteY0" fmla="*/ 298125 h 1033770"/>
              <a:gd name="connsiteX1" fmla="*/ 426262 w 1938803"/>
              <a:gd name="connsiteY1" fmla="*/ 174371 h 1033770"/>
              <a:gd name="connsiteX2" fmla="*/ 907525 w 1938803"/>
              <a:gd name="connsiteY2" fmla="*/ 9367 h 1033770"/>
              <a:gd name="connsiteX3" fmla="*/ 1271910 w 1938803"/>
              <a:gd name="connsiteY3" fmla="*/ 476880 h 1033770"/>
              <a:gd name="connsiteX4" fmla="*/ 1842550 w 1938803"/>
              <a:gd name="connsiteY4" fmla="*/ 690012 h 1033770"/>
              <a:gd name="connsiteX5" fmla="*/ 1938803 w 1938803"/>
              <a:gd name="connsiteY5" fmla="*/ 1033770 h 1033770"/>
              <a:gd name="connsiteX0" fmla="*/ 0 w 1938803"/>
              <a:gd name="connsiteY0" fmla="*/ 298125 h 1059170"/>
              <a:gd name="connsiteX1" fmla="*/ 426262 w 1938803"/>
              <a:gd name="connsiteY1" fmla="*/ 174371 h 1059170"/>
              <a:gd name="connsiteX2" fmla="*/ 907525 w 1938803"/>
              <a:gd name="connsiteY2" fmla="*/ 9367 h 1059170"/>
              <a:gd name="connsiteX3" fmla="*/ 1271910 w 1938803"/>
              <a:gd name="connsiteY3" fmla="*/ 476880 h 1059170"/>
              <a:gd name="connsiteX4" fmla="*/ 1842550 w 1938803"/>
              <a:gd name="connsiteY4" fmla="*/ 690012 h 1059170"/>
              <a:gd name="connsiteX5" fmla="*/ 1938803 w 1938803"/>
              <a:gd name="connsiteY5" fmla="*/ 1059170 h 1059170"/>
              <a:gd name="connsiteX0" fmla="*/ 0 w 1938803"/>
              <a:gd name="connsiteY0" fmla="*/ 298125 h 1059170"/>
              <a:gd name="connsiteX1" fmla="*/ 426262 w 1938803"/>
              <a:gd name="connsiteY1" fmla="*/ 174371 h 1059170"/>
              <a:gd name="connsiteX2" fmla="*/ 907525 w 1938803"/>
              <a:gd name="connsiteY2" fmla="*/ 9367 h 1059170"/>
              <a:gd name="connsiteX3" fmla="*/ 1271910 w 1938803"/>
              <a:gd name="connsiteY3" fmla="*/ 476880 h 1059170"/>
              <a:gd name="connsiteX4" fmla="*/ 1842550 w 1938803"/>
              <a:gd name="connsiteY4" fmla="*/ 690012 h 1059170"/>
              <a:gd name="connsiteX5" fmla="*/ 1938803 w 1938803"/>
              <a:gd name="connsiteY5" fmla="*/ 1059170 h 1059170"/>
              <a:gd name="connsiteX0" fmla="*/ 0 w 1957370"/>
              <a:gd name="connsiteY0" fmla="*/ 1483 h 1305598"/>
              <a:gd name="connsiteX1" fmla="*/ 444829 w 1957370"/>
              <a:gd name="connsiteY1" fmla="*/ 420799 h 1305598"/>
              <a:gd name="connsiteX2" fmla="*/ 926092 w 1957370"/>
              <a:gd name="connsiteY2" fmla="*/ 255795 h 1305598"/>
              <a:gd name="connsiteX3" fmla="*/ 1290477 w 1957370"/>
              <a:gd name="connsiteY3" fmla="*/ 723308 h 1305598"/>
              <a:gd name="connsiteX4" fmla="*/ 1861117 w 1957370"/>
              <a:gd name="connsiteY4" fmla="*/ 936440 h 1305598"/>
              <a:gd name="connsiteX5" fmla="*/ 1957370 w 1957370"/>
              <a:gd name="connsiteY5" fmla="*/ 1305598 h 1305598"/>
              <a:gd name="connsiteX0" fmla="*/ 0 w 1957370"/>
              <a:gd name="connsiteY0" fmla="*/ 9429 h 1313544"/>
              <a:gd name="connsiteX1" fmla="*/ 444829 w 1957370"/>
              <a:gd name="connsiteY1" fmla="*/ 428745 h 1313544"/>
              <a:gd name="connsiteX2" fmla="*/ 926092 w 1957370"/>
              <a:gd name="connsiteY2" fmla="*/ 263741 h 1313544"/>
              <a:gd name="connsiteX3" fmla="*/ 1290477 w 1957370"/>
              <a:gd name="connsiteY3" fmla="*/ 731254 h 1313544"/>
              <a:gd name="connsiteX4" fmla="*/ 1861117 w 1957370"/>
              <a:gd name="connsiteY4" fmla="*/ 944386 h 1313544"/>
              <a:gd name="connsiteX5" fmla="*/ 1957370 w 1957370"/>
              <a:gd name="connsiteY5" fmla="*/ 1313544 h 1313544"/>
              <a:gd name="connsiteX0" fmla="*/ 0 w 1957370"/>
              <a:gd name="connsiteY0" fmla="*/ 253163 h 1557278"/>
              <a:gd name="connsiteX1" fmla="*/ 129199 w 1957370"/>
              <a:gd name="connsiteY1" fmla="*/ 4085 h 1557278"/>
              <a:gd name="connsiteX2" fmla="*/ 926092 w 1957370"/>
              <a:gd name="connsiteY2" fmla="*/ 507475 h 1557278"/>
              <a:gd name="connsiteX3" fmla="*/ 1290477 w 1957370"/>
              <a:gd name="connsiteY3" fmla="*/ 974988 h 1557278"/>
              <a:gd name="connsiteX4" fmla="*/ 1861117 w 1957370"/>
              <a:gd name="connsiteY4" fmla="*/ 1188120 h 1557278"/>
              <a:gd name="connsiteX5" fmla="*/ 1957370 w 1957370"/>
              <a:gd name="connsiteY5" fmla="*/ 1557278 h 1557278"/>
              <a:gd name="connsiteX0" fmla="*/ 0 w 1957370"/>
              <a:gd name="connsiteY0" fmla="*/ 252876 h 1556991"/>
              <a:gd name="connsiteX1" fmla="*/ 129199 w 1957370"/>
              <a:gd name="connsiteY1" fmla="*/ 3798 h 1556991"/>
              <a:gd name="connsiteX2" fmla="*/ 707936 w 1957370"/>
              <a:gd name="connsiteY2" fmla="*/ 539679 h 1556991"/>
              <a:gd name="connsiteX3" fmla="*/ 1290477 w 1957370"/>
              <a:gd name="connsiteY3" fmla="*/ 974701 h 1556991"/>
              <a:gd name="connsiteX4" fmla="*/ 1861117 w 1957370"/>
              <a:gd name="connsiteY4" fmla="*/ 1187833 h 1556991"/>
              <a:gd name="connsiteX5" fmla="*/ 1957370 w 1957370"/>
              <a:gd name="connsiteY5" fmla="*/ 1556991 h 1556991"/>
              <a:gd name="connsiteX0" fmla="*/ 0 w 1980981"/>
              <a:gd name="connsiteY0" fmla="*/ 252876 h 1199396"/>
              <a:gd name="connsiteX1" fmla="*/ 129199 w 1980981"/>
              <a:gd name="connsiteY1" fmla="*/ 3798 h 1199396"/>
              <a:gd name="connsiteX2" fmla="*/ 707936 w 1980981"/>
              <a:gd name="connsiteY2" fmla="*/ 539679 h 1199396"/>
              <a:gd name="connsiteX3" fmla="*/ 1290477 w 1980981"/>
              <a:gd name="connsiteY3" fmla="*/ 974701 h 1199396"/>
              <a:gd name="connsiteX4" fmla="*/ 1861117 w 1980981"/>
              <a:gd name="connsiteY4" fmla="*/ 1187833 h 1199396"/>
              <a:gd name="connsiteX5" fmla="*/ 1980981 w 1980981"/>
              <a:gd name="connsiteY5" fmla="*/ 840792 h 1199396"/>
              <a:gd name="connsiteX0" fmla="*/ 0 w 1980981"/>
              <a:gd name="connsiteY0" fmla="*/ 252876 h 975848"/>
              <a:gd name="connsiteX1" fmla="*/ 129199 w 1980981"/>
              <a:gd name="connsiteY1" fmla="*/ 3798 h 975848"/>
              <a:gd name="connsiteX2" fmla="*/ 707936 w 1980981"/>
              <a:gd name="connsiteY2" fmla="*/ 539679 h 975848"/>
              <a:gd name="connsiteX3" fmla="*/ 1290477 w 1980981"/>
              <a:gd name="connsiteY3" fmla="*/ 974701 h 975848"/>
              <a:gd name="connsiteX4" fmla="*/ 1680099 w 1980981"/>
              <a:gd name="connsiteY4" fmla="*/ 408672 h 975848"/>
              <a:gd name="connsiteX5" fmla="*/ 1980981 w 1980981"/>
              <a:gd name="connsiteY5" fmla="*/ 840792 h 975848"/>
              <a:gd name="connsiteX0" fmla="*/ 0 w 1980981"/>
              <a:gd name="connsiteY0" fmla="*/ 251985 h 839901"/>
              <a:gd name="connsiteX1" fmla="*/ 129199 w 1980981"/>
              <a:gd name="connsiteY1" fmla="*/ 2907 h 839901"/>
              <a:gd name="connsiteX2" fmla="*/ 707936 w 1980981"/>
              <a:gd name="connsiteY2" fmla="*/ 538788 h 839901"/>
              <a:gd name="connsiteX3" fmla="*/ 1274736 w 1980981"/>
              <a:gd name="connsiteY3" fmla="*/ 115946 h 839901"/>
              <a:gd name="connsiteX4" fmla="*/ 1680099 w 1980981"/>
              <a:gd name="connsiteY4" fmla="*/ 407781 h 839901"/>
              <a:gd name="connsiteX5" fmla="*/ 1980981 w 1980981"/>
              <a:gd name="connsiteY5" fmla="*/ 839901 h 839901"/>
              <a:gd name="connsiteX0" fmla="*/ 0 w 1980981"/>
              <a:gd name="connsiteY0" fmla="*/ 331630 h 919546"/>
              <a:gd name="connsiteX1" fmla="*/ 129199 w 1980981"/>
              <a:gd name="connsiteY1" fmla="*/ 82552 h 919546"/>
              <a:gd name="connsiteX2" fmla="*/ 747288 w 1980981"/>
              <a:gd name="connsiteY2" fmla="*/ 4549 h 919546"/>
              <a:gd name="connsiteX3" fmla="*/ 1274736 w 1980981"/>
              <a:gd name="connsiteY3" fmla="*/ 195591 h 919546"/>
              <a:gd name="connsiteX4" fmla="*/ 1680099 w 1980981"/>
              <a:gd name="connsiteY4" fmla="*/ 487426 h 919546"/>
              <a:gd name="connsiteX5" fmla="*/ 1980981 w 1980981"/>
              <a:gd name="connsiteY5" fmla="*/ 919546 h 919546"/>
              <a:gd name="connsiteX0" fmla="*/ 0 w 1980981"/>
              <a:gd name="connsiteY0" fmla="*/ 331630 h 919546"/>
              <a:gd name="connsiteX1" fmla="*/ 129199 w 1980981"/>
              <a:gd name="connsiteY1" fmla="*/ 82552 h 919546"/>
              <a:gd name="connsiteX2" fmla="*/ 747288 w 1980981"/>
              <a:gd name="connsiteY2" fmla="*/ 4549 h 919546"/>
              <a:gd name="connsiteX3" fmla="*/ 1274736 w 1980981"/>
              <a:gd name="connsiteY3" fmla="*/ 195591 h 919546"/>
              <a:gd name="connsiteX4" fmla="*/ 1980981 w 1980981"/>
              <a:gd name="connsiteY4" fmla="*/ 919546 h 919546"/>
              <a:gd name="connsiteX0" fmla="*/ 0 w 1980981"/>
              <a:gd name="connsiteY0" fmla="*/ 331630 h 919546"/>
              <a:gd name="connsiteX1" fmla="*/ 129199 w 1980981"/>
              <a:gd name="connsiteY1" fmla="*/ 82552 h 919546"/>
              <a:gd name="connsiteX2" fmla="*/ 747288 w 1980981"/>
              <a:gd name="connsiteY2" fmla="*/ 4549 h 919546"/>
              <a:gd name="connsiteX3" fmla="*/ 1274736 w 1980981"/>
              <a:gd name="connsiteY3" fmla="*/ 195591 h 919546"/>
              <a:gd name="connsiteX4" fmla="*/ 1731835 w 1980981"/>
              <a:gd name="connsiteY4" fmla="*/ 540021 h 919546"/>
              <a:gd name="connsiteX5" fmla="*/ 1980981 w 1980981"/>
              <a:gd name="connsiteY5" fmla="*/ 919546 h 919546"/>
              <a:gd name="connsiteX0" fmla="*/ 0 w 1980981"/>
              <a:gd name="connsiteY0" fmla="*/ 329501 h 917417"/>
              <a:gd name="connsiteX1" fmla="*/ 129199 w 1980981"/>
              <a:gd name="connsiteY1" fmla="*/ 80423 h 917417"/>
              <a:gd name="connsiteX2" fmla="*/ 747288 w 1980981"/>
              <a:gd name="connsiteY2" fmla="*/ 2420 h 917417"/>
              <a:gd name="connsiteX3" fmla="*/ 1306218 w 1980981"/>
              <a:gd name="connsiteY3" fmla="*/ 154110 h 917417"/>
              <a:gd name="connsiteX4" fmla="*/ 1731835 w 1980981"/>
              <a:gd name="connsiteY4" fmla="*/ 537892 h 917417"/>
              <a:gd name="connsiteX5" fmla="*/ 1980981 w 1980981"/>
              <a:gd name="connsiteY5" fmla="*/ 917417 h 917417"/>
              <a:gd name="connsiteX0" fmla="*/ 0 w 1949500"/>
              <a:gd name="connsiteY0" fmla="*/ 10747 h 1299121"/>
              <a:gd name="connsiteX1" fmla="*/ 97718 w 1949500"/>
              <a:gd name="connsiteY1" fmla="*/ 462127 h 1299121"/>
              <a:gd name="connsiteX2" fmla="*/ 715807 w 1949500"/>
              <a:gd name="connsiteY2" fmla="*/ 384124 h 1299121"/>
              <a:gd name="connsiteX3" fmla="*/ 1274737 w 1949500"/>
              <a:gd name="connsiteY3" fmla="*/ 535814 h 1299121"/>
              <a:gd name="connsiteX4" fmla="*/ 1700354 w 1949500"/>
              <a:gd name="connsiteY4" fmla="*/ 919596 h 1299121"/>
              <a:gd name="connsiteX5" fmla="*/ 1949500 w 1949500"/>
              <a:gd name="connsiteY5" fmla="*/ 1299121 h 1299121"/>
              <a:gd name="connsiteX0" fmla="*/ 0 w 1949500"/>
              <a:gd name="connsiteY0" fmla="*/ 178204 h 1466578"/>
              <a:gd name="connsiteX1" fmla="*/ 514845 w 1949500"/>
              <a:gd name="connsiteY1" fmla="*/ 15701 h 1466578"/>
              <a:gd name="connsiteX2" fmla="*/ 715807 w 1949500"/>
              <a:gd name="connsiteY2" fmla="*/ 551581 h 1466578"/>
              <a:gd name="connsiteX3" fmla="*/ 1274737 w 1949500"/>
              <a:gd name="connsiteY3" fmla="*/ 703271 h 1466578"/>
              <a:gd name="connsiteX4" fmla="*/ 1700354 w 1949500"/>
              <a:gd name="connsiteY4" fmla="*/ 1087053 h 1466578"/>
              <a:gd name="connsiteX5" fmla="*/ 1949500 w 1949500"/>
              <a:gd name="connsiteY5" fmla="*/ 1466578 h 1466578"/>
              <a:gd name="connsiteX0" fmla="*/ 0 w 1949500"/>
              <a:gd name="connsiteY0" fmla="*/ 192755 h 1481129"/>
              <a:gd name="connsiteX1" fmla="*/ 200032 w 1949500"/>
              <a:gd name="connsiteY1" fmla="*/ 14511 h 1481129"/>
              <a:gd name="connsiteX2" fmla="*/ 715807 w 1949500"/>
              <a:gd name="connsiteY2" fmla="*/ 566132 h 1481129"/>
              <a:gd name="connsiteX3" fmla="*/ 1274737 w 1949500"/>
              <a:gd name="connsiteY3" fmla="*/ 717822 h 1481129"/>
              <a:gd name="connsiteX4" fmla="*/ 1700354 w 1949500"/>
              <a:gd name="connsiteY4" fmla="*/ 1101604 h 1481129"/>
              <a:gd name="connsiteX5" fmla="*/ 1949500 w 1949500"/>
              <a:gd name="connsiteY5" fmla="*/ 1481129 h 1481129"/>
              <a:gd name="connsiteX0" fmla="*/ 0 w 1949500"/>
              <a:gd name="connsiteY0" fmla="*/ 181525 h 1469899"/>
              <a:gd name="connsiteX1" fmla="*/ 200032 w 1949500"/>
              <a:gd name="connsiteY1" fmla="*/ 3281 h 1469899"/>
              <a:gd name="connsiteX2" fmla="*/ 896825 w 1949500"/>
              <a:gd name="connsiteY2" fmla="*/ 326663 h 1469899"/>
              <a:gd name="connsiteX3" fmla="*/ 1274737 w 1949500"/>
              <a:gd name="connsiteY3" fmla="*/ 706592 h 1469899"/>
              <a:gd name="connsiteX4" fmla="*/ 1700354 w 1949500"/>
              <a:gd name="connsiteY4" fmla="*/ 1090374 h 1469899"/>
              <a:gd name="connsiteX5" fmla="*/ 1949500 w 1949500"/>
              <a:gd name="connsiteY5" fmla="*/ 1469899 h 1469899"/>
              <a:gd name="connsiteX0" fmla="*/ 0 w 1949500"/>
              <a:gd name="connsiteY0" fmla="*/ 181525 h 1469899"/>
              <a:gd name="connsiteX1" fmla="*/ 200032 w 1949500"/>
              <a:gd name="connsiteY1" fmla="*/ 3281 h 1469899"/>
              <a:gd name="connsiteX2" fmla="*/ 896825 w 1949500"/>
              <a:gd name="connsiteY2" fmla="*/ 326663 h 1469899"/>
              <a:gd name="connsiteX3" fmla="*/ 1140941 w 1949500"/>
              <a:gd name="connsiteY3" fmla="*/ 919090 h 1469899"/>
              <a:gd name="connsiteX4" fmla="*/ 1700354 w 1949500"/>
              <a:gd name="connsiteY4" fmla="*/ 1090374 h 1469899"/>
              <a:gd name="connsiteX5" fmla="*/ 1949500 w 1949500"/>
              <a:gd name="connsiteY5" fmla="*/ 1469899 h 1469899"/>
              <a:gd name="connsiteX0" fmla="*/ 0 w 1949500"/>
              <a:gd name="connsiteY0" fmla="*/ 181525 h 1469899"/>
              <a:gd name="connsiteX1" fmla="*/ 200032 w 1949500"/>
              <a:gd name="connsiteY1" fmla="*/ 3281 h 1469899"/>
              <a:gd name="connsiteX2" fmla="*/ 896825 w 1949500"/>
              <a:gd name="connsiteY2" fmla="*/ 326663 h 1469899"/>
              <a:gd name="connsiteX3" fmla="*/ 1140941 w 1949500"/>
              <a:gd name="connsiteY3" fmla="*/ 919090 h 1469899"/>
              <a:gd name="connsiteX4" fmla="*/ 1889241 w 1949500"/>
              <a:gd name="connsiteY4" fmla="*/ 1019541 h 1469899"/>
              <a:gd name="connsiteX5" fmla="*/ 1949500 w 1949500"/>
              <a:gd name="connsiteY5" fmla="*/ 1469899 h 1469899"/>
              <a:gd name="connsiteX0" fmla="*/ 0 w 1971005"/>
              <a:gd name="connsiteY0" fmla="*/ 169502 h 1470779"/>
              <a:gd name="connsiteX1" fmla="*/ 221537 w 1971005"/>
              <a:gd name="connsiteY1" fmla="*/ 4161 h 1470779"/>
              <a:gd name="connsiteX2" fmla="*/ 918330 w 1971005"/>
              <a:gd name="connsiteY2" fmla="*/ 327543 h 1470779"/>
              <a:gd name="connsiteX3" fmla="*/ 1162446 w 1971005"/>
              <a:gd name="connsiteY3" fmla="*/ 919970 h 1470779"/>
              <a:gd name="connsiteX4" fmla="*/ 1910746 w 1971005"/>
              <a:gd name="connsiteY4" fmla="*/ 1020421 h 1470779"/>
              <a:gd name="connsiteX5" fmla="*/ 1971005 w 1971005"/>
              <a:gd name="connsiteY5" fmla="*/ 1470779 h 1470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71005" h="1470779">
                <a:moveTo>
                  <a:pt x="0" y="169502"/>
                </a:moveTo>
                <a:cubicBezTo>
                  <a:pt x="9615" y="81719"/>
                  <a:pt x="68482" y="-22179"/>
                  <a:pt x="221537" y="4161"/>
                </a:cubicBezTo>
                <a:cubicBezTo>
                  <a:pt x="374592" y="30501"/>
                  <a:pt x="761512" y="174908"/>
                  <a:pt x="918330" y="327543"/>
                </a:cubicBezTo>
                <a:cubicBezTo>
                  <a:pt x="1075148" y="480178"/>
                  <a:pt x="997043" y="804490"/>
                  <a:pt x="1162446" y="919970"/>
                </a:cubicBezTo>
                <a:cubicBezTo>
                  <a:pt x="1327849" y="1035450"/>
                  <a:pt x="1793039" y="899762"/>
                  <a:pt x="1910746" y="1020421"/>
                </a:cubicBezTo>
                <a:cubicBezTo>
                  <a:pt x="2028453" y="1141080"/>
                  <a:pt x="1920299" y="1414083"/>
                  <a:pt x="1971005" y="1470779"/>
                </a:cubicBezTo>
              </a:path>
            </a:pathLst>
          </a:cu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4" name="Freeform 13">
            <a:extLst>
              <a:ext uri="{FF2B5EF4-FFF2-40B4-BE49-F238E27FC236}">
                <a16:creationId xmlns:a16="http://schemas.microsoft.com/office/drawing/2014/main" id="{848B76DE-DDED-BC45-A9A5-6E05C4842492}"/>
              </a:ext>
            </a:extLst>
          </p:cNvPr>
          <p:cNvSpPr/>
          <p:nvPr/>
        </p:nvSpPr>
        <p:spPr>
          <a:xfrm>
            <a:off x="2290548" y="2577811"/>
            <a:ext cx="3679945" cy="3607835"/>
          </a:xfrm>
          <a:custGeom>
            <a:avLst/>
            <a:gdLst>
              <a:gd name="connsiteX0" fmla="*/ 0 w 2709979"/>
              <a:gd name="connsiteY0" fmla="*/ 2352926 h 2813968"/>
              <a:gd name="connsiteX1" fmla="*/ 618767 w 2709979"/>
              <a:gd name="connsiteY1" fmla="*/ 2813563 h 2813968"/>
              <a:gd name="connsiteX2" fmla="*/ 1670670 w 2709979"/>
              <a:gd name="connsiteY2" fmla="*/ 2421678 h 2813968"/>
              <a:gd name="connsiteX3" fmla="*/ 2337564 w 2709979"/>
              <a:gd name="connsiteY3" fmla="*/ 1796036 h 2813968"/>
              <a:gd name="connsiteX4" fmla="*/ 2646947 w 2709979"/>
              <a:gd name="connsiteY4" fmla="*/ 922887 h 2813968"/>
              <a:gd name="connsiteX5" fmla="*/ 2660698 w 2709979"/>
              <a:gd name="connsiteY5" fmla="*/ 35987 h 2813968"/>
              <a:gd name="connsiteX6" fmla="*/ 2110683 w 2709979"/>
              <a:gd name="connsiteY6" fmla="*/ 228493 h 2813968"/>
              <a:gd name="connsiteX7" fmla="*/ 2282562 w 2709979"/>
              <a:gd name="connsiteY7" fmla="*/ 744132 h 2813968"/>
              <a:gd name="connsiteX0" fmla="*/ 0 w 2698222"/>
              <a:gd name="connsiteY0" fmla="*/ 2354251 h 2815293"/>
              <a:gd name="connsiteX1" fmla="*/ 618767 w 2698222"/>
              <a:gd name="connsiteY1" fmla="*/ 2814888 h 2815293"/>
              <a:gd name="connsiteX2" fmla="*/ 1670670 w 2698222"/>
              <a:gd name="connsiteY2" fmla="*/ 2423003 h 2815293"/>
              <a:gd name="connsiteX3" fmla="*/ 2337564 w 2698222"/>
              <a:gd name="connsiteY3" fmla="*/ 1797361 h 2815293"/>
              <a:gd name="connsiteX4" fmla="*/ 2646947 w 2698222"/>
              <a:gd name="connsiteY4" fmla="*/ 924212 h 2815293"/>
              <a:gd name="connsiteX5" fmla="*/ 2660698 w 2698222"/>
              <a:gd name="connsiteY5" fmla="*/ 37312 h 2815293"/>
              <a:gd name="connsiteX6" fmla="*/ 2275687 w 2698222"/>
              <a:gd name="connsiteY6" fmla="*/ 222943 h 2815293"/>
              <a:gd name="connsiteX7" fmla="*/ 2282562 w 2698222"/>
              <a:gd name="connsiteY7" fmla="*/ 745457 h 2815293"/>
              <a:gd name="connsiteX0" fmla="*/ 0 w 2826705"/>
              <a:gd name="connsiteY0" fmla="*/ 2161948 h 2622990"/>
              <a:gd name="connsiteX1" fmla="*/ 618767 w 2826705"/>
              <a:gd name="connsiteY1" fmla="*/ 2622585 h 2622990"/>
              <a:gd name="connsiteX2" fmla="*/ 1670670 w 2826705"/>
              <a:gd name="connsiteY2" fmla="*/ 2230700 h 2622990"/>
              <a:gd name="connsiteX3" fmla="*/ 2337564 w 2826705"/>
              <a:gd name="connsiteY3" fmla="*/ 1605058 h 2622990"/>
              <a:gd name="connsiteX4" fmla="*/ 2646947 w 2826705"/>
              <a:gd name="connsiteY4" fmla="*/ 731909 h 2622990"/>
              <a:gd name="connsiteX5" fmla="*/ 2811952 w 2826705"/>
              <a:gd name="connsiteY5" fmla="*/ 133767 h 2622990"/>
              <a:gd name="connsiteX6" fmla="*/ 2275687 w 2826705"/>
              <a:gd name="connsiteY6" fmla="*/ 30640 h 2622990"/>
              <a:gd name="connsiteX7" fmla="*/ 2282562 w 2826705"/>
              <a:gd name="connsiteY7" fmla="*/ 553154 h 2622990"/>
              <a:gd name="connsiteX0" fmla="*/ 0 w 2826705"/>
              <a:gd name="connsiteY0" fmla="*/ 2176362 h 2637404"/>
              <a:gd name="connsiteX1" fmla="*/ 618767 w 2826705"/>
              <a:gd name="connsiteY1" fmla="*/ 2636999 h 2637404"/>
              <a:gd name="connsiteX2" fmla="*/ 1670670 w 2826705"/>
              <a:gd name="connsiteY2" fmla="*/ 2245114 h 2637404"/>
              <a:gd name="connsiteX3" fmla="*/ 2337564 w 2826705"/>
              <a:gd name="connsiteY3" fmla="*/ 1619472 h 2637404"/>
              <a:gd name="connsiteX4" fmla="*/ 2646947 w 2826705"/>
              <a:gd name="connsiteY4" fmla="*/ 1110708 h 2637404"/>
              <a:gd name="connsiteX5" fmla="*/ 2811952 w 2826705"/>
              <a:gd name="connsiteY5" fmla="*/ 148181 h 2637404"/>
              <a:gd name="connsiteX6" fmla="*/ 2275687 w 2826705"/>
              <a:gd name="connsiteY6" fmla="*/ 45054 h 2637404"/>
              <a:gd name="connsiteX7" fmla="*/ 2282562 w 2826705"/>
              <a:gd name="connsiteY7" fmla="*/ 567568 h 2637404"/>
              <a:gd name="connsiteX0" fmla="*/ 0 w 2826705"/>
              <a:gd name="connsiteY0" fmla="*/ 2176362 h 2651854"/>
              <a:gd name="connsiteX1" fmla="*/ 618767 w 2826705"/>
              <a:gd name="connsiteY1" fmla="*/ 2636999 h 2651854"/>
              <a:gd name="connsiteX2" fmla="*/ 1636487 w 2826705"/>
              <a:gd name="connsiteY2" fmla="*/ 1646908 h 2651854"/>
              <a:gd name="connsiteX3" fmla="*/ 2337564 w 2826705"/>
              <a:gd name="connsiteY3" fmla="*/ 1619472 h 2651854"/>
              <a:gd name="connsiteX4" fmla="*/ 2646947 w 2826705"/>
              <a:gd name="connsiteY4" fmla="*/ 1110708 h 2651854"/>
              <a:gd name="connsiteX5" fmla="*/ 2811952 w 2826705"/>
              <a:gd name="connsiteY5" fmla="*/ 148181 h 2651854"/>
              <a:gd name="connsiteX6" fmla="*/ 2275687 w 2826705"/>
              <a:gd name="connsiteY6" fmla="*/ 45054 h 2651854"/>
              <a:gd name="connsiteX7" fmla="*/ 2282562 w 2826705"/>
              <a:gd name="connsiteY7" fmla="*/ 567568 h 2651854"/>
              <a:gd name="connsiteX0" fmla="*/ 0 w 2826705"/>
              <a:gd name="connsiteY0" fmla="*/ 2158833 h 2634325"/>
              <a:gd name="connsiteX1" fmla="*/ 618767 w 2826705"/>
              <a:gd name="connsiteY1" fmla="*/ 2619470 h 2634325"/>
              <a:gd name="connsiteX2" fmla="*/ 1636487 w 2826705"/>
              <a:gd name="connsiteY2" fmla="*/ 1629379 h 2634325"/>
              <a:gd name="connsiteX3" fmla="*/ 2337564 w 2826705"/>
              <a:gd name="connsiteY3" fmla="*/ 1601943 h 2634325"/>
              <a:gd name="connsiteX4" fmla="*/ 2646947 w 2826705"/>
              <a:gd name="connsiteY4" fmla="*/ 1093179 h 2634325"/>
              <a:gd name="connsiteX5" fmla="*/ 2811952 w 2826705"/>
              <a:gd name="connsiteY5" fmla="*/ 130652 h 2634325"/>
              <a:gd name="connsiteX6" fmla="*/ 2275687 w 2826705"/>
              <a:gd name="connsiteY6" fmla="*/ 27525 h 2634325"/>
              <a:gd name="connsiteX7" fmla="*/ 2275878 w 2826705"/>
              <a:gd name="connsiteY7" fmla="*/ 304776 h 2634325"/>
              <a:gd name="connsiteX8" fmla="*/ 2282562 w 2826705"/>
              <a:gd name="connsiteY8" fmla="*/ 550039 h 2634325"/>
              <a:gd name="connsiteX0" fmla="*/ 0 w 2817685"/>
              <a:gd name="connsiteY0" fmla="*/ 2277237 h 2752729"/>
              <a:gd name="connsiteX1" fmla="*/ 618767 w 2817685"/>
              <a:gd name="connsiteY1" fmla="*/ 2737874 h 2752729"/>
              <a:gd name="connsiteX2" fmla="*/ 1636487 w 2817685"/>
              <a:gd name="connsiteY2" fmla="*/ 1747783 h 2752729"/>
              <a:gd name="connsiteX3" fmla="*/ 2337564 w 2817685"/>
              <a:gd name="connsiteY3" fmla="*/ 1720347 h 2752729"/>
              <a:gd name="connsiteX4" fmla="*/ 2646947 w 2817685"/>
              <a:gd name="connsiteY4" fmla="*/ 1211583 h 2752729"/>
              <a:gd name="connsiteX5" fmla="*/ 2811952 w 2817685"/>
              <a:gd name="connsiteY5" fmla="*/ 249056 h 2752729"/>
              <a:gd name="connsiteX6" fmla="*/ 2447137 w 2817685"/>
              <a:gd name="connsiteY6" fmla="*/ 6229 h 2752729"/>
              <a:gd name="connsiteX7" fmla="*/ 2275878 w 2817685"/>
              <a:gd name="connsiteY7" fmla="*/ 423180 h 2752729"/>
              <a:gd name="connsiteX8" fmla="*/ 2282562 w 2817685"/>
              <a:gd name="connsiteY8" fmla="*/ 668443 h 2752729"/>
              <a:gd name="connsiteX0" fmla="*/ 0 w 2817685"/>
              <a:gd name="connsiteY0" fmla="*/ 2307274 h 2782766"/>
              <a:gd name="connsiteX1" fmla="*/ 618767 w 2817685"/>
              <a:gd name="connsiteY1" fmla="*/ 2767911 h 2782766"/>
              <a:gd name="connsiteX2" fmla="*/ 1636487 w 2817685"/>
              <a:gd name="connsiteY2" fmla="*/ 1777820 h 2782766"/>
              <a:gd name="connsiteX3" fmla="*/ 2337564 w 2817685"/>
              <a:gd name="connsiteY3" fmla="*/ 1750384 h 2782766"/>
              <a:gd name="connsiteX4" fmla="*/ 2646947 w 2817685"/>
              <a:gd name="connsiteY4" fmla="*/ 1241620 h 2782766"/>
              <a:gd name="connsiteX5" fmla="*/ 2811952 w 2817685"/>
              <a:gd name="connsiteY5" fmla="*/ 279093 h 2782766"/>
              <a:gd name="connsiteX6" fmla="*/ 2447137 w 2817685"/>
              <a:gd name="connsiteY6" fmla="*/ 36266 h 2782766"/>
              <a:gd name="connsiteX7" fmla="*/ 2275878 w 2817685"/>
              <a:gd name="connsiteY7" fmla="*/ 453217 h 2782766"/>
              <a:gd name="connsiteX8" fmla="*/ 2282562 w 2817685"/>
              <a:gd name="connsiteY8" fmla="*/ 698480 h 2782766"/>
              <a:gd name="connsiteX0" fmla="*/ 0 w 2817685"/>
              <a:gd name="connsiteY0" fmla="*/ 2279294 h 2754786"/>
              <a:gd name="connsiteX1" fmla="*/ 618767 w 2817685"/>
              <a:gd name="connsiteY1" fmla="*/ 2739931 h 2754786"/>
              <a:gd name="connsiteX2" fmla="*/ 1636487 w 2817685"/>
              <a:gd name="connsiteY2" fmla="*/ 1749840 h 2754786"/>
              <a:gd name="connsiteX3" fmla="*/ 2337564 w 2817685"/>
              <a:gd name="connsiteY3" fmla="*/ 1722404 h 2754786"/>
              <a:gd name="connsiteX4" fmla="*/ 2646947 w 2817685"/>
              <a:gd name="connsiteY4" fmla="*/ 1213640 h 2754786"/>
              <a:gd name="connsiteX5" fmla="*/ 2811952 w 2817685"/>
              <a:gd name="connsiteY5" fmla="*/ 251113 h 2754786"/>
              <a:gd name="connsiteX6" fmla="*/ 2447137 w 2817685"/>
              <a:gd name="connsiteY6" fmla="*/ 8286 h 2754786"/>
              <a:gd name="connsiteX7" fmla="*/ 2275878 w 2817685"/>
              <a:gd name="connsiteY7" fmla="*/ 425237 h 2754786"/>
              <a:gd name="connsiteX8" fmla="*/ 2282562 w 2817685"/>
              <a:gd name="connsiteY8" fmla="*/ 670500 h 2754786"/>
              <a:gd name="connsiteX0" fmla="*/ 0 w 2817685"/>
              <a:gd name="connsiteY0" fmla="*/ 2279294 h 2754786"/>
              <a:gd name="connsiteX1" fmla="*/ 618767 w 2817685"/>
              <a:gd name="connsiteY1" fmla="*/ 2739931 h 2754786"/>
              <a:gd name="connsiteX2" fmla="*/ 1636487 w 2817685"/>
              <a:gd name="connsiteY2" fmla="*/ 1749840 h 2754786"/>
              <a:gd name="connsiteX3" fmla="*/ 2337564 w 2817685"/>
              <a:gd name="connsiteY3" fmla="*/ 1722404 h 2754786"/>
              <a:gd name="connsiteX4" fmla="*/ 2646947 w 2817685"/>
              <a:gd name="connsiteY4" fmla="*/ 1213640 h 2754786"/>
              <a:gd name="connsiteX5" fmla="*/ 2811952 w 2817685"/>
              <a:gd name="connsiteY5" fmla="*/ 251113 h 2754786"/>
              <a:gd name="connsiteX6" fmla="*/ 2447137 w 2817685"/>
              <a:gd name="connsiteY6" fmla="*/ 8286 h 2754786"/>
              <a:gd name="connsiteX7" fmla="*/ 2275878 w 2817685"/>
              <a:gd name="connsiteY7" fmla="*/ 425237 h 2754786"/>
              <a:gd name="connsiteX8" fmla="*/ 2282562 w 2817685"/>
              <a:gd name="connsiteY8" fmla="*/ 689550 h 2754786"/>
              <a:gd name="connsiteX0" fmla="*/ 0 w 2817685"/>
              <a:gd name="connsiteY0" fmla="*/ 2279294 h 2754786"/>
              <a:gd name="connsiteX1" fmla="*/ 618767 w 2817685"/>
              <a:gd name="connsiteY1" fmla="*/ 2739931 h 2754786"/>
              <a:gd name="connsiteX2" fmla="*/ 1636487 w 2817685"/>
              <a:gd name="connsiteY2" fmla="*/ 1749840 h 2754786"/>
              <a:gd name="connsiteX3" fmla="*/ 2337564 w 2817685"/>
              <a:gd name="connsiteY3" fmla="*/ 1722404 h 2754786"/>
              <a:gd name="connsiteX4" fmla="*/ 2646947 w 2817685"/>
              <a:gd name="connsiteY4" fmla="*/ 1213640 h 2754786"/>
              <a:gd name="connsiteX5" fmla="*/ 2811952 w 2817685"/>
              <a:gd name="connsiteY5" fmla="*/ 251113 h 2754786"/>
              <a:gd name="connsiteX6" fmla="*/ 2447137 w 2817685"/>
              <a:gd name="connsiteY6" fmla="*/ 8286 h 2754786"/>
              <a:gd name="connsiteX7" fmla="*/ 2275878 w 2817685"/>
              <a:gd name="connsiteY7" fmla="*/ 425237 h 2754786"/>
              <a:gd name="connsiteX8" fmla="*/ 2282562 w 2817685"/>
              <a:gd name="connsiteY8" fmla="*/ 689550 h 2754786"/>
              <a:gd name="connsiteX0" fmla="*/ 0 w 2813043"/>
              <a:gd name="connsiteY0" fmla="*/ 2794514 h 2922489"/>
              <a:gd name="connsiteX1" fmla="*/ 614125 w 2813043"/>
              <a:gd name="connsiteY1" fmla="*/ 2739931 h 2922489"/>
              <a:gd name="connsiteX2" fmla="*/ 1631845 w 2813043"/>
              <a:gd name="connsiteY2" fmla="*/ 1749840 h 2922489"/>
              <a:gd name="connsiteX3" fmla="*/ 2332922 w 2813043"/>
              <a:gd name="connsiteY3" fmla="*/ 1722404 h 2922489"/>
              <a:gd name="connsiteX4" fmla="*/ 2642305 w 2813043"/>
              <a:gd name="connsiteY4" fmla="*/ 1213640 h 2922489"/>
              <a:gd name="connsiteX5" fmla="*/ 2807310 w 2813043"/>
              <a:gd name="connsiteY5" fmla="*/ 251113 h 2922489"/>
              <a:gd name="connsiteX6" fmla="*/ 2442495 w 2813043"/>
              <a:gd name="connsiteY6" fmla="*/ 8286 h 2922489"/>
              <a:gd name="connsiteX7" fmla="*/ 2271236 w 2813043"/>
              <a:gd name="connsiteY7" fmla="*/ 425237 h 2922489"/>
              <a:gd name="connsiteX8" fmla="*/ 2277920 w 2813043"/>
              <a:gd name="connsiteY8" fmla="*/ 689550 h 2922489"/>
              <a:gd name="connsiteX0" fmla="*/ 0 w 2819103"/>
              <a:gd name="connsiteY0" fmla="*/ 2705733 h 2833708"/>
              <a:gd name="connsiteX1" fmla="*/ 614125 w 2819103"/>
              <a:gd name="connsiteY1" fmla="*/ 2651150 h 2833708"/>
              <a:gd name="connsiteX2" fmla="*/ 1631845 w 2819103"/>
              <a:gd name="connsiteY2" fmla="*/ 1661059 h 2833708"/>
              <a:gd name="connsiteX3" fmla="*/ 2332922 w 2819103"/>
              <a:gd name="connsiteY3" fmla="*/ 1633623 h 2833708"/>
              <a:gd name="connsiteX4" fmla="*/ 2642305 w 2819103"/>
              <a:gd name="connsiteY4" fmla="*/ 1124859 h 2833708"/>
              <a:gd name="connsiteX5" fmla="*/ 2807310 w 2819103"/>
              <a:gd name="connsiteY5" fmla="*/ 162332 h 2833708"/>
              <a:gd name="connsiteX6" fmla="*/ 2323498 w 2819103"/>
              <a:gd name="connsiteY6" fmla="*/ 19713 h 2833708"/>
              <a:gd name="connsiteX7" fmla="*/ 2271236 w 2819103"/>
              <a:gd name="connsiteY7" fmla="*/ 336456 h 2833708"/>
              <a:gd name="connsiteX8" fmla="*/ 2277920 w 2819103"/>
              <a:gd name="connsiteY8" fmla="*/ 600769 h 2833708"/>
              <a:gd name="connsiteX0" fmla="*/ 0 w 2663146"/>
              <a:gd name="connsiteY0" fmla="*/ 2688968 h 2816943"/>
              <a:gd name="connsiteX1" fmla="*/ 614125 w 2663146"/>
              <a:gd name="connsiteY1" fmla="*/ 2634385 h 2816943"/>
              <a:gd name="connsiteX2" fmla="*/ 1631845 w 2663146"/>
              <a:gd name="connsiteY2" fmla="*/ 1644294 h 2816943"/>
              <a:gd name="connsiteX3" fmla="*/ 2332922 w 2663146"/>
              <a:gd name="connsiteY3" fmla="*/ 1616858 h 2816943"/>
              <a:gd name="connsiteX4" fmla="*/ 2642305 w 2663146"/>
              <a:gd name="connsiteY4" fmla="*/ 1108094 h 2816943"/>
              <a:gd name="connsiteX5" fmla="*/ 2600630 w 2663146"/>
              <a:gd name="connsiteY5" fmla="*/ 220723 h 2816943"/>
              <a:gd name="connsiteX6" fmla="*/ 2323498 w 2663146"/>
              <a:gd name="connsiteY6" fmla="*/ 2948 h 2816943"/>
              <a:gd name="connsiteX7" fmla="*/ 2271236 w 2663146"/>
              <a:gd name="connsiteY7" fmla="*/ 319691 h 2816943"/>
              <a:gd name="connsiteX8" fmla="*/ 2277920 w 2663146"/>
              <a:gd name="connsiteY8" fmla="*/ 584004 h 2816943"/>
              <a:gd name="connsiteX0" fmla="*/ 0 w 2607916"/>
              <a:gd name="connsiteY0" fmla="*/ 2689486 h 2817461"/>
              <a:gd name="connsiteX1" fmla="*/ 614125 w 2607916"/>
              <a:gd name="connsiteY1" fmla="*/ 2634903 h 2817461"/>
              <a:gd name="connsiteX2" fmla="*/ 1631845 w 2607916"/>
              <a:gd name="connsiteY2" fmla="*/ 1644812 h 2817461"/>
              <a:gd name="connsiteX3" fmla="*/ 2332922 w 2607916"/>
              <a:gd name="connsiteY3" fmla="*/ 1617376 h 2817461"/>
              <a:gd name="connsiteX4" fmla="*/ 2510781 w 2607916"/>
              <a:gd name="connsiteY4" fmla="*/ 1183768 h 2817461"/>
              <a:gd name="connsiteX5" fmla="*/ 2600630 w 2607916"/>
              <a:gd name="connsiteY5" fmla="*/ 221241 h 2817461"/>
              <a:gd name="connsiteX6" fmla="*/ 2323498 w 2607916"/>
              <a:gd name="connsiteY6" fmla="*/ 3466 h 2817461"/>
              <a:gd name="connsiteX7" fmla="*/ 2271236 w 2607916"/>
              <a:gd name="connsiteY7" fmla="*/ 320209 h 2817461"/>
              <a:gd name="connsiteX8" fmla="*/ 2277920 w 2607916"/>
              <a:gd name="connsiteY8" fmla="*/ 584522 h 2817461"/>
              <a:gd name="connsiteX0" fmla="*/ 0 w 2610997"/>
              <a:gd name="connsiteY0" fmla="*/ 2522290 h 2650265"/>
              <a:gd name="connsiteX1" fmla="*/ 614125 w 2610997"/>
              <a:gd name="connsiteY1" fmla="*/ 2467707 h 2650265"/>
              <a:gd name="connsiteX2" fmla="*/ 1631845 w 2610997"/>
              <a:gd name="connsiteY2" fmla="*/ 1477616 h 2650265"/>
              <a:gd name="connsiteX3" fmla="*/ 2332922 w 2610997"/>
              <a:gd name="connsiteY3" fmla="*/ 1450180 h 2650265"/>
              <a:gd name="connsiteX4" fmla="*/ 2510781 w 2610997"/>
              <a:gd name="connsiteY4" fmla="*/ 1016572 h 2650265"/>
              <a:gd name="connsiteX5" fmla="*/ 2600630 w 2610997"/>
              <a:gd name="connsiteY5" fmla="*/ 54045 h 2650265"/>
              <a:gd name="connsiteX6" fmla="*/ 2271236 w 2610997"/>
              <a:gd name="connsiteY6" fmla="*/ 153013 h 2650265"/>
              <a:gd name="connsiteX7" fmla="*/ 2277920 w 2610997"/>
              <a:gd name="connsiteY7" fmla="*/ 417326 h 2650265"/>
              <a:gd name="connsiteX0" fmla="*/ 0 w 2610997"/>
              <a:gd name="connsiteY0" fmla="*/ 2570055 h 2698030"/>
              <a:gd name="connsiteX1" fmla="*/ 614125 w 2610997"/>
              <a:gd name="connsiteY1" fmla="*/ 2515472 h 2698030"/>
              <a:gd name="connsiteX2" fmla="*/ 1631845 w 2610997"/>
              <a:gd name="connsiteY2" fmla="*/ 1525381 h 2698030"/>
              <a:gd name="connsiteX3" fmla="*/ 2332922 w 2610997"/>
              <a:gd name="connsiteY3" fmla="*/ 1497945 h 2698030"/>
              <a:gd name="connsiteX4" fmla="*/ 2510781 w 2610997"/>
              <a:gd name="connsiteY4" fmla="*/ 1064337 h 2698030"/>
              <a:gd name="connsiteX5" fmla="*/ 2600630 w 2610997"/>
              <a:gd name="connsiteY5" fmla="*/ 101810 h 2698030"/>
              <a:gd name="connsiteX6" fmla="*/ 2271236 w 2610997"/>
              <a:gd name="connsiteY6" fmla="*/ 200778 h 2698030"/>
              <a:gd name="connsiteX7" fmla="*/ 2277920 w 2610997"/>
              <a:gd name="connsiteY7" fmla="*/ 465091 h 2698030"/>
              <a:gd name="connsiteX0" fmla="*/ 0 w 2610997"/>
              <a:gd name="connsiteY0" fmla="*/ 2570055 h 2665955"/>
              <a:gd name="connsiteX1" fmla="*/ 614125 w 2610997"/>
              <a:gd name="connsiteY1" fmla="*/ 2403046 h 2665955"/>
              <a:gd name="connsiteX2" fmla="*/ 1631845 w 2610997"/>
              <a:gd name="connsiteY2" fmla="*/ 1525381 h 2665955"/>
              <a:gd name="connsiteX3" fmla="*/ 2332922 w 2610997"/>
              <a:gd name="connsiteY3" fmla="*/ 1497945 h 2665955"/>
              <a:gd name="connsiteX4" fmla="*/ 2510781 w 2610997"/>
              <a:gd name="connsiteY4" fmla="*/ 1064337 h 2665955"/>
              <a:gd name="connsiteX5" fmla="*/ 2600630 w 2610997"/>
              <a:gd name="connsiteY5" fmla="*/ 101810 h 2665955"/>
              <a:gd name="connsiteX6" fmla="*/ 2271236 w 2610997"/>
              <a:gd name="connsiteY6" fmla="*/ 200778 h 2665955"/>
              <a:gd name="connsiteX7" fmla="*/ 2277920 w 2610997"/>
              <a:gd name="connsiteY7" fmla="*/ 465091 h 2665955"/>
              <a:gd name="connsiteX0" fmla="*/ 0 w 2610997"/>
              <a:gd name="connsiteY0" fmla="*/ 2570055 h 2682128"/>
              <a:gd name="connsiteX1" fmla="*/ 614125 w 2610997"/>
              <a:gd name="connsiteY1" fmla="*/ 2403046 h 2682128"/>
              <a:gd name="connsiteX2" fmla="*/ 1631845 w 2610997"/>
              <a:gd name="connsiteY2" fmla="*/ 1525381 h 2682128"/>
              <a:gd name="connsiteX3" fmla="*/ 2332922 w 2610997"/>
              <a:gd name="connsiteY3" fmla="*/ 1497945 h 2682128"/>
              <a:gd name="connsiteX4" fmla="*/ 2510781 w 2610997"/>
              <a:gd name="connsiteY4" fmla="*/ 1064337 h 2682128"/>
              <a:gd name="connsiteX5" fmla="*/ 2600630 w 2610997"/>
              <a:gd name="connsiteY5" fmla="*/ 101810 h 2682128"/>
              <a:gd name="connsiteX6" fmla="*/ 2271236 w 2610997"/>
              <a:gd name="connsiteY6" fmla="*/ 200778 h 2682128"/>
              <a:gd name="connsiteX7" fmla="*/ 2277920 w 2610997"/>
              <a:gd name="connsiteY7" fmla="*/ 465091 h 2682128"/>
              <a:gd name="connsiteX0" fmla="*/ 0 w 2610997"/>
              <a:gd name="connsiteY0" fmla="*/ 2570055 h 2650341"/>
              <a:gd name="connsiteX1" fmla="*/ 614125 w 2610997"/>
              <a:gd name="connsiteY1" fmla="*/ 2403046 h 2650341"/>
              <a:gd name="connsiteX2" fmla="*/ 1222485 w 2610997"/>
              <a:gd name="connsiteY2" fmla="*/ 2076256 h 2650341"/>
              <a:gd name="connsiteX3" fmla="*/ 1631845 w 2610997"/>
              <a:gd name="connsiteY3" fmla="*/ 1525381 h 2650341"/>
              <a:gd name="connsiteX4" fmla="*/ 2332922 w 2610997"/>
              <a:gd name="connsiteY4" fmla="*/ 1497945 h 2650341"/>
              <a:gd name="connsiteX5" fmla="*/ 2510781 w 2610997"/>
              <a:gd name="connsiteY5" fmla="*/ 1064337 h 2650341"/>
              <a:gd name="connsiteX6" fmla="*/ 2600630 w 2610997"/>
              <a:gd name="connsiteY6" fmla="*/ 101810 h 2650341"/>
              <a:gd name="connsiteX7" fmla="*/ 2271236 w 2610997"/>
              <a:gd name="connsiteY7" fmla="*/ 200778 h 2650341"/>
              <a:gd name="connsiteX8" fmla="*/ 2277920 w 2610997"/>
              <a:gd name="connsiteY8" fmla="*/ 465091 h 2650341"/>
              <a:gd name="connsiteX0" fmla="*/ 0 w 2610997"/>
              <a:gd name="connsiteY0" fmla="*/ 2570055 h 2647998"/>
              <a:gd name="connsiteX1" fmla="*/ 614125 w 2610997"/>
              <a:gd name="connsiteY1" fmla="*/ 2403046 h 2647998"/>
              <a:gd name="connsiteX2" fmla="*/ 1289941 w 2610997"/>
              <a:gd name="connsiteY2" fmla="*/ 2173692 h 2647998"/>
              <a:gd name="connsiteX3" fmla="*/ 1631845 w 2610997"/>
              <a:gd name="connsiteY3" fmla="*/ 1525381 h 2647998"/>
              <a:gd name="connsiteX4" fmla="*/ 2332922 w 2610997"/>
              <a:gd name="connsiteY4" fmla="*/ 1497945 h 2647998"/>
              <a:gd name="connsiteX5" fmla="*/ 2510781 w 2610997"/>
              <a:gd name="connsiteY5" fmla="*/ 1064337 h 2647998"/>
              <a:gd name="connsiteX6" fmla="*/ 2600630 w 2610997"/>
              <a:gd name="connsiteY6" fmla="*/ 101810 h 2647998"/>
              <a:gd name="connsiteX7" fmla="*/ 2271236 w 2610997"/>
              <a:gd name="connsiteY7" fmla="*/ 200778 h 2647998"/>
              <a:gd name="connsiteX8" fmla="*/ 2277920 w 2610997"/>
              <a:gd name="connsiteY8" fmla="*/ 465091 h 2647998"/>
              <a:gd name="connsiteX0" fmla="*/ 0 w 2610997"/>
              <a:gd name="connsiteY0" fmla="*/ 2611330 h 2684142"/>
              <a:gd name="connsiteX1" fmla="*/ 614125 w 2610997"/>
              <a:gd name="connsiteY1" fmla="*/ 2403046 h 2684142"/>
              <a:gd name="connsiteX2" fmla="*/ 1289941 w 2610997"/>
              <a:gd name="connsiteY2" fmla="*/ 2173692 h 2684142"/>
              <a:gd name="connsiteX3" fmla="*/ 1631845 w 2610997"/>
              <a:gd name="connsiteY3" fmla="*/ 1525381 h 2684142"/>
              <a:gd name="connsiteX4" fmla="*/ 2332922 w 2610997"/>
              <a:gd name="connsiteY4" fmla="*/ 1497945 h 2684142"/>
              <a:gd name="connsiteX5" fmla="*/ 2510781 w 2610997"/>
              <a:gd name="connsiteY5" fmla="*/ 1064337 h 2684142"/>
              <a:gd name="connsiteX6" fmla="*/ 2600630 w 2610997"/>
              <a:gd name="connsiteY6" fmla="*/ 101810 h 2684142"/>
              <a:gd name="connsiteX7" fmla="*/ 2271236 w 2610997"/>
              <a:gd name="connsiteY7" fmla="*/ 200778 h 2684142"/>
              <a:gd name="connsiteX8" fmla="*/ 2277920 w 2610997"/>
              <a:gd name="connsiteY8" fmla="*/ 465091 h 2684142"/>
              <a:gd name="connsiteX0" fmla="*/ 0 w 2610997"/>
              <a:gd name="connsiteY0" fmla="*/ 2611330 h 2697282"/>
              <a:gd name="connsiteX1" fmla="*/ 614125 w 2610997"/>
              <a:gd name="connsiteY1" fmla="*/ 2403046 h 2697282"/>
              <a:gd name="connsiteX2" fmla="*/ 1289941 w 2610997"/>
              <a:gd name="connsiteY2" fmla="*/ 2173692 h 2697282"/>
              <a:gd name="connsiteX3" fmla="*/ 1631845 w 2610997"/>
              <a:gd name="connsiteY3" fmla="*/ 1525381 h 2697282"/>
              <a:gd name="connsiteX4" fmla="*/ 2332922 w 2610997"/>
              <a:gd name="connsiteY4" fmla="*/ 1497945 h 2697282"/>
              <a:gd name="connsiteX5" fmla="*/ 2510781 w 2610997"/>
              <a:gd name="connsiteY5" fmla="*/ 1064337 h 2697282"/>
              <a:gd name="connsiteX6" fmla="*/ 2600630 w 2610997"/>
              <a:gd name="connsiteY6" fmla="*/ 101810 h 2697282"/>
              <a:gd name="connsiteX7" fmla="*/ 2271236 w 2610997"/>
              <a:gd name="connsiteY7" fmla="*/ 200778 h 2697282"/>
              <a:gd name="connsiteX8" fmla="*/ 2277920 w 2610997"/>
              <a:gd name="connsiteY8" fmla="*/ 465091 h 2697282"/>
              <a:gd name="connsiteX0" fmla="*/ 0 w 2683583"/>
              <a:gd name="connsiteY0" fmla="*/ 2597663 h 2683615"/>
              <a:gd name="connsiteX1" fmla="*/ 614125 w 2683583"/>
              <a:gd name="connsiteY1" fmla="*/ 2389379 h 2683615"/>
              <a:gd name="connsiteX2" fmla="*/ 1289941 w 2683583"/>
              <a:gd name="connsiteY2" fmla="*/ 2160025 h 2683615"/>
              <a:gd name="connsiteX3" fmla="*/ 1631845 w 2683583"/>
              <a:gd name="connsiteY3" fmla="*/ 1511714 h 2683615"/>
              <a:gd name="connsiteX4" fmla="*/ 2332922 w 2683583"/>
              <a:gd name="connsiteY4" fmla="*/ 1484278 h 2683615"/>
              <a:gd name="connsiteX5" fmla="*/ 2665422 w 2683583"/>
              <a:gd name="connsiteY5" fmla="*/ 848964 h 2683615"/>
              <a:gd name="connsiteX6" fmla="*/ 2600630 w 2683583"/>
              <a:gd name="connsiteY6" fmla="*/ 88143 h 2683615"/>
              <a:gd name="connsiteX7" fmla="*/ 2271236 w 2683583"/>
              <a:gd name="connsiteY7" fmla="*/ 187111 h 2683615"/>
              <a:gd name="connsiteX8" fmla="*/ 2277920 w 2683583"/>
              <a:gd name="connsiteY8" fmla="*/ 451424 h 2683615"/>
              <a:gd name="connsiteX0" fmla="*/ 0 w 2735197"/>
              <a:gd name="connsiteY0" fmla="*/ 2576158 h 2664870"/>
              <a:gd name="connsiteX1" fmla="*/ 665739 w 2735197"/>
              <a:gd name="connsiteY1" fmla="*/ 2389379 h 2664870"/>
              <a:gd name="connsiteX2" fmla="*/ 1341555 w 2735197"/>
              <a:gd name="connsiteY2" fmla="*/ 2160025 h 2664870"/>
              <a:gd name="connsiteX3" fmla="*/ 1683459 w 2735197"/>
              <a:gd name="connsiteY3" fmla="*/ 1511714 h 2664870"/>
              <a:gd name="connsiteX4" fmla="*/ 2384536 w 2735197"/>
              <a:gd name="connsiteY4" fmla="*/ 1484278 h 2664870"/>
              <a:gd name="connsiteX5" fmla="*/ 2717036 w 2735197"/>
              <a:gd name="connsiteY5" fmla="*/ 848964 h 2664870"/>
              <a:gd name="connsiteX6" fmla="*/ 2652244 w 2735197"/>
              <a:gd name="connsiteY6" fmla="*/ 88143 h 2664870"/>
              <a:gd name="connsiteX7" fmla="*/ 2322850 w 2735197"/>
              <a:gd name="connsiteY7" fmla="*/ 187111 h 2664870"/>
              <a:gd name="connsiteX8" fmla="*/ 2329534 w 2735197"/>
              <a:gd name="connsiteY8" fmla="*/ 451424 h 2664870"/>
              <a:gd name="connsiteX0" fmla="*/ 246 w 2735443"/>
              <a:gd name="connsiteY0" fmla="*/ 2576158 h 2668502"/>
              <a:gd name="connsiteX1" fmla="*/ 665985 w 2735443"/>
              <a:gd name="connsiteY1" fmla="*/ 2389379 h 2668502"/>
              <a:gd name="connsiteX2" fmla="*/ 1341801 w 2735443"/>
              <a:gd name="connsiteY2" fmla="*/ 2160025 h 2668502"/>
              <a:gd name="connsiteX3" fmla="*/ 1683705 w 2735443"/>
              <a:gd name="connsiteY3" fmla="*/ 1511714 h 2668502"/>
              <a:gd name="connsiteX4" fmla="*/ 2384782 w 2735443"/>
              <a:gd name="connsiteY4" fmla="*/ 1484278 h 2668502"/>
              <a:gd name="connsiteX5" fmla="*/ 2717282 w 2735443"/>
              <a:gd name="connsiteY5" fmla="*/ 848964 h 2668502"/>
              <a:gd name="connsiteX6" fmla="*/ 2652490 w 2735443"/>
              <a:gd name="connsiteY6" fmla="*/ 88143 h 2668502"/>
              <a:gd name="connsiteX7" fmla="*/ 2323096 w 2735443"/>
              <a:gd name="connsiteY7" fmla="*/ 187111 h 2668502"/>
              <a:gd name="connsiteX8" fmla="*/ 2329780 w 2735443"/>
              <a:gd name="connsiteY8" fmla="*/ 451424 h 2668502"/>
              <a:gd name="connsiteX0" fmla="*/ 246 w 2735443"/>
              <a:gd name="connsiteY0" fmla="*/ 2541748 h 2638959"/>
              <a:gd name="connsiteX1" fmla="*/ 665985 w 2735443"/>
              <a:gd name="connsiteY1" fmla="*/ 2389379 h 2638959"/>
              <a:gd name="connsiteX2" fmla="*/ 1341801 w 2735443"/>
              <a:gd name="connsiteY2" fmla="*/ 2160025 h 2638959"/>
              <a:gd name="connsiteX3" fmla="*/ 1683705 w 2735443"/>
              <a:gd name="connsiteY3" fmla="*/ 1511714 h 2638959"/>
              <a:gd name="connsiteX4" fmla="*/ 2384782 w 2735443"/>
              <a:gd name="connsiteY4" fmla="*/ 1484278 h 2638959"/>
              <a:gd name="connsiteX5" fmla="*/ 2717282 w 2735443"/>
              <a:gd name="connsiteY5" fmla="*/ 848964 h 2638959"/>
              <a:gd name="connsiteX6" fmla="*/ 2652490 w 2735443"/>
              <a:gd name="connsiteY6" fmla="*/ 88143 h 2638959"/>
              <a:gd name="connsiteX7" fmla="*/ 2323096 w 2735443"/>
              <a:gd name="connsiteY7" fmla="*/ 187111 h 2638959"/>
              <a:gd name="connsiteX8" fmla="*/ 2329780 w 2735443"/>
              <a:gd name="connsiteY8" fmla="*/ 451424 h 2638959"/>
              <a:gd name="connsiteX0" fmla="*/ 257 w 2714098"/>
              <a:gd name="connsiteY0" fmla="*/ 2567375 h 2660914"/>
              <a:gd name="connsiteX1" fmla="*/ 644640 w 2714098"/>
              <a:gd name="connsiteY1" fmla="*/ 2389379 h 2660914"/>
              <a:gd name="connsiteX2" fmla="*/ 1320456 w 2714098"/>
              <a:gd name="connsiteY2" fmla="*/ 2160025 h 2660914"/>
              <a:gd name="connsiteX3" fmla="*/ 1662360 w 2714098"/>
              <a:gd name="connsiteY3" fmla="*/ 1511714 h 2660914"/>
              <a:gd name="connsiteX4" fmla="*/ 2363437 w 2714098"/>
              <a:gd name="connsiteY4" fmla="*/ 1484278 h 2660914"/>
              <a:gd name="connsiteX5" fmla="*/ 2695937 w 2714098"/>
              <a:gd name="connsiteY5" fmla="*/ 848964 h 2660914"/>
              <a:gd name="connsiteX6" fmla="*/ 2631145 w 2714098"/>
              <a:gd name="connsiteY6" fmla="*/ 88143 h 2660914"/>
              <a:gd name="connsiteX7" fmla="*/ 2301751 w 2714098"/>
              <a:gd name="connsiteY7" fmla="*/ 187111 h 2660914"/>
              <a:gd name="connsiteX8" fmla="*/ 2308435 w 2714098"/>
              <a:gd name="connsiteY8" fmla="*/ 451424 h 2660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14098" h="2660914">
                <a:moveTo>
                  <a:pt x="257" y="2567375"/>
                </a:moveTo>
                <a:cubicBezTo>
                  <a:pt x="-12090" y="2832317"/>
                  <a:pt x="424607" y="2457271"/>
                  <a:pt x="644640" y="2389379"/>
                </a:cubicBezTo>
                <a:cubicBezTo>
                  <a:pt x="864673" y="2321487"/>
                  <a:pt x="1150836" y="2306303"/>
                  <a:pt x="1320456" y="2160025"/>
                </a:cubicBezTo>
                <a:cubicBezTo>
                  <a:pt x="1490076" y="2013748"/>
                  <a:pt x="1488530" y="1624339"/>
                  <a:pt x="1662360" y="1511714"/>
                </a:cubicBezTo>
                <a:cubicBezTo>
                  <a:pt x="1836190" y="1399090"/>
                  <a:pt x="2191174" y="1594736"/>
                  <a:pt x="2363437" y="1484278"/>
                </a:cubicBezTo>
                <a:cubicBezTo>
                  <a:pt x="2535700" y="1373820"/>
                  <a:pt x="2651319" y="1081653"/>
                  <a:pt x="2695937" y="848964"/>
                </a:cubicBezTo>
                <a:cubicBezTo>
                  <a:pt x="2740555" y="616275"/>
                  <a:pt x="2696843" y="198452"/>
                  <a:pt x="2631145" y="88143"/>
                </a:cubicBezTo>
                <a:cubicBezTo>
                  <a:pt x="2565447" y="-22166"/>
                  <a:pt x="2393114" y="-67589"/>
                  <a:pt x="2301751" y="187111"/>
                </a:cubicBezTo>
                <a:cubicBezTo>
                  <a:pt x="2302897" y="274197"/>
                  <a:pt x="2304675" y="383030"/>
                  <a:pt x="2308435" y="451424"/>
                </a:cubicBezTo>
              </a:path>
            </a:pathLst>
          </a:cu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 name="Rectangle 14">
            <a:extLst>
              <a:ext uri="{FF2B5EF4-FFF2-40B4-BE49-F238E27FC236}">
                <a16:creationId xmlns:a16="http://schemas.microsoft.com/office/drawing/2014/main" id="{B4185009-E013-1046-B404-6DDF67C9C048}"/>
              </a:ext>
            </a:extLst>
          </p:cNvPr>
          <p:cNvSpPr/>
          <p:nvPr/>
        </p:nvSpPr>
        <p:spPr>
          <a:xfrm>
            <a:off x="5357745" y="3168811"/>
            <a:ext cx="135890" cy="496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6" name="Rectangle 15">
            <a:extLst>
              <a:ext uri="{FF2B5EF4-FFF2-40B4-BE49-F238E27FC236}">
                <a16:creationId xmlns:a16="http://schemas.microsoft.com/office/drawing/2014/main" id="{0DB8F9C0-F339-874B-89AE-3D341A7E283C}"/>
              </a:ext>
            </a:extLst>
          </p:cNvPr>
          <p:cNvSpPr/>
          <p:nvPr/>
        </p:nvSpPr>
        <p:spPr>
          <a:xfrm>
            <a:off x="4890082" y="3176727"/>
            <a:ext cx="135890" cy="496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17" name="Straight Arrow Connector 16">
            <a:extLst>
              <a:ext uri="{FF2B5EF4-FFF2-40B4-BE49-F238E27FC236}">
                <a16:creationId xmlns:a16="http://schemas.microsoft.com/office/drawing/2014/main" id="{3D0C785A-9D68-DB4A-ADC7-11AB388C3BF7}"/>
              </a:ext>
            </a:extLst>
          </p:cNvPr>
          <p:cNvCxnSpPr>
            <a:cxnSpLocks/>
          </p:cNvCxnSpPr>
          <p:nvPr/>
        </p:nvCxnSpPr>
        <p:spPr>
          <a:xfrm flipV="1">
            <a:off x="2312480" y="1940961"/>
            <a:ext cx="0" cy="180601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DF0522E9-4BD3-8342-8C6F-173F6AAE6327}"/>
              </a:ext>
            </a:extLst>
          </p:cNvPr>
          <p:cNvPicPr>
            <a:picLocks noChangeAspect="1"/>
          </p:cNvPicPr>
          <p:nvPr/>
        </p:nvPicPr>
        <p:blipFill>
          <a:blip r:embed="rId4"/>
          <a:stretch>
            <a:fillRect/>
          </a:stretch>
        </p:blipFill>
        <p:spPr>
          <a:xfrm rot="10800000">
            <a:off x="2070490" y="5505742"/>
            <a:ext cx="489198" cy="560131"/>
          </a:xfrm>
          <a:prstGeom prst="rect">
            <a:avLst/>
          </a:prstGeom>
        </p:spPr>
      </p:pic>
      <p:sp>
        <p:nvSpPr>
          <p:cNvPr id="20" name="Freeform 19">
            <a:extLst>
              <a:ext uri="{FF2B5EF4-FFF2-40B4-BE49-F238E27FC236}">
                <a16:creationId xmlns:a16="http://schemas.microsoft.com/office/drawing/2014/main" id="{E99102DE-5783-104F-8A18-B795EB50E71E}"/>
              </a:ext>
            </a:extLst>
          </p:cNvPr>
          <p:cNvSpPr/>
          <p:nvPr/>
        </p:nvSpPr>
        <p:spPr>
          <a:xfrm rot="9631175" flipV="1">
            <a:off x="2959309" y="3500321"/>
            <a:ext cx="1230035" cy="1468344"/>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solidFill>
            <a:srgbClr val="FF5A00">
              <a:alpha val="50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	</a:t>
            </a:r>
          </a:p>
        </p:txBody>
      </p:sp>
      <p:sp>
        <p:nvSpPr>
          <p:cNvPr id="21" name="Freeform 20">
            <a:extLst>
              <a:ext uri="{FF2B5EF4-FFF2-40B4-BE49-F238E27FC236}">
                <a16:creationId xmlns:a16="http://schemas.microsoft.com/office/drawing/2014/main" id="{72BD29BE-CDA2-DF40-8469-9F53EA59ED2B}"/>
              </a:ext>
            </a:extLst>
          </p:cNvPr>
          <p:cNvSpPr/>
          <p:nvPr/>
        </p:nvSpPr>
        <p:spPr>
          <a:xfrm rot="11968825">
            <a:off x="2702245" y="1995812"/>
            <a:ext cx="1186035" cy="1013772"/>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solidFill>
            <a:schemeClr val="accent5">
              <a:lumMod val="75000"/>
              <a:alpha val="5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	</a:t>
            </a:r>
          </a:p>
        </p:txBody>
      </p:sp>
      <p:sp>
        <p:nvSpPr>
          <p:cNvPr id="22" name="Oval 21">
            <a:extLst>
              <a:ext uri="{FF2B5EF4-FFF2-40B4-BE49-F238E27FC236}">
                <a16:creationId xmlns:a16="http://schemas.microsoft.com/office/drawing/2014/main" id="{77424F83-F208-8A46-B080-E81DFB200975}"/>
              </a:ext>
            </a:extLst>
          </p:cNvPr>
          <p:cNvSpPr/>
          <p:nvPr/>
        </p:nvSpPr>
        <p:spPr>
          <a:xfrm>
            <a:off x="2153662" y="2098844"/>
            <a:ext cx="324943" cy="197973"/>
          </a:xfrm>
          <a:prstGeom prst="ellipse">
            <a:avLst/>
          </a:prstGeom>
          <a:solidFill>
            <a:schemeClr val="accent5">
              <a:lumMod val="7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3" name="Oval 22">
            <a:extLst>
              <a:ext uri="{FF2B5EF4-FFF2-40B4-BE49-F238E27FC236}">
                <a16:creationId xmlns:a16="http://schemas.microsoft.com/office/drawing/2014/main" id="{B9B3FC40-A14F-0D42-A2DA-68B2BF126ED8}"/>
              </a:ext>
            </a:extLst>
          </p:cNvPr>
          <p:cNvSpPr/>
          <p:nvPr/>
        </p:nvSpPr>
        <p:spPr>
          <a:xfrm>
            <a:off x="2147043" y="5177124"/>
            <a:ext cx="324943" cy="197973"/>
          </a:xfrm>
          <a:prstGeom prst="ellipse">
            <a:avLst/>
          </a:prstGeom>
          <a:solidFill>
            <a:srgbClr val="FF0000">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24" name="Straight Arrow Connector 23">
            <a:extLst>
              <a:ext uri="{FF2B5EF4-FFF2-40B4-BE49-F238E27FC236}">
                <a16:creationId xmlns:a16="http://schemas.microsoft.com/office/drawing/2014/main" id="{E9A2D5CA-4352-4A49-94DC-3817E6B909A9}"/>
              </a:ext>
            </a:extLst>
          </p:cNvPr>
          <p:cNvCxnSpPr>
            <a:cxnSpLocks/>
          </p:cNvCxnSpPr>
          <p:nvPr/>
        </p:nvCxnSpPr>
        <p:spPr>
          <a:xfrm flipH="1">
            <a:off x="630688" y="3742241"/>
            <a:ext cx="1700061" cy="1525523"/>
          </a:xfrm>
          <a:prstGeom prst="straightConnector1">
            <a:avLst/>
          </a:prstGeom>
          <a:ln w="12700">
            <a:solidFill>
              <a:schemeClr val="bg1">
                <a:lumMod val="75000"/>
              </a:schemeClr>
            </a:solidFill>
            <a:headEnd w="med" len="med"/>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6D6D9DA-970E-054E-A99E-5795B2E4DE88}"/>
              </a:ext>
            </a:extLst>
          </p:cNvPr>
          <p:cNvCxnSpPr>
            <a:cxnSpLocks/>
          </p:cNvCxnSpPr>
          <p:nvPr/>
        </p:nvCxnSpPr>
        <p:spPr>
          <a:xfrm>
            <a:off x="2339340" y="3750834"/>
            <a:ext cx="2194610" cy="309656"/>
          </a:xfrm>
          <a:prstGeom prst="straightConnector1">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Freeform 25">
            <a:extLst>
              <a:ext uri="{FF2B5EF4-FFF2-40B4-BE49-F238E27FC236}">
                <a16:creationId xmlns:a16="http://schemas.microsoft.com/office/drawing/2014/main" id="{53BDE423-BC39-7243-AACB-081EA901A69C}"/>
              </a:ext>
            </a:extLst>
          </p:cNvPr>
          <p:cNvSpPr/>
          <p:nvPr/>
        </p:nvSpPr>
        <p:spPr>
          <a:xfrm rot="18450690">
            <a:off x="2008658" y="3017053"/>
            <a:ext cx="1318693" cy="209258"/>
          </a:xfrm>
          <a:custGeom>
            <a:avLst/>
            <a:gdLst>
              <a:gd name="connsiteX0" fmla="*/ 0 w 1271016"/>
              <a:gd name="connsiteY0" fmla="*/ 9144 h 9144"/>
              <a:gd name="connsiteX1" fmla="*/ 1271016 w 1271016"/>
              <a:gd name="connsiteY1" fmla="*/ 0 h 9144"/>
            </a:gdLst>
            <a:ahLst/>
            <a:cxnLst>
              <a:cxn ang="0">
                <a:pos x="connsiteX0" y="connsiteY0"/>
              </a:cxn>
              <a:cxn ang="0">
                <a:pos x="connsiteX1" y="connsiteY1"/>
              </a:cxn>
            </a:cxnLst>
            <a:rect l="l" t="t" r="r" b="b"/>
            <a:pathLst>
              <a:path w="1271016" h="9144">
                <a:moveTo>
                  <a:pt x="0" y="9144"/>
                </a:moveTo>
                <a:lnTo>
                  <a:pt x="1271016" y="0"/>
                </a:lnTo>
              </a:path>
            </a:pathLst>
          </a:custGeom>
          <a:noFill/>
          <a:ln w="50800" cap="rnd">
            <a:solidFill>
              <a:srgbClr val="00822E"/>
            </a:solidFill>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7" name="Oval 26">
            <a:extLst>
              <a:ext uri="{FF2B5EF4-FFF2-40B4-BE49-F238E27FC236}">
                <a16:creationId xmlns:a16="http://schemas.microsoft.com/office/drawing/2014/main" id="{947467AC-2374-F046-8234-879382722949}"/>
              </a:ext>
            </a:extLst>
          </p:cNvPr>
          <p:cNvSpPr/>
          <p:nvPr/>
        </p:nvSpPr>
        <p:spPr>
          <a:xfrm rot="6638047">
            <a:off x="2831474" y="2408167"/>
            <a:ext cx="248824" cy="302349"/>
          </a:xfrm>
          <a:prstGeom prst="ellipse">
            <a:avLst/>
          </a:prstGeom>
          <a:solidFill>
            <a:schemeClr val="bg1">
              <a:lumMod val="7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7F6E6EE1-577F-9444-8EAC-DE772BCAC5BB}"/>
                  </a:ext>
                </a:extLst>
              </p:cNvPr>
              <p:cNvSpPr/>
              <p:nvPr/>
            </p:nvSpPr>
            <p:spPr>
              <a:xfrm>
                <a:off x="2919601" y="2745435"/>
                <a:ext cx="734368" cy="64678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400" i="1">
                              <a:latin typeface="Cambria Math" panose="02040503050406030204" pitchFamily="18" charset="0"/>
                              <a:ea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ea typeface="Cambria Math" panose="02040503050406030204" pitchFamily="18" charset="0"/>
                                </a:rPr>
                              </m:ctrlPr>
                            </m:mPr>
                            <m:mr>
                              <m:e>
                                <m:r>
                                  <a:rPr lang="en-US" sz="2400" i="1">
                                    <a:latin typeface="Cambria Math" panose="02040503050406030204" pitchFamily="18" charset="0"/>
                                    <a:ea typeface="Cambria Math" panose="02040503050406030204" pitchFamily="18" charset="0"/>
                                  </a:rPr>
                                  <m:t>𝑎</m:t>
                                </m:r>
                              </m:e>
                            </m:mr>
                            <m:mr>
                              <m:e>
                                <m:r>
                                  <a:rPr lang="en-US" sz="2400" i="1">
                                    <a:latin typeface="Cambria Math" panose="02040503050406030204" pitchFamily="18" charset="0"/>
                                    <a:ea typeface="Cambria Math" panose="02040503050406030204" pitchFamily="18" charset="0"/>
                                  </a:rPr>
                                  <m:t>𝑏</m:t>
                                </m:r>
                              </m:e>
                            </m:mr>
                          </m:m>
                        </m:e>
                      </m:d>
                    </m:oMath>
                  </m:oMathPara>
                </a14:m>
                <a:endParaRPr lang="en-US" sz="2400" dirty="0"/>
              </a:p>
            </p:txBody>
          </p:sp>
        </mc:Choice>
        <mc:Fallback xmlns="">
          <p:sp>
            <p:nvSpPr>
              <p:cNvPr id="28" name="Rectangle 27">
                <a:extLst>
                  <a:ext uri="{FF2B5EF4-FFF2-40B4-BE49-F238E27FC236}">
                    <a16:creationId xmlns:a16="http://schemas.microsoft.com/office/drawing/2014/main" id="{7F6E6EE1-577F-9444-8EAC-DE772BCAC5BB}"/>
                  </a:ext>
                </a:extLst>
              </p:cNvPr>
              <p:cNvSpPr>
                <a:spLocks noRot="1" noChangeAspect="1" noMove="1" noResize="1" noEditPoints="1" noAdjustHandles="1" noChangeArrowheads="1" noChangeShapeType="1" noTextEdit="1"/>
              </p:cNvSpPr>
              <p:nvPr/>
            </p:nvSpPr>
            <p:spPr>
              <a:xfrm>
                <a:off x="2919601" y="2745435"/>
                <a:ext cx="734368" cy="646780"/>
              </a:xfrm>
              <a:prstGeom prst="rect">
                <a:avLst/>
              </a:prstGeom>
              <a:blipFill>
                <a:blip r:embed="rId6"/>
                <a:stretch>
                  <a:fillRect b="-7843"/>
                </a:stretch>
              </a:blipFill>
            </p:spPr>
            <p:txBody>
              <a:bodyPr/>
              <a:lstStyle/>
              <a:p>
                <a:r>
                  <a:rPr lang="en-US">
                    <a:noFill/>
                  </a:rPr>
                  <a:t> </a:t>
                </a:r>
              </a:p>
            </p:txBody>
          </p:sp>
        </mc:Fallback>
      </mc:AlternateContent>
      <p:pic>
        <p:nvPicPr>
          <p:cNvPr id="30" name="Picture 29">
            <a:extLst>
              <a:ext uri="{FF2B5EF4-FFF2-40B4-BE49-F238E27FC236}">
                <a16:creationId xmlns:a16="http://schemas.microsoft.com/office/drawing/2014/main" id="{1BFEADF4-AAAF-7044-9A73-837472888466}"/>
              </a:ext>
            </a:extLst>
          </p:cNvPr>
          <p:cNvPicPr>
            <a:picLocks noChangeAspect="1"/>
          </p:cNvPicPr>
          <p:nvPr/>
        </p:nvPicPr>
        <p:blipFill>
          <a:blip r:embed="rId4"/>
          <a:stretch>
            <a:fillRect/>
          </a:stretch>
        </p:blipFill>
        <p:spPr>
          <a:xfrm>
            <a:off x="2071229" y="1391533"/>
            <a:ext cx="489198" cy="560131"/>
          </a:xfrm>
          <a:prstGeom prst="rect">
            <a:avLst/>
          </a:prstGeom>
        </p:spPr>
      </p:pic>
      <p:sp>
        <p:nvSpPr>
          <p:cNvPr id="31" name="Rectangle 30">
            <a:extLst>
              <a:ext uri="{FF2B5EF4-FFF2-40B4-BE49-F238E27FC236}">
                <a16:creationId xmlns:a16="http://schemas.microsoft.com/office/drawing/2014/main" id="{74FACC6D-E04A-7041-B2E0-82B3D975BA2B}"/>
              </a:ext>
            </a:extLst>
          </p:cNvPr>
          <p:cNvSpPr/>
          <p:nvPr/>
        </p:nvSpPr>
        <p:spPr>
          <a:xfrm>
            <a:off x="4812077" y="3225732"/>
            <a:ext cx="787966" cy="787966"/>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26" dirty="0">
              <a:latin typeface="Times" pitchFamily="2" charset="0"/>
            </a:endParaRPr>
          </a:p>
        </p:txBody>
      </p:sp>
      <p:sp>
        <p:nvSpPr>
          <p:cNvPr id="32" name="Arc 31">
            <a:extLst>
              <a:ext uri="{FF2B5EF4-FFF2-40B4-BE49-F238E27FC236}">
                <a16:creationId xmlns:a16="http://schemas.microsoft.com/office/drawing/2014/main" id="{01334FF6-DE44-3D4F-99A9-AA14625CEBFA}"/>
              </a:ext>
            </a:extLst>
          </p:cNvPr>
          <p:cNvSpPr/>
          <p:nvPr/>
        </p:nvSpPr>
        <p:spPr>
          <a:xfrm>
            <a:off x="4880621" y="3314530"/>
            <a:ext cx="656639" cy="656639"/>
          </a:xfrm>
          <a:prstGeom prst="arc">
            <a:avLst>
              <a:gd name="adj1" fmla="val 10614695"/>
              <a:gd name="adj2" fmla="val 0"/>
            </a:avLst>
          </a:prstGeom>
          <a:ln w="127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172"/>
          </a:p>
        </p:txBody>
      </p:sp>
      <p:cxnSp>
        <p:nvCxnSpPr>
          <p:cNvPr id="33" name="Straight Connector 32">
            <a:extLst>
              <a:ext uri="{FF2B5EF4-FFF2-40B4-BE49-F238E27FC236}">
                <a16:creationId xmlns:a16="http://schemas.microsoft.com/office/drawing/2014/main" id="{16899466-57C7-0A46-9065-4EC544A36442}"/>
              </a:ext>
            </a:extLst>
          </p:cNvPr>
          <p:cNvCxnSpPr>
            <a:cxnSpLocks/>
          </p:cNvCxnSpPr>
          <p:nvPr/>
        </p:nvCxnSpPr>
        <p:spPr>
          <a:xfrm flipV="1">
            <a:off x="5206060" y="3422724"/>
            <a:ext cx="0" cy="393983"/>
          </a:xfrm>
          <a:prstGeom prst="line">
            <a:avLst/>
          </a:prstGeom>
          <a:ln w="12700">
            <a:solidFill>
              <a:schemeClr val="tx1"/>
            </a:solidFill>
            <a:headEnd type="oval" w="sm" len="sm"/>
            <a:tailEnd w="sm" len="sm"/>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D08E6DB0-CD71-A84A-990C-76BC1982AB4E}"/>
              </a:ext>
            </a:extLst>
          </p:cNvPr>
          <p:cNvSpPr txBox="1"/>
          <p:nvPr/>
        </p:nvSpPr>
        <p:spPr>
          <a:xfrm>
            <a:off x="4751554" y="3597674"/>
            <a:ext cx="314510" cy="400110"/>
          </a:xfrm>
          <a:prstGeom prst="rect">
            <a:avLst/>
          </a:prstGeom>
          <a:noFill/>
        </p:spPr>
        <p:txBody>
          <a:bodyPr wrap="none" rtlCol="0">
            <a:spAutoFit/>
          </a:bodyPr>
          <a:lstStyle/>
          <a:p>
            <a:r>
              <a:rPr lang="en-US" sz="2000" dirty="0"/>
              <a:t>0</a:t>
            </a:r>
          </a:p>
        </p:txBody>
      </p:sp>
      <p:sp>
        <p:nvSpPr>
          <p:cNvPr id="35" name="TextBox 34">
            <a:extLst>
              <a:ext uri="{FF2B5EF4-FFF2-40B4-BE49-F238E27FC236}">
                <a16:creationId xmlns:a16="http://schemas.microsoft.com/office/drawing/2014/main" id="{5FB4AA89-EDDC-624A-94D7-974B500FE3C3}"/>
              </a:ext>
            </a:extLst>
          </p:cNvPr>
          <p:cNvSpPr txBox="1"/>
          <p:nvPr/>
        </p:nvSpPr>
        <p:spPr>
          <a:xfrm>
            <a:off x="5310543" y="3597674"/>
            <a:ext cx="314510" cy="400110"/>
          </a:xfrm>
          <a:prstGeom prst="rect">
            <a:avLst/>
          </a:prstGeom>
          <a:noFill/>
        </p:spPr>
        <p:txBody>
          <a:bodyPr wrap="none" rtlCol="0">
            <a:spAutoFit/>
          </a:bodyPr>
          <a:lstStyle/>
          <a:p>
            <a:r>
              <a:rPr lang="en-US" sz="2000" dirty="0"/>
              <a:t>1</a:t>
            </a:r>
          </a:p>
        </p:txBody>
      </p:sp>
      <p:grpSp>
        <p:nvGrpSpPr>
          <p:cNvPr id="6" name="Group 5">
            <a:extLst>
              <a:ext uri="{FF2B5EF4-FFF2-40B4-BE49-F238E27FC236}">
                <a16:creationId xmlns:a16="http://schemas.microsoft.com/office/drawing/2014/main" id="{55035080-F150-F548-9566-1335F0D1F7D4}"/>
              </a:ext>
            </a:extLst>
          </p:cNvPr>
          <p:cNvGrpSpPr/>
          <p:nvPr/>
        </p:nvGrpSpPr>
        <p:grpSpPr>
          <a:xfrm>
            <a:off x="6844482" y="1146160"/>
            <a:ext cx="3638461" cy="4121604"/>
            <a:chOff x="6844482" y="1146160"/>
            <a:chExt cx="3638461" cy="4121604"/>
          </a:xfrm>
        </p:grpSpPr>
        <p:sp>
          <p:nvSpPr>
            <p:cNvPr id="38" name="TextBox 37">
              <a:extLst>
                <a:ext uri="{FF2B5EF4-FFF2-40B4-BE49-F238E27FC236}">
                  <a16:creationId xmlns:a16="http://schemas.microsoft.com/office/drawing/2014/main" id="{36D55092-9F9F-DE46-BD6A-F4EA0FAC5916}"/>
                </a:ext>
              </a:extLst>
            </p:cNvPr>
            <p:cNvSpPr txBox="1"/>
            <p:nvPr/>
          </p:nvSpPr>
          <p:spPr>
            <a:xfrm>
              <a:off x="9001401" y="3321214"/>
              <a:ext cx="894797" cy="584775"/>
            </a:xfrm>
            <a:prstGeom prst="rect">
              <a:avLst/>
            </a:prstGeom>
            <a:noFill/>
          </p:spPr>
          <p:txBody>
            <a:bodyPr wrap="none" rtlCol="0">
              <a:spAutoFit/>
            </a:bodyPr>
            <a:lstStyle/>
            <a:p>
              <a:r>
                <a:rPr lang="en-US" sz="3200" dirty="0"/>
                <a:t>20%</a:t>
              </a:r>
            </a:p>
          </p:txBody>
        </p:sp>
        <p:sp>
          <p:nvSpPr>
            <p:cNvPr id="39" name="TextBox 38">
              <a:extLst>
                <a:ext uri="{FF2B5EF4-FFF2-40B4-BE49-F238E27FC236}">
                  <a16:creationId xmlns:a16="http://schemas.microsoft.com/office/drawing/2014/main" id="{8EC5DDE9-8128-3349-8D39-9851A30AFC6B}"/>
                </a:ext>
              </a:extLst>
            </p:cNvPr>
            <p:cNvSpPr txBox="1"/>
            <p:nvPr/>
          </p:nvSpPr>
          <p:spPr>
            <a:xfrm>
              <a:off x="7467729" y="1146160"/>
              <a:ext cx="894797" cy="584775"/>
            </a:xfrm>
            <a:prstGeom prst="rect">
              <a:avLst/>
            </a:prstGeom>
            <a:noFill/>
          </p:spPr>
          <p:txBody>
            <a:bodyPr wrap="none" rtlCol="0">
              <a:spAutoFit/>
            </a:bodyPr>
            <a:lstStyle/>
            <a:p>
              <a:r>
                <a:rPr lang="en-US" sz="3200" dirty="0"/>
                <a:t>80%</a:t>
              </a:r>
            </a:p>
          </p:txBody>
        </p:sp>
        <p:sp>
          <p:nvSpPr>
            <p:cNvPr id="40" name="Rectangle 39">
              <a:extLst>
                <a:ext uri="{FF2B5EF4-FFF2-40B4-BE49-F238E27FC236}">
                  <a16:creationId xmlns:a16="http://schemas.microsoft.com/office/drawing/2014/main" id="{96F69456-B973-2647-8F1A-089F767EAC7A}"/>
                </a:ext>
              </a:extLst>
            </p:cNvPr>
            <p:cNvSpPr/>
            <p:nvPr/>
          </p:nvSpPr>
          <p:spPr>
            <a:xfrm>
              <a:off x="9035768" y="3953505"/>
              <a:ext cx="826063" cy="72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E22ECA71-1884-084B-AC59-8FD443FD094E}"/>
                </a:ext>
              </a:extLst>
            </p:cNvPr>
            <p:cNvSpPr/>
            <p:nvPr/>
          </p:nvSpPr>
          <p:spPr>
            <a:xfrm>
              <a:off x="7461427" y="1810206"/>
              <a:ext cx="826063" cy="2880000"/>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0A41724A-73E1-1D40-AA3A-E3A0CC10E364}"/>
                </a:ext>
              </a:extLst>
            </p:cNvPr>
            <p:cNvSpPr txBox="1"/>
            <p:nvPr/>
          </p:nvSpPr>
          <p:spPr>
            <a:xfrm>
              <a:off x="7713931" y="4744544"/>
              <a:ext cx="367408" cy="523220"/>
            </a:xfrm>
            <a:prstGeom prst="rect">
              <a:avLst/>
            </a:prstGeom>
            <a:noFill/>
          </p:spPr>
          <p:txBody>
            <a:bodyPr wrap="none" rtlCol="0">
              <a:spAutoFit/>
            </a:bodyPr>
            <a:lstStyle/>
            <a:p>
              <a:r>
                <a:rPr lang="en-US" sz="2800" dirty="0"/>
                <a:t>0</a:t>
              </a:r>
            </a:p>
          </p:txBody>
        </p:sp>
        <p:sp>
          <p:nvSpPr>
            <p:cNvPr id="48" name="TextBox 47">
              <a:extLst>
                <a:ext uri="{FF2B5EF4-FFF2-40B4-BE49-F238E27FC236}">
                  <a16:creationId xmlns:a16="http://schemas.microsoft.com/office/drawing/2014/main" id="{BF70E534-8DDF-8A41-ABDD-12BEA0E5A680}"/>
                </a:ext>
              </a:extLst>
            </p:cNvPr>
            <p:cNvSpPr txBox="1"/>
            <p:nvPr/>
          </p:nvSpPr>
          <p:spPr>
            <a:xfrm>
              <a:off x="9253541" y="4744544"/>
              <a:ext cx="367408" cy="523220"/>
            </a:xfrm>
            <a:prstGeom prst="rect">
              <a:avLst/>
            </a:prstGeom>
            <a:noFill/>
          </p:spPr>
          <p:txBody>
            <a:bodyPr wrap="none" rtlCol="0">
              <a:spAutoFit/>
            </a:bodyPr>
            <a:lstStyle/>
            <a:p>
              <a:r>
                <a:rPr lang="en-US" sz="2800" dirty="0"/>
                <a:t>1</a:t>
              </a:r>
            </a:p>
          </p:txBody>
        </p:sp>
        <p:cxnSp>
          <p:nvCxnSpPr>
            <p:cNvPr id="50" name="Straight Connector 49">
              <a:extLst>
                <a:ext uri="{FF2B5EF4-FFF2-40B4-BE49-F238E27FC236}">
                  <a16:creationId xmlns:a16="http://schemas.microsoft.com/office/drawing/2014/main" id="{721051FA-1B27-024D-AD7B-ED69066BB550}"/>
                </a:ext>
              </a:extLst>
            </p:cNvPr>
            <p:cNvCxnSpPr>
              <a:cxnSpLocks/>
            </p:cNvCxnSpPr>
            <p:nvPr/>
          </p:nvCxnSpPr>
          <p:spPr>
            <a:xfrm>
              <a:off x="6844482" y="4690206"/>
              <a:ext cx="36384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6069308-FF94-B942-9DF1-79E18739C8BD}"/>
                </a:ext>
              </a:extLst>
            </p:cNvPr>
            <p:cNvCxnSpPr>
              <a:cxnSpLocks/>
            </p:cNvCxnSpPr>
            <p:nvPr/>
          </p:nvCxnSpPr>
          <p:spPr>
            <a:xfrm>
              <a:off x="7249515" y="1484257"/>
              <a:ext cx="0" cy="3222651"/>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43D7DB53-29CF-CC49-966B-54917CD76FDF}"/>
                  </a:ext>
                </a:extLst>
              </p:cNvPr>
              <p:cNvSpPr/>
              <p:nvPr/>
            </p:nvSpPr>
            <p:spPr>
              <a:xfrm>
                <a:off x="1611134" y="5065832"/>
                <a:ext cx="63152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e>
                      </m:d>
                    </m:oMath>
                  </m:oMathPara>
                </a14:m>
                <a:endParaRPr lang="en-US" sz="2400" dirty="0"/>
              </a:p>
            </p:txBody>
          </p:sp>
        </mc:Choice>
        <mc:Fallback xmlns="">
          <p:sp>
            <p:nvSpPr>
              <p:cNvPr id="43" name="Rectangle 42">
                <a:extLst>
                  <a:ext uri="{FF2B5EF4-FFF2-40B4-BE49-F238E27FC236}">
                    <a16:creationId xmlns:a16="http://schemas.microsoft.com/office/drawing/2014/main" id="{43D7DB53-29CF-CC49-966B-54917CD76FDF}"/>
                  </a:ext>
                </a:extLst>
              </p:cNvPr>
              <p:cNvSpPr>
                <a:spLocks noRot="1" noChangeAspect="1" noMove="1" noResize="1" noEditPoints="1" noAdjustHandles="1" noChangeArrowheads="1" noChangeShapeType="1" noTextEdit="1"/>
              </p:cNvSpPr>
              <p:nvPr/>
            </p:nvSpPr>
            <p:spPr>
              <a:xfrm>
                <a:off x="1611134" y="5065832"/>
                <a:ext cx="631520" cy="461665"/>
              </a:xfrm>
              <a:prstGeom prst="rect">
                <a:avLst/>
              </a:prstGeom>
              <a:blipFill>
                <a:blip r:embed="rId7"/>
                <a:stretch>
                  <a:fillRect/>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309C1507-7A10-4448-BBD8-34D450225B56}"/>
              </a:ext>
            </a:extLst>
          </p:cNvPr>
          <p:cNvSpPr/>
          <p:nvPr/>
        </p:nvSpPr>
        <p:spPr>
          <a:xfrm>
            <a:off x="4230327" y="5962241"/>
            <a:ext cx="6827959" cy="461665"/>
          </a:xfrm>
          <a:prstGeom prst="rect">
            <a:avLst/>
          </a:prstGeom>
          <a:solidFill>
            <a:schemeClr val="accent4">
              <a:lumMod val="20000"/>
              <a:lumOff val="80000"/>
            </a:schemeClr>
          </a:solidFill>
        </p:spPr>
        <p:txBody>
          <a:bodyPr wrap="none">
            <a:spAutoFit/>
          </a:bodyPr>
          <a:lstStyle/>
          <a:p>
            <a:r>
              <a:rPr lang="en-ZA" sz="2400" dirty="0"/>
              <a:t>Measurement reduces the qubit to a single bit: 0 or 1</a:t>
            </a:r>
            <a:endParaRPr lang="en-US" sz="2400" dirty="0"/>
          </a:p>
        </p:txBody>
      </p:sp>
    </p:spTree>
    <p:extLst>
      <p:ext uri="{BB962C8B-B14F-4D97-AF65-F5344CB8AC3E}">
        <p14:creationId xmlns:p14="http://schemas.microsoft.com/office/powerpoint/2010/main" val="1113565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94412-0C73-3449-A5CE-2D7B2D31E7AF}"/>
              </a:ext>
            </a:extLst>
          </p:cNvPr>
          <p:cNvSpPr>
            <a:spLocks noGrp="1"/>
          </p:cNvSpPr>
          <p:nvPr>
            <p:ph type="title"/>
          </p:nvPr>
        </p:nvSpPr>
        <p:spPr/>
        <p:txBody>
          <a:bodyPr/>
          <a:lstStyle/>
          <a:p>
            <a:r>
              <a:rPr lang="en-US" dirty="0"/>
              <a:t>Probabilistic computing</a:t>
            </a:r>
          </a:p>
        </p:txBody>
      </p:sp>
      <p:sp>
        <p:nvSpPr>
          <p:cNvPr id="3" name="Slide Number Placeholder 2">
            <a:extLst>
              <a:ext uri="{FF2B5EF4-FFF2-40B4-BE49-F238E27FC236}">
                <a16:creationId xmlns:a16="http://schemas.microsoft.com/office/drawing/2014/main" id="{5FF68A88-FD76-2A4C-8E40-673774B99EB4}"/>
              </a:ext>
            </a:extLst>
          </p:cNvPr>
          <p:cNvSpPr>
            <a:spLocks noGrp="1"/>
          </p:cNvSpPr>
          <p:nvPr>
            <p:ph type="sldNum" sz="quarter" idx="12"/>
          </p:nvPr>
        </p:nvSpPr>
        <p:spPr/>
        <p:txBody>
          <a:bodyPr/>
          <a:lstStyle/>
          <a:p>
            <a:fld id="{591A223C-FA10-BC46-A853-03BA373D023C}" type="slidenum">
              <a:rPr lang="en-US" smtClean="0"/>
              <a:t>37</a:t>
            </a:fld>
            <a:endParaRPr lang="en-US"/>
          </a:p>
        </p:txBody>
      </p:sp>
      <p:grpSp>
        <p:nvGrpSpPr>
          <p:cNvPr id="8" name="Group 7">
            <a:extLst>
              <a:ext uri="{FF2B5EF4-FFF2-40B4-BE49-F238E27FC236}">
                <a16:creationId xmlns:a16="http://schemas.microsoft.com/office/drawing/2014/main" id="{19E37EE2-38CD-2849-97D3-FA402C9FCAD3}"/>
              </a:ext>
            </a:extLst>
          </p:cNvPr>
          <p:cNvGrpSpPr/>
          <p:nvPr/>
        </p:nvGrpSpPr>
        <p:grpSpPr>
          <a:xfrm>
            <a:off x="998264" y="1144537"/>
            <a:ext cx="2521752" cy="1140178"/>
            <a:chOff x="315506" y="1306688"/>
            <a:chExt cx="2521752" cy="1140178"/>
          </a:xfrm>
        </p:grpSpPr>
        <p:pic>
          <p:nvPicPr>
            <p:cNvPr id="5" name="Picture 4">
              <a:extLst>
                <a:ext uri="{FF2B5EF4-FFF2-40B4-BE49-F238E27FC236}">
                  <a16:creationId xmlns:a16="http://schemas.microsoft.com/office/drawing/2014/main" id="{7B3825EB-4E42-2140-AA49-EF327153023F}"/>
                </a:ext>
              </a:extLst>
            </p:cNvPr>
            <p:cNvPicPr>
              <a:picLocks noChangeAspect="1"/>
            </p:cNvPicPr>
            <p:nvPr/>
          </p:nvPicPr>
          <p:blipFill>
            <a:blip r:embed="rId3"/>
            <a:stretch>
              <a:fillRect/>
            </a:stretch>
          </p:blipFill>
          <p:spPr>
            <a:xfrm>
              <a:off x="1196622" y="1306688"/>
              <a:ext cx="1140178" cy="1140178"/>
            </a:xfrm>
            <a:prstGeom prst="rect">
              <a:avLst/>
            </a:prstGeom>
          </p:spPr>
        </p:pic>
        <p:sp>
          <p:nvSpPr>
            <p:cNvPr id="6" name="TextBox 5">
              <a:extLst>
                <a:ext uri="{FF2B5EF4-FFF2-40B4-BE49-F238E27FC236}">
                  <a16:creationId xmlns:a16="http://schemas.microsoft.com/office/drawing/2014/main" id="{436093DF-BB6A-6944-B5EF-C21011A6D3B9}"/>
                </a:ext>
              </a:extLst>
            </p:cNvPr>
            <p:cNvSpPr txBox="1"/>
            <p:nvPr/>
          </p:nvSpPr>
          <p:spPr>
            <a:xfrm>
              <a:off x="315506" y="1590511"/>
              <a:ext cx="756938" cy="369332"/>
            </a:xfrm>
            <a:prstGeom prst="rect">
              <a:avLst/>
            </a:prstGeom>
            <a:noFill/>
          </p:spPr>
          <p:txBody>
            <a:bodyPr wrap="none" rtlCol="0">
              <a:spAutoFit/>
            </a:bodyPr>
            <a:lstStyle/>
            <a:p>
              <a:r>
                <a:rPr lang="en-US" dirty="0"/>
                <a:t>1+1=?</a:t>
              </a:r>
            </a:p>
          </p:txBody>
        </p:sp>
        <p:sp>
          <p:nvSpPr>
            <p:cNvPr id="7" name="TextBox 6">
              <a:extLst>
                <a:ext uri="{FF2B5EF4-FFF2-40B4-BE49-F238E27FC236}">
                  <a16:creationId xmlns:a16="http://schemas.microsoft.com/office/drawing/2014/main" id="{F7F79CA4-E8B5-F949-A241-232885871697}"/>
                </a:ext>
              </a:extLst>
            </p:cNvPr>
            <p:cNvSpPr txBox="1"/>
            <p:nvPr/>
          </p:nvSpPr>
          <p:spPr>
            <a:xfrm>
              <a:off x="2336800" y="1559733"/>
              <a:ext cx="500458" cy="400110"/>
            </a:xfrm>
            <a:prstGeom prst="rect">
              <a:avLst/>
            </a:prstGeom>
            <a:noFill/>
          </p:spPr>
          <p:txBody>
            <a:bodyPr wrap="none" rtlCol="0">
              <a:spAutoFit/>
            </a:bodyPr>
            <a:lstStyle/>
            <a:p>
              <a:r>
                <a:rPr lang="en-US" sz="2000" dirty="0"/>
                <a:t>= 0</a:t>
              </a:r>
            </a:p>
          </p:txBody>
        </p:sp>
      </p:grpSp>
      <p:grpSp>
        <p:nvGrpSpPr>
          <p:cNvPr id="9" name="Group 8">
            <a:extLst>
              <a:ext uri="{FF2B5EF4-FFF2-40B4-BE49-F238E27FC236}">
                <a16:creationId xmlns:a16="http://schemas.microsoft.com/office/drawing/2014/main" id="{04C00C70-D8F1-C044-8E5C-F3B36157CB7C}"/>
              </a:ext>
            </a:extLst>
          </p:cNvPr>
          <p:cNvGrpSpPr/>
          <p:nvPr/>
        </p:nvGrpSpPr>
        <p:grpSpPr>
          <a:xfrm>
            <a:off x="998264" y="2284715"/>
            <a:ext cx="2521752" cy="1140178"/>
            <a:chOff x="315506" y="1306688"/>
            <a:chExt cx="2521752" cy="1140178"/>
          </a:xfrm>
        </p:grpSpPr>
        <p:pic>
          <p:nvPicPr>
            <p:cNvPr id="10" name="Picture 9">
              <a:extLst>
                <a:ext uri="{FF2B5EF4-FFF2-40B4-BE49-F238E27FC236}">
                  <a16:creationId xmlns:a16="http://schemas.microsoft.com/office/drawing/2014/main" id="{0F2D797B-540B-3C45-B9F9-15AECBE7C252}"/>
                </a:ext>
              </a:extLst>
            </p:cNvPr>
            <p:cNvPicPr>
              <a:picLocks noChangeAspect="1"/>
            </p:cNvPicPr>
            <p:nvPr/>
          </p:nvPicPr>
          <p:blipFill>
            <a:blip r:embed="rId3"/>
            <a:stretch>
              <a:fillRect/>
            </a:stretch>
          </p:blipFill>
          <p:spPr>
            <a:xfrm>
              <a:off x="1196622" y="1306688"/>
              <a:ext cx="1140178" cy="1140178"/>
            </a:xfrm>
            <a:prstGeom prst="rect">
              <a:avLst/>
            </a:prstGeom>
          </p:spPr>
        </p:pic>
        <p:sp>
          <p:nvSpPr>
            <p:cNvPr id="11" name="TextBox 10">
              <a:extLst>
                <a:ext uri="{FF2B5EF4-FFF2-40B4-BE49-F238E27FC236}">
                  <a16:creationId xmlns:a16="http://schemas.microsoft.com/office/drawing/2014/main" id="{128F6271-D21A-5146-82CC-D9204F2B18FA}"/>
                </a:ext>
              </a:extLst>
            </p:cNvPr>
            <p:cNvSpPr txBox="1"/>
            <p:nvPr/>
          </p:nvSpPr>
          <p:spPr>
            <a:xfrm>
              <a:off x="315506" y="1590511"/>
              <a:ext cx="756938" cy="369332"/>
            </a:xfrm>
            <a:prstGeom prst="rect">
              <a:avLst/>
            </a:prstGeom>
            <a:noFill/>
          </p:spPr>
          <p:txBody>
            <a:bodyPr wrap="none" rtlCol="0">
              <a:spAutoFit/>
            </a:bodyPr>
            <a:lstStyle/>
            <a:p>
              <a:r>
                <a:rPr lang="en-US" dirty="0"/>
                <a:t>1+1=?</a:t>
              </a:r>
            </a:p>
          </p:txBody>
        </p:sp>
        <p:sp>
          <p:nvSpPr>
            <p:cNvPr id="12" name="TextBox 11">
              <a:extLst>
                <a:ext uri="{FF2B5EF4-FFF2-40B4-BE49-F238E27FC236}">
                  <a16:creationId xmlns:a16="http://schemas.microsoft.com/office/drawing/2014/main" id="{C262F660-BAB6-BD4F-96E7-4B757BA02225}"/>
                </a:ext>
              </a:extLst>
            </p:cNvPr>
            <p:cNvSpPr txBox="1"/>
            <p:nvPr/>
          </p:nvSpPr>
          <p:spPr>
            <a:xfrm>
              <a:off x="2336800" y="1559733"/>
              <a:ext cx="500458" cy="400110"/>
            </a:xfrm>
            <a:prstGeom prst="rect">
              <a:avLst/>
            </a:prstGeom>
            <a:noFill/>
          </p:spPr>
          <p:txBody>
            <a:bodyPr wrap="none" rtlCol="0">
              <a:spAutoFit/>
            </a:bodyPr>
            <a:lstStyle/>
            <a:p>
              <a:r>
                <a:rPr lang="en-US" sz="2000" dirty="0"/>
                <a:t>= 2</a:t>
              </a:r>
            </a:p>
          </p:txBody>
        </p:sp>
      </p:grpSp>
      <p:grpSp>
        <p:nvGrpSpPr>
          <p:cNvPr id="13" name="Group 12">
            <a:extLst>
              <a:ext uri="{FF2B5EF4-FFF2-40B4-BE49-F238E27FC236}">
                <a16:creationId xmlns:a16="http://schemas.microsoft.com/office/drawing/2014/main" id="{306067B0-E497-D541-ABC3-D9841BFEA550}"/>
              </a:ext>
            </a:extLst>
          </p:cNvPr>
          <p:cNvGrpSpPr/>
          <p:nvPr/>
        </p:nvGrpSpPr>
        <p:grpSpPr>
          <a:xfrm>
            <a:off x="998264" y="4751337"/>
            <a:ext cx="2521752" cy="1140178"/>
            <a:chOff x="315506" y="1306688"/>
            <a:chExt cx="2521752" cy="1140178"/>
          </a:xfrm>
        </p:grpSpPr>
        <p:pic>
          <p:nvPicPr>
            <p:cNvPr id="14" name="Picture 13">
              <a:extLst>
                <a:ext uri="{FF2B5EF4-FFF2-40B4-BE49-F238E27FC236}">
                  <a16:creationId xmlns:a16="http://schemas.microsoft.com/office/drawing/2014/main" id="{60A220F9-A24C-CC47-9FFE-DEF66B8D8112}"/>
                </a:ext>
              </a:extLst>
            </p:cNvPr>
            <p:cNvPicPr>
              <a:picLocks noChangeAspect="1"/>
            </p:cNvPicPr>
            <p:nvPr/>
          </p:nvPicPr>
          <p:blipFill>
            <a:blip r:embed="rId3"/>
            <a:stretch>
              <a:fillRect/>
            </a:stretch>
          </p:blipFill>
          <p:spPr>
            <a:xfrm>
              <a:off x="1196622" y="1306688"/>
              <a:ext cx="1140178" cy="1140178"/>
            </a:xfrm>
            <a:prstGeom prst="rect">
              <a:avLst/>
            </a:prstGeom>
          </p:spPr>
        </p:pic>
        <p:sp>
          <p:nvSpPr>
            <p:cNvPr id="15" name="TextBox 14">
              <a:extLst>
                <a:ext uri="{FF2B5EF4-FFF2-40B4-BE49-F238E27FC236}">
                  <a16:creationId xmlns:a16="http://schemas.microsoft.com/office/drawing/2014/main" id="{C5DE7E09-B8F4-CC47-A20F-2D5105DFCC12}"/>
                </a:ext>
              </a:extLst>
            </p:cNvPr>
            <p:cNvSpPr txBox="1"/>
            <p:nvPr/>
          </p:nvSpPr>
          <p:spPr>
            <a:xfrm>
              <a:off x="315506" y="1590511"/>
              <a:ext cx="756938" cy="369332"/>
            </a:xfrm>
            <a:prstGeom prst="rect">
              <a:avLst/>
            </a:prstGeom>
            <a:noFill/>
          </p:spPr>
          <p:txBody>
            <a:bodyPr wrap="none" rtlCol="0">
              <a:spAutoFit/>
            </a:bodyPr>
            <a:lstStyle/>
            <a:p>
              <a:r>
                <a:rPr lang="en-US" dirty="0"/>
                <a:t>1+1=?</a:t>
              </a:r>
            </a:p>
          </p:txBody>
        </p:sp>
        <p:sp>
          <p:nvSpPr>
            <p:cNvPr id="16" name="TextBox 15">
              <a:extLst>
                <a:ext uri="{FF2B5EF4-FFF2-40B4-BE49-F238E27FC236}">
                  <a16:creationId xmlns:a16="http://schemas.microsoft.com/office/drawing/2014/main" id="{A7A115FA-BF04-A142-A039-F60791607EE5}"/>
                </a:ext>
              </a:extLst>
            </p:cNvPr>
            <p:cNvSpPr txBox="1"/>
            <p:nvPr/>
          </p:nvSpPr>
          <p:spPr>
            <a:xfrm>
              <a:off x="2336800" y="1559733"/>
              <a:ext cx="500458" cy="400110"/>
            </a:xfrm>
            <a:prstGeom prst="rect">
              <a:avLst/>
            </a:prstGeom>
            <a:noFill/>
          </p:spPr>
          <p:txBody>
            <a:bodyPr wrap="none" rtlCol="0">
              <a:spAutoFit/>
            </a:bodyPr>
            <a:lstStyle/>
            <a:p>
              <a:r>
                <a:rPr lang="en-US" sz="2000" dirty="0"/>
                <a:t>= 1</a:t>
              </a:r>
            </a:p>
          </p:txBody>
        </p:sp>
      </p:grpSp>
      <p:sp>
        <p:nvSpPr>
          <p:cNvPr id="18" name="Oval 17">
            <a:extLst>
              <a:ext uri="{FF2B5EF4-FFF2-40B4-BE49-F238E27FC236}">
                <a16:creationId xmlns:a16="http://schemas.microsoft.com/office/drawing/2014/main" id="{BD2FE952-C12F-4D4D-9D18-28E0ACF88DEB}"/>
              </a:ext>
            </a:extLst>
          </p:cNvPr>
          <p:cNvSpPr/>
          <p:nvPr/>
        </p:nvSpPr>
        <p:spPr>
          <a:xfrm>
            <a:off x="2377469" y="3593159"/>
            <a:ext cx="144000" cy="144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D3938DB-C1AD-1C46-846E-EC2FBA4C96BE}"/>
              </a:ext>
            </a:extLst>
          </p:cNvPr>
          <p:cNvSpPr/>
          <p:nvPr/>
        </p:nvSpPr>
        <p:spPr>
          <a:xfrm>
            <a:off x="2377469" y="4016115"/>
            <a:ext cx="144000" cy="144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7C870FE-C515-364C-AF11-F8C6710BE75B}"/>
              </a:ext>
            </a:extLst>
          </p:cNvPr>
          <p:cNvSpPr/>
          <p:nvPr/>
        </p:nvSpPr>
        <p:spPr>
          <a:xfrm>
            <a:off x="2377469" y="4439071"/>
            <a:ext cx="144000" cy="144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Connector 36">
            <a:extLst>
              <a:ext uri="{FF2B5EF4-FFF2-40B4-BE49-F238E27FC236}">
                <a16:creationId xmlns:a16="http://schemas.microsoft.com/office/drawing/2014/main" id="{985CBF3D-4C5D-6444-B416-5C119E960A35}"/>
              </a:ext>
            </a:extLst>
          </p:cNvPr>
          <p:cNvCxnSpPr>
            <a:cxnSpLocks/>
          </p:cNvCxnSpPr>
          <p:nvPr/>
        </p:nvCxnSpPr>
        <p:spPr>
          <a:xfrm>
            <a:off x="7067227" y="-2186553"/>
            <a:ext cx="2655376"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C624FC99-12E9-1943-8C1F-C04542236FB2}"/>
              </a:ext>
            </a:extLst>
          </p:cNvPr>
          <p:cNvSpPr txBox="1"/>
          <p:nvPr/>
        </p:nvSpPr>
        <p:spPr>
          <a:xfrm>
            <a:off x="5970320" y="-2593062"/>
            <a:ext cx="314510" cy="400110"/>
          </a:xfrm>
          <a:prstGeom prst="rect">
            <a:avLst/>
          </a:prstGeom>
          <a:noFill/>
        </p:spPr>
        <p:txBody>
          <a:bodyPr wrap="none" rtlCol="0">
            <a:spAutoFit/>
          </a:bodyPr>
          <a:lstStyle/>
          <a:p>
            <a:r>
              <a:rPr lang="en-US" sz="2000" dirty="0"/>
              <a:t>1</a:t>
            </a:r>
          </a:p>
        </p:txBody>
      </p:sp>
      <p:grpSp>
        <p:nvGrpSpPr>
          <p:cNvPr id="59" name="Group 58">
            <a:extLst>
              <a:ext uri="{FF2B5EF4-FFF2-40B4-BE49-F238E27FC236}">
                <a16:creationId xmlns:a16="http://schemas.microsoft.com/office/drawing/2014/main" id="{0540B135-42B7-9541-86A8-14D8C1C838F8}"/>
              </a:ext>
            </a:extLst>
          </p:cNvPr>
          <p:cNvGrpSpPr/>
          <p:nvPr/>
        </p:nvGrpSpPr>
        <p:grpSpPr>
          <a:xfrm>
            <a:off x="4084788" y="1028250"/>
            <a:ext cx="5637815" cy="5100499"/>
            <a:chOff x="4084788" y="1028250"/>
            <a:chExt cx="5637815" cy="5100499"/>
          </a:xfrm>
        </p:grpSpPr>
        <p:sp>
          <p:nvSpPr>
            <p:cNvPr id="21" name="TextBox 20">
              <a:extLst>
                <a:ext uri="{FF2B5EF4-FFF2-40B4-BE49-F238E27FC236}">
                  <a16:creationId xmlns:a16="http://schemas.microsoft.com/office/drawing/2014/main" id="{AF882E03-D277-0146-88D5-72B49FF70D8B}"/>
                </a:ext>
              </a:extLst>
            </p:cNvPr>
            <p:cNvSpPr txBox="1"/>
            <p:nvPr/>
          </p:nvSpPr>
          <p:spPr>
            <a:xfrm>
              <a:off x="4084788" y="5297752"/>
              <a:ext cx="4515660" cy="830997"/>
            </a:xfrm>
            <a:prstGeom prst="rect">
              <a:avLst/>
            </a:prstGeom>
            <a:noFill/>
          </p:spPr>
          <p:txBody>
            <a:bodyPr wrap="none" rtlCol="0">
              <a:spAutoFit/>
            </a:bodyPr>
            <a:lstStyle/>
            <a:p>
              <a:pPr marL="342900" indent="-342900">
                <a:buAutoNum type="arabicPeriod"/>
              </a:pPr>
              <a:r>
                <a:rPr lang="en-US" sz="2400" dirty="0">
                  <a:latin typeface="+mj-lt"/>
                </a:rPr>
                <a:t>Repeat the computation </a:t>
              </a:r>
              <a:r>
                <a:rPr lang="en-ZA" sz="2400" dirty="0"/>
                <a:t>≥</a:t>
              </a:r>
              <a:r>
                <a:rPr lang="en-US" sz="2400" dirty="0">
                  <a:latin typeface="+mj-lt"/>
                </a:rPr>
                <a:t> 1000.</a:t>
              </a:r>
            </a:p>
            <a:p>
              <a:pPr marL="342900" indent="-342900">
                <a:buAutoNum type="arabicPeriod"/>
              </a:pPr>
              <a:r>
                <a:rPr lang="en-US" sz="2400" dirty="0">
                  <a:latin typeface="+mj-lt"/>
                </a:rPr>
                <a:t>Draw a histogram.</a:t>
              </a:r>
            </a:p>
          </p:txBody>
        </p:sp>
        <p:grpSp>
          <p:nvGrpSpPr>
            <p:cNvPr id="58" name="Group 57">
              <a:extLst>
                <a:ext uri="{FF2B5EF4-FFF2-40B4-BE49-F238E27FC236}">
                  <a16:creationId xmlns:a16="http://schemas.microsoft.com/office/drawing/2014/main" id="{5869FACA-BA9B-044A-A0DB-EF0F82BFD962}"/>
                </a:ext>
              </a:extLst>
            </p:cNvPr>
            <p:cNvGrpSpPr/>
            <p:nvPr/>
          </p:nvGrpSpPr>
          <p:grpSpPr>
            <a:xfrm>
              <a:off x="6154987" y="1028250"/>
              <a:ext cx="3567616" cy="4281971"/>
              <a:chOff x="6154987" y="1174867"/>
              <a:chExt cx="3567616" cy="4281971"/>
            </a:xfrm>
          </p:grpSpPr>
          <p:cxnSp>
            <p:nvCxnSpPr>
              <p:cNvPr id="23" name="Straight Connector 22">
                <a:extLst>
                  <a:ext uri="{FF2B5EF4-FFF2-40B4-BE49-F238E27FC236}">
                    <a16:creationId xmlns:a16="http://schemas.microsoft.com/office/drawing/2014/main" id="{E0828C0F-3333-9049-884B-16F897CFCA37}"/>
                  </a:ext>
                </a:extLst>
              </p:cNvPr>
              <p:cNvCxnSpPr>
                <a:cxnSpLocks/>
              </p:cNvCxnSpPr>
              <p:nvPr/>
            </p:nvCxnSpPr>
            <p:spPr>
              <a:xfrm>
                <a:off x="7067227" y="1408840"/>
                <a:ext cx="0" cy="36068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AAEE9C1-E282-0E49-BBB3-6AC8521AB9AD}"/>
                  </a:ext>
                </a:extLst>
              </p:cNvPr>
              <p:cNvCxnSpPr>
                <a:cxnSpLocks/>
              </p:cNvCxnSpPr>
              <p:nvPr/>
            </p:nvCxnSpPr>
            <p:spPr>
              <a:xfrm>
                <a:off x="7731071" y="1408840"/>
                <a:ext cx="0" cy="36068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317633C-C7ED-E440-BAA1-DE18F2250A37}"/>
                  </a:ext>
                </a:extLst>
              </p:cNvPr>
              <p:cNvCxnSpPr>
                <a:cxnSpLocks/>
              </p:cNvCxnSpPr>
              <p:nvPr/>
            </p:nvCxnSpPr>
            <p:spPr>
              <a:xfrm>
                <a:off x="8394915" y="1408840"/>
                <a:ext cx="0" cy="36068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F676A70-1F33-444A-8ED0-C477FE445CFF}"/>
                  </a:ext>
                </a:extLst>
              </p:cNvPr>
              <p:cNvCxnSpPr>
                <a:cxnSpLocks/>
              </p:cNvCxnSpPr>
              <p:nvPr/>
            </p:nvCxnSpPr>
            <p:spPr>
              <a:xfrm>
                <a:off x="9058759" y="1408840"/>
                <a:ext cx="0" cy="36068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92D7EB6-BA24-F145-9C1A-97B79E2078F4}"/>
                  </a:ext>
                </a:extLst>
              </p:cNvPr>
              <p:cNvCxnSpPr>
                <a:cxnSpLocks/>
              </p:cNvCxnSpPr>
              <p:nvPr/>
            </p:nvCxnSpPr>
            <p:spPr>
              <a:xfrm>
                <a:off x="9722603" y="1408840"/>
                <a:ext cx="0" cy="36068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D0D3DFD-CF20-0E4A-AF11-94B0B3D8B91F}"/>
                  </a:ext>
                </a:extLst>
              </p:cNvPr>
              <p:cNvCxnSpPr>
                <a:cxnSpLocks/>
              </p:cNvCxnSpPr>
              <p:nvPr/>
            </p:nvCxnSpPr>
            <p:spPr>
              <a:xfrm>
                <a:off x="7067227" y="5004233"/>
                <a:ext cx="2655376"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A075AD-8BB7-5047-808E-CF41B6EEF2F1}"/>
                  </a:ext>
                </a:extLst>
              </p:cNvPr>
              <p:cNvCxnSpPr>
                <a:cxnSpLocks/>
              </p:cNvCxnSpPr>
              <p:nvPr/>
            </p:nvCxnSpPr>
            <p:spPr>
              <a:xfrm>
                <a:off x="7067227" y="1408840"/>
                <a:ext cx="2655376"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F1A50FD-C6E0-AC48-86DB-35AE5EF2D03C}"/>
                  </a:ext>
                </a:extLst>
              </p:cNvPr>
              <p:cNvCxnSpPr>
                <a:cxnSpLocks/>
              </p:cNvCxnSpPr>
              <p:nvPr/>
            </p:nvCxnSpPr>
            <p:spPr>
              <a:xfrm>
                <a:off x="7067227" y="3206536"/>
                <a:ext cx="2655376"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0960F72-AAE6-424D-908C-19FC4848F6F0}"/>
                  </a:ext>
                </a:extLst>
              </p:cNvPr>
              <p:cNvCxnSpPr>
                <a:cxnSpLocks/>
              </p:cNvCxnSpPr>
              <p:nvPr/>
            </p:nvCxnSpPr>
            <p:spPr>
              <a:xfrm>
                <a:off x="7067227" y="2307688"/>
                <a:ext cx="2655376"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ABAC094-85FC-1844-B726-0B7E12581C1F}"/>
                  </a:ext>
                </a:extLst>
              </p:cNvPr>
              <p:cNvCxnSpPr>
                <a:cxnSpLocks/>
              </p:cNvCxnSpPr>
              <p:nvPr/>
            </p:nvCxnSpPr>
            <p:spPr>
              <a:xfrm>
                <a:off x="7067227" y="4105384"/>
                <a:ext cx="2655376"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B6D31BA1-6B81-5441-8B33-C902E4FD925C}"/>
                  </a:ext>
                </a:extLst>
              </p:cNvPr>
              <p:cNvSpPr txBox="1"/>
              <p:nvPr/>
            </p:nvSpPr>
            <p:spPr>
              <a:xfrm>
                <a:off x="7251371" y="5056728"/>
                <a:ext cx="314510" cy="400110"/>
              </a:xfrm>
              <a:prstGeom prst="rect">
                <a:avLst/>
              </a:prstGeom>
              <a:noFill/>
            </p:spPr>
            <p:txBody>
              <a:bodyPr wrap="none" rtlCol="0">
                <a:spAutoFit/>
              </a:bodyPr>
              <a:lstStyle/>
              <a:p>
                <a:r>
                  <a:rPr lang="en-US" sz="2000" dirty="0"/>
                  <a:t>0</a:t>
                </a:r>
              </a:p>
            </p:txBody>
          </p:sp>
          <p:sp>
            <p:nvSpPr>
              <p:cNvPr id="45" name="TextBox 44">
                <a:extLst>
                  <a:ext uri="{FF2B5EF4-FFF2-40B4-BE49-F238E27FC236}">
                    <a16:creationId xmlns:a16="http://schemas.microsoft.com/office/drawing/2014/main" id="{F4B10A75-F4AC-FD4F-9550-CDCE85864EC4}"/>
                  </a:ext>
                </a:extLst>
              </p:cNvPr>
              <p:cNvSpPr txBox="1"/>
              <p:nvPr/>
            </p:nvSpPr>
            <p:spPr>
              <a:xfrm>
                <a:off x="7930588" y="5052108"/>
                <a:ext cx="314510" cy="400110"/>
              </a:xfrm>
              <a:prstGeom prst="rect">
                <a:avLst/>
              </a:prstGeom>
              <a:noFill/>
            </p:spPr>
            <p:txBody>
              <a:bodyPr wrap="none" rtlCol="0">
                <a:spAutoFit/>
              </a:bodyPr>
              <a:lstStyle/>
              <a:p>
                <a:r>
                  <a:rPr lang="en-US" sz="2000" dirty="0"/>
                  <a:t>1</a:t>
                </a:r>
              </a:p>
            </p:txBody>
          </p:sp>
          <p:sp>
            <p:nvSpPr>
              <p:cNvPr id="46" name="TextBox 45">
                <a:extLst>
                  <a:ext uri="{FF2B5EF4-FFF2-40B4-BE49-F238E27FC236}">
                    <a16:creationId xmlns:a16="http://schemas.microsoft.com/office/drawing/2014/main" id="{5F6A6AA0-4A3F-6F43-B00D-B67E8B37D952}"/>
                  </a:ext>
                </a:extLst>
              </p:cNvPr>
              <p:cNvSpPr txBox="1"/>
              <p:nvPr/>
            </p:nvSpPr>
            <p:spPr>
              <a:xfrm>
                <a:off x="8581659" y="5056728"/>
                <a:ext cx="314510" cy="400110"/>
              </a:xfrm>
              <a:prstGeom prst="rect">
                <a:avLst/>
              </a:prstGeom>
              <a:noFill/>
            </p:spPr>
            <p:txBody>
              <a:bodyPr wrap="none" rtlCol="0">
                <a:spAutoFit/>
              </a:bodyPr>
              <a:lstStyle/>
              <a:p>
                <a:r>
                  <a:rPr lang="en-US" sz="2000" dirty="0"/>
                  <a:t>2</a:t>
                </a:r>
              </a:p>
            </p:txBody>
          </p:sp>
          <p:sp>
            <p:nvSpPr>
              <p:cNvPr id="47" name="TextBox 46">
                <a:extLst>
                  <a:ext uri="{FF2B5EF4-FFF2-40B4-BE49-F238E27FC236}">
                    <a16:creationId xmlns:a16="http://schemas.microsoft.com/office/drawing/2014/main" id="{5006A61A-761B-3F41-950E-96CF11928E28}"/>
                  </a:ext>
                </a:extLst>
              </p:cNvPr>
              <p:cNvSpPr txBox="1"/>
              <p:nvPr/>
            </p:nvSpPr>
            <p:spPr>
              <a:xfrm>
                <a:off x="9232730" y="5052108"/>
                <a:ext cx="314510" cy="400110"/>
              </a:xfrm>
              <a:prstGeom prst="rect">
                <a:avLst/>
              </a:prstGeom>
              <a:noFill/>
            </p:spPr>
            <p:txBody>
              <a:bodyPr wrap="none" rtlCol="0">
                <a:spAutoFit/>
              </a:bodyPr>
              <a:lstStyle/>
              <a:p>
                <a:r>
                  <a:rPr lang="en-US" sz="2000" dirty="0"/>
                  <a:t>3</a:t>
                </a:r>
              </a:p>
            </p:txBody>
          </p:sp>
          <p:sp>
            <p:nvSpPr>
              <p:cNvPr id="48" name="TextBox 47">
                <a:extLst>
                  <a:ext uri="{FF2B5EF4-FFF2-40B4-BE49-F238E27FC236}">
                    <a16:creationId xmlns:a16="http://schemas.microsoft.com/office/drawing/2014/main" id="{44E199EE-97D4-F445-AC19-D7BE79F668B8}"/>
                  </a:ext>
                </a:extLst>
              </p:cNvPr>
              <p:cNvSpPr txBox="1"/>
              <p:nvPr/>
            </p:nvSpPr>
            <p:spPr>
              <a:xfrm>
                <a:off x="6154987" y="1174867"/>
                <a:ext cx="756938" cy="400110"/>
              </a:xfrm>
              <a:prstGeom prst="rect">
                <a:avLst/>
              </a:prstGeom>
              <a:noFill/>
            </p:spPr>
            <p:txBody>
              <a:bodyPr wrap="none" rtlCol="0">
                <a:spAutoFit/>
              </a:bodyPr>
              <a:lstStyle/>
              <a:p>
                <a:r>
                  <a:rPr lang="en-US" sz="2000" dirty="0"/>
                  <a:t>100%</a:t>
                </a:r>
              </a:p>
            </p:txBody>
          </p:sp>
          <p:sp>
            <p:nvSpPr>
              <p:cNvPr id="50" name="TextBox 49">
                <a:extLst>
                  <a:ext uri="{FF2B5EF4-FFF2-40B4-BE49-F238E27FC236}">
                    <a16:creationId xmlns:a16="http://schemas.microsoft.com/office/drawing/2014/main" id="{BE3525C1-67D1-D847-8C2A-B01D56E3A435}"/>
                  </a:ext>
                </a:extLst>
              </p:cNvPr>
              <p:cNvSpPr txBox="1"/>
              <p:nvPr/>
            </p:nvSpPr>
            <p:spPr>
              <a:xfrm>
                <a:off x="6284830" y="3922156"/>
                <a:ext cx="627095" cy="400110"/>
              </a:xfrm>
              <a:prstGeom prst="rect">
                <a:avLst/>
              </a:prstGeom>
              <a:noFill/>
            </p:spPr>
            <p:txBody>
              <a:bodyPr wrap="none" rtlCol="0">
                <a:spAutoFit/>
              </a:bodyPr>
              <a:lstStyle/>
              <a:p>
                <a:r>
                  <a:rPr lang="en-US" sz="2000" dirty="0"/>
                  <a:t>25%</a:t>
                </a:r>
              </a:p>
            </p:txBody>
          </p:sp>
          <p:sp>
            <p:nvSpPr>
              <p:cNvPr id="51" name="TextBox 50">
                <a:extLst>
                  <a:ext uri="{FF2B5EF4-FFF2-40B4-BE49-F238E27FC236}">
                    <a16:creationId xmlns:a16="http://schemas.microsoft.com/office/drawing/2014/main" id="{7CE3BB1E-C0F9-AC4B-8E79-3848CF06BA8E}"/>
                  </a:ext>
                </a:extLst>
              </p:cNvPr>
              <p:cNvSpPr txBox="1"/>
              <p:nvPr/>
            </p:nvSpPr>
            <p:spPr>
              <a:xfrm>
                <a:off x="6288603" y="2968578"/>
                <a:ext cx="627095" cy="400110"/>
              </a:xfrm>
              <a:prstGeom prst="rect">
                <a:avLst/>
              </a:prstGeom>
              <a:noFill/>
            </p:spPr>
            <p:txBody>
              <a:bodyPr wrap="none" rtlCol="0">
                <a:spAutoFit/>
              </a:bodyPr>
              <a:lstStyle/>
              <a:p>
                <a:r>
                  <a:rPr lang="en-US" sz="2000" dirty="0"/>
                  <a:t>50%</a:t>
                </a:r>
              </a:p>
            </p:txBody>
          </p:sp>
          <p:sp>
            <p:nvSpPr>
              <p:cNvPr id="53" name="TextBox 52">
                <a:extLst>
                  <a:ext uri="{FF2B5EF4-FFF2-40B4-BE49-F238E27FC236}">
                    <a16:creationId xmlns:a16="http://schemas.microsoft.com/office/drawing/2014/main" id="{5782AD0B-173A-2B4B-8ED7-D2F63153758F}"/>
                  </a:ext>
                </a:extLst>
              </p:cNvPr>
              <p:cNvSpPr txBox="1"/>
              <p:nvPr/>
            </p:nvSpPr>
            <p:spPr>
              <a:xfrm>
                <a:off x="6284830" y="2116926"/>
                <a:ext cx="627095" cy="400110"/>
              </a:xfrm>
              <a:prstGeom prst="rect">
                <a:avLst/>
              </a:prstGeom>
              <a:noFill/>
            </p:spPr>
            <p:txBody>
              <a:bodyPr wrap="none" rtlCol="0">
                <a:spAutoFit/>
              </a:bodyPr>
              <a:lstStyle/>
              <a:p>
                <a:r>
                  <a:rPr lang="en-US" sz="2000" dirty="0"/>
                  <a:t>75%</a:t>
                </a:r>
              </a:p>
            </p:txBody>
          </p:sp>
          <p:sp>
            <p:nvSpPr>
              <p:cNvPr id="54" name="Rectangle 53">
                <a:extLst>
                  <a:ext uri="{FF2B5EF4-FFF2-40B4-BE49-F238E27FC236}">
                    <a16:creationId xmlns:a16="http://schemas.microsoft.com/office/drawing/2014/main" id="{AE36066F-102D-4F49-A779-DBE0FD53130A}"/>
                  </a:ext>
                </a:extLst>
              </p:cNvPr>
              <p:cNvSpPr/>
              <p:nvPr/>
            </p:nvSpPr>
            <p:spPr>
              <a:xfrm>
                <a:off x="7251371" y="4736199"/>
                <a:ext cx="314510" cy="258457"/>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12E18909-DED3-C741-A7CD-CC8C78BF0B91}"/>
                  </a:ext>
                </a:extLst>
              </p:cNvPr>
              <p:cNvSpPr/>
              <p:nvPr/>
            </p:nvSpPr>
            <p:spPr>
              <a:xfrm>
                <a:off x="8576384" y="2001534"/>
                <a:ext cx="314510" cy="2991293"/>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D0840DB2-44A1-3C45-931A-3DD2E244B771}"/>
                  </a:ext>
                </a:extLst>
              </p:cNvPr>
              <p:cNvSpPr/>
              <p:nvPr/>
            </p:nvSpPr>
            <p:spPr>
              <a:xfrm>
                <a:off x="7905738" y="4734370"/>
                <a:ext cx="314510" cy="258457"/>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2F0DF58B-58C2-9C45-9C88-807A5C203DAF}"/>
                  </a:ext>
                </a:extLst>
              </p:cNvPr>
              <p:cNvSpPr/>
              <p:nvPr/>
            </p:nvSpPr>
            <p:spPr>
              <a:xfrm>
                <a:off x="9223950" y="4925184"/>
                <a:ext cx="314510" cy="67643"/>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887656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blinds(horizontal)">
                                      <p:cBhvr>
                                        <p:cTn id="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55">
            <a:extLst>
              <a:ext uri="{FF2B5EF4-FFF2-40B4-BE49-F238E27FC236}">
                <a16:creationId xmlns:a16="http://schemas.microsoft.com/office/drawing/2014/main" id="{75BAA227-3300-6E4B-825B-B710248BD85B}"/>
              </a:ext>
            </a:extLst>
          </p:cNvPr>
          <p:cNvPicPr>
            <a:picLocks noChangeAspect="1"/>
          </p:cNvPicPr>
          <p:nvPr/>
        </p:nvPicPr>
        <p:blipFill>
          <a:blip r:embed="rId3">
            <a:alphaModFix amt="30000"/>
          </a:blip>
          <a:stretch>
            <a:fillRect/>
          </a:stretch>
        </p:blipFill>
        <p:spPr>
          <a:xfrm>
            <a:off x="213103" y="1661358"/>
            <a:ext cx="1642033" cy="1800000"/>
          </a:xfrm>
          <a:prstGeom prst="rect">
            <a:avLst/>
          </a:prstGeom>
        </p:spPr>
      </p:pic>
      <p:sp>
        <p:nvSpPr>
          <p:cNvPr id="2" name="Title 1">
            <a:extLst>
              <a:ext uri="{FF2B5EF4-FFF2-40B4-BE49-F238E27FC236}">
                <a16:creationId xmlns:a16="http://schemas.microsoft.com/office/drawing/2014/main" id="{FC90C6CC-5B29-3145-B78E-2CD4880BE4A0}"/>
              </a:ext>
            </a:extLst>
          </p:cNvPr>
          <p:cNvSpPr>
            <a:spLocks noGrp="1"/>
          </p:cNvSpPr>
          <p:nvPr>
            <p:ph type="title"/>
          </p:nvPr>
        </p:nvSpPr>
        <p:spPr/>
        <p:txBody>
          <a:bodyPr/>
          <a:lstStyle/>
          <a:p>
            <a:r>
              <a:rPr lang="en-US" dirty="0"/>
              <a:t>One qubit, two qubits, …. universe</a:t>
            </a:r>
          </a:p>
        </p:txBody>
      </p:sp>
      <p:sp>
        <p:nvSpPr>
          <p:cNvPr id="3" name="Slide Number Placeholder 2">
            <a:extLst>
              <a:ext uri="{FF2B5EF4-FFF2-40B4-BE49-F238E27FC236}">
                <a16:creationId xmlns:a16="http://schemas.microsoft.com/office/drawing/2014/main" id="{9F8142E1-2299-3C4B-B294-78ECF62D2FBC}"/>
              </a:ext>
            </a:extLst>
          </p:cNvPr>
          <p:cNvSpPr>
            <a:spLocks noGrp="1"/>
          </p:cNvSpPr>
          <p:nvPr>
            <p:ph type="sldNum" sz="quarter" idx="12"/>
          </p:nvPr>
        </p:nvSpPr>
        <p:spPr/>
        <p:txBody>
          <a:bodyPr/>
          <a:lstStyle/>
          <a:p>
            <a:fld id="{591A223C-FA10-BC46-A853-03BA373D023C}" type="slidenum">
              <a:rPr lang="en-US" smtClean="0"/>
              <a:t>38</a:t>
            </a:fld>
            <a:endParaRPr lang="en-US"/>
          </a:p>
        </p:txBody>
      </p:sp>
      <p:pic>
        <p:nvPicPr>
          <p:cNvPr id="13" name="Picture 12">
            <a:extLst>
              <a:ext uri="{FF2B5EF4-FFF2-40B4-BE49-F238E27FC236}">
                <a16:creationId xmlns:a16="http://schemas.microsoft.com/office/drawing/2014/main" id="{BD211BF4-6CB9-AA48-A7DC-AB70116BEAE0}"/>
              </a:ext>
            </a:extLst>
          </p:cNvPr>
          <p:cNvPicPr>
            <a:picLocks noChangeAspect="1"/>
          </p:cNvPicPr>
          <p:nvPr/>
        </p:nvPicPr>
        <p:blipFill>
          <a:blip r:embed="rId3"/>
          <a:stretch>
            <a:fillRect/>
          </a:stretch>
        </p:blipFill>
        <p:spPr>
          <a:xfrm>
            <a:off x="213103" y="4907153"/>
            <a:ext cx="1642033" cy="1800000"/>
          </a:xfrm>
          <a:prstGeom prst="rect">
            <a:avLst/>
          </a:prstGeom>
        </p:spPr>
      </p:pic>
      <p:sp>
        <p:nvSpPr>
          <p:cNvPr id="16" name="TextBox 15">
            <a:extLst>
              <a:ext uri="{FF2B5EF4-FFF2-40B4-BE49-F238E27FC236}">
                <a16:creationId xmlns:a16="http://schemas.microsoft.com/office/drawing/2014/main" id="{3F204FF4-0036-0641-AAE4-0404B93DAD30}"/>
              </a:ext>
            </a:extLst>
          </p:cNvPr>
          <p:cNvSpPr txBox="1"/>
          <p:nvPr/>
        </p:nvSpPr>
        <p:spPr>
          <a:xfrm>
            <a:off x="318825" y="3904005"/>
            <a:ext cx="1598899" cy="923330"/>
          </a:xfrm>
          <a:prstGeom prst="rect">
            <a:avLst/>
          </a:prstGeom>
          <a:noFill/>
        </p:spPr>
        <p:txBody>
          <a:bodyPr wrap="none" rtlCol="0">
            <a:spAutoFit/>
          </a:bodyPr>
          <a:lstStyle/>
          <a:p>
            <a:pPr algn="ctr"/>
            <a:r>
              <a:rPr lang="en-US" dirty="0"/>
              <a:t>1 qubit:</a:t>
            </a:r>
          </a:p>
          <a:p>
            <a:pPr algn="ctr"/>
            <a:r>
              <a:rPr lang="en-US" dirty="0"/>
              <a:t>2 values</a:t>
            </a:r>
          </a:p>
          <a:p>
            <a:pPr algn="ctr"/>
            <a:r>
              <a:rPr lang="en-ZA" dirty="0"/>
              <a:t>simultaneously</a:t>
            </a:r>
            <a:endParaRPr lang="en-US" dirty="0"/>
          </a:p>
        </p:txBody>
      </p:sp>
      <p:sp>
        <p:nvSpPr>
          <p:cNvPr id="22" name="TextBox 21">
            <a:extLst>
              <a:ext uri="{FF2B5EF4-FFF2-40B4-BE49-F238E27FC236}">
                <a16:creationId xmlns:a16="http://schemas.microsoft.com/office/drawing/2014/main" id="{9A1DCD39-38EF-DE47-BA2A-180C969B5671}"/>
              </a:ext>
            </a:extLst>
          </p:cNvPr>
          <p:cNvSpPr txBox="1"/>
          <p:nvPr/>
        </p:nvSpPr>
        <p:spPr>
          <a:xfrm>
            <a:off x="411284" y="886391"/>
            <a:ext cx="1413978" cy="646331"/>
          </a:xfrm>
          <a:prstGeom prst="rect">
            <a:avLst/>
          </a:prstGeom>
          <a:noFill/>
        </p:spPr>
        <p:txBody>
          <a:bodyPr wrap="none" rtlCol="0">
            <a:spAutoFit/>
          </a:bodyPr>
          <a:lstStyle/>
          <a:p>
            <a:pPr algn="ctr"/>
            <a:r>
              <a:rPr lang="en-US" dirty="0"/>
              <a:t>1 bit:</a:t>
            </a:r>
          </a:p>
          <a:p>
            <a:pPr algn="ctr"/>
            <a:r>
              <a:rPr lang="en-US" dirty="0"/>
              <a:t>1 of 2  values</a:t>
            </a:r>
          </a:p>
        </p:txBody>
      </p:sp>
      <p:cxnSp>
        <p:nvCxnSpPr>
          <p:cNvPr id="38" name="Straight Connector 37">
            <a:extLst>
              <a:ext uri="{FF2B5EF4-FFF2-40B4-BE49-F238E27FC236}">
                <a16:creationId xmlns:a16="http://schemas.microsoft.com/office/drawing/2014/main" id="{28E46B1B-421C-3548-B897-7B52F8FBDCCC}"/>
              </a:ext>
            </a:extLst>
          </p:cNvPr>
          <p:cNvCxnSpPr>
            <a:cxnSpLocks/>
          </p:cNvCxnSpPr>
          <p:nvPr/>
        </p:nvCxnSpPr>
        <p:spPr>
          <a:xfrm>
            <a:off x="1034120" y="1817367"/>
            <a:ext cx="1" cy="813967"/>
          </a:xfrm>
          <a:prstGeom prst="line">
            <a:avLst/>
          </a:prstGeom>
          <a:ln w="50800" cap="rnd">
            <a:solidFill>
              <a:srgbClr val="0000FF"/>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7957E556-6023-D14A-B5E5-4139C7D6998D}"/>
              </a:ext>
            </a:extLst>
          </p:cNvPr>
          <p:cNvGrpSpPr/>
          <p:nvPr/>
        </p:nvGrpSpPr>
        <p:grpSpPr>
          <a:xfrm>
            <a:off x="2327190" y="933066"/>
            <a:ext cx="1778146" cy="5774087"/>
            <a:chOff x="2327190" y="933066"/>
            <a:chExt cx="1778146" cy="5774087"/>
          </a:xfrm>
        </p:grpSpPr>
        <p:pic>
          <p:nvPicPr>
            <p:cNvPr id="11" name="Picture 10">
              <a:extLst>
                <a:ext uri="{FF2B5EF4-FFF2-40B4-BE49-F238E27FC236}">
                  <a16:creationId xmlns:a16="http://schemas.microsoft.com/office/drawing/2014/main" id="{97ECE792-25BB-9B4B-8530-B1EF0E109107}"/>
                </a:ext>
              </a:extLst>
            </p:cNvPr>
            <p:cNvPicPr>
              <a:picLocks noChangeAspect="1"/>
            </p:cNvPicPr>
            <p:nvPr/>
          </p:nvPicPr>
          <p:blipFill>
            <a:blip r:embed="rId4"/>
            <a:stretch>
              <a:fillRect/>
            </a:stretch>
          </p:blipFill>
          <p:spPr>
            <a:xfrm>
              <a:off x="2327190" y="4907153"/>
              <a:ext cx="1706604" cy="1800000"/>
            </a:xfrm>
            <a:prstGeom prst="rect">
              <a:avLst/>
            </a:prstGeom>
          </p:spPr>
        </p:pic>
        <p:sp>
          <p:nvSpPr>
            <p:cNvPr id="17" name="TextBox 16">
              <a:extLst>
                <a:ext uri="{FF2B5EF4-FFF2-40B4-BE49-F238E27FC236}">
                  <a16:creationId xmlns:a16="http://schemas.microsoft.com/office/drawing/2014/main" id="{62B7F873-118F-DE4E-92E2-FAFCF2E6E2BE}"/>
                </a:ext>
              </a:extLst>
            </p:cNvPr>
            <p:cNvSpPr txBox="1"/>
            <p:nvPr/>
          </p:nvSpPr>
          <p:spPr>
            <a:xfrm>
              <a:off x="2413586" y="3906376"/>
              <a:ext cx="1598900" cy="923330"/>
            </a:xfrm>
            <a:prstGeom prst="rect">
              <a:avLst/>
            </a:prstGeom>
            <a:noFill/>
          </p:spPr>
          <p:txBody>
            <a:bodyPr wrap="none" rtlCol="0">
              <a:spAutoFit/>
            </a:bodyPr>
            <a:lstStyle/>
            <a:p>
              <a:pPr algn="ctr"/>
              <a:r>
                <a:rPr lang="en-US" dirty="0"/>
                <a:t>2 qubits:</a:t>
              </a:r>
            </a:p>
            <a:p>
              <a:pPr algn="ctr"/>
              <a:r>
                <a:rPr lang="en-US" dirty="0"/>
                <a:t>4 values</a:t>
              </a:r>
            </a:p>
            <a:p>
              <a:pPr algn="ctr"/>
              <a:r>
                <a:rPr lang="en-ZA" dirty="0"/>
                <a:t>simultaneously</a:t>
              </a:r>
              <a:endParaRPr lang="en-US" dirty="0"/>
            </a:p>
          </p:txBody>
        </p:sp>
        <p:sp>
          <p:nvSpPr>
            <p:cNvPr id="23" name="TextBox 22">
              <a:extLst>
                <a:ext uri="{FF2B5EF4-FFF2-40B4-BE49-F238E27FC236}">
                  <a16:creationId xmlns:a16="http://schemas.microsoft.com/office/drawing/2014/main" id="{222FE6A5-C92C-B042-BC9E-041B1E770C8A}"/>
                </a:ext>
              </a:extLst>
            </p:cNvPr>
            <p:cNvSpPr txBox="1"/>
            <p:nvPr/>
          </p:nvSpPr>
          <p:spPr>
            <a:xfrm>
              <a:off x="2499953" y="933066"/>
              <a:ext cx="1361078" cy="646331"/>
            </a:xfrm>
            <a:prstGeom prst="rect">
              <a:avLst/>
            </a:prstGeom>
            <a:noFill/>
          </p:spPr>
          <p:txBody>
            <a:bodyPr wrap="none" rtlCol="0">
              <a:spAutoFit/>
            </a:bodyPr>
            <a:lstStyle/>
            <a:p>
              <a:pPr algn="ctr"/>
              <a:r>
                <a:rPr lang="en-US" dirty="0"/>
                <a:t>2 bits:</a:t>
              </a:r>
            </a:p>
            <a:p>
              <a:pPr algn="ctr"/>
              <a:r>
                <a:rPr lang="en-US" dirty="0"/>
                <a:t>1 of 4 values</a:t>
              </a:r>
            </a:p>
          </p:txBody>
        </p:sp>
        <p:pic>
          <p:nvPicPr>
            <p:cNvPr id="57" name="Picture 56">
              <a:extLst>
                <a:ext uri="{FF2B5EF4-FFF2-40B4-BE49-F238E27FC236}">
                  <a16:creationId xmlns:a16="http://schemas.microsoft.com/office/drawing/2014/main" id="{4BADF30F-165B-364C-850F-E184FF9150E6}"/>
                </a:ext>
              </a:extLst>
            </p:cNvPr>
            <p:cNvPicPr>
              <a:picLocks noChangeAspect="1"/>
            </p:cNvPicPr>
            <p:nvPr/>
          </p:nvPicPr>
          <p:blipFill>
            <a:blip r:embed="rId4">
              <a:alphaModFix amt="30000"/>
            </a:blip>
            <a:stretch>
              <a:fillRect/>
            </a:stretch>
          </p:blipFill>
          <p:spPr>
            <a:xfrm>
              <a:off x="2398732" y="1673368"/>
              <a:ext cx="1706604" cy="1800000"/>
            </a:xfrm>
            <a:prstGeom prst="rect">
              <a:avLst/>
            </a:prstGeom>
          </p:spPr>
        </p:pic>
        <p:cxnSp>
          <p:nvCxnSpPr>
            <p:cNvPr id="61" name="Straight Connector 60">
              <a:extLst>
                <a:ext uri="{FF2B5EF4-FFF2-40B4-BE49-F238E27FC236}">
                  <a16:creationId xmlns:a16="http://schemas.microsoft.com/office/drawing/2014/main" id="{E59148C8-7CEA-8E45-A56B-F1EC07169875}"/>
                </a:ext>
              </a:extLst>
            </p:cNvPr>
            <p:cNvCxnSpPr>
              <a:cxnSpLocks/>
            </p:cNvCxnSpPr>
            <p:nvPr/>
          </p:nvCxnSpPr>
          <p:spPr>
            <a:xfrm>
              <a:off x="2493589" y="2631334"/>
              <a:ext cx="758445" cy="0"/>
            </a:xfrm>
            <a:prstGeom prst="line">
              <a:avLst/>
            </a:prstGeom>
            <a:ln w="50800" cap="rnd">
              <a:solidFill>
                <a:srgbClr val="0000FF"/>
              </a:solidFill>
              <a:headEnd type="oval"/>
              <a:tailEnd type="none"/>
            </a:ln>
          </p:spPr>
          <p:style>
            <a:lnRef idx="1">
              <a:schemeClr val="accent1"/>
            </a:lnRef>
            <a:fillRef idx="0">
              <a:schemeClr val="accent1"/>
            </a:fillRef>
            <a:effectRef idx="0">
              <a:schemeClr val="accent1"/>
            </a:effectRef>
            <a:fontRef idx="minor">
              <a:schemeClr val="tx1"/>
            </a:fontRef>
          </p:style>
        </p:cxnSp>
      </p:grpSp>
      <p:grpSp>
        <p:nvGrpSpPr>
          <p:cNvPr id="81" name="Group 80">
            <a:extLst>
              <a:ext uri="{FF2B5EF4-FFF2-40B4-BE49-F238E27FC236}">
                <a16:creationId xmlns:a16="http://schemas.microsoft.com/office/drawing/2014/main" id="{2B26A4D2-3E78-4D49-9748-B183C3B1FA36}"/>
              </a:ext>
            </a:extLst>
          </p:cNvPr>
          <p:cNvGrpSpPr/>
          <p:nvPr/>
        </p:nvGrpSpPr>
        <p:grpSpPr>
          <a:xfrm>
            <a:off x="4573074" y="898015"/>
            <a:ext cx="1719764" cy="5809138"/>
            <a:chOff x="4573074" y="898015"/>
            <a:chExt cx="1719764" cy="5809138"/>
          </a:xfrm>
        </p:grpSpPr>
        <p:pic>
          <p:nvPicPr>
            <p:cNvPr id="9" name="Picture 8">
              <a:extLst>
                <a:ext uri="{FF2B5EF4-FFF2-40B4-BE49-F238E27FC236}">
                  <a16:creationId xmlns:a16="http://schemas.microsoft.com/office/drawing/2014/main" id="{07643CBC-EF50-C64F-82D4-3CD7E79F8AA9}"/>
                </a:ext>
              </a:extLst>
            </p:cNvPr>
            <p:cNvPicPr>
              <a:picLocks noChangeAspect="1"/>
            </p:cNvPicPr>
            <p:nvPr/>
          </p:nvPicPr>
          <p:blipFill>
            <a:blip r:embed="rId5"/>
            <a:stretch>
              <a:fillRect/>
            </a:stretch>
          </p:blipFill>
          <p:spPr>
            <a:xfrm>
              <a:off x="4573074" y="4907153"/>
              <a:ext cx="1705938" cy="1800000"/>
            </a:xfrm>
            <a:prstGeom prst="rect">
              <a:avLst/>
            </a:prstGeom>
          </p:spPr>
        </p:pic>
        <p:sp>
          <p:nvSpPr>
            <p:cNvPr id="18" name="TextBox 17">
              <a:extLst>
                <a:ext uri="{FF2B5EF4-FFF2-40B4-BE49-F238E27FC236}">
                  <a16:creationId xmlns:a16="http://schemas.microsoft.com/office/drawing/2014/main" id="{ED35C487-4894-6845-93AA-002D5C075AB0}"/>
                </a:ext>
              </a:extLst>
            </p:cNvPr>
            <p:cNvSpPr txBox="1"/>
            <p:nvPr/>
          </p:nvSpPr>
          <p:spPr>
            <a:xfrm>
              <a:off x="4693938" y="3883546"/>
              <a:ext cx="1598900" cy="923330"/>
            </a:xfrm>
            <a:prstGeom prst="rect">
              <a:avLst/>
            </a:prstGeom>
            <a:noFill/>
          </p:spPr>
          <p:txBody>
            <a:bodyPr wrap="none" rtlCol="0">
              <a:spAutoFit/>
            </a:bodyPr>
            <a:lstStyle/>
            <a:p>
              <a:pPr algn="ctr"/>
              <a:r>
                <a:rPr lang="en-US" dirty="0"/>
                <a:t>3 qubits:</a:t>
              </a:r>
            </a:p>
            <a:p>
              <a:pPr algn="ctr"/>
              <a:r>
                <a:rPr lang="en-US" dirty="0"/>
                <a:t>8 values</a:t>
              </a:r>
            </a:p>
            <a:p>
              <a:pPr algn="ctr"/>
              <a:r>
                <a:rPr lang="en-ZA" dirty="0"/>
                <a:t>simultaneously</a:t>
              </a:r>
              <a:endParaRPr lang="en-US" dirty="0"/>
            </a:p>
          </p:txBody>
        </p:sp>
        <p:sp>
          <p:nvSpPr>
            <p:cNvPr id="24" name="TextBox 23">
              <a:extLst>
                <a:ext uri="{FF2B5EF4-FFF2-40B4-BE49-F238E27FC236}">
                  <a16:creationId xmlns:a16="http://schemas.microsoft.com/office/drawing/2014/main" id="{1867D26F-C825-6D43-9B63-48628E3A8EB2}"/>
                </a:ext>
              </a:extLst>
            </p:cNvPr>
            <p:cNvSpPr txBox="1"/>
            <p:nvPr/>
          </p:nvSpPr>
          <p:spPr>
            <a:xfrm>
              <a:off x="4765148" y="898015"/>
              <a:ext cx="1361078" cy="646331"/>
            </a:xfrm>
            <a:prstGeom prst="rect">
              <a:avLst/>
            </a:prstGeom>
            <a:noFill/>
          </p:spPr>
          <p:txBody>
            <a:bodyPr wrap="none" rtlCol="0">
              <a:spAutoFit/>
            </a:bodyPr>
            <a:lstStyle/>
            <a:p>
              <a:pPr algn="ctr"/>
              <a:r>
                <a:rPr lang="en-US" dirty="0"/>
                <a:t>3 bits:</a:t>
              </a:r>
            </a:p>
            <a:p>
              <a:pPr algn="ctr"/>
              <a:r>
                <a:rPr lang="en-US" dirty="0"/>
                <a:t>1 of 8 values</a:t>
              </a:r>
            </a:p>
          </p:txBody>
        </p:sp>
        <p:pic>
          <p:nvPicPr>
            <p:cNvPr id="58" name="Picture 57">
              <a:extLst>
                <a:ext uri="{FF2B5EF4-FFF2-40B4-BE49-F238E27FC236}">
                  <a16:creationId xmlns:a16="http://schemas.microsoft.com/office/drawing/2014/main" id="{A9D40794-2981-664A-A4EA-657D879F893B}"/>
                </a:ext>
              </a:extLst>
            </p:cNvPr>
            <p:cNvPicPr>
              <a:picLocks noChangeAspect="1"/>
            </p:cNvPicPr>
            <p:nvPr/>
          </p:nvPicPr>
          <p:blipFill>
            <a:blip r:embed="rId5">
              <a:alphaModFix amt="30000"/>
            </a:blip>
            <a:stretch>
              <a:fillRect/>
            </a:stretch>
          </p:blipFill>
          <p:spPr>
            <a:xfrm>
              <a:off x="4573074" y="1661358"/>
              <a:ext cx="1705938" cy="1800000"/>
            </a:xfrm>
            <a:prstGeom prst="rect">
              <a:avLst/>
            </a:prstGeom>
          </p:spPr>
        </p:pic>
        <p:cxnSp>
          <p:nvCxnSpPr>
            <p:cNvPr id="65" name="Straight Connector 64">
              <a:extLst>
                <a:ext uri="{FF2B5EF4-FFF2-40B4-BE49-F238E27FC236}">
                  <a16:creationId xmlns:a16="http://schemas.microsoft.com/office/drawing/2014/main" id="{79659319-A407-AF4A-BA07-E8E86A22AD26}"/>
                </a:ext>
              </a:extLst>
            </p:cNvPr>
            <p:cNvCxnSpPr>
              <a:cxnSpLocks/>
            </p:cNvCxnSpPr>
            <p:nvPr/>
          </p:nvCxnSpPr>
          <p:spPr>
            <a:xfrm flipH="1">
              <a:off x="5426043" y="2357117"/>
              <a:ext cx="757145" cy="247650"/>
            </a:xfrm>
            <a:prstGeom prst="line">
              <a:avLst/>
            </a:prstGeom>
            <a:ln w="50800" cap="rnd">
              <a:solidFill>
                <a:srgbClr val="0000FF"/>
              </a:solidFill>
              <a:headEnd type="oval"/>
              <a:tailEnd type="none"/>
            </a:ln>
          </p:spPr>
          <p:style>
            <a:lnRef idx="1">
              <a:schemeClr val="accent1"/>
            </a:lnRef>
            <a:fillRef idx="0">
              <a:schemeClr val="accent1"/>
            </a:fillRef>
            <a:effectRef idx="0">
              <a:schemeClr val="accent1"/>
            </a:effectRef>
            <a:fontRef idx="minor">
              <a:schemeClr val="tx1"/>
            </a:fontRef>
          </p:style>
        </p:cxnSp>
      </p:grpSp>
      <p:grpSp>
        <p:nvGrpSpPr>
          <p:cNvPr id="82" name="Group 81">
            <a:extLst>
              <a:ext uri="{FF2B5EF4-FFF2-40B4-BE49-F238E27FC236}">
                <a16:creationId xmlns:a16="http://schemas.microsoft.com/office/drawing/2014/main" id="{65927883-A828-A14C-862A-F489CE353B39}"/>
              </a:ext>
            </a:extLst>
          </p:cNvPr>
          <p:cNvGrpSpPr/>
          <p:nvPr/>
        </p:nvGrpSpPr>
        <p:grpSpPr>
          <a:xfrm>
            <a:off x="6739467" y="933066"/>
            <a:ext cx="1795279" cy="5774087"/>
            <a:chOff x="6739467" y="933066"/>
            <a:chExt cx="1795279" cy="5774087"/>
          </a:xfrm>
        </p:grpSpPr>
        <p:pic>
          <p:nvPicPr>
            <p:cNvPr id="7" name="Picture 6">
              <a:extLst>
                <a:ext uri="{FF2B5EF4-FFF2-40B4-BE49-F238E27FC236}">
                  <a16:creationId xmlns:a16="http://schemas.microsoft.com/office/drawing/2014/main" id="{CE82BBCC-C158-A046-9E04-55BAD127CDAA}"/>
                </a:ext>
              </a:extLst>
            </p:cNvPr>
            <p:cNvPicPr>
              <a:picLocks noChangeAspect="1"/>
            </p:cNvPicPr>
            <p:nvPr/>
          </p:nvPicPr>
          <p:blipFill>
            <a:blip r:embed="rId6"/>
            <a:stretch>
              <a:fillRect/>
            </a:stretch>
          </p:blipFill>
          <p:spPr>
            <a:xfrm>
              <a:off x="6739467" y="4907153"/>
              <a:ext cx="1778469" cy="1800000"/>
            </a:xfrm>
            <a:prstGeom prst="rect">
              <a:avLst/>
            </a:prstGeom>
          </p:spPr>
        </p:pic>
        <p:sp>
          <p:nvSpPr>
            <p:cNvPr id="19" name="TextBox 18">
              <a:extLst>
                <a:ext uri="{FF2B5EF4-FFF2-40B4-BE49-F238E27FC236}">
                  <a16:creationId xmlns:a16="http://schemas.microsoft.com/office/drawing/2014/main" id="{D36FC028-B8F5-C54F-9D45-97EE6B7CCCA7}"/>
                </a:ext>
              </a:extLst>
            </p:cNvPr>
            <p:cNvSpPr txBox="1"/>
            <p:nvPr/>
          </p:nvSpPr>
          <p:spPr>
            <a:xfrm>
              <a:off x="6802010" y="3883545"/>
              <a:ext cx="1598900" cy="923330"/>
            </a:xfrm>
            <a:prstGeom prst="rect">
              <a:avLst/>
            </a:prstGeom>
            <a:noFill/>
          </p:spPr>
          <p:txBody>
            <a:bodyPr wrap="none" rtlCol="0">
              <a:spAutoFit/>
            </a:bodyPr>
            <a:lstStyle/>
            <a:p>
              <a:pPr algn="ctr"/>
              <a:r>
                <a:rPr lang="en-US" dirty="0"/>
                <a:t>4 qubits:</a:t>
              </a:r>
            </a:p>
            <a:p>
              <a:pPr algn="ctr"/>
              <a:r>
                <a:rPr lang="en-US" dirty="0"/>
                <a:t>16 values</a:t>
              </a:r>
            </a:p>
            <a:p>
              <a:pPr algn="ctr"/>
              <a:r>
                <a:rPr lang="en-ZA" dirty="0"/>
                <a:t>simultaneously</a:t>
              </a:r>
              <a:endParaRPr lang="en-US" dirty="0"/>
            </a:p>
          </p:txBody>
        </p:sp>
        <p:sp>
          <p:nvSpPr>
            <p:cNvPr id="25" name="TextBox 24">
              <a:extLst>
                <a:ext uri="{FF2B5EF4-FFF2-40B4-BE49-F238E27FC236}">
                  <a16:creationId xmlns:a16="http://schemas.microsoft.com/office/drawing/2014/main" id="{E02DA0C1-8041-4740-84DB-78509BB81B64}"/>
                </a:ext>
              </a:extLst>
            </p:cNvPr>
            <p:cNvSpPr txBox="1"/>
            <p:nvPr/>
          </p:nvSpPr>
          <p:spPr>
            <a:xfrm>
              <a:off x="6862408" y="933066"/>
              <a:ext cx="1478097" cy="646331"/>
            </a:xfrm>
            <a:prstGeom prst="rect">
              <a:avLst/>
            </a:prstGeom>
            <a:noFill/>
          </p:spPr>
          <p:txBody>
            <a:bodyPr wrap="none" rtlCol="0">
              <a:spAutoFit/>
            </a:bodyPr>
            <a:lstStyle/>
            <a:p>
              <a:pPr algn="ctr"/>
              <a:r>
                <a:rPr lang="en-US" dirty="0"/>
                <a:t>4 bits:</a:t>
              </a:r>
            </a:p>
            <a:p>
              <a:pPr algn="ctr"/>
              <a:r>
                <a:rPr lang="en-US" dirty="0"/>
                <a:t>1 of 16 values</a:t>
              </a:r>
            </a:p>
          </p:txBody>
        </p:sp>
        <p:pic>
          <p:nvPicPr>
            <p:cNvPr id="59" name="Picture 58">
              <a:extLst>
                <a:ext uri="{FF2B5EF4-FFF2-40B4-BE49-F238E27FC236}">
                  <a16:creationId xmlns:a16="http://schemas.microsoft.com/office/drawing/2014/main" id="{423A5B71-E485-534E-871D-042D581CBCFD}"/>
                </a:ext>
              </a:extLst>
            </p:cNvPr>
            <p:cNvPicPr>
              <a:picLocks noChangeAspect="1"/>
            </p:cNvPicPr>
            <p:nvPr/>
          </p:nvPicPr>
          <p:blipFill>
            <a:blip r:embed="rId6">
              <a:alphaModFix amt="30000"/>
            </a:blip>
            <a:stretch>
              <a:fillRect/>
            </a:stretch>
          </p:blipFill>
          <p:spPr>
            <a:xfrm>
              <a:off x="6756277" y="1582640"/>
              <a:ext cx="1778469" cy="1800000"/>
            </a:xfrm>
            <a:prstGeom prst="rect">
              <a:avLst/>
            </a:prstGeom>
          </p:spPr>
        </p:pic>
        <p:cxnSp>
          <p:nvCxnSpPr>
            <p:cNvPr id="68" name="Straight Connector 67">
              <a:extLst>
                <a:ext uri="{FF2B5EF4-FFF2-40B4-BE49-F238E27FC236}">
                  <a16:creationId xmlns:a16="http://schemas.microsoft.com/office/drawing/2014/main" id="{42143F98-C024-AD44-851C-084EB6748F39}"/>
                </a:ext>
              </a:extLst>
            </p:cNvPr>
            <p:cNvCxnSpPr>
              <a:cxnSpLocks/>
            </p:cNvCxnSpPr>
            <p:nvPr/>
          </p:nvCxnSpPr>
          <p:spPr>
            <a:xfrm flipH="1" flipV="1">
              <a:off x="7610983" y="2540607"/>
              <a:ext cx="710693" cy="395707"/>
            </a:xfrm>
            <a:prstGeom prst="line">
              <a:avLst/>
            </a:prstGeom>
            <a:ln w="50800" cap="rnd">
              <a:solidFill>
                <a:srgbClr val="0000FF"/>
              </a:solidFill>
              <a:headEnd type="oval"/>
              <a:tailEnd type="none"/>
            </a:ln>
          </p:spPr>
          <p:style>
            <a:lnRef idx="1">
              <a:schemeClr val="accent1"/>
            </a:lnRef>
            <a:fillRef idx="0">
              <a:schemeClr val="accent1"/>
            </a:fillRef>
            <a:effectRef idx="0">
              <a:schemeClr val="accent1"/>
            </a:effectRef>
            <a:fontRef idx="minor">
              <a:schemeClr val="tx1"/>
            </a:fontRef>
          </p:style>
        </p:cxnSp>
      </p:grpSp>
      <p:grpSp>
        <p:nvGrpSpPr>
          <p:cNvPr id="84" name="Group 83">
            <a:extLst>
              <a:ext uri="{FF2B5EF4-FFF2-40B4-BE49-F238E27FC236}">
                <a16:creationId xmlns:a16="http://schemas.microsoft.com/office/drawing/2014/main" id="{5553B4F1-2DE6-C94B-9759-540C7EEBE009}"/>
              </a:ext>
            </a:extLst>
          </p:cNvPr>
          <p:cNvGrpSpPr/>
          <p:nvPr/>
        </p:nvGrpSpPr>
        <p:grpSpPr>
          <a:xfrm>
            <a:off x="8918125" y="920911"/>
            <a:ext cx="2996221" cy="5786242"/>
            <a:chOff x="8918125" y="920911"/>
            <a:chExt cx="2996221" cy="5786242"/>
          </a:xfrm>
        </p:grpSpPr>
        <p:pic>
          <p:nvPicPr>
            <p:cNvPr id="78" name="Picture 77">
              <a:extLst>
                <a:ext uri="{FF2B5EF4-FFF2-40B4-BE49-F238E27FC236}">
                  <a16:creationId xmlns:a16="http://schemas.microsoft.com/office/drawing/2014/main" id="{B1B88CAE-1BE4-6B48-8120-2471080963D3}"/>
                </a:ext>
              </a:extLst>
            </p:cNvPr>
            <p:cNvPicPr>
              <a:picLocks noChangeAspect="1"/>
            </p:cNvPicPr>
            <p:nvPr/>
          </p:nvPicPr>
          <p:blipFill>
            <a:blip r:embed="rId7">
              <a:alphaModFix amt="55000"/>
            </a:blip>
            <a:stretch>
              <a:fillRect/>
            </a:stretch>
          </p:blipFill>
          <p:spPr>
            <a:xfrm>
              <a:off x="10132392" y="1673368"/>
              <a:ext cx="1781954" cy="1800000"/>
            </a:xfrm>
            <a:prstGeom prst="rect">
              <a:avLst/>
            </a:prstGeom>
          </p:spPr>
        </p:pic>
        <p:sp>
          <p:nvSpPr>
            <p:cNvPr id="21" name="TextBox 20">
              <a:extLst>
                <a:ext uri="{FF2B5EF4-FFF2-40B4-BE49-F238E27FC236}">
                  <a16:creationId xmlns:a16="http://schemas.microsoft.com/office/drawing/2014/main" id="{C18129C0-861A-3D47-86DD-7D06A1E73518}"/>
                </a:ext>
              </a:extLst>
            </p:cNvPr>
            <p:cNvSpPr txBox="1"/>
            <p:nvPr/>
          </p:nvSpPr>
          <p:spPr>
            <a:xfrm>
              <a:off x="8918125" y="4791490"/>
              <a:ext cx="954107" cy="1015663"/>
            </a:xfrm>
            <a:prstGeom prst="rect">
              <a:avLst/>
            </a:prstGeom>
            <a:noFill/>
          </p:spPr>
          <p:txBody>
            <a:bodyPr wrap="none" rtlCol="0">
              <a:spAutoFit/>
            </a:bodyPr>
            <a:lstStyle/>
            <a:p>
              <a:r>
                <a:rPr lang="en-US" sz="6000" dirty="0">
                  <a:latin typeface="Times New Roman" panose="02020603050405020304" pitchFamily="18" charset="0"/>
                  <a:cs typeface="Times New Roman" panose="02020603050405020304" pitchFamily="18" charset="0"/>
                </a:rPr>
                <a:t>…</a:t>
              </a:r>
            </a:p>
          </p:txBody>
        </p:sp>
        <p:pic>
          <p:nvPicPr>
            <p:cNvPr id="15" name="Picture 14">
              <a:extLst>
                <a:ext uri="{FF2B5EF4-FFF2-40B4-BE49-F238E27FC236}">
                  <a16:creationId xmlns:a16="http://schemas.microsoft.com/office/drawing/2014/main" id="{C61A2E24-10D0-C34E-83BC-1B1E268B785F}"/>
                </a:ext>
              </a:extLst>
            </p:cNvPr>
            <p:cNvPicPr>
              <a:picLocks noChangeAspect="1"/>
            </p:cNvPicPr>
            <p:nvPr/>
          </p:nvPicPr>
          <p:blipFill>
            <a:blip r:embed="rId8"/>
            <a:stretch>
              <a:fillRect/>
            </a:stretch>
          </p:blipFill>
          <p:spPr>
            <a:xfrm>
              <a:off x="10114346" y="4907153"/>
              <a:ext cx="1800000" cy="1800000"/>
            </a:xfrm>
            <a:prstGeom prst="rect">
              <a:avLst/>
            </a:prstGeom>
          </p:spPr>
        </p:pic>
        <p:sp>
          <p:nvSpPr>
            <p:cNvPr id="26" name="TextBox 25">
              <a:extLst>
                <a:ext uri="{FF2B5EF4-FFF2-40B4-BE49-F238E27FC236}">
                  <a16:creationId xmlns:a16="http://schemas.microsoft.com/office/drawing/2014/main" id="{C3B63481-2726-4042-830E-634018598391}"/>
                </a:ext>
              </a:extLst>
            </p:cNvPr>
            <p:cNvSpPr txBox="1"/>
            <p:nvPr/>
          </p:nvSpPr>
          <p:spPr>
            <a:xfrm>
              <a:off x="10265939" y="920911"/>
              <a:ext cx="1497333" cy="646331"/>
            </a:xfrm>
            <a:prstGeom prst="rect">
              <a:avLst/>
            </a:prstGeom>
            <a:noFill/>
          </p:spPr>
          <p:txBody>
            <a:bodyPr wrap="none" rtlCol="0">
              <a:spAutoFit/>
            </a:bodyPr>
            <a:lstStyle/>
            <a:p>
              <a:pPr algn="ctr"/>
              <a:r>
                <a:rPr lang="en-US" dirty="0"/>
                <a:t>10</a:t>
              </a:r>
              <a:r>
                <a:rPr lang="en-US" baseline="30000" dirty="0"/>
                <a:t>18</a:t>
              </a:r>
              <a:r>
                <a:rPr lang="en-US" dirty="0"/>
                <a:t> bits:</a:t>
              </a:r>
            </a:p>
            <a:p>
              <a:pPr algn="ctr"/>
              <a:r>
                <a:rPr lang="en-US" dirty="0"/>
                <a:t>10</a:t>
              </a:r>
              <a:r>
                <a:rPr lang="en-US" baseline="30000" dirty="0"/>
                <a:t>16</a:t>
              </a:r>
              <a:r>
                <a:rPr lang="en-US" dirty="0"/>
                <a:t> FP values</a:t>
              </a:r>
            </a:p>
          </p:txBody>
        </p:sp>
        <p:sp>
          <p:nvSpPr>
            <p:cNvPr id="79" name="TextBox 78">
              <a:extLst>
                <a:ext uri="{FF2B5EF4-FFF2-40B4-BE49-F238E27FC236}">
                  <a16:creationId xmlns:a16="http://schemas.microsoft.com/office/drawing/2014/main" id="{BB423BFB-4D97-6F4C-8FDD-7F771F89DA44}"/>
                </a:ext>
              </a:extLst>
            </p:cNvPr>
            <p:cNvSpPr txBox="1"/>
            <p:nvPr/>
          </p:nvSpPr>
          <p:spPr>
            <a:xfrm>
              <a:off x="8918126" y="2052424"/>
              <a:ext cx="954107" cy="1015663"/>
            </a:xfrm>
            <a:prstGeom prst="rect">
              <a:avLst/>
            </a:prstGeom>
            <a:noFill/>
          </p:spPr>
          <p:txBody>
            <a:bodyPr wrap="none" rtlCol="0">
              <a:spAutoFit/>
            </a:bodyPr>
            <a:lstStyle/>
            <a:p>
              <a:r>
                <a:rPr lang="en-US" sz="6000" dirty="0">
                  <a:latin typeface="Times New Roman" panose="02020603050405020304" pitchFamily="18" charset="0"/>
                  <a:cs typeface="Times New Roman" panose="02020603050405020304" pitchFamily="18" charset="0"/>
                </a:rPr>
                <a:t>…</a:t>
              </a:r>
            </a:p>
          </p:txBody>
        </p:sp>
        <p:sp>
          <p:nvSpPr>
            <p:cNvPr id="20" name="TextBox 19">
              <a:extLst>
                <a:ext uri="{FF2B5EF4-FFF2-40B4-BE49-F238E27FC236}">
                  <a16:creationId xmlns:a16="http://schemas.microsoft.com/office/drawing/2014/main" id="{0FBA2F6C-67AA-EE4A-AC06-2A26EA55BFA3}"/>
                </a:ext>
              </a:extLst>
            </p:cNvPr>
            <p:cNvSpPr txBox="1"/>
            <p:nvPr/>
          </p:nvSpPr>
          <p:spPr>
            <a:xfrm>
              <a:off x="10066161" y="3917101"/>
              <a:ext cx="1680268" cy="923330"/>
            </a:xfrm>
            <a:prstGeom prst="rect">
              <a:avLst/>
            </a:prstGeom>
            <a:noFill/>
          </p:spPr>
          <p:txBody>
            <a:bodyPr wrap="none" rtlCol="0">
              <a:spAutoFit/>
            </a:bodyPr>
            <a:lstStyle/>
            <a:p>
              <a:pPr algn="ctr"/>
              <a:r>
                <a:rPr lang="en-US" dirty="0"/>
                <a:t>300 qubits: 10</a:t>
              </a:r>
              <a:r>
                <a:rPr lang="en-US" baseline="30000" dirty="0"/>
                <a:t>90</a:t>
              </a:r>
              <a:endParaRPr lang="en-US" dirty="0"/>
            </a:p>
            <a:p>
              <a:pPr algn="ctr"/>
              <a:r>
                <a:rPr lang="en-US" dirty="0"/>
                <a:t>FP values</a:t>
              </a:r>
            </a:p>
            <a:p>
              <a:pPr algn="ctr"/>
              <a:r>
                <a:rPr lang="en-ZA" dirty="0"/>
                <a:t>simultaneously</a:t>
              </a:r>
              <a:endParaRPr lang="en-US" dirty="0"/>
            </a:p>
          </p:txBody>
        </p:sp>
      </p:grpSp>
    </p:spTree>
    <p:extLst>
      <p:ext uri="{BB962C8B-B14F-4D97-AF65-F5344CB8AC3E}">
        <p14:creationId xmlns:p14="http://schemas.microsoft.com/office/powerpoint/2010/main" val="2299109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blinds(horizontal)">
                                      <p:cBhvr>
                                        <p:cTn id="7" dur="500"/>
                                        <p:tgtEl>
                                          <p:spTgt spid="8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1"/>
                                        </p:tgtEl>
                                        <p:attrNameLst>
                                          <p:attrName>style.visibility</p:attrName>
                                        </p:attrNameLst>
                                      </p:cBhvr>
                                      <p:to>
                                        <p:strVal val="visible"/>
                                      </p:to>
                                    </p:set>
                                    <p:animEffect transition="in" filter="blinds(horizontal)">
                                      <p:cBhvr>
                                        <p:cTn id="12" dur="500"/>
                                        <p:tgtEl>
                                          <p:spTgt spid="8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2"/>
                                        </p:tgtEl>
                                        <p:attrNameLst>
                                          <p:attrName>style.visibility</p:attrName>
                                        </p:attrNameLst>
                                      </p:cBhvr>
                                      <p:to>
                                        <p:strVal val="visible"/>
                                      </p:to>
                                    </p:set>
                                    <p:animEffect transition="in" filter="blinds(horizontal)">
                                      <p:cBhvr>
                                        <p:cTn id="17" dur="500"/>
                                        <p:tgtEl>
                                          <p:spTgt spid="8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4"/>
                                        </p:tgtEl>
                                        <p:attrNameLst>
                                          <p:attrName>style.visibility</p:attrName>
                                        </p:attrNameLst>
                                      </p:cBhvr>
                                      <p:to>
                                        <p:strVal val="visible"/>
                                      </p:to>
                                    </p:set>
                                    <p:animEffect transition="in" filter="blinds(horizontal)">
                                      <p:cBhvr>
                                        <p:cTn id="22"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1CBB562-F2E0-184D-A6FF-48F6B7B5C052}"/>
              </a:ext>
            </a:extLst>
          </p:cNvPr>
          <p:cNvSpPr txBox="1"/>
          <p:nvPr/>
        </p:nvSpPr>
        <p:spPr>
          <a:xfrm>
            <a:off x="7844835" y="1364530"/>
            <a:ext cx="3207930" cy="1569660"/>
          </a:xfrm>
          <a:prstGeom prst="rect">
            <a:avLst/>
          </a:prstGeom>
          <a:noFill/>
        </p:spPr>
        <p:txBody>
          <a:bodyPr wrap="none" rtlCol="0">
            <a:spAutoFit/>
          </a:bodyPr>
          <a:lstStyle/>
          <a:p>
            <a:pPr algn="ctr"/>
            <a:r>
              <a:rPr lang="en-US" sz="4800" dirty="0">
                <a:latin typeface="Comic Sans MS" panose="030F0902030302020204" pitchFamily="66" charset="0"/>
              </a:rPr>
              <a:t>Quantum</a:t>
            </a:r>
          </a:p>
          <a:p>
            <a:pPr algn="ctr"/>
            <a:r>
              <a:rPr lang="en-US" sz="4800" dirty="0">
                <a:latin typeface="Comic Sans MS" panose="030F0902030302020204" pitchFamily="66" charset="0"/>
              </a:rPr>
              <a:t>processing</a:t>
            </a:r>
          </a:p>
        </p:txBody>
      </p:sp>
      <p:pic>
        <p:nvPicPr>
          <p:cNvPr id="7" name="Picture 6">
            <a:extLst>
              <a:ext uri="{FF2B5EF4-FFF2-40B4-BE49-F238E27FC236}">
                <a16:creationId xmlns:a16="http://schemas.microsoft.com/office/drawing/2014/main" id="{433B73B1-72A5-3B46-8D4E-F364C91EAAB3}"/>
              </a:ext>
            </a:extLst>
          </p:cNvPr>
          <p:cNvPicPr>
            <a:picLocks noChangeAspect="1"/>
          </p:cNvPicPr>
          <p:nvPr/>
        </p:nvPicPr>
        <p:blipFill>
          <a:blip r:embed="rId3"/>
          <a:stretch>
            <a:fillRect/>
          </a:stretch>
        </p:blipFill>
        <p:spPr>
          <a:xfrm flipH="1">
            <a:off x="1691911" y="958592"/>
            <a:ext cx="5489106" cy="5079076"/>
          </a:xfrm>
          <a:prstGeom prst="rect">
            <a:avLst/>
          </a:prstGeom>
        </p:spPr>
      </p:pic>
      <p:sp>
        <p:nvSpPr>
          <p:cNvPr id="3" name="TextBox 2">
            <a:extLst>
              <a:ext uri="{FF2B5EF4-FFF2-40B4-BE49-F238E27FC236}">
                <a16:creationId xmlns:a16="http://schemas.microsoft.com/office/drawing/2014/main" id="{8E115BEC-46BE-C542-A94A-93B3FA03DE5A}"/>
              </a:ext>
            </a:extLst>
          </p:cNvPr>
          <p:cNvSpPr txBox="1"/>
          <p:nvPr/>
        </p:nvSpPr>
        <p:spPr>
          <a:xfrm>
            <a:off x="7844835" y="3257499"/>
            <a:ext cx="3368842" cy="1384995"/>
          </a:xfrm>
          <a:prstGeom prst="rect">
            <a:avLst/>
          </a:prstGeom>
          <a:noFill/>
        </p:spPr>
        <p:txBody>
          <a:bodyPr wrap="square" rtlCol="0">
            <a:spAutoFit/>
          </a:bodyPr>
          <a:lstStyle/>
          <a:p>
            <a:pPr algn="ctr"/>
            <a:r>
              <a:rPr lang="en-US" sz="2800" dirty="0">
                <a:latin typeface="Comic Sans MS" panose="030F0902030302020204" pitchFamily="66" charset="0"/>
              </a:rPr>
              <a:t>How quantum computer process information.</a:t>
            </a:r>
          </a:p>
        </p:txBody>
      </p:sp>
      <p:sp>
        <p:nvSpPr>
          <p:cNvPr id="5" name="Slide Number Placeholder 18">
            <a:extLst>
              <a:ext uri="{FF2B5EF4-FFF2-40B4-BE49-F238E27FC236}">
                <a16:creationId xmlns:a16="http://schemas.microsoft.com/office/drawing/2014/main" id="{2046DDF6-236C-EA44-BBAD-84BE524E5776}"/>
              </a:ext>
            </a:extLst>
          </p:cNvPr>
          <p:cNvSpPr txBox="1">
            <a:spLocks/>
          </p:cNvSpPr>
          <p:nvPr/>
        </p:nvSpPr>
        <p:spPr>
          <a:xfrm>
            <a:off x="14410" y="6463863"/>
            <a:ext cx="899990" cy="39413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A7A90D-170E-2F4F-8861-97D6C3C25EEF}" type="slidenum">
              <a:rPr lang="en-US" smtClean="0"/>
              <a:pPr/>
              <a:t>39</a:t>
            </a:fld>
            <a:endParaRPr lang="en-US" dirty="0"/>
          </a:p>
        </p:txBody>
      </p:sp>
    </p:spTree>
    <p:extLst>
      <p:ext uri="{BB962C8B-B14F-4D97-AF65-F5344CB8AC3E}">
        <p14:creationId xmlns:p14="http://schemas.microsoft.com/office/powerpoint/2010/main" val="26691274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BC4F1AA-DD2B-8C42-81A6-C287AD40B2F4}"/>
              </a:ext>
            </a:extLst>
          </p:cNvPr>
          <p:cNvPicPr>
            <a:picLocks noChangeAspect="1"/>
          </p:cNvPicPr>
          <p:nvPr/>
        </p:nvPicPr>
        <p:blipFill>
          <a:blip r:embed="rId3">
            <a:alphaModFix amt="42000"/>
          </a:blip>
          <a:stretch>
            <a:fillRect/>
          </a:stretch>
        </p:blipFill>
        <p:spPr>
          <a:xfrm>
            <a:off x="3774340" y="946480"/>
            <a:ext cx="5588613" cy="5584940"/>
          </a:xfrm>
          <a:prstGeom prst="rect">
            <a:avLst/>
          </a:prstGeom>
        </p:spPr>
      </p:pic>
      <p:sp>
        <p:nvSpPr>
          <p:cNvPr id="2" name="Title 1">
            <a:extLst>
              <a:ext uri="{FF2B5EF4-FFF2-40B4-BE49-F238E27FC236}">
                <a16:creationId xmlns:a16="http://schemas.microsoft.com/office/drawing/2014/main" id="{C02D0739-EDD1-1549-8DFA-CB4F40D297A1}"/>
              </a:ext>
            </a:extLst>
          </p:cNvPr>
          <p:cNvSpPr>
            <a:spLocks noGrp="1"/>
          </p:cNvSpPr>
          <p:nvPr>
            <p:ph type="title"/>
          </p:nvPr>
        </p:nvSpPr>
        <p:spPr>
          <a:xfrm>
            <a:off x="0" y="0"/>
            <a:ext cx="12192000" cy="928688"/>
          </a:xfrm>
        </p:spPr>
        <p:txBody>
          <a:bodyPr/>
          <a:lstStyle/>
          <a:p>
            <a:r>
              <a:rPr lang="en-ZA" dirty="0"/>
              <a:t>Rotation as a basic instruction</a:t>
            </a:r>
            <a:endParaRPr lang="en-US" dirty="0"/>
          </a:p>
        </p:txBody>
      </p:sp>
      <p:sp>
        <p:nvSpPr>
          <p:cNvPr id="19" name="Slide Number Placeholder 18">
            <a:extLst>
              <a:ext uri="{FF2B5EF4-FFF2-40B4-BE49-F238E27FC236}">
                <a16:creationId xmlns:a16="http://schemas.microsoft.com/office/drawing/2014/main" id="{92874A6E-1BBE-DD4F-8C8A-DC83FB6B8BE2}"/>
              </a:ext>
            </a:extLst>
          </p:cNvPr>
          <p:cNvSpPr>
            <a:spLocks noGrp="1"/>
          </p:cNvSpPr>
          <p:nvPr>
            <p:ph type="sldNum" sz="quarter" idx="12"/>
          </p:nvPr>
        </p:nvSpPr>
        <p:spPr/>
        <p:txBody>
          <a:bodyPr/>
          <a:lstStyle/>
          <a:p>
            <a:fld id="{D0A7A90D-170E-2F4F-8861-97D6C3C25EEF}" type="slidenum">
              <a:rPr lang="en-US" smtClean="0"/>
              <a:t>40</a:t>
            </a:fld>
            <a:endParaRPr lang="en-US"/>
          </a:p>
        </p:txBody>
      </p:sp>
      <mc:AlternateContent xmlns:mc="http://schemas.openxmlformats.org/markup-compatibility/2006" xmlns:a14="http://schemas.microsoft.com/office/drawing/2010/main">
        <mc:Choice Requires="a14">
          <p:sp>
            <p:nvSpPr>
              <p:cNvPr id="59" name="Rectangle 58">
                <a:extLst>
                  <a:ext uri="{FF2B5EF4-FFF2-40B4-BE49-F238E27FC236}">
                    <a16:creationId xmlns:a16="http://schemas.microsoft.com/office/drawing/2014/main" id="{BBF2B15F-928D-834F-ABF6-87D5822952F0}"/>
                  </a:ext>
                </a:extLst>
              </p:cNvPr>
              <p:cNvSpPr/>
              <p:nvPr/>
            </p:nvSpPr>
            <p:spPr>
              <a:xfrm>
                <a:off x="6770270" y="1092955"/>
                <a:ext cx="996427" cy="101611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3600" i="1">
                              <a:latin typeface="Cambria Math" panose="02040503050406030204" pitchFamily="18" charset="0"/>
                              <a:ea typeface="Cambria Math" panose="02040503050406030204" pitchFamily="18" charset="0"/>
                            </a:rPr>
                          </m:ctrlPr>
                        </m:dPr>
                        <m:e>
                          <m:m>
                            <m:mPr>
                              <m:plcHide m:val="on"/>
                              <m:mcs>
                                <m:mc>
                                  <m:mcPr>
                                    <m:count m:val="1"/>
                                    <m:mcJc m:val="center"/>
                                  </m:mcPr>
                                </m:mc>
                              </m:mcs>
                              <m:ctrlPr>
                                <a:rPr lang="en-US" sz="3600" i="1">
                                  <a:latin typeface="Cambria Math" panose="02040503050406030204" pitchFamily="18" charset="0"/>
                                  <a:ea typeface="Cambria Math" panose="02040503050406030204" pitchFamily="18" charset="0"/>
                                </a:rPr>
                              </m:ctrlPr>
                            </m:mPr>
                            <m:mr>
                              <m:e>
                                <m:r>
                                  <a:rPr lang="en-US" sz="3600" i="1">
                                    <a:latin typeface="Cambria Math" panose="02040503050406030204" pitchFamily="18" charset="0"/>
                                  </a:rPr>
                                  <m:t>1</m:t>
                                </m:r>
                              </m:e>
                            </m:mr>
                            <m:mr>
                              <m:e>
                                <m:r>
                                  <a:rPr lang="en-US" sz="3600" i="1">
                                    <a:latin typeface="Cambria Math" panose="02040503050406030204" pitchFamily="18" charset="0"/>
                                    <a:ea typeface="Cambria Math" panose="02040503050406030204" pitchFamily="18" charset="0"/>
                                  </a:rPr>
                                  <m:t>0</m:t>
                                </m:r>
                              </m:e>
                            </m:mr>
                          </m:m>
                        </m:e>
                      </m:d>
                    </m:oMath>
                  </m:oMathPara>
                </a14:m>
                <a:endParaRPr lang="en-US" sz="3600" dirty="0"/>
              </a:p>
            </p:txBody>
          </p:sp>
        </mc:Choice>
        <mc:Fallback xmlns="">
          <p:sp>
            <p:nvSpPr>
              <p:cNvPr id="59" name="Rectangle 58">
                <a:extLst>
                  <a:ext uri="{FF2B5EF4-FFF2-40B4-BE49-F238E27FC236}">
                    <a16:creationId xmlns:a16="http://schemas.microsoft.com/office/drawing/2014/main" id="{BBF2B15F-928D-834F-ABF6-87D5822952F0}"/>
                  </a:ext>
                </a:extLst>
              </p:cNvPr>
              <p:cNvSpPr>
                <a:spLocks noRot="1" noChangeAspect="1" noMove="1" noResize="1" noEditPoints="1" noAdjustHandles="1" noChangeArrowheads="1" noChangeShapeType="1" noTextEdit="1"/>
              </p:cNvSpPr>
              <p:nvPr/>
            </p:nvSpPr>
            <p:spPr>
              <a:xfrm>
                <a:off x="6770270" y="1092955"/>
                <a:ext cx="996427" cy="1016112"/>
              </a:xfrm>
              <a:prstGeom prst="rect">
                <a:avLst/>
              </a:prstGeom>
              <a:blipFill>
                <a:blip r:embed="rId4"/>
                <a:stretch>
                  <a:fillRect b="-8642"/>
                </a:stretch>
              </a:blipFill>
            </p:spPr>
            <p:txBody>
              <a:bodyPr/>
              <a:lstStyle/>
              <a:p>
                <a:r>
                  <a:rPr lang="en-US">
                    <a:noFill/>
                  </a:rPr>
                  <a:t> </a:t>
                </a:r>
              </a:p>
            </p:txBody>
          </p:sp>
        </mc:Fallback>
      </mc:AlternateContent>
      <p:pic>
        <p:nvPicPr>
          <p:cNvPr id="40" name="Picture 39">
            <a:extLst>
              <a:ext uri="{FF2B5EF4-FFF2-40B4-BE49-F238E27FC236}">
                <a16:creationId xmlns:a16="http://schemas.microsoft.com/office/drawing/2014/main" id="{C0859842-F3B8-5349-A6B3-A952B7E8EB1B}"/>
              </a:ext>
            </a:extLst>
          </p:cNvPr>
          <p:cNvPicPr>
            <a:picLocks noChangeAspect="1"/>
          </p:cNvPicPr>
          <p:nvPr/>
        </p:nvPicPr>
        <p:blipFill>
          <a:blip r:embed="rId5"/>
          <a:stretch>
            <a:fillRect/>
          </a:stretch>
        </p:blipFill>
        <p:spPr>
          <a:xfrm>
            <a:off x="1904785" y="8966202"/>
            <a:ext cx="457200" cy="850900"/>
          </a:xfrm>
          <a:prstGeom prst="rect">
            <a:avLst/>
          </a:prstGeom>
        </p:spPr>
      </p:pic>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8DF85956-5878-F248-9153-C2D6EBC23148}"/>
                  </a:ext>
                </a:extLst>
              </p:cNvPr>
              <p:cNvSpPr/>
              <p:nvPr/>
            </p:nvSpPr>
            <p:spPr>
              <a:xfrm>
                <a:off x="2720215" y="4753298"/>
                <a:ext cx="1855636" cy="101611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3600" i="1" smtClean="0">
                              <a:latin typeface="Cambria Math" panose="02040503050406030204" pitchFamily="18" charset="0"/>
                              <a:ea typeface="Cambria Math" panose="02040503050406030204" pitchFamily="18" charset="0"/>
                            </a:rPr>
                          </m:ctrlPr>
                        </m:dPr>
                        <m:e>
                          <m:m>
                            <m:mPr>
                              <m:plcHide m:val="on"/>
                              <m:mcs>
                                <m:mc>
                                  <m:mcPr>
                                    <m:count m:val="1"/>
                                    <m:mcJc m:val="center"/>
                                  </m:mcPr>
                                </m:mc>
                              </m:mcs>
                              <m:ctrlPr>
                                <a:rPr lang="en-US" sz="3600" i="1">
                                  <a:latin typeface="Cambria Math" panose="02040503050406030204" pitchFamily="18" charset="0"/>
                                  <a:ea typeface="Cambria Math" panose="02040503050406030204" pitchFamily="18" charset="0"/>
                                </a:rPr>
                              </m:ctrlPr>
                            </m:mPr>
                            <m:mr>
                              <m:e>
                                <m:r>
                                  <a:rPr lang="en-US" sz="3600" i="1">
                                    <a:latin typeface="Cambria Math" panose="02040503050406030204" pitchFamily="18" charset="0"/>
                                    <a:ea typeface="Cambria Math" panose="02040503050406030204" pitchFamily="18" charset="0"/>
                                  </a:rPr>
                                  <m:t>0.</m:t>
                                </m:r>
                                <m:r>
                                  <a:rPr lang="en-US" sz="3600" b="0" i="1" smtClean="0">
                                    <a:latin typeface="Cambria Math" panose="02040503050406030204" pitchFamily="18" charset="0"/>
                                    <a:ea typeface="Cambria Math" panose="02040503050406030204" pitchFamily="18" charset="0"/>
                                  </a:rPr>
                                  <m:t>707</m:t>
                                </m:r>
                              </m:e>
                            </m:mr>
                            <m:mr>
                              <m:e>
                                <m:r>
                                  <a:rPr lang="en-US" sz="3600" b="0" i="1" smtClean="0">
                                    <a:latin typeface="Cambria Math" panose="02040503050406030204" pitchFamily="18" charset="0"/>
                                    <a:ea typeface="Cambria Math" panose="02040503050406030204" pitchFamily="18" charset="0"/>
                                  </a:rPr>
                                  <m:t>0.707</m:t>
                                </m:r>
                              </m:e>
                            </m:mr>
                          </m:m>
                        </m:e>
                      </m:d>
                    </m:oMath>
                  </m:oMathPara>
                </a14:m>
                <a:endParaRPr lang="en-US" sz="3600" dirty="0"/>
              </a:p>
            </p:txBody>
          </p:sp>
        </mc:Choice>
        <mc:Fallback xmlns="">
          <p:sp>
            <p:nvSpPr>
              <p:cNvPr id="47" name="Rectangle 46">
                <a:extLst>
                  <a:ext uri="{FF2B5EF4-FFF2-40B4-BE49-F238E27FC236}">
                    <a16:creationId xmlns:a16="http://schemas.microsoft.com/office/drawing/2014/main" id="{8DF85956-5878-F248-9153-C2D6EBC23148}"/>
                  </a:ext>
                </a:extLst>
              </p:cNvPr>
              <p:cNvSpPr>
                <a:spLocks noRot="1" noChangeAspect="1" noMove="1" noResize="1" noEditPoints="1" noAdjustHandles="1" noChangeArrowheads="1" noChangeShapeType="1" noTextEdit="1"/>
              </p:cNvSpPr>
              <p:nvPr/>
            </p:nvSpPr>
            <p:spPr>
              <a:xfrm>
                <a:off x="2720215" y="4753298"/>
                <a:ext cx="1855636" cy="1016112"/>
              </a:xfrm>
              <a:prstGeom prst="rect">
                <a:avLst/>
              </a:prstGeom>
              <a:blipFill>
                <a:blip r:embed="rId6"/>
                <a:stretch>
                  <a:fillRect b="-8642"/>
                </a:stretch>
              </a:blipFill>
            </p:spPr>
            <p:txBody>
              <a:bodyPr/>
              <a:lstStyle/>
              <a:p>
                <a:r>
                  <a:rPr lang="en-US">
                    <a:noFill/>
                  </a:rPr>
                  <a:t> </a:t>
                </a:r>
              </a:p>
            </p:txBody>
          </p:sp>
        </mc:Fallback>
      </mc:AlternateContent>
      <p:sp>
        <p:nvSpPr>
          <p:cNvPr id="31" name="Oval 30">
            <a:extLst>
              <a:ext uri="{FF2B5EF4-FFF2-40B4-BE49-F238E27FC236}">
                <a16:creationId xmlns:a16="http://schemas.microsoft.com/office/drawing/2014/main" id="{44704A98-15D1-A34B-B2B9-0A6476DB794D}"/>
              </a:ext>
            </a:extLst>
          </p:cNvPr>
          <p:cNvSpPr>
            <a:spLocks noChangeAspect="1"/>
          </p:cNvSpPr>
          <p:nvPr/>
        </p:nvSpPr>
        <p:spPr>
          <a:xfrm>
            <a:off x="3789859" y="935748"/>
            <a:ext cx="5588612" cy="55886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26B4702C-B5CF-524C-838D-76EC31EEA993}"/>
              </a:ext>
            </a:extLst>
          </p:cNvPr>
          <p:cNvCxnSpPr>
            <a:cxnSpLocks/>
          </p:cNvCxnSpPr>
          <p:nvPr/>
        </p:nvCxnSpPr>
        <p:spPr>
          <a:xfrm flipH="1">
            <a:off x="4093347" y="3658582"/>
            <a:ext cx="2499552" cy="2649798"/>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5DB632D-FB5D-E740-AB06-5F0493490DA8}"/>
              </a:ext>
            </a:extLst>
          </p:cNvPr>
          <p:cNvCxnSpPr>
            <a:cxnSpLocks/>
          </p:cNvCxnSpPr>
          <p:nvPr/>
        </p:nvCxnSpPr>
        <p:spPr>
          <a:xfrm>
            <a:off x="6606557" y="3672239"/>
            <a:ext cx="3106436" cy="997090"/>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E9DFF0D-B2F4-2E44-B115-CE9066E24432}"/>
              </a:ext>
            </a:extLst>
          </p:cNvPr>
          <p:cNvCxnSpPr>
            <a:cxnSpLocks/>
          </p:cNvCxnSpPr>
          <p:nvPr/>
        </p:nvCxnSpPr>
        <p:spPr>
          <a:xfrm flipH="1" flipV="1">
            <a:off x="6568647" y="704538"/>
            <a:ext cx="0" cy="2954045"/>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5D98D65-2E01-7447-8CF4-08C68C176032}"/>
              </a:ext>
            </a:extLst>
          </p:cNvPr>
          <p:cNvCxnSpPr>
            <a:cxnSpLocks/>
          </p:cNvCxnSpPr>
          <p:nvPr/>
        </p:nvCxnSpPr>
        <p:spPr>
          <a:xfrm flipV="1">
            <a:off x="6606557" y="2109066"/>
            <a:ext cx="1480574" cy="1549515"/>
          </a:xfrm>
          <a:prstGeom prst="line">
            <a:avLst/>
          </a:prstGeom>
          <a:ln w="889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2" name="Arc 41">
            <a:extLst>
              <a:ext uri="{FF2B5EF4-FFF2-40B4-BE49-F238E27FC236}">
                <a16:creationId xmlns:a16="http://schemas.microsoft.com/office/drawing/2014/main" id="{15A86F19-C288-7543-9C79-707D2736C90E}"/>
              </a:ext>
            </a:extLst>
          </p:cNvPr>
          <p:cNvSpPr/>
          <p:nvPr/>
        </p:nvSpPr>
        <p:spPr>
          <a:xfrm rot="12278854">
            <a:off x="5357769" y="779087"/>
            <a:ext cx="2654913" cy="5758003"/>
          </a:xfrm>
          <a:prstGeom prst="arc">
            <a:avLst>
              <a:gd name="adj1" fmla="val 16079390"/>
              <a:gd name="adj2" fmla="val 4769972"/>
            </a:avLst>
          </a:prstGeom>
          <a:ln w="12700">
            <a:solidFill>
              <a:srgbClr val="7030A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5" name="Oval 54">
            <a:extLst>
              <a:ext uri="{FF2B5EF4-FFF2-40B4-BE49-F238E27FC236}">
                <a16:creationId xmlns:a16="http://schemas.microsoft.com/office/drawing/2014/main" id="{23591E5E-22EC-4B4F-9227-42766B223B72}"/>
              </a:ext>
            </a:extLst>
          </p:cNvPr>
          <p:cNvSpPr/>
          <p:nvPr/>
        </p:nvSpPr>
        <p:spPr>
          <a:xfrm>
            <a:off x="6373637" y="1316384"/>
            <a:ext cx="464095" cy="282752"/>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9359CDC4-A1CB-1F4C-A448-649C8A3CDCD4}"/>
              </a:ext>
            </a:extLst>
          </p:cNvPr>
          <p:cNvSpPr/>
          <p:nvPr/>
        </p:nvSpPr>
        <p:spPr>
          <a:xfrm rot="5400000">
            <a:off x="4825014" y="5152784"/>
            <a:ext cx="367863" cy="367863"/>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 name="Straight Arrow Connector 19">
            <a:extLst>
              <a:ext uri="{FF2B5EF4-FFF2-40B4-BE49-F238E27FC236}">
                <a16:creationId xmlns:a16="http://schemas.microsoft.com/office/drawing/2014/main" id="{53DFCCD1-173E-6A40-8C3B-36E82B2E7794}"/>
              </a:ext>
            </a:extLst>
          </p:cNvPr>
          <p:cNvCxnSpPr>
            <a:cxnSpLocks/>
          </p:cNvCxnSpPr>
          <p:nvPr/>
        </p:nvCxnSpPr>
        <p:spPr>
          <a:xfrm flipV="1">
            <a:off x="6591957" y="1435609"/>
            <a:ext cx="0" cy="2242639"/>
          </a:xfrm>
          <a:prstGeom prst="straightConnector1">
            <a:avLst/>
          </a:prstGeom>
          <a:ln w="38100">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A64582D2-4829-B24F-9D66-698E6490D8E6}"/>
              </a:ext>
            </a:extLst>
          </p:cNvPr>
          <p:cNvCxnSpPr>
            <a:cxnSpLocks/>
          </p:cNvCxnSpPr>
          <p:nvPr/>
        </p:nvCxnSpPr>
        <p:spPr>
          <a:xfrm flipH="1">
            <a:off x="4989240" y="3678248"/>
            <a:ext cx="1579407" cy="1674245"/>
          </a:xfrm>
          <a:prstGeom prst="straightConnector1">
            <a:avLst/>
          </a:prstGeom>
          <a:ln w="38100">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p:sp>
        <p:nvSpPr>
          <p:cNvPr id="24" name="Arc 23">
            <a:extLst>
              <a:ext uri="{FF2B5EF4-FFF2-40B4-BE49-F238E27FC236}">
                <a16:creationId xmlns:a16="http://schemas.microsoft.com/office/drawing/2014/main" id="{355BB6A4-7523-B947-8BE1-A082DD038202}"/>
              </a:ext>
            </a:extLst>
          </p:cNvPr>
          <p:cNvSpPr/>
          <p:nvPr/>
        </p:nvSpPr>
        <p:spPr>
          <a:xfrm rot="9158157">
            <a:off x="4781696" y="1350469"/>
            <a:ext cx="5747374" cy="4480700"/>
          </a:xfrm>
          <a:prstGeom prst="arc">
            <a:avLst>
              <a:gd name="adj1" fmla="val 895521"/>
              <a:gd name="adj2" fmla="val 3463832"/>
            </a:avLst>
          </a:prstGeom>
          <a:ln w="76200">
            <a:solidFill>
              <a:schemeClr val="tx1">
                <a:lumMod val="50000"/>
                <a:lumOff val="50000"/>
              </a:schemeClr>
            </a:solidFill>
            <a:prstDash val="sysDash"/>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1" name="Picture 20">
            <a:extLst>
              <a:ext uri="{FF2B5EF4-FFF2-40B4-BE49-F238E27FC236}">
                <a16:creationId xmlns:a16="http://schemas.microsoft.com/office/drawing/2014/main" id="{E021C433-62A3-3243-9D87-32B702375756}"/>
              </a:ext>
            </a:extLst>
          </p:cNvPr>
          <p:cNvPicPr>
            <a:picLocks noChangeAspect="1"/>
          </p:cNvPicPr>
          <p:nvPr/>
        </p:nvPicPr>
        <p:blipFill>
          <a:blip r:embed="rId7"/>
          <a:stretch>
            <a:fillRect/>
          </a:stretch>
        </p:blipFill>
        <p:spPr>
          <a:xfrm rot="19266139">
            <a:off x="3226418" y="1395463"/>
            <a:ext cx="1940786" cy="1848928"/>
          </a:xfrm>
          <a:prstGeom prst="rect">
            <a:avLst/>
          </a:prstGeom>
        </p:spPr>
      </p:pic>
    </p:spTree>
    <p:extLst>
      <p:ext uri="{BB962C8B-B14F-4D97-AF65-F5344CB8AC3E}">
        <p14:creationId xmlns:p14="http://schemas.microsoft.com/office/powerpoint/2010/main" val="30506636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42812605-2689-4140-862D-518E0E252772}"/>
              </a:ext>
            </a:extLst>
          </p:cNvPr>
          <p:cNvPicPr>
            <a:picLocks noChangeAspect="1"/>
          </p:cNvPicPr>
          <p:nvPr/>
        </p:nvPicPr>
        <p:blipFill>
          <a:blip r:embed="rId3">
            <a:alphaModFix amt="42000"/>
          </a:blip>
          <a:stretch>
            <a:fillRect/>
          </a:stretch>
        </p:blipFill>
        <p:spPr>
          <a:xfrm>
            <a:off x="4235297" y="1485200"/>
            <a:ext cx="4801890" cy="4684093"/>
          </a:xfrm>
          <a:prstGeom prst="rect">
            <a:avLst/>
          </a:prstGeom>
        </p:spPr>
      </p:pic>
      <p:sp>
        <p:nvSpPr>
          <p:cNvPr id="2" name="Title 1">
            <a:extLst>
              <a:ext uri="{FF2B5EF4-FFF2-40B4-BE49-F238E27FC236}">
                <a16:creationId xmlns:a16="http://schemas.microsoft.com/office/drawing/2014/main" id="{C02D0739-EDD1-1549-8DFA-CB4F40D297A1}"/>
              </a:ext>
            </a:extLst>
          </p:cNvPr>
          <p:cNvSpPr>
            <a:spLocks noGrp="1"/>
          </p:cNvSpPr>
          <p:nvPr>
            <p:ph type="title"/>
          </p:nvPr>
        </p:nvSpPr>
        <p:spPr>
          <a:xfrm>
            <a:off x="0" y="0"/>
            <a:ext cx="12192000" cy="928688"/>
          </a:xfrm>
        </p:spPr>
        <p:txBody>
          <a:bodyPr/>
          <a:lstStyle/>
          <a:p>
            <a:r>
              <a:rPr lang="en-ZA" dirty="0"/>
              <a:t>Rotation as a basic instruction</a:t>
            </a:r>
            <a:endParaRPr lang="en-US" dirty="0"/>
          </a:p>
        </p:txBody>
      </p:sp>
      <p:sp>
        <p:nvSpPr>
          <p:cNvPr id="19" name="Slide Number Placeholder 18">
            <a:extLst>
              <a:ext uri="{FF2B5EF4-FFF2-40B4-BE49-F238E27FC236}">
                <a16:creationId xmlns:a16="http://schemas.microsoft.com/office/drawing/2014/main" id="{92874A6E-1BBE-DD4F-8C8A-DC83FB6B8BE2}"/>
              </a:ext>
            </a:extLst>
          </p:cNvPr>
          <p:cNvSpPr>
            <a:spLocks noGrp="1"/>
          </p:cNvSpPr>
          <p:nvPr>
            <p:ph type="sldNum" sz="quarter" idx="12"/>
          </p:nvPr>
        </p:nvSpPr>
        <p:spPr/>
        <p:txBody>
          <a:bodyPr/>
          <a:lstStyle/>
          <a:p>
            <a:fld id="{D0A7A90D-170E-2F4F-8861-97D6C3C25EEF}" type="slidenum">
              <a:rPr lang="en-US" smtClean="0"/>
              <a:t>41</a:t>
            </a:fld>
            <a:endParaRPr lang="en-US"/>
          </a:p>
        </p:txBody>
      </p:sp>
      <p:pic>
        <p:nvPicPr>
          <p:cNvPr id="40" name="Picture 39">
            <a:extLst>
              <a:ext uri="{FF2B5EF4-FFF2-40B4-BE49-F238E27FC236}">
                <a16:creationId xmlns:a16="http://schemas.microsoft.com/office/drawing/2014/main" id="{C0859842-F3B8-5349-A6B3-A952B7E8EB1B}"/>
              </a:ext>
            </a:extLst>
          </p:cNvPr>
          <p:cNvPicPr>
            <a:picLocks noChangeAspect="1"/>
          </p:cNvPicPr>
          <p:nvPr/>
        </p:nvPicPr>
        <p:blipFill>
          <a:blip r:embed="rId4"/>
          <a:stretch>
            <a:fillRect/>
          </a:stretch>
        </p:blipFill>
        <p:spPr>
          <a:xfrm>
            <a:off x="1904785" y="8966202"/>
            <a:ext cx="457200" cy="850900"/>
          </a:xfrm>
          <a:prstGeom prst="rect">
            <a:avLst/>
          </a:prstGeom>
        </p:spPr>
      </p:pic>
      <p:pic>
        <p:nvPicPr>
          <p:cNvPr id="28" name="Picture 27">
            <a:extLst>
              <a:ext uri="{FF2B5EF4-FFF2-40B4-BE49-F238E27FC236}">
                <a16:creationId xmlns:a16="http://schemas.microsoft.com/office/drawing/2014/main" id="{D0665FBC-A00F-7943-AC10-D8E3924A55E5}"/>
              </a:ext>
            </a:extLst>
          </p:cNvPr>
          <p:cNvPicPr>
            <a:picLocks noChangeAspect="1"/>
          </p:cNvPicPr>
          <p:nvPr/>
        </p:nvPicPr>
        <p:blipFill>
          <a:blip r:embed="rId5"/>
          <a:stretch>
            <a:fillRect/>
          </a:stretch>
        </p:blipFill>
        <p:spPr>
          <a:xfrm>
            <a:off x="1129372" y="3676120"/>
            <a:ext cx="2607559" cy="1751022"/>
          </a:xfrm>
          <a:prstGeom prst="rect">
            <a:avLst/>
          </a:prstGeom>
        </p:spPr>
      </p:pic>
      <p:sp>
        <p:nvSpPr>
          <p:cNvPr id="26" name="Oval 25">
            <a:extLst>
              <a:ext uri="{FF2B5EF4-FFF2-40B4-BE49-F238E27FC236}">
                <a16:creationId xmlns:a16="http://schemas.microsoft.com/office/drawing/2014/main" id="{37B1D679-08E4-D846-8FD1-40435128A3C5}"/>
              </a:ext>
            </a:extLst>
          </p:cNvPr>
          <p:cNvSpPr>
            <a:spLocks noChangeAspect="1"/>
          </p:cNvSpPr>
          <p:nvPr/>
        </p:nvSpPr>
        <p:spPr>
          <a:xfrm>
            <a:off x="4268250" y="1459315"/>
            <a:ext cx="4730937" cy="473093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35" name="Straight Arrow Connector 34">
            <a:extLst>
              <a:ext uri="{FF2B5EF4-FFF2-40B4-BE49-F238E27FC236}">
                <a16:creationId xmlns:a16="http://schemas.microsoft.com/office/drawing/2014/main" id="{FE69AB6F-FDC6-2649-BE2C-2164A9131980}"/>
              </a:ext>
            </a:extLst>
          </p:cNvPr>
          <p:cNvCxnSpPr>
            <a:cxnSpLocks/>
          </p:cNvCxnSpPr>
          <p:nvPr/>
        </p:nvCxnSpPr>
        <p:spPr>
          <a:xfrm flipH="1">
            <a:off x="4344825" y="3758486"/>
            <a:ext cx="2283237" cy="1690834"/>
          </a:xfrm>
          <a:prstGeom prst="straightConnector1">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DFA096D-8153-404C-B8E8-5F9DA8509DFA}"/>
              </a:ext>
            </a:extLst>
          </p:cNvPr>
          <p:cNvCxnSpPr>
            <a:cxnSpLocks/>
          </p:cNvCxnSpPr>
          <p:nvPr/>
        </p:nvCxnSpPr>
        <p:spPr>
          <a:xfrm flipV="1">
            <a:off x="6628056" y="1069335"/>
            <a:ext cx="0" cy="2689148"/>
          </a:xfrm>
          <a:prstGeom prst="straightConnector1">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Arc 37">
            <a:extLst>
              <a:ext uri="{FF2B5EF4-FFF2-40B4-BE49-F238E27FC236}">
                <a16:creationId xmlns:a16="http://schemas.microsoft.com/office/drawing/2014/main" id="{7EF18DEE-EF3D-444E-8CE7-7E28C46EB790}"/>
              </a:ext>
            </a:extLst>
          </p:cNvPr>
          <p:cNvSpPr/>
          <p:nvPr/>
        </p:nvSpPr>
        <p:spPr>
          <a:xfrm rot="12227190">
            <a:off x="4970177" y="1780662"/>
            <a:ext cx="2698221" cy="4229916"/>
          </a:xfrm>
          <a:prstGeom prst="arc">
            <a:avLst>
              <a:gd name="adj1" fmla="val 14277707"/>
              <a:gd name="adj2" fmla="val 4485608"/>
            </a:avLst>
          </a:prstGeom>
          <a:ln w="1270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00"/>
          </a:p>
        </p:txBody>
      </p:sp>
      <p:sp>
        <p:nvSpPr>
          <p:cNvPr id="39" name="TextBox 38">
            <a:extLst>
              <a:ext uri="{FF2B5EF4-FFF2-40B4-BE49-F238E27FC236}">
                <a16:creationId xmlns:a16="http://schemas.microsoft.com/office/drawing/2014/main" id="{8E285646-F9C7-5F45-A0A9-416001DF0F23}"/>
              </a:ext>
            </a:extLst>
          </p:cNvPr>
          <p:cNvSpPr txBox="1"/>
          <p:nvPr/>
        </p:nvSpPr>
        <p:spPr>
          <a:xfrm>
            <a:off x="4437834" y="5365028"/>
            <a:ext cx="365806" cy="461665"/>
          </a:xfrm>
          <a:prstGeom prst="rect">
            <a:avLst/>
          </a:prstGeom>
          <a:noFill/>
        </p:spPr>
        <p:txBody>
          <a:bodyPr wrap="none" rtlCol="0">
            <a:spAutoFit/>
          </a:bodyPr>
          <a:lstStyle/>
          <a:p>
            <a:r>
              <a:rPr lang="en-US" sz="2400" dirty="0">
                <a:solidFill>
                  <a:schemeClr val="bg1">
                    <a:lumMod val="50000"/>
                  </a:schemeClr>
                </a:solidFill>
                <a:latin typeface="Comic Sans MS" panose="030F0902030302020204" pitchFamily="66" charset="0"/>
              </a:rPr>
              <a:t>x</a:t>
            </a:r>
          </a:p>
        </p:txBody>
      </p:sp>
      <p:cxnSp>
        <p:nvCxnSpPr>
          <p:cNvPr id="46" name="Straight Arrow Connector 45">
            <a:extLst>
              <a:ext uri="{FF2B5EF4-FFF2-40B4-BE49-F238E27FC236}">
                <a16:creationId xmlns:a16="http://schemas.microsoft.com/office/drawing/2014/main" id="{6A8F720B-38D3-7744-B49A-B6E4C7841DA0}"/>
              </a:ext>
            </a:extLst>
          </p:cNvPr>
          <p:cNvCxnSpPr>
            <a:cxnSpLocks/>
          </p:cNvCxnSpPr>
          <p:nvPr/>
        </p:nvCxnSpPr>
        <p:spPr>
          <a:xfrm>
            <a:off x="6625720" y="3799240"/>
            <a:ext cx="2571093" cy="1203689"/>
          </a:xfrm>
          <a:prstGeom prst="straightConnector1">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BADA0E4D-CC6D-B841-9718-4FCD93346D5D}"/>
              </a:ext>
            </a:extLst>
          </p:cNvPr>
          <p:cNvSpPr txBox="1"/>
          <p:nvPr/>
        </p:nvSpPr>
        <p:spPr>
          <a:xfrm>
            <a:off x="8676494" y="4923037"/>
            <a:ext cx="344966" cy="461665"/>
          </a:xfrm>
          <a:prstGeom prst="rect">
            <a:avLst/>
          </a:prstGeom>
          <a:noFill/>
        </p:spPr>
        <p:txBody>
          <a:bodyPr wrap="none" rtlCol="0">
            <a:spAutoFit/>
          </a:bodyPr>
          <a:lstStyle/>
          <a:p>
            <a:r>
              <a:rPr lang="en-US" sz="2400" dirty="0">
                <a:solidFill>
                  <a:schemeClr val="bg1">
                    <a:lumMod val="50000"/>
                  </a:schemeClr>
                </a:solidFill>
                <a:latin typeface="Comic Sans MS" panose="030F0902030302020204" pitchFamily="66" charset="0"/>
              </a:rPr>
              <a:t>y</a:t>
            </a:r>
          </a:p>
        </p:txBody>
      </p:sp>
      <p:sp>
        <p:nvSpPr>
          <p:cNvPr id="48" name="Oval 47">
            <a:extLst>
              <a:ext uri="{FF2B5EF4-FFF2-40B4-BE49-F238E27FC236}">
                <a16:creationId xmlns:a16="http://schemas.microsoft.com/office/drawing/2014/main" id="{058822DF-A5BD-1F4B-81E3-25ECA51C3ECE}"/>
              </a:ext>
            </a:extLst>
          </p:cNvPr>
          <p:cNvSpPr/>
          <p:nvPr/>
        </p:nvSpPr>
        <p:spPr>
          <a:xfrm>
            <a:off x="6417685" y="5535359"/>
            <a:ext cx="390711" cy="238044"/>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9" name="Oval 48">
            <a:extLst>
              <a:ext uri="{FF2B5EF4-FFF2-40B4-BE49-F238E27FC236}">
                <a16:creationId xmlns:a16="http://schemas.microsoft.com/office/drawing/2014/main" id="{E107FFDF-F498-1C4E-93ED-8006CF3D29C5}"/>
              </a:ext>
            </a:extLst>
          </p:cNvPr>
          <p:cNvSpPr/>
          <p:nvPr/>
        </p:nvSpPr>
        <p:spPr>
          <a:xfrm>
            <a:off x="6425352" y="1843963"/>
            <a:ext cx="390711" cy="238044"/>
          </a:xfrm>
          <a:prstGeom prst="ellipse">
            <a:avLst/>
          </a:prstGeom>
          <a:solidFill>
            <a:schemeClr val="accent5">
              <a:lumMod val="60000"/>
              <a:lumOff val="40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50" name="Straight Arrow Connector 49">
            <a:extLst>
              <a:ext uri="{FF2B5EF4-FFF2-40B4-BE49-F238E27FC236}">
                <a16:creationId xmlns:a16="http://schemas.microsoft.com/office/drawing/2014/main" id="{7B1425FF-79D2-CB4D-89A5-EE7CB52D4DA8}"/>
              </a:ext>
            </a:extLst>
          </p:cNvPr>
          <p:cNvCxnSpPr>
            <a:cxnSpLocks/>
          </p:cNvCxnSpPr>
          <p:nvPr/>
        </p:nvCxnSpPr>
        <p:spPr>
          <a:xfrm flipV="1">
            <a:off x="6612596" y="1903372"/>
            <a:ext cx="0" cy="1886803"/>
          </a:xfrm>
          <a:prstGeom prst="straightConnector1">
            <a:avLst/>
          </a:prstGeom>
          <a:ln w="38100" cap="rnd">
            <a:solidFill>
              <a:schemeClr val="accent5">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898D35AD-5584-114D-A0F4-6F53A33207C7}"/>
                  </a:ext>
                </a:extLst>
              </p:cNvPr>
              <p:cNvSpPr txBox="1"/>
              <p:nvPr/>
            </p:nvSpPr>
            <p:spPr>
              <a:xfrm>
                <a:off x="6514328" y="1492815"/>
                <a:ext cx="1570686" cy="7081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m:rPr>
                              <m:nor/>
                            </m:rPr>
                            <a:rPr lang="en-US" sz="2400">
                              <a:latin typeface="Cambria Math" panose="02040503050406030204" pitchFamily="18" charset="0"/>
                              <a:ea typeface="Cambria Math" panose="02040503050406030204" pitchFamily="18" charset="0"/>
                            </a:rPr>
                            <m:t>0</m:t>
                          </m:r>
                        </m:e>
                      </m:d>
                      <m:r>
                        <a:rPr lang="en-US" sz="2400" b="0" i="1" smtClean="0">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ea typeface="Cambria Math" panose="02040503050406030204" pitchFamily="18" charset="0"/>
                                </a:rPr>
                              </m:ctrlPr>
                            </m:mPr>
                            <m:mr>
                              <m:e>
                                <m:r>
                                  <a:rPr lang="en-US" sz="2400" i="1">
                                    <a:latin typeface="Cambria Math" panose="02040503050406030204" pitchFamily="18" charset="0"/>
                                    <a:ea typeface="Cambria Math" panose="02040503050406030204" pitchFamily="18" charset="0"/>
                                  </a:rPr>
                                  <m:t> 1</m:t>
                                </m:r>
                              </m:e>
                            </m:mr>
                            <m:mr>
                              <m:e>
                                <m:r>
                                  <a:rPr lang="en-US" sz="2400" i="1">
                                    <a:latin typeface="Cambria Math" panose="02040503050406030204" pitchFamily="18" charset="0"/>
                                    <a:ea typeface="Cambria Math" panose="02040503050406030204" pitchFamily="18" charset="0"/>
                                  </a:rPr>
                                  <m:t>0</m:t>
                                </m:r>
                              </m:e>
                            </m:mr>
                          </m:m>
                        </m:e>
                      </m:d>
                    </m:oMath>
                  </m:oMathPara>
                </a14:m>
                <a:endParaRPr lang="en-US" sz="2400" dirty="0"/>
              </a:p>
            </p:txBody>
          </p:sp>
        </mc:Choice>
        <mc:Fallback xmlns="">
          <p:sp>
            <p:nvSpPr>
              <p:cNvPr id="51" name="TextBox 50">
                <a:extLst>
                  <a:ext uri="{FF2B5EF4-FFF2-40B4-BE49-F238E27FC236}">
                    <a16:creationId xmlns:a16="http://schemas.microsoft.com/office/drawing/2014/main" id="{898D35AD-5584-114D-A0F4-6F53A33207C7}"/>
                  </a:ext>
                </a:extLst>
              </p:cNvPr>
              <p:cNvSpPr txBox="1">
                <a:spLocks noRot="1" noChangeAspect="1" noMove="1" noResize="1" noEditPoints="1" noAdjustHandles="1" noChangeArrowheads="1" noChangeShapeType="1" noTextEdit="1"/>
              </p:cNvSpPr>
              <p:nvPr/>
            </p:nvSpPr>
            <p:spPr>
              <a:xfrm>
                <a:off x="6514328" y="1492815"/>
                <a:ext cx="1570686" cy="708143"/>
              </a:xfrm>
              <a:prstGeom prst="rect">
                <a:avLst/>
              </a:prstGeom>
              <a:blipFill>
                <a:blip r:embed="rId6"/>
                <a:stretch>
                  <a:fillRect t="-1786" b="-7143"/>
                </a:stretch>
              </a:blipFill>
            </p:spPr>
            <p:txBody>
              <a:bodyPr/>
              <a:lstStyle/>
              <a:p>
                <a:r>
                  <a:rPr lang="en-US">
                    <a:noFill/>
                  </a:rPr>
                  <a:t> </a:t>
                </a:r>
              </a:p>
            </p:txBody>
          </p:sp>
        </mc:Fallback>
      </mc:AlternateContent>
      <p:pic>
        <p:nvPicPr>
          <p:cNvPr id="52" name="Picture 51">
            <a:extLst>
              <a:ext uri="{FF2B5EF4-FFF2-40B4-BE49-F238E27FC236}">
                <a16:creationId xmlns:a16="http://schemas.microsoft.com/office/drawing/2014/main" id="{DEBC4586-39DC-B14C-957E-27F7F7DC658E}"/>
              </a:ext>
            </a:extLst>
          </p:cNvPr>
          <p:cNvPicPr>
            <a:picLocks noChangeAspect="1"/>
          </p:cNvPicPr>
          <p:nvPr/>
        </p:nvPicPr>
        <p:blipFill>
          <a:blip r:embed="rId7"/>
          <a:stretch>
            <a:fillRect/>
          </a:stretch>
        </p:blipFill>
        <p:spPr>
          <a:xfrm rot="19266139">
            <a:off x="3056240" y="1554214"/>
            <a:ext cx="1940786" cy="1848928"/>
          </a:xfrm>
          <a:prstGeom prst="rect">
            <a:avLst/>
          </a:prstGeom>
        </p:spPr>
      </p:pic>
      <p:sp>
        <p:nvSpPr>
          <p:cNvPr id="53" name="TextBox 52">
            <a:extLst>
              <a:ext uri="{FF2B5EF4-FFF2-40B4-BE49-F238E27FC236}">
                <a16:creationId xmlns:a16="http://schemas.microsoft.com/office/drawing/2014/main" id="{290FE5A8-90B4-AC48-928A-572ECC943A28}"/>
              </a:ext>
            </a:extLst>
          </p:cNvPr>
          <p:cNvSpPr txBox="1"/>
          <p:nvPr/>
        </p:nvSpPr>
        <p:spPr>
          <a:xfrm>
            <a:off x="6067909" y="903621"/>
            <a:ext cx="349776" cy="461665"/>
          </a:xfrm>
          <a:prstGeom prst="rect">
            <a:avLst/>
          </a:prstGeom>
          <a:noFill/>
        </p:spPr>
        <p:txBody>
          <a:bodyPr wrap="none" rtlCol="0">
            <a:spAutoFit/>
          </a:bodyPr>
          <a:lstStyle/>
          <a:p>
            <a:r>
              <a:rPr lang="en-US" sz="2400" dirty="0">
                <a:solidFill>
                  <a:schemeClr val="bg1">
                    <a:lumMod val="50000"/>
                  </a:schemeClr>
                </a:solidFill>
                <a:latin typeface="Comic Sans MS" panose="030F0902030302020204" pitchFamily="66" charset="0"/>
              </a:rPr>
              <a:t>z</a:t>
            </a:r>
          </a:p>
        </p:txBody>
      </p:sp>
      <p:cxnSp>
        <p:nvCxnSpPr>
          <p:cNvPr id="54" name="Straight Connector 53">
            <a:extLst>
              <a:ext uri="{FF2B5EF4-FFF2-40B4-BE49-F238E27FC236}">
                <a16:creationId xmlns:a16="http://schemas.microsoft.com/office/drawing/2014/main" id="{A1EABA43-AD2D-E948-A219-29E0E6F10B58}"/>
              </a:ext>
            </a:extLst>
          </p:cNvPr>
          <p:cNvCxnSpPr>
            <a:cxnSpLocks/>
          </p:cNvCxnSpPr>
          <p:nvPr/>
        </p:nvCxnSpPr>
        <p:spPr>
          <a:xfrm rot="1157123">
            <a:off x="5548797" y="2333458"/>
            <a:ext cx="13943" cy="328111"/>
          </a:xfrm>
          <a:prstGeom prst="line">
            <a:avLst/>
          </a:prstGeom>
          <a:ln w="12700"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835F0B47-0B96-E54F-88D3-7751BA3EF2AE}"/>
              </a:ext>
            </a:extLst>
          </p:cNvPr>
          <p:cNvCxnSpPr>
            <a:cxnSpLocks/>
          </p:cNvCxnSpPr>
          <p:nvPr/>
        </p:nvCxnSpPr>
        <p:spPr>
          <a:xfrm flipH="1">
            <a:off x="5508128" y="2559075"/>
            <a:ext cx="311109" cy="101572"/>
          </a:xfrm>
          <a:prstGeom prst="line">
            <a:avLst/>
          </a:prstGeom>
          <a:ln w="12700"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DE4953C7-CAE6-E643-BEAA-B2A1C0726A8E}"/>
              </a:ext>
            </a:extLst>
          </p:cNvPr>
          <p:cNvSpPr txBox="1"/>
          <p:nvPr/>
        </p:nvSpPr>
        <p:spPr>
          <a:xfrm>
            <a:off x="6092236" y="2950113"/>
            <a:ext cx="402674" cy="584775"/>
          </a:xfrm>
          <a:prstGeom prst="rect">
            <a:avLst/>
          </a:prstGeom>
          <a:noFill/>
        </p:spPr>
        <p:txBody>
          <a:bodyPr wrap="none" rtlCol="0">
            <a:spAutoFit/>
          </a:bodyPr>
          <a:lstStyle/>
          <a:p>
            <a:r>
              <a:rPr lang="el-GR" sz="3200" dirty="0"/>
              <a:t>θ</a:t>
            </a:r>
            <a:endParaRPr lang="en-US" sz="3200" dirty="0"/>
          </a:p>
        </p:txBody>
      </p:sp>
      <p:cxnSp>
        <p:nvCxnSpPr>
          <p:cNvPr id="58" name="Straight Arrow Connector 57">
            <a:extLst>
              <a:ext uri="{FF2B5EF4-FFF2-40B4-BE49-F238E27FC236}">
                <a16:creationId xmlns:a16="http://schemas.microsoft.com/office/drawing/2014/main" id="{77FE2030-28E4-7245-B404-F92CD60D19D6}"/>
              </a:ext>
            </a:extLst>
          </p:cNvPr>
          <p:cNvCxnSpPr>
            <a:cxnSpLocks/>
          </p:cNvCxnSpPr>
          <p:nvPr/>
        </p:nvCxnSpPr>
        <p:spPr>
          <a:xfrm flipH="1" flipV="1">
            <a:off x="5152997" y="3155879"/>
            <a:ext cx="1443862" cy="613162"/>
          </a:xfrm>
          <a:prstGeom prst="straightConnector1">
            <a:avLst/>
          </a:prstGeom>
          <a:ln w="38100" cap="rnd">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38744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C58D8DFD-CD4F-934F-A1CD-A303EF3280AC}"/>
              </a:ext>
            </a:extLst>
          </p:cNvPr>
          <p:cNvPicPr>
            <a:picLocks noChangeAspect="1"/>
          </p:cNvPicPr>
          <p:nvPr/>
        </p:nvPicPr>
        <p:blipFill>
          <a:blip r:embed="rId3">
            <a:alphaModFix amt="42000"/>
          </a:blip>
          <a:stretch>
            <a:fillRect/>
          </a:stretch>
        </p:blipFill>
        <p:spPr>
          <a:xfrm>
            <a:off x="3752038" y="687601"/>
            <a:ext cx="5588613" cy="5584940"/>
          </a:xfrm>
          <a:prstGeom prst="rect">
            <a:avLst/>
          </a:prstGeom>
        </p:spPr>
      </p:pic>
      <p:sp>
        <p:nvSpPr>
          <p:cNvPr id="31" name="Oval 30">
            <a:extLst>
              <a:ext uri="{FF2B5EF4-FFF2-40B4-BE49-F238E27FC236}">
                <a16:creationId xmlns:a16="http://schemas.microsoft.com/office/drawing/2014/main" id="{44704A98-15D1-A34B-B2B9-0A6476DB794D}"/>
              </a:ext>
            </a:extLst>
          </p:cNvPr>
          <p:cNvSpPr>
            <a:spLocks noChangeAspect="1"/>
          </p:cNvSpPr>
          <p:nvPr/>
        </p:nvSpPr>
        <p:spPr>
          <a:xfrm>
            <a:off x="3767557" y="676869"/>
            <a:ext cx="5588612" cy="55886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2D0739-EDD1-1549-8DFA-CB4F40D297A1}"/>
              </a:ext>
            </a:extLst>
          </p:cNvPr>
          <p:cNvSpPr>
            <a:spLocks noGrp="1"/>
          </p:cNvSpPr>
          <p:nvPr>
            <p:ph type="title"/>
          </p:nvPr>
        </p:nvSpPr>
        <p:spPr>
          <a:xfrm>
            <a:off x="0" y="0"/>
            <a:ext cx="12192000" cy="928688"/>
          </a:xfrm>
        </p:spPr>
        <p:txBody>
          <a:bodyPr/>
          <a:lstStyle/>
          <a:p>
            <a:r>
              <a:rPr lang="en-ZA" dirty="0"/>
              <a:t>Rotation as a basic instruction</a:t>
            </a:r>
            <a:endParaRPr lang="en-US" dirty="0"/>
          </a:p>
        </p:txBody>
      </p:sp>
      <p:sp>
        <p:nvSpPr>
          <p:cNvPr id="19" name="Slide Number Placeholder 18">
            <a:extLst>
              <a:ext uri="{FF2B5EF4-FFF2-40B4-BE49-F238E27FC236}">
                <a16:creationId xmlns:a16="http://schemas.microsoft.com/office/drawing/2014/main" id="{92874A6E-1BBE-DD4F-8C8A-DC83FB6B8BE2}"/>
              </a:ext>
            </a:extLst>
          </p:cNvPr>
          <p:cNvSpPr>
            <a:spLocks noGrp="1"/>
          </p:cNvSpPr>
          <p:nvPr>
            <p:ph type="sldNum" sz="quarter" idx="12"/>
          </p:nvPr>
        </p:nvSpPr>
        <p:spPr/>
        <p:txBody>
          <a:bodyPr/>
          <a:lstStyle/>
          <a:p>
            <a:fld id="{D0A7A90D-170E-2F4F-8861-97D6C3C25EEF}" type="slidenum">
              <a:rPr lang="en-US" smtClean="0"/>
              <a:t>42</a:t>
            </a:fld>
            <a:endParaRPr lang="en-US" dirty="0"/>
          </a:p>
        </p:txBody>
      </p:sp>
      <p:cxnSp>
        <p:nvCxnSpPr>
          <p:cNvPr id="32" name="Straight Arrow Connector 31">
            <a:extLst>
              <a:ext uri="{FF2B5EF4-FFF2-40B4-BE49-F238E27FC236}">
                <a16:creationId xmlns:a16="http://schemas.microsoft.com/office/drawing/2014/main" id="{26B4702C-B5CF-524C-838D-76EC31EEA993}"/>
              </a:ext>
            </a:extLst>
          </p:cNvPr>
          <p:cNvCxnSpPr>
            <a:cxnSpLocks/>
          </p:cNvCxnSpPr>
          <p:nvPr/>
        </p:nvCxnSpPr>
        <p:spPr>
          <a:xfrm flipH="1">
            <a:off x="4071045" y="3399703"/>
            <a:ext cx="2499552" cy="2649798"/>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5DB632D-FB5D-E740-AB06-5F0493490DA8}"/>
              </a:ext>
            </a:extLst>
          </p:cNvPr>
          <p:cNvCxnSpPr>
            <a:cxnSpLocks/>
          </p:cNvCxnSpPr>
          <p:nvPr/>
        </p:nvCxnSpPr>
        <p:spPr>
          <a:xfrm>
            <a:off x="6584255" y="3413360"/>
            <a:ext cx="3106436" cy="997090"/>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E9DFF0D-B2F4-2E44-B115-CE9066E24432}"/>
              </a:ext>
            </a:extLst>
          </p:cNvPr>
          <p:cNvCxnSpPr>
            <a:cxnSpLocks/>
          </p:cNvCxnSpPr>
          <p:nvPr/>
        </p:nvCxnSpPr>
        <p:spPr>
          <a:xfrm flipH="1" flipV="1">
            <a:off x="6546345" y="445659"/>
            <a:ext cx="0" cy="2954045"/>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5D98D65-2E01-7447-8CF4-08C68C176032}"/>
              </a:ext>
            </a:extLst>
          </p:cNvPr>
          <p:cNvCxnSpPr>
            <a:cxnSpLocks/>
          </p:cNvCxnSpPr>
          <p:nvPr/>
        </p:nvCxnSpPr>
        <p:spPr>
          <a:xfrm flipV="1">
            <a:off x="6584255" y="1850187"/>
            <a:ext cx="1480574" cy="1549515"/>
          </a:xfrm>
          <a:prstGeom prst="line">
            <a:avLst/>
          </a:prstGeom>
          <a:ln w="889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5" name="Oval 54">
            <a:extLst>
              <a:ext uri="{FF2B5EF4-FFF2-40B4-BE49-F238E27FC236}">
                <a16:creationId xmlns:a16="http://schemas.microsoft.com/office/drawing/2014/main" id="{23591E5E-22EC-4B4F-9227-42766B223B72}"/>
              </a:ext>
            </a:extLst>
          </p:cNvPr>
          <p:cNvSpPr/>
          <p:nvPr/>
        </p:nvSpPr>
        <p:spPr>
          <a:xfrm>
            <a:off x="6351335" y="1057505"/>
            <a:ext cx="464095" cy="282752"/>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5B4E9C65-AA16-964B-BCD7-0266BBD3BC21}"/>
              </a:ext>
            </a:extLst>
          </p:cNvPr>
          <p:cNvCxnSpPr>
            <a:cxnSpLocks/>
          </p:cNvCxnSpPr>
          <p:nvPr/>
        </p:nvCxnSpPr>
        <p:spPr>
          <a:xfrm flipH="1" flipV="1">
            <a:off x="5170575" y="3399702"/>
            <a:ext cx="1380708" cy="12607"/>
          </a:xfrm>
          <a:prstGeom prst="straightConnector1">
            <a:avLst/>
          </a:prstGeom>
          <a:ln w="38100">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75EEABEB-033D-EE41-8CAE-9E00A61412C6}"/>
                  </a:ext>
                </a:extLst>
              </p:cNvPr>
              <p:cNvSpPr/>
              <p:nvPr/>
            </p:nvSpPr>
            <p:spPr>
              <a:xfrm>
                <a:off x="6708291" y="232142"/>
                <a:ext cx="44569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b="0" i="1" smtClean="0">
                          <a:latin typeface="Cambria Math" panose="02040503050406030204" pitchFamily="18" charset="0"/>
                        </a:rPr>
                        <m:t>𝑧</m:t>
                      </m:r>
                    </m:oMath>
                  </m:oMathPara>
                </a14:m>
                <a:endParaRPr lang="en-US" sz="2800" dirty="0"/>
              </a:p>
            </p:txBody>
          </p:sp>
        </mc:Choice>
        <mc:Fallback xmlns="">
          <p:sp>
            <p:nvSpPr>
              <p:cNvPr id="43" name="Rectangle 42">
                <a:extLst>
                  <a:ext uri="{FF2B5EF4-FFF2-40B4-BE49-F238E27FC236}">
                    <a16:creationId xmlns:a16="http://schemas.microsoft.com/office/drawing/2014/main" id="{75EEABEB-033D-EE41-8CAE-9E00A61412C6}"/>
                  </a:ext>
                </a:extLst>
              </p:cNvPr>
              <p:cNvSpPr>
                <a:spLocks noRot="1" noChangeAspect="1" noMove="1" noResize="1" noEditPoints="1" noAdjustHandles="1" noChangeArrowheads="1" noChangeShapeType="1" noTextEdit="1"/>
              </p:cNvSpPr>
              <p:nvPr/>
            </p:nvSpPr>
            <p:spPr>
              <a:xfrm>
                <a:off x="6708291" y="232142"/>
                <a:ext cx="445699"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6AEF4015-07ED-3747-80A4-84F9625E2DF4}"/>
                  </a:ext>
                </a:extLst>
              </p:cNvPr>
              <p:cNvSpPr/>
              <p:nvPr/>
            </p:nvSpPr>
            <p:spPr>
              <a:xfrm>
                <a:off x="9417819" y="4493769"/>
                <a:ext cx="47295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b="0" i="1" smtClean="0">
                          <a:latin typeface="Cambria Math" panose="02040503050406030204" pitchFamily="18" charset="0"/>
                        </a:rPr>
                        <m:t>𝑦</m:t>
                      </m:r>
                    </m:oMath>
                  </m:oMathPara>
                </a14:m>
                <a:endParaRPr lang="en-US" sz="2800" dirty="0"/>
              </a:p>
            </p:txBody>
          </p:sp>
        </mc:Choice>
        <mc:Fallback xmlns="">
          <p:sp>
            <p:nvSpPr>
              <p:cNvPr id="44" name="Rectangle 43">
                <a:extLst>
                  <a:ext uri="{FF2B5EF4-FFF2-40B4-BE49-F238E27FC236}">
                    <a16:creationId xmlns:a16="http://schemas.microsoft.com/office/drawing/2014/main" id="{6AEF4015-07ED-3747-80A4-84F9625E2DF4}"/>
                  </a:ext>
                </a:extLst>
              </p:cNvPr>
              <p:cNvSpPr>
                <a:spLocks noRot="1" noChangeAspect="1" noMove="1" noResize="1" noEditPoints="1" noAdjustHandles="1" noChangeArrowheads="1" noChangeShapeType="1" noTextEdit="1"/>
              </p:cNvSpPr>
              <p:nvPr/>
            </p:nvSpPr>
            <p:spPr>
              <a:xfrm>
                <a:off x="9417819" y="4493769"/>
                <a:ext cx="472950" cy="523220"/>
              </a:xfrm>
              <a:prstGeom prst="rect">
                <a:avLst/>
              </a:prstGeom>
              <a:blipFill>
                <a:blip r:embed="rId5"/>
                <a:stretch>
                  <a:fillRect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BCC3B3DF-E3F6-8840-BEE0-C69C68884D7B}"/>
                  </a:ext>
                </a:extLst>
              </p:cNvPr>
              <p:cNvSpPr/>
              <p:nvPr/>
            </p:nvSpPr>
            <p:spPr>
              <a:xfrm>
                <a:off x="3552286" y="5757967"/>
                <a:ext cx="46807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b="0" i="1" smtClean="0">
                          <a:latin typeface="Cambria Math" panose="02040503050406030204" pitchFamily="18" charset="0"/>
                        </a:rPr>
                        <m:t>𝑥</m:t>
                      </m:r>
                    </m:oMath>
                  </m:oMathPara>
                </a14:m>
                <a:endParaRPr lang="en-US" sz="2800" dirty="0"/>
              </a:p>
            </p:txBody>
          </p:sp>
        </mc:Choice>
        <mc:Fallback xmlns="">
          <p:sp>
            <p:nvSpPr>
              <p:cNvPr id="45" name="Rectangle 44">
                <a:extLst>
                  <a:ext uri="{FF2B5EF4-FFF2-40B4-BE49-F238E27FC236}">
                    <a16:creationId xmlns:a16="http://schemas.microsoft.com/office/drawing/2014/main" id="{BCC3B3DF-E3F6-8840-BEE0-C69C68884D7B}"/>
                  </a:ext>
                </a:extLst>
              </p:cNvPr>
              <p:cNvSpPr>
                <a:spLocks noRot="1" noChangeAspect="1" noMove="1" noResize="1" noEditPoints="1" noAdjustHandles="1" noChangeArrowheads="1" noChangeShapeType="1" noTextEdit="1"/>
              </p:cNvSpPr>
              <p:nvPr/>
            </p:nvSpPr>
            <p:spPr>
              <a:xfrm>
                <a:off x="3552286" y="5757967"/>
                <a:ext cx="468077" cy="523220"/>
              </a:xfrm>
              <a:prstGeom prst="rect">
                <a:avLst/>
              </a:prstGeom>
              <a:blipFill>
                <a:blip r:embed="rId6"/>
                <a:stretch>
                  <a:fillRect/>
                </a:stretch>
              </a:blipFill>
            </p:spPr>
            <p:txBody>
              <a:bodyPr/>
              <a:lstStyle/>
              <a:p>
                <a:r>
                  <a:rPr lang="en-US">
                    <a:noFill/>
                  </a:rPr>
                  <a:t> </a:t>
                </a:r>
              </a:p>
            </p:txBody>
          </p:sp>
        </mc:Fallback>
      </mc:AlternateContent>
      <p:pic>
        <p:nvPicPr>
          <p:cNvPr id="24" name="Picture 23">
            <a:extLst>
              <a:ext uri="{FF2B5EF4-FFF2-40B4-BE49-F238E27FC236}">
                <a16:creationId xmlns:a16="http://schemas.microsoft.com/office/drawing/2014/main" id="{C007E0D7-3CD5-5C45-9056-230B26024E46}"/>
              </a:ext>
            </a:extLst>
          </p:cNvPr>
          <p:cNvPicPr>
            <a:picLocks noChangeAspect="1"/>
          </p:cNvPicPr>
          <p:nvPr/>
        </p:nvPicPr>
        <p:blipFill>
          <a:blip r:embed="rId7"/>
          <a:stretch>
            <a:fillRect/>
          </a:stretch>
        </p:blipFill>
        <p:spPr>
          <a:xfrm>
            <a:off x="2129739" y="4319522"/>
            <a:ext cx="2027195" cy="1591526"/>
          </a:xfrm>
          <a:prstGeom prst="rect">
            <a:avLst/>
          </a:prstGeom>
        </p:spPr>
      </p:pic>
      <p:cxnSp>
        <p:nvCxnSpPr>
          <p:cNvPr id="36" name="Straight Arrow Connector 35">
            <a:extLst>
              <a:ext uri="{FF2B5EF4-FFF2-40B4-BE49-F238E27FC236}">
                <a16:creationId xmlns:a16="http://schemas.microsoft.com/office/drawing/2014/main" id="{195EF063-23D6-BC4D-85B7-879E0E628ADB}"/>
              </a:ext>
            </a:extLst>
          </p:cNvPr>
          <p:cNvCxnSpPr>
            <a:cxnSpLocks/>
          </p:cNvCxnSpPr>
          <p:nvPr/>
        </p:nvCxnSpPr>
        <p:spPr>
          <a:xfrm flipV="1">
            <a:off x="6589301" y="2880106"/>
            <a:ext cx="1208564" cy="533253"/>
          </a:xfrm>
          <a:prstGeom prst="straightConnector1">
            <a:avLst/>
          </a:prstGeom>
          <a:ln w="38100">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D88C451E-4878-8649-99A6-CF29D63C67E6}"/>
              </a:ext>
            </a:extLst>
          </p:cNvPr>
          <p:cNvSpPr txBox="1"/>
          <p:nvPr/>
        </p:nvSpPr>
        <p:spPr>
          <a:xfrm>
            <a:off x="6353824" y="3549507"/>
            <a:ext cx="452368" cy="584775"/>
          </a:xfrm>
          <a:prstGeom prst="rect">
            <a:avLst/>
          </a:prstGeom>
          <a:noFill/>
        </p:spPr>
        <p:txBody>
          <a:bodyPr wrap="none" rtlCol="0">
            <a:spAutoFit/>
          </a:bodyPr>
          <a:lstStyle/>
          <a:p>
            <a:r>
              <a:rPr lang="el-GR" sz="3200" dirty="0"/>
              <a:t>φ</a:t>
            </a:r>
            <a:endParaRPr lang="en-US" sz="3200" dirty="0"/>
          </a:p>
        </p:txBody>
      </p:sp>
      <p:sp>
        <p:nvSpPr>
          <p:cNvPr id="14" name="Arc 13">
            <a:extLst>
              <a:ext uri="{FF2B5EF4-FFF2-40B4-BE49-F238E27FC236}">
                <a16:creationId xmlns:a16="http://schemas.microsoft.com/office/drawing/2014/main" id="{BF4853BE-7116-4642-BD3B-42742F2DC1C2}"/>
              </a:ext>
            </a:extLst>
          </p:cNvPr>
          <p:cNvSpPr/>
          <p:nvPr/>
        </p:nvSpPr>
        <p:spPr>
          <a:xfrm rot="4727626">
            <a:off x="5563013" y="1906073"/>
            <a:ext cx="1811784" cy="2558529"/>
          </a:xfrm>
          <a:prstGeom prst="arc">
            <a:avLst>
              <a:gd name="adj1" fmla="val 16282832"/>
              <a:gd name="adj2" fmla="val 543833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Arc 45">
            <a:extLst>
              <a:ext uri="{FF2B5EF4-FFF2-40B4-BE49-F238E27FC236}">
                <a16:creationId xmlns:a16="http://schemas.microsoft.com/office/drawing/2014/main" id="{A2647005-FDD2-0D43-8531-FE69195ECAE9}"/>
              </a:ext>
            </a:extLst>
          </p:cNvPr>
          <p:cNvSpPr/>
          <p:nvPr/>
        </p:nvSpPr>
        <p:spPr>
          <a:xfrm rot="418574">
            <a:off x="2753158" y="722001"/>
            <a:ext cx="5473456" cy="4262969"/>
          </a:xfrm>
          <a:prstGeom prst="arc">
            <a:avLst>
              <a:gd name="adj1" fmla="val 1640656"/>
              <a:gd name="adj2" fmla="val 3463832"/>
            </a:avLst>
          </a:prstGeom>
          <a:ln w="76200">
            <a:solidFill>
              <a:schemeClr val="tx1">
                <a:lumMod val="50000"/>
                <a:lumOff val="50000"/>
              </a:schemeClr>
            </a:solidFill>
            <a:prstDash val="sysDash"/>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1" name="Picture 20">
            <a:extLst>
              <a:ext uri="{FF2B5EF4-FFF2-40B4-BE49-F238E27FC236}">
                <a16:creationId xmlns:a16="http://schemas.microsoft.com/office/drawing/2014/main" id="{841B598B-6C26-BE47-A3F5-9F3DC731967F}"/>
              </a:ext>
            </a:extLst>
          </p:cNvPr>
          <p:cNvPicPr>
            <a:picLocks noChangeAspect="1"/>
          </p:cNvPicPr>
          <p:nvPr/>
        </p:nvPicPr>
        <p:blipFill>
          <a:blip r:embed="rId8"/>
          <a:stretch>
            <a:fillRect/>
          </a:stretch>
        </p:blipFill>
        <p:spPr>
          <a:xfrm rot="19682996" flipH="1">
            <a:off x="5125607" y="4445722"/>
            <a:ext cx="1940786" cy="1848928"/>
          </a:xfrm>
          <a:prstGeom prst="rect">
            <a:avLst/>
          </a:prstGeom>
        </p:spPr>
      </p:pic>
    </p:spTree>
    <p:extLst>
      <p:ext uri="{BB962C8B-B14F-4D97-AF65-F5344CB8AC3E}">
        <p14:creationId xmlns:p14="http://schemas.microsoft.com/office/powerpoint/2010/main" val="3528656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1CBB562-F2E0-184D-A6FF-48F6B7B5C052}"/>
              </a:ext>
            </a:extLst>
          </p:cNvPr>
          <p:cNvSpPr txBox="1"/>
          <p:nvPr/>
        </p:nvSpPr>
        <p:spPr>
          <a:xfrm>
            <a:off x="3787740" y="5608717"/>
            <a:ext cx="5141152" cy="830997"/>
          </a:xfrm>
          <a:prstGeom prst="rect">
            <a:avLst/>
          </a:prstGeom>
          <a:noFill/>
        </p:spPr>
        <p:txBody>
          <a:bodyPr wrap="none" rtlCol="0">
            <a:spAutoFit/>
          </a:bodyPr>
          <a:lstStyle/>
          <a:p>
            <a:pPr algn="ctr"/>
            <a:r>
              <a:rPr lang="en-US" sz="4800" dirty="0">
                <a:latin typeface="Comic Sans MS" panose="030F0902030302020204" pitchFamily="66" charset="0"/>
              </a:rPr>
              <a:t>Quantum circuits</a:t>
            </a:r>
          </a:p>
        </p:txBody>
      </p:sp>
      <p:grpSp>
        <p:nvGrpSpPr>
          <p:cNvPr id="41" name="Group 40">
            <a:extLst>
              <a:ext uri="{FF2B5EF4-FFF2-40B4-BE49-F238E27FC236}">
                <a16:creationId xmlns:a16="http://schemas.microsoft.com/office/drawing/2014/main" id="{7F97E107-0929-0449-A362-2BDFC8AA491B}"/>
              </a:ext>
            </a:extLst>
          </p:cNvPr>
          <p:cNvGrpSpPr>
            <a:grpSpLocks noChangeAspect="1"/>
          </p:cNvGrpSpPr>
          <p:nvPr/>
        </p:nvGrpSpPr>
        <p:grpSpPr>
          <a:xfrm>
            <a:off x="3281378" y="131315"/>
            <a:ext cx="7647416" cy="5227328"/>
            <a:chOff x="746776" y="296262"/>
            <a:chExt cx="9489812" cy="6486682"/>
          </a:xfrm>
        </p:grpSpPr>
        <p:pic>
          <p:nvPicPr>
            <p:cNvPr id="7" name="Picture 6">
              <a:extLst>
                <a:ext uri="{FF2B5EF4-FFF2-40B4-BE49-F238E27FC236}">
                  <a16:creationId xmlns:a16="http://schemas.microsoft.com/office/drawing/2014/main" id="{1DEAA8C8-463F-0A44-AA78-303337875010}"/>
                </a:ext>
              </a:extLst>
            </p:cNvPr>
            <p:cNvPicPr>
              <a:picLocks/>
            </p:cNvPicPr>
            <p:nvPr/>
          </p:nvPicPr>
          <p:blipFill>
            <a:blip r:embed="rId3"/>
            <a:stretch>
              <a:fillRect/>
            </a:stretch>
          </p:blipFill>
          <p:spPr>
            <a:xfrm flipV="1">
              <a:off x="746776" y="2695956"/>
              <a:ext cx="7610839" cy="67426"/>
            </a:xfrm>
            <a:prstGeom prst="rect">
              <a:avLst/>
            </a:prstGeom>
          </p:spPr>
        </p:pic>
        <p:pic>
          <p:nvPicPr>
            <p:cNvPr id="39" name="Picture 38">
              <a:extLst>
                <a:ext uri="{FF2B5EF4-FFF2-40B4-BE49-F238E27FC236}">
                  <a16:creationId xmlns:a16="http://schemas.microsoft.com/office/drawing/2014/main" id="{50AD10C4-9982-9C43-9C7E-DE405529786B}"/>
                </a:ext>
              </a:extLst>
            </p:cNvPr>
            <p:cNvPicPr>
              <a:picLocks/>
            </p:cNvPicPr>
            <p:nvPr/>
          </p:nvPicPr>
          <p:blipFill>
            <a:blip r:embed="rId3"/>
            <a:stretch>
              <a:fillRect/>
            </a:stretch>
          </p:blipFill>
          <p:spPr>
            <a:xfrm rot="5400000" flipV="1">
              <a:off x="7198854" y="4987489"/>
              <a:ext cx="1287553" cy="71524"/>
            </a:xfrm>
            <a:prstGeom prst="rect">
              <a:avLst/>
            </a:prstGeom>
          </p:spPr>
        </p:pic>
        <p:pic>
          <p:nvPicPr>
            <p:cNvPr id="33" name="Picture 32">
              <a:extLst>
                <a:ext uri="{FF2B5EF4-FFF2-40B4-BE49-F238E27FC236}">
                  <a16:creationId xmlns:a16="http://schemas.microsoft.com/office/drawing/2014/main" id="{3BF34862-818E-2243-BC85-CC5FACF5E59C}"/>
                </a:ext>
              </a:extLst>
            </p:cNvPr>
            <p:cNvPicPr>
              <a:picLocks/>
            </p:cNvPicPr>
            <p:nvPr/>
          </p:nvPicPr>
          <p:blipFill>
            <a:blip r:embed="rId3"/>
            <a:stretch>
              <a:fillRect/>
            </a:stretch>
          </p:blipFill>
          <p:spPr>
            <a:xfrm rot="5400000" flipV="1">
              <a:off x="2144747" y="3337130"/>
              <a:ext cx="1287553" cy="71524"/>
            </a:xfrm>
            <a:prstGeom prst="rect">
              <a:avLst/>
            </a:prstGeom>
          </p:spPr>
        </p:pic>
        <p:pic>
          <p:nvPicPr>
            <p:cNvPr id="8" name="Picture 7">
              <a:extLst>
                <a:ext uri="{FF2B5EF4-FFF2-40B4-BE49-F238E27FC236}">
                  <a16:creationId xmlns:a16="http://schemas.microsoft.com/office/drawing/2014/main" id="{8739040E-7BDD-F448-AC3D-7F31A9763FA8}"/>
                </a:ext>
              </a:extLst>
            </p:cNvPr>
            <p:cNvPicPr>
              <a:picLocks/>
            </p:cNvPicPr>
            <p:nvPr/>
          </p:nvPicPr>
          <p:blipFill>
            <a:blip r:embed="rId3"/>
            <a:stretch>
              <a:fillRect/>
            </a:stretch>
          </p:blipFill>
          <p:spPr>
            <a:xfrm flipV="1">
              <a:off x="746776" y="1058541"/>
              <a:ext cx="8702023" cy="45719"/>
            </a:xfrm>
            <a:prstGeom prst="rect">
              <a:avLst/>
            </a:prstGeom>
          </p:spPr>
        </p:pic>
        <p:pic>
          <p:nvPicPr>
            <p:cNvPr id="9" name="Picture 8">
              <a:extLst>
                <a:ext uri="{FF2B5EF4-FFF2-40B4-BE49-F238E27FC236}">
                  <a16:creationId xmlns:a16="http://schemas.microsoft.com/office/drawing/2014/main" id="{B1E10D78-DE1D-0446-A037-2588985C801E}"/>
                </a:ext>
              </a:extLst>
            </p:cNvPr>
            <p:cNvPicPr>
              <a:picLocks noChangeAspect="1"/>
            </p:cNvPicPr>
            <p:nvPr/>
          </p:nvPicPr>
          <p:blipFill>
            <a:blip r:embed="rId4"/>
            <a:stretch>
              <a:fillRect/>
            </a:stretch>
          </p:blipFill>
          <p:spPr>
            <a:xfrm>
              <a:off x="2058755" y="391389"/>
              <a:ext cx="1460571" cy="1440000"/>
            </a:xfrm>
            <a:prstGeom prst="rect">
              <a:avLst/>
            </a:prstGeom>
          </p:spPr>
        </p:pic>
        <p:sp>
          <p:nvSpPr>
            <p:cNvPr id="11" name="TextBox 10">
              <a:extLst>
                <a:ext uri="{FF2B5EF4-FFF2-40B4-BE49-F238E27FC236}">
                  <a16:creationId xmlns:a16="http://schemas.microsoft.com/office/drawing/2014/main" id="{779C16BC-8EF7-8247-8C80-7A4EC746C174}"/>
                </a:ext>
              </a:extLst>
            </p:cNvPr>
            <p:cNvSpPr txBox="1"/>
            <p:nvPr/>
          </p:nvSpPr>
          <p:spPr>
            <a:xfrm>
              <a:off x="2354157" y="576439"/>
              <a:ext cx="815968" cy="1031199"/>
            </a:xfrm>
            <a:prstGeom prst="rect">
              <a:avLst/>
            </a:prstGeom>
            <a:noFill/>
          </p:spPr>
          <p:txBody>
            <a:bodyPr wrap="none" rtlCol="0">
              <a:spAutoFit/>
            </a:bodyPr>
            <a:lstStyle/>
            <a:p>
              <a:r>
                <a:rPr lang="en-US" sz="4800" dirty="0">
                  <a:latin typeface="Comic Sans MS" panose="030F0902030302020204" pitchFamily="66" charset="0"/>
                </a:rPr>
                <a:t>H</a:t>
              </a:r>
            </a:p>
          </p:txBody>
        </p:sp>
        <p:pic>
          <p:nvPicPr>
            <p:cNvPr id="12" name="Picture 11">
              <a:extLst>
                <a:ext uri="{FF2B5EF4-FFF2-40B4-BE49-F238E27FC236}">
                  <a16:creationId xmlns:a16="http://schemas.microsoft.com/office/drawing/2014/main" id="{4C7858F1-3517-2C42-A8E8-957512065D1B}"/>
                </a:ext>
              </a:extLst>
            </p:cNvPr>
            <p:cNvPicPr>
              <a:picLocks noChangeAspect="1"/>
            </p:cNvPicPr>
            <p:nvPr/>
          </p:nvPicPr>
          <p:blipFill>
            <a:blip r:embed="rId5"/>
            <a:stretch>
              <a:fillRect/>
            </a:stretch>
          </p:blipFill>
          <p:spPr>
            <a:xfrm>
              <a:off x="4729631" y="2244110"/>
              <a:ext cx="927100" cy="927100"/>
            </a:xfrm>
            <a:prstGeom prst="rect">
              <a:avLst/>
            </a:prstGeom>
          </p:spPr>
        </p:pic>
        <p:pic>
          <p:nvPicPr>
            <p:cNvPr id="14" name="Picture 13">
              <a:extLst>
                <a:ext uri="{FF2B5EF4-FFF2-40B4-BE49-F238E27FC236}">
                  <a16:creationId xmlns:a16="http://schemas.microsoft.com/office/drawing/2014/main" id="{4E251675-6253-D849-9A84-AD1998F43B0C}"/>
                </a:ext>
              </a:extLst>
            </p:cNvPr>
            <p:cNvPicPr>
              <a:picLocks/>
            </p:cNvPicPr>
            <p:nvPr/>
          </p:nvPicPr>
          <p:blipFill>
            <a:blip r:embed="rId3"/>
            <a:stretch>
              <a:fillRect/>
            </a:stretch>
          </p:blipFill>
          <p:spPr>
            <a:xfrm flipV="1">
              <a:off x="746777" y="4333371"/>
              <a:ext cx="7610838" cy="52768"/>
            </a:xfrm>
            <a:prstGeom prst="rect">
              <a:avLst/>
            </a:prstGeom>
          </p:spPr>
        </p:pic>
        <p:pic>
          <p:nvPicPr>
            <p:cNvPr id="15" name="Picture 14">
              <a:extLst>
                <a:ext uri="{FF2B5EF4-FFF2-40B4-BE49-F238E27FC236}">
                  <a16:creationId xmlns:a16="http://schemas.microsoft.com/office/drawing/2014/main" id="{0ACF7D10-3252-E645-BD92-C6273495A081}"/>
                </a:ext>
              </a:extLst>
            </p:cNvPr>
            <p:cNvPicPr>
              <a:picLocks/>
            </p:cNvPicPr>
            <p:nvPr/>
          </p:nvPicPr>
          <p:blipFill>
            <a:blip r:embed="rId3"/>
            <a:stretch>
              <a:fillRect/>
            </a:stretch>
          </p:blipFill>
          <p:spPr>
            <a:xfrm rot="5400000" flipV="1">
              <a:off x="4552017" y="1648673"/>
              <a:ext cx="1287553" cy="71524"/>
            </a:xfrm>
            <a:prstGeom prst="rect">
              <a:avLst/>
            </a:prstGeom>
          </p:spPr>
        </p:pic>
        <p:sp>
          <p:nvSpPr>
            <p:cNvPr id="13" name="TextBox 12">
              <a:extLst>
                <a:ext uri="{FF2B5EF4-FFF2-40B4-BE49-F238E27FC236}">
                  <a16:creationId xmlns:a16="http://schemas.microsoft.com/office/drawing/2014/main" id="{AE25BC24-908B-C546-87AA-F210E6759C0D}"/>
                </a:ext>
              </a:extLst>
            </p:cNvPr>
            <p:cNvSpPr txBox="1"/>
            <p:nvPr/>
          </p:nvSpPr>
          <p:spPr>
            <a:xfrm>
              <a:off x="4835594" y="2102461"/>
              <a:ext cx="648876" cy="1164873"/>
            </a:xfrm>
            <a:prstGeom prst="rect">
              <a:avLst/>
            </a:prstGeom>
            <a:noFill/>
          </p:spPr>
          <p:txBody>
            <a:bodyPr wrap="none" rtlCol="0">
              <a:spAutoFit/>
            </a:bodyPr>
            <a:lstStyle/>
            <a:p>
              <a:r>
                <a:rPr lang="en-US" sz="5500" dirty="0">
                  <a:solidFill>
                    <a:schemeClr val="bg1"/>
                  </a:solidFill>
                  <a:latin typeface="Comic Sans MS" panose="030F0902030302020204" pitchFamily="66" charset="0"/>
                </a:rPr>
                <a:t>+</a:t>
              </a:r>
            </a:p>
          </p:txBody>
        </p:sp>
        <p:pic>
          <p:nvPicPr>
            <p:cNvPr id="16" name="Picture 15">
              <a:extLst>
                <a:ext uri="{FF2B5EF4-FFF2-40B4-BE49-F238E27FC236}">
                  <a16:creationId xmlns:a16="http://schemas.microsoft.com/office/drawing/2014/main" id="{FE789F21-B025-714B-85D6-CC14D2111F5A}"/>
                </a:ext>
              </a:extLst>
            </p:cNvPr>
            <p:cNvPicPr>
              <a:picLocks noChangeAspect="1"/>
            </p:cNvPicPr>
            <p:nvPr/>
          </p:nvPicPr>
          <p:blipFill>
            <a:blip r:embed="rId5"/>
            <a:stretch>
              <a:fillRect/>
            </a:stretch>
          </p:blipFill>
          <p:spPr>
            <a:xfrm>
              <a:off x="4977181" y="800262"/>
              <a:ext cx="432000" cy="432000"/>
            </a:xfrm>
            <a:prstGeom prst="rect">
              <a:avLst/>
            </a:prstGeom>
          </p:spPr>
        </p:pic>
        <p:pic>
          <p:nvPicPr>
            <p:cNvPr id="17" name="Picture 16">
              <a:extLst>
                <a:ext uri="{FF2B5EF4-FFF2-40B4-BE49-F238E27FC236}">
                  <a16:creationId xmlns:a16="http://schemas.microsoft.com/office/drawing/2014/main" id="{3D4CDFAB-3643-024D-B268-7B8D9F40F5B3}"/>
                </a:ext>
              </a:extLst>
            </p:cNvPr>
            <p:cNvPicPr>
              <a:picLocks noChangeAspect="1"/>
            </p:cNvPicPr>
            <p:nvPr/>
          </p:nvPicPr>
          <p:blipFill>
            <a:blip r:embed="rId6"/>
            <a:stretch>
              <a:fillRect/>
            </a:stretch>
          </p:blipFill>
          <p:spPr>
            <a:xfrm>
              <a:off x="4169906" y="3678139"/>
              <a:ext cx="2059590" cy="1401904"/>
            </a:xfrm>
            <a:prstGeom prst="rect">
              <a:avLst/>
            </a:prstGeom>
          </p:spPr>
        </p:pic>
        <p:sp>
          <p:nvSpPr>
            <p:cNvPr id="18" name="TextBox 17">
              <a:extLst>
                <a:ext uri="{FF2B5EF4-FFF2-40B4-BE49-F238E27FC236}">
                  <a16:creationId xmlns:a16="http://schemas.microsoft.com/office/drawing/2014/main" id="{52B66ED2-48E6-A341-8409-8B751288B457}"/>
                </a:ext>
              </a:extLst>
            </p:cNvPr>
            <p:cNvSpPr txBox="1"/>
            <p:nvPr/>
          </p:nvSpPr>
          <p:spPr>
            <a:xfrm>
              <a:off x="4925513" y="3732387"/>
              <a:ext cx="626995" cy="1031199"/>
            </a:xfrm>
            <a:prstGeom prst="rect">
              <a:avLst/>
            </a:prstGeom>
            <a:noFill/>
          </p:spPr>
          <p:txBody>
            <a:bodyPr wrap="none" rtlCol="0">
              <a:spAutoFit/>
            </a:bodyPr>
            <a:lstStyle/>
            <a:p>
              <a:r>
                <a:rPr lang="en-US" sz="4800" dirty="0">
                  <a:latin typeface="Comic Sans MS" panose="030F0902030302020204" pitchFamily="66" charset="0"/>
                </a:rPr>
                <a:t>P</a:t>
              </a:r>
            </a:p>
          </p:txBody>
        </p:sp>
        <p:pic>
          <p:nvPicPr>
            <p:cNvPr id="19" name="Picture 18">
              <a:extLst>
                <a:ext uri="{FF2B5EF4-FFF2-40B4-BE49-F238E27FC236}">
                  <a16:creationId xmlns:a16="http://schemas.microsoft.com/office/drawing/2014/main" id="{9D66DF59-0613-F142-AFD5-91C4AB7DC711}"/>
                </a:ext>
              </a:extLst>
            </p:cNvPr>
            <p:cNvPicPr>
              <a:picLocks noChangeAspect="1"/>
            </p:cNvPicPr>
            <p:nvPr/>
          </p:nvPicPr>
          <p:blipFill>
            <a:blip r:embed="rId5"/>
            <a:stretch>
              <a:fillRect/>
            </a:stretch>
          </p:blipFill>
          <p:spPr>
            <a:xfrm>
              <a:off x="2329450" y="3898201"/>
              <a:ext cx="927100" cy="927100"/>
            </a:xfrm>
            <a:prstGeom prst="rect">
              <a:avLst/>
            </a:prstGeom>
          </p:spPr>
        </p:pic>
        <p:sp>
          <p:nvSpPr>
            <p:cNvPr id="20" name="TextBox 19">
              <a:extLst>
                <a:ext uri="{FF2B5EF4-FFF2-40B4-BE49-F238E27FC236}">
                  <a16:creationId xmlns:a16="http://schemas.microsoft.com/office/drawing/2014/main" id="{22ADA530-FB1F-1A4F-B2F5-4DE305FEF03C}"/>
                </a:ext>
              </a:extLst>
            </p:cNvPr>
            <p:cNvSpPr txBox="1"/>
            <p:nvPr/>
          </p:nvSpPr>
          <p:spPr>
            <a:xfrm>
              <a:off x="2395480" y="3688261"/>
              <a:ext cx="734411" cy="1374931"/>
            </a:xfrm>
            <a:prstGeom prst="rect">
              <a:avLst/>
            </a:prstGeom>
            <a:noFill/>
          </p:spPr>
          <p:txBody>
            <a:bodyPr wrap="none" rtlCol="0">
              <a:spAutoFit/>
            </a:bodyPr>
            <a:lstStyle/>
            <a:p>
              <a:r>
                <a:rPr lang="en-US" sz="6600" dirty="0">
                  <a:solidFill>
                    <a:schemeClr val="bg1"/>
                  </a:solidFill>
                  <a:latin typeface="Comic Sans MS" panose="030F0902030302020204" pitchFamily="66" charset="0"/>
                </a:rPr>
                <a:t>+</a:t>
              </a:r>
            </a:p>
          </p:txBody>
        </p:sp>
        <p:sp>
          <p:nvSpPr>
            <p:cNvPr id="23" name="TextBox 22">
              <a:extLst>
                <a:ext uri="{FF2B5EF4-FFF2-40B4-BE49-F238E27FC236}">
                  <a16:creationId xmlns:a16="http://schemas.microsoft.com/office/drawing/2014/main" id="{E82663BD-6F47-0A4C-B0A3-E158648EC95F}"/>
                </a:ext>
              </a:extLst>
            </p:cNvPr>
            <p:cNvSpPr txBox="1"/>
            <p:nvPr/>
          </p:nvSpPr>
          <p:spPr>
            <a:xfrm>
              <a:off x="4734217" y="4486440"/>
              <a:ext cx="1082521" cy="496503"/>
            </a:xfrm>
            <a:prstGeom prst="rect">
              <a:avLst/>
            </a:prstGeom>
            <a:noFill/>
          </p:spPr>
          <p:txBody>
            <a:bodyPr wrap="none" rtlCol="0">
              <a:spAutoFit/>
            </a:bodyPr>
            <a:lstStyle/>
            <a:p>
              <a:r>
                <a:rPr lang="en-US" sz="2000" dirty="0">
                  <a:latin typeface="Comic Sans MS" panose="030F0902030302020204" pitchFamily="66" charset="0"/>
                </a:rPr>
                <a:t>(pi/2)</a:t>
              </a:r>
            </a:p>
          </p:txBody>
        </p:sp>
        <p:pic>
          <p:nvPicPr>
            <p:cNvPr id="24" name="Picture 23">
              <a:extLst>
                <a:ext uri="{FF2B5EF4-FFF2-40B4-BE49-F238E27FC236}">
                  <a16:creationId xmlns:a16="http://schemas.microsoft.com/office/drawing/2014/main" id="{6C93F6D7-CDA9-4842-A9C1-49B331B713B3}"/>
                </a:ext>
              </a:extLst>
            </p:cNvPr>
            <p:cNvPicPr>
              <a:picLocks noChangeAspect="1"/>
            </p:cNvPicPr>
            <p:nvPr/>
          </p:nvPicPr>
          <p:blipFill>
            <a:blip r:embed="rId7"/>
            <a:stretch>
              <a:fillRect/>
            </a:stretch>
          </p:blipFill>
          <p:spPr>
            <a:xfrm>
              <a:off x="8776017" y="296262"/>
              <a:ext cx="1460571" cy="1440000"/>
            </a:xfrm>
            <a:prstGeom prst="rect">
              <a:avLst/>
            </a:prstGeom>
          </p:spPr>
        </p:pic>
        <p:pic>
          <p:nvPicPr>
            <p:cNvPr id="28" name="Picture 27">
              <a:extLst>
                <a:ext uri="{FF2B5EF4-FFF2-40B4-BE49-F238E27FC236}">
                  <a16:creationId xmlns:a16="http://schemas.microsoft.com/office/drawing/2014/main" id="{09A80E97-52A3-C94C-B944-46B81F0A9FA4}"/>
                </a:ext>
              </a:extLst>
            </p:cNvPr>
            <p:cNvPicPr>
              <a:picLocks/>
            </p:cNvPicPr>
            <p:nvPr/>
          </p:nvPicPr>
          <p:blipFill>
            <a:blip r:embed="rId3"/>
            <a:stretch>
              <a:fillRect/>
            </a:stretch>
          </p:blipFill>
          <p:spPr>
            <a:xfrm flipV="1">
              <a:off x="883235" y="6045261"/>
              <a:ext cx="7474380" cy="45719"/>
            </a:xfrm>
            <a:prstGeom prst="rect">
              <a:avLst/>
            </a:prstGeom>
          </p:spPr>
        </p:pic>
        <p:pic>
          <p:nvPicPr>
            <p:cNvPr id="31" name="Picture 30">
              <a:extLst>
                <a:ext uri="{FF2B5EF4-FFF2-40B4-BE49-F238E27FC236}">
                  <a16:creationId xmlns:a16="http://schemas.microsoft.com/office/drawing/2014/main" id="{29D890F3-0B3E-C848-A678-AB4197559A57}"/>
                </a:ext>
              </a:extLst>
            </p:cNvPr>
            <p:cNvPicPr>
              <a:picLocks noChangeAspect="1"/>
            </p:cNvPicPr>
            <p:nvPr/>
          </p:nvPicPr>
          <p:blipFill>
            <a:blip r:embed="rId4">
              <a:duotone>
                <a:prstClr val="black"/>
                <a:schemeClr val="accent6">
                  <a:tint val="45000"/>
                  <a:satMod val="400000"/>
                </a:schemeClr>
              </a:duotone>
            </a:blip>
            <a:stretch>
              <a:fillRect/>
            </a:stretch>
          </p:blipFill>
          <p:spPr>
            <a:xfrm>
              <a:off x="2031317" y="5342944"/>
              <a:ext cx="1460571" cy="1440000"/>
            </a:xfrm>
            <a:prstGeom prst="rect">
              <a:avLst/>
            </a:prstGeom>
            <a:solidFill>
              <a:schemeClr val="bg1"/>
            </a:solidFill>
          </p:spPr>
        </p:pic>
        <p:sp>
          <p:nvSpPr>
            <p:cNvPr id="32" name="TextBox 31">
              <a:extLst>
                <a:ext uri="{FF2B5EF4-FFF2-40B4-BE49-F238E27FC236}">
                  <a16:creationId xmlns:a16="http://schemas.microsoft.com/office/drawing/2014/main" id="{F7B27D96-0974-EF44-8A98-7B6D71110946}"/>
                </a:ext>
              </a:extLst>
            </p:cNvPr>
            <p:cNvSpPr txBox="1"/>
            <p:nvPr/>
          </p:nvSpPr>
          <p:spPr>
            <a:xfrm>
              <a:off x="2153102" y="5567441"/>
              <a:ext cx="1160098" cy="1031199"/>
            </a:xfrm>
            <a:prstGeom prst="rect">
              <a:avLst/>
            </a:prstGeom>
            <a:noFill/>
          </p:spPr>
          <p:txBody>
            <a:bodyPr wrap="none" rtlCol="0">
              <a:spAutoFit/>
            </a:bodyPr>
            <a:lstStyle/>
            <a:p>
              <a:r>
                <a:rPr lang="en-US" sz="4800" dirty="0">
                  <a:latin typeface="Comic Sans MS" panose="030F0902030302020204" pitchFamily="66" charset="0"/>
                </a:rPr>
                <a:t>Rx</a:t>
              </a:r>
            </a:p>
          </p:txBody>
        </p:sp>
        <p:pic>
          <p:nvPicPr>
            <p:cNvPr id="34" name="Picture 33">
              <a:extLst>
                <a:ext uri="{FF2B5EF4-FFF2-40B4-BE49-F238E27FC236}">
                  <a16:creationId xmlns:a16="http://schemas.microsoft.com/office/drawing/2014/main" id="{D2DD70A9-E405-8A48-A5AE-249105263AC9}"/>
                </a:ext>
              </a:extLst>
            </p:cNvPr>
            <p:cNvPicPr>
              <a:picLocks noChangeAspect="1"/>
            </p:cNvPicPr>
            <p:nvPr/>
          </p:nvPicPr>
          <p:blipFill>
            <a:blip r:embed="rId5"/>
            <a:stretch>
              <a:fillRect/>
            </a:stretch>
          </p:blipFill>
          <p:spPr>
            <a:xfrm>
              <a:off x="2606487" y="2488719"/>
              <a:ext cx="432000" cy="432000"/>
            </a:xfrm>
            <a:prstGeom prst="rect">
              <a:avLst/>
            </a:prstGeom>
          </p:spPr>
        </p:pic>
        <p:pic>
          <p:nvPicPr>
            <p:cNvPr id="35" name="Picture 34">
              <a:extLst>
                <a:ext uri="{FF2B5EF4-FFF2-40B4-BE49-F238E27FC236}">
                  <a16:creationId xmlns:a16="http://schemas.microsoft.com/office/drawing/2014/main" id="{8B48E078-1F44-8C40-A472-2F616208FD7F}"/>
                </a:ext>
              </a:extLst>
            </p:cNvPr>
            <p:cNvPicPr>
              <a:picLocks noChangeAspect="1"/>
            </p:cNvPicPr>
            <p:nvPr/>
          </p:nvPicPr>
          <p:blipFill>
            <a:blip r:embed="rId4">
              <a:duotone>
                <a:prstClr val="black"/>
                <a:schemeClr val="accent6">
                  <a:tint val="45000"/>
                  <a:satMod val="400000"/>
                </a:schemeClr>
              </a:duotone>
            </a:blip>
            <a:stretch>
              <a:fillRect/>
            </a:stretch>
          </p:blipFill>
          <p:spPr>
            <a:xfrm>
              <a:off x="7156952" y="1954249"/>
              <a:ext cx="1460571" cy="1440000"/>
            </a:xfrm>
            <a:prstGeom prst="rect">
              <a:avLst/>
            </a:prstGeom>
            <a:solidFill>
              <a:schemeClr val="bg1"/>
            </a:solidFill>
          </p:spPr>
        </p:pic>
        <p:sp>
          <p:nvSpPr>
            <p:cNvPr id="36" name="TextBox 35">
              <a:extLst>
                <a:ext uri="{FF2B5EF4-FFF2-40B4-BE49-F238E27FC236}">
                  <a16:creationId xmlns:a16="http://schemas.microsoft.com/office/drawing/2014/main" id="{ED6BFCEA-6CBD-A348-A396-A037AF8E7339}"/>
                </a:ext>
              </a:extLst>
            </p:cNvPr>
            <p:cNvSpPr txBox="1"/>
            <p:nvPr/>
          </p:nvSpPr>
          <p:spPr>
            <a:xfrm>
              <a:off x="7278737" y="2178746"/>
              <a:ext cx="1106391" cy="1031199"/>
            </a:xfrm>
            <a:prstGeom prst="rect">
              <a:avLst/>
            </a:prstGeom>
            <a:noFill/>
          </p:spPr>
          <p:txBody>
            <a:bodyPr wrap="none" rtlCol="0">
              <a:spAutoFit/>
            </a:bodyPr>
            <a:lstStyle/>
            <a:p>
              <a:r>
                <a:rPr lang="en-US" sz="4800" dirty="0">
                  <a:latin typeface="Comic Sans MS" panose="030F0902030302020204" pitchFamily="66" charset="0"/>
                </a:rPr>
                <a:t>Ry</a:t>
              </a:r>
            </a:p>
          </p:txBody>
        </p:sp>
        <p:pic>
          <p:nvPicPr>
            <p:cNvPr id="37" name="Picture 36">
              <a:extLst>
                <a:ext uri="{FF2B5EF4-FFF2-40B4-BE49-F238E27FC236}">
                  <a16:creationId xmlns:a16="http://schemas.microsoft.com/office/drawing/2014/main" id="{5F9A5CBE-FEEF-1D4F-A1F3-407B7AF4633D}"/>
                </a:ext>
              </a:extLst>
            </p:cNvPr>
            <p:cNvPicPr>
              <a:picLocks noChangeAspect="1"/>
            </p:cNvPicPr>
            <p:nvPr/>
          </p:nvPicPr>
          <p:blipFill>
            <a:blip r:embed="rId4">
              <a:duotone>
                <a:prstClr val="black"/>
                <a:schemeClr val="accent2">
                  <a:tint val="45000"/>
                  <a:satMod val="400000"/>
                </a:schemeClr>
              </a:duotone>
            </a:blip>
            <a:stretch>
              <a:fillRect/>
            </a:stretch>
          </p:blipFill>
          <p:spPr>
            <a:xfrm>
              <a:off x="7178859" y="5232870"/>
              <a:ext cx="1460571" cy="1440000"/>
            </a:xfrm>
            <a:prstGeom prst="rect">
              <a:avLst/>
            </a:prstGeom>
          </p:spPr>
        </p:pic>
        <p:sp>
          <p:nvSpPr>
            <p:cNvPr id="38" name="TextBox 37">
              <a:extLst>
                <a:ext uri="{FF2B5EF4-FFF2-40B4-BE49-F238E27FC236}">
                  <a16:creationId xmlns:a16="http://schemas.microsoft.com/office/drawing/2014/main" id="{E6BB9951-90B2-1D4E-8DCD-05FDE092E602}"/>
                </a:ext>
              </a:extLst>
            </p:cNvPr>
            <p:cNvSpPr txBox="1"/>
            <p:nvPr/>
          </p:nvSpPr>
          <p:spPr>
            <a:xfrm>
              <a:off x="7474261" y="5417920"/>
              <a:ext cx="792097" cy="1031199"/>
            </a:xfrm>
            <a:prstGeom prst="rect">
              <a:avLst/>
            </a:prstGeom>
            <a:noFill/>
          </p:spPr>
          <p:txBody>
            <a:bodyPr wrap="none" rtlCol="0">
              <a:spAutoFit/>
            </a:bodyPr>
            <a:lstStyle/>
            <a:p>
              <a:r>
                <a:rPr lang="en-US" sz="4800" dirty="0">
                  <a:latin typeface="Comic Sans MS" panose="030F0902030302020204" pitchFamily="66" charset="0"/>
                </a:rPr>
                <a:t>U</a:t>
              </a:r>
            </a:p>
          </p:txBody>
        </p:sp>
        <p:pic>
          <p:nvPicPr>
            <p:cNvPr id="40" name="Picture 39">
              <a:extLst>
                <a:ext uri="{FF2B5EF4-FFF2-40B4-BE49-F238E27FC236}">
                  <a16:creationId xmlns:a16="http://schemas.microsoft.com/office/drawing/2014/main" id="{1531EBD2-AED2-EF40-A55C-7AEF155352DB}"/>
                </a:ext>
              </a:extLst>
            </p:cNvPr>
            <p:cNvPicPr>
              <a:picLocks noChangeAspect="1"/>
            </p:cNvPicPr>
            <p:nvPr/>
          </p:nvPicPr>
          <p:blipFill>
            <a:blip r:embed="rId5"/>
            <a:stretch>
              <a:fillRect/>
            </a:stretch>
          </p:blipFill>
          <p:spPr>
            <a:xfrm>
              <a:off x="7660594" y="4139078"/>
              <a:ext cx="432000" cy="432000"/>
            </a:xfrm>
            <a:prstGeom prst="rect">
              <a:avLst/>
            </a:prstGeom>
          </p:spPr>
        </p:pic>
      </p:grpSp>
      <p:pic>
        <p:nvPicPr>
          <p:cNvPr id="4" name="Picture 3">
            <a:extLst>
              <a:ext uri="{FF2B5EF4-FFF2-40B4-BE49-F238E27FC236}">
                <a16:creationId xmlns:a16="http://schemas.microsoft.com/office/drawing/2014/main" id="{CAC9127D-7218-1B44-9830-7BBA6B359E7D}"/>
              </a:ext>
            </a:extLst>
          </p:cNvPr>
          <p:cNvPicPr>
            <a:picLocks noChangeAspect="1"/>
          </p:cNvPicPr>
          <p:nvPr/>
        </p:nvPicPr>
        <p:blipFill>
          <a:blip r:embed="rId8"/>
          <a:stretch>
            <a:fillRect/>
          </a:stretch>
        </p:blipFill>
        <p:spPr>
          <a:xfrm flipH="1">
            <a:off x="290962" y="2943998"/>
            <a:ext cx="3100382" cy="2684946"/>
          </a:xfrm>
          <a:prstGeom prst="rect">
            <a:avLst/>
          </a:prstGeom>
        </p:spPr>
      </p:pic>
      <p:sp>
        <p:nvSpPr>
          <p:cNvPr id="42" name="Slide Number Placeholder 18">
            <a:extLst>
              <a:ext uri="{FF2B5EF4-FFF2-40B4-BE49-F238E27FC236}">
                <a16:creationId xmlns:a16="http://schemas.microsoft.com/office/drawing/2014/main" id="{4104BBCC-F9B3-DD44-B1E9-A3BE2E7F780C}"/>
              </a:ext>
            </a:extLst>
          </p:cNvPr>
          <p:cNvSpPr txBox="1">
            <a:spLocks/>
          </p:cNvSpPr>
          <p:nvPr/>
        </p:nvSpPr>
        <p:spPr>
          <a:xfrm>
            <a:off x="14410" y="6463863"/>
            <a:ext cx="899990" cy="39413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A7A90D-170E-2F4F-8861-97D6C3C25EEF}" type="slidenum">
              <a:rPr lang="en-US" smtClean="0"/>
              <a:pPr/>
              <a:t>43</a:t>
            </a:fld>
            <a:endParaRPr lang="en-US" dirty="0"/>
          </a:p>
        </p:txBody>
      </p:sp>
    </p:spTree>
    <p:extLst>
      <p:ext uri="{BB962C8B-B14F-4D97-AF65-F5344CB8AC3E}">
        <p14:creationId xmlns:p14="http://schemas.microsoft.com/office/powerpoint/2010/main" val="1197527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0DFF5-4A4F-DF42-9481-2148F597198F}"/>
              </a:ext>
            </a:extLst>
          </p:cNvPr>
          <p:cNvSpPr>
            <a:spLocks noGrp="1"/>
          </p:cNvSpPr>
          <p:nvPr>
            <p:ph type="title"/>
          </p:nvPr>
        </p:nvSpPr>
        <p:spPr/>
        <p:txBody>
          <a:bodyPr/>
          <a:lstStyle/>
          <a:p>
            <a:r>
              <a:rPr lang="en-ZA" dirty="0"/>
              <a:t>A quantum program as a quantum circuit</a:t>
            </a:r>
            <a:endParaRPr lang="en-US" dirty="0"/>
          </a:p>
        </p:txBody>
      </p:sp>
      <p:sp>
        <p:nvSpPr>
          <p:cNvPr id="3" name="Slide Number Placeholder 2">
            <a:extLst>
              <a:ext uri="{FF2B5EF4-FFF2-40B4-BE49-F238E27FC236}">
                <a16:creationId xmlns:a16="http://schemas.microsoft.com/office/drawing/2014/main" id="{947AFC6D-9054-5C4F-BC6F-F71355750398}"/>
              </a:ext>
            </a:extLst>
          </p:cNvPr>
          <p:cNvSpPr>
            <a:spLocks noGrp="1"/>
          </p:cNvSpPr>
          <p:nvPr>
            <p:ph type="sldNum" sz="quarter" idx="12"/>
          </p:nvPr>
        </p:nvSpPr>
        <p:spPr/>
        <p:txBody>
          <a:bodyPr/>
          <a:lstStyle/>
          <a:p>
            <a:fld id="{591A223C-FA10-BC46-A853-03BA373D023C}" type="slidenum">
              <a:rPr lang="en-US" smtClean="0"/>
              <a:t>44</a:t>
            </a:fld>
            <a:endParaRPr lang="en-US" dirty="0"/>
          </a:p>
        </p:txBody>
      </p:sp>
      <p:pic>
        <p:nvPicPr>
          <p:cNvPr id="7" name="Picture 6">
            <a:extLst>
              <a:ext uri="{FF2B5EF4-FFF2-40B4-BE49-F238E27FC236}">
                <a16:creationId xmlns:a16="http://schemas.microsoft.com/office/drawing/2014/main" id="{FCD6467D-3B93-E14E-A797-47BFB01BAD40}"/>
              </a:ext>
            </a:extLst>
          </p:cNvPr>
          <p:cNvPicPr>
            <a:picLocks/>
          </p:cNvPicPr>
          <p:nvPr/>
        </p:nvPicPr>
        <p:blipFill>
          <a:blip r:embed="rId3"/>
          <a:stretch>
            <a:fillRect/>
          </a:stretch>
        </p:blipFill>
        <p:spPr>
          <a:xfrm flipV="1">
            <a:off x="2258427" y="4333621"/>
            <a:ext cx="7651413" cy="45719"/>
          </a:xfrm>
          <a:prstGeom prst="rect">
            <a:avLst/>
          </a:prstGeom>
        </p:spPr>
      </p:pic>
      <p:sp>
        <p:nvSpPr>
          <p:cNvPr id="17" name="Rectangle 16">
            <a:extLst>
              <a:ext uri="{FF2B5EF4-FFF2-40B4-BE49-F238E27FC236}">
                <a16:creationId xmlns:a16="http://schemas.microsoft.com/office/drawing/2014/main" id="{0EC040C7-9C6C-F74F-A83E-3C81E5F0BC34}"/>
              </a:ext>
            </a:extLst>
          </p:cNvPr>
          <p:cNvSpPr/>
          <p:nvPr/>
        </p:nvSpPr>
        <p:spPr>
          <a:xfrm>
            <a:off x="1254480" y="4010454"/>
            <a:ext cx="827471" cy="646331"/>
          </a:xfrm>
          <a:prstGeom prst="rect">
            <a:avLst/>
          </a:prstGeom>
        </p:spPr>
        <p:txBody>
          <a:bodyPr wrap="none">
            <a:spAutoFit/>
          </a:bodyPr>
          <a:lstStyle/>
          <a:p>
            <a:r>
              <a:rPr lang="en-US" sz="3600" dirty="0">
                <a:latin typeface="Comic Sans MS" panose="030F0902030302020204" pitchFamily="66" charset="0"/>
              </a:rPr>
              <a:t>|0⟩</a:t>
            </a:r>
          </a:p>
        </p:txBody>
      </p:sp>
      <p:sp>
        <p:nvSpPr>
          <p:cNvPr id="13" name="Rounded Rectangular Callout 12">
            <a:extLst>
              <a:ext uri="{FF2B5EF4-FFF2-40B4-BE49-F238E27FC236}">
                <a16:creationId xmlns:a16="http://schemas.microsoft.com/office/drawing/2014/main" id="{33C8D1B5-60C8-794A-A62E-33F203C149F5}"/>
              </a:ext>
            </a:extLst>
          </p:cNvPr>
          <p:cNvSpPr/>
          <p:nvPr/>
        </p:nvSpPr>
        <p:spPr>
          <a:xfrm>
            <a:off x="159910" y="1810872"/>
            <a:ext cx="2601220" cy="1469342"/>
          </a:xfrm>
          <a:prstGeom prst="wedgeRoundRectCallout">
            <a:avLst>
              <a:gd name="adj1" fmla="val -3628"/>
              <a:gd name="adj2" fmla="val 95594"/>
              <a:gd name="adj3" fmla="val 16667"/>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2">
                    <a:lumMod val="75000"/>
                  </a:schemeClr>
                </a:solidFill>
                <a:latin typeface="Comic Sans MS" panose="030F0902030302020204" pitchFamily="66" charset="0"/>
              </a:rPr>
              <a:t>QUBIT:</a:t>
            </a:r>
          </a:p>
          <a:p>
            <a:pPr algn="ctr"/>
            <a:r>
              <a:rPr lang="en-US" sz="2400">
                <a:solidFill>
                  <a:schemeClr val="tx2">
                    <a:lumMod val="75000"/>
                  </a:schemeClr>
                </a:solidFill>
                <a:latin typeface="Comic Sans MS" panose="030F0902030302020204" pitchFamily="66" charset="0"/>
              </a:rPr>
              <a:t>quantum </a:t>
            </a:r>
            <a:r>
              <a:rPr lang="en-US" sz="2400" dirty="0">
                <a:solidFill>
                  <a:schemeClr val="tx2">
                    <a:lumMod val="75000"/>
                  </a:schemeClr>
                </a:solidFill>
                <a:latin typeface="Comic Sans MS" panose="030F0902030302020204" pitchFamily="66" charset="0"/>
              </a:rPr>
              <a:t>data</a:t>
            </a:r>
          </a:p>
        </p:txBody>
      </p:sp>
      <p:grpSp>
        <p:nvGrpSpPr>
          <p:cNvPr id="11" name="Group 10">
            <a:extLst>
              <a:ext uri="{FF2B5EF4-FFF2-40B4-BE49-F238E27FC236}">
                <a16:creationId xmlns:a16="http://schemas.microsoft.com/office/drawing/2014/main" id="{C4CFAC8D-95DC-9242-AA80-EF26F221ED05}"/>
              </a:ext>
            </a:extLst>
          </p:cNvPr>
          <p:cNvGrpSpPr/>
          <p:nvPr/>
        </p:nvGrpSpPr>
        <p:grpSpPr>
          <a:xfrm>
            <a:off x="6978291" y="1059587"/>
            <a:ext cx="3892177" cy="4046881"/>
            <a:chOff x="6978291" y="1059587"/>
            <a:chExt cx="3892177" cy="4046881"/>
          </a:xfrm>
        </p:grpSpPr>
        <p:pic>
          <p:nvPicPr>
            <p:cNvPr id="16" name="Picture 15">
              <a:extLst>
                <a:ext uri="{FF2B5EF4-FFF2-40B4-BE49-F238E27FC236}">
                  <a16:creationId xmlns:a16="http://schemas.microsoft.com/office/drawing/2014/main" id="{8387A86B-C603-A24A-A3D4-129CEC513982}"/>
                </a:ext>
              </a:extLst>
            </p:cNvPr>
            <p:cNvPicPr>
              <a:picLocks noChangeAspect="1"/>
            </p:cNvPicPr>
            <p:nvPr/>
          </p:nvPicPr>
          <p:blipFill>
            <a:blip r:embed="rId4"/>
            <a:stretch>
              <a:fillRect/>
            </a:stretch>
          </p:blipFill>
          <p:spPr>
            <a:xfrm>
              <a:off x="7312523" y="3666468"/>
              <a:ext cx="1460571" cy="1440000"/>
            </a:xfrm>
            <a:prstGeom prst="rect">
              <a:avLst/>
            </a:prstGeom>
          </p:spPr>
        </p:pic>
        <p:sp>
          <p:nvSpPr>
            <p:cNvPr id="26" name="Rounded Rectangular Callout 25">
              <a:extLst>
                <a:ext uri="{FF2B5EF4-FFF2-40B4-BE49-F238E27FC236}">
                  <a16:creationId xmlns:a16="http://schemas.microsoft.com/office/drawing/2014/main" id="{4E48A611-2022-4E4D-86A1-257E89DE59B5}"/>
                </a:ext>
              </a:extLst>
            </p:cNvPr>
            <p:cNvSpPr/>
            <p:nvPr/>
          </p:nvSpPr>
          <p:spPr>
            <a:xfrm>
              <a:off x="6978291" y="1059587"/>
              <a:ext cx="3892177" cy="1258365"/>
            </a:xfrm>
            <a:prstGeom prst="wedgeRoundRectCallout">
              <a:avLst>
                <a:gd name="adj1" fmla="val -29168"/>
                <a:gd name="adj2" fmla="val 138938"/>
                <a:gd name="adj3" fmla="val 16667"/>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2">
                      <a:lumMod val="75000"/>
                    </a:schemeClr>
                  </a:solidFill>
                  <a:latin typeface="Comic Sans MS" panose="030F0902030302020204" pitchFamily="66" charset="0"/>
                </a:rPr>
                <a:t>MEASUREMENT:</a:t>
              </a:r>
            </a:p>
            <a:p>
              <a:pPr algn="ctr"/>
              <a:r>
                <a:rPr lang="en-US" sz="2400" dirty="0">
                  <a:solidFill>
                    <a:schemeClr val="tx2">
                      <a:lumMod val="75000"/>
                    </a:schemeClr>
                  </a:solidFill>
                  <a:latin typeface="Comic Sans MS" panose="030F0902030302020204" pitchFamily="66" charset="0"/>
                </a:rPr>
                <a:t>reading the result</a:t>
              </a:r>
            </a:p>
          </p:txBody>
        </p:sp>
      </p:grpSp>
      <p:sp>
        <p:nvSpPr>
          <p:cNvPr id="4" name="Rectangle 3">
            <a:extLst>
              <a:ext uri="{FF2B5EF4-FFF2-40B4-BE49-F238E27FC236}">
                <a16:creationId xmlns:a16="http://schemas.microsoft.com/office/drawing/2014/main" id="{C6418E51-DF69-DF43-9CF9-FEF0788F206B}"/>
              </a:ext>
            </a:extLst>
          </p:cNvPr>
          <p:cNvSpPr/>
          <p:nvPr/>
        </p:nvSpPr>
        <p:spPr>
          <a:xfrm>
            <a:off x="2276700" y="3645164"/>
            <a:ext cx="425116" cy="646331"/>
          </a:xfrm>
          <a:prstGeom prst="rect">
            <a:avLst/>
          </a:prstGeom>
        </p:spPr>
        <p:txBody>
          <a:bodyPr wrap="none">
            <a:spAutoFit/>
          </a:bodyPr>
          <a:lstStyle/>
          <a:p>
            <a:r>
              <a:rPr lang="en-US" sz="3600" dirty="0">
                <a:latin typeface="Comic Sans MS" panose="030F0902030302020204" pitchFamily="66" charset="0"/>
              </a:rPr>
              <a:t>q</a:t>
            </a:r>
            <a:endParaRPr lang="en-US" sz="3600" dirty="0"/>
          </a:p>
        </p:txBody>
      </p:sp>
      <p:grpSp>
        <p:nvGrpSpPr>
          <p:cNvPr id="12" name="Group 11">
            <a:extLst>
              <a:ext uri="{FF2B5EF4-FFF2-40B4-BE49-F238E27FC236}">
                <a16:creationId xmlns:a16="http://schemas.microsoft.com/office/drawing/2014/main" id="{FBC11D97-1361-AE4C-8BBC-07392CEFFAB8}"/>
              </a:ext>
            </a:extLst>
          </p:cNvPr>
          <p:cNvGrpSpPr/>
          <p:nvPr/>
        </p:nvGrpSpPr>
        <p:grpSpPr>
          <a:xfrm>
            <a:off x="9025931" y="2577384"/>
            <a:ext cx="2904564" cy="2079402"/>
            <a:chOff x="9025931" y="2577384"/>
            <a:chExt cx="2904564" cy="2079402"/>
          </a:xfrm>
        </p:grpSpPr>
        <p:grpSp>
          <p:nvGrpSpPr>
            <p:cNvPr id="19" name="Group 18">
              <a:extLst>
                <a:ext uri="{FF2B5EF4-FFF2-40B4-BE49-F238E27FC236}">
                  <a16:creationId xmlns:a16="http://schemas.microsoft.com/office/drawing/2014/main" id="{7FCF7BCF-AB73-8046-8FC9-E26AEEE58A5E}"/>
                </a:ext>
              </a:extLst>
            </p:cNvPr>
            <p:cNvGrpSpPr/>
            <p:nvPr/>
          </p:nvGrpSpPr>
          <p:grpSpPr>
            <a:xfrm>
              <a:off x="9025931" y="2577384"/>
              <a:ext cx="2904564" cy="2079402"/>
              <a:chOff x="9025931" y="2577384"/>
              <a:chExt cx="2904564" cy="2079402"/>
            </a:xfrm>
          </p:grpSpPr>
          <p:sp>
            <p:nvSpPr>
              <p:cNvPr id="24" name="Rectangle 23">
                <a:extLst>
                  <a:ext uri="{FF2B5EF4-FFF2-40B4-BE49-F238E27FC236}">
                    <a16:creationId xmlns:a16="http://schemas.microsoft.com/office/drawing/2014/main" id="{BCC78674-95B3-F149-BF53-2C54227E58FE}"/>
                  </a:ext>
                </a:extLst>
              </p:cNvPr>
              <p:cNvSpPr/>
              <p:nvPr/>
            </p:nvSpPr>
            <p:spPr>
              <a:xfrm>
                <a:off x="10085157" y="4010455"/>
                <a:ext cx="1414170" cy="646331"/>
              </a:xfrm>
              <a:prstGeom prst="rect">
                <a:avLst/>
              </a:prstGeom>
            </p:spPr>
            <p:txBody>
              <a:bodyPr wrap="none">
                <a:spAutoFit/>
              </a:bodyPr>
              <a:lstStyle/>
              <a:p>
                <a:r>
                  <a:rPr lang="en-US" sz="3600" dirty="0">
                    <a:latin typeface="Comic Sans MS" panose="030F0902030302020204" pitchFamily="66" charset="0"/>
                  </a:rPr>
                  <a:t>0 or 1</a:t>
                </a:r>
              </a:p>
            </p:txBody>
          </p:sp>
          <p:sp>
            <p:nvSpPr>
              <p:cNvPr id="28" name="Rounded Rectangular Callout 27">
                <a:extLst>
                  <a:ext uri="{FF2B5EF4-FFF2-40B4-BE49-F238E27FC236}">
                    <a16:creationId xmlns:a16="http://schemas.microsoft.com/office/drawing/2014/main" id="{6CD3F46D-26AC-8042-AB8E-B0ABD121F8C2}"/>
                  </a:ext>
                </a:extLst>
              </p:cNvPr>
              <p:cNvSpPr/>
              <p:nvPr/>
            </p:nvSpPr>
            <p:spPr>
              <a:xfrm>
                <a:off x="9025931" y="2577384"/>
                <a:ext cx="2904564" cy="1258365"/>
              </a:xfrm>
              <a:prstGeom prst="wedgeRoundRectCallout">
                <a:avLst>
                  <a:gd name="adj1" fmla="val 2312"/>
                  <a:gd name="adj2" fmla="val 74822"/>
                  <a:gd name="adj3" fmla="val 16667"/>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2">
                        <a:lumMod val="75000"/>
                      </a:schemeClr>
                    </a:solidFill>
                    <a:latin typeface="Comic Sans MS" panose="030F0902030302020204" pitchFamily="66" charset="0"/>
                  </a:rPr>
                  <a:t>BIT:</a:t>
                </a:r>
              </a:p>
              <a:p>
                <a:pPr algn="ctr"/>
                <a:r>
                  <a:rPr lang="en-US" sz="2400" dirty="0">
                    <a:solidFill>
                      <a:schemeClr val="tx2">
                        <a:lumMod val="75000"/>
                      </a:schemeClr>
                    </a:solidFill>
                    <a:latin typeface="Comic Sans MS" panose="030F0902030302020204" pitchFamily="66" charset="0"/>
                  </a:rPr>
                  <a:t>result of the computation</a:t>
                </a:r>
              </a:p>
            </p:txBody>
          </p:sp>
        </p:grpSp>
        <p:sp>
          <p:nvSpPr>
            <p:cNvPr id="20" name="Rectangle 19">
              <a:extLst>
                <a:ext uri="{FF2B5EF4-FFF2-40B4-BE49-F238E27FC236}">
                  <a16:creationId xmlns:a16="http://schemas.microsoft.com/office/drawing/2014/main" id="{D8BFAEBE-B76F-8443-B490-506A015DB7E9}"/>
                </a:ext>
              </a:extLst>
            </p:cNvPr>
            <p:cNvSpPr/>
            <p:nvPr/>
          </p:nvSpPr>
          <p:spPr>
            <a:xfrm>
              <a:off x="9606254" y="3637268"/>
              <a:ext cx="425116" cy="646331"/>
            </a:xfrm>
            <a:prstGeom prst="rect">
              <a:avLst/>
            </a:prstGeom>
          </p:spPr>
          <p:txBody>
            <a:bodyPr wrap="none">
              <a:spAutoFit/>
            </a:bodyPr>
            <a:lstStyle/>
            <a:p>
              <a:r>
                <a:rPr lang="en-US" sz="3600" dirty="0">
                  <a:latin typeface="Comic Sans MS" panose="030F0902030302020204" pitchFamily="66" charset="0"/>
                </a:rPr>
                <a:t>c</a:t>
              </a:r>
              <a:endParaRPr lang="en-US" sz="3600" dirty="0"/>
            </a:p>
          </p:txBody>
        </p:sp>
      </p:grpSp>
      <p:grpSp>
        <p:nvGrpSpPr>
          <p:cNvPr id="15" name="Group 14">
            <a:extLst>
              <a:ext uri="{FF2B5EF4-FFF2-40B4-BE49-F238E27FC236}">
                <a16:creationId xmlns:a16="http://schemas.microsoft.com/office/drawing/2014/main" id="{B9CEC64D-5D77-BF45-A624-68DB82FABDEA}"/>
              </a:ext>
            </a:extLst>
          </p:cNvPr>
          <p:cNvGrpSpPr/>
          <p:nvPr/>
        </p:nvGrpSpPr>
        <p:grpSpPr>
          <a:xfrm>
            <a:off x="2348292" y="1077929"/>
            <a:ext cx="4231538" cy="4763658"/>
            <a:chOff x="2348292" y="1077929"/>
            <a:chExt cx="4231538" cy="4763658"/>
          </a:xfrm>
        </p:grpSpPr>
        <p:pic>
          <p:nvPicPr>
            <p:cNvPr id="9" name="Picture 8">
              <a:extLst>
                <a:ext uri="{FF2B5EF4-FFF2-40B4-BE49-F238E27FC236}">
                  <a16:creationId xmlns:a16="http://schemas.microsoft.com/office/drawing/2014/main" id="{4EBB5012-4A8A-514C-BD32-A0A17B868E80}"/>
                </a:ext>
              </a:extLst>
            </p:cNvPr>
            <p:cNvPicPr>
              <a:picLocks noChangeAspect="1"/>
            </p:cNvPicPr>
            <p:nvPr/>
          </p:nvPicPr>
          <p:blipFill>
            <a:blip r:embed="rId5"/>
            <a:stretch>
              <a:fillRect/>
            </a:stretch>
          </p:blipFill>
          <p:spPr>
            <a:xfrm>
              <a:off x="3570405" y="3666468"/>
              <a:ext cx="1460571" cy="1440000"/>
            </a:xfrm>
            <a:prstGeom prst="rect">
              <a:avLst/>
            </a:prstGeom>
          </p:spPr>
        </p:pic>
        <p:grpSp>
          <p:nvGrpSpPr>
            <p:cNvPr id="10" name="Group 9">
              <a:extLst>
                <a:ext uri="{FF2B5EF4-FFF2-40B4-BE49-F238E27FC236}">
                  <a16:creationId xmlns:a16="http://schemas.microsoft.com/office/drawing/2014/main" id="{F10A66BA-F52A-1A42-A7F1-A74A14112509}"/>
                </a:ext>
              </a:extLst>
            </p:cNvPr>
            <p:cNvGrpSpPr/>
            <p:nvPr/>
          </p:nvGrpSpPr>
          <p:grpSpPr>
            <a:xfrm>
              <a:off x="2348292" y="1077929"/>
              <a:ext cx="4231538" cy="4763658"/>
              <a:chOff x="2348292" y="1077929"/>
              <a:chExt cx="4231538" cy="4763658"/>
            </a:xfrm>
          </p:grpSpPr>
          <p:sp>
            <p:nvSpPr>
              <p:cNvPr id="25" name="Rounded Rectangular Callout 24">
                <a:extLst>
                  <a:ext uri="{FF2B5EF4-FFF2-40B4-BE49-F238E27FC236}">
                    <a16:creationId xmlns:a16="http://schemas.microsoft.com/office/drawing/2014/main" id="{5B8187D5-52E3-7B48-909C-C940CDFD9C11}"/>
                  </a:ext>
                </a:extLst>
              </p:cNvPr>
              <p:cNvSpPr/>
              <p:nvPr/>
            </p:nvSpPr>
            <p:spPr>
              <a:xfrm>
                <a:off x="3042749" y="1077929"/>
                <a:ext cx="3537081" cy="1713818"/>
              </a:xfrm>
              <a:prstGeom prst="wedgeRoundRectCallout">
                <a:avLst>
                  <a:gd name="adj1" fmla="val -23499"/>
                  <a:gd name="adj2" fmla="val 93106"/>
                  <a:gd name="adj3" fmla="val 16667"/>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2">
                        <a:lumMod val="75000"/>
                      </a:schemeClr>
                    </a:solidFill>
                    <a:latin typeface="Comic Sans MS" panose="030F0902030302020204" pitchFamily="66" charset="0"/>
                  </a:rPr>
                  <a:t>QUANTUM GATE:</a:t>
                </a:r>
              </a:p>
              <a:p>
                <a:pPr algn="ctr"/>
                <a:r>
                  <a:rPr lang="en-US" sz="2400" dirty="0">
                    <a:solidFill>
                      <a:schemeClr val="tx2">
                        <a:lumMod val="75000"/>
                      </a:schemeClr>
                    </a:solidFill>
                    <a:latin typeface="Comic Sans MS" panose="030F0902030302020204" pitchFamily="66" charset="0"/>
                  </a:rPr>
                  <a:t>unit of processing</a:t>
                </a:r>
              </a:p>
            </p:txBody>
          </p:sp>
          <p:sp>
            <p:nvSpPr>
              <p:cNvPr id="5" name="TextBox 4">
                <a:extLst>
                  <a:ext uri="{FF2B5EF4-FFF2-40B4-BE49-F238E27FC236}">
                    <a16:creationId xmlns:a16="http://schemas.microsoft.com/office/drawing/2014/main" id="{06D15E9D-6C46-A84F-95CC-ED3837336779}"/>
                  </a:ext>
                </a:extLst>
              </p:cNvPr>
              <p:cNvSpPr txBox="1"/>
              <p:nvPr/>
            </p:nvSpPr>
            <p:spPr>
              <a:xfrm>
                <a:off x="3865807" y="3851518"/>
                <a:ext cx="835485" cy="1107996"/>
              </a:xfrm>
              <a:prstGeom prst="rect">
                <a:avLst/>
              </a:prstGeom>
              <a:noFill/>
            </p:spPr>
            <p:txBody>
              <a:bodyPr wrap="none" rtlCol="0">
                <a:spAutoFit/>
              </a:bodyPr>
              <a:lstStyle/>
              <a:p>
                <a:r>
                  <a:rPr lang="en-US" sz="6600" dirty="0">
                    <a:latin typeface="Comic Sans MS" panose="030F0902030302020204" pitchFamily="66" charset="0"/>
                  </a:rPr>
                  <a:t>H</a:t>
                </a:r>
              </a:p>
            </p:txBody>
          </p:sp>
          <p:cxnSp>
            <p:nvCxnSpPr>
              <p:cNvPr id="21" name="Straight Arrow Connector 20">
                <a:extLst>
                  <a:ext uri="{FF2B5EF4-FFF2-40B4-BE49-F238E27FC236}">
                    <a16:creationId xmlns:a16="http://schemas.microsoft.com/office/drawing/2014/main" id="{F13E1BB9-3348-8B44-B20F-75B8128A9D12}"/>
                  </a:ext>
                </a:extLst>
              </p:cNvPr>
              <p:cNvCxnSpPr>
                <a:cxnSpLocks/>
              </p:cNvCxnSpPr>
              <p:nvPr/>
            </p:nvCxnSpPr>
            <p:spPr>
              <a:xfrm>
                <a:off x="2524767" y="5833369"/>
                <a:ext cx="2035943" cy="0"/>
              </a:xfrm>
              <a:prstGeom prst="straightConnector1">
                <a:avLst/>
              </a:prstGeom>
              <a:ln w="38100" cap="rnd">
                <a:solidFill>
                  <a:schemeClr val="bg1">
                    <a:lumMod val="50000"/>
                  </a:schemeClr>
                </a:solidFill>
                <a:prstDash val="dash"/>
                <a:tailEnd type="arrow" w="lg" len="lg"/>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FF2E51B-6805-C843-9C4F-953D560E88AF}"/>
                  </a:ext>
                </a:extLst>
              </p:cNvPr>
              <p:cNvSpPr txBox="1"/>
              <p:nvPr/>
            </p:nvSpPr>
            <p:spPr>
              <a:xfrm>
                <a:off x="2348292" y="5379922"/>
                <a:ext cx="713657" cy="461665"/>
              </a:xfrm>
              <a:prstGeom prst="rect">
                <a:avLst/>
              </a:prstGeom>
              <a:noFill/>
            </p:spPr>
            <p:txBody>
              <a:bodyPr wrap="none" rtlCol="0">
                <a:spAutoFit/>
              </a:bodyPr>
              <a:lstStyle/>
              <a:p>
                <a:r>
                  <a:rPr lang="en-US" sz="2400" i="1" dirty="0">
                    <a:latin typeface="Times New Roman" panose="02020603050405020304" pitchFamily="18" charset="0"/>
                    <a:cs typeface="Times New Roman" panose="02020603050405020304" pitchFamily="18" charset="0"/>
                  </a:rPr>
                  <a:t>time</a:t>
                </a:r>
              </a:p>
            </p:txBody>
          </p:sp>
        </p:grpSp>
      </p:grpSp>
      <p:sp>
        <p:nvSpPr>
          <p:cNvPr id="30" name="TextBox 29">
            <a:extLst>
              <a:ext uri="{FF2B5EF4-FFF2-40B4-BE49-F238E27FC236}">
                <a16:creationId xmlns:a16="http://schemas.microsoft.com/office/drawing/2014/main" id="{933D47BC-7712-B049-8948-2063105FC535}"/>
              </a:ext>
            </a:extLst>
          </p:cNvPr>
          <p:cNvSpPr txBox="1"/>
          <p:nvPr/>
        </p:nvSpPr>
        <p:spPr>
          <a:xfrm>
            <a:off x="5906700" y="5432747"/>
            <a:ext cx="5505650" cy="1077218"/>
          </a:xfrm>
          <a:prstGeom prst="rect">
            <a:avLst/>
          </a:prstGeom>
          <a:solidFill>
            <a:schemeClr val="accent4">
              <a:lumMod val="40000"/>
              <a:lumOff val="60000"/>
            </a:schemeClr>
          </a:solidFill>
        </p:spPr>
        <p:txBody>
          <a:bodyPr wrap="square" rtlCol="0">
            <a:spAutoFit/>
          </a:bodyPr>
          <a:lstStyle/>
          <a:p>
            <a:r>
              <a:rPr lang="en-US" sz="3200" dirty="0">
                <a:solidFill>
                  <a:srgbClr val="C00000"/>
                </a:solidFill>
                <a:latin typeface="Andale Mono" panose="020B0509000000000004" pitchFamily="49" charset="0"/>
              </a:rPr>
              <a:t>h</a:t>
            </a:r>
            <a:r>
              <a:rPr lang="en-US" sz="3200" dirty="0">
                <a:latin typeface="Andale Mono" panose="020B0509000000000004" pitchFamily="49" charset="0"/>
              </a:rPr>
              <a:t> q;</a:t>
            </a:r>
            <a:endParaRPr lang="en-US" sz="3200" dirty="0">
              <a:solidFill>
                <a:srgbClr val="C00000"/>
              </a:solidFill>
              <a:latin typeface="Andale Mono" panose="020B0509000000000004" pitchFamily="49" charset="0"/>
            </a:endParaRPr>
          </a:p>
          <a:p>
            <a:r>
              <a:rPr lang="en-US" sz="3200" dirty="0">
                <a:solidFill>
                  <a:srgbClr val="0000FF"/>
                </a:solidFill>
                <a:latin typeface="Andale Mono" panose="020B0509000000000004" pitchFamily="49" charset="0"/>
              </a:rPr>
              <a:t>c</a:t>
            </a:r>
            <a:r>
              <a:rPr lang="en-US" sz="3200" dirty="0">
                <a:solidFill>
                  <a:srgbClr val="C00000"/>
                </a:solidFill>
                <a:latin typeface="Andale Mono" panose="020B0509000000000004" pitchFamily="49" charset="0"/>
              </a:rPr>
              <a:t> </a:t>
            </a:r>
            <a:r>
              <a:rPr lang="en-US" sz="3200" dirty="0">
                <a:latin typeface="Andale Mono" panose="020B0509000000000004" pitchFamily="49" charset="0"/>
              </a:rPr>
              <a:t>=</a:t>
            </a:r>
            <a:r>
              <a:rPr lang="en-US" sz="3200" dirty="0">
                <a:solidFill>
                  <a:srgbClr val="C00000"/>
                </a:solidFill>
                <a:latin typeface="Andale Mono" panose="020B0509000000000004" pitchFamily="49" charset="0"/>
              </a:rPr>
              <a:t> measure</a:t>
            </a:r>
            <a:r>
              <a:rPr lang="en-US" sz="3200" dirty="0">
                <a:latin typeface="Andale Mono" panose="020B0509000000000004" pitchFamily="49" charset="0"/>
              </a:rPr>
              <a:t> </a:t>
            </a:r>
            <a:r>
              <a:rPr lang="en-US" sz="3200" dirty="0">
                <a:solidFill>
                  <a:srgbClr val="0000FF"/>
                </a:solidFill>
                <a:latin typeface="Andale Mono" panose="020B0509000000000004" pitchFamily="49" charset="0"/>
              </a:rPr>
              <a:t>q</a:t>
            </a:r>
            <a:r>
              <a:rPr lang="en-US" sz="3200" dirty="0">
                <a:latin typeface="Andale Mono" panose="020B0509000000000004" pitchFamily="49" charset="0"/>
              </a:rPr>
              <a:t>;</a:t>
            </a:r>
          </a:p>
        </p:txBody>
      </p:sp>
    </p:spTree>
    <p:extLst>
      <p:ext uri="{BB962C8B-B14F-4D97-AF65-F5344CB8AC3E}">
        <p14:creationId xmlns:p14="http://schemas.microsoft.com/office/powerpoint/2010/main" val="2553415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dissolve">
                                      <p:cBhvr>
                                        <p:cTn id="2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6A0436-CB4C-F14F-957E-C6D5DDBED949}"/>
              </a:ext>
            </a:extLst>
          </p:cNvPr>
          <p:cNvSpPr>
            <a:spLocks noGrp="1"/>
          </p:cNvSpPr>
          <p:nvPr>
            <p:ph type="title"/>
          </p:nvPr>
        </p:nvSpPr>
        <p:spPr/>
        <p:txBody>
          <a:bodyPr/>
          <a:lstStyle/>
          <a:p>
            <a:r>
              <a:rPr lang="en-US" dirty="0"/>
              <a:t>Quantum Gates</a:t>
            </a:r>
          </a:p>
        </p:txBody>
      </p:sp>
      <p:sp>
        <p:nvSpPr>
          <p:cNvPr id="29" name="TextBox 28">
            <a:extLst>
              <a:ext uri="{FF2B5EF4-FFF2-40B4-BE49-F238E27FC236}">
                <a16:creationId xmlns:a16="http://schemas.microsoft.com/office/drawing/2014/main" id="{A6C13D8E-CDEF-564D-B389-809F5707BDBD}"/>
              </a:ext>
            </a:extLst>
          </p:cNvPr>
          <p:cNvSpPr txBox="1"/>
          <p:nvPr/>
        </p:nvSpPr>
        <p:spPr>
          <a:xfrm>
            <a:off x="9918600" y="2215052"/>
            <a:ext cx="1055097" cy="707886"/>
          </a:xfrm>
          <a:prstGeom prst="rect">
            <a:avLst/>
          </a:prstGeom>
          <a:noFill/>
        </p:spPr>
        <p:txBody>
          <a:bodyPr wrap="none" rtlCol="0">
            <a:spAutoFit/>
          </a:bodyPr>
          <a:lstStyle/>
          <a:p>
            <a:r>
              <a:rPr lang="en-US" sz="4000" dirty="0">
                <a:latin typeface="Comic Sans MS" panose="030F0902030302020204" pitchFamily="66" charset="0"/>
              </a:rPr>
              <a:t>h q;</a:t>
            </a:r>
          </a:p>
        </p:txBody>
      </p:sp>
      <p:pic>
        <p:nvPicPr>
          <p:cNvPr id="32" name="Picture 31">
            <a:extLst>
              <a:ext uri="{FF2B5EF4-FFF2-40B4-BE49-F238E27FC236}">
                <a16:creationId xmlns:a16="http://schemas.microsoft.com/office/drawing/2014/main" id="{ABF5CC11-EDCB-CF44-8CB6-E74FE913CA94}"/>
              </a:ext>
            </a:extLst>
          </p:cNvPr>
          <p:cNvPicPr>
            <a:picLocks/>
          </p:cNvPicPr>
          <p:nvPr/>
        </p:nvPicPr>
        <p:blipFill>
          <a:blip r:embed="rId3"/>
          <a:stretch>
            <a:fillRect/>
          </a:stretch>
        </p:blipFill>
        <p:spPr>
          <a:xfrm rot="5400000" flipV="1">
            <a:off x="8186458" y="2231267"/>
            <a:ext cx="1747039" cy="46800"/>
          </a:xfrm>
          <a:prstGeom prst="rect">
            <a:avLst/>
          </a:prstGeom>
        </p:spPr>
      </p:pic>
      <p:pic>
        <p:nvPicPr>
          <p:cNvPr id="35" name="Picture 34">
            <a:extLst>
              <a:ext uri="{FF2B5EF4-FFF2-40B4-BE49-F238E27FC236}">
                <a16:creationId xmlns:a16="http://schemas.microsoft.com/office/drawing/2014/main" id="{F41BA9B1-1BA0-6D40-93C6-24A63908A634}"/>
              </a:ext>
            </a:extLst>
          </p:cNvPr>
          <p:cNvPicPr>
            <a:picLocks/>
          </p:cNvPicPr>
          <p:nvPr/>
        </p:nvPicPr>
        <p:blipFill>
          <a:blip r:embed="rId3"/>
          <a:stretch>
            <a:fillRect/>
          </a:stretch>
        </p:blipFill>
        <p:spPr>
          <a:xfrm flipV="1">
            <a:off x="304873" y="1889083"/>
            <a:ext cx="11554987" cy="45719"/>
          </a:xfrm>
          <a:prstGeom prst="rect">
            <a:avLst/>
          </a:prstGeom>
        </p:spPr>
      </p:pic>
      <p:pic>
        <p:nvPicPr>
          <p:cNvPr id="38" name="Picture 37">
            <a:extLst>
              <a:ext uri="{FF2B5EF4-FFF2-40B4-BE49-F238E27FC236}">
                <a16:creationId xmlns:a16="http://schemas.microsoft.com/office/drawing/2014/main" id="{E145BDC2-447F-9C40-BB5A-4715743B09C7}"/>
              </a:ext>
            </a:extLst>
          </p:cNvPr>
          <p:cNvPicPr>
            <a:picLocks/>
          </p:cNvPicPr>
          <p:nvPr/>
        </p:nvPicPr>
        <p:blipFill>
          <a:blip r:embed="rId3"/>
          <a:stretch>
            <a:fillRect/>
          </a:stretch>
        </p:blipFill>
        <p:spPr>
          <a:xfrm rot="5400000" flipV="1">
            <a:off x="3850741" y="2280288"/>
            <a:ext cx="1747039" cy="46800"/>
          </a:xfrm>
          <a:prstGeom prst="rect">
            <a:avLst/>
          </a:prstGeom>
        </p:spPr>
      </p:pic>
      <p:sp>
        <p:nvSpPr>
          <p:cNvPr id="39" name="TextBox 38">
            <a:extLst>
              <a:ext uri="{FF2B5EF4-FFF2-40B4-BE49-F238E27FC236}">
                <a16:creationId xmlns:a16="http://schemas.microsoft.com/office/drawing/2014/main" id="{20B812A1-D42C-4246-B0FF-FA958059ACD8}"/>
              </a:ext>
            </a:extLst>
          </p:cNvPr>
          <p:cNvSpPr txBox="1"/>
          <p:nvPr/>
        </p:nvSpPr>
        <p:spPr>
          <a:xfrm>
            <a:off x="3615187" y="2287057"/>
            <a:ext cx="579005" cy="707886"/>
          </a:xfrm>
          <a:prstGeom prst="rect">
            <a:avLst/>
          </a:prstGeom>
          <a:noFill/>
        </p:spPr>
        <p:txBody>
          <a:bodyPr wrap="none" rtlCol="0">
            <a:spAutoFit/>
          </a:bodyPr>
          <a:lstStyle/>
          <a:p>
            <a:r>
              <a:rPr lang="en-US" sz="4000" dirty="0">
                <a:latin typeface="Comic Sans MS" panose="030F0902030302020204" pitchFamily="66" charset="0"/>
              </a:rPr>
              <a:t>H</a:t>
            </a:r>
          </a:p>
        </p:txBody>
      </p:sp>
      <p:sp>
        <p:nvSpPr>
          <p:cNvPr id="34" name="TextBox 33">
            <a:extLst>
              <a:ext uri="{FF2B5EF4-FFF2-40B4-BE49-F238E27FC236}">
                <a16:creationId xmlns:a16="http://schemas.microsoft.com/office/drawing/2014/main" id="{BBEF2A5F-C045-3F4E-8D1A-F78A83AC5C57}"/>
              </a:ext>
            </a:extLst>
          </p:cNvPr>
          <p:cNvSpPr txBox="1"/>
          <p:nvPr/>
        </p:nvSpPr>
        <p:spPr>
          <a:xfrm>
            <a:off x="976106" y="1299467"/>
            <a:ext cx="10728877" cy="523220"/>
          </a:xfrm>
          <a:prstGeom prst="rect">
            <a:avLst/>
          </a:prstGeom>
          <a:noFill/>
        </p:spPr>
        <p:txBody>
          <a:bodyPr wrap="square" rtlCol="0">
            <a:spAutoFit/>
          </a:bodyPr>
          <a:lstStyle/>
          <a:p>
            <a:r>
              <a:rPr lang="en-US" sz="2800" dirty="0">
                <a:latin typeface="Comic Sans MS" panose="030F0902030302020204" pitchFamily="66" charset="0"/>
              </a:rPr>
              <a:t> symbol            name                operator                 instruction</a:t>
            </a:r>
          </a:p>
        </p:txBody>
      </p:sp>
      <p:pic>
        <p:nvPicPr>
          <p:cNvPr id="28" name="Picture 27">
            <a:extLst>
              <a:ext uri="{FF2B5EF4-FFF2-40B4-BE49-F238E27FC236}">
                <a16:creationId xmlns:a16="http://schemas.microsoft.com/office/drawing/2014/main" id="{BE83015E-6439-9F42-A149-65B74EF3502D}"/>
              </a:ext>
            </a:extLst>
          </p:cNvPr>
          <p:cNvPicPr>
            <a:picLocks/>
          </p:cNvPicPr>
          <p:nvPr/>
        </p:nvPicPr>
        <p:blipFill>
          <a:blip r:embed="rId3"/>
          <a:stretch>
            <a:fillRect/>
          </a:stretch>
        </p:blipFill>
        <p:spPr>
          <a:xfrm rot="5400000" flipV="1">
            <a:off x="2328360" y="2280288"/>
            <a:ext cx="1747039" cy="46800"/>
          </a:xfrm>
          <a:prstGeom prst="rect">
            <a:avLst/>
          </a:prstGeom>
        </p:spPr>
      </p:pic>
      <p:grpSp>
        <p:nvGrpSpPr>
          <p:cNvPr id="63" name="Group 62">
            <a:extLst>
              <a:ext uri="{FF2B5EF4-FFF2-40B4-BE49-F238E27FC236}">
                <a16:creationId xmlns:a16="http://schemas.microsoft.com/office/drawing/2014/main" id="{5B0FDA9B-104E-F34D-AAEA-575CF454004D}"/>
              </a:ext>
            </a:extLst>
          </p:cNvPr>
          <p:cNvGrpSpPr/>
          <p:nvPr/>
        </p:nvGrpSpPr>
        <p:grpSpPr>
          <a:xfrm>
            <a:off x="490309" y="2050463"/>
            <a:ext cx="2502570" cy="1265557"/>
            <a:chOff x="291526" y="2133456"/>
            <a:chExt cx="2502570" cy="1265557"/>
          </a:xfrm>
        </p:grpSpPr>
        <p:pic>
          <p:nvPicPr>
            <p:cNvPr id="24" name="Picture 23">
              <a:extLst>
                <a:ext uri="{FF2B5EF4-FFF2-40B4-BE49-F238E27FC236}">
                  <a16:creationId xmlns:a16="http://schemas.microsoft.com/office/drawing/2014/main" id="{9206362B-73A3-3443-B9BE-74199DFB349E}"/>
                </a:ext>
              </a:extLst>
            </p:cNvPr>
            <p:cNvPicPr>
              <a:picLocks/>
            </p:cNvPicPr>
            <p:nvPr/>
          </p:nvPicPr>
          <p:blipFill>
            <a:blip r:embed="rId3"/>
            <a:stretch>
              <a:fillRect/>
            </a:stretch>
          </p:blipFill>
          <p:spPr>
            <a:xfrm flipV="1">
              <a:off x="517221" y="2751216"/>
              <a:ext cx="2276875" cy="88438"/>
            </a:xfrm>
            <a:prstGeom prst="rect">
              <a:avLst/>
            </a:prstGeom>
          </p:spPr>
        </p:pic>
        <p:pic>
          <p:nvPicPr>
            <p:cNvPr id="48" name="Picture 47">
              <a:extLst>
                <a:ext uri="{FF2B5EF4-FFF2-40B4-BE49-F238E27FC236}">
                  <a16:creationId xmlns:a16="http://schemas.microsoft.com/office/drawing/2014/main" id="{F10B6A84-E589-F74C-80D5-2F16F48A7DFB}"/>
                </a:ext>
              </a:extLst>
            </p:cNvPr>
            <p:cNvPicPr>
              <a:picLocks noChangeAspect="1"/>
            </p:cNvPicPr>
            <p:nvPr/>
          </p:nvPicPr>
          <p:blipFill>
            <a:blip r:embed="rId4"/>
            <a:stretch>
              <a:fillRect/>
            </a:stretch>
          </p:blipFill>
          <p:spPr>
            <a:xfrm>
              <a:off x="1089403" y="2133456"/>
              <a:ext cx="1283636" cy="1265557"/>
            </a:xfrm>
            <a:prstGeom prst="rect">
              <a:avLst/>
            </a:prstGeom>
          </p:spPr>
        </p:pic>
        <p:sp>
          <p:nvSpPr>
            <p:cNvPr id="10" name="TextBox 9">
              <a:extLst>
                <a:ext uri="{FF2B5EF4-FFF2-40B4-BE49-F238E27FC236}">
                  <a16:creationId xmlns:a16="http://schemas.microsoft.com/office/drawing/2014/main" id="{1111028D-23A7-3E4D-978A-1A4C4BA5AC37}"/>
                </a:ext>
              </a:extLst>
            </p:cNvPr>
            <p:cNvSpPr txBox="1"/>
            <p:nvPr/>
          </p:nvSpPr>
          <p:spPr>
            <a:xfrm>
              <a:off x="1300140" y="2265977"/>
              <a:ext cx="755335" cy="984885"/>
            </a:xfrm>
            <a:prstGeom prst="rect">
              <a:avLst/>
            </a:prstGeom>
            <a:noFill/>
          </p:spPr>
          <p:txBody>
            <a:bodyPr wrap="none" rtlCol="0">
              <a:spAutoFit/>
            </a:bodyPr>
            <a:lstStyle/>
            <a:p>
              <a:r>
                <a:rPr lang="en-US" sz="5800" dirty="0">
                  <a:latin typeface="Comic Sans MS" panose="030F0902030302020204" pitchFamily="66" charset="0"/>
                </a:rPr>
                <a:t>H</a:t>
              </a:r>
            </a:p>
          </p:txBody>
        </p:sp>
        <p:sp>
          <p:nvSpPr>
            <p:cNvPr id="61" name="TextBox 60">
              <a:extLst>
                <a:ext uri="{FF2B5EF4-FFF2-40B4-BE49-F238E27FC236}">
                  <a16:creationId xmlns:a16="http://schemas.microsoft.com/office/drawing/2014/main" id="{077C0583-D241-124F-8DD3-2025F975F3BA}"/>
                </a:ext>
              </a:extLst>
            </p:cNvPr>
            <p:cNvSpPr txBox="1"/>
            <p:nvPr/>
          </p:nvSpPr>
          <p:spPr>
            <a:xfrm>
              <a:off x="291526" y="2262328"/>
              <a:ext cx="344966" cy="461665"/>
            </a:xfrm>
            <a:prstGeom prst="rect">
              <a:avLst/>
            </a:prstGeom>
            <a:noFill/>
          </p:spPr>
          <p:txBody>
            <a:bodyPr wrap="none" rtlCol="0">
              <a:spAutoFit/>
            </a:bodyPr>
            <a:lstStyle/>
            <a:p>
              <a:r>
                <a:rPr lang="en-US" sz="2400" dirty="0">
                  <a:latin typeface="Comic Sans MS" panose="030F0902030302020204" pitchFamily="66" charset="0"/>
                </a:rPr>
                <a:t>q</a:t>
              </a:r>
            </a:p>
          </p:txBody>
        </p:sp>
      </p:grpSp>
      <p:grpSp>
        <p:nvGrpSpPr>
          <p:cNvPr id="31" name="Group 30">
            <a:extLst>
              <a:ext uri="{FF2B5EF4-FFF2-40B4-BE49-F238E27FC236}">
                <a16:creationId xmlns:a16="http://schemas.microsoft.com/office/drawing/2014/main" id="{873EA5D5-913F-AB4D-A449-89238EAE54AF}"/>
              </a:ext>
            </a:extLst>
          </p:cNvPr>
          <p:cNvGrpSpPr/>
          <p:nvPr/>
        </p:nvGrpSpPr>
        <p:grpSpPr>
          <a:xfrm>
            <a:off x="6072010" y="2091713"/>
            <a:ext cx="1935463" cy="1221584"/>
            <a:chOff x="106090" y="2109727"/>
            <a:chExt cx="1935463" cy="1221584"/>
          </a:xfrm>
        </p:grpSpPr>
        <p:grpSp>
          <p:nvGrpSpPr>
            <p:cNvPr id="8" name="Group 7">
              <a:extLst>
                <a:ext uri="{FF2B5EF4-FFF2-40B4-BE49-F238E27FC236}">
                  <a16:creationId xmlns:a16="http://schemas.microsoft.com/office/drawing/2014/main" id="{72B7F507-BAC1-EE4D-B80C-F54CF2BBCE44}"/>
                </a:ext>
              </a:extLst>
            </p:cNvPr>
            <p:cNvGrpSpPr/>
            <p:nvPr/>
          </p:nvGrpSpPr>
          <p:grpSpPr>
            <a:xfrm>
              <a:off x="668538" y="2130982"/>
              <a:ext cx="1373015" cy="1200329"/>
              <a:chOff x="9675985" y="200479"/>
              <a:chExt cx="1373015" cy="1200329"/>
            </a:xfrm>
          </p:grpSpPr>
          <p:sp>
            <p:nvSpPr>
              <p:cNvPr id="30" name="Rectangle 29">
                <a:extLst>
                  <a:ext uri="{FF2B5EF4-FFF2-40B4-BE49-F238E27FC236}">
                    <a16:creationId xmlns:a16="http://schemas.microsoft.com/office/drawing/2014/main" id="{C419327C-1A85-724A-92CB-514A0DDD5203}"/>
                  </a:ext>
                </a:extLst>
              </p:cNvPr>
              <p:cNvSpPr/>
              <p:nvPr/>
            </p:nvSpPr>
            <p:spPr>
              <a:xfrm>
                <a:off x="9869426" y="200479"/>
                <a:ext cx="1179574" cy="1200329"/>
              </a:xfrm>
              <a:prstGeom prst="rect">
                <a:avLst/>
              </a:prstGeom>
            </p:spPr>
            <p:txBody>
              <a:bodyPr wrap="square">
                <a:spAutoFit/>
              </a:bodyPr>
              <a:lstStyle/>
              <a:p>
                <a:r>
                  <a:rPr lang="en-US" sz="3600" dirty="0">
                    <a:latin typeface="Comic Sans MS" panose="030F0902030302020204" pitchFamily="66" charset="0"/>
                  </a:rPr>
                  <a:t>1   1</a:t>
                </a:r>
              </a:p>
              <a:p>
                <a:r>
                  <a:rPr lang="en-US" sz="3600" dirty="0">
                    <a:latin typeface="Comic Sans MS" panose="030F0902030302020204" pitchFamily="66" charset="0"/>
                  </a:rPr>
                  <a:t>1  -1</a:t>
                </a:r>
              </a:p>
            </p:txBody>
          </p:sp>
          <p:grpSp>
            <p:nvGrpSpPr>
              <p:cNvPr id="7" name="Group 6">
                <a:extLst>
                  <a:ext uri="{FF2B5EF4-FFF2-40B4-BE49-F238E27FC236}">
                    <a16:creationId xmlns:a16="http://schemas.microsoft.com/office/drawing/2014/main" id="{569BAA81-2AE8-AA40-AA9F-EF080D77EE38}"/>
                  </a:ext>
                </a:extLst>
              </p:cNvPr>
              <p:cNvGrpSpPr/>
              <p:nvPr/>
            </p:nvGrpSpPr>
            <p:grpSpPr>
              <a:xfrm>
                <a:off x="9675985" y="274320"/>
                <a:ext cx="1351681" cy="1051560"/>
                <a:chOff x="9675985" y="274320"/>
                <a:chExt cx="1351681" cy="1051560"/>
              </a:xfrm>
            </p:grpSpPr>
            <p:sp>
              <p:nvSpPr>
                <p:cNvPr id="2" name="Freeform 1">
                  <a:extLst>
                    <a:ext uri="{FF2B5EF4-FFF2-40B4-BE49-F238E27FC236}">
                      <a16:creationId xmlns:a16="http://schemas.microsoft.com/office/drawing/2014/main" id="{41D62909-33A8-2F49-A1FB-57594158D80D}"/>
                    </a:ext>
                  </a:extLst>
                </p:cNvPr>
                <p:cNvSpPr/>
                <p:nvPr/>
              </p:nvSpPr>
              <p:spPr>
                <a:xfrm>
                  <a:off x="9675985" y="274320"/>
                  <a:ext cx="214775" cy="1051560"/>
                </a:xfrm>
                <a:custGeom>
                  <a:avLst/>
                  <a:gdLst>
                    <a:gd name="connsiteX0" fmla="*/ 138575 w 214775"/>
                    <a:gd name="connsiteY0" fmla="*/ 0 h 1051560"/>
                    <a:gd name="connsiteX1" fmla="*/ 1415 w 214775"/>
                    <a:gd name="connsiteY1" fmla="*/ 563880 h 1051560"/>
                    <a:gd name="connsiteX2" fmla="*/ 214775 w 214775"/>
                    <a:gd name="connsiteY2" fmla="*/ 1051560 h 1051560"/>
                  </a:gdLst>
                  <a:ahLst/>
                  <a:cxnLst>
                    <a:cxn ang="0">
                      <a:pos x="connsiteX0" y="connsiteY0"/>
                    </a:cxn>
                    <a:cxn ang="0">
                      <a:pos x="connsiteX1" y="connsiteY1"/>
                    </a:cxn>
                    <a:cxn ang="0">
                      <a:pos x="connsiteX2" y="connsiteY2"/>
                    </a:cxn>
                  </a:cxnLst>
                  <a:rect l="l" t="t" r="r" b="b"/>
                  <a:pathLst>
                    <a:path w="214775" h="1051560">
                      <a:moveTo>
                        <a:pt x="138575" y="0"/>
                      </a:moveTo>
                      <a:cubicBezTo>
                        <a:pt x="63645" y="194310"/>
                        <a:pt x="-11285" y="388620"/>
                        <a:pt x="1415" y="563880"/>
                      </a:cubicBezTo>
                      <a:cubicBezTo>
                        <a:pt x="14115" y="739140"/>
                        <a:pt x="114445" y="895350"/>
                        <a:pt x="214775" y="1051560"/>
                      </a:cubicBezTo>
                    </a:path>
                  </a:pathLst>
                </a:custGeom>
                <a:no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32">
                  <a:extLst>
                    <a:ext uri="{FF2B5EF4-FFF2-40B4-BE49-F238E27FC236}">
                      <a16:creationId xmlns:a16="http://schemas.microsoft.com/office/drawing/2014/main" id="{BB36442C-078B-3745-88CF-3914557020CA}"/>
                    </a:ext>
                  </a:extLst>
                </p:cNvPr>
                <p:cNvSpPr/>
                <p:nvPr/>
              </p:nvSpPr>
              <p:spPr>
                <a:xfrm flipH="1">
                  <a:off x="10812891" y="274320"/>
                  <a:ext cx="214775" cy="1051560"/>
                </a:xfrm>
                <a:custGeom>
                  <a:avLst/>
                  <a:gdLst>
                    <a:gd name="connsiteX0" fmla="*/ 138575 w 214775"/>
                    <a:gd name="connsiteY0" fmla="*/ 0 h 1051560"/>
                    <a:gd name="connsiteX1" fmla="*/ 1415 w 214775"/>
                    <a:gd name="connsiteY1" fmla="*/ 563880 h 1051560"/>
                    <a:gd name="connsiteX2" fmla="*/ 214775 w 214775"/>
                    <a:gd name="connsiteY2" fmla="*/ 1051560 h 1051560"/>
                  </a:gdLst>
                  <a:ahLst/>
                  <a:cxnLst>
                    <a:cxn ang="0">
                      <a:pos x="connsiteX0" y="connsiteY0"/>
                    </a:cxn>
                    <a:cxn ang="0">
                      <a:pos x="connsiteX1" y="connsiteY1"/>
                    </a:cxn>
                    <a:cxn ang="0">
                      <a:pos x="connsiteX2" y="connsiteY2"/>
                    </a:cxn>
                  </a:cxnLst>
                  <a:rect l="l" t="t" r="r" b="b"/>
                  <a:pathLst>
                    <a:path w="214775" h="1051560">
                      <a:moveTo>
                        <a:pt x="138575" y="0"/>
                      </a:moveTo>
                      <a:cubicBezTo>
                        <a:pt x="63645" y="194310"/>
                        <a:pt x="-11285" y="388620"/>
                        <a:pt x="1415" y="563880"/>
                      </a:cubicBezTo>
                      <a:cubicBezTo>
                        <a:pt x="14115" y="739140"/>
                        <a:pt x="114445" y="895350"/>
                        <a:pt x="214775" y="1051560"/>
                      </a:cubicBezTo>
                    </a:path>
                  </a:pathLst>
                </a:custGeom>
                <a:noFill/>
                <a:ln w="254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3" name="TextBox 12">
              <a:extLst>
                <a:ext uri="{FF2B5EF4-FFF2-40B4-BE49-F238E27FC236}">
                  <a16:creationId xmlns:a16="http://schemas.microsoft.com/office/drawing/2014/main" id="{E6B5A9D8-5CFB-4846-872E-A4E475BAC7CC}"/>
                </a:ext>
              </a:extLst>
            </p:cNvPr>
            <p:cNvSpPr txBox="1"/>
            <p:nvPr/>
          </p:nvSpPr>
          <p:spPr>
            <a:xfrm>
              <a:off x="180410" y="2109727"/>
              <a:ext cx="434734" cy="1138773"/>
            </a:xfrm>
            <a:prstGeom prst="rect">
              <a:avLst/>
            </a:prstGeom>
            <a:noFill/>
          </p:spPr>
          <p:txBody>
            <a:bodyPr wrap="none" rtlCol="0">
              <a:spAutoFit/>
            </a:bodyPr>
            <a:lstStyle/>
            <a:p>
              <a:r>
                <a:rPr lang="en-US" sz="3600" dirty="0">
                  <a:latin typeface="Comic Sans MS" panose="030F0902030302020204" pitchFamily="66" charset="0"/>
                </a:rPr>
                <a:t>1</a:t>
              </a:r>
            </a:p>
            <a:p>
              <a:r>
                <a:rPr lang="en-US" sz="3200" dirty="0">
                  <a:latin typeface="Comic Sans MS" panose="030F0902030302020204" pitchFamily="66" charset="0"/>
                </a:rPr>
                <a:t>2</a:t>
              </a:r>
            </a:p>
          </p:txBody>
        </p:sp>
        <p:cxnSp>
          <p:nvCxnSpPr>
            <p:cNvPr id="15" name="Straight Connector 14">
              <a:extLst>
                <a:ext uri="{FF2B5EF4-FFF2-40B4-BE49-F238E27FC236}">
                  <a16:creationId xmlns:a16="http://schemas.microsoft.com/office/drawing/2014/main" id="{78450E86-974D-7E43-8C5B-5131407CD260}"/>
                </a:ext>
              </a:extLst>
            </p:cNvPr>
            <p:cNvCxnSpPr>
              <a:cxnSpLocks/>
            </p:cNvCxnSpPr>
            <p:nvPr/>
          </p:nvCxnSpPr>
          <p:spPr>
            <a:xfrm>
              <a:off x="248011" y="2685214"/>
              <a:ext cx="310455" cy="843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Freeform 26">
              <a:extLst>
                <a:ext uri="{FF2B5EF4-FFF2-40B4-BE49-F238E27FC236}">
                  <a16:creationId xmlns:a16="http://schemas.microsoft.com/office/drawing/2014/main" id="{55CE9057-5247-6C46-AC63-7FC823CFD330}"/>
                </a:ext>
              </a:extLst>
            </p:cNvPr>
            <p:cNvSpPr/>
            <p:nvPr/>
          </p:nvSpPr>
          <p:spPr>
            <a:xfrm>
              <a:off x="106090" y="2748257"/>
              <a:ext cx="401127" cy="374883"/>
            </a:xfrm>
            <a:custGeom>
              <a:avLst/>
              <a:gdLst>
                <a:gd name="connsiteX0" fmla="*/ 0 w 439518"/>
                <a:gd name="connsiteY0" fmla="*/ 145018 h 403712"/>
                <a:gd name="connsiteX1" fmla="*/ 50519 w 439518"/>
                <a:gd name="connsiteY1" fmla="*/ 145018 h 403712"/>
                <a:gd name="connsiteX2" fmla="*/ 111142 w 439518"/>
                <a:gd name="connsiteY2" fmla="*/ 402667 h 403712"/>
                <a:gd name="connsiteX3" fmla="*/ 146506 w 439518"/>
                <a:gd name="connsiteY3" fmla="*/ 33876 h 403712"/>
                <a:gd name="connsiteX4" fmla="*/ 439518 w 439518"/>
                <a:gd name="connsiteY4" fmla="*/ 38928 h 403712"/>
                <a:gd name="connsiteX0" fmla="*/ 0 w 439518"/>
                <a:gd name="connsiteY0" fmla="*/ 121563 h 380257"/>
                <a:gd name="connsiteX1" fmla="*/ 50519 w 439518"/>
                <a:gd name="connsiteY1" fmla="*/ 121563 h 380257"/>
                <a:gd name="connsiteX2" fmla="*/ 111142 w 439518"/>
                <a:gd name="connsiteY2" fmla="*/ 379212 h 380257"/>
                <a:gd name="connsiteX3" fmla="*/ 146506 w 439518"/>
                <a:gd name="connsiteY3" fmla="*/ 10421 h 380257"/>
                <a:gd name="connsiteX4" fmla="*/ 439518 w 439518"/>
                <a:gd name="connsiteY4" fmla="*/ 15473 h 380257"/>
                <a:gd name="connsiteX0" fmla="*/ 0 w 439518"/>
                <a:gd name="connsiteY0" fmla="*/ 111153 h 369847"/>
                <a:gd name="connsiteX1" fmla="*/ 50519 w 439518"/>
                <a:gd name="connsiteY1" fmla="*/ 111153 h 369847"/>
                <a:gd name="connsiteX2" fmla="*/ 111142 w 439518"/>
                <a:gd name="connsiteY2" fmla="*/ 368802 h 369847"/>
                <a:gd name="connsiteX3" fmla="*/ 146506 w 439518"/>
                <a:gd name="connsiteY3" fmla="*/ 11 h 369847"/>
                <a:gd name="connsiteX4" fmla="*/ 439518 w 439518"/>
                <a:gd name="connsiteY4" fmla="*/ 5063 h 369847"/>
                <a:gd name="connsiteX0" fmla="*/ 0 w 401127"/>
                <a:gd name="connsiteY0" fmla="*/ 141139 h 399833"/>
                <a:gd name="connsiteX1" fmla="*/ 50519 w 401127"/>
                <a:gd name="connsiteY1" fmla="*/ 141139 h 399833"/>
                <a:gd name="connsiteX2" fmla="*/ 111142 w 401127"/>
                <a:gd name="connsiteY2" fmla="*/ 398788 h 399833"/>
                <a:gd name="connsiteX3" fmla="*/ 146506 w 401127"/>
                <a:gd name="connsiteY3" fmla="*/ 29997 h 399833"/>
                <a:gd name="connsiteX4" fmla="*/ 401127 w 401127"/>
                <a:gd name="connsiteY4" fmla="*/ 28069 h 399833"/>
                <a:gd name="connsiteX0" fmla="*/ 0 w 401127"/>
                <a:gd name="connsiteY0" fmla="*/ 116189 h 374883"/>
                <a:gd name="connsiteX1" fmla="*/ 50519 w 401127"/>
                <a:gd name="connsiteY1" fmla="*/ 116189 h 374883"/>
                <a:gd name="connsiteX2" fmla="*/ 111142 w 401127"/>
                <a:gd name="connsiteY2" fmla="*/ 373838 h 374883"/>
                <a:gd name="connsiteX3" fmla="*/ 146506 w 401127"/>
                <a:gd name="connsiteY3" fmla="*/ 5047 h 374883"/>
                <a:gd name="connsiteX4" fmla="*/ 401127 w 401127"/>
                <a:gd name="connsiteY4" fmla="*/ 3119 h 374883"/>
                <a:gd name="connsiteX0" fmla="*/ 0 w 401127"/>
                <a:gd name="connsiteY0" fmla="*/ 116189 h 374883"/>
                <a:gd name="connsiteX1" fmla="*/ 50519 w 401127"/>
                <a:gd name="connsiteY1" fmla="*/ 116189 h 374883"/>
                <a:gd name="connsiteX2" fmla="*/ 111142 w 401127"/>
                <a:gd name="connsiteY2" fmla="*/ 373838 h 374883"/>
                <a:gd name="connsiteX3" fmla="*/ 146506 w 401127"/>
                <a:gd name="connsiteY3" fmla="*/ 5047 h 374883"/>
                <a:gd name="connsiteX4" fmla="*/ 401127 w 401127"/>
                <a:gd name="connsiteY4" fmla="*/ 3119 h 374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127" h="374883">
                  <a:moveTo>
                    <a:pt x="0" y="116189"/>
                  </a:moveTo>
                  <a:cubicBezTo>
                    <a:pt x="61368" y="119148"/>
                    <a:pt x="31995" y="73248"/>
                    <a:pt x="50519" y="116189"/>
                  </a:cubicBezTo>
                  <a:cubicBezTo>
                    <a:pt x="69043" y="159130"/>
                    <a:pt x="95144" y="392362"/>
                    <a:pt x="111142" y="373838"/>
                  </a:cubicBezTo>
                  <a:cubicBezTo>
                    <a:pt x="127140" y="355314"/>
                    <a:pt x="77235" y="4013"/>
                    <a:pt x="146506" y="5047"/>
                  </a:cubicBezTo>
                  <a:cubicBezTo>
                    <a:pt x="215777" y="6081"/>
                    <a:pt x="268025" y="-5289"/>
                    <a:pt x="401127" y="3119"/>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Box 63">
            <a:extLst>
              <a:ext uri="{FF2B5EF4-FFF2-40B4-BE49-F238E27FC236}">
                <a16:creationId xmlns:a16="http://schemas.microsoft.com/office/drawing/2014/main" id="{791F2460-DFBA-5A49-98F6-49DAF69D739D}"/>
              </a:ext>
            </a:extLst>
          </p:cNvPr>
          <p:cNvSpPr txBox="1"/>
          <p:nvPr/>
        </p:nvSpPr>
        <p:spPr>
          <a:xfrm>
            <a:off x="5031693" y="2318263"/>
            <a:ext cx="994183" cy="707886"/>
          </a:xfrm>
          <a:prstGeom prst="rect">
            <a:avLst/>
          </a:prstGeom>
          <a:noFill/>
        </p:spPr>
        <p:txBody>
          <a:bodyPr wrap="none" rtlCol="0">
            <a:spAutoFit/>
          </a:bodyPr>
          <a:lstStyle/>
          <a:p>
            <a:r>
              <a:rPr lang="en-US" sz="4000" dirty="0">
                <a:latin typeface="Comic Sans MS" panose="030F0902030302020204" pitchFamily="66" charset="0"/>
              </a:rPr>
              <a:t>H =</a:t>
            </a:r>
          </a:p>
        </p:txBody>
      </p:sp>
      <p:sp>
        <p:nvSpPr>
          <p:cNvPr id="5" name="Oval 4">
            <a:extLst>
              <a:ext uri="{FF2B5EF4-FFF2-40B4-BE49-F238E27FC236}">
                <a16:creationId xmlns:a16="http://schemas.microsoft.com/office/drawing/2014/main" id="{71A34132-0077-5B47-AEB1-C9081BBCD599}"/>
              </a:ext>
            </a:extLst>
          </p:cNvPr>
          <p:cNvSpPr/>
          <p:nvPr/>
        </p:nvSpPr>
        <p:spPr>
          <a:xfrm>
            <a:off x="5031693" y="3805974"/>
            <a:ext cx="2700000" cy="270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FDDE49C-A029-1041-8149-5DD0266C5252}"/>
              </a:ext>
            </a:extLst>
          </p:cNvPr>
          <p:cNvSpPr/>
          <p:nvPr/>
        </p:nvSpPr>
        <p:spPr>
          <a:xfrm>
            <a:off x="5031693" y="4539917"/>
            <a:ext cx="2700000" cy="1331494"/>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9AF306F7-95D9-0E41-AE0C-8CF0AFA33BF4}"/>
              </a:ext>
            </a:extLst>
          </p:cNvPr>
          <p:cNvCxnSpPr>
            <a:cxnSpLocks/>
          </p:cNvCxnSpPr>
          <p:nvPr/>
        </p:nvCxnSpPr>
        <p:spPr>
          <a:xfrm flipV="1">
            <a:off x="6376737" y="3609519"/>
            <a:ext cx="0" cy="2646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DC49C43-1B1E-504E-B25F-25B7BE6AF904}"/>
              </a:ext>
            </a:extLst>
          </p:cNvPr>
          <p:cNvCxnSpPr>
            <a:cxnSpLocks/>
          </p:cNvCxnSpPr>
          <p:nvPr/>
        </p:nvCxnSpPr>
        <p:spPr>
          <a:xfrm>
            <a:off x="6376737" y="5181600"/>
            <a:ext cx="1467852" cy="4010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172322B-4816-E440-BD54-E5D6378B32AC}"/>
              </a:ext>
            </a:extLst>
          </p:cNvPr>
          <p:cNvCxnSpPr>
            <a:cxnSpLocks/>
          </p:cNvCxnSpPr>
          <p:nvPr/>
        </p:nvCxnSpPr>
        <p:spPr>
          <a:xfrm flipH="1">
            <a:off x="5273532" y="5181600"/>
            <a:ext cx="1094296" cy="8941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0F9A818-3DAB-F948-95FF-A5E0AB19BBBA}"/>
              </a:ext>
            </a:extLst>
          </p:cNvPr>
          <p:cNvCxnSpPr>
            <a:cxnSpLocks/>
          </p:cNvCxnSpPr>
          <p:nvPr/>
        </p:nvCxnSpPr>
        <p:spPr>
          <a:xfrm flipH="1" flipV="1">
            <a:off x="4850729" y="4290364"/>
            <a:ext cx="1526008" cy="901095"/>
          </a:xfrm>
          <a:prstGeom prst="line">
            <a:avLst/>
          </a:prstGeom>
          <a:ln w="25400">
            <a:solidFill>
              <a:schemeClr val="tx1">
                <a:lumMod val="50000"/>
                <a:lumOff val="50000"/>
              </a:schemeClr>
            </a:solidFill>
            <a:prstDash val="dashDot"/>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954E7EBE-0221-CF40-BE26-16F3CB570EEA}"/>
              </a:ext>
            </a:extLst>
          </p:cNvPr>
          <p:cNvSpPr/>
          <p:nvPr/>
        </p:nvSpPr>
        <p:spPr>
          <a:xfrm rot="1270884">
            <a:off x="5225992" y="3809413"/>
            <a:ext cx="840605" cy="1863552"/>
          </a:xfrm>
          <a:custGeom>
            <a:avLst/>
            <a:gdLst>
              <a:gd name="connsiteX0" fmla="*/ 0 w 1681210"/>
              <a:gd name="connsiteY0" fmla="*/ 931776 h 1863551"/>
              <a:gd name="connsiteX1" fmla="*/ 840605 w 1681210"/>
              <a:gd name="connsiteY1" fmla="*/ 0 h 1863551"/>
              <a:gd name="connsiteX2" fmla="*/ 1681210 w 1681210"/>
              <a:gd name="connsiteY2" fmla="*/ 931776 h 1863551"/>
              <a:gd name="connsiteX3" fmla="*/ 840605 w 1681210"/>
              <a:gd name="connsiteY3" fmla="*/ 1863552 h 1863551"/>
              <a:gd name="connsiteX4" fmla="*/ 0 w 1681210"/>
              <a:gd name="connsiteY4" fmla="*/ 931776 h 1863551"/>
              <a:gd name="connsiteX0" fmla="*/ 1681210 w 1772650"/>
              <a:gd name="connsiteY0" fmla="*/ 931776 h 1863552"/>
              <a:gd name="connsiteX1" fmla="*/ 840605 w 1772650"/>
              <a:gd name="connsiteY1" fmla="*/ 1863552 h 1863552"/>
              <a:gd name="connsiteX2" fmla="*/ 0 w 1772650"/>
              <a:gd name="connsiteY2" fmla="*/ 931776 h 1863552"/>
              <a:gd name="connsiteX3" fmla="*/ 840605 w 1772650"/>
              <a:gd name="connsiteY3" fmla="*/ 0 h 1863552"/>
              <a:gd name="connsiteX4" fmla="*/ 1772650 w 1772650"/>
              <a:gd name="connsiteY4" fmla="*/ 1023216 h 1863552"/>
              <a:gd name="connsiteX0" fmla="*/ 1681210 w 1681210"/>
              <a:gd name="connsiteY0" fmla="*/ 1021231 h 1953007"/>
              <a:gd name="connsiteX1" fmla="*/ 840605 w 1681210"/>
              <a:gd name="connsiteY1" fmla="*/ 1953007 h 1953007"/>
              <a:gd name="connsiteX2" fmla="*/ 0 w 1681210"/>
              <a:gd name="connsiteY2" fmla="*/ 1021231 h 1953007"/>
              <a:gd name="connsiteX3" fmla="*/ 840605 w 1681210"/>
              <a:gd name="connsiteY3" fmla="*/ 89455 h 1953007"/>
              <a:gd name="connsiteX4" fmla="*/ 1420849 w 1681210"/>
              <a:gd name="connsiteY4" fmla="*/ 448989 h 1953007"/>
              <a:gd name="connsiteX0" fmla="*/ 1681210 w 1681210"/>
              <a:gd name="connsiteY0" fmla="*/ 931776 h 1863552"/>
              <a:gd name="connsiteX1" fmla="*/ 840605 w 1681210"/>
              <a:gd name="connsiteY1" fmla="*/ 1863552 h 1863552"/>
              <a:gd name="connsiteX2" fmla="*/ 0 w 1681210"/>
              <a:gd name="connsiteY2" fmla="*/ 931776 h 1863552"/>
              <a:gd name="connsiteX3" fmla="*/ 840605 w 1681210"/>
              <a:gd name="connsiteY3" fmla="*/ 0 h 1863552"/>
              <a:gd name="connsiteX0" fmla="*/ 840605 w 840605"/>
              <a:gd name="connsiteY0" fmla="*/ 1863552 h 1863552"/>
              <a:gd name="connsiteX1" fmla="*/ 0 w 840605"/>
              <a:gd name="connsiteY1" fmla="*/ 931776 h 1863552"/>
              <a:gd name="connsiteX2" fmla="*/ 840605 w 840605"/>
              <a:gd name="connsiteY2" fmla="*/ 0 h 1863552"/>
            </a:gdLst>
            <a:ahLst/>
            <a:cxnLst>
              <a:cxn ang="0">
                <a:pos x="connsiteX0" y="connsiteY0"/>
              </a:cxn>
              <a:cxn ang="0">
                <a:pos x="connsiteX1" y="connsiteY1"/>
              </a:cxn>
              <a:cxn ang="0">
                <a:pos x="connsiteX2" y="connsiteY2"/>
              </a:cxn>
            </a:cxnLst>
            <a:rect l="l" t="t" r="r" b="b"/>
            <a:pathLst>
              <a:path w="840605" h="1863552">
                <a:moveTo>
                  <a:pt x="840605" y="1863552"/>
                </a:moveTo>
                <a:cubicBezTo>
                  <a:pt x="376352" y="1863552"/>
                  <a:pt x="0" y="1446382"/>
                  <a:pt x="0" y="931776"/>
                </a:cubicBezTo>
                <a:cubicBezTo>
                  <a:pt x="0" y="417170"/>
                  <a:pt x="603797" y="95374"/>
                  <a:pt x="840605" y="0"/>
                </a:cubicBezTo>
              </a:path>
            </a:pathLst>
          </a:custGeom>
          <a:noFill/>
          <a:ln>
            <a:solidFill>
              <a:schemeClr val="tx1">
                <a:lumMod val="50000"/>
                <a:lumOff val="50000"/>
              </a:schemeClr>
            </a:solidFill>
            <a:prstDash val="dash"/>
            <a:head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Arrow Connector 43">
            <a:extLst>
              <a:ext uri="{FF2B5EF4-FFF2-40B4-BE49-F238E27FC236}">
                <a16:creationId xmlns:a16="http://schemas.microsoft.com/office/drawing/2014/main" id="{221048B0-7759-8942-BD21-D69D5A55337F}"/>
              </a:ext>
            </a:extLst>
          </p:cNvPr>
          <p:cNvCxnSpPr>
            <a:cxnSpLocks/>
          </p:cNvCxnSpPr>
          <p:nvPr/>
        </p:nvCxnSpPr>
        <p:spPr>
          <a:xfrm flipV="1">
            <a:off x="6363697" y="4044258"/>
            <a:ext cx="17996" cy="1147201"/>
          </a:xfrm>
          <a:prstGeom prst="straightConnector1">
            <a:avLst/>
          </a:prstGeom>
          <a:ln w="50800">
            <a:solidFill>
              <a:srgbClr val="FF0000"/>
            </a:solidFill>
            <a:round/>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86E4D4B8-F1A6-5D46-9A4E-B204BCC008F7}"/>
              </a:ext>
            </a:extLst>
          </p:cNvPr>
          <p:cNvCxnSpPr>
            <a:cxnSpLocks/>
          </p:cNvCxnSpPr>
          <p:nvPr/>
        </p:nvCxnSpPr>
        <p:spPr>
          <a:xfrm flipH="1" flipV="1">
            <a:off x="5646294" y="4171695"/>
            <a:ext cx="726401" cy="982000"/>
          </a:xfrm>
          <a:prstGeom prst="straightConnector1">
            <a:avLst/>
          </a:prstGeom>
          <a:ln w="50800">
            <a:solidFill>
              <a:srgbClr val="FF0000">
                <a:alpha val="55000"/>
              </a:srgbClr>
            </a:solidFill>
            <a:round/>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EE0B0193-024D-3C47-95E3-6A00F850DC2E}"/>
              </a:ext>
            </a:extLst>
          </p:cNvPr>
          <p:cNvCxnSpPr>
            <a:cxnSpLocks/>
          </p:cNvCxnSpPr>
          <p:nvPr/>
        </p:nvCxnSpPr>
        <p:spPr>
          <a:xfrm flipH="1">
            <a:off x="5234845" y="5191459"/>
            <a:ext cx="1146848" cy="27905"/>
          </a:xfrm>
          <a:prstGeom prst="straightConnector1">
            <a:avLst/>
          </a:prstGeom>
          <a:ln w="50800">
            <a:solidFill>
              <a:srgbClr val="FF0000">
                <a:alpha val="55000"/>
              </a:srgbClr>
            </a:solidFill>
            <a:round/>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D749DEF4-04B6-374A-A5B8-DFDDE10B2E8E}"/>
              </a:ext>
            </a:extLst>
          </p:cNvPr>
          <p:cNvCxnSpPr>
            <a:cxnSpLocks/>
            <a:endCxn id="25" idx="0"/>
          </p:cNvCxnSpPr>
          <p:nvPr/>
        </p:nvCxnSpPr>
        <p:spPr>
          <a:xfrm flipH="1">
            <a:off x="5701531" y="5181600"/>
            <a:ext cx="662166" cy="580280"/>
          </a:xfrm>
          <a:prstGeom prst="straightConnector1">
            <a:avLst/>
          </a:prstGeom>
          <a:ln w="50800">
            <a:solidFill>
              <a:srgbClr val="FF0000">
                <a:alpha val="55000"/>
              </a:srgbClr>
            </a:solidFill>
            <a:round/>
            <a:tailEnd type="triangle"/>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324AD3AB-2DEE-CD4D-B3C9-B93769FBE5A3}"/>
              </a:ext>
            </a:extLst>
          </p:cNvPr>
          <p:cNvSpPr/>
          <p:nvPr/>
        </p:nvSpPr>
        <p:spPr>
          <a:xfrm>
            <a:off x="6232212" y="3964831"/>
            <a:ext cx="298961" cy="166210"/>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4329C99E-B981-FD4B-8368-7E2234BCBDB2}"/>
                  </a:ext>
                </a:extLst>
              </p:cNvPr>
              <p:cNvSpPr/>
              <p:nvPr/>
            </p:nvSpPr>
            <p:spPr>
              <a:xfrm>
                <a:off x="6443725" y="3317317"/>
                <a:ext cx="37016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000" b="0" i="1" smtClean="0">
                          <a:latin typeface="Cambria Math" panose="02040503050406030204" pitchFamily="18" charset="0"/>
                        </a:rPr>
                        <m:t>𝑧</m:t>
                      </m:r>
                    </m:oMath>
                  </m:oMathPara>
                </a14:m>
                <a:endParaRPr lang="en-US" sz="2000" dirty="0"/>
              </a:p>
            </p:txBody>
          </p:sp>
        </mc:Choice>
        <mc:Fallback xmlns="">
          <p:sp>
            <p:nvSpPr>
              <p:cNvPr id="60" name="Rectangle 59">
                <a:extLst>
                  <a:ext uri="{FF2B5EF4-FFF2-40B4-BE49-F238E27FC236}">
                    <a16:creationId xmlns:a16="http://schemas.microsoft.com/office/drawing/2014/main" id="{4329C99E-B981-FD4B-8368-7E2234BCBDB2}"/>
                  </a:ext>
                </a:extLst>
              </p:cNvPr>
              <p:cNvSpPr>
                <a:spLocks noRot="1" noChangeAspect="1" noMove="1" noResize="1" noEditPoints="1" noAdjustHandles="1" noChangeArrowheads="1" noChangeShapeType="1" noTextEdit="1"/>
              </p:cNvSpPr>
              <p:nvPr/>
            </p:nvSpPr>
            <p:spPr>
              <a:xfrm>
                <a:off x="6443725" y="3317317"/>
                <a:ext cx="370166" cy="40011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4E75E9C7-3BDC-4847-9BCA-C59BA61C96E0}"/>
                  </a:ext>
                </a:extLst>
              </p:cNvPr>
              <p:cNvSpPr/>
              <p:nvPr/>
            </p:nvSpPr>
            <p:spPr>
              <a:xfrm>
                <a:off x="7642276" y="5588023"/>
                <a:ext cx="391004"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000" b="0" i="1" smtClean="0">
                          <a:latin typeface="Cambria Math" panose="02040503050406030204" pitchFamily="18" charset="0"/>
                        </a:rPr>
                        <m:t>𝑦</m:t>
                      </m:r>
                    </m:oMath>
                  </m:oMathPara>
                </a14:m>
                <a:endParaRPr lang="en-US" sz="2000" dirty="0"/>
              </a:p>
            </p:txBody>
          </p:sp>
        </mc:Choice>
        <mc:Fallback xmlns="">
          <p:sp>
            <p:nvSpPr>
              <p:cNvPr id="62" name="Rectangle 61">
                <a:extLst>
                  <a:ext uri="{FF2B5EF4-FFF2-40B4-BE49-F238E27FC236}">
                    <a16:creationId xmlns:a16="http://schemas.microsoft.com/office/drawing/2014/main" id="{4E75E9C7-3BDC-4847-9BCA-C59BA61C96E0}"/>
                  </a:ext>
                </a:extLst>
              </p:cNvPr>
              <p:cNvSpPr>
                <a:spLocks noRot="1" noChangeAspect="1" noMove="1" noResize="1" noEditPoints="1" noAdjustHandles="1" noChangeArrowheads="1" noChangeShapeType="1" noTextEdit="1"/>
              </p:cNvSpPr>
              <p:nvPr/>
            </p:nvSpPr>
            <p:spPr>
              <a:xfrm>
                <a:off x="7642276" y="5588023"/>
                <a:ext cx="391004" cy="400110"/>
              </a:xfrm>
              <a:prstGeom prst="rect">
                <a:avLst/>
              </a:prstGeom>
              <a:blipFill>
                <a:blip r:embed="rId6"/>
                <a:stretch>
                  <a:fillRect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a:extLst>
                  <a:ext uri="{FF2B5EF4-FFF2-40B4-BE49-F238E27FC236}">
                    <a16:creationId xmlns:a16="http://schemas.microsoft.com/office/drawing/2014/main" id="{ADE8B63C-1FE6-BE4F-9A96-9A4AB923DA9B}"/>
                  </a:ext>
                </a:extLst>
              </p:cNvPr>
              <p:cNvSpPr/>
              <p:nvPr/>
            </p:nvSpPr>
            <p:spPr>
              <a:xfrm>
                <a:off x="4783329" y="5823313"/>
                <a:ext cx="38638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000" b="0" i="1" smtClean="0">
                          <a:latin typeface="Cambria Math" panose="02040503050406030204" pitchFamily="18" charset="0"/>
                        </a:rPr>
                        <m:t>𝑥</m:t>
                      </m:r>
                    </m:oMath>
                  </m:oMathPara>
                </a14:m>
                <a:endParaRPr lang="en-US" sz="2000" dirty="0"/>
              </a:p>
            </p:txBody>
          </p:sp>
        </mc:Choice>
        <mc:Fallback xmlns="">
          <p:sp>
            <p:nvSpPr>
              <p:cNvPr id="65" name="Rectangle 64">
                <a:extLst>
                  <a:ext uri="{FF2B5EF4-FFF2-40B4-BE49-F238E27FC236}">
                    <a16:creationId xmlns:a16="http://schemas.microsoft.com/office/drawing/2014/main" id="{ADE8B63C-1FE6-BE4F-9A96-9A4AB923DA9B}"/>
                  </a:ext>
                </a:extLst>
              </p:cNvPr>
              <p:cNvSpPr>
                <a:spLocks noRot="1" noChangeAspect="1" noMove="1" noResize="1" noEditPoints="1" noAdjustHandles="1" noChangeArrowheads="1" noChangeShapeType="1" noTextEdit="1"/>
              </p:cNvSpPr>
              <p:nvPr/>
            </p:nvSpPr>
            <p:spPr>
              <a:xfrm>
                <a:off x="4783329" y="5823313"/>
                <a:ext cx="386388" cy="400110"/>
              </a:xfrm>
              <a:prstGeom prst="rect">
                <a:avLst/>
              </a:prstGeom>
              <a:blipFill>
                <a:blip r:embed="rId7"/>
                <a:stretch>
                  <a:fillRect/>
                </a:stretch>
              </a:blipFill>
            </p:spPr>
            <p:txBody>
              <a:bodyPr/>
              <a:lstStyle/>
              <a:p>
                <a:r>
                  <a:rPr lang="en-US">
                    <a:noFill/>
                  </a:rPr>
                  <a:t> </a:t>
                </a:r>
              </a:p>
            </p:txBody>
          </p:sp>
        </mc:Fallback>
      </mc:AlternateContent>
      <p:sp>
        <p:nvSpPr>
          <p:cNvPr id="66" name="Slide Number Placeholder 2">
            <a:extLst>
              <a:ext uri="{FF2B5EF4-FFF2-40B4-BE49-F238E27FC236}">
                <a16:creationId xmlns:a16="http://schemas.microsoft.com/office/drawing/2014/main" id="{F570CA27-B044-7642-B734-E5889BDFDF42}"/>
              </a:ext>
            </a:extLst>
          </p:cNvPr>
          <p:cNvSpPr>
            <a:spLocks noGrp="1"/>
          </p:cNvSpPr>
          <p:nvPr>
            <p:ph type="sldNum" sz="quarter" idx="12"/>
          </p:nvPr>
        </p:nvSpPr>
        <p:spPr>
          <a:xfrm>
            <a:off x="14410" y="6463863"/>
            <a:ext cx="899990" cy="394138"/>
          </a:xfrm>
        </p:spPr>
        <p:txBody>
          <a:bodyPr/>
          <a:lstStyle/>
          <a:p>
            <a:fld id="{591A223C-FA10-BC46-A853-03BA373D023C}" type="slidenum">
              <a:rPr lang="en-US" smtClean="0"/>
              <a:t>45</a:t>
            </a:fld>
            <a:endParaRPr lang="en-US" dirty="0"/>
          </a:p>
        </p:txBody>
      </p:sp>
      <p:sp>
        <p:nvSpPr>
          <p:cNvPr id="67" name="Oval 66">
            <a:extLst>
              <a:ext uri="{FF2B5EF4-FFF2-40B4-BE49-F238E27FC236}">
                <a16:creationId xmlns:a16="http://schemas.microsoft.com/office/drawing/2014/main" id="{49FF5FBC-5F81-8941-B29B-3A46E5850EED}"/>
              </a:ext>
            </a:extLst>
          </p:cNvPr>
          <p:cNvSpPr/>
          <p:nvPr/>
        </p:nvSpPr>
        <p:spPr>
          <a:xfrm>
            <a:off x="6213931" y="6179824"/>
            <a:ext cx="298961" cy="166210"/>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a:extLst>
              <a:ext uri="{FF2B5EF4-FFF2-40B4-BE49-F238E27FC236}">
                <a16:creationId xmlns:a16="http://schemas.microsoft.com/office/drawing/2014/main" id="{E93136DD-125F-B740-B32C-74D554840CCD}"/>
              </a:ext>
            </a:extLst>
          </p:cNvPr>
          <p:cNvCxnSpPr>
            <a:cxnSpLocks/>
          </p:cNvCxnSpPr>
          <p:nvPr/>
        </p:nvCxnSpPr>
        <p:spPr>
          <a:xfrm flipV="1">
            <a:off x="5910820" y="4032475"/>
            <a:ext cx="98674" cy="59897"/>
          </a:xfrm>
          <a:prstGeom prst="line">
            <a:avLst/>
          </a:prstGeom>
          <a:ln w="25400" cap="rnd">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E393000D-8781-BF48-B492-0545D960BD31}"/>
              </a:ext>
            </a:extLst>
          </p:cNvPr>
          <p:cNvCxnSpPr>
            <a:cxnSpLocks/>
          </p:cNvCxnSpPr>
          <p:nvPr/>
        </p:nvCxnSpPr>
        <p:spPr>
          <a:xfrm>
            <a:off x="5910820" y="4093140"/>
            <a:ext cx="121794" cy="34654"/>
          </a:xfrm>
          <a:prstGeom prst="line">
            <a:avLst/>
          </a:prstGeom>
          <a:ln w="25400" cap="rnd">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30707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7E15CD68-FD7D-5B44-9150-D0E0099D58F1}"/>
              </a:ext>
            </a:extLst>
          </p:cNvPr>
          <p:cNvPicPr>
            <a:picLocks/>
          </p:cNvPicPr>
          <p:nvPr/>
        </p:nvPicPr>
        <p:blipFill>
          <a:blip r:embed="rId3"/>
          <a:stretch>
            <a:fillRect/>
          </a:stretch>
        </p:blipFill>
        <p:spPr>
          <a:xfrm flipV="1">
            <a:off x="289577" y="3829813"/>
            <a:ext cx="6840000" cy="45719"/>
          </a:xfrm>
          <a:prstGeom prst="rect">
            <a:avLst/>
          </a:prstGeom>
        </p:spPr>
      </p:pic>
      <p:sp>
        <p:nvSpPr>
          <p:cNvPr id="2" name="Title 1">
            <a:extLst>
              <a:ext uri="{FF2B5EF4-FFF2-40B4-BE49-F238E27FC236}">
                <a16:creationId xmlns:a16="http://schemas.microsoft.com/office/drawing/2014/main" id="{0A50DFF5-4A4F-DF42-9481-2148F597198F}"/>
              </a:ext>
            </a:extLst>
          </p:cNvPr>
          <p:cNvSpPr>
            <a:spLocks noGrp="1"/>
          </p:cNvSpPr>
          <p:nvPr>
            <p:ph type="title"/>
          </p:nvPr>
        </p:nvSpPr>
        <p:spPr/>
        <p:txBody>
          <a:bodyPr/>
          <a:lstStyle/>
          <a:p>
            <a:r>
              <a:rPr lang="en-ZA" dirty="0"/>
              <a:t>Building a Multi-Qubit Circuit</a:t>
            </a:r>
            <a:endParaRPr lang="en-US" dirty="0"/>
          </a:p>
        </p:txBody>
      </p:sp>
      <p:sp>
        <p:nvSpPr>
          <p:cNvPr id="3" name="Slide Number Placeholder 2">
            <a:extLst>
              <a:ext uri="{FF2B5EF4-FFF2-40B4-BE49-F238E27FC236}">
                <a16:creationId xmlns:a16="http://schemas.microsoft.com/office/drawing/2014/main" id="{947AFC6D-9054-5C4F-BC6F-F71355750398}"/>
              </a:ext>
            </a:extLst>
          </p:cNvPr>
          <p:cNvSpPr>
            <a:spLocks noGrp="1"/>
          </p:cNvSpPr>
          <p:nvPr>
            <p:ph type="sldNum" sz="quarter" idx="12"/>
          </p:nvPr>
        </p:nvSpPr>
        <p:spPr/>
        <p:txBody>
          <a:bodyPr/>
          <a:lstStyle/>
          <a:p>
            <a:fld id="{591A223C-FA10-BC46-A853-03BA373D023C}" type="slidenum">
              <a:rPr lang="en-US" smtClean="0"/>
              <a:t>46</a:t>
            </a:fld>
            <a:endParaRPr lang="en-US" dirty="0"/>
          </a:p>
        </p:txBody>
      </p:sp>
      <p:pic>
        <p:nvPicPr>
          <p:cNvPr id="7" name="Picture 6">
            <a:extLst>
              <a:ext uri="{FF2B5EF4-FFF2-40B4-BE49-F238E27FC236}">
                <a16:creationId xmlns:a16="http://schemas.microsoft.com/office/drawing/2014/main" id="{FCD6467D-3B93-E14E-A797-47BFB01BAD40}"/>
              </a:ext>
            </a:extLst>
          </p:cNvPr>
          <p:cNvPicPr>
            <a:picLocks/>
          </p:cNvPicPr>
          <p:nvPr/>
        </p:nvPicPr>
        <p:blipFill>
          <a:blip r:embed="rId3"/>
          <a:stretch>
            <a:fillRect/>
          </a:stretch>
        </p:blipFill>
        <p:spPr>
          <a:xfrm flipV="1">
            <a:off x="289577" y="2192397"/>
            <a:ext cx="6840000" cy="46800"/>
          </a:xfrm>
          <a:prstGeom prst="rect">
            <a:avLst/>
          </a:prstGeom>
        </p:spPr>
      </p:pic>
      <p:pic>
        <p:nvPicPr>
          <p:cNvPr id="9" name="Picture 8">
            <a:extLst>
              <a:ext uri="{FF2B5EF4-FFF2-40B4-BE49-F238E27FC236}">
                <a16:creationId xmlns:a16="http://schemas.microsoft.com/office/drawing/2014/main" id="{4EBB5012-4A8A-514C-BD32-A0A17B868E80}"/>
              </a:ext>
            </a:extLst>
          </p:cNvPr>
          <p:cNvPicPr>
            <a:picLocks noChangeAspect="1"/>
          </p:cNvPicPr>
          <p:nvPr/>
        </p:nvPicPr>
        <p:blipFill>
          <a:blip r:embed="rId4"/>
          <a:stretch>
            <a:fillRect/>
          </a:stretch>
        </p:blipFill>
        <p:spPr>
          <a:xfrm>
            <a:off x="1601555" y="1525245"/>
            <a:ext cx="1460571" cy="1440000"/>
          </a:xfrm>
          <a:prstGeom prst="rect">
            <a:avLst/>
          </a:prstGeom>
        </p:spPr>
      </p:pic>
      <p:sp>
        <p:nvSpPr>
          <p:cNvPr id="4" name="Rectangle 3">
            <a:extLst>
              <a:ext uri="{FF2B5EF4-FFF2-40B4-BE49-F238E27FC236}">
                <a16:creationId xmlns:a16="http://schemas.microsoft.com/office/drawing/2014/main" id="{C6418E51-DF69-DF43-9CF9-FEF0788F206B}"/>
              </a:ext>
            </a:extLst>
          </p:cNvPr>
          <p:cNvSpPr/>
          <p:nvPr/>
        </p:nvSpPr>
        <p:spPr>
          <a:xfrm>
            <a:off x="210061" y="1544674"/>
            <a:ext cx="1053494" cy="646331"/>
          </a:xfrm>
          <a:prstGeom prst="rect">
            <a:avLst/>
          </a:prstGeom>
        </p:spPr>
        <p:txBody>
          <a:bodyPr wrap="none">
            <a:spAutoFit/>
          </a:bodyPr>
          <a:lstStyle/>
          <a:p>
            <a:r>
              <a:rPr lang="en-US" sz="3600" dirty="0">
                <a:latin typeface="Comic Sans MS" panose="030F0902030302020204" pitchFamily="66" charset="0"/>
              </a:rPr>
              <a:t>q[0]</a:t>
            </a:r>
            <a:endParaRPr lang="en-US" sz="3600" dirty="0"/>
          </a:p>
        </p:txBody>
      </p:sp>
      <p:sp>
        <p:nvSpPr>
          <p:cNvPr id="5" name="TextBox 4">
            <a:extLst>
              <a:ext uri="{FF2B5EF4-FFF2-40B4-BE49-F238E27FC236}">
                <a16:creationId xmlns:a16="http://schemas.microsoft.com/office/drawing/2014/main" id="{06D15E9D-6C46-A84F-95CC-ED3837336779}"/>
              </a:ext>
            </a:extLst>
          </p:cNvPr>
          <p:cNvSpPr txBox="1"/>
          <p:nvPr/>
        </p:nvSpPr>
        <p:spPr>
          <a:xfrm>
            <a:off x="1896957" y="1710295"/>
            <a:ext cx="835485" cy="1107996"/>
          </a:xfrm>
          <a:prstGeom prst="rect">
            <a:avLst/>
          </a:prstGeom>
          <a:noFill/>
        </p:spPr>
        <p:txBody>
          <a:bodyPr wrap="none" rtlCol="0">
            <a:spAutoFit/>
          </a:bodyPr>
          <a:lstStyle/>
          <a:p>
            <a:r>
              <a:rPr lang="en-US" sz="6600" dirty="0">
                <a:latin typeface="Comic Sans MS" panose="030F0902030302020204" pitchFamily="66" charset="0"/>
              </a:rPr>
              <a:t>H</a:t>
            </a:r>
          </a:p>
        </p:txBody>
      </p:sp>
      <p:pic>
        <p:nvPicPr>
          <p:cNvPr id="27" name="Picture 26">
            <a:extLst>
              <a:ext uri="{FF2B5EF4-FFF2-40B4-BE49-F238E27FC236}">
                <a16:creationId xmlns:a16="http://schemas.microsoft.com/office/drawing/2014/main" id="{2086F3EE-2314-704F-8D54-6B52DA5885E1}"/>
              </a:ext>
            </a:extLst>
          </p:cNvPr>
          <p:cNvPicPr>
            <a:picLocks noChangeAspect="1"/>
          </p:cNvPicPr>
          <p:nvPr/>
        </p:nvPicPr>
        <p:blipFill>
          <a:blip r:embed="rId5"/>
          <a:stretch>
            <a:fillRect/>
          </a:stretch>
        </p:blipFill>
        <p:spPr>
          <a:xfrm>
            <a:off x="4272431" y="3377966"/>
            <a:ext cx="927100" cy="927100"/>
          </a:xfrm>
          <a:prstGeom prst="rect">
            <a:avLst/>
          </a:prstGeom>
        </p:spPr>
      </p:pic>
      <p:sp>
        <p:nvSpPr>
          <p:cNvPr id="29" name="TextBox 28">
            <a:extLst>
              <a:ext uri="{FF2B5EF4-FFF2-40B4-BE49-F238E27FC236}">
                <a16:creationId xmlns:a16="http://schemas.microsoft.com/office/drawing/2014/main" id="{3C1B6B5B-4336-C34C-8A29-178E7379BFD3}"/>
              </a:ext>
            </a:extLst>
          </p:cNvPr>
          <p:cNvSpPr txBox="1"/>
          <p:nvPr/>
        </p:nvSpPr>
        <p:spPr>
          <a:xfrm>
            <a:off x="4435834" y="3211766"/>
            <a:ext cx="628698" cy="1200329"/>
          </a:xfrm>
          <a:prstGeom prst="rect">
            <a:avLst/>
          </a:prstGeom>
          <a:noFill/>
        </p:spPr>
        <p:txBody>
          <a:bodyPr wrap="none" rtlCol="0">
            <a:spAutoFit/>
          </a:bodyPr>
          <a:lstStyle/>
          <a:p>
            <a:r>
              <a:rPr lang="en-US" sz="7200" dirty="0">
                <a:solidFill>
                  <a:schemeClr val="bg1"/>
                </a:solidFill>
                <a:latin typeface="Comic Sans MS" panose="030F0902030302020204" pitchFamily="66" charset="0"/>
              </a:rPr>
              <a:t>+</a:t>
            </a:r>
          </a:p>
        </p:txBody>
      </p:sp>
      <p:pic>
        <p:nvPicPr>
          <p:cNvPr id="32" name="Picture 31">
            <a:extLst>
              <a:ext uri="{FF2B5EF4-FFF2-40B4-BE49-F238E27FC236}">
                <a16:creationId xmlns:a16="http://schemas.microsoft.com/office/drawing/2014/main" id="{69BDE361-A10D-794D-956B-D822620417CE}"/>
              </a:ext>
            </a:extLst>
          </p:cNvPr>
          <p:cNvPicPr>
            <a:picLocks/>
          </p:cNvPicPr>
          <p:nvPr/>
        </p:nvPicPr>
        <p:blipFill>
          <a:blip r:embed="rId3"/>
          <a:stretch>
            <a:fillRect/>
          </a:stretch>
        </p:blipFill>
        <p:spPr>
          <a:xfrm flipV="1">
            <a:off x="289577" y="5467228"/>
            <a:ext cx="6840000" cy="45719"/>
          </a:xfrm>
          <a:prstGeom prst="rect">
            <a:avLst/>
          </a:prstGeom>
        </p:spPr>
      </p:pic>
      <p:pic>
        <p:nvPicPr>
          <p:cNvPr id="36" name="Picture 35">
            <a:extLst>
              <a:ext uri="{FF2B5EF4-FFF2-40B4-BE49-F238E27FC236}">
                <a16:creationId xmlns:a16="http://schemas.microsoft.com/office/drawing/2014/main" id="{C178A0EE-573D-484C-A004-CA280793A51F}"/>
              </a:ext>
            </a:extLst>
          </p:cNvPr>
          <p:cNvPicPr>
            <a:picLocks/>
          </p:cNvPicPr>
          <p:nvPr/>
        </p:nvPicPr>
        <p:blipFill>
          <a:blip r:embed="rId3"/>
          <a:stretch>
            <a:fillRect/>
          </a:stretch>
        </p:blipFill>
        <p:spPr>
          <a:xfrm rot="5400000" flipV="1">
            <a:off x="4094817" y="2782529"/>
            <a:ext cx="1287553" cy="71524"/>
          </a:xfrm>
          <a:prstGeom prst="rect">
            <a:avLst/>
          </a:prstGeom>
        </p:spPr>
      </p:pic>
      <p:pic>
        <p:nvPicPr>
          <p:cNvPr id="38" name="Picture 37">
            <a:extLst>
              <a:ext uri="{FF2B5EF4-FFF2-40B4-BE49-F238E27FC236}">
                <a16:creationId xmlns:a16="http://schemas.microsoft.com/office/drawing/2014/main" id="{83DB04A9-70D3-5E46-8557-49485B95E7AB}"/>
              </a:ext>
            </a:extLst>
          </p:cNvPr>
          <p:cNvPicPr>
            <a:picLocks noChangeAspect="1"/>
          </p:cNvPicPr>
          <p:nvPr/>
        </p:nvPicPr>
        <p:blipFill>
          <a:blip r:embed="rId5"/>
          <a:stretch>
            <a:fillRect/>
          </a:stretch>
        </p:blipFill>
        <p:spPr>
          <a:xfrm>
            <a:off x="4519981" y="1934118"/>
            <a:ext cx="432000" cy="432000"/>
          </a:xfrm>
          <a:prstGeom prst="rect">
            <a:avLst/>
          </a:prstGeom>
        </p:spPr>
      </p:pic>
      <p:pic>
        <p:nvPicPr>
          <p:cNvPr id="42" name="Picture 41">
            <a:extLst>
              <a:ext uri="{FF2B5EF4-FFF2-40B4-BE49-F238E27FC236}">
                <a16:creationId xmlns:a16="http://schemas.microsoft.com/office/drawing/2014/main" id="{A016E4FF-D990-E84E-A035-E8C5F363C059}"/>
              </a:ext>
            </a:extLst>
          </p:cNvPr>
          <p:cNvPicPr>
            <a:picLocks noChangeAspect="1"/>
          </p:cNvPicPr>
          <p:nvPr/>
        </p:nvPicPr>
        <p:blipFill>
          <a:blip r:embed="rId6"/>
          <a:stretch>
            <a:fillRect/>
          </a:stretch>
        </p:blipFill>
        <p:spPr>
          <a:xfrm>
            <a:off x="3712706" y="4811995"/>
            <a:ext cx="2059590" cy="1401904"/>
          </a:xfrm>
          <a:prstGeom prst="rect">
            <a:avLst/>
          </a:prstGeom>
        </p:spPr>
      </p:pic>
      <p:sp>
        <p:nvSpPr>
          <p:cNvPr id="43" name="TextBox 42">
            <a:extLst>
              <a:ext uri="{FF2B5EF4-FFF2-40B4-BE49-F238E27FC236}">
                <a16:creationId xmlns:a16="http://schemas.microsoft.com/office/drawing/2014/main" id="{6AE0B33F-F7DB-9043-8CB4-0DFB0190CA45}"/>
              </a:ext>
            </a:extLst>
          </p:cNvPr>
          <p:cNvSpPr txBox="1"/>
          <p:nvPr/>
        </p:nvSpPr>
        <p:spPr>
          <a:xfrm>
            <a:off x="4468314" y="4866243"/>
            <a:ext cx="585417" cy="1015663"/>
          </a:xfrm>
          <a:prstGeom prst="rect">
            <a:avLst/>
          </a:prstGeom>
          <a:noFill/>
        </p:spPr>
        <p:txBody>
          <a:bodyPr wrap="none" rtlCol="0">
            <a:spAutoFit/>
          </a:bodyPr>
          <a:lstStyle/>
          <a:p>
            <a:r>
              <a:rPr lang="en-US" sz="6000" dirty="0">
                <a:latin typeface="Comic Sans MS" panose="030F0902030302020204" pitchFamily="66" charset="0"/>
              </a:rPr>
              <a:t>P</a:t>
            </a:r>
          </a:p>
        </p:txBody>
      </p:sp>
      <p:pic>
        <p:nvPicPr>
          <p:cNvPr id="44" name="Picture 43">
            <a:extLst>
              <a:ext uri="{FF2B5EF4-FFF2-40B4-BE49-F238E27FC236}">
                <a16:creationId xmlns:a16="http://schemas.microsoft.com/office/drawing/2014/main" id="{D6A5895B-C3E3-264E-BA0C-7B4C76387B22}"/>
              </a:ext>
            </a:extLst>
          </p:cNvPr>
          <p:cNvPicPr>
            <a:picLocks noChangeAspect="1"/>
          </p:cNvPicPr>
          <p:nvPr/>
        </p:nvPicPr>
        <p:blipFill>
          <a:blip r:embed="rId5"/>
          <a:stretch>
            <a:fillRect/>
          </a:stretch>
        </p:blipFill>
        <p:spPr>
          <a:xfrm>
            <a:off x="1872250" y="5032057"/>
            <a:ext cx="927100" cy="927100"/>
          </a:xfrm>
          <a:prstGeom prst="rect">
            <a:avLst/>
          </a:prstGeom>
        </p:spPr>
      </p:pic>
      <p:sp>
        <p:nvSpPr>
          <p:cNvPr id="45" name="TextBox 44">
            <a:extLst>
              <a:ext uri="{FF2B5EF4-FFF2-40B4-BE49-F238E27FC236}">
                <a16:creationId xmlns:a16="http://schemas.microsoft.com/office/drawing/2014/main" id="{C2D0E3EC-2E61-3548-B989-CF982577E8D3}"/>
              </a:ext>
            </a:extLst>
          </p:cNvPr>
          <p:cNvSpPr txBox="1"/>
          <p:nvPr/>
        </p:nvSpPr>
        <p:spPr>
          <a:xfrm>
            <a:off x="2035653" y="4865857"/>
            <a:ext cx="628698" cy="1200329"/>
          </a:xfrm>
          <a:prstGeom prst="rect">
            <a:avLst/>
          </a:prstGeom>
          <a:noFill/>
        </p:spPr>
        <p:txBody>
          <a:bodyPr wrap="none" rtlCol="0">
            <a:spAutoFit/>
          </a:bodyPr>
          <a:lstStyle/>
          <a:p>
            <a:r>
              <a:rPr lang="en-US" sz="7200" dirty="0">
                <a:solidFill>
                  <a:schemeClr val="bg1"/>
                </a:solidFill>
                <a:latin typeface="Comic Sans MS" panose="030F0902030302020204" pitchFamily="66" charset="0"/>
              </a:rPr>
              <a:t>+</a:t>
            </a:r>
          </a:p>
        </p:txBody>
      </p:sp>
      <p:sp>
        <p:nvSpPr>
          <p:cNvPr id="48" name="Rectangle 47">
            <a:extLst>
              <a:ext uri="{FF2B5EF4-FFF2-40B4-BE49-F238E27FC236}">
                <a16:creationId xmlns:a16="http://schemas.microsoft.com/office/drawing/2014/main" id="{997DD24B-D416-EC4F-96E6-90C988142D59}"/>
              </a:ext>
            </a:extLst>
          </p:cNvPr>
          <p:cNvSpPr/>
          <p:nvPr/>
        </p:nvSpPr>
        <p:spPr>
          <a:xfrm>
            <a:off x="185929" y="3072682"/>
            <a:ext cx="979755" cy="646331"/>
          </a:xfrm>
          <a:prstGeom prst="rect">
            <a:avLst/>
          </a:prstGeom>
        </p:spPr>
        <p:txBody>
          <a:bodyPr wrap="none">
            <a:spAutoFit/>
          </a:bodyPr>
          <a:lstStyle/>
          <a:p>
            <a:r>
              <a:rPr lang="en-US" sz="3600" dirty="0">
                <a:latin typeface="Comic Sans MS" panose="030F0902030302020204" pitchFamily="66" charset="0"/>
              </a:rPr>
              <a:t>q[1]</a:t>
            </a:r>
            <a:endParaRPr lang="en-US" sz="3600" dirty="0"/>
          </a:p>
        </p:txBody>
      </p:sp>
      <p:sp>
        <p:nvSpPr>
          <p:cNvPr id="49" name="Rectangle 48">
            <a:extLst>
              <a:ext uri="{FF2B5EF4-FFF2-40B4-BE49-F238E27FC236}">
                <a16:creationId xmlns:a16="http://schemas.microsoft.com/office/drawing/2014/main" id="{359DAD94-DC4D-744C-B9EC-BFC7BB4E4215}"/>
              </a:ext>
            </a:extLst>
          </p:cNvPr>
          <p:cNvSpPr/>
          <p:nvPr/>
        </p:nvSpPr>
        <p:spPr>
          <a:xfrm>
            <a:off x="210061" y="4740100"/>
            <a:ext cx="1053494" cy="646331"/>
          </a:xfrm>
          <a:prstGeom prst="rect">
            <a:avLst/>
          </a:prstGeom>
        </p:spPr>
        <p:txBody>
          <a:bodyPr wrap="none">
            <a:spAutoFit/>
          </a:bodyPr>
          <a:lstStyle/>
          <a:p>
            <a:r>
              <a:rPr lang="en-US" sz="3600" dirty="0">
                <a:latin typeface="Comic Sans MS" panose="030F0902030302020204" pitchFamily="66" charset="0"/>
              </a:rPr>
              <a:t>q[2]</a:t>
            </a:r>
            <a:endParaRPr lang="en-US" sz="3600" dirty="0"/>
          </a:p>
        </p:txBody>
      </p:sp>
      <p:sp>
        <p:nvSpPr>
          <p:cNvPr id="6" name="TextBox 5">
            <a:extLst>
              <a:ext uri="{FF2B5EF4-FFF2-40B4-BE49-F238E27FC236}">
                <a16:creationId xmlns:a16="http://schemas.microsoft.com/office/drawing/2014/main" id="{FB001E88-57A6-B64F-B2D9-973A8BE2A769}"/>
              </a:ext>
            </a:extLst>
          </p:cNvPr>
          <p:cNvSpPr txBox="1"/>
          <p:nvPr/>
        </p:nvSpPr>
        <p:spPr>
          <a:xfrm>
            <a:off x="4163548" y="5620296"/>
            <a:ext cx="1144865" cy="523220"/>
          </a:xfrm>
          <a:prstGeom prst="rect">
            <a:avLst/>
          </a:prstGeom>
          <a:noFill/>
        </p:spPr>
        <p:txBody>
          <a:bodyPr wrap="none" rtlCol="0">
            <a:spAutoFit/>
          </a:bodyPr>
          <a:lstStyle/>
          <a:p>
            <a:r>
              <a:rPr lang="en-US" sz="2800" dirty="0">
                <a:latin typeface="Comic Sans MS" panose="030F0902030302020204" pitchFamily="66" charset="0"/>
              </a:rPr>
              <a:t>(pi/2)</a:t>
            </a:r>
          </a:p>
        </p:txBody>
      </p:sp>
      <p:pic>
        <p:nvPicPr>
          <p:cNvPr id="22" name="Picture 21">
            <a:extLst>
              <a:ext uri="{FF2B5EF4-FFF2-40B4-BE49-F238E27FC236}">
                <a16:creationId xmlns:a16="http://schemas.microsoft.com/office/drawing/2014/main" id="{8DD06A6E-790A-E944-9CAB-702A1A8F7724}"/>
              </a:ext>
            </a:extLst>
          </p:cNvPr>
          <p:cNvPicPr>
            <a:picLocks noChangeAspect="1"/>
          </p:cNvPicPr>
          <p:nvPr/>
        </p:nvPicPr>
        <p:blipFill>
          <a:blip r:embed="rId7"/>
          <a:stretch>
            <a:fillRect/>
          </a:stretch>
        </p:blipFill>
        <p:spPr>
          <a:xfrm>
            <a:off x="6535750" y="1525245"/>
            <a:ext cx="1460571" cy="1440000"/>
          </a:xfrm>
          <a:prstGeom prst="rect">
            <a:avLst/>
          </a:prstGeom>
        </p:spPr>
      </p:pic>
      <p:pic>
        <p:nvPicPr>
          <p:cNvPr id="23" name="Picture 22">
            <a:extLst>
              <a:ext uri="{FF2B5EF4-FFF2-40B4-BE49-F238E27FC236}">
                <a16:creationId xmlns:a16="http://schemas.microsoft.com/office/drawing/2014/main" id="{6ACC7BF6-BAA3-B942-9B57-3977DFE5DE4C}"/>
              </a:ext>
            </a:extLst>
          </p:cNvPr>
          <p:cNvPicPr>
            <a:picLocks noChangeAspect="1"/>
          </p:cNvPicPr>
          <p:nvPr/>
        </p:nvPicPr>
        <p:blipFill>
          <a:blip r:embed="rId7"/>
          <a:stretch>
            <a:fillRect/>
          </a:stretch>
        </p:blipFill>
        <p:spPr>
          <a:xfrm>
            <a:off x="6535750" y="3155532"/>
            <a:ext cx="1460571" cy="1440000"/>
          </a:xfrm>
          <a:prstGeom prst="rect">
            <a:avLst/>
          </a:prstGeom>
        </p:spPr>
      </p:pic>
      <p:pic>
        <p:nvPicPr>
          <p:cNvPr id="24" name="Picture 23">
            <a:extLst>
              <a:ext uri="{FF2B5EF4-FFF2-40B4-BE49-F238E27FC236}">
                <a16:creationId xmlns:a16="http://schemas.microsoft.com/office/drawing/2014/main" id="{59ACDFB4-F0FA-3E48-85B2-7A598955DC12}"/>
              </a:ext>
            </a:extLst>
          </p:cNvPr>
          <p:cNvPicPr>
            <a:picLocks noChangeAspect="1"/>
          </p:cNvPicPr>
          <p:nvPr/>
        </p:nvPicPr>
        <p:blipFill>
          <a:blip r:embed="rId7"/>
          <a:stretch>
            <a:fillRect/>
          </a:stretch>
        </p:blipFill>
        <p:spPr>
          <a:xfrm>
            <a:off x="6535750" y="4785819"/>
            <a:ext cx="1460571" cy="1440000"/>
          </a:xfrm>
          <a:prstGeom prst="rect">
            <a:avLst/>
          </a:prstGeom>
        </p:spPr>
      </p:pic>
      <p:grpSp>
        <p:nvGrpSpPr>
          <p:cNvPr id="13" name="Group 12">
            <a:extLst>
              <a:ext uri="{FF2B5EF4-FFF2-40B4-BE49-F238E27FC236}">
                <a16:creationId xmlns:a16="http://schemas.microsoft.com/office/drawing/2014/main" id="{F718EE71-51E4-CD46-BBEE-53269CB04B1C}"/>
              </a:ext>
            </a:extLst>
          </p:cNvPr>
          <p:cNvGrpSpPr/>
          <p:nvPr/>
        </p:nvGrpSpPr>
        <p:grpSpPr>
          <a:xfrm>
            <a:off x="3449052" y="1319575"/>
            <a:ext cx="2606842" cy="4906244"/>
            <a:chOff x="3449052" y="1319575"/>
            <a:chExt cx="2606842" cy="4906244"/>
          </a:xfrm>
        </p:grpSpPr>
        <p:cxnSp>
          <p:nvCxnSpPr>
            <p:cNvPr id="10" name="Straight Connector 9">
              <a:extLst>
                <a:ext uri="{FF2B5EF4-FFF2-40B4-BE49-F238E27FC236}">
                  <a16:creationId xmlns:a16="http://schemas.microsoft.com/office/drawing/2014/main" id="{0FEE6AAA-0CF2-2B4B-B28C-BAAAE9046ECE}"/>
                </a:ext>
              </a:extLst>
            </p:cNvPr>
            <p:cNvCxnSpPr>
              <a:cxnSpLocks/>
            </p:cNvCxnSpPr>
            <p:nvPr/>
          </p:nvCxnSpPr>
          <p:spPr>
            <a:xfrm>
              <a:off x="3449052" y="1331495"/>
              <a:ext cx="0" cy="4894324"/>
            </a:xfrm>
            <a:prstGeom prst="line">
              <a:avLst/>
            </a:prstGeom>
            <a:ln w="381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3A8F279-9810-0F4E-896C-FAE2493ECE8F}"/>
                </a:ext>
              </a:extLst>
            </p:cNvPr>
            <p:cNvCxnSpPr>
              <a:cxnSpLocks/>
            </p:cNvCxnSpPr>
            <p:nvPr/>
          </p:nvCxnSpPr>
          <p:spPr>
            <a:xfrm>
              <a:off x="6055894" y="1319575"/>
              <a:ext cx="0" cy="4894324"/>
            </a:xfrm>
            <a:prstGeom prst="line">
              <a:avLst/>
            </a:prstGeom>
            <a:ln w="381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A2814DFA-6185-C745-BFBC-D5708C78631F}"/>
              </a:ext>
            </a:extLst>
          </p:cNvPr>
          <p:cNvSpPr txBox="1"/>
          <p:nvPr/>
        </p:nvSpPr>
        <p:spPr>
          <a:xfrm>
            <a:off x="8135495" y="1165208"/>
            <a:ext cx="3808856" cy="4031873"/>
          </a:xfrm>
          <a:prstGeom prst="rect">
            <a:avLst/>
          </a:prstGeom>
          <a:solidFill>
            <a:schemeClr val="accent4">
              <a:lumMod val="40000"/>
              <a:lumOff val="60000"/>
            </a:schemeClr>
          </a:solidFill>
        </p:spPr>
        <p:txBody>
          <a:bodyPr wrap="square" rtlCol="0">
            <a:spAutoFit/>
          </a:bodyPr>
          <a:lstStyle/>
          <a:p>
            <a:endParaRPr lang="en-US" sz="3200" dirty="0">
              <a:latin typeface="Andale Mono" panose="020B0509000000000004" pitchFamily="49" charset="0"/>
            </a:endParaRPr>
          </a:p>
          <a:p>
            <a:r>
              <a:rPr lang="en-US" sz="3200" dirty="0">
                <a:solidFill>
                  <a:srgbClr val="C00000"/>
                </a:solidFill>
                <a:latin typeface="Andale Mono" panose="020B0509000000000004" pitchFamily="49" charset="0"/>
              </a:rPr>
              <a:t>h</a:t>
            </a:r>
            <a:r>
              <a:rPr lang="en-US" sz="3200" dirty="0">
                <a:latin typeface="Andale Mono" panose="020B0509000000000004" pitchFamily="49" charset="0"/>
              </a:rPr>
              <a:t> </a:t>
            </a:r>
            <a:r>
              <a:rPr lang="en-US" sz="3200" dirty="0">
                <a:solidFill>
                  <a:srgbClr val="0000FF"/>
                </a:solidFill>
                <a:latin typeface="Andale Mono" panose="020B0509000000000004" pitchFamily="49" charset="0"/>
              </a:rPr>
              <a:t>q</a:t>
            </a:r>
            <a:r>
              <a:rPr lang="en-US" sz="3200" dirty="0">
                <a:latin typeface="Andale Mono" panose="020B0509000000000004" pitchFamily="49" charset="0"/>
              </a:rPr>
              <a:t>[0];</a:t>
            </a:r>
          </a:p>
          <a:p>
            <a:r>
              <a:rPr lang="en-US" sz="3200" dirty="0">
                <a:solidFill>
                  <a:srgbClr val="C00000"/>
                </a:solidFill>
                <a:latin typeface="Andale Mono" panose="020B0509000000000004" pitchFamily="49" charset="0"/>
              </a:rPr>
              <a:t>x</a:t>
            </a:r>
            <a:r>
              <a:rPr lang="en-US" sz="3200" dirty="0">
                <a:latin typeface="Andale Mono" panose="020B0509000000000004" pitchFamily="49" charset="0"/>
              </a:rPr>
              <a:t> </a:t>
            </a:r>
            <a:r>
              <a:rPr lang="en-US" sz="3200" dirty="0">
                <a:solidFill>
                  <a:srgbClr val="0000FF"/>
                </a:solidFill>
                <a:latin typeface="Andale Mono" panose="020B0509000000000004" pitchFamily="49" charset="0"/>
              </a:rPr>
              <a:t>q</a:t>
            </a:r>
            <a:r>
              <a:rPr lang="en-US" sz="3200" dirty="0">
                <a:latin typeface="Andale Mono" panose="020B0509000000000004" pitchFamily="49" charset="0"/>
              </a:rPr>
              <a:t>[2];</a:t>
            </a:r>
          </a:p>
          <a:p>
            <a:endParaRPr lang="en-US" sz="3200" dirty="0">
              <a:latin typeface="Andale Mono" panose="020B0509000000000004" pitchFamily="49" charset="0"/>
            </a:endParaRPr>
          </a:p>
          <a:p>
            <a:r>
              <a:rPr lang="en-US" sz="3200" dirty="0">
                <a:solidFill>
                  <a:srgbClr val="C00000"/>
                </a:solidFill>
                <a:latin typeface="Andale Mono" panose="020B0509000000000004" pitchFamily="49" charset="0"/>
              </a:rPr>
              <a:t>cx</a:t>
            </a:r>
            <a:r>
              <a:rPr lang="en-US" sz="3200" dirty="0">
                <a:latin typeface="Andale Mono" panose="020B0509000000000004" pitchFamily="49" charset="0"/>
              </a:rPr>
              <a:t> </a:t>
            </a:r>
            <a:r>
              <a:rPr lang="en-US" sz="3200" dirty="0">
                <a:solidFill>
                  <a:srgbClr val="0000FF"/>
                </a:solidFill>
                <a:latin typeface="Andale Mono" panose="020B0509000000000004" pitchFamily="49" charset="0"/>
              </a:rPr>
              <a:t>q</a:t>
            </a:r>
            <a:r>
              <a:rPr lang="en-US" sz="3200" dirty="0">
                <a:latin typeface="Andale Mono" panose="020B0509000000000004" pitchFamily="49" charset="0"/>
              </a:rPr>
              <a:t>[0], </a:t>
            </a:r>
            <a:r>
              <a:rPr lang="en-US" sz="3200" dirty="0">
                <a:solidFill>
                  <a:srgbClr val="0000FF"/>
                </a:solidFill>
                <a:latin typeface="Andale Mono" panose="020B0509000000000004" pitchFamily="49" charset="0"/>
              </a:rPr>
              <a:t>q</a:t>
            </a:r>
            <a:r>
              <a:rPr lang="en-US" sz="3200" dirty="0">
                <a:latin typeface="Andale Mono" panose="020B0509000000000004" pitchFamily="49" charset="0"/>
              </a:rPr>
              <a:t>[1];</a:t>
            </a:r>
          </a:p>
          <a:p>
            <a:r>
              <a:rPr lang="en-US" sz="3200" dirty="0">
                <a:solidFill>
                  <a:srgbClr val="C00000"/>
                </a:solidFill>
                <a:latin typeface="Andale Mono" panose="020B0509000000000004" pitchFamily="49" charset="0"/>
              </a:rPr>
              <a:t>p</a:t>
            </a:r>
            <a:r>
              <a:rPr lang="en-US" sz="3200" dirty="0">
                <a:latin typeface="Andale Mono" panose="020B0509000000000004" pitchFamily="49" charset="0"/>
              </a:rPr>
              <a:t>(pi/2) </a:t>
            </a:r>
            <a:r>
              <a:rPr lang="en-US" sz="3200" dirty="0">
                <a:solidFill>
                  <a:srgbClr val="0000FF"/>
                </a:solidFill>
                <a:latin typeface="Andale Mono" panose="020B0509000000000004" pitchFamily="49" charset="0"/>
              </a:rPr>
              <a:t>q</a:t>
            </a:r>
            <a:r>
              <a:rPr lang="en-US" sz="3200" dirty="0">
                <a:latin typeface="Andale Mono" panose="020B0509000000000004" pitchFamily="49" charset="0"/>
              </a:rPr>
              <a:t>[2];</a:t>
            </a:r>
          </a:p>
          <a:p>
            <a:endParaRPr lang="en-US" sz="3200" dirty="0">
              <a:latin typeface="Andale Mono" panose="020B0509000000000004" pitchFamily="49" charset="0"/>
            </a:endParaRPr>
          </a:p>
          <a:p>
            <a:r>
              <a:rPr lang="en-US" sz="3200" dirty="0">
                <a:solidFill>
                  <a:srgbClr val="0000FF"/>
                </a:solidFill>
                <a:latin typeface="Andale Mono" panose="020B0509000000000004" pitchFamily="49" charset="0"/>
              </a:rPr>
              <a:t>c</a:t>
            </a:r>
            <a:r>
              <a:rPr lang="en-US" sz="3200" dirty="0">
                <a:solidFill>
                  <a:srgbClr val="C00000"/>
                </a:solidFill>
                <a:latin typeface="Andale Mono" panose="020B0509000000000004" pitchFamily="49" charset="0"/>
              </a:rPr>
              <a:t> </a:t>
            </a:r>
            <a:r>
              <a:rPr lang="en-US" sz="3200" dirty="0">
                <a:latin typeface="Andale Mono" panose="020B0509000000000004" pitchFamily="49" charset="0"/>
              </a:rPr>
              <a:t>=</a:t>
            </a:r>
            <a:r>
              <a:rPr lang="en-US" sz="3200" dirty="0">
                <a:solidFill>
                  <a:srgbClr val="C00000"/>
                </a:solidFill>
                <a:latin typeface="Andale Mono" panose="020B0509000000000004" pitchFamily="49" charset="0"/>
              </a:rPr>
              <a:t> measure</a:t>
            </a:r>
            <a:r>
              <a:rPr lang="en-US" sz="3200" dirty="0">
                <a:latin typeface="Andale Mono" panose="020B0509000000000004" pitchFamily="49" charset="0"/>
              </a:rPr>
              <a:t> </a:t>
            </a:r>
            <a:r>
              <a:rPr lang="en-US" sz="3200" dirty="0">
                <a:solidFill>
                  <a:srgbClr val="0000FF"/>
                </a:solidFill>
                <a:latin typeface="Andale Mono" panose="020B0509000000000004" pitchFamily="49" charset="0"/>
              </a:rPr>
              <a:t>q</a:t>
            </a:r>
            <a:r>
              <a:rPr lang="en-US" sz="3200" dirty="0">
                <a:latin typeface="Andale Mono" panose="020B0509000000000004" pitchFamily="49" charset="0"/>
              </a:rPr>
              <a:t>;</a:t>
            </a:r>
          </a:p>
        </p:txBody>
      </p:sp>
    </p:spTree>
    <p:extLst>
      <p:ext uri="{BB962C8B-B14F-4D97-AF65-F5344CB8AC3E}">
        <p14:creationId xmlns:p14="http://schemas.microsoft.com/office/powerpoint/2010/main" val="1357445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dissolve">
                                      <p:cBhvr>
                                        <p:cTn id="1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FD874A3-A3B7-7B42-B5B7-A4A1A32E6504}"/>
              </a:ext>
            </a:extLst>
          </p:cNvPr>
          <p:cNvSpPr txBox="1"/>
          <p:nvPr/>
        </p:nvSpPr>
        <p:spPr>
          <a:xfrm>
            <a:off x="7523433" y="1172361"/>
            <a:ext cx="3850734" cy="1569660"/>
          </a:xfrm>
          <a:prstGeom prst="rect">
            <a:avLst/>
          </a:prstGeom>
          <a:noFill/>
        </p:spPr>
        <p:txBody>
          <a:bodyPr wrap="none" rtlCol="0">
            <a:spAutoFit/>
          </a:bodyPr>
          <a:lstStyle/>
          <a:p>
            <a:pPr algn="ctr"/>
            <a:r>
              <a:rPr lang="en-US" sz="4800" dirty="0">
                <a:latin typeface="Comic Sans MS" panose="030F0902030302020204" pitchFamily="66" charset="0"/>
              </a:rPr>
              <a:t>Practical</a:t>
            </a:r>
          </a:p>
          <a:p>
            <a:pPr algn="ctr"/>
            <a:r>
              <a:rPr lang="en-US" sz="4800" dirty="0">
                <a:latin typeface="Comic Sans MS" panose="030F0902030302020204" pitchFamily="66" charset="0"/>
              </a:rPr>
              <a:t>programming</a:t>
            </a:r>
          </a:p>
        </p:txBody>
      </p:sp>
      <p:pic>
        <p:nvPicPr>
          <p:cNvPr id="6" name="Picture 5">
            <a:extLst>
              <a:ext uri="{FF2B5EF4-FFF2-40B4-BE49-F238E27FC236}">
                <a16:creationId xmlns:a16="http://schemas.microsoft.com/office/drawing/2014/main" id="{99B36C53-3D7E-3243-BFDD-699860ACAD92}"/>
              </a:ext>
            </a:extLst>
          </p:cNvPr>
          <p:cNvPicPr>
            <a:picLocks noChangeAspect="1"/>
          </p:cNvPicPr>
          <p:nvPr/>
        </p:nvPicPr>
        <p:blipFill>
          <a:blip r:embed="rId3"/>
          <a:stretch>
            <a:fillRect/>
          </a:stretch>
        </p:blipFill>
        <p:spPr>
          <a:xfrm>
            <a:off x="348698" y="1172361"/>
            <a:ext cx="6286500" cy="5207000"/>
          </a:xfrm>
          <a:prstGeom prst="rect">
            <a:avLst/>
          </a:prstGeom>
        </p:spPr>
      </p:pic>
    </p:spTree>
    <p:extLst>
      <p:ext uri="{BB962C8B-B14F-4D97-AF65-F5344CB8AC3E}">
        <p14:creationId xmlns:p14="http://schemas.microsoft.com/office/powerpoint/2010/main" val="20715250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DA10A8E-AAA0-7B46-8039-29BF24ACF866}"/>
              </a:ext>
            </a:extLst>
          </p:cNvPr>
          <p:cNvPicPr>
            <a:picLocks noChangeAspect="1"/>
          </p:cNvPicPr>
          <p:nvPr/>
        </p:nvPicPr>
        <p:blipFill>
          <a:blip r:embed="rId3"/>
          <a:stretch>
            <a:fillRect/>
          </a:stretch>
        </p:blipFill>
        <p:spPr>
          <a:xfrm>
            <a:off x="2832919" y="977753"/>
            <a:ext cx="6992726" cy="5880247"/>
          </a:xfrm>
          <a:prstGeom prst="rect">
            <a:avLst/>
          </a:prstGeom>
        </p:spPr>
      </p:pic>
      <p:sp>
        <p:nvSpPr>
          <p:cNvPr id="2" name="Slide Number Placeholder 1">
            <a:extLst>
              <a:ext uri="{FF2B5EF4-FFF2-40B4-BE49-F238E27FC236}">
                <a16:creationId xmlns:a16="http://schemas.microsoft.com/office/drawing/2014/main" id="{A9713D69-0029-6F47-B742-FFA89FD29185}"/>
              </a:ext>
            </a:extLst>
          </p:cNvPr>
          <p:cNvSpPr>
            <a:spLocks noGrp="1"/>
          </p:cNvSpPr>
          <p:nvPr>
            <p:ph type="sldNum" sz="quarter" idx="12"/>
          </p:nvPr>
        </p:nvSpPr>
        <p:spPr/>
        <p:txBody>
          <a:bodyPr/>
          <a:lstStyle/>
          <a:p>
            <a:fld id="{591A223C-FA10-BC46-A853-03BA373D023C}" type="slidenum">
              <a:rPr lang="en-US" smtClean="0"/>
              <a:t>48</a:t>
            </a:fld>
            <a:endParaRPr lang="en-US"/>
          </a:p>
        </p:txBody>
      </p:sp>
      <p:sp>
        <p:nvSpPr>
          <p:cNvPr id="3" name="Title 2">
            <a:extLst>
              <a:ext uri="{FF2B5EF4-FFF2-40B4-BE49-F238E27FC236}">
                <a16:creationId xmlns:a16="http://schemas.microsoft.com/office/drawing/2014/main" id="{AEC64B60-3A80-F944-81FF-BF236E4BF0FD}"/>
              </a:ext>
            </a:extLst>
          </p:cNvPr>
          <p:cNvSpPr>
            <a:spLocks noGrp="1"/>
          </p:cNvSpPr>
          <p:nvPr>
            <p:ph type="title"/>
          </p:nvPr>
        </p:nvSpPr>
        <p:spPr/>
        <p:txBody>
          <a:bodyPr/>
          <a:lstStyle/>
          <a:p>
            <a:r>
              <a:rPr lang="en-US" dirty="0"/>
              <a:t>Programming model</a:t>
            </a:r>
          </a:p>
        </p:txBody>
      </p:sp>
      <p:sp>
        <p:nvSpPr>
          <p:cNvPr id="7" name="TextBox 6">
            <a:extLst>
              <a:ext uri="{FF2B5EF4-FFF2-40B4-BE49-F238E27FC236}">
                <a16:creationId xmlns:a16="http://schemas.microsoft.com/office/drawing/2014/main" id="{9AFDC88F-0D0D-9145-9BEC-3186902EF669}"/>
              </a:ext>
            </a:extLst>
          </p:cNvPr>
          <p:cNvSpPr txBox="1"/>
          <p:nvPr/>
        </p:nvSpPr>
        <p:spPr>
          <a:xfrm>
            <a:off x="1213659" y="1263535"/>
            <a:ext cx="1465209" cy="369332"/>
          </a:xfrm>
          <a:prstGeom prst="rect">
            <a:avLst/>
          </a:prstGeom>
          <a:noFill/>
        </p:spPr>
        <p:txBody>
          <a:bodyPr wrap="none" rtlCol="0">
            <a:spAutoFit/>
          </a:bodyPr>
          <a:lstStyle/>
          <a:p>
            <a:r>
              <a:rPr lang="en-US" dirty="0"/>
              <a:t>linear algebra</a:t>
            </a:r>
          </a:p>
        </p:txBody>
      </p:sp>
      <p:sp>
        <p:nvSpPr>
          <p:cNvPr id="8" name="TextBox 7">
            <a:extLst>
              <a:ext uri="{FF2B5EF4-FFF2-40B4-BE49-F238E27FC236}">
                <a16:creationId xmlns:a16="http://schemas.microsoft.com/office/drawing/2014/main" id="{8457BF53-A19B-E64E-B0FD-97DDFDB266BF}"/>
              </a:ext>
            </a:extLst>
          </p:cNvPr>
          <p:cNvSpPr txBox="1"/>
          <p:nvPr/>
        </p:nvSpPr>
        <p:spPr>
          <a:xfrm>
            <a:off x="1084040" y="2862349"/>
            <a:ext cx="1724446" cy="369332"/>
          </a:xfrm>
          <a:prstGeom prst="rect">
            <a:avLst/>
          </a:prstGeom>
          <a:noFill/>
        </p:spPr>
        <p:txBody>
          <a:bodyPr wrap="none" rtlCol="0">
            <a:spAutoFit/>
          </a:bodyPr>
          <a:lstStyle/>
          <a:p>
            <a:r>
              <a:rPr lang="en-US" dirty="0"/>
              <a:t>quantum circuit </a:t>
            </a:r>
          </a:p>
        </p:txBody>
      </p:sp>
      <p:sp>
        <p:nvSpPr>
          <p:cNvPr id="9" name="TextBox 8">
            <a:extLst>
              <a:ext uri="{FF2B5EF4-FFF2-40B4-BE49-F238E27FC236}">
                <a16:creationId xmlns:a16="http://schemas.microsoft.com/office/drawing/2014/main" id="{6D703697-C1D7-794D-9671-245528D89E86}"/>
              </a:ext>
            </a:extLst>
          </p:cNvPr>
          <p:cNvSpPr txBox="1"/>
          <p:nvPr/>
        </p:nvSpPr>
        <p:spPr>
          <a:xfrm>
            <a:off x="800230" y="4461163"/>
            <a:ext cx="1955664" cy="646331"/>
          </a:xfrm>
          <a:prstGeom prst="rect">
            <a:avLst/>
          </a:prstGeom>
          <a:noFill/>
        </p:spPr>
        <p:txBody>
          <a:bodyPr wrap="none" rtlCol="0">
            <a:spAutoFit/>
          </a:bodyPr>
          <a:lstStyle/>
          <a:p>
            <a:pPr algn="ctr"/>
            <a:r>
              <a:rPr lang="en-US" dirty="0"/>
              <a:t>Quantum</a:t>
            </a:r>
          </a:p>
          <a:p>
            <a:pPr algn="ctr"/>
            <a:r>
              <a:rPr lang="en-US" dirty="0"/>
              <a:t>assembly language</a:t>
            </a:r>
          </a:p>
        </p:txBody>
      </p:sp>
      <p:sp>
        <p:nvSpPr>
          <p:cNvPr id="10" name="TextBox 9">
            <a:extLst>
              <a:ext uri="{FF2B5EF4-FFF2-40B4-BE49-F238E27FC236}">
                <a16:creationId xmlns:a16="http://schemas.microsoft.com/office/drawing/2014/main" id="{95C69EDC-F2A1-3947-B886-5A7C682DDE81}"/>
              </a:ext>
            </a:extLst>
          </p:cNvPr>
          <p:cNvSpPr txBox="1"/>
          <p:nvPr/>
        </p:nvSpPr>
        <p:spPr>
          <a:xfrm>
            <a:off x="9958177" y="4599662"/>
            <a:ext cx="852413" cy="369332"/>
          </a:xfrm>
          <a:prstGeom prst="rect">
            <a:avLst/>
          </a:prstGeom>
          <a:noFill/>
        </p:spPr>
        <p:txBody>
          <a:bodyPr wrap="none" rtlCol="0">
            <a:spAutoFit/>
          </a:bodyPr>
          <a:lstStyle/>
          <a:p>
            <a:r>
              <a:rPr lang="en-US" dirty="0"/>
              <a:t>Python</a:t>
            </a:r>
          </a:p>
        </p:txBody>
      </p:sp>
      <p:sp>
        <p:nvSpPr>
          <p:cNvPr id="11" name="TextBox 10">
            <a:extLst>
              <a:ext uri="{FF2B5EF4-FFF2-40B4-BE49-F238E27FC236}">
                <a16:creationId xmlns:a16="http://schemas.microsoft.com/office/drawing/2014/main" id="{BA81C0A8-861D-7E4C-A73D-D20F47F71B83}"/>
              </a:ext>
            </a:extLst>
          </p:cNvPr>
          <p:cNvSpPr txBox="1"/>
          <p:nvPr/>
        </p:nvSpPr>
        <p:spPr>
          <a:xfrm>
            <a:off x="18832314" y="6336975"/>
            <a:ext cx="852413" cy="369332"/>
          </a:xfrm>
          <a:prstGeom prst="rect">
            <a:avLst/>
          </a:prstGeom>
          <a:noFill/>
        </p:spPr>
        <p:txBody>
          <a:bodyPr wrap="none" rtlCol="0">
            <a:spAutoFit/>
          </a:bodyPr>
          <a:lstStyle/>
          <a:p>
            <a:r>
              <a:rPr lang="en-US" dirty="0"/>
              <a:t>Python</a:t>
            </a:r>
          </a:p>
        </p:txBody>
      </p:sp>
      <p:sp>
        <p:nvSpPr>
          <p:cNvPr id="12" name="TextBox 11">
            <a:extLst>
              <a:ext uri="{FF2B5EF4-FFF2-40B4-BE49-F238E27FC236}">
                <a16:creationId xmlns:a16="http://schemas.microsoft.com/office/drawing/2014/main" id="{16A8D19C-A208-D04F-B57F-C26A951A4C70}"/>
              </a:ext>
            </a:extLst>
          </p:cNvPr>
          <p:cNvSpPr txBox="1"/>
          <p:nvPr/>
        </p:nvSpPr>
        <p:spPr>
          <a:xfrm>
            <a:off x="8973232" y="5884574"/>
            <a:ext cx="574196" cy="369332"/>
          </a:xfrm>
          <a:prstGeom prst="rect">
            <a:avLst/>
          </a:prstGeom>
          <a:noFill/>
        </p:spPr>
        <p:txBody>
          <a:bodyPr wrap="none" rtlCol="0">
            <a:spAutoFit/>
          </a:bodyPr>
          <a:lstStyle/>
          <a:p>
            <a:r>
              <a:rPr lang="en-US" dirty="0"/>
              <a:t>CPU</a:t>
            </a:r>
          </a:p>
        </p:txBody>
      </p:sp>
      <p:sp>
        <p:nvSpPr>
          <p:cNvPr id="13" name="TextBox 12">
            <a:extLst>
              <a:ext uri="{FF2B5EF4-FFF2-40B4-BE49-F238E27FC236}">
                <a16:creationId xmlns:a16="http://schemas.microsoft.com/office/drawing/2014/main" id="{C18D54BB-CF06-654E-9139-D9880E6C1A6D}"/>
              </a:ext>
            </a:extLst>
          </p:cNvPr>
          <p:cNvSpPr txBox="1"/>
          <p:nvPr/>
        </p:nvSpPr>
        <p:spPr>
          <a:xfrm>
            <a:off x="5131079" y="5971381"/>
            <a:ext cx="606256" cy="369332"/>
          </a:xfrm>
          <a:prstGeom prst="rect">
            <a:avLst/>
          </a:prstGeom>
          <a:noFill/>
        </p:spPr>
        <p:txBody>
          <a:bodyPr wrap="none" rtlCol="0">
            <a:spAutoFit/>
          </a:bodyPr>
          <a:lstStyle/>
          <a:p>
            <a:r>
              <a:rPr lang="en-US" dirty="0"/>
              <a:t>QPU</a:t>
            </a:r>
          </a:p>
        </p:txBody>
      </p:sp>
      <p:sp>
        <p:nvSpPr>
          <p:cNvPr id="14" name="TextBox 13">
            <a:extLst>
              <a:ext uri="{FF2B5EF4-FFF2-40B4-BE49-F238E27FC236}">
                <a16:creationId xmlns:a16="http://schemas.microsoft.com/office/drawing/2014/main" id="{027C6379-E82B-4642-9793-8EA2F9DE3254}"/>
              </a:ext>
            </a:extLst>
          </p:cNvPr>
          <p:cNvSpPr txBox="1"/>
          <p:nvPr/>
        </p:nvSpPr>
        <p:spPr>
          <a:xfrm>
            <a:off x="7248786" y="1734138"/>
            <a:ext cx="1341521" cy="369332"/>
          </a:xfrm>
          <a:prstGeom prst="rect">
            <a:avLst/>
          </a:prstGeom>
          <a:noFill/>
        </p:spPr>
        <p:txBody>
          <a:bodyPr wrap="none" rtlCol="0">
            <a:spAutoFit/>
          </a:bodyPr>
          <a:lstStyle/>
          <a:p>
            <a:r>
              <a:rPr lang="en-US" dirty="0"/>
              <a:t>visualization</a:t>
            </a:r>
          </a:p>
        </p:txBody>
      </p:sp>
    </p:spTree>
    <p:extLst>
      <p:ext uri="{BB962C8B-B14F-4D97-AF65-F5344CB8AC3E}">
        <p14:creationId xmlns:p14="http://schemas.microsoft.com/office/powerpoint/2010/main" val="12206521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99E3836-FC0F-AB49-B4F5-6E2F4E189C69}"/>
              </a:ext>
            </a:extLst>
          </p:cNvPr>
          <p:cNvSpPr>
            <a:spLocks noGrp="1"/>
          </p:cNvSpPr>
          <p:nvPr>
            <p:ph type="sldNum" sz="quarter" idx="4294967295"/>
          </p:nvPr>
        </p:nvSpPr>
        <p:spPr>
          <a:xfrm>
            <a:off x="8610600" y="6356350"/>
            <a:ext cx="2743200" cy="365125"/>
          </a:xfrm>
        </p:spPr>
        <p:txBody>
          <a:bodyPr/>
          <a:lstStyle/>
          <a:p>
            <a:fld id="{591A223C-FA10-BC46-A853-03BA373D023C}" type="slidenum">
              <a:rPr lang="en-US" smtClean="0"/>
              <a:t>49</a:t>
            </a:fld>
            <a:endParaRPr lang="en-US"/>
          </a:p>
        </p:txBody>
      </p:sp>
      <p:pic>
        <p:nvPicPr>
          <p:cNvPr id="5" name="Picture 4">
            <a:extLst>
              <a:ext uri="{FF2B5EF4-FFF2-40B4-BE49-F238E27FC236}">
                <a16:creationId xmlns:a16="http://schemas.microsoft.com/office/drawing/2014/main" id="{C4D3E937-5D44-1A4F-B065-BA525790744B}"/>
              </a:ext>
            </a:extLst>
          </p:cNvPr>
          <p:cNvPicPr>
            <a:picLocks noChangeAspect="1"/>
          </p:cNvPicPr>
          <p:nvPr/>
        </p:nvPicPr>
        <p:blipFill>
          <a:blip r:embed="rId3"/>
          <a:stretch>
            <a:fillRect/>
          </a:stretch>
        </p:blipFill>
        <p:spPr>
          <a:xfrm>
            <a:off x="0" y="80252"/>
            <a:ext cx="12192000" cy="6697495"/>
          </a:xfrm>
          <a:prstGeom prst="rect">
            <a:avLst/>
          </a:prstGeom>
        </p:spPr>
      </p:pic>
    </p:spTree>
    <p:extLst>
      <p:ext uri="{BB962C8B-B14F-4D97-AF65-F5344CB8AC3E}">
        <p14:creationId xmlns:p14="http://schemas.microsoft.com/office/powerpoint/2010/main" val="20160036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73">
            <a:extLst>
              <a:ext uri="{FF2B5EF4-FFF2-40B4-BE49-F238E27FC236}">
                <a16:creationId xmlns:a16="http://schemas.microsoft.com/office/drawing/2014/main" id="{FF8580A3-322F-1B49-BC93-F8B368AD9D33}"/>
              </a:ext>
            </a:extLst>
          </p:cNvPr>
          <p:cNvPicPr>
            <a:picLocks noChangeAspect="1"/>
          </p:cNvPicPr>
          <p:nvPr/>
        </p:nvPicPr>
        <p:blipFill>
          <a:blip r:embed="rId3"/>
          <a:stretch>
            <a:fillRect/>
          </a:stretch>
        </p:blipFill>
        <p:spPr>
          <a:xfrm>
            <a:off x="4330699" y="4890261"/>
            <a:ext cx="1765300" cy="1625600"/>
          </a:xfrm>
          <a:prstGeom prst="rect">
            <a:avLst/>
          </a:prstGeom>
        </p:spPr>
      </p:pic>
      <p:pic>
        <p:nvPicPr>
          <p:cNvPr id="17" name="Picture 16">
            <a:extLst>
              <a:ext uri="{FF2B5EF4-FFF2-40B4-BE49-F238E27FC236}">
                <a16:creationId xmlns:a16="http://schemas.microsoft.com/office/drawing/2014/main" id="{1D140366-A01A-2749-8C09-16ED7DD8BC73}"/>
              </a:ext>
            </a:extLst>
          </p:cNvPr>
          <p:cNvPicPr>
            <a:picLocks noChangeAspect="1"/>
          </p:cNvPicPr>
          <p:nvPr/>
        </p:nvPicPr>
        <p:blipFill>
          <a:blip r:embed="rId4"/>
          <a:stretch>
            <a:fillRect/>
          </a:stretch>
        </p:blipFill>
        <p:spPr>
          <a:xfrm>
            <a:off x="3402297" y="1067090"/>
            <a:ext cx="4476593" cy="3464056"/>
          </a:xfrm>
          <a:prstGeom prst="rect">
            <a:avLst/>
          </a:prstGeom>
        </p:spPr>
      </p:pic>
      <p:sp>
        <p:nvSpPr>
          <p:cNvPr id="2" name="Title 1">
            <a:extLst>
              <a:ext uri="{FF2B5EF4-FFF2-40B4-BE49-F238E27FC236}">
                <a16:creationId xmlns:a16="http://schemas.microsoft.com/office/drawing/2014/main" id="{CC9CA7D9-4A36-5944-933F-B2D0FAF623F2}"/>
              </a:ext>
            </a:extLst>
          </p:cNvPr>
          <p:cNvSpPr>
            <a:spLocks noGrp="1"/>
          </p:cNvSpPr>
          <p:nvPr>
            <p:ph type="title"/>
          </p:nvPr>
        </p:nvSpPr>
        <p:spPr>
          <a:xfrm>
            <a:off x="0" y="0"/>
            <a:ext cx="12192000" cy="928688"/>
          </a:xfrm>
        </p:spPr>
        <p:txBody>
          <a:bodyPr/>
          <a:lstStyle/>
          <a:p>
            <a:r>
              <a:rPr lang="en-US" dirty="0"/>
              <a:t>Quantum clouds</a:t>
            </a:r>
          </a:p>
        </p:txBody>
      </p:sp>
      <p:sp>
        <p:nvSpPr>
          <p:cNvPr id="3" name="Slide Number Placeholder 2">
            <a:extLst>
              <a:ext uri="{FF2B5EF4-FFF2-40B4-BE49-F238E27FC236}">
                <a16:creationId xmlns:a16="http://schemas.microsoft.com/office/drawing/2014/main" id="{F97C90F2-7510-6F4F-9FFD-4E8B590C0F1F}"/>
              </a:ext>
            </a:extLst>
          </p:cNvPr>
          <p:cNvSpPr>
            <a:spLocks noGrp="1"/>
          </p:cNvSpPr>
          <p:nvPr>
            <p:ph type="sldNum" sz="quarter" idx="12"/>
          </p:nvPr>
        </p:nvSpPr>
        <p:spPr/>
        <p:txBody>
          <a:bodyPr/>
          <a:lstStyle/>
          <a:p>
            <a:fld id="{591A223C-FA10-BC46-A853-03BA373D023C}" type="slidenum">
              <a:rPr lang="en-US" smtClean="0"/>
              <a:t>50</a:t>
            </a:fld>
            <a:endParaRPr lang="en-US" dirty="0"/>
          </a:p>
        </p:txBody>
      </p:sp>
      <p:pic>
        <p:nvPicPr>
          <p:cNvPr id="20" name="Picture 19">
            <a:extLst>
              <a:ext uri="{FF2B5EF4-FFF2-40B4-BE49-F238E27FC236}">
                <a16:creationId xmlns:a16="http://schemas.microsoft.com/office/drawing/2014/main" id="{5A7F721F-B39D-CB46-B2AC-A05734FD3F4A}"/>
              </a:ext>
            </a:extLst>
          </p:cNvPr>
          <p:cNvPicPr>
            <a:picLocks noChangeAspect="1"/>
          </p:cNvPicPr>
          <p:nvPr/>
        </p:nvPicPr>
        <p:blipFill>
          <a:blip r:embed="rId5"/>
          <a:stretch>
            <a:fillRect/>
          </a:stretch>
        </p:blipFill>
        <p:spPr>
          <a:xfrm flipH="1">
            <a:off x="4265463" y="1743701"/>
            <a:ext cx="2875288" cy="2105845"/>
          </a:xfrm>
          <a:prstGeom prst="rect">
            <a:avLst/>
          </a:prstGeom>
        </p:spPr>
      </p:pic>
      <p:pic>
        <p:nvPicPr>
          <p:cNvPr id="21" name="Picture 20">
            <a:extLst>
              <a:ext uri="{FF2B5EF4-FFF2-40B4-BE49-F238E27FC236}">
                <a16:creationId xmlns:a16="http://schemas.microsoft.com/office/drawing/2014/main" id="{A6BE0264-9152-C643-9547-E64759465171}"/>
              </a:ext>
            </a:extLst>
          </p:cNvPr>
          <p:cNvPicPr>
            <a:picLocks noChangeAspect="1"/>
          </p:cNvPicPr>
          <p:nvPr/>
        </p:nvPicPr>
        <p:blipFill>
          <a:blip r:embed="rId6"/>
          <a:stretch>
            <a:fillRect/>
          </a:stretch>
        </p:blipFill>
        <p:spPr>
          <a:xfrm>
            <a:off x="8600558" y="2051813"/>
            <a:ext cx="3087914" cy="1707710"/>
          </a:xfrm>
          <a:prstGeom prst="rect">
            <a:avLst/>
          </a:prstGeom>
        </p:spPr>
      </p:pic>
      <p:pic>
        <p:nvPicPr>
          <p:cNvPr id="22" name="Picture 21">
            <a:extLst>
              <a:ext uri="{FF2B5EF4-FFF2-40B4-BE49-F238E27FC236}">
                <a16:creationId xmlns:a16="http://schemas.microsoft.com/office/drawing/2014/main" id="{EC92674D-E9C0-7F40-9CDA-A811896351C1}"/>
              </a:ext>
            </a:extLst>
          </p:cNvPr>
          <p:cNvPicPr>
            <a:picLocks noChangeAspect="1"/>
          </p:cNvPicPr>
          <p:nvPr/>
        </p:nvPicPr>
        <p:blipFill>
          <a:blip r:embed="rId7"/>
          <a:stretch>
            <a:fillRect/>
          </a:stretch>
        </p:blipFill>
        <p:spPr>
          <a:xfrm>
            <a:off x="8570380" y="3662040"/>
            <a:ext cx="3118092" cy="1559046"/>
          </a:xfrm>
          <a:prstGeom prst="rect">
            <a:avLst/>
          </a:prstGeom>
        </p:spPr>
      </p:pic>
      <p:pic>
        <p:nvPicPr>
          <p:cNvPr id="24" name="Picture 23">
            <a:extLst>
              <a:ext uri="{FF2B5EF4-FFF2-40B4-BE49-F238E27FC236}">
                <a16:creationId xmlns:a16="http://schemas.microsoft.com/office/drawing/2014/main" id="{C99DCBA1-1FC2-D645-88E0-232E5F959D55}"/>
              </a:ext>
            </a:extLst>
          </p:cNvPr>
          <p:cNvPicPr>
            <a:picLocks noChangeAspect="1"/>
          </p:cNvPicPr>
          <p:nvPr/>
        </p:nvPicPr>
        <p:blipFill>
          <a:blip r:embed="rId8"/>
          <a:stretch>
            <a:fillRect/>
          </a:stretch>
        </p:blipFill>
        <p:spPr>
          <a:xfrm>
            <a:off x="8928100" y="1247820"/>
            <a:ext cx="1892300" cy="635000"/>
          </a:xfrm>
          <a:prstGeom prst="rect">
            <a:avLst/>
          </a:prstGeom>
        </p:spPr>
      </p:pic>
      <p:pic>
        <p:nvPicPr>
          <p:cNvPr id="25" name="Picture 24">
            <a:extLst>
              <a:ext uri="{FF2B5EF4-FFF2-40B4-BE49-F238E27FC236}">
                <a16:creationId xmlns:a16="http://schemas.microsoft.com/office/drawing/2014/main" id="{7791635A-388C-6F49-B980-779A3A9302C0}"/>
              </a:ext>
            </a:extLst>
          </p:cNvPr>
          <p:cNvPicPr>
            <a:picLocks noChangeAspect="1"/>
          </p:cNvPicPr>
          <p:nvPr/>
        </p:nvPicPr>
        <p:blipFill>
          <a:blip r:embed="rId8"/>
          <a:stretch>
            <a:fillRect/>
          </a:stretch>
        </p:blipFill>
        <p:spPr>
          <a:xfrm>
            <a:off x="199168" y="2383261"/>
            <a:ext cx="1892300" cy="635000"/>
          </a:xfrm>
          <a:prstGeom prst="rect">
            <a:avLst/>
          </a:prstGeom>
        </p:spPr>
      </p:pic>
      <p:pic>
        <p:nvPicPr>
          <p:cNvPr id="26" name="Picture 25">
            <a:extLst>
              <a:ext uri="{FF2B5EF4-FFF2-40B4-BE49-F238E27FC236}">
                <a16:creationId xmlns:a16="http://schemas.microsoft.com/office/drawing/2014/main" id="{ADD8EBC5-0311-C447-8AE5-5CD6F0275354}"/>
              </a:ext>
            </a:extLst>
          </p:cNvPr>
          <p:cNvPicPr>
            <a:picLocks noChangeAspect="1"/>
          </p:cNvPicPr>
          <p:nvPr/>
        </p:nvPicPr>
        <p:blipFill>
          <a:blip r:embed="rId9"/>
          <a:stretch>
            <a:fillRect/>
          </a:stretch>
        </p:blipFill>
        <p:spPr>
          <a:xfrm>
            <a:off x="186468" y="3418983"/>
            <a:ext cx="1905000" cy="1066800"/>
          </a:xfrm>
          <a:prstGeom prst="rect">
            <a:avLst/>
          </a:prstGeom>
        </p:spPr>
      </p:pic>
      <p:pic>
        <p:nvPicPr>
          <p:cNvPr id="27" name="Picture 26">
            <a:extLst>
              <a:ext uri="{FF2B5EF4-FFF2-40B4-BE49-F238E27FC236}">
                <a16:creationId xmlns:a16="http://schemas.microsoft.com/office/drawing/2014/main" id="{5F0D7B3F-4741-1346-84EC-34B288F0B05D}"/>
              </a:ext>
            </a:extLst>
          </p:cNvPr>
          <p:cNvPicPr>
            <a:picLocks noChangeAspect="1"/>
          </p:cNvPicPr>
          <p:nvPr/>
        </p:nvPicPr>
        <p:blipFill>
          <a:blip r:embed="rId10"/>
          <a:stretch>
            <a:fillRect/>
          </a:stretch>
        </p:blipFill>
        <p:spPr>
          <a:xfrm>
            <a:off x="172457" y="4833824"/>
            <a:ext cx="2227843" cy="774524"/>
          </a:xfrm>
          <a:prstGeom prst="rect">
            <a:avLst/>
          </a:prstGeom>
        </p:spPr>
      </p:pic>
      <p:pic>
        <p:nvPicPr>
          <p:cNvPr id="28" name="Picture 27">
            <a:extLst>
              <a:ext uri="{FF2B5EF4-FFF2-40B4-BE49-F238E27FC236}">
                <a16:creationId xmlns:a16="http://schemas.microsoft.com/office/drawing/2014/main" id="{59DE66E7-0C14-F34D-9239-A571AE05A8D0}"/>
              </a:ext>
            </a:extLst>
          </p:cNvPr>
          <p:cNvPicPr>
            <a:picLocks noChangeAspect="1"/>
          </p:cNvPicPr>
          <p:nvPr/>
        </p:nvPicPr>
        <p:blipFill>
          <a:blip r:embed="rId11"/>
          <a:stretch>
            <a:fillRect/>
          </a:stretch>
        </p:blipFill>
        <p:spPr>
          <a:xfrm>
            <a:off x="101633" y="1354092"/>
            <a:ext cx="2860502" cy="800941"/>
          </a:xfrm>
          <a:prstGeom prst="rect">
            <a:avLst/>
          </a:prstGeom>
        </p:spPr>
      </p:pic>
      <p:cxnSp>
        <p:nvCxnSpPr>
          <p:cNvPr id="51" name="Elbow Connector 50">
            <a:extLst>
              <a:ext uri="{FF2B5EF4-FFF2-40B4-BE49-F238E27FC236}">
                <a16:creationId xmlns:a16="http://schemas.microsoft.com/office/drawing/2014/main" id="{F9E904F9-8BB8-5B4C-85FC-DCEE1DD86E0E}"/>
              </a:ext>
            </a:extLst>
          </p:cNvPr>
          <p:cNvCxnSpPr>
            <a:cxnSpLocks/>
            <a:stCxn id="24" idx="1"/>
            <a:endCxn id="22" idx="1"/>
          </p:cNvCxnSpPr>
          <p:nvPr/>
        </p:nvCxnSpPr>
        <p:spPr>
          <a:xfrm rot="10800000" flipV="1">
            <a:off x="8570380" y="1565319"/>
            <a:ext cx="357720" cy="2876243"/>
          </a:xfrm>
          <a:prstGeom prst="bentConnector3">
            <a:avLst>
              <a:gd name="adj1" fmla="val 163905"/>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D07353A-1FB7-AC40-9175-9A082390DE7D}"/>
              </a:ext>
            </a:extLst>
          </p:cNvPr>
          <p:cNvCxnSpPr>
            <a:cxnSpLocks/>
          </p:cNvCxnSpPr>
          <p:nvPr/>
        </p:nvCxnSpPr>
        <p:spPr>
          <a:xfrm>
            <a:off x="7235744" y="3018261"/>
            <a:ext cx="1083308" cy="0"/>
          </a:xfrm>
          <a:prstGeom prst="line">
            <a:avLst/>
          </a:prstGeom>
          <a:ln cap="rnd">
            <a:headEnd type="ova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21D6F114-7616-AE4B-BA18-0C39D277C9FC}"/>
              </a:ext>
            </a:extLst>
          </p:cNvPr>
          <p:cNvCxnSpPr>
            <a:cxnSpLocks/>
          </p:cNvCxnSpPr>
          <p:nvPr/>
        </p:nvCxnSpPr>
        <p:spPr>
          <a:xfrm>
            <a:off x="2782957" y="2136820"/>
            <a:ext cx="0" cy="3200493"/>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CD00307-AAA2-FC49-98EF-6E23433658DA}"/>
              </a:ext>
            </a:extLst>
          </p:cNvPr>
          <p:cNvCxnSpPr>
            <a:cxnSpLocks/>
          </p:cNvCxnSpPr>
          <p:nvPr/>
        </p:nvCxnSpPr>
        <p:spPr>
          <a:xfrm>
            <a:off x="2782957" y="2663687"/>
            <a:ext cx="1371600" cy="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DFC3851E-3901-1942-9EE1-C592FB480625}"/>
              </a:ext>
            </a:extLst>
          </p:cNvPr>
          <p:cNvCxnSpPr/>
          <p:nvPr/>
        </p:nvCxnSpPr>
        <p:spPr>
          <a:xfrm>
            <a:off x="2091468" y="2663687"/>
            <a:ext cx="70521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FD16A085-12E2-7E4C-AC1F-62B88745F3F1}"/>
              </a:ext>
            </a:extLst>
          </p:cNvPr>
          <p:cNvCxnSpPr/>
          <p:nvPr/>
        </p:nvCxnSpPr>
        <p:spPr>
          <a:xfrm>
            <a:off x="2077747" y="3889513"/>
            <a:ext cx="70521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B8D4CFA-7AB5-4C4D-98E0-F324BF3DCC2D}"/>
              </a:ext>
            </a:extLst>
          </p:cNvPr>
          <p:cNvCxnSpPr>
            <a:cxnSpLocks/>
          </p:cNvCxnSpPr>
          <p:nvPr/>
        </p:nvCxnSpPr>
        <p:spPr>
          <a:xfrm>
            <a:off x="2400300" y="5337313"/>
            <a:ext cx="382657"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76222EC1-C102-C549-A729-DB7E2CF78569}"/>
              </a:ext>
            </a:extLst>
          </p:cNvPr>
          <p:cNvGrpSpPr/>
          <p:nvPr/>
        </p:nvGrpSpPr>
        <p:grpSpPr>
          <a:xfrm>
            <a:off x="5983984" y="5085583"/>
            <a:ext cx="4671853" cy="1545693"/>
            <a:chOff x="5983984" y="5085583"/>
            <a:chExt cx="4671853" cy="1545693"/>
          </a:xfrm>
        </p:grpSpPr>
        <p:grpSp>
          <p:nvGrpSpPr>
            <p:cNvPr id="70" name="Group 69">
              <a:extLst>
                <a:ext uri="{FF2B5EF4-FFF2-40B4-BE49-F238E27FC236}">
                  <a16:creationId xmlns:a16="http://schemas.microsoft.com/office/drawing/2014/main" id="{C730CB37-8F94-584B-AE88-09B319916691}"/>
                </a:ext>
              </a:extLst>
            </p:cNvPr>
            <p:cNvGrpSpPr/>
            <p:nvPr/>
          </p:nvGrpSpPr>
          <p:grpSpPr>
            <a:xfrm>
              <a:off x="5983984" y="5608348"/>
              <a:ext cx="3218087" cy="1022928"/>
              <a:chOff x="7727927" y="6091000"/>
              <a:chExt cx="3218087" cy="1022928"/>
            </a:xfrm>
          </p:grpSpPr>
          <p:pic>
            <p:nvPicPr>
              <p:cNvPr id="68" name="Picture 67">
                <a:extLst>
                  <a:ext uri="{FF2B5EF4-FFF2-40B4-BE49-F238E27FC236}">
                    <a16:creationId xmlns:a16="http://schemas.microsoft.com/office/drawing/2014/main" id="{A30A8BAD-B8EC-0746-8D13-DEB0F972EC25}"/>
                  </a:ext>
                </a:extLst>
              </p:cNvPr>
              <p:cNvPicPr>
                <a:picLocks noChangeAspect="1"/>
              </p:cNvPicPr>
              <p:nvPr/>
            </p:nvPicPr>
            <p:blipFill>
              <a:blip r:embed="rId12"/>
              <a:stretch>
                <a:fillRect/>
              </a:stretch>
            </p:blipFill>
            <p:spPr>
              <a:xfrm>
                <a:off x="8979687" y="6408557"/>
                <a:ext cx="1966327" cy="548398"/>
              </a:xfrm>
              <a:prstGeom prst="rect">
                <a:avLst/>
              </a:prstGeom>
            </p:spPr>
          </p:pic>
          <p:pic>
            <p:nvPicPr>
              <p:cNvPr id="69" name="Picture 68">
                <a:extLst>
                  <a:ext uri="{FF2B5EF4-FFF2-40B4-BE49-F238E27FC236}">
                    <a16:creationId xmlns:a16="http://schemas.microsoft.com/office/drawing/2014/main" id="{2F61129E-5AF7-D446-87B4-C390350E3208}"/>
                  </a:ext>
                </a:extLst>
              </p:cNvPr>
              <p:cNvPicPr>
                <a:picLocks noChangeAspect="1"/>
              </p:cNvPicPr>
              <p:nvPr/>
            </p:nvPicPr>
            <p:blipFill>
              <a:blip r:embed="rId13"/>
              <a:stretch>
                <a:fillRect/>
              </a:stretch>
            </p:blipFill>
            <p:spPr>
              <a:xfrm>
                <a:off x="7727927" y="6091000"/>
                <a:ext cx="1636685" cy="1022928"/>
              </a:xfrm>
              <a:prstGeom prst="rect">
                <a:avLst/>
              </a:prstGeom>
            </p:spPr>
          </p:pic>
        </p:grpSp>
        <p:sp>
          <p:nvSpPr>
            <p:cNvPr id="71" name="TextBox 70">
              <a:extLst>
                <a:ext uri="{FF2B5EF4-FFF2-40B4-BE49-F238E27FC236}">
                  <a16:creationId xmlns:a16="http://schemas.microsoft.com/office/drawing/2014/main" id="{AA9A75FD-1B9A-F749-9E3E-2179D364D3CF}"/>
                </a:ext>
              </a:extLst>
            </p:cNvPr>
            <p:cNvSpPr txBox="1"/>
            <p:nvPr/>
          </p:nvSpPr>
          <p:spPr>
            <a:xfrm>
              <a:off x="6095999" y="5085583"/>
              <a:ext cx="4559838" cy="461665"/>
            </a:xfrm>
            <a:prstGeom prst="rect">
              <a:avLst/>
            </a:prstGeom>
            <a:noFill/>
          </p:spPr>
          <p:txBody>
            <a:bodyPr wrap="none" rtlCol="0">
              <a:spAutoFit/>
            </a:bodyPr>
            <a:lstStyle/>
            <a:p>
              <a:r>
                <a:rPr lang="en-US" sz="2400" dirty="0">
                  <a:latin typeface="Arial Narrow" panose="020B0604020202020204" pitchFamily="34" charset="0"/>
                  <a:cs typeface="Arial Narrow" panose="020B0604020202020204" pitchFamily="34" charset="0"/>
                </a:rPr>
                <a:t>Quantum Assembly Language (QASM)</a:t>
              </a:r>
            </a:p>
          </p:txBody>
        </p:sp>
      </p:grpSp>
      <p:pic>
        <p:nvPicPr>
          <p:cNvPr id="78" name="Picture 77">
            <a:extLst>
              <a:ext uri="{FF2B5EF4-FFF2-40B4-BE49-F238E27FC236}">
                <a16:creationId xmlns:a16="http://schemas.microsoft.com/office/drawing/2014/main" id="{C9C78D21-F0E4-F847-8CAB-BA151D6604B5}"/>
              </a:ext>
            </a:extLst>
          </p:cNvPr>
          <p:cNvPicPr>
            <a:picLocks noChangeAspect="1"/>
          </p:cNvPicPr>
          <p:nvPr/>
        </p:nvPicPr>
        <p:blipFill>
          <a:blip r:embed="rId14"/>
          <a:stretch>
            <a:fillRect/>
          </a:stretch>
        </p:blipFill>
        <p:spPr>
          <a:xfrm>
            <a:off x="5464187" y="3944876"/>
            <a:ext cx="924475" cy="945385"/>
          </a:xfrm>
          <a:prstGeom prst="rect">
            <a:avLst/>
          </a:prstGeom>
        </p:spPr>
      </p:pic>
    </p:spTree>
    <p:extLst>
      <p:ext uri="{BB962C8B-B14F-4D97-AF65-F5344CB8AC3E}">
        <p14:creationId xmlns:p14="http://schemas.microsoft.com/office/powerpoint/2010/main" val="2135318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7D64E74-9200-A940-822D-536B85CF8DE9}"/>
              </a:ext>
            </a:extLst>
          </p:cNvPr>
          <p:cNvSpPr>
            <a:spLocks noGrp="1"/>
          </p:cNvSpPr>
          <p:nvPr>
            <p:ph type="sldNum" sz="quarter" idx="12"/>
          </p:nvPr>
        </p:nvSpPr>
        <p:spPr/>
        <p:txBody>
          <a:bodyPr/>
          <a:lstStyle/>
          <a:p>
            <a:fld id="{591A223C-FA10-BC46-A853-03BA373D023C}" type="slidenum">
              <a:rPr lang="en-US" smtClean="0"/>
              <a:t>51</a:t>
            </a:fld>
            <a:endParaRPr lang="en-US"/>
          </a:p>
        </p:txBody>
      </p:sp>
      <p:sp>
        <p:nvSpPr>
          <p:cNvPr id="3" name="Title 2">
            <a:extLst>
              <a:ext uri="{FF2B5EF4-FFF2-40B4-BE49-F238E27FC236}">
                <a16:creationId xmlns:a16="http://schemas.microsoft.com/office/drawing/2014/main" id="{80E01DAB-5163-904F-AE22-6E35848675F0}"/>
              </a:ext>
            </a:extLst>
          </p:cNvPr>
          <p:cNvSpPr>
            <a:spLocks noGrp="1"/>
          </p:cNvSpPr>
          <p:nvPr>
            <p:ph type="title"/>
          </p:nvPr>
        </p:nvSpPr>
        <p:spPr>
          <a:xfrm>
            <a:off x="0" y="0"/>
            <a:ext cx="12192000" cy="928688"/>
          </a:xfrm>
        </p:spPr>
        <p:txBody>
          <a:bodyPr/>
          <a:lstStyle/>
          <a:p>
            <a:r>
              <a:rPr lang="en-ZA" dirty="0"/>
              <a:t>Rose’s Law</a:t>
            </a:r>
            <a:endParaRPr lang="en-US" dirty="0"/>
          </a:p>
        </p:txBody>
      </p:sp>
      <p:pic>
        <p:nvPicPr>
          <p:cNvPr id="57" name="Picture 56">
            <a:extLst>
              <a:ext uri="{FF2B5EF4-FFF2-40B4-BE49-F238E27FC236}">
                <a16:creationId xmlns:a16="http://schemas.microsoft.com/office/drawing/2014/main" id="{9DBEC683-699C-FE41-B5AD-9D515681E173}"/>
              </a:ext>
            </a:extLst>
          </p:cNvPr>
          <p:cNvPicPr>
            <a:picLocks noChangeAspect="1"/>
          </p:cNvPicPr>
          <p:nvPr/>
        </p:nvPicPr>
        <p:blipFill>
          <a:blip r:embed="rId3"/>
          <a:stretch>
            <a:fillRect/>
          </a:stretch>
        </p:blipFill>
        <p:spPr>
          <a:xfrm>
            <a:off x="2839452" y="1079960"/>
            <a:ext cx="7034503" cy="5039387"/>
          </a:xfrm>
          <a:prstGeom prst="rect">
            <a:avLst/>
          </a:prstGeom>
        </p:spPr>
      </p:pic>
      <p:pic>
        <p:nvPicPr>
          <p:cNvPr id="4" name="Picture 3">
            <a:extLst>
              <a:ext uri="{FF2B5EF4-FFF2-40B4-BE49-F238E27FC236}">
                <a16:creationId xmlns:a16="http://schemas.microsoft.com/office/drawing/2014/main" id="{FEDB9A72-86DD-4844-B6A5-62BF3BB9D155}"/>
              </a:ext>
            </a:extLst>
          </p:cNvPr>
          <p:cNvPicPr>
            <a:picLocks noChangeAspect="1"/>
          </p:cNvPicPr>
          <p:nvPr/>
        </p:nvPicPr>
        <p:blipFill>
          <a:blip r:embed="rId4"/>
          <a:stretch>
            <a:fillRect/>
          </a:stretch>
        </p:blipFill>
        <p:spPr>
          <a:xfrm>
            <a:off x="10165726" y="464344"/>
            <a:ext cx="1734503" cy="3926001"/>
          </a:xfrm>
          <a:prstGeom prst="rect">
            <a:avLst/>
          </a:prstGeom>
        </p:spPr>
      </p:pic>
      <p:pic>
        <p:nvPicPr>
          <p:cNvPr id="6" name="Picture 5">
            <a:extLst>
              <a:ext uri="{FF2B5EF4-FFF2-40B4-BE49-F238E27FC236}">
                <a16:creationId xmlns:a16="http://schemas.microsoft.com/office/drawing/2014/main" id="{B31AFEF7-EB05-B04B-BB9F-74EF6819BB44}"/>
              </a:ext>
            </a:extLst>
          </p:cNvPr>
          <p:cNvPicPr>
            <a:picLocks noChangeAspect="1"/>
          </p:cNvPicPr>
          <p:nvPr/>
        </p:nvPicPr>
        <p:blipFill>
          <a:blip r:embed="rId5"/>
          <a:stretch>
            <a:fillRect/>
          </a:stretch>
        </p:blipFill>
        <p:spPr>
          <a:xfrm>
            <a:off x="10169400" y="4712839"/>
            <a:ext cx="1730829" cy="485847"/>
          </a:xfrm>
          <a:prstGeom prst="rect">
            <a:avLst/>
          </a:prstGeom>
        </p:spPr>
      </p:pic>
      <p:sp>
        <p:nvSpPr>
          <p:cNvPr id="5" name="TextBox 4">
            <a:extLst>
              <a:ext uri="{FF2B5EF4-FFF2-40B4-BE49-F238E27FC236}">
                <a16:creationId xmlns:a16="http://schemas.microsoft.com/office/drawing/2014/main" id="{277CC7D8-F34A-5A44-94FF-3CB41576C2DA}"/>
              </a:ext>
            </a:extLst>
          </p:cNvPr>
          <p:cNvSpPr txBox="1"/>
          <p:nvPr/>
        </p:nvSpPr>
        <p:spPr>
          <a:xfrm>
            <a:off x="176463" y="6172522"/>
            <a:ext cx="7335663" cy="461665"/>
          </a:xfrm>
          <a:prstGeom prst="rect">
            <a:avLst/>
          </a:prstGeom>
          <a:noFill/>
        </p:spPr>
        <p:txBody>
          <a:bodyPr wrap="none" rtlCol="0">
            <a:spAutoFit/>
          </a:bodyPr>
          <a:lstStyle/>
          <a:p>
            <a:r>
              <a:rPr lang="en-ZA" sz="2400" dirty="0"/>
              <a:t>Rose’s Law: qubits in processors double every 18 months.</a:t>
            </a:r>
            <a:endParaRPr lang="en-US" sz="2400" dirty="0"/>
          </a:p>
        </p:txBody>
      </p:sp>
    </p:spTree>
    <p:extLst>
      <p:ext uri="{BB962C8B-B14F-4D97-AF65-F5344CB8AC3E}">
        <p14:creationId xmlns:p14="http://schemas.microsoft.com/office/powerpoint/2010/main" val="8903717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B2924D-F930-6140-896C-6756BADACA4E}"/>
              </a:ext>
            </a:extLst>
          </p:cNvPr>
          <p:cNvSpPr>
            <a:spLocks noGrp="1"/>
          </p:cNvSpPr>
          <p:nvPr>
            <p:ph type="sldNum" sz="quarter" idx="4294967295"/>
          </p:nvPr>
        </p:nvSpPr>
        <p:spPr>
          <a:xfrm>
            <a:off x="9448800" y="6446833"/>
            <a:ext cx="2743200" cy="365125"/>
          </a:xfrm>
        </p:spPr>
        <p:txBody>
          <a:bodyPr/>
          <a:lstStyle/>
          <a:p>
            <a:fld id="{591A223C-FA10-BC46-A853-03BA373D023C}" type="slidenum">
              <a:rPr lang="en-US" smtClean="0"/>
              <a:t>52</a:t>
            </a:fld>
            <a:endParaRPr lang="en-US" dirty="0"/>
          </a:p>
        </p:txBody>
      </p:sp>
      <p:sp>
        <p:nvSpPr>
          <p:cNvPr id="13" name="TextBox 12">
            <a:extLst>
              <a:ext uri="{FF2B5EF4-FFF2-40B4-BE49-F238E27FC236}">
                <a16:creationId xmlns:a16="http://schemas.microsoft.com/office/drawing/2014/main" id="{6C48C251-DE23-FD42-ABC6-A1E53F923D9E}"/>
              </a:ext>
            </a:extLst>
          </p:cNvPr>
          <p:cNvSpPr txBox="1"/>
          <p:nvPr/>
        </p:nvSpPr>
        <p:spPr>
          <a:xfrm>
            <a:off x="4046780" y="-1212842"/>
            <a:ext cx="2313454" cy="461665"/>
          </a:xfrm>
          <a:prstGeom prst="rect">
            <a:avLst/>
          </a:prstGeom>
          <a:noFill/>
        </p:spPr>
        <p:txBody>
          <a:bodyPr wrap="none" rtlCol="0">
            <a:spAutoFit/>
          </a:bodyPr>
          <a:lstStyle/>
          <a:p>
            <a:r>
              <a:rPr lang="en-US" sz="2400" dirty="0">
                <a:latin typeface="Comic Sans MS" panose="030F0902030302020204" pitchFamily="66" charset="0"/>
              </a:rPr>
              <a:t>Novi </a:t>
            </a:r>
            <a:r>
              <a:rPr lang="en-US" sz="2400" dirty="0" err="1">
                <a:latin typeface="Comic Sans MS" panose="030F0902030302020204" pitchFamily="66" charset="0"/>
              </a:rPr>
              <a:t>materijali</a:t>
            </a:r>
            <a:endParaRPr lang="en-US" sz="2400" dirty="0">
              <a:latin typeface="Comic Sans MS" panose="030F0902030302020204" pitchFamily="66" charset="0"/>
            </a:endParaRPr>
          </a:p>
        </p:txBody>
      </p:sp>
      <p:pic>
        <p:nvPicPr>
          <p:cNvPr id="24" name="Picture 23">
            <a:extLst>
              <a:ext uri="{FF2B5EF4-FFF2-40B4-BE49-F238E27FC236}">
                <a16:creationId xmlns:a16="http://schemas.microsoft.com/office/drawing/2014/main" id="{B95A58FE-09F9-6442-869B-EC167BCFA440}"/>
              </a:ext>
            </a:extLst>
          </p:cNvPr>
          <p:cNvPicPr>
            <a:picLocks noChangeAspect="1"/>
          </p:cNvPicPr>
          <p:nvPr/>
        </p:nvPicPr>
        <p:blipFill>
          <a:blip r:embed="rId3"/>
          <a:stretch>
            <a:fillRect/>
          </a:stretch>
        </p:blipFill>
        <p:spPr>
          <a:xfrm>
            <a:off x="0" y="0"/>
            <a:ext cx="12192000" cy="6833419"/>
          </a:xfrm>
          <a:prstGeom prst="rect">
            <a:avLst/>
          </a:prstGeom>
        </p:spPr>
      </p:pic>
    </p:spTree>
    <p:extLst>
      <p:ext uri="{BB962C8B-B14F-4D97-AF65-F5344CB8AC3E}">
        <p14:creationId xmlns:p14="http://schemas.microsoft.com/office/powerpoint/2010/main" val="23995244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0"/>
            <a:ext cx="12191999" cy="6835381"/>
          </a:xfrm>
          <a:prstGeom prst="rect">
            <a:avLst/>
          </a:prstGeom>
        </p:spPr>
      </p:pic>
      <p:sp>
        <p:nvSpPr>
          <p:cNvPr id="3" name="Slide Number Placeholder 2">
            <a:extLst>
              <a:ext uri="{FF2B5EF4-FFF2-40B4-BE49-F238E27FC236}">
                <a16:creationId xmlns:a16="http://schemas.microsoft.com/office/drawing/2014/main" id="{60C4B02F-0FE1-7640-89D9-897868D9C7FC}"/>
              </a:ext>
            </a:extLst>
          </p:cNvPr>
          <p:cNvSpPr>
            <a:spLocks noGrp="1"/>
          </p:cNvSpPr>
          <p:nvPr>
            <p:ph type="sldNum" sz="quarter" idx="4294967295"/>
          </p:nvPr>
        </p:nvSpPr>
        <p:spPr>
          <a:xfrm>
            <a:off x="8610600" y="6356350"/>
            <a:ext cx="2743200" cy="365125"/>
          </a:xfrm>
        </p:spPr>
        <p:txBody>
          <a:bodyPr/>
          <a:lstStyle/>
          <a:p>
            <a:fld id="{591A223C-FA10-BC46-A853-03BA373D023C}" type="slidenum">
              <a:rPr lang="en-US" smtClean="0"/>
              <a:t>53</a:t>
            </a:fld>
            <a:endParaRPr lang="en-US"/>
          </a:p>
        </p:txBody>
      </p:sp>
      <p:sp>
        <p:nvSpPr>
          <p:cNvPr id="9" name="TextBox 8">
            <a:extLst>
              <a:ext uri="{FF2B5EF4-FFF2-40B4-BE49-F238E27FC236}">
                <a16:creationId xmlns:a16="http://schemas.microsoft.com/office/drawing/2014/main" id="{719C0D81-1920-C34F-B234-53C430C4B1BB}"/>
              </a:ext>
            </a:extLst>
          </p:cNvPr>
          <p:cNvSpPr txBox="1"/>
          <p:nvPr/>
        </p:nvSpPr>
        <p:spPr>
          <a:xfrm>
            <a:off x="7113537" y="2254845"/>
            <a:ext cx="3815468" cy="923330"/>
          </a:xfrm>
          <a:prstGeom prst="rect">
            <a:avLst/>
          </a:prstGeom>
          <a:noFill/>
        </p:spPr>
        <p:txBody>
          <a:bodyPr wrap="none" rtlCol="0">
            <a:spAutoFit/>
          </a:bodyPr>
          <a:lstStyle/>
          <a:p>
            <a:r>
              <a:rPr lang="en-US" sz="5400" dirty="0">
                <a:solidFill>
                  <a:schemeClr val="bg1"/>
                </a:solidFill>
                <a:latin typeface="Comic Sans MS" panose="030F0902030302020204" pitchFamily="66" charset="0"/>
              </a:rPr>
              <a:t>Questions?</a:t>
            </a:r>
          </a:p>
        </p:txBody>
      </p:sp>
      <p:pic>
        <p:nvPicPr>
          <p:cNvPr id="11" name="Picture 10">
            <a:extLst>
              <a:ext uri="{FF2B5EF4-FFF2-40B4-BE49-F238E27FC236}">
                <a16:creationId xmlns:a16="http://schemas.microsoft.com/office/drawing/2014/main" id="{77C17201-905A-0F4C-9C09-22756E954FE7}"/>
              </a:ext>
            </a:extLst>
          </p:cNvPr>
          <p:cNvPicPr>
            <a:picLocks noChangeAspect="1"/>
          </p:cNvPicPr>
          <p:nvPr/>
        </p:nvPicPr>
        <p:blipFill>
          <a:blip r:embed="rId4"/>
          <a:stretch>
            <a:fillRect/>
          </a:stretch>
        </p:blipFill>
        <p:spPr>
          <a:xfrm>
            <a:off x="3640187" y="3654697"/>
            <a:ext cx="2889913" cy="2889913"/>
          </a:xfrm>
          <a:prstGeom prst="rect">
            <a:avLst/>
          </a:prstGeom>
        </p:spPr>
      </p:pic>
      <p:pic>
        <p:nvPicPr>
          <p:cNvPr id="13" name="Picture 12">
            <a:extLst>
              <a:ext uri="{FF2B5EF4-FFF2-40B4-BE49-F238E27FC236}">
                <a16:creationId xmlns:a16="http://schemas.microsoft.com/office/drawing/2014/main" id="{9F7F0640-7ECE-684A-B7FE-1527044B3BC6}"/>
              </a:ext>
            </a:extLst>
          </p:cNvPr>
          <p:cNvPicPr>
            <a:picLocks noChangeAspect="1"/>
          </p:cNvPicPr>
          <p:nvPr/>
        </p:nvPicPr>
        <p:blipFill>
          <a:blip r:embed="rId5"/>
          <a:stretch>
            <a:fillRect/>
          </a:stretch>
        </p:blipFill>
        <p:spPr>
          <a:xfrm>
            <a:off x="505065" y="1097779"/>
            <a:ext cx="3744255" cy="5113836"/>
          </a:xfrm>
          <a:prstGeom prst="rect">
            <a:avLst/>
          </a:prstGeom>
        </p:spPr>
      </p:pic>
    </p:spTree>
    <p:extLst>
      <p:ext uri="{BB962C8B-B14F-4D97-AF65-F5344CB8AC3E}">
        <p14:creationId xmlns:p14="http://schemas.microsoft.com/office/powerpoint/2010/main" val="23099482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{EB40F69A-88F9-8B4B-80A7-62D76E89BB15}tf10001070</Template>
  <TotalTime>137288</TotalTime>
  <Words>6641</Words>
  <Application>Microsoft Macintosh PowerPoint</Application>
  <PresentationFormat>Widescreen</PresentationFormat>
  <Paragraphs>741</Paragraphs>
  <Slides>53</Slides>
  <Notes>52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53</vt:i4>
      </vt:variant>
    </vt:vector>
  </HeadingPairs>
  <TitlesOfParts>
    <vt:vector size="65" baseType="lpstr">
      <vt:lpstr>Andale Mono</vt:lpstr>
      <vt:lpstr>Arial</vt:lpstr>
      <vt:lpstr>Arial Black</vt:lpstr>
      <vt:lpstr>Arial Narrow</vt:lpstr>
      <vt:lpstr>Calibri</vt:lpstr>
      <vt:lpstr>Calibri Light</vt:lpstr>
      <vt:lpstr>Cambria Math</vt:lpstr>
      <vt:lpstr>Comic Sans MS</vt:lpstr>
      <vt:lpstr>Courier</vt:lpstr>
      <vt:lpstr>Times</vt:lpstr>
      <vt:lpstr>Times New Roman</vt:lpstr>
      <vt:lpstr>Office Theme</vt:lpstr>
      <vt:lpstr>PowerPoint Presentation</vt:lpstr>
      <vt:lpstr>PowerPoint Presentation</vt:lpstr>
      <vt:lpstr>PowerPoint Presentation</vt:lpstr>
      <vt:lpstr>Quantum mechanics</vt:lpstr>
      <vt:lpstr>A brief history of quantum computing</vt:lpstr>
      <vt:lpstr>A quantum advantage  example: classical vs quantum search</vt:lpstr>
      <vt:lpstr>Multidimensionality</vt:lpstr>
      <vt:lpstr>PowerPoint Presentation</vt:lpstr>
      <vt:lpstr>Three principles of quantum computing</vt:lpstr>
      <vt:lpstr>Quantum superposition</vt:lpstr>
      <vt:lpstr>Copenhagen interpretation</vt:lpstr>
      <vt:lpstr>Basic concepts</vt:lpstr>
      <vt:lpstr>Many-Worlds Interpretation</vt:lpstr>
      <vt:lpstr>David Deutsch quantum computation theory</vt:lpstr>
      <vt:lpstr>Quantum entanglement</vt:lpstr>
      <vt:lpstr>Quantum coin flipping game</vt:lpstr>
      <vt:lpstr>PowerPoint Presentation</vt:lpstr>
      <vt:lpstr>PowerPoint Presentation</vt:lpstr>
      <vt:lpstr>PowerPoint Presentation</vt:lpstr>
      <vt:lpstr>PowerPoint Presentation</vt:lpstr>
      <vt:lpstr>Classical vs quantum data: bit vs qubit</vt:lpstr>
      <vt:lpstr>Quantum bit or qubit in bra-ket notation [from bracket]</vt:lpstr>
      <vt:lpstr>PowerPoint Presentation</vt:lpstr>
      <vt:lpstr>Quantum bit or qubit</vt:lpstr>
      <vt:lpstr>Superconducting quantum processor (QPU)</vt:lpstr>
      <vt:lpstr>IBM Eagle – 127 qubits</vt:lpstr>
      <vt:lpstr>Binary machines</vt:lpstr>
      <vt:lpstr>Layered Model of Quantum Computing</vt:lpstr>
      <vt:lpstr>PowerPoint Presentation</vt:lpstr>
      <vt:lpstr>Qubit as a vector</vt:lpstr>
      <vt:lpstr>Qubit as a vector</vt:lpstr>
      <vt:lpstr>Qubit as a vector</vt:lpstr>
      <vt:lpstr>The Power of Quantum Superposition</vt:lpstr>
      <vt:lpstr>A qubit on a sphere</vt:lpstr>
      <vt:lpstr>A qubit on a sphere</vt:lpstr>
      <vt:lpstr>Qubit measurement</vt:lpstr>
      <vt:lpstr>Probabilistic computing</vt:lpstr>
      <vt:lpstr>One qubit, two qubits, …. universe</vt:lpstr>
      <vt:lpstr>PowerPoint Presentation</vt:lpstr>
      <vt:lpstr>Rotation as a basic instruction</vt:lpstr>
      <vt:lpstr>Rotation as a basic instruction</vt:lpstr>
      <vt:lpstr>Rotation as a basic instruction</vt:lpstr>
      <vt:lpstr>PowerPoint Presentation</vt:lpstr>
      <vt:lpstr>A quantum program as a quantum circuit</vt:lpstr>
      <vt:lpstr>Quantum Gates</vt:lpstr>
      <vt:lpstr>Building a Multi-Qubit Circuit</vt:lpstr>
      <vt:lpstr>PowerPoint Presentation</vt:lpstr>
      <vt:lpstr>Programming model</vt:lpstr>
      <vt:lpstr>PowerPoint Presentation</vt:lpstr>
      <vt:lpstr>Quantum clouds</vt:lpstr>
      <vt:lpstr>Rose’s Law</vt:lpstr>
      <vt:lpstr>PowerPoint Presentation</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Aleksandar Radovanovic</cp:lastModifiedBy>
  <cp:revision>2471</cp:revision>
  <cp:lastPrinted>2025-09-01T15:09:40Z</cp:lastPrinted>
  <dcterms:created xsi:type="dcterms:W3CDTF">2021-12-18T08:25:37Z</dcterms:created>
  <dcterms:modified xsi:type="dcterms:W3CDTF">2026-09-29T11:25:35Z</dcterms:modified>
</cp:coreProperties>
</file>